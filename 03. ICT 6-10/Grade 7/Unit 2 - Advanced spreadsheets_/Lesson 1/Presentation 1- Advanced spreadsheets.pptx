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descr="A picture containing text, tool&#10;&#10;Description automatically generated" id="9" name="Google Shape;9;p1"/>
          <p:cNvPicPr preferRelativeResize="0"/>
          <p:nvPr/>
        </p:nvPicPr>
        <p:blipFill rotWithShape="1">
          <a:blip r:embed="rId1">
            <a:alphaModFix/>
          </a:blip>
          <a:srcRect b="0" l="0" r="0" t="0"/>
          <a:stretch/>
        </p:blipFill>
        <p:spPr>
          <a:xfrm>
            <a:off x="0" y="-22928"/>
            <a:ext cx="12192000" cy="1658912"/>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613251" y="2971075"/>
            <a:ext cx="7311068" cy="915850"/>
          </a:xfrm>
          <a:prstGeom prst="rect">
            <a:avLst/>
          </a:prstGeom>
          <a:noFill/>
          <a:ln>
            <a:noFill/>
          </a:ln>
        </p:spPr>
        <p:txBody>
          <a:bodyPr anchorCtr="0" anchor="b" bIns="45700" lIns="91425" spcFirstLastPara="1" rIns="91425" wrap="square" tIns="45700">
            <a:normAutofit/>
          </a:bodyPr>
          <a:lstStyle/>
          <a:p>
            <a:pPr indent="0" lvl="0" marL="0" rtl="0" algn="r">
              <a:lnSpc>
                <a:spcPct val="90000"/>
              </a:lnSpc>
              <a:spcBef>
                <a:spcPts val="0"/>
              </a:spcBef>
              <a:spcAft>
                <a:spcPts val="0"/>
              </a:spcAft>
              <a:buClr>
                <a:schemeClr val="dk1"/>
              </a:buClr>
              <a:buSzPts val="5400"/>
              <a:buFont typeface="Calibri"/>
              <a:buNone/>
            </a:pPr>
            <a:r>
              <a:rPr b="1" lang="en-GB" sz="5400"/>
              <a:t>Advanced spreadsheets</a:t>
            </a:r>
            <a:endParaRPr/>
          </a:p>
        </p:txBody>
      </p:sp>
      <p:sp>
        <p:nvSpPr>
          <p:cNvPr id="81" name="Google Shape;81;p13"/>
          <p:cNvSpPr/>
          <p:nvPr/>
        </p:nvSpPr>
        <p:spPr>
          <a:xfrm>
            <a:off x="2063356" y="3886925"/>
            <a:ext cx="5860963"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B612AD"/>
                </a:solidFill>
                <a:latin typeface="Calibri"/>
                <a:ea typeface="Calibri"/>
                <a:cs typeface="Calibri"/>
                <a:sym typeface="Calibri"/>
              </a:rPr>
              <a:t>Lesson 1: Drop-down lists, </a:t>
            </a:r>
            <a:r>
              <a:rPr b="1" i="0" lang="en-GB" sz="2000" u="none" cap="none" strike="noStrike">
                <a:solidFill>
                  <a:srgbClr val="B612AD"/>
                </a:solidFill>
                <a:latin typeface="Courier New"/>
                <a:ea typeface="Courier New"/>
                <a:cs typeface="Courier New"/>
                <a:sym typeface="Courier New"/>
              </a:rPr>
              <a:t>VLOOKUP</a:t>
            </a:r>
            <a:r>
              <a:rPr b="1" i="0" lang="en-GB" sz="2000" u="none" cap="none" strike="noStrike">
                <a:solidFill>
                  <a:srgbClr val="B612AD"/>
                </a:solidFill>
                <a:latin typeface="Calibri"/>
                <a:ea typeface="Calibri"/>
                <a:cs typeface="Calibri"/>
                <a:sym typeface="Calibri"/>
              </a:rPr>
              <a:t> and sorting data</a:t>
            </a:r>
            <a:endParaRPr b="1" i="0" sz="2000" u="none" cap="none" strike="noStrike">
              <a:solidFill>
                <a:srgbClr val="B612AD"/>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8219924" y="2865016"/>
            <a:ext cx="2937413" cy="2443928"/>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576857" y="80689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576857" y="2274838"/>
            <a:ext cx="8280208" cy="230832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 how to:</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create drop-down lists to validate data entry</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use the </a:t>
            </a:r>
            <a:r>
              <a:rPr lang="en-GB" sz="2800">
                <a:solidFill>
                  <a:schemeClr val="dk1"/>
                </a:solidFill>
                <a:latin typeface="Courier New"/>
                <a:ea typeface="Courier New"/>
                <a:cs typeface="Courier New"/>
                <a:sym typeface="Courier New"/>
              </a:rPr>
              <a:t>VLOOKUP</a:t>
            </a:r>
            <a:r>
              <a:rPr lang="en-GB" sz="2800">
                <a:solidFill>
                  <a:schemeClr val="dk1"/>
                </a:solidFill>
                <a:latin typeface="Calibri"/>
                <a:ea typeface="Calibri"/>
                <a:cs typeface="Calibri"/>
                <a:sym typeface="Calibri"/>
              </a:rPr>
              <a:t> function to find data in a table and return related information</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sort data in a spreadsheet.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63544" y="813732"/>
            <a:ext cx="9773478" cy="80534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 spreadsheet</a:t>
            </a:r>
            <a:endParaRPr/>
          </a:p>
        </p:txBody>
      </p:sp>
      <p:pic>
        <p:nvPicPr>
          <p:cNvPr id="94" name="Google Shape;94;p15"/>
          <p:cNvPicPr preferRelativeResize="0"/>
          <p:nvPr/>
        </p:nvPicPr>
        <p:blipFill rotWithShape="1">
          <a:blip r:embed="rId3">
            <a:alphaModFix/>
          </a:blip>
          <a:srcRect b="0" l="0" r="0" t="0"/>
          <a:stretch/>
        </p:blipFill>
        <p:spPr>
          <a:xfrm>
            <a:off x="3191611" y="2154258"/>
            <a:ext cx="4986655" cy="389001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ph type="title"/>
          </p:nvPr>
        </p:nvSpPr>
        <p:spPr>
          <a:xfrm>
            <a:off x="1578133" y="804431"/>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Customising spreadsheets</a:t>
            </a:r>
            <a:endParaRPr/>
          </a:p>
        </p:txBody>
      </p:sp>
      <p:sp>
        <p:nvSpPr>
          <p:cNvPr id="100" name="Google Shape;100;p16"/>
          <p:cNvSpPr/>
          <p:nvPr/>
        </p:nvSpPr>
        <p:spPr>
          <a:xfrm>
            <a:off x="1578133" y="2249455"/>
            <a:ext cx="9293999" cy="304698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You should already be familiar with a range of features in spreadsheets, including:</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simple formulae</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relative and absolute cell references</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functions such as </a:t>
            </a:r>
            <a:r>
              <a:rPr lang="en-GB" sz="2400">
                <a:solidFill>
                  <a:schemeClr val="dk1"/>
                </a:solidFill>
                <a:latin typeface="Courier New"/>
                <a:ea typeface="Courier New"/>
                <a:cs typeface="Courier New"/>
                <a:sym typeface="Courier New"/>
              </a:rPr>
              <a:t>SUM</a:t>
            </a:r>
            <a:r>
              <a:rPr lang="en-GB" sz="2400">
                <a:solidFill>
                  <a:schemeClr val="dk1"/>
                </a:solidFill>
                <a:latin typeface="Calibri"/>
                <a:ea typeface="Calibri"/>
                <a:cs typeface="Calibri"/>
                <a:sym typeface="Calibri"/>
              </a:rPr>
              <a:t>, </a:t>
            </a:r>
            <a:r>
              <a:rPr lang="en-GB" sz="2400">
                <a:solidFill>
                  <a:schemeClr val="dk1"/>
                </a:solidFill>
                <a:latin typeface="Courier New"/>
                <a:ea typeface="Courier New"/>
                <a:cs typeface="Courier New"/>
                <a:sym typeface="Courier New"/>
              </a:rPr>
              <a:t>AVERAGE</a:t>
            </a:r>
            <a:r>
              <a:rPr lang="en-GB" sz="2400">
                <a:solidFill>
                  <a:schemeClr val="dk1"/>
                </a:solidFill>
                <a:latin typeface="Calibri"/>
                <a:ea typeface="Calibri"/>
                <a:cs typeface="Calibri"/>
                <a:sym typeface="Calibri"/>
              </a:rPr>
              <a:t> and </a:t>
            </a:r>
            <a:r>
              <a:rPr lang="en-GB" sz="2400">
                <a:solidFill>
                  <a:schemeClr val="dk1"/>
                </a:solidFill>
                <a:latin typeface="Courier New"/>
                <a:ea typeface="Courier New"/>
                <a:cs typeface="Courier New"/>
                <a:sym typeface="Courier New"/>
              </a:rPr>
              <a:t>IF</a:t>
            </a:r>
            <a:endParaRPr sz="2400">
              <a:solidFill>
                <a:schemeClr val="dk1"/>
              </a:solidFill>
              <a:latin typeface="Calibri"/>
              <a:ea typeface="Calibri"/>
              <a:cs typeface="Calibri"/>
              <a:sym typeface="Calibri"/>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conditional formatting.</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We are now going to look at extra features to help us customise spreadsheets and make them more versatile and user-friendly.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7"/>
          <p:cNvSpPr txBox="1"/>
          <p:nvPr>
            <p:ph type="title"/>
          </p:nvPr>
        </p:nvSpPr>
        <p:spPr>
          <a:xfrm>
            <a:off x="1566644" y="802881"/>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Drop-down lists</a:t>
            </a:r>
            <a:endParaRPr/>
          </a:p>
        </p:txBody>
      </p:sp>
      <p:sp>
        <p:nvSpPr>
          <p:cNvPr id="106" name="Google Shape;106;p17"/>
          <p:cNvSpPr/>
          <p:nvPr/>
        </p:nvSpPr>
        <p:spPr>
          <a:xfrm>
            <a:off x="1566644" y="2560388"/>
            <a:ext cx="6302229" cy="267765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A </a:t>
            </a:r>
            <a:r>
              <a:rPr b="1" lang="en-GB" sz="2800">
                <a:solidFill>
                  <a:srgbClr val="0069B4"/>
                </a:solidFill>
                <a:latin typeface="Calibri"/>
                <a:ea typeface="Calibri"/>
                <a:cs typeface="Calibri"/>
                <a:sym typeface="Calibri"/>
              </a:rPr>
              <a:t>drop-down list</a:t>
            </a:r>
            <a:r>
              <a:rPr lang="en-GB" sz="2800">
                <a:solidFill>
                  <a:srgbClr val="0069B4"/>
                </a:solidFill>
                <a:latin typeface="Calibri"/>
                <a:ea typeface="Calibri"/>
                <a:cs typeface="Calibri"/>
                <a:sym typeface="Calibri"/>
              </a:rPr>
              <a:t> </a:t>
            </a:r>
            <a:r>
              <a:rPr lang="en-GB" sz="2800">
                <a:solidFill>
                  <a:schemeClr val="dk1"/>
                </a:solidFill>
                <a:latin typeface="Calibri"/>
                <a:ea typeface="Calibri"/>
                <a:cs typeface="Calibri"/>
                <a:sym typeface="Calibri"/>
              </a:rPr>
              <a:t>is a type of </a:t>
            </a:r>
            <a:r>
              <a:rPr b="1" lang="en-GB" sz="2800">
                <a:solidFill>
                  <a:srgbClr val="0069B4"/>
                </a:solidFill>
                <a:latin typeface="Calibri"/>
                <a:ea typeface="Calibri"/>
                <a:cs typeface="Calibri"/>
                <a:sym typeface="Calibri"/>
              </a:rPr>
              <a:t>validation</a:t>
            </a:r>
            <a:r>
              <a:rPr lang="en-GB" sz="2800">
                <a:solidFill>
                  <a:schemeClr val="dk1"/>
                </a:solidFill>
                <a:latin typeface="Calibri"/>
                <a:ea typeface="Calibri"/>
                <a:cs typeface="Calibri"/>
                <a:sym typeface="Calibri"/>
              </a:rPr>
              <a:t>.</a:t>
            </a:r>
            <a:endParaRPr/>
          </a:p>
          <a:p>
            <a:pPr indent="0" lvl="0" marL="0" marR="0" rtl="0" algn="l">
              <a:spcBef>
                <a:spcPts val="0"/>
              </a:spcBef>
              <a:spcAft>
                <a:spcPts val="0"/>
              </a:spcAft>
              <a:buNone/>
            </a:pPr>
            <a:r>
              <a:rPr lang="en-GB" sz="2800">
                <a:solidFill>
                  <a:schemeClr val="dk1"/>
                </a:solidFill>
                <a:latin typeface="Calibri"/>
                <a:ea typeface="Calibri"/>
                <a:cs typeface="Calibri"/>
                <a:sym typeface="Calibri"/>
              </a:rPr>
              <a:t>It limits the values that can be entered into a cell. This helps keep the data in the spreadsheet consistent and accurate, reducing errors and making the spreadsheet more useful.</a:t>
            </a:r>
            <a:endParaRPr sz="2800">
              <a:solidFill>
                <a:schemeClr val="dk1"/>
              </a:solidFill>
              <a:latin typeface="Calibri"/>
              <a:ea typeface="Calibri"/>
              <a:cs typeface="Calibri"/>
              <a:sym typeface="Calibri"/>
            </a:endParaRPr>
          </a:p>
        </p:txBody>
      </p:sp>
      <p:pic>
        <p:nvPicPr>
          <p:cNvPr id="107" name="Google Shape;107;p17"/>
          <p:cNvPicPr preferRelativeResize="0"/>
          <p:nvPr/>
        </p:nvPicPr>
        <p:blipFill rotWithShape="1">
          <a:blip r:embed="rId3">
            <a:alphaModFix/>
          </a:blip>
          <a:srcRect b="0" l="0" r="0" t="0"/>
          <a:stretch/>
        </p:blipFill>
        <p:spPr>
          <a:xfrm>
            <a:off x="8506732" y="2560388"/>
            <a:ext cx="1765680" cy="268043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8"/>
          <p:cNvSpPr txBox="1"/>
          <p:nvPr>
            <p:ph type="title"/>
          </p:nvPr>
        </p:nvSpPr>
        <p:spPr>
          <a:xfrm>
            <a:off x="1579898" y="805703"/>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Creating drop-down lists</a:t>
            </a:r>
            <a:endParaRPr/>
          </a:p>
        </p:txBody>
      </p:sp>
      <p:sp>
        <p:nvSpPr>
          <p:cNvPr id="113" name="Google Shape;113;p18"/>
          <p:cNvSpPr/>
          <p:nvPr/>
        </p:nvSpPr>
        <p:spPr>
          <a:xfrm>
            <a:off x="1579898" y="2225685"/>
            <a:ext cx="8839229" cy="267765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Type the words you want to use in your drop-down list into a column. It is best practice to type the words alphabetically.</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Use an area of the spreadsheet that will not normally be seen, but which can still be accessed easily.</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Click on the cell in which you want the drop-down list to appear. Then select ‘Data’ and ‘Data Validation’, choose Allow ‘List’ and select the cells containing the data you want to appear in the drop-down list.</a:t>
            </a:r>
            <a:endParaRPr/>
          </a:p>
        </p:txBody>
      </p:sp>
      <p:sp>
        <p:nvSpPr>
          <p:cNvPr id="114" name="Google Shape;114;p18"/>
          <p:cNvSpPr/>
          <p:nvPr/>
        </p:nvSpPr>
        <p:spPr>
          <a:xfrm>
            <a:off x="4233439" y="5467522"/>
            <a:ext cx="3725122" cy="584775"/>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i="1" lang="en-GB" sz="3200">
                <a:solidFill>
                  <a:schemeClr val="dk1"/>
                </a:solidFill>
                <a:latin typeface="Calibri"/>
                <a:ea typeface="Calibri"/>
                <a:cs typeface="Calibri"/>
                <a:sym typeface="Calibri"/>
              </a:rPr>
              <a:t>Now watch Video 1.1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114"/>
                                        </p:tgtEl>
                                        <p:attrNameLst>
                                          <p:attrName>style.visibility</p:attrName>
                                        </p:attrNameLst>
                                      </p:cBhvr>
                                      <p:to>
                                        <p:strVal val="visible"/>
                                      </p:to>
                                    </p:set>
                                    <p:anim calcmode="lin" valueType="num">
                                      <p:cBhvr additive="base">
                                        <p:cTn dur="500"/>
                                        <p:tgtEl>
                                          <p:spTgt spid="114"/>
                                        </p:tgtEl>
                                        <p:attrNameLst>
                                          <p:attrName>ppt_w</p:attrName>
                                        </p:attrNameLst>
                                      </p:cBhvr>
                                      <p:tavLst>
                                        <p:tav fmla="" tm="0">
                                          <p:val>
                                            <p:strVal val="0"/>
                                          </p:val>
                                        </p:tav>
                                        <p:tav fmla="" tm="100000">
                                          <p:val>
                                            <p:strVal val="#ppt_w"/>
                                          </p:val>
                                        </p:tav>
                                      </p:tavLst>
                                    </p:anim>
                                    <p:anim calcmode="lin" valueType="num">
                                      <p:cBhvr additive="base">
                                        <p:cTn dur="500"/>
                                        <p:tgtEl>
                                          <p:spTgt spid="114"/>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9"/>
          <p:cNvSpPr txBox="1"/>
          <p:nvPr>
            <p:ph type="title"/>
          </p:nvPr>
        </p:nvSpPr>
        <p:spPr>
          <a:xfrm>
            <a:off x="1589632" y="824949"/>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1.1: Stationery shop (part 1)</a:t>
            </a:r>
            <a:endParaRPr/>
          </a:p>
        </p:txBody>
      </p:sp>
      <p:pic>
        <p:nvPicPr>
          <p:cNvPr descr="A picture containing athletic game, basketball, sport&#10;&#10;Description automatically generated" id="120" name="Google Shape;120;p19"/>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0"/>
          <p:cNvSpPr txBox="1"/>
          <p:nvPr>
            <p:ph type="title"/>
          </p:nvPr>
        </p:nvSpPr>
        <p:spPr>
          <a:xfrm>
            <a:off x="1566644" y="815010"/>
            <a:ext cx="9753600" cy="82084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The </a:t>
            </a:r>
            <a:r>
              <a:rPr b="1" lang="en-GB">
                <a:solidFill>
                  <a:schemeClr val="lt1"/>
                </a:solidFill>
                <a:latin typeface="Courier New"/>
                <a:ea typeface="Courier New"/>
                <a:cs typeface="Courier New"/>
                <a:sym typeface="Courier New"/>
              </a:rPr>
              <a:t>VLOOKUP</a:t>
            </a:r>
            <a:r>
              <a:rPr b="1" lang="en-GB">
                <a:solidFill>
                  <a:schemeClr val="lt1"/>
                </a:solidFill>
              </a:rPr>
              <a:t> function</a:t>
            </a:r>
            <a:endParaRPr/>
          </a:p>
        </p:txBody>
      </p:sp>
      <p:sp>
        <p:nvSpPr>
          <p:cNvPr id="126" name="Google Shape;126;p20"/>
          <p:cNvSpPr/>
          <p:nvPr/>
        </p:nvSpPr>
        <p:spPr>
          <a:xfrm>
            <a:off x="1600201" y="2148250"/>
            <a:ext cx="8894428" cy="1631216"/>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2000"/>
              <a:buFont typeface="Calibri"/>
              <a:buNone/>
            </a:pPr>
            <a:r>
              <a:rPr b="0" i="0" lang="en-GB" sz="2000" u="none" cap="none" strike="noStrike">
                <a:solidFill>
                  <a:schemeClr val="dk1"/>
                </a:solidFill>
                <a:latin typeface="Calibri"/>
                <a:ea typeface="Calibri"/>
                <a:cs typeface="Calibri"/>
                <a:sym typeface="Calibri"/>
              </a:rPr>
              <a:t>The </a:t>
            </a:r>
            <a:r>
              <a:rPr b="1" i="0" lang="en-GB" sz="2000" u="none" cap="none" strike="noStrike">
                <a:solidFill>
                  <a:srgbClr val="0069B4"/>
                </a:solidFill>
                <a:latin typeface="Courier New"/>
                <a:ea typeface="Courier New"/>
                <a:cs typeface="Courier New"/>
                <a:sym typeface="Courier New"/>
              </a:rPr>
              <a:t>VLOOKUP</a:t>
            </a:r>
            <a:r>
              <a:rPr b="1" i="0" lang="en-GB" sz="2000" u="none" cap="none" strike="noStrike">
                <a:solidFill>
                  <a:srgbClr val="0069B4"/>
                </a:solidFill>
                <a:latin typeface="Calibri"/>
                <a:ea typeface="Calibri"/>
                <a:cs typeface="Calibri"/>
                <a:sym typeface="Calibri"/>
              </a:rPr>
              <a:t> function</a:t>
            </a:r>
            <a:r>
              <a:rPr b="0" i="0" lang="en-GB" sz="2000" u="none" cap="none" strike="noStrike">
                <a:solidFill>
                  <a:srgbClr val="0069B4"/>
                </a:solidFill>
                <a:latin typeface="Calibri"/>
                <a:ea typeface="Calibri"/>
                <a:cs typeface="Calibri"/>
                <a:sym typeface="Calibri"/>
              </a:rPr>
              <a:t> </a:t>
            </a:r>
            <a:r>
              <a:rPr b="0" i="0" lang="en-GB" sz="2000" u="none" cap="none" strike="noStrike">
                <a:solidFill>
                  <a:schemeClr val="dk1"/>
                </a:solidFill>
                <a:latin typeface="Calibri"/>
                <a:ea typeface="Calibri"/>
                <a:cs typeface="Calibri"/>
                <a:sym typeface="Calibri"/>
              </a:rPr>
              <a:t>takes the value in a cell, searches for it in a table of data elsewhere on the spreadsheet and returns the value in an adjacent cell.</a:t>
            </a:r>
            <a:endParaRPr b="0" i="0" sz="2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2000"/>
              <a:buFont typeface="Calibri"/>
              <a:buNone/>
            </a:pPr>
            <a:r>
              <a:rPr b="0" i="0" lang="en-GB" sz="2000" u="none" cap="none" strike="noStrike">
                <a:solidFill>
                  <a:schemeClr val="dk1"/>
                </a:solidFill>
                <a:latin typeface="Calibri"/>
                <a:ea typeface="Calibri"/>
                <a:cs typeface="Calibri"/>
                <a:sym typeface="Calibri"/>
              </a:rPr>
              <a:t>In this example, the </a:t>
            </a:r>
            <a:r>
              <a:rPr b="0" i="0" lang="en-GB" sz="2000" u="none" cap="none" strike="noStrike">
                <a:solidFill>
                  <a:schemeClr val="dk1"/>
                </a:solidFill>
                <a:latin typeface="Courier New"/>
                <a:ea typeface="Courier New"/>
                <a:cs typeface="Courier New"/>
                <a:sym typeface="Courier New"/>
              </a:rPr>
              <a:t>VLOOKUP</a:t>
            </a:r>
            <a:r>
              <a:rPr b="0" i="0" lang="en-GB" sz="2000" u="none" cap="none" strike="noStrike">
                <a:solidFill>
                  <a:schemeClr val="dk1"/>
                </a:solidFill>
                <a:latin typeface="Calibri"/>
                <a:ea typeface="Calibri"/>
                <a:cs typeface="Calibri"/>
                <a:sym typeface="Calibri"/>
              </a:rPr>
              <a:t> function is comparing Ali’s mark in cell B2 to the scores in column F to find out his grade. A score of 68 is a grade C and so </a:t>
            </a:r>
            <a:r>
              <a:rPr b="0" i="0" lang="en-GB" sz="2000" u="none" cap="none" strike="noStrike">
                <a:solidFill>
                  <a:schemeClr val="dk1"/>
                </a:solidFill>
                <a:latin typeface="Courier New"/>
                <a:ea typeface="Courier New"/>
                <a:cs typeface="Courier New"/>
                <a:sym typeface="Courier New"/>
              </a:rPr>
              <a:t>C</a:t>
            </a:r>
            <a:r>
              <a:rPr b="0" i="0" lang="en-GB" sz="2000" u="none" cap="none" strike="noStrike">
                <a:solidFill>
                  <a:schemeClr val="dk1"/>
                </a:solidFill>
                <a:latin typeface="Calibri"/>
                <a:ea typeface="Calibri"/>
                <a:cs typeface="Calibri"/>
                <a:sym typeface="Calibri"/>
              </a:rPr>
              <a:t> is returned to cell C2.</a:t>
            </a:r>
            <a:endParaRPr b="0" i="0" sz="2000" u="none" cap="none" strike="noStrike">
              <a:solidFill>
                <a:schemeClr val="dk1"/>
              </a:solidFill>
              <a:latin typeface="Calibri"/>
              <a:ea typeface="Calibri"/>
              <a:cs typeface="Calibri"/>
              <a:sym typeface="Calibri"/>
            </a:endParaRPr>
          </a:p>
        </p:txBody>
      </p:sp>
      <p:pic>
        <p:nvPicPr>
          <p:cNvPr id="127" name="Google Shape;127;p20"/>
          <p:cNvPicPr preferRelativeResize="0"/>
          <p:nvPr/>
        </p:nvPicPr>
        <p:blipFill rotWithShape="1">
          <a:blip r:embed="rId3">
            <a:alphaModFix/>
          </a:blip>
          <a:srcRect b="0" l="0" r="0" t="0"/>
          <a:stretch/>
        </p:blipFill>
        <p:spPr>
          <a:xfrm>
            <a:off x="2441384" y="3865473"/>
            <a:ext cx="7309231" cy="226432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1"/>
          <p:cNvSpPr txBox="1"/>
          <p:nvPr>
            <p:ph type="title"/>
          </p:nvPr>
        </p:nvSpPr>
        <p:spPr>
          <a:xfrm>
            <a:off x="1575033" y="815010"/>
            <a:ext cx="9753600" cy="82084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Using the </a:t>
            </a:r>
            <a:r>
              <a:rPr b="1" lang="en-GB">
                <a:solidFill>
                  <a:schemeClr val="lt1"/>
                </a:solidFill>
                <a:latin typeface="Courier New"/>
                <a:ea typeface="Courier New"/>
                <a:cs typeface="Courier New"/>
                <a:sym typeface="Courier New"/>
              </a:rPr>
              <a:t>VLOOKUP</a:t>
            </a:r>
            <a:r>
              <a:rPr b="1" lang="en-GB">
                <a:solidFill>
                  <a:schemeClr val="lt1"/>
                </a:solidFill>
              </a:rPr>
              <a:t> function</a:t>
            </a:r>
            <a:endParaRPr/>
          </a:p>
        </p:txBody>
      </p:sp>
      <p:sp>
        <p:nvSpPr>
          <p:cNvPr id="133" name="Google Shape;133;p21"/>
          <p:cNvSpPr/>
          <p:nvPr/>
        </p:nvSpPr>
        <p:spPr>
          <a:xfrm>
            <a:off x="5344030" y="4720797"/>
            <a:ext cx="1503938"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rgbClr val="FF0000"/>
                </a:solidFill>
                <a:latin typeface="Calibri"/>
                <a:ea typeface="Calibri"/>
                <a:cs typeface="Calibri"/>
                <a:sym typeface="Calibri"/>
              </a:rPr>
              <a:t>[Insert 07_04]</a:t>
            </a:r>
            <a:endParaRPr sz="1050">
              <a:solidFill>
                <a:srgbClr val="FF0000"/>
              </a:solidFill>
              <a:latin typeface="Calibri"/>
              <a:ea typeface="Calibri"/>
              <a:cs typeface="Calibri"/>
              <a:sym typeface="Calibri"/>
            </a:endParaRPr>
          </a:p>
        </p:txBody>
      </p:sp>
      <p:sp>
        <p:nvSpPr>
          <p:cNvPr id="134" name="Google Shape;134;p21"/>
          <p:cNvSpPr/>
          <p:nvPr/>
        </p:nvSpPr>
        <p:spPr>
          <a:xfrm>
            <a:off x="1575033" y="2161530"/>
            <a:ext cx="9590715"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The </a:t>
            </a:r>
            <a:r>
              <a:rPr lang="en-GB" sz="2400">
                <a:solidFill>
                  <a:schemeClr val="dk1"/>
                </a:solidFill>
                <a:latin typeface="Courier New"/>
                <a:ea typeface="Courier New"/>
                <a:cs typeface="Courier New"/>
                <a:sym typeface="Courier New"/>
              </a:rPr>
              <a:t>VLOOKUP</a:t>
            </a:r>
            <a:r>
              <a:rPr lang="en-GB" sz="2400">
                <a:solidFill>
                  <a:schemeClr val="dk1"/>
                </a:solidFill>
                <a:latin typeface="Calibri"/>
                <a:ea typeface="Calibri"/>
                <a:cs typeface="Calibri"/>
                <a:sym typeface="Calibri"/>
              </a:rPr>
              <a:t> function has the following structure:</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	</a:t>
            </a:r>
            <a:r>
              <a:rPr lang="en-GB" sz="2400">
                <a:solidFill>
                  <a:schemeClr val="dk1"/>
                </a:solidFill>
                <a:latin typeface="Courier New"/>
                <a:ea typeface="Courier New"/>
                <a:cs typeface="Courier New"/>
                <a:sym typeface="Courier New"/>
              </a:rPr>
              <a:t>=VLOOKUP( </a:t>
            </a:r>
            <a:r>
              <a:rPr lang="en-GB" sz="2400">
                <a:solidFill>
                  <a:srgbClr val="4472C4"/>
                </a:solidFill>
                <a:latin typeface="Courier New"/>
                <a:ea typeface="Courier New"/>
                <a:cs typeface="Courier New"/>
                <a:sym typeface="Courier New"/>
              </a:rPr>
              <a:t>lookup value</a:t>
            </a:r>
            <a:r>
              <a:rPr lang="en-GB" sz="2400">
                <a:solidFill>
                  <a:schemeClr val="dk1"/>
                </a:solidFill>
                <a:latin typeface="Courier New"/>
                <a:ea typeface="Courier New"/>
                <a:cs typeface="Courier New"/>
                <a:sym typeface="Courier New"/>
              </a:rPr>
              <a:t>, </a:t>
            </a:r>
            <a:r>
              <a:rPr lang="en-GB" sz="2400">
                <a:solidFill>
                  <a:srgbClr val="FF0000"/>
                </a:solidFill>
                <a:latin typeface="Courier New"/>
                <a:ea typeface="Courier New"/>
                <a:cs typeface="Courier New"/>
                <a:sym typeface="Courier New"/>
              </a:rPr>
              <a:t>range</a:t>
            </a:r>
            <a:r>
              <a:rPr lang="en-GB" sz="2400">
                <a:solidFill>
                  <a:schemeClr val="dk1"/>
                </a:solidFill>
                <a:latin typeface="Courier New"/>
                <a:ea typeface="Courier New"/>
                <a:cs typeface="Courier New"/>
                <a:sym typeface="Courier New"/>
              </a:rPr>
              <a:t>, </a:t>
            </a:r>
            <a:r>
              <a:rPr lang="en-GB" sz="2400">
                <a:solidFill>
                  <a:srgbClr val="538135"/>
                </a:solidFill>
                <a:latin typeface="Courier New"/>
                <a:ea typeface="Courier New"/>
                <a:cs typeface="Courier New"/>
                <a:sym typeface="Courier New"/>
              </a:rPr>
              <a:t>column number </a:t>
            </a:r>
            <a:r>
              <a:rPr lang="en-GB" sz="2400">
                <a:solidFill>
                  <a:schemeClr val="dk1"/>
                </a:solidFill>
                <a:latin typeface="Courier New"/>
                <a:ea typeface="Courier New"/>
                <a:cs typeface="Courier New"/>
                <a:sym typeface="Courier New"/>
              </a:rPr>
              <a:t>)</a:t>
            </a:r>
            <a:endParaRPr sz="2400">
              <a:solidFill>
                <a:schemeClr val="dk1"/>
              </a:solidFill>
              <a:latin typeface="Calibri"/>
              <a:ea typeface="Calibri"/>
              <a:cs typeface="Calibri"/>
              <a:sym typeface="Calibri"/>
            </a:endParaRPr>
          </a:p>
        </p:txBody>
      </p:sp>
      <p:pic>
        <p:nvPicPr>
          <p:cNvPr id="135" name="Google Shape;135;p21"/>
          <p:cNvPicPr preferRelativeResize="0"/>
          <p:nvPr/>
        </p:nvPicPr>
        <p:blipFill rotWithShape="1">
          <a:blip r:embed="rId3">
            <a:alphaModFix/>
          </a:blip>
          <a:srcRect b="0" l="0" r="0" t="0"/>
          <a:stretch/>
        </p:blipFill>
        <p:spPr>
          <a:xfrm>
            <a:off x="1424695" y="3025817"/>
            <a:ext cx="7649995" cy="2044455"/>
          </a:xfrm>
          <a:prstGeom prst="rect">
            <a:avLst/>
          </a:prstGeom>
          <a:noFill/>
          <a:ln>
            <a:noFill/>
          </a:ln>
        </p:spPr>
      </p:pic>
      <p:sp>
        <p:nvSpPr>
          <p:cNvPr id="136" name="Google Shape;136;p21"/>
          <p:cNvSpPr/>
          <p:nvPr/>
        </p:nvSpPr>
        <p:spPr>
          <a:xfrm>
            <a:off x="786161" y="5306598"/>
            <a:ext cx="4335610"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The </a:t>
            </a:r>
            <a:r>
              <a:rPr lang="en-GB" sz="1800">
                <a:solidFill>
                  <a:srgbClr val="4472C4"/>
                </a:solidFill>
                <a:latin typeface="Calibri"/>
                <a:ea typeface="Calibri"/>
                <a:cs typeface="Calibri"/>
                <a:sym typeface="Calibri"/>
              </a:rPr>
              <a:t>lookup value</a:t>
            </a:r>
            <a:r>
              <a:rPr lang="en-GB" sz="1800">
                <a:solidFill>
                  <a:srgbClr val="000000"/>
                </a:solidFill>
                <a:latin typeface="Calibri"/>
                <a:ea typeface="Calibri"/>
                <a:cs typeface="Calibri"/>
                <a:sym typeface="Calibri"/>
              </a:rPr>
              <a:t> that you wish to search for</a:t>
            </a:r>
            <a:endParaRPr sz="1800">
              <a:solidFill>
                <a:schemeClr val="dk1"/>
              </a:solidFill>
              <a:latin typeface="Calibri"/>
              <a:ea typeface="Calibri"/>
              <a:cs typeface="Calibri"/>
              <a:sym typeface="Calibri"/>
            </a:endParaRPr>
          </a:p>
        </p:txBody>
      </p:sp>
      <p:cxnSp>
        <p:nvCxnSpPr>
          <p:cNvPr id="137" name="Google Shape;137;p21"/>
          <p:cNvCxnSpPr/>
          <p:nvPr/>
        </p:nvCxnSpPr>
        <p:spPr>
          <a:xfrm flipH="1" rot="10800000">
            <a:off x="1838528" y="3949430"/>
            <a:ext cx="1186774" cy="1449421"/>
          </a:xfrm>
          <a:prstGeom prst="straightConnector1">
            <a:avLst/>
          </a:prstGeom>
          <a:noFill/>
          <a:ln cap="flat" cmpd="sng" w="9525">
            <a:solidFill>
              <a:schemeClr val="accent1"/>
            </a:solidFill>
            <a:prstDash val="solid"/>
            <a:miter lim="8000"/>
            <a:headEnd len="sm" w="sm" type="none"/>
            <a:tailEnd len="med" w="med" type="triangle"/>
          </a:ln>
        </p:spPr>
      </p:cxnSp>
      <p:sp>
        <p:nvSpPr>
          <p:cNvPr id="138" name="Google Shape;138;p21"/>
          <p:cNvSpPr/>
          <p:nvPr/>
        </p:nvSpPr>
        <p:spPr>
          <a:xfrm>
            <a:off x="2824566" y="5685069"/>
            <a:ext cx="5038928" cy="92333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GB" sz="1800">
                <a:solidFill>
                  <a:schemeClr val="dk1"/>
                </a:solidFill>
                <a:latin typeface="Calibri"/>
                <a:ea typeface="Calibri"/>
                <a:cs typeface="Calibri"/>
                <a:sym typeface="Calibri"/>
              </a:rPr>
              <a:t>The </a:t>
            </a:r>
            <a:r>
              <a:rPr lang="en-GB" sz="1800">
                <a:solidFill>
                  <a:srgbClr val="FF0000"/>
                </a:solidFill>
                <a:latin typeface="Calibri"/>
                <a:ea typeface="Calibri"/>
                <a:cs typeface="Calibri"/>
                <a:sym typeface="Calibri"/>
              </a:rPr>
              <a:t>range</a:t>
            </a:r>
            <a:r>
              <a:rPr lang="en-GB" sz="1800">
                <a:solidFill>
                  <a:srgbClr val="000000"/>
                </a:solidFill>
                <a:latin typeface="Calibri"/>
                <a:ea typeface="Calibri"/>
                <a:cs typeface="Calibri"/>
                <a:sym typeface="Calibri"/>
              </a:rPr>
              <a:t> of cells containing the lookup value</a:t>
            </a:r>
            <a:endParaRPr sz="1800">
              <a:solidFill>
                <a:schemeClr val="dk1"/>
              </a:solidFill>
              <a:latin typeface="Calibri"/>
              <a:ea typeface="Calibri"/>
              <a:cs typeface="Calibri"/>
              <a:sym typeface="Calibri"/>
            </a:endParaRPr>
          </a:p>
          <a:p>
            <a:pPr indent="0" lvl="0" marL="0" marR="0" rtl="0" algn="r">
              <a:spcBef>
                <a:spcPts val="0"/>
              </a:spcBef>
              <a:spcAft>
                <a:spcPts val="0"/>
              </a:spcAft>
              <a:buNone/>
            </a:pPr>
            <a:r>
              <a:rPr lang="en-GB" sz="1800">
                <a:solidFill>
                  <a:srgbClr val="000000"/>
                </a:solidFill>
                <a:latin typeface="Calibri"/>
                <a:ea typeface="Calibri"/>
                <a:cs typeface="Calibri"/>
                <a:sym typeface="Calibri"/>
              </a:rPr>
              <a:t>These should be absolute cell references if the function is going to be replicated</a:t>
            </a:r>
            <a:endParaRPr sz="1800">
              <a:solidFill>
                <a:schemeClr val="dk1"/>
              </a:solidFill>
              <a:latin typeface="Calibri"/>
              <a:ea typeface="Calibri"/>
              <a:cs typeface="Calibri"/>
              <a:sym typeface="Calibri"/>
            </a:endParaRPr>
          </a:p>
        </p:txBody>
      </p:sp>
      <p:cxnSp>
        <p:nvCxnSpPr>
          <p:cNvPr id="139" name="Google Shape;139;p21"/>
          <p:cNvCxnSpPr/>
          <p:nvPr/>
        </p:nvCxnSpPr>
        <p:spPr>
          <a:xfrm flipH="1" rot="10800000">
            <a:off x="4270443" y="5007015"/>
            <a:ext cx="2735251" cy="790670"/>
          </a:xfrm>
          <a:prstGeom prst="straightConnector1">
            <a:avLst/>
          </a:prstGeom>
          <a:noFill/>
          <a:ln cap="flat" cmpd="sng" w="9525">
            <a:solidFill>
              <a:srgbClr val="FF0000"/>
            </a:solidFill>
            <a:prstDash val="solid"/>
            <a:miter lim="8000"/>
            <a:headEnd len="sm" w="sm" type="none"/>
            <a:tailEnd len="med" w="med" type="triangle"/>
          </a:ln>
        </p:spPr>
      </p:cxnSp>
      <p:sp>
        <p:nvSpPr>
          <p:cNvPr id="140" name="Google Shape;140;p21"/>
          <p:cNvSpPr/>
          <p:nvPr/>
        </p:nvSpPr>
        <p:spPr>
          <a:xfrm>
            <a:off x="8085937" y="5398851"/>
            <a:ext cx="3079811" cy="92333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The </a:t>
            </a:r>
            <a:r>
              <a:rPr lang="en-GB" sz="1800">
                <a:solidFill>
                  <a:srgbClr val="538135"/>
                </a:solidFill>
                <a:latin typeface="Calibri"/>
                <a:ea typeface="Calibri"/>
                <a:cs typeface="Calibri"/>
                <a:sym typeface="Calibri"/>
              </a:rPr>
              <a:t>column number </a:t>
            </a:r>
            <a:r>
              <a:rPr lang="en-GB" sz="1800">
                <a:solidFill>
                  <a:schemeClr val="dk1"/>
                </a:solidFill>
                <a:latin typeface="Calibri"/>
                <a:ea typeface="Calibri"/>
                <a:cs typeface="Calibri"/>
                <a:sym typeface="Calibri"/>
              </a:rPr>
              <a:t>of the range that contains the value to be returned</a:t>
            </a:r>
            <a:endParaRPr/>
          </a:p>
        </p:txBody>
      </p:sp>
      <p:cxnSp>
        <p:nvCxnSpPr>
          <p:cNvPr id="141" name="Google Shape;141;p21"/>
          <p:cNvCxnSpPr/>
          <p:nvPr/>
        </p:nvCxnSpPr>
        <p:spPr>
          <a:xfrm rot="10800000">
            <a:off x="8606054" y="5070272"/>
            <a:ext cx="202386" cy="420992"/>
          </a:xfrm>
          <a:prstGeom prst="straightConnector1">
            <a:avLst/>
          </a:prstGeom>
          <a:noFill/>
          <a:ln cap="flat" cmpd="sng" w="9525">
            <a:solidFill>
              <a:srgbClr val="769B5E"/>
            </a:solidFill>
            <a:prstDash val="solid"/>
            <a:miter lim="8000"/>
            <a:headEnd len="sm" w="sm" type="none"/>
            <a:tailEnd len="med" w="med" type="triangle"/>
          </a:ln>
        </p:spPr>
      </p:cxnSp>
      <p:sp>
        <p:nvSpPr>
          <p:cNvPr id="142" name="Google Shape;142;p21"/>
          <p:cNvSpPr/>
          <p:nvPr/>
        </p:nvSpPr>
        <p:spPr>
          <a:xfrm>
            <a:off x="9202468" y="3643579"/>
            <a:ext cx="2302008" cy="107721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i="1" lang="en-GB" sz="3200">
                <a:solidFill>
                  <a:schemeClr val="dk1"/>
                </a:solidFill>
                <a:latin typeface="Calibri"/>
                <a:ea typeface="Calibri"/>
                <a:cs typeface="Calibri"/>
                <a:sym typeface="Calibri"/>
              </a:rPr>
              <a:t>Now watch Video 1.2</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2"/>
                                        </p:tgtEl>
                                        <p:attrNameLst>
                                          <p:attrName>style.visibility</p:attrName>
                                        </p:attrNameLst>
                                      </p:cBhvr>
                                      <p:to>
                                        <p:strVal val="visible"/>
                                      </p:to>
                                    </p:set>
                                    <p:animEffect filter="fade" transition="in">
                                      <p:cBhvr>
                                        <p:cTn dur="1000"/>
                                        <p:tgtEl>
                                          <p:spTgt spid="14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2"/>
          <p:cNvSpPr txBox="1"/>
          <p:nvPr>
            <p:ph type="title"/>
          </p:nvPr>
        </p:nvSpPr>
        <p:spPr>
          <a:xfrm>
            <a:off x="1572854" y="808171"/>
            <a:ext cx="10037685" cy="81090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1.1: Stationery shop (part 2)</a:t>
            </a:r>
            <a:endParaRPr/>
          </a:p>
        </p:txBody>
      </p:sp>
      <p:pic>
        <p:nvPicPr>
          <p:cNvPr descr="A picture containing athletic game, basketball, sport&#10;&#10;Description automatically generated" id="148" name="Google Shape;148;p22"/>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3"/>
          <p:cNvSpPr txBox="1"/>
          <p:nvPr>
            <p:ph type="title"/>
          </p:nvPr>
        </p:nvSpPr>
        <p:spPr>
          <a:xfrm>
            <a:off x="1572854" y="808171"/>
            <a:ext cx="10037685" cy="81090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1.2: Exam grades</a:t>
            </a:r>
            <a:endParaRPr/>
          </a:p>
        </p:txBody>
      </p:sp>
      <p:pic>
        <p:nvPicPr>
          <p:cNvPr descr="A picture containing athletic game, basketball, sport&#10;&#10;Description automatically generated" id="154" name="Google Shape;154;p23"/>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4"/>
          <p:cNvSpPr txBox="1"/>
          <p:nvPr>
            <p:ph type="title"/>
          </p:nvPr>
        </p:nvSpPr>
        <p:spPr>
          <a:xfrm>
            <a:off x="1566644" y="815010"/>
            <a:ext cx="9753600" cy="82084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Sorting data</a:t>
            </a:r>
            <a:endParaRPr/>
          </a:p>
        </p:txBody>
      </p:sp>
      <p:sp>
        <p:nvSpPr>
          <p:cNvPr id="160" name="Google Shape;160;p24"/>
          <p:cNvSpPr/>
          <p:nvPr/>
        </p:nvSpPr>
        <p:spPr>
          <a:xfrm>
            <a:off x="1566644" y="2146650"/>
            <a:ext cx="9196431" cy="280076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200">
                <a:solidFill>
                  <a:schemeClr val="dk1"/>
                </a:solidFill>
                <a:latin typeface="Calibri"/>
                <a:ea typeface="Calibri"/>
                <a:cs typeface="Calibri"/>
                <a:sym typeface="Calibri"/>
              </a:rPr>
              <a:t>As you know, the data in the first column of the table used in a </a:t>
            </a:r>
            <a:r>
              <a:rPr lang="en-GB" sz="2200">
                <a:solidFill>
                  <a:schemeClr val="dk1"/>
                </a:solidFill>
                <a:latin typeface="Courier New"/>
                <a:ea typeface="Courier New"/>
                <a:cs typeface="Courier New"/>
                <a:sym typeface="Courier New"/>
              </a:rPr>
              <a:t>VLOOKUP</a:t>
            </a:r>
            <a:r>
              <a:rPr lang="en-GB" sz="2200">
                <a:solidFill>
                  <a:schemeClr val="dk1"/>
                </a:solidFill>
                <a:latin typeface="Calibri"/>
                <a:ea typeface="Calibri"/>
                <a:cs typeface="Calibri"/>
                <a:sym typeface="Calibri"/>
              </a:rPr>
              <a:t> needs to be in alphabetical (A–Z) or numerical (0–100) order.</a:t>
            </a:r>
            <a:endParaRPr/>
          </a:p>
          <a:p>
            <a:pPr indent="0" lvl="0" marL="0" marR="0" rtl="0" algn="l">
              <a:spcBef>
                <a:spcPts val="0"/>
              </a:spcBef>
              <a:spcAft>
                <a:spcPts val="0"/>
              </a:spcAft>
              <a:buNone/>
            </a:pPr>
            <a:r>
              <a:rPr lang="en-GB" sz="2200">
                <a:solidFill>
                  <a:schemeClr val="dk1"/>
                </a:solidFill>
                <a:latin typeface="Calibri"/>
                <a:ea typeface="Calibri"/>
                <a:cs typeface="Calibri"/>
                <a:sym typeface="Calibri"/>
              </a:rPr>
              <a:t>It is easy to </a:t>
            </a:r>
            <a:r>
              <a:rPr b="1" lang="en-GB" sz="2200">
                <a:solidFill>
                  <a:srgbClr val="0069B4"/>
                </a:solidFill>
                <a:latin typeface="Calibri"/>
                <a:ea typeface="Calibri"/>
                <a:cs typeface="Calibri"/>
                <a:sym typeface="Calibri"/>
              </a:rPr>
              <a:t>sort</a:t>
            </a:r>
            <a:r>
              <a:rPr lang="en-GB" sz="2200">
                <a:solidFill>
                  <a:schemeClr val="dk1"/>
                </a:solidFill>
                <a:latin typeface="Calibri"/>
                <a:ea typeface="Calibri"/>
                <a:cs typeface="Calibri"/>
                <a:sym typeface="Calibri"/>
              </a:rPr>
              <a:t> the data into order using the sort facility.</a:t>
            </a:r>
            <a:endParaRPr/>
          </a:p>
          <a:p>
            <a:pPr indent="0" lvl="0" marL="0" marR="0" rtl="0" algn="l">
              <a:spcBef>
                <a:spcPts val="0"/>
              </a:spcBef>
              <a:spcAft>
                <a:spcPts val="0"/>
              </a:spcAft>
              <a:buNone/>
            </a:pPr>
            <a:r>
              <a:rPr lang="en-GB" sz="2200">
                <a:solidFill>
                  <a:schemeClr val="dk1"/>
                </a:solidFill>
                <a:latin typeface="Calibri"/>
                <a:ea typeface="Calibri"/>
                <a:cs typeface="Calibri"/>
                <a:sym typeface="Calibri"/>
              </a:rPr>
              <a:t>It is possible to sort the whole worksheet, or just a selected range of cells.</a:t>
            </a:r>
            <a:endParaRPr/>
          </a:p>
          <a:p>
            <a:pPr indent="0" lvl="0" marL="0" marR="0" rtl="0" algn="l">
              <a:spcBef>
                <a:spcPts val="0"/>
              </a:spcBef>
              <a:spcAft>
                <a:spcPts val="0"/>
              </a:spcAft>
              <a:buNone/>
            </a:pPr>
            <a:r>
              <a:rPr lang="en-GB" sz="2200">
                <a:solidFill>
                  <a:schemeClr val="dk1"/>
                </a:solidFill>
                <a:latin typeface="Calibri"/>
                <a:ea typeface="Calibri"/>
                <a:cs typeface="Calibri"/>
                <a:sym typeface="Calibri"/>
              </a:rPr>
              <a:t>You select the range of cells that you need to sort, then choose ‘Sort’ from the ‘Data’ tab. You can then specify which columns to sort the data by and whether you want it in </a:t>
            </a:r>
            <a:r>
              <a:rPr b="1" lang="en-GB" sz="2200">
                <a:solidFill>
                  <a:schemeClr val="dk1"/>
                </a:solidFill>
                <a:latin typeface="Calibri"/>
                <a:ea typeface="Calibri"/>
                <a:cs typeface="Calibri"/>
                <a:sym typeface="Calibri"/>
              </a:rPr>
              <a:t>ascending</a:t>
            </a:r>
            <a:r>
              <a:rPr lang="en-GB" sz="2200">
                <a:solidFill>
                  <a:schemeClr val="dk1"/>
                </a:solidFill>
                <a:latin typeface="Calibri"/>
                <a:ea typeface="Calibri"/>
                <a:cs typeface="Calibri"/>
                <a:sym typeface="Calibri"/>
              </a:rPr>
              <a:t> (A–Z, smallest to largest) or </a:t>
            </a:r>
            <a:r>
              <a:rPr b="1" lang="en-GB" sz="2200">
                <a:solidFill>
                  <a:schemeClr val="dk1"/>
                </a:solidFill>
                <a:latin typeface="Calibri"/>
                <a:ea typeface="Calibri"/>
                <a:cs typeface="Calibri"/>
                <a:sym typeface="Calibri"/>
              </a:rPr>
              <a:t>descending</a:t>
            </a:r>
            <a:r>
              <a:rPr lang="en-GB" sz="2200">
                <a:solidFill>
                  <a:schemeClr val="dk1"/>
                </a:solidFill>
                <a:latin typeface="Calibri"/>
                <a:ea typeface="Calibri"/>
                <a:cs typeface="Calibri"/>
                <a:sym typeface="Calibri"/>
              </a:rPr>
              <a:t> (Z–A, largest to smallest) order.</a:t>
            </a:r>
            <a:endParaRPr/>
          </a:p>
        </p:txBody>
      </p:sp>
      <p:sp>
        <p:nvSpPr>
          <p:cNvPr id="161" name="Google Shape;161;p24"/>
          <p:cNvSpPr/>
          <p:nvPr/>
        </p:nvSpPr>
        <p:spPr>
          <a:xfrm>
            <a:off x="3876984" y="5458213"/>
            <a:ext cx="4438031" cy="584775"/>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i="1" lang="en-GB" sz="3200">
                <a:solidFill>
                  <a:schemeClr val="dk1"/>
                </a:solidFill>
                <a:latin typeface="Calibri"/>
                <a:ea typeface="Calibri"/>
                <a:cs typeface="Calibri"/>
                <a:sym typeface="Calibri"/>
              </a:rPr>
              <a:t>Now watch Video 1.3</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161"/>
                                        </p:tgtEl>
                                        <p:attrNameLst>
                                          <p:attrName>style.visibility</p:attrName>
                                        </p:attrNameLst>
                                      </p:cBhvr>
                                      <p:to>
                                        <p:strVal val="visible"/>
                                      </p:to>
                                    </p:set>
                                    <p:anim calcmode="lin" valueType="num">
                                      <p:cBhvr additive="base">
                                        <p:cTn dur="500"/>
                                        <p:tgtEl>
                                          <p:spTgt spid="161"/>
                                        </p:tgtEl>
                                        <p:attrNameLst>
                                          <p:attrName>ppt_w</p:attrName>
                                        </p:attrNameLst>
                                      </p:cBhvr>
                                      <p:tavLst>
                                        <p:tav fmla="" tm="0">
                                          <p:val>
                                            <p:strVal val="0"/>
                                          </p:val>
                                        </p:tav>
                                        <p:tav fmla="" tm="100000">
                                          <p:val>
                                            <p:strVal val="#ppt_w"/>
                                          </p:val>
                                        </p:tav>
                                      </p:tavLst>
                                    </p:anim>
                                    <p:anim calcmode="lin" valueType="num">
                                      <p:cBhvr additive="base">
                                        <p:cTn dur="500"/>
                                        <p:tgtEl>
                                          <p:spTgt spid="161"/>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5"/>
          <p:cNvSpPr txBox="1"/>
          <p:nvPr>
            <p:ph type="title"/>
          </p:nvPr>
        </p:nvSpPr>
        <p:spPr>
          <a:xfrm>
            <a:off x="1572854" y="808171"/>
            <a:ext cx="10037685" cy="81090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1.3: Countries and capital cities</a:t>
            </a:r>
            <a:endParaRPr/>
          </a:p>
        </p:txBody>
      </p:sp>
      <p:pic>
        <p:nvPicPr>
          <p:cNvPr descr="A picture containing athletic game, basketball, sport&#10;&#10;Description automatically generated" id="167" name="Google Shape;167;p25"/>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26"/>
          <p:cNvSpPr txBox="1"/>
          <p:nvPr>
            <p:ph type="title"/>
          </p:nvPr>
        </p:nvSpPr>
        <p:spPr>
          <a:xfrm>
            <a:off x="1572854" y="808171"/>
            <a:ext cx="10037685" cy="81090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1.4: Cars</a:t>
            </a:r>
            <a:endParaRPr/>
          </a:p>
        </p:txBody>
      </p:sp>
      <p:pic>
        <p:nvPicPr>
          <p:cNvPr descr="A picture containing athletic game, basketball, sport&#10;&#10;Description automatically generated" id="173" name="Google Shape;173;p26"/>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27"/>
          <p:cNvSpPr txBox="1"/>
          <p:nvPr>
            <p:ph type="title"/>
          </p:nvPr>
        </p:nvSpPr>
        <p:spPr>
          <a:xfrm>
            <a:off x="1572854" y="808171"/>
            <a:ext cx="10037685" cy="81090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1</a:t>
            </a:r>
            <a:endParaRPr/>
          </a:p>
        </p:txBody>
      </p:sp>
      <p:pic>
        <p:nvPicPr>
          <p:cNvPr descr="A picture containing athletic game, basketball, sport&#10;&#10;Description automatically generated" id="179" name="Google Shape;179;p27"/>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