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78" name="Google Shape;7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5" name="Google Shape;8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1" name="Google Shape;9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98" name="Google Shape;9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05" name="Google Shape;105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1" name="Google Shape;111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18" name="Google Shape;118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4" name="Google Shape;124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30" name="Google Shape;130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2"/>
          <p:cNvSpPr txBox="1"/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" name="Google Shape;12;p2"/>
          <p:cNvSpPr txBox="1"/>
          <p:nvPr>
            <p:ph idx="1" type="subTitle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/>
            </a:lvl1pPr>
            <a:lvl2pPr lvl="1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/>
            </a:lvl2pPr>
            <a:lvl3pPr lvl="2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4pPr>
            <a:lvl5pPr lvl="4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5pPr>
            <a:lvl6pPr lvl="5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6pPr>
            <a:lvl7pPr lvl="6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7pPr>
            <a:lvl8pPr lvl="7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8pPr>
            <a:lvl9pPr lvl="8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7" name="Google Shape;17;p3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 txBox="1"/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4"/>
          <p:cNvSpPr txBox="1"/>
          <p:nvPr>
            <p:ph idx="1" type="body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3" name="Google Shape;23;p4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" name="Google Shape;24;p4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5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5"/>
          <p:cNvSpPr txBox="1"/>
          <p:nvPr>
            <p:ph idx="1" type="body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5"/>
          <p:cNvSpPr txBox="1"/>
          <p:nvPr>
            <p:ph idx="2" type="body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1" name="Google Shape;31;p5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6"/>
          <p:cNvSpPr txBox="1"/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6"/>
          <p:cNvSpPr txBox="1"/>
          <p:nvPr>
            <p:ph idx="1" type="body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5" name="Google Shape;35;p6"/>
          <p:cNvSpPr txBox="1"/>
          <p:nvPr>
            <p:ph idx="2" type="body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6"/>
          <p:cNvSpPr txBox="1"/>
          <p:nvPr>
            <p:ph idx="3" type="body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6"/>
          <p:cNvSpPr txBox="1"/>
          <p:nvPr>
            <p:ph idx="4" type="body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" name="Google Shape;39;p6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0" name="Google Shape;40;p6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7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7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4" name="Google Shape;44;p7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5" name="Google Shape;45;p7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8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8" name="Google Shape;48;p8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" type="body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indent="-3810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indent="-355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indent="-355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3" name="Google Shape;53;p9"/>
          <p:cNvSpPr txBox="1"/>
          <p:nvPr>
            <p:ph idx="2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54" name="Google Shape;54;p9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5" name="Google Shape;55;p9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6" name="Google Shape;56;p9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0"/>
          <p:cNvSpPr txBox="1"/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0"/>
          <p:cNvSpPr/>
          <p:nvPr>
            <p:ph idx="2" type="pic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0" name="Google Shape;60;p10"/>
          <p:cNvSpPr txBox="1"/>
          <p:nvPr>
            <p:ph idx="1" type="body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/>
        </p:txBody>
      </p:sp>
      <p:sp>
        <p:nvSpPr>
          <p:cNvPr id="61" name="Google Shape;61;p1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2" name="Google Shape;62;p1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3" name="Google Shape;63;p1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p1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1"/>
          <p:cNvSpPr txBox="1"/>
          <p:nvPr>
            <p:ph idx="1" type="body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" name="Google Shape;67;p11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8" name="Google Shape;68;p11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69" name="Google Shape;69;p11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2"/>
          <p:cNvSpPr txBox="1"/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2"/>
          <p:cNvSpPr txBox="1"/>
          <p:nvPr>
            <p:ph idx="1" type="body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3" name="Google Shape;73;p12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4" name="Google Shape;74;p12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5" name="Google Shape;75;p12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3.jp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marR="0" rtl="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81000" lvl="1" marL="914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55600" lvl="2" marL="1371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/>
        </p:nvSpPr>
        <p:spPr>
          <a:xfrm>
            <a:off x="7547114" y="6380197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© Hodder &amp; Stoughton Limited 2021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tool&#10;&#10;Description automatically generated" id="9" name="Google Shape;9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0" y="-22928"/>
            <a:ext cx="12192000" cy="1658912"/>
          </a:xfrm>
          <a:prstGeom prst="rect">
            <a:avLst/>
          </a:prstGeom>
          <a:noFill/>
          <a:ln>
            <a:noFill/>
          </a:ln>
        </p:spPr>
      </p:pic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13"/>
          <p:cNvSpPr txBox="1"/>
          <p:nvPr>
            <p:ph type="ctrTitle"/>
          </p:nvPr>
        </p:nvSpPr>
        <p:spPr>
          <a:xfrm>
            <a:off x="613251" y="2971075"/>
            <a:ext cx="7311068" cy="9158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/>
          <a:p>
            <a:pPr indent="0" lvl="0" marL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400"/>
              <a:buFont typeface="Calibri"/>
              <a:buNone/>
            </a:pPr>
            <a:r>
              <a:rPr b="1" lang="en-GB" sz="5400"/>
              <a:t>Advanced spreadsheets</a:t>
            </a:r>
            <a:endParaRPr/>
          </a:p>
        </p:txBody>
      </p:sp>
      <p:sp>
        <p:nvSpPr>
          <p:cNvPr id="81" name="Google Shape;81;p13"/>
          <p:cNvSpPr/>
          <p:nvPr/>
        </p:nvSpPr>
        <p:spPr>
          <a:xfrm>
            <a:off x="4573915" y="3886925"/>
            <a:ext cx="3350404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GB" sz="2000" u="none" cap="none" strike="noStrike">
                <a:solidFill>
                  <a:srgbClr val="B612AD"/>
                </a:solidFill>
                <a:latin typeface="Calibri"/>
                <a:ea typeface="Calibri"/>
                <a:cs typeface="Calibri"/>
                <a:sym typeface="Calibri"/>
              </a:rPr>
              <a:t>Lessons 5 and 6: Quiz (Part 1) </a:t>
            </a:r>
            <a:endParaRPr b="1" i="0" sz="2000" u="none" cap="none" strike="noStrike">
              <a:solidFill>
                <a:srgbClr val="B612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82" name="Google Shape;82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19924" y="2865016"/>
            <a:ext cx="2937413" cy="2443928"/>
          </a:xfrm>
          <a:prstGeom prst="rect">
            <a:avLst/>
          </a:prstGeom>
          <a:noFill/>
          <a:ln>
            <a:noFill/>
          </a:ln>
          <a:effectLst>
            <a:outerShdw blurRad="50800" rotWithShape="0" algn="tl" dir="2700000" dist="3810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type="title"/>
          </p:nvPr>
        </p:nvSpPr>
        <p:spPr>
          <a:xfrm>
            <a:off x="1576857" y="806893"/>
            <a:ext cx="9634330" cy="766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Objectives</a:t>
            </a:r>
            <a:endParaRPr/>
          </a:p>
        </p:txBody>
      </p:sp>
      <p:sp>
        <p:nvSpPr>
          <p:cNvPr id="88" name="Google Shape;88;p14"/>
          <p:cNvSpPr/>
          <p:nvPr/>
        </p:nvSpPr>
        <p:spPr>
          <a:xfrm>
            <a:off x="1576857" y="2274838"/>
            <a:ext cx="8541178" cy="273921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en-GB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In this lesson, you will learn how to: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write a series of questions, answers and feedback for a quiz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∙"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your knowledge of drop-down lists and the </a:t>
            </a:r>
            <a:r>
              <a:rPr b="0" i="0" lang="en-GB" sz="2800" u="none" cap="none" strike="noStrike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VLOOKUP</a:t>
            </a: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 to begin developing a self-marking quiz using a spreadsheet.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 txBox="1"/>
          <p:nvPr>
            <p:ph type="title"/>
          </p:nvPr>
        </p:nvSpPr>
        <p:spPr>
          <a:xfrm>
            <a:off x="1563544" y="813732"/>
            <a:ext cx="9773478" cy="8053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Quiz </a:t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1563543" y="2136338"/>
            <a:ext cx="8206621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are going to use your knowledge of spreadsheets to create a five-question self-marking quiz.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quiz should include four questions that use drop-down lists to allow the user to select their answer and one question that uses check boxes.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will need to record a macro to calculate the score and give bespoke feedback for each answer selected.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Finally, you will need to record a macro to reset the spreadsheet ready for the next user.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15"/>
          <p:cNvSpPr/>
          <p:nvPr/>
        </p:nvSpPr>
        <p:spPr>
          <a:xfrm>
            <a:off x="8399584" y="5546701"/>
            <a:ext cx="3364704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b="0" i="0" lang="en-GB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Now watch Video 5.1 </a:t>
            </a:r>
            <a:endParaRPr b="0" i="0" sz="2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6"/>
          <p:cNvSpPr txBox="1"/>
          <p:nvPr>
            <p:ph type="title"/>
          </p:nvPr>
        </p:nvSpPr>
        <p:spPr>
          <a:xfrm>
            <a:off x="1578133" y="804431"/>
            <a:ext cx="9733721" cy="83592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Questions using drop-down lists </a:t>
            </a:r>
            <a:endParaRPr/>
          </a:p>
        </p:txBody>
      </p:sp>
      <p:sp>
        <p:nvSpPr>
          <p:cNvPr id="101" name="Google Shape;101;p16"/>
          <p:cNvSpPr/>
          <p:nvPr/>
        </p:nvSpPr>
        <p:spPr>
          <a:xfrm>
            <a:off x="1578133" y="2249455"/>
            <a:ext cx="9573571" cy="120032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first task is to write the four questions that will use drop-down lists.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question must have three answers to choose from.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Each answer must have bespoke feedback.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2" name="Google Shape;102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46066" y="3923169"/>
            <a:ext cx="6404021" cy="2130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7"/>
          <p:cNvSpPr txBox="1"/>
          <p:nvPr>
            <p:ph type="title"/>
          </p:nvPr>
        </p:nvSpPr>
        <p:spPr>
          <a:xfrm>
            <a:off x="1589632" y="824949"/>
            <a:ext cx="10037685" cy="8657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5.1: Quiz questions (Part 1)</a:t>
            </a:r>
            <a:endParaRPr/>
          </a:p>
        </p:txBody>
      </p:sp>
      <p:pic>
        <p:nvPicPr>
          <p:cNvPr descr="A picture containing athletic game, basketball, sport&#10;&#10;Description automatically generated" id="108" name="Google Shape;108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8"/>
          <p:cNvSpPr txBox="1"/>
          <p:nvPr>
            <p:ph type="title"/>
          </p:nvPr>
        </p:nvSpPr>
        <p:spPr>
          <a:xfrm>
            <a:off x="1566644" y="815010"/>
            <a:ext cx="9753600" cy="820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Question using check boxes </a:t>
            </a:r>
            <a:endParaRPr/>
          </a:p>
        </p:txBody>
      </p:sp>
      <p:sp>
        <p:nvSpPr>
          <p:cNvPr id="114" name="Google Shape;114;p18"/>
          <p:cNvSpPr/>
          <p:nvPr/>
        </p:nvSpPr>
        <p:spPr>
          <a:xfrm>
            <a:off x="1600201" y="1913044"/>
            <a:ext cx="9591260" cy="17851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last question needs to allow the user to select their answer using check boxes.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The question needs to have five answers to choose from.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200"/>
              <a:buFont typeface="Arial"/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 be correct the question should require three, and only three, of the boxes to be ticked. You will need to indicate which of the three answers needs to be ticked.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5" name="Google Shape;115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69775" y="3975339"/>
            <a:ext cx="7921486" cy="12824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 txBox="1"/>
          <p:nvPr>
            <p:ph type="title"/>
          </p:nvPr>
        </p:nvSpPr>
        <p:spPr>
          <a:xfrm>
            <a:off x="1572854" y="808171"/>
            <a:ext cx="10037685" cy="810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</a:t>
            </a:r>
            <a:r>
              <a:rPr lang="en-GB">
                <a:solidFill>
                  <a:schemeClr val="lt1"/>
                </a:solidFill>
              </a:rPr>
              <a:t>5.1 Quiz questions (Part 2)</a:t>
            </a:r>
            <a:endParaRPr b="1">
              <a:solidFill>
                <a:schemeClr val="lt1"/>
              </a:solidFill>
            </a:endParaRPr>
          </a:p>
        </p:txBody>
      </p:sp>
      <p:pic>
        <p:nvPicPr>
          <p:cNvPr descr="A picture containing athletic game, basketball, sport&#10;&#10;Description automatically generated" id="121" name="Google Shape;121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0"/>
          <p:cNvSpPr txBox="1"/>
          <p:nvPr>
            <p:ph type="title"/>
          </p:nvPr>
        </p:nvSpPr>
        <p:spPr>
          <a:xfrm>
            <a:off x="1566644" y="815010"/>
            <a:ext cx="9753600" cy="8208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Setting up the drop-down questions </a:t>
            </a:r>
            <a:endParaRPr/>
          </a:p>
        </p:txBody>
      </p:sp>
      <p:sp>
        <p:nvSpPr>
          <p:cNvPr id="127" name="Google Shape;127;p20"/>
          <p:cNvSpPr/>
          <p:nvPr/>
        </p:nvSpPr>
        <p:spPr>
          <a:xfrm>
            <a:off x="1566644" y="2146650"/>
            <a:ext cx="9196431" cy="341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 are now going to begin developing your quiz spreadsheet.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Type the first four questions into the spreadsheet.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Create </a:t>
            </a:r>
            <a:r>
              <a:rPr b="1" i="0" lang="en-GB" sz="2400" u="none" cap="none" strike="noStrike">
                <a:solidFill>
                  <a:srgbClr val="0069B4"/>
                </a:solidFill>
                <a:latin typeface="Calibri"/>
                <a:ea typeface="Calibri"/>
                <a:cs typeface="Calibri"/>
                <a:sym typeface="Calibri"/>
              </a:rPr>
              <a:t>look-up tables</a:t>
            </a: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, on the right-hand side of the spreadsheet, for Questions 1 to 4, listing the answers and the feedback for each answer.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the look-up tables to create drop-down lists to select the answers.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Add </a:t>
            </a:r>
            <a:r>
              <a:rPr b="0" i="0" lang="en-GB" sz="2400" u="none" cap="none" strike="noStrike">
                <a:solidFill>
                  <a:schemeClr val="dk1"/>
                </a:solidFill>
                <a:latin typeface="Courier"/>
                <a:ea typeface="Courier"/>
                <a:cs typeface="Courier"/>
                <a:sym typeface="Courier"/>
              </a:rPr>
              <a:t>VLOOKUP</a:t>
            </a:r>
            <a:r>
              <a:rPr b="0" i="0" lang="en-GB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functions to give the appropriate feedback when each answer is selected.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21"/>
          <p:cNvSpPr txBox="1"/>
          <p:nvPr>
            <p:ph type="title"/>
          </p:nvPr>
        </p:nvSpPr>
        <p:spPr>
          <a:xfrm>
            <a:off x="1572854" y="808171"/>
            <a:ext cx="10037685" cy="81090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b="1" lang="en-GB">
                <a:solidFill>
                  <a:schemeClr val="lt1"/>
                </a:solidFill>
              </a:rPr>
              <a:t>Activity 5.2: Quiz (Part 1)</a:t>
            </a:r>
            <a:endParaRPr/>
          </a:p>
        </p:txBody>
      </p:sp>
      <p:pic>
        <p:nvPicPr>
          <p:cNvPr descr="A picture containing athletic game, basketball, sport&#10;&#10;Description automatically generated" id="133" name="Google Shape;133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02216" y="1967027"/>
            <a:ext cx="4587567" cy="449484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