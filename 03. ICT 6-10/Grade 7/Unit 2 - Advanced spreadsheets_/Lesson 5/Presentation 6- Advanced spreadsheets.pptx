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Calibri"/>
                <a:ea typeface="Calibri"/>
                <a:cs typeface="Calibri"/>
                <a:sym typeface="Calibri"/>
              </a:rPr>
              <a:t>© Hodder &amp; Stoughton Limited 2021</a:t>
            </a:r>
            <a:endParaRPr b="0" i="0" sz="1400" u="none" cap="none" strike="noStrike">
              <a:solidFill>
                <a:srgbClr val="000000"/>
              </a:solidFill>
              <a:latin typeface="Arial"/>
              <a:ea typeface="Arial"/>
              <a:cs typeface="Arial"/>
              <a:sym typeface="Arial"/>
            </a:endParaRPr>
          </a:p>
        </p:txBody>
      </p:sp>
      <p:pic>
        <p:nvPicPr>
          <p:cNvPr descr="A picture containing text, tool&#10;&#10;Description automatically generated" id="9" name="Google Shape;9;p1"/>
          <p:cNvPicPr preferRelativeResize="0"/>
          <p:nvPr/>
        </p:nvPicPr>
        <p:blipFill rotWithShape="1">
          <a:blip r:embed="rId1">
            <a:alphaModFix/>
          </a:blip>
          <a:srcRect b="0" l="0" r="0" t="0"/>
          <a:stretch/>
        </p:blipFill>
        <p:spPr>
          <a:xfrm>
            <a:off x="0" y="-22928"/>
            <a:ext cx="12192000" cy="165891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613251" y="2971075"/>
            <a:ext cx="7311068" cy="91585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5400"/>
              <a:buFont typeface="Calibri"/>
              <a:buNone/>
            </a:pPr>
            <a:r>
              <a:rPr b="1" lang="en-GB" sz="5400"/>
              <a:t>Advanced spreadsheets</a:t>
            </a:r>
            <a:endParaRPr/>
          </a:p>
        </p:txBody>
      </p:sp>
      <p:sp>
        <p:nvSpPr>
          <p:cNvPr id="81" name="Google Shape;81;p13"/>
          <p:cNvSpPr/>
          <p:nvPr/>
        </p:nvSpPr>
        <p:spPr>
          <a:xfrm>
            <a:off x="5324120" y="3886925"/>
            <a:ext cx="2600199" cy="40011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i="0" lang="en-GB" sz="2000" u="none" cap="none" strike="noStrike">
                <a:solidFill>
                  <a:srgbClr val="B612AD"/>
                </a:solidFill>
                <a:latin typeface="Calibri"/>
                <a:ea typeface="Calibri"/>
                <a:cs typeface="Calibri"/>
                <a:sym typeface="Calibri"/>
              </a:rPr>
              <a:t>Lesson 6: Quiz (Part 2) </a:t>
            </a:r>
            <a:endParaRPr b="1" i="0" sz="2000" u="none" cap="none" strike="noStrike">
              <a:solidFill>
                <a:srgbClr val="B612AD"/>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219924" y="2865016"/>
            <a:ext cx="2937413" cy="24439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76857" y="806893"/>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76857" y="2274838"/>
            <a:ext cx="8720082" cy="36009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chemeClr val="dk1"/>
                </a:solidFill>
                <a:latin typeface="Calibri"/>
                <a:ea typeface="Calibri"/>
                <a:cs typeface="Calibri"/>
                <a:sym typeface="Calibri"/>
              </a:rPr>
              <a:t>In this lesson, you will: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Noto Sans Symbols"/>
              <a:buChar char="∙"/>
            </a:pPr>
            <a:r>
              <a:rPr b="0" i="0" lang="en-GB" sz="2800" u="none" cap="none" strike="noStrike">
                <a:solidFill>
                  <a:schemeClr val="dk1"/>
                </a:solidFill>
                <a:latin typeface="Calibri"/>
                <a:ea typeface="Calibri"/>
                <a:cs typeface="Calibri"/>
                <a:sym typeface="Calibri"/>
              </a:rPr>
              <a:t>use your knowledge of inserting check boxes and writing </a:t>
            </a:r>
            <a:r>
              <a:rPr b="0" i="0" lang="en-GB" sz="2800" u="none" cap="none" strike="noStrike">
                <a:solidFill>
                  <a:schemeClr val="dk1"/>
                </a:solidFill>
                <a:latin typeface="Courier"/>
                <a:ea typeface="Courier"/>
                <a:cs typeface="Courier"/>
                <a:sym typeface="Courier"/>
              </a:rPr>
              <a:t>IF</a:t>
            </a:r>
            <a:r>
              <a:rPr b="0" i="0" lang="en-GB" sz="2800" u="none" cap="none" strike="noStrike">
                <a:solidFill>
                  <a:schemeClr val="dk1"/>
                </a:solidFill>
                <a:latin typeface="Calibri"/>
                <a:ea typeface="Calibri"/>
                <a:cs typeface="Calibri"/>
                <a:sym typeface="Calibri"/>
              </a:rPr>
              <a:t> functions using logical operators to develop your self-marking quiz further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Noto Sans Symbols"/>
              <a:buChar char="∙"/>
            </a:pPr>
            <a:r>
              <a:rPr b="0" i="0" lang="en-GB" sz="2800" u="none" cap="none" strike="noStrike">
                <a:solidFill>
                  <a:schemeClr val="dk1"/>
                </a:solidFill>
                <a:latin typeface="Calibri"/>
                <a:ea typeface="Calibri"/>
                <a:cs typeface="Calibri"/>
                <a:sym typeface="Calibri"/>
              </a:rPr>
              <a:t>give each question a mark and calculate the total score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Noto Sans Symbols"/>
              <a:buChar char="∙"/>
            </a:pPr>
            <a:r>
              <a:rPr b="0" i="0" lang="en-GB" sz="2800" u="none" cap="none" strike="noStrike">
                <a:solidFill>
                  <a:schemeClr val="dk1"/>
                </a:solidFill>
                <a:latin typeface="Calibri"/>
                <a:ea typeface="Calibri"/>
                <a:cs typeface="Calibri"/>
                <a:sym typeface="Calibri"/>
              </a:rPr>
              <a:t>show the total score as </a:t>
            </a:r>
            <a:r>
              <a:rPr b="0" i="0" lang="en-GB" sz="2800" u="none" cap="none" strike="noStrike">
                <a:solidFill>
                  <a:schemeClr val="dk1"/>
                </a:solidFill>
                <a:latin typeface="Courier"/>
                <a:ea typeface="Courier"/>
                <a:cs typeface="Courier"/>
                <a:sym typeface="Courier"/>
              </a:rPr>
              <a:t>*</a:t>
            </a:r>
            <a:r>
              <a:rPr b="0" i="0" lang="en-GB" sz="2800" u="none" cap="none" strike="noStrike">
                <a:solidFill>
                  <a:schemeClr val="dk1"/>
                </a:solidFill>
                <a:latin typeface="Calibri"/>
                <a:ea typeface="Calibri"/>
                <a:cs typeface="Calibri"/>
                <a:sym typeface="Calibri"/>
              </a:rPr>
              <a: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Noto Sans Symbols"/>
              <a:buChar char="∙"/>
            </a:pPr>
            <a:r>
              <a:rPr b="0" i="0" lang="en-GB" sz="2800" u="none" cap="none" strike="noStrike">
                <a:solidFill>
                  <a:schemeClr val="dk1"/>
                </a:solidFill>
                <a:latin typeface="Calibri"/>
                <a:ea typeface="Calibri"/>
                <a:cs typeface="Calibri"/>
                <a:sym typeface="Calibri"/>
              </a:rPr>
              <a:t>record macros to mark the quiz and to reset the spreadsheet for the next user.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63544" y="813732"/>
            <a:ext cx="9773478" cy="8053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a:t>
            </a:r>
            <a:endParaRPr/>
          </a:p>
        </p:txBody>
      </p:sp>
      <p:sp>
        <p:nvSpPr>
          <p:cNvPr id="94" name="Google Shape;94;p15"/>
          <p:cNvSpPr/>
          <p:nvPr/>
        </p:nvSpPr>
        <p:spPr>
          <a:xfrm>
            <a:off x="1563544" y="3043408"/>
            <a:ext cx="3818096"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chemeClr val="dk1"/>
                </a:solidFill>
                <a:latin typeface="Calibri"/>
                <a:ea typeface="Calibri"/>
                <a:cs typeface="Calibri"/>
                <a:sym typeface="Calibri"/>
              </a:rPr>
              <a:t>Now watch Video 5.1 </a:t>
            </a:r>
            <a:endParaRPr b="1" i="0" sz="3200" u="none" cap="none" strike="noStrike">
              <a:solidFill>
                <a:srgbClr val="FF0000"/>
              </a:solidFill>
              <a:latin typeface="Calibri"/>
              <a:ea typeface="Calibri"/>
              <a:cs typeface="Calibri"/>
              <a:sym typeface="Calibri"/>
            </a:endParaRPr>
          </a:p>
        </p:txBody>
      </p:sp>
      <p:sp>
        <p:nvSpPr>
          <p:cNvPr id="95" name="Google Shape;95;p15"/>
          <p:cNvSpPr/>
          <p:nvPr/>
        </p:nvSpPr>
        <p:spPr>
          <a:xfrm>
            <a:off x="1563544" y="2000382"/>
            <a:ext cx="9240292"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dk1"/>
                </a:solidFill>
                <a:latin typeface="Calibri"/>
                <a:ea typeface="Calibri"/>
                <a:cs typeface="Calibri"/>
                <a:sym typeface="Calibri"/>
              </a:rPr>
              <a:t>Last lesson you began developing a self-marking quiz in a spreadsheet.</a:t>
            </a:r>
            <a:endParaRPr b="0" i="0" sz="1400" u="none" cap="none" strike="noStrike">
              <a:solidFill>
                <a:srgbClr val="000000"/>
              </a:solidFill>
              <a:latin typeface="Arial"/>
              <a:ea typeface="Arial"/>
              <a:cs typeface="Arial"/>
              <a:sym typeface="Arial"/>
            </a:endParaRPr>
          </a:p>
        </p:txBody>
      </p:sp>
      <p:sp>
        <p:nvSpPr>
          <p:cNvPr id="96" name="Google Shape;96;p15"/>
          <p:cNvSpPr/>
          <p:nvPr/>
        </p:nvSpPr>
        <p:spPr>
          <a:xfrm>
            <a:off x="1563544" y="3799966"/>
            <a:ext cx="8156926" cy="2246769"/>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GB" sz="2800" u="none" cap="none" strike="noStrike">
                <a:solidFill>
                  <a:schemeClr val="dk1"/>
                </a:solidFill>
                <a:latin typeface="Calibri"/>
                <a:ea typeface="Calibri"/>
                <a:cs typeface="Calibri"/>
                <a:sym typeface="Calibri"/>
              </a:rPr>
              <a:t>You should already have set up four questions that use drop-down lists to allow the user to select their answer.</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GB" sz="2800" u="none" cap="none" strike="noStrike">
                <a:solidFill>
                  <a:schemeClr val="dk1"/>
                </a:solidFill>
                <a:latin typeface="Calibri"/>
                <a:ea typeface="Calibri"/>
                <a:cs typeface="Calibri"/>
                <a:sym typeface="Calibri"/>
              </a:rPr>
              <a:t>Your spreadsheet should provide bespoke feedback for each answer that has been selected.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1578133" y="804431"/>
            <a:ext cx="9733721" cy="83592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Adding the check box question </a:t>
            </a:r>
            <a:endParaRPr/>
          </a:p>
        </p:txBody>
      </p:sp>
      <p:sp>
        <p:nvSpPr>
          <p:cNvPr id="102" name="Google Shape;102;p16"/>
          <p:cNvSpPr/>
          <p:nvPr/>
        </p:nvSpPr>
        <p:spPr>
          <a:xfrm>
            <a:off x="1578133" y="2249455"/>
            <a:ext cx="9293999" cy="30469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Calibri"/>
                <a:ea typeface="Calibri"/>
                <a:cs typeface="Calibri"/>
                <a:sym typeface="Calibri"/>
              </a:rPr>
              <a:t>Your next task is to set up Question 5, which uses check boxes.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Remember that this question should have five possible answers.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You will need to insert the check boxes and link them to appropriate cells on the spreadsheet.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Then you will need to write an </a:t>
            </a:r>
            <a:r>
              <a:rPr b="0" i="0" lang="en-GB" sz="2400" u="none" cap="none" strike="noStrike">
                <a:solidFill>
                  <a:schemeClr val="dk1"/>
                </a:solidFill>
                <a:latin typeface="Courier"/>
                <a:ea typeface="Courier"/>
                <a:cs typeface="Courier"/>
                <a:sym typeface="Courier"/>
              </a:rPr>
              <a:t>IF</a:t>
            </a:r>
            <a:r>
              <a:rPr b="0" i="0" lang="en-GB" sz="2400" u="none" cap="none" strike="noStrike">
                <a:solidFill>
                  <a:schemeClr val="dk1"/>
                </a:solidFill>
                <a:latin typeface="Calibri"/>
                <a:ea typeface="Calibri"/>
                <a:cs typeface="Calibri"/>
                <a:sym typeface="Calibri"/>
              </a:rPr>
              <a:t> function using a logical operator to give appropriate feedback.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The question should only be marked as correct if the right three check boxes, and only the right three check boxes, have been ticked.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1589632" y="824949"/>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2)</a:t>
            </a:r>
            <a:endParaRPr/>
          </a:p>
        </p:txBody>
      </p:sp>
      <p:pic>
        <p:nvPicPr>
          <p:cNvPr descr="A picture containing athletic game, basketball, sport&#10;&#10;Description automatically generated" id="108" name="Google Shape;108;p17"/>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1566644" y="815010"/>
            <a:ext cx="9753600" cy="8208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Working out the score </a:t>
            </a:r>
            <a:endParaRPr/>
          </a:p>
        </p:txBody>
      </p:sp>
      <p:sp>
        <p:nvSpPr>
          <p:cNvPr id="114" name="Google Shape;114;p18"/>
          <p:cNvSpPr/>
          <p:nvPr/>
        </p:nvSpPr>
        <p:spPr>
          <a:xfrm>
            <a:off x="1566644" y="2072672"/>
            <a:ext cx="9614878" cy="378565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Each question needs to be awarded one mark if it is correct.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For Questions 1 to 4, you can use </a:t>
            </a:r>
            <a:r>
              <a:rPr b="0" i="0" lang="en-GB" sz="2400" u="none" cap="none" strike="noStrike">
                <a:solidFill>
                  <a:schemeClr val="dk1"/>
                </a:solidFill>
                <a:latin typeface="Courier"/>
                <a:ea typeface="Courier"/>
                <a:cs typeface="Courier"/>
                <a:sym typeface="Courier"/>
              </a:rPr>
              <a:t>IF</a:t>
            </a:r>
            <a:r>
              <a:rPr b="0" i="0" lang="en-GB" sz="2400" u="none" cap="none" strike="noStrike">
                <a:solidFill>
                  <a:schemeClr val="dk1"/>
                </a:solidFill>
                <a:latin typeface="Calibri"/>
                <a:ea typeface="Calibri"/>
                <a:cs typeface="Calibri"/>
                <a:sym typeface="Calibri"/>
              </a:rPr>
              <a:t> functions to check whether the selected answer is correct and award 1 mark if it is and no marks if it is not.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For Question 5, you can use an </a:t>
            </a:r>
            <a:r>
              <a:rPr b="0" i="0" lang="en-GB" sz="2400" u="none" cap="none" strike="noStrike">
                <a:solidFill>
                  <a:schemeClr val="dk1"/>
                </a:solidFill>
                <a:latin typeface="Courier"/>
                <a:ea typeface="Courier"/>
                <a:cs typeface="Courier"/>
                <a:sym typeface="Courier"/>
              </a:rPr>
              <a:t>IF</a:t>
            </a:r>
            <a:r>
              <a:rPr b="0" i="0" lang="en-GB" sz="2400" u="none" cap="none" strike="noStrike">
                <a:solidFill>
                  <a:schemeClr val="dk1"/>
                </a:solidFill>
                <a:latin typeface="Calibri"/>
                <a:ea typeface="Calibri"/>
                <a:cs typeface="Calibri"/>
                <a:sym typeface="Calibri"/>
              </a:rPr>
              <a:t> function to see if the feedback says "Correct!" and award 1 mark if it does and no marks if it does not.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You will need to write a function to add up the marks for each question to get the total score.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The score should be displayed as </a:t>
            </a:r>
            <a:r>
              <a:rPr b="0" i="0" lang="en-GB" sz="2400" u="none" cap="none" strike="noStrike">
                <a:solidFill>
                  <a:schemeClr val="dk1"/>
                </a:solidFill>
                <a:latin typeface="Courier"/>
                <a:ea typeface="Courier"/>
                <a:cs typeface="Courier"/>
                <a:sym typeface="Courier"/>
              </a:rPr>
              <a:t>*</a:t>
            </a:r>
            <a:r>
              <a:rPr b="0" i="0" lang="en-GB" sz="2400" u="none" cap="none" strike="noStrike">
                <a:solidFill>
                  <a:schemeClr val="dk1"/>
                </a:solidFill>
                <a:latin typeface="Calibri"/>
                <a:ea typeface="Calibri"/>
                <a:cs typeface="Calibri"/>
                <a:sym typeface="Calibri"/>
              </a:rPr>
              <a:t>s. So, for example, if the player scores 3 points, </a:t>
            </a:r>
            <a:r>
              <a:rPr b="0" i="0" lang="en-GB" sz="2400" u="none" cap="none" strike="noStrike">
                <a:solidFill>
                  <a:schemeClr val="dk1"/>
                </a:solidFill>
                <a:latin typeface="Courier"/>
                <a:ea typeface="Courier"/>
                <a:cs typeface="Courier"/>
                <a:sym typeface="Courier"/>
              </a:rPr>
              <a:t>***</a:t>
            </a:r>
            <a:r>
              <a:rPr b="0" i="0" lang="en-GB" sz="2400" u="none" cap="none" strike="noStrike">
                <a:solidFill>
                  <a:schemeClr val="dk1"/>
                </a:solidFill>
                <a:latin typeface="Calibri"/>
                <a:ea typeface="Calibri"/>
                <a:cs typeface="Calibri"/>
                <a:sym typeface="Calibri"/>
              </a:rPr>
              <a:t> should be displayed.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3)</a:t>
            </a:r>
            <a:endParaRPr/>
          </a:p>
        </p:txBody>
      </p:sp>
      <p:pic>
        <p:nvPicPr>
          <p:cNvPr descr="A picture containing athletic game, basketball, sport&#10;&#10;Description automatically generated" id="120" name="Google Shape;120;p19"/>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1566644" y="815010"/>
            <a:ext cx="9753600" cy="8208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Recording a reset macro</a:t>
            </a:r>
            <a:endParaRPr/>
          </a:p>
        </p:txBody>
      </p:sp>
      <p:sp>
        <p:nvSpPr>
          <p:cNvPr id="126" name="Google Shape;126;p20"/>
          <p:cNvSpPr/>
          <p:nvPr/>
        </p:nvSpPr>
        <p:spPr>
          <a:xfrm>
            <a:off x="1566644" y="2146650"/>
            <a:ext cx="9196431" cy="341632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Before going any further, re-save your spreadsheet as a macro-enabled spreadsheet.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Now you need to record a macro to reset your spreadsheet for the next user. The macro should clear the contents of the cells containing the drop-down lists and the </a:t>
            </a:r>
            <a:r>
              <a:rPr b="0" i="0" lang="en-GB" sz="2400" u="none" cap="none" strike="noStrike">
                <a:solidFill>
                  <a:schemeClr val="dk1"/>
                </a:solidFill>
                <a:latin typeface="Courier"/>
                <a:ea typeface="Courier"/>
                <a:cs typeface="Courier"/>
                <a:sym typeface="Courier"/>
              </a:rPr>
              <a:t>TRUE</a:t>
            </a:r>
            <a:r>
              <a:rPr b="0" i="0" lang="en-GB" sz="2400" u="none" cap="none" strike="noStrike">
                <a:solidFill>
                  <a:schemeClr val="dk1"/>
                </a:solidFill>
                <a:latin typeface="Calibri"/>
                <a:ea typeface="Calibri"/>
                <a:cs typeface="Calibri"/>
                <a:sym typeface="Calibri"/>
              </a:rPr>
              <a:t>/</a:t>
            </a:r>
            <a:r>
              <a:rPr b="0" i="0" lang="en-GB" sz="2400" u="none" cap="none" strike="noStrike">
                <a:solidFill>
                  <a:schemeClr val="dk1"/>
                </a:solidFill>
                <a:latin typeface="Courier"/>
                <a:ea typeface="Courier"/>
                <a:cs typeface="Courier"/>
                <a:sym typeface="Courier"/>
              </a:rPr>
              <a:t>FALSE</a:t>
            </a:r>
            <a:r>
              <a:rPr b="0" i="0" lang="en-GB" sz="2400" u="none" cap="none" strike="noStrike">
                <a:solidFill>
                  <a:schemeClr val="dk1"/>
                </a:solidFill>
                <a:latin typeface="Calibri"/>
                <a:ea typeface="Calibri"/>
                <a:cs typeface="Calibri"/>
                <a:sym typeface="Calibri"/>
              </a:rPr>
              <a:t> values linked to the check boxes.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Edit your macro to include code to change the colour of the text in the cells showing the feedback and score to white.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Finally, insert a button and assign your macro to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4)</a:t>
            </a:r>
            <a:endParaRPr/>
          </a:p>
        </p:txBody>
      </p:sp>
      <p:pic>
        <p:nvPicPr>
          <p:cNvPr descr="A picture containing athletic game, basketball, sport&#10;&#10;Description automatically generated" id="132" name="Google Shape;132;p21"/>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Showing the score and feedback</a:t>
            </a:r>
            <a:endParaRPr/>
          </a:p>
        </p:txBody>
      </p:sp>
      <p:sp>
        <p:nvSpPr>
          <p:cNvPr id="138" name="Google Shape;138;p22"/>
          <p:cNvSpPr/>
          <p:nvPr/>
        </p:nvSpPr>
        <p:spPr>
          <a:xfrm>
            <a:off x="1572854" y="2192732"/>
            <a:ext cx="8376216" cy="2092881"/>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600"/>
              <a:buFont typeface="Arial"/>
              <a:buChar char="•"/>
            </a:pPr>
            <a:r>
              <a:rPr b="0" i="0" lang="en-GB" sz="2600" u="none" cap="none" strike="noStrike">
                <a:solidFill>
                  <a:schemeClr val="dk1"/>
                </a:solidFill>
                <a:latin typeface="Calibri"/>
                <a:ea typeface="Calibri"/>
                <a:cs typeface="Calibri"/>
                <a:sym typeface="Calibri"/>
              </a:rPr>
              <a:t>Your last task is to write another macro to show the score and feedback by changing the colour of the text in the cells showing the feedback to blue and the cell showing the score to green.</a:t>
            </a:r>
            <a:endParaRPr b="0" i="0" sz="26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2600"/>
              <a:buFont typeface="Arial"/>
              <a:buChar char="•"/>
            </a:pPr>
            <a:r>
              <a:rPr b="0" i="0" lang="en-GB" sz="2600" u="none" cap="none" strike="noStrike">
                <a:solidFill>
                  <a:schemeClr val="dk1"/>
                </a:solidFill>
                <a:latin typeface="Calibri"/>
                <a:ea typeface="Calibri"/>
                <a:cs typeface="Calibri"/>
                <a:sym typeface="Calibri"/>
              </a:rPr>
              <a:t>Finally, insert another button and assign your macro to it.</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5)</a:t>
            </a:r>
            <a:endParaRPr/>
          </a:p>
        </p:txBody>
      </p:sp>
      <p:pic>
        <p:nvPicPr>
          <p:cNvPr descr="A picture containing athletic game, basketball, sport&#10;&#10;Description automatically generated" id="144" name="Google Shape;144;p23"/>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