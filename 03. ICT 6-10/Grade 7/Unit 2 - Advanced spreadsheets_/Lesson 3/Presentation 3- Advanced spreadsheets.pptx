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A picture containing text, tool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2928"/>
            <a:ext cx="12192000" cy="165891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13251" y="2971075"/>
            <a:ext cx="7311068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GB" sz="5400"/>
              <a:t>Advanced spreadsheets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5973017" y="3886925"/>
            <a:ext cx="20074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B612AD"/>
                </a:solidFill>
                <a:latin typeface="Calibri"/>
                <a:ea typeface="Calibri"/>
                <a:cs typeface="Calibri"/>
                <a:sym typeface="Calibri"/>
              </a:rPr>
              <a:t>Lesson 3: Macros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B612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9924" y="2865016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76857" y="806893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76857" y="2274838"/>
            <a:ext cx="8280208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macros to automate aspects of a spreadsheet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macros to a button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the code recorded by a macro.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63544" y="813732"/>
            <a:ext cx="9773478" cy="805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Robots </a:t>
            </a:r>
            <a:endParaRPr/>
          </a:p>
        </p:txBody>
      </p:sp>
      <p:pic>
        <p:nvPicPr>
          <p:cNvPr descr="A picture containing automaton, toy&#10;&#10;Description automatically generated" id="94" name="Google Shape;94;p15"/>
          <p:cNvPicPr preferRelativeResize="0"/>
          <p:nvPr/>
        </p:nvPicPr>
        <p:blipFill rotWithShape="1">
          <a:blip r:embed="rId3">
            <a:alphaModFix/>
          </a:blip>
          <a:srcRect b="2332" l="0" r="396" t="5801"/>
          <a:stretch/>
        </p:blipFill>
        <p:spPr>
          <a:xfrm>
            <a:off x="3029292" y="1788040"/>
            <a:ext cx="6133415" cy="4751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566644" y="802881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Macros </a:t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4697043" y="2898410"/>
            <a:ext cx="66232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Macros</a:t>
            </a:r>
            <a:r>
              <a:rPr lang="en-GB" sz="2400">
                <a:solidFill>
                  <a:srgbClr val="C4591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small programs that record your mouse clicks and key strokes as you complete a task.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Excel, the actions are saved as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Visual Basic</a:t>
            </a:r>
            <a:r>
              <a:rPr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code, that can be viewed and edited if necessary.</a:t>
            </a:r>
            <a:endParaRPr/>
          </a:p>
        </p:txBody>
      </p:sp>
      <p:pic>
        <p:nvPicPr>
          <p:cNvPr descr="Text&#10;&#10;Description automatically generated"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644" y="1774998"/>
            <a:ext cx="2637608" cy="4830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1913" y="2729978"/>
            <a:ext cx="8345260" cy="367295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type="title"/>
          </p:nvPr>
        </p:nvSpPr>
        <p:spPr>
          <a:xfrm>
            <a:off x="1566644" y="802881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Macros </a:t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491913" y="1898981"/>
            <a:ext cx="995985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Macros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small programs that record your mouse clicks and key strokes as you complete a task.</a:t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7158445" y="2776145"/>
            <a:ext cx="384918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Google Sheets, the actions are saved as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code, that can be viewed and edited if necessary.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1566644" y="802881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Recording macros </a:t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1566643" y="1932715"/>
            <a:ext cx="905871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recording a macro in Excel, you should re-save your spreadsheet as a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macro-enabled spreadsheet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need to give your macro a name before the recording begins </a:t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7167154" y="3263292"/>
            <a:ext cx="345820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have finished recording your macro, it will automatically save to the spreadsheet.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7167154" y="5178603"/>
            <a:ext cx="42944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3.1 (Excel)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Graphical user interface, application&#10;&#10;Description automatically generated" id="118" name="Google Shape;1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643" y="3263292"/>
            <a:ext cx="5193624" cy="3006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1566644" y="802881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Recording macros </a:t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1566644" y="2274838"/>
            <a:ext cx="573984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record a macro in Google Sheets, select ‘Tools’, ‘Macros’ and ‘Record macro’. The recording will begin immediately.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have finished recording your macro, give it a name and it will automatically save to the spreadsheet.</a:t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3209798" y="5379686"/>
            <a:ext cx="56335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3.1 (Google Sheets)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Graphical user interface, text, application&#10;&#10;Description automatically generated"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0" t="2179"/>
          <a:stretch/>
        </p:blipFill>
        <p:spPr>
          <a:xfrm>
            <a:off x="7498080" y="2063931"/>
            <a:ext cx="3565686" cy="33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1566644" y="802881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Assigning macros </a:t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1566643" y="2212403"/>
            <a:ext cx="475577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a macro has been recorded it can be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assigned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button is inserted from the ‘Form Control’ menu.</a:t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3466397" y="5981312"/>
            <a:ext cx="52592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3.2 (Excel)</a:t>
            </a:r>
            <a:endParaRPr i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1566644" y="4236280"/>
            <a:ext cx="887493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macro is assigned by right-clicking on the button, choosing ‘Assign macro’ and selecting the macro required.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macro is run it will repeat the mouse clicks and key strokes you recorded.</a:t>
            </a:r>
            <a:endParaRPr/>
          </a:p>
        </p:txBody>
      </p:sp>
      <p:pic>
        <p:nvPicPr>
          <p:cNvPr descr="Graphical user interface, application, table, Excel&#10;&#10;Description automatically generated"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1445" y="2103280"/>
            <a:ext cx="4823863" cy="213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1566644" y="802881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Assigning macros </a:t>
            </a:r>
            <a:endParaRPr/>
          </a:p>
        </p:txBody>
      </p:sp>
      <p:sp>
        <p:nvSpPr>
          <p:cNvPr id="141" name="Google Shape;141;p21"/>
          <p:cNvSpPr/>
          <p:nvPr/>
        </p:nvSpPr>
        <p:spPr>
          <a:xfrm>
            <a:off x="1566643" y="1796338"/>
            <a:ext cx="991125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a macro has been recorded, it can be 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assigned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to ‘Insert’ and select ‘Drawing’ and create a suitable shape for your button. Click on ‘Save and close’ to add it to your spreadsheet and reposition it by selecting and dragging it.</a:t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8747636" y="4839540"/>
            <a:ext cx="284309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3.2 (Google Sheets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1566644" y="3546879"/>
            <a:ext cx="677616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a macro to the button by selecting the button, clicking on the three dots, choosing ‘Assign a script’, typing in the macro name and pressing ‘OK’.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macro is run it will repeat the mouse clicks and key strokes you recorded. The first time you try to run a macro you will be asked for authorisation to run the script.</a:t>
            </a:r>
            <a:endParaRPr/>
          </a:p>
        </p:txBody>
      </p:sp>
      <p:pic>
        <p:nvPicPr>
          <p:cNvPr descr="Graphical user interface, application, table, Excel&#10;&#10;Description automatically generated" id="144" name="Google Shape;1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808" y="3026491"/>
            <a:ext cx="3041089" cy="181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3.1: Pizza orders (Part 3, Excel)</a:t>
            </a:r>
            <a:endParaRPr/>
          </a:p>
        </p:txBody>
      </p:sp>
      <p:pic>
        <p:nvPicPr>
          <p:cNvPr descr="A picture containing athletic game, basketball, sport&#10;&#10;Description automatically generated"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2304322"/>
            <a:ext cx="3397717" cy="332904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/>
          <p:nvPr/>
        </p:nvSpPr>
        <p:spPr>
          <a:xfrm>
            <a:off x="1589631" y="1960675"/>
            <a:ext cx="6242403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created a spreadsheet to calculate the cost of a pizza order, but the values entered need to be cleared before the next order can be input. It is possible to automate this process using a macro.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a macro to reset the spreadsheet ready for the next order. You will need to clear the contents of the cells in column M linked to the check boxes, and also clear the contents of the two cells in column B containing values selected from drop-down lists.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clear these values, you simply need to right click on each relevant cell and select ‘Clear contents’.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Insert a button and give it a suitable name.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your macro to the button and test it to check that it resets the spreadsheet correctly.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3.1: Pizza orders (Part 3, Google)</a:t>
            </a:r>
            <a:endParaRPr/>
          </a:p>
        </p:txBody>
      </p:sp>
      <p:pic>
        <p:nvPicPr>
          <p:cNvPr descr="A picture containing athletic game, basketball, sport&#10;&#10;Description automatically generated"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2304322"/>
            <a:ext cx="3397717" cy="332904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1589631" y="1960675"/>
            <a:ext cx="6242403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created a spreadsheet to calculate the cost of a pizza order, but the values entered need to be cleared before the next order can be input. It is possible to automate this process using a macro.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a macro to reset the spreadsheet ready for the next order. You will need to unselect the check boxes and clear the contents of the two cells in column B containing values selected from drop-down lists.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a button, give it a suitable name and insert it into the spreadsheet.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your macro to the button and test it to check that it resets the spreadsheet correctly.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Editing a macro </a:t>
            </a:r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1589631" y="1960675"/>
            <a:ext cx="90696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a macro has been recorded, you can edit the Visual Basic code to correct errors or to add extra functionality.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on ‘View Macros’ and select ‘Edit’ to see the code.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code can be edited by typing directly into the code window.</a:t>
            </a:r>
            <a:endParaRPr/>
          </a:p>
        </p:txBody>
      </p:sp>
      <p:pic>
        <p:nvPicPr>
          <p:cNvPr descr="Graphical user interface, application, Word&#10;&#10;Description automatically generated" id="165" name="Google Shape;165;p24"/>
          <p:cNvPicPr preferRelativeResize="0"/>
          <p:nvPr/>
        </p:nvPicPr>
        <p:blipFill rotWithShape="1">
          <a:blip r:embed="rId3">
            <a:alphaModFix/>
          </a:blip>
          <a:srcRect b="51972" l="0" r="0" t="0"/>
          <a:stretch/>
        </p:blipFill>
        <p:spPr>
          <a:xfrm>
            <a:off x="1885733" y="3660964"/>
            <a:ext cx="8420533" cy="2677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Changing the text colour </a:t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1589632" y="2107474"/>
            <a:ext cx="5142095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possible to change the text colour of a specific cell in Excel by selecting it and then setting the colour.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Range("A1").Font.Color = vbGreen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the cell A1 has been selected and the font colour has been changed to green using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vbGreen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easiest way to change the text colour, but the options are limited:</a:t>
            </a:r>
            <a:endParaRPr/>
          </a:p>
        </p:txBody>
      </p:sp>
      <p:pic>
        <p:nvPicPr>
          <p:cNvPr descr="A picture containing chart&#10;&#10;Description automatically generated" id="172" name="Google Shape;1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5274" y="2107474"/>
            <a:ext cx="3913789" cy="3925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Other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vb</a:t>
            </a:r>
            <a:r>
              <a:rPr b="1" lang="en-GB">
                <a:solidFill>
                  <a:schemeClr val="lt1"/>
                </a:solidFill>
              </a:rPr>
              <a:t> formatting commands</a:t>
            </a:r>
            <a:r>
              <a:rPr lang="en-GB">
                <a:solidFill>
                  <a:schemeClr val="lt1"/>
                </a:solidFill>
              </a:rPr>
              <a:t>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1589631" y="1960675"/>
            <a:ext cx="8790986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some examples of other </a:t>
            </a: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vb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formatting commands in Excel.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the cell background colour to yellow: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Range("A1").Interior.Color = vbYellow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font to Courier: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Range("A1").Font.Name = "Courier”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font size to 16 point: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Range("A1").Font.Size = 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the font to bold using a Boolean value of True: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Range("A1").Font.Bold = True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8377645" y="3684223"/>
            <a:ext cx="311408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3.3 (Excel)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, email&#10;&#10;Description automatically generated"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9631" y="3845129"/>
            <a:ext cx="5979852" cy="23205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Editing a macro </a:t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1589631" y="1906137"/>
            <a:ext cx="748796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a macro has been recorded, you can edit the JavaScript code to correct errors or add extra functionality.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on ‘Tools’ and select ‘Script editor’ to see the code.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code will open up in a separate browser window and can be edited by typing directly into the code window.</a:t>
            </a:r>
            <a:endParaRPr/>
          </a:p>
        </p:txBody>
      </p:sp>
      <p:sp>
        <p:nvSpPr>
          <p:cNvPr id="187" name="Google Shape;187;p27"/>
          <p:cNvSpPr/>
          <p:nvPr/>
        </p:nvSpPr>
        <p:spPr>
          <a:xfrm>
            <a:off x="7455835" y="4583792"/>
            <a:ext cx="396069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to save the code when you have finished editing it.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Changing the text colour </a:t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>
            <a:off x="1589632" y="2028057"/>
            <a:ext cx="9113203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possible to change the text colour of a specific cell in Google Sheets by selecting it and then setting the colour.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spreadsheet.getRange(‘A1’).activate();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spreadsheet.getActiveRangeList().setFontColor (‘green’);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the cell, A1, has been selected and the font colour has been changed to green using the colour name.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a predefined colour name is the easiest way to change the colour. A full list of colour names can be found online.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Other JavaScript formatting commands </a:t>
            </a:r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1573067" y="1985650"/>
            <a:ext cx="8345996" cy="4216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some other examples of other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formatting commands in Google Sheets.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the text colour to blue: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spreadsheet.getActiveRangeList().setFontColor(‘blue’);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the cell background colour to yellow: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spreadsheet.getActiveRangeList().setBackground(‘yellow’);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font to Courier: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spreadsheet.getActiveRangeList().setFontFamily(‘Courier’);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font size to 16 point: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spreadsheet.getActiveRangeList().setFontSize(16);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the font to bold: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spreadsheet.getActiveRangeList().setFontWeight(‘bold’);</a:t>
            </a:r>
            <a:endParaRPr/>
          </a:p>
        </p:txBody>
      </p:sp>
      <p:sp>
        <p:nvSpPr>
          <p:cNvPr id="200" name="Google Shape;200;p29"/>
          <p:cNvSpPr/>
          <p:nvPr/>
        </p:nvSpPr>
        <p:spPr>
          <a:xfrm>
            <a:off x="9691788" y="3355255"/>
            <a:ext cx="234970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3.3 (Google Sheets)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1572854" y="808171"/>
            <a:ext cx="10037685" cy="810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3.2: Editing macros</a:t>
            </a:r>
            <a:endParaRPr/>
          </a:p>
        </p:txBody>
      </p:sp>
      <p:pic>
        <p:nvPicPr>
          <p:cNvPr descr="A picture containing athletic game, basketball, sport&#10;&#10;Description automatically generated" id="206" name="Google Shape;2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1572854" y="808171"/>
            <a:ext cx="10037685" cy="810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3</a:t>
            </a:r>
            <a:endParaRPr/>
          </a:p>
        </p:txBody>
      </p:sp>
      <p:pic>
        <p:nvPicPr>
          <p:cNvPr descr="A picture containing athletic game, basketball, sport&#10;&#10;Description automatically generated" id="212" name="Google Shape;2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