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5" name="Google Shape;35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4" name="Google Shape;5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1" name="Google Shape;6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/>
          </a:p>
        </p:txBody>
      </p:sp>
      <p:pic>
        <p:nvPicPr>
          <p:cNvPr descr="A picture containing text, tool&#10;&#10;Description automatically generated" id="9" name="Google Shape;9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-22928"/>
            <a:ext cx="12192000" cy="1658912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>
            <p:ph type="ctrTitle"/>
          </p:nvPr>
        </p:nvSpPr>
        <p:spPr>
          <a:xfrm>
            <a:off x="613251" y="2971075"/>
            <a:ext cx="7311068" cy="9158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Calibri"/>
              <a:buNone/>
            </a:pPr>
            <a:r>
              <a:rPr b="1" lang="en-GB" sz="5400"/>
              <a:t>Advanced spreadsheets</a:t>
            </a:r>
            <a:endParaRPr/>
          </a:p>
        </p:txBody>
      </p:sp>
      <p:sp>
        <p:nvSpPr>
          <p:cNvPr id="81" name="Google Shape;81;p13"/>
          <p:cNvSpPr/>
          <p:nvPr/>
        </p:nvSpPr>
        <p:spPr>
          <a:xfrm>
            <a:off x="5396063" y="3887650"/>
            <a:ext cx="2528256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B612AD"/>
                </a:solidFill>
                <a:latin typeface="Calibri"/>
                <a:ea typeface="Calibri"/>
                <a:cs typeface="Calibri"/>
                <a:sym typeface="Calibri"/>
              </a:rPr>
              <a:t>Lesson 2: Check boxes</a:t>
            </a:r>
            <a:endParaRPr/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rgbClr val="B612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19924" y="2865016"/>
            <a:ext cx="2937413" cy="2443928"/>
          </a:xfrm>
          <a:prstGeom prst="rect">
            <a:avLst/>
          </a:prstGeom>
          <a:noFill/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 txBox="1"/>
          <p:nvPr>
            <p:ph type="title"/>
          </p:nvPr>
        </p:nvSpPr>
        <p:spPr>
          <a:xfrm>
            <a:off x="1576857" y="806893"/>
            <a:ext cx="9634330" cy="766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Objectives</a:t>
            </a:r>
            <a:endParaRPr/>
          </a:p>
        </p:txBody>
      </p:sp>
      <p:sp>
        <p:nvSpPr>
          <p:cNvPr id="88" name="Google Shape;88;p14"/>
          <p:cNvSpPr/>
          <p:nvPr/>
        </p:nvSpPr>
        <p:spPr>
          <a:xfrm>
            <a:off x="1576857" y="2274838"/>
            <a:ext cx="8280208" cy="23083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lesson, you will learn how to: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to insert check boxes into a spreadsheet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to link their Boolean value to another cell and use these values in functions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develop a spreadsheet for a specific purpose.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title"/>
          </p:nvPr>
        </p:nvSpPr>
        <p:spPr>
          <a:xfrm>
            <a:off x="1563544" y="813732"/>
            <a:ext cx="9773478" cy="8053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Questionnaire </a:t>
            </a:r>
            <a:endParaRPr/>
          </a:p>
        </p:txBody>
      </p:sp>
      <p:sp>
        <p:nvSpPr>
          <p:cNvPr id="94" name="Google Shape;94;p15"/>
          <p:cNvSpPr/>
          <p:nvPr/>
        </p:nvSpPr>
        <p:spPr>
          <a:xfrm>
            <a:off x="1563544" y="2413338"/>
            <a:ext cx="7580456" cy="3416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Which factors are important to you when buying new clothes?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	</a:t>
            </a: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Price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Colour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Fabric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Ethically resourced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Fashionable</a:t>
            </a:r>
            <a:endParaRPr/>
          </a:p>
        </p:txBody>
      </p:sp>
      <p:pic>
        <p:nvPicPr>
          <p:cNvPr descr="Checkbox Ticked with solid fill" id="95" name="Google Shape;9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81521" y="3176942"/>
            <a:ext cx="717121" cy="717121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5"/>
          <p:cNvSpPr/>
          <p:nvPr/>
        </p:nvSpPr>
        <p:spPr>
          <a:xfrm>
            <a:off x="1834686" y="4364609"/>
            <a:ext cx="398809" cy="407946"/>
          </a:xfrm>
          <a:prstGeom prst="frame">
            <a:avLst>
              <a:gd fmla="val 9797" name="adj1"/>
            </a:avLst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heckbox Ticked with solid fill" id="97" name="Google Shape;9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2617" y="3678081"/>
            <a:ext cx="726025" cy="7171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heckbox Ticked with solid fill" id="98" name="Google Shape;9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81521" y="4704417"/>
            <a:ext cx="739278" cy="717121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5"/>
          <p:cNvSpPr/>
          <p:nvPr/>
        </p:nvSpPr>
        <p:spPr>
          <a:xfrm>
            <a:off x="1851755" y="5365701"/>
            <a:ext cx="398809" cy="402234"/>
          </a:xfrm>
          <a:prstGeom prst="frame">
            <a:avLst>
              <a:gd fmla="val 9775" name="adj1"/>
            </a:avLst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>
            <p:ph type="title"/>
          </p:nvPr>
        </p:nvSpPr>
        <p:spPr>
          <a:xfrm>
            <a:off x="1578133" y="804431"/>
            <a:ext cx="9733721" cy="83592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Check boxes</a:t>
            </a:r>
            <a:endParaRPr/>
          </a:p>
        </p:txBody>
      </p:sp>
      <p:sp>
        <p:nvSpPr>
          <p:cNvPr id="105" name="Google Shape;105;p16"/>
          <p:cNvSpPr/>
          <p:nvPr/>
        </p:nvSpPr>
        <p:spPr>
          <a:xfrm>
            <a:off x="1578133" y="2249455"/>
            <a:ext cx="9293999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0069B4"/>
                </a:solidFill>
                <a:latin typeface="Calibri"/>
                <a:ea typeface="Calibri"/>
                <a:cs typeface="Calibri"/>
                <a:sym typeface="Calibri"/>
              </a:rPr>
              <a:t>Check boxes 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(or </a:t>
            </a:r>
            <a:r>
              <a:rPr b="1" lang="en-GB" sz="2400">
                <a:solidFill>
                  <a:srgbClr val="0069B4"/>
                </a:solidFill>
                <a:latin typeface="Calibri"/>
                <a:ea typeface="Calibri"/>
                <a:cs typeface="Calibri"/>
                <a:sym typeface="Calibri"/>
              </a:rPr>
              <a:t>tick boxes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allow the user to select one or more choices from a range of options.</a:t>
            </a:r>
            <a:endParaRPr/>
          </a:p>
        </p:txBody>
      </p:sp>
      <p:sp>
        <p:nvSpPr>
          <p:cNvPr id="106" name="Google Shape;106;p16"/>
          <p:cNvSpPr/>
          <p:nvPr/>
        </p:nvSpPr>
        <p:spPr>
          <a:xfrm>
            <a:off x="4219693" y="3080452"/>
            <a:ext cx="6394174" cy="2677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example, you could allow the user to select the countries they have visited from a range of countries.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boxes are a type of </a:t>
            </a:r>
            <a:r>
              <a:rPr b="1" lang="en-GB" sz="2400">
                <a:solidFill>
                  <a:srgbClr val="0069B4"/>
                </a:solidFill>
                <a:latin typeface="Calibri"/>
                <a:ea typeface="Calibri"/>
                <a:cs typeface="Calibri"/>
                <a:sym typeface="Calibri"/>
              </a:rPr>
              <a:t>form control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Form controls are objects that can be placed onto a spreadsheet to help the user interact with the data and select items from lists.</a:t>
            </a:r>
            <a:endParaRPr/>
          </a:p>
        </p:txBody>
      </p:sp>
      <p:pic>
        <p:nvPicPr>
          <p:cNvPr descr="Graphical user interface, application, table, Excel&#10;&#10;Description automatically generated" id="107" name="Google Shape;107;p16"/>
          <p:cNvPicPr preferRelativeResize="0"/>
          <p:nvPr/>
        </p:nvPicPr>
        <p:blipFill rotWithShape="1">
          <a:blip r:embed="rId3">
            <a:alphaModFix/>
          </a:blip>
          <a:srcRect b="4387" l="0" r="0" t="0"/>
          <a:stretch/>
        </p:blipFill>
        <p:spPr>
          <a:xfrm>
            <a:off x="1578133" y="3080452"/>
            <a:ext cx="2586317" cy="25601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7"/>
          <p:cNvSpPr txBox="1"/>
          <p:nvPr>
            <p:ph type="title"/>
          </p:nvPr>
        </p:nvSpPr>
        <p:spPr>
          <a:xfrm>
            <a:off x="1566644" y="802881"/>
            <a:ext cx="9753599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Inserting check boxes into a spreadsheet</a:t>
            </a:r>
            <a:endParaRPr/>
          </a:p>
        </p:txBody>
      </p:sp>
      <p:sp>
        <p:nvSpPr>
          <p:cNvPr id="113" name="Google Shape;113;p17"/>
          <p:cNvSpPr/>
          <p:nvPr/>
        </p:nvSpPr>
        <p:spPr>
          <a:xfrm>
            <a:off x="1566644" y="2005019"/>
            <a:ext cx="9626493" cy="23083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order to add check boxes in Excel, the 'Developer' tab must be visible.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Once you have added a check box to a spreadsheet, you can link it to a cell where you would like its current state to be stored.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When a check box is ticked, the </a:t>
            </a:r>
            <a:r>
              <a:rPr b="1" lang="en-GB" sz="2400">
                <a:solidFill>
                  <a:srgbClr val="0069B4"/>
                </a:solidFill>
                <a:latin typeface="Calibri"/>
                <a:ea typeface="Calibri"/>
                <a:cs typeface="Calibri"/>
                <a:sym typeface="Calibri"/>
              </a:rPr>
              <a:t>linked cell</a:t>
            </a:r>
            <a:r>
              <a:rPr lang="en-GB" sz="2400">
                <a:solidFill>
                  <a:srgbClr val="0069B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returns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TRUE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when it is not selected it returns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FALSE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TRUE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FALSE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are </a:t>
            </a:r>
            <a:r>
              <a:rPr b="1" lang="en-GB" sz="2400">
                <a:solidFill>
                  <a:srgbClr val="0069B4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values.</a:t>
            </a:r>
            <a:endParaRPr/>
          </a:p>
        </p:txBody>
      </p:sp>
      <p:sp>
        <p:nvSpPr>
          <p:cNvPr id="114" name="Google Shape;114;p17"/>
          <p:cNvSpPr/>
          <p:nvPr/>
        </p:nvSpPr>
        <p:spPr>
          <a:xfrm>
            <a:off x="7841600" y="4333511"/>
            <a:ext cx="2913746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Now watch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Video 2.1 (Excel)</a:t>
            </a:r>
            <a:endParaRPr/>
          </a:p>
        </p:txBody>
      </p:sp>
      <p:pic>
        <p:nvPicPr>
          <p:cNvPr descr="Graphical user interface, text, application&#10;&#10;Description automatically generated" id="115" name="Google Shape;11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66644" y="4542230"/>
            <a:ext cx="4926059" cy="14878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8"/>
          <p:cNvSpPr txBox="1"/>
          <p:nvPr>
            <p:ph type="title"/>
          </p:nvPr>
        </p:nvSpPr>
        <p:spPr>
          <a:xfrm>
            <a:off x="1579898" y="805703"/>
            <a:ext cx="9793357" cy="855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Inserting check boxes into a spreadsheet</a:t>
            </a:r>
            <a:endParaRPr/>
          </a:p>
        </p:txBody>
      </p:sp>
      <p:sp>
        <p:nvSpPr>
          <p:cNvPr id="121" name="Google Shape;121;p18"/>
          <p:cNvSpPr/>
          <p:nvPr/>
        </p:nvSpPr>
        <p:spPr>
          <a:xfrm>
            <a:off x="1579898" y="1919562"/>
            <a:ext cx="9793357" cy="23083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boxes can be added very easily to a Google Sheet.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Click on the cell where you would like the tick box to be placed. Then go to the 'Insert' tab and select 'Checkbox'.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box will immediately appear in the cell, and the cell will have a value of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TRUE 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when the box is ticked and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FALSE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when it is not ticked.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TRUE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FALSE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are </a:t>
            </a:r>
            <a:r>
              <a:rPr b="1"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values.</a:t>
            </a:r>
            <a:endParaRPr/>
          </a:p>
        </p:txBody>
      </p:sp>
      <p:sp>
        <p:nvSpPr>
          <p:cNvPr id="122" name="Google Shape;122;p18"/>
          <p:cNvSpPr/>
          <p:nvPr/>
        </p:nvSpPr>
        <p:spPr>
          <a:xfrm>
            <a:off x="2777205" y="5951435"/>
            <a:ext cx="6637587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Now watch Video 2.1 (Google Sheets)</a:t>
            </a:r>
            <a:endParaRPr/>
          </a:p>
        </p:txBody>
      </p:sp>
      <p:pic>
        <p:nvPicPr>
          <p:cNvPr descr="Graphical user interface, application, table&#10;&#10;Description automatically generated" id="123" name="Google Shape;123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5563" y="4227886"/>
            <a:ext cx="4420873" cy="139894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9"/>
          <p:cNvSpPr txBox="1"/>
          <p:nvPr>
            <p:ph type="title"/>
          </p:nvPr>
        </p:nvSpPr>
        <p:spPr>
          <a:xfrm>
            <a:off x="1589632" y="824949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2.1 Pizza ordering system</a:t>
            </a:r>
            <a:endParaRPr/>
          </a:p>
        </p:txBody>
      </p:sp>
      <p:pic>
        <p:nvPicPr>
          <p:cNvPr descr="A picture containing athletic game, basketball, sport&#10;&#10;Description automatically generated" id="129" name="Google Shape;129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0216" y="1847757"/>
            <a:ext cx="4587567" cy="449484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9"/>
          <p:cNvSpPr/>
          <p:nvPr/>
        </p:nvSpPr>
        <p:spPr>
          <a:xfrm>
            <a:off x="1589632" y="2274838"/>
            <a:ext cx="5260584" cy="37856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are going to be creating a system to help customers select and calculate the cost of a pizza order.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system will include: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range of toppings to choose from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range of pizza sizes to choose from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option to choose between collection or delivery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formulae and functions to calculate the total cost for the chosen options.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0"/>
          <p:cNvSpPr txBox="1"/>
          <p:nvPr>
            <p:ph type="title"/>
          </p:nvPr>
        </p:nvSpPr>
        <p:spPr>
          <a:xfrm>
            <a:off x="1566644" y="815010"/>
            <a:ext cx="9753600" cy="820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2.1: Pizza orders (Part 1)</a:t>
            </a:r>
            <a:endParaRPr/>
          </a:p>
        </p:txBody>
      </p:sp>
      <p:pic>
        <p:nvPicPr>
          <p:cNvPr descr="A picture containing athletic game, basketball, sport&#10;&#10;Description automatically generated" id="136" name="Google Shape;136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02216" y="1967027"/>
            <a:ext cx="4587567" cy="4494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1"/>
          <p:cNvSpPr txBox="1"/>
          <p:nvPr>
            <p:ph type="title"/>
          </p:nvPr>
        </p:nvSpPr>
        <p:spPr>
          <a:xfrm>
            <a:off x="1575033" y="815010"/>
            <a:ext cx="9753600" cy="820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</a:pPr>
            <a:r>
              <a:rPr b="1" lang="en-GB" sz="3600">
                <a:solidFill>
                  <a:schemeClr val="lt1"/>
                </a:solidFill>
              </a:rPr>
              <a:t>Using the Boolean value of a check box in functions </a:t>
            </a:r>
            <a:endParaRPr/>
          </a:p>
        </p:txBody>
      </p:sp>
      <p:sp>
        <p:nvSpPr>
          <p:cNvPr id="142" name="Google Shape;142;p21"/>
          <p:cNvSpPr/>
          <p:nvPr/>
        </p:nvSpPr>
        <p:spPr>
          <a:xfrm>
            <a:off x="8875643" y="3674722"/>
            <a:ext cx="2817676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Now watch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Video 2.2 (Excel)</a:t>
            </a:r>
            <a:endParaRPr/>
          </a:p>
        </p:txBody>
      </p:sp>
      <p:sp>
        <p:nvSpPr>
          <p:cNvPr id="143" name="Google Shape;143;p21"/>
          <p:cNvSpPr/>
          <p:nvPr/>
        </p:nvSpPr>
        <p:spPr>
          <a:xfrm>
            <a:off x="1775791" y="1819548"/>
            <a:ext cx="9552842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possible to refer to the Boolean value in the linked cell in functions in Excel. For example, the spreadsheet below contains the options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France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Spain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which are linked to cells D1 and D2, respectively.</a:t>
            </a:r>
            <a:endParaRPr/>
          </a:p>
        </p:txBody>
      </p:sp>
      <p:sp>
        <p:nvSpPr>
          <p:cNvPr id="144" name="Google Shape;144;p21"/>
          <p:cNvSpPr/>
          <p:nvPr/>
        </p:nvSpPr>
        <p:spPr>
          <a:xfrm>
            <a:off x="1775791" y="4940962"/>
            <a:ext cx="9552842" cy="15696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function in cell E1 is linked to the value in D1: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IF( D1=TRUE, "Has been to France", "Has not been to France" 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says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Has been to France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if the value in D1 is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TRUE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Has not been to France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if the value in D1 is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FALSE.</a:t>
            </a:r>
            <a:endParaRPr/>
          </a:p>
        </p:txBody>
      </p:sp>
      <p:pic>
        <p:nvPicPr>
          <p:cNvPr descr="Table&#10;&#10;Description automatically generated" id="145" name="Google Shape;145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75791" y="3305390"/>
            <a:ext cx="6900401" cy="1323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2"/>
          <p:cNvSpPr txBox="1"/>
          <p:nvPr>
            <p:ph type="title"/>
          </p:nvPr>
        </p:nvSpPr>
        <p:spPr>
          <a:xfrm>
            <a:off x="1575033" y="815010"/>
            <a:ext cx="9753600" cy="820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</a:pPr>
            <a:r>
              <a:rPr b="1" lang="en-GB" sz="3600">
                <a:solidFill>
                  <a:schemeClr val="lt1"/>
                </a:solidFill>
              </a:rPr>
              <a:t>Using the Boolean value of a check box in functions</a:t>
            </a:r>
            <a:endParaRPr/>
          </a:p>
        </p:txBody>
      </p:sp>
      <p:sp>
        <p:nvSpPr>
          <p:cNvPr id="151" name="Google Shape;151;p22"/>
          <p:cNvSpPr/>
          <p:nvPr/>
        </p:nvSpPr>
        <p:spPr>
          <a:xfrm>
            <a:off x="8100391" y="3718520"/>
            <a:ext cx="3404085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Now watch Video 2.2 (Google Sheets)</a:t>
            </a:r>
            <a:endParaRPr/>
          </a:p>
        </p:txBody>
      </p:sp>
      <p:sp>
        <p:nvSpPr>
          <p:cNvPr id="152" name="Google Shape;152;p22"/>
          <p:cNvSpPr/>
          <p:nvPr/>
        </p:nvSpPr>
        <p:spPr>
          <a:xfrm>
            <a:off x="1575033" y="1861228"/>
            <a:ext cx="9109923" cy="15696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possible to refer to the Boolean value of a tick box in a function in Google Sheets. For example, in the spreadsheet below, an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function in cell D1 is linked to the value in cell A1: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=IF( A1=TRUE, "Has been to France", "Has not been to France" )</a:t>
            </a:r>
            <a:endParaRPr/>
          </a:p>
        </p:txBody>
      </p:sp>
      <p:sp>
        <p:nvSpPr>
          <p:cNvPr id="153" name="Google Shape;153;p22"/>
          <p:cNvSpPr/>
          <p:nvPr/>
        </p:nvSpPr>
        <p:spPr>
          <a:xfrm>
            <a:off x="1575034" y="4970883"/>
            <a:ext cx="9109922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says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Has been to France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if the value in cell A1 is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TRUE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Has not been to France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if the value in cell A1 is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FALSE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pic>
        <p:nvPicPr>
          <p:cNvPr descr="Table&#10;&#10;Description automatically generated" id="154" name="Google Shape;154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75033" y="3643579"/>
            <a:ext cx="6081483" cy="11146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3"/>
          <p:cNvSpPr txBox="1"/>
          <p:nvPr>
            <p:ph type="title"/>
          </p:nvPr>
        </p:nvSpPr>
        <p:spPr>
          <a:xfrm>
            <a:off x="1572854" y="808171"/>
            <a:ext cx="10037685" cy="8109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2.2: Pizza orders (Part 2)</a:t>
            </a:r>
            <a:endParaRPr/>
          </a:p>
        </p:txBody>
      </p:sp>
      <p:pic>
        <p:nvPicPr>
          <p:cNvPr descr="A picture containing athletic game, basketball, sport&#10;&#10;Description automatically generated" id="160" name="Google Shape;160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02216" y="1967027"/>
            <a:ext cx="4587567" cy="4494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4"/>
          <p:cNvSpPr/>
          <p:nvPr/>
        </p:nvSpPr>
        <p:spPr>
          <a:xfrm>
            <a:off x="1137225" y="1909512"/>
            <a:ext cx="9908935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Here is an example of what your pizza ordering system could look like in Excel:</a:t>
            </a:r>
            <a:endParaRPr/>
          </a:p>
        </p:txBody>
      </p:sp>
      <p:pic>
        <p:nvPicPr>
          <p:cNvPr descr="Table&#10;&#10;Description automatically generated" id="166" name="Google Shape;16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29624" y="2440846"/>
            <a:ext cx="9324136" cy="38509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5"/>
          <p:cNvSpPr/>
          <p:nvPr/>
        </p:nvSpPr>
        <p:spPr>
          <a:xfrm>
            <a:off x="1028562" y="1874514"/>
            <a:ext cx="1013487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Here is an example of what your pizza ordering system could look like in Google:</a:t>
            </a:r>
            <a:endParaRPr/>
          </a:p>
        </p:txBody>
      </p:sp>
      <p:pic>
        <p:nvPicPr>
          <p:cNvPr descr="Table&#10;&#10;Description automatically generated" id="172" name="Google Shape;17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38240" y="2440846"/>
            <a:ext cx="9247177" cy="3883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6"/>
          <p:cNvSpPr txBox="1"/>
          <p:nvPr>
            <p:ph type="title"/>
          </p:nvPr>
        </p:nvSpPr>
        <p:spPr>
          <a:xfrm>
            <a:off x="1572854" y="808171"/>
            <a:ext cx="10037685" cy="8109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Quiz 2</a:t>
            </a:r>
            <a:endParaRPr b="1">
              <a:solidFill>
                <a:schemeClr val="lt1"/>
              </a:solidFill>
            </a:endParaRPr>
          </a:p>
        </p:txBody>
      </p:sp>
      <p:pic>
        <p:nvPicPr>
          <p:cNvPr descr="A picture containing athletic game, basketball, sport&#10;&#10;Description automatically generated" id="178" name="Google Shape;17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02216" y="1967027"/>
            <a:ext cx="4587567" cy="4494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