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A picture containing text, tool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2928"/>
            <a:ext cx="12192000" cy="16589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3251" y="2971075"/>
            <a:ext cx="731106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GB" sz="5400"/>
              <a:t>Advanced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292521" y="3886925"/>
            <a:ext cx="56317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Lesson 4: Logical operators and the </a:t>
            </a:r>
            <a:r>
              <a:rPr b="1" i="0" lang="en-GB" sz="2000" u="none" cap="none" strike="noStrike">
                <a:solidFill>
                  <a:srgbClr val="B612AD"/>
                </a:solidFill>
                <a:latin typeface="Courier"/>
                <a:ea typeface="Courier"/>
                <a:cs typeface="Courier"/>
                <a:sym typeface="Courier"/>
              </a:rPr>
              <a:t>REPT</a:t>
            </a:r>
            <a:r>
              <a:rPr b="1" i="0" lang="en-GB" sz="2000" u="none" cap="none" strike="noStrike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 function </a:t>
            </a:r>
            <a:endParaRPr b="1" i="0" sz="2000" u="none" cap="none" strike="noStrike">
              <a:solidFill>
                <a:srgbClr val="B612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9924" y="2865016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76857" y="80689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76857" y="2274838"/>
            <a:ext cx="8280208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logical operators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OR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writing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REPT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to repeat characters in a cell.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63544" y="813732"/>
            <a:ext cx="9773478" cy="805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urier"/>
              <a:buNone/>
            </a:pP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b="1" lang="en-GB">
                <a:solidFill>
                  <a:schemeClr val="lt1"/>
                </a:solidFill>
              </a:rPr>
              <a:t> functions: a reminder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63544" y="2274838"/>
            <a:ext cx="73772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 to check if a single condition has been met.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=IF( B2&gt;60, "Pass", "Fail" )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544" y="3936832"/>
            <a:ext cx="4230969" cy="2036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042" y="2937676"/>
            <a:ext cx="5198110" cy="275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>
            <p:ph type="title"/>
          </p:nvPr>
        </p:nvSpPr>
        <p:spPr>
          <a:xfrm>
            <a:off x="1578133" y="804431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b="1" lang="en-GB">
                <a:solidFill>
                  <a:schemeClr val="lt1"/>
                </a:solidFill>
              </a:rPr>
              <a:t> in an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b="1"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>
                <a:solidFill>
                  <a:schemeClr val="lt1"/>
                </a:solidFill>
              </a:rPr>
              <a:t>function 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578133" y="1840720"/>
            <a:ext cx="9293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include the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logical operator </a:t>
            </a:r>
            <a:r>
              <a:rPr b="1" lang="en-GB" sz="1800">
                <a:solidFill>
                  <a:srgbClr val="0069B4"/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an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to check that more than one condition is True.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=IF( AND( B2&gt;60, C2&gt;60 ), "Pass", "Fail" )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8028904" y="5203777"/>
            <a:ext cx="32829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4.1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578133" y="5691036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requires both the value in cell B2 </a:t>
            </a: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value in cell C2 to be greater than 60 for the student to achieve a pass.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4.1: Competition</a:t>
            </a:r>
            <a:endParaRPr/>
          </a:p>
        </p:txBody>
      </p:sp>
      <p:pic>
        <p:nvPicPr>
          <p:cNvPr descr="A picture containing athletic game, basketball, sport&#10;&#10;Description automatically generated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4.2: Maths sets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600201" y="800353"/>
            <a:ext cx="9753600" cy="820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OR</a:t>
            </a:r>
            <a:r>
              <a:rPr b="1" lang="en-GB">
                <a:solidFill>
                  <a:schemeClr val="lt1"/>
                </a:solidFill>
              </a:rPr>
              <a:t> in an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b="1" lang="en-GB">
                <a:solidFill>
                  <a:schemeClr val="lt1"/>
                </a:solidFill>
              </a:rPr>
              <a:t> function 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600201" y="2091378"/>
            <a:ext cx="88944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one or more conditions to be met, we can use the </a:t>
            </a:r>
            <a:r>
              <a:rPr b="1" lang="en-GB" sz="1800">
                <a:solidFill>
                  <a:srgbClr val="0069B4"/>
                </a:solidFill>
                <a:latin typeface="Courier"/>
                <a:ea typeface="Courier"/>
                <a:cs typeface="Courier"/>
                <a:sym typeface="Courier"/>
              </a:rPr>
              <a:t>OR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in an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=IF( OR( B2&gt;60, C2&gt;60 ), "Pass", "Fail" )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371" y="3245541"/>
            <a:ext cx="5560695" cy="25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1697371" y="5842691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requires the value in cell B2 </a:t>
            </a: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value in cell C2 to be greater than 60 for the student to achieve a pass.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4.3: Competition 2</a:t>
            </a:r>
            <a:endParaRPr/>
          </a:p>
        </p:txBody>
      </p:sp>
      <p:pic>
        <p:nvPicPr>
          <p:cNvPr descr="A picture containing athletic game, basketball, sport&#10;&#10;Description automatically generated"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4.4: Stock levels</a:t>
            </a:r>
            <a:endParaRPr/>
          </a:p>
        </p:txBody>
      </p:sp>
      <p:pic>
        <p:nvPicPr>
          <p:cNvPr descr="A picture containing athletic game, basketball, sport&#10;&#10;Description automatically generated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566644" y="815010"/>
            <a:ext cx="9753600" cy="820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REPT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1566644" y="2146650"/>
            <a:ext cx="91964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1800">
                <a:solidFill>
                  <a:srgbClr val="0069B4"/>
                </a:solidFill>
                <a:latin typeface="Courier"/>
                <a:ea typeface="Courier"/>
                <a:cs typeface="Courier"/>
                <a:sym typeface="Courier"/>
              </a:rPr>
              <a:t>REPT</a:t>
            </a:r>
            <a:r>
              <a:rPr b="1" lang="en-GB" sz="1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is used to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string of characters a given number of times: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=REPT( text, number of times 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the text in cell A2 is repeated the number of times specified in cell B2.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069" y="3092690"/>
            <a:ext cx="4778375" cy="14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/>
          <p:nvPr/>
        </p:nvSpPr>
        <p:spPr>
          <a:xfrm>
            <a:off x="1566644" y="469160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also use the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REPT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without cell references: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0364" y="5337935"/>
            <a:ext cx="2802306" cy="109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7895061" y="5045547"/>
            <a:ext cx="372512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4.2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4.5: Homework</a:t>
            </a:r>
            <a:endParaRPr/>
          </a:p>
        </p:txBody>
      </p:sp>
      <p:pic>
        <p:nvPicPr>
          <p:cNvPr descr="A picture containing athletic game, basketball, sport&#10;&#10;Description automatically generated" id="152" name="Google Shape;1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4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