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5C716F-7B69-4FB1-A472-72B60403BDF3}">
  <a:tblStyle styleId="{F45C716F-7B69-4FB1-A472-72B60403BDF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hape, rectangle&#10;&#10;Description automatically generated" id="6" name="Google Shape;6;p1"/>
          <p:cNvPicPr preferRelativeResize="0"/>
          <p:nvPr/>
        </p:nvPicPr>
        <p:blipFill rotWithShape="1">
          <a:blip r:embed="rId1">
            <a:alphaModFix/>
          </a:blip>
          <a:srcRect b="0" l="0" r="0" t="0"/>
          <a:stretch/>
        </p:blipFill>
        <p:spPr>
          <a:xfrm>
            <a:off x="0" y="-794"/>
            <a:ext cx="12192000" cy="1616288"/>
          </a:xfrm>
          <a:prstGeom prst="rect">
            <a:avLst/>
          </a:prstGeom>
          <a:noFill/>
          <a:ln>
            <a:noFill/>
          </a:ln>
        </p:spPr>
      </p:pic>
      <p:sp>
        <p:nvSpPr>
          <p:cNvPr id="7" name="Google Shape;7;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txBox="1"/>
          <p:nvPr>
            <p:ph type="ctrTitle"/>
          </p:nvPr>
        </p:nvSpPr>
        <p:spPr>
          <a:xfrm>
            <a:off x="1006679" y="2816695"/>
            <a:ext cx="5595456" cy="1528155"/>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rPr b="1" lang="en-GB"/>
              <a:t>Binary and computer logic</a:t>
            </a:r>
            <a:endParaRPr/>
          </a:p>
        </p:txBody>
      </p:sp>
      <p:sp>
        <p:nvSpPr>
          <p:cNvPr id="81" name="Google Shape;81;p13"/>
          <p:cNvSpPr/>
          <p:nvPr/>
        </p:nvSpPr>
        <p:spPr>
          <a:xfrm>
            <a:off x="3421008" y="4344850"/>
            <a:ext cx="3181127" cy="40011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GB" sz="2000" u="none" cap="none" strike="noStrike">
                <a:solidFill>
                  <a:srgbClr val="0070C0"/>
                </a:solidFill>
                <a:latin typeface="Calibri"/>
                <a:ea typeface="Calibri"/>
                <a:cs typeface="Calibri"/>
                <a:sym typeface="Calibri"/>
              </a:rPr>
              <a:t>Lesson 2: Introducing binary</a:t>
            </a:r>
            <a:endParaRPr b="1" i="0" sz="2000" u="none" cap="none" strike="noStrike">
              <a:solidFill>
                <a:srgbClr val="0070C0"/>
              </a:solidFill>
              <a:latin typeface="Calibri"/>
              <a:ea typeface="Calibri"/>
              <a:cs typeface="Calibri"/>
              <a:sym typeface="Calibri"/>
            </a:endParaRPr>
          </a:p>
        </p:txBody>
      </p:sp>
      <p:pic>
        <p:nvPicPr>
          <p:cNvPr descr="A picture containing text, electronics, display, screenshot&#10;&#10;Description automatically generated" id="82" name="Google Shape;82;p13"/>
          <p:cNvPicPr preferRelativeResize="0"/>
          <p:nvPr/>
        </p:nvPicPr>
        <p:blipFill rotWithShape="1">
          <a:blip r:embed="rId3">
            <a:alphaModFix/>
          </a:blip>
          <a:srcRect b="0" l="0" r="0" t="0"/>
          <a:stretch/>
        </p:blipFill>
        <p:spPr>
          <a:xfrm>
            <a:off x="7214532" y="2816695"/>
            <a:ext cx="2937410" cy="24204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20079" y="795130"/>
            <a:ext cx="9634330" cy="8150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20079" y="2397948"/>
            <a:ext cx="8666921" cy="206210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In this lesson, you will learn:</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what the binary system is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binary numbers relate to denary numbers</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count in binary</a:t>
            </a:r>
            <a:endParaRPr/>
          </a:p>
          <a:p>
            <a:pPr indent="-342900" lvl="0" marL="342900" marR="0" rtl="0" algn="l">
              <a:spcBef>
                <a:spcPts val="0"/>
              </a:spcBef>
              <a:spcAft>
                <a:spcPts val="0"/>
              </a:spcAft>
              <a:buClr>
                <a:schemeClr val="dk1"/>
              </a:buClr>
              <a:buSzPts val="2400"/>
              <a:buFont typeface="Noto Sans Symbols"/>
              <a:buChar char="∙"/>
            </a:pPr>
            <a:r>
              <a:rPr lang="en-GB" sz="2400">
                <a:solidFill>
                  <a:schemeClr val="dk1"/>
                </a:solidFill>
                <a:latin typeface="Calibri"/>
                <a:ea typeface="Calibri"/>
                <a:cs typeface="Calibri"/>
                <a:sym typeface="Calibri"/>
              </a:rPr>
              <a:t>how to convert binary numbers to denary numbers.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CPU and logic gates </a:t>
            </a:r>
            <a:endParaRPr/>
          </a:p>
        </p:txBody>
      </p:sp>
      <p:sp>
        <p:nvSpPr>
          <p:cNvPr id="94" name="Google Shape;94;p15"/>
          <p:cNvSpPr/>
          <p:nvPr/>
        </p:nvSpPr>
        <p:spPr>
          <a:xfrm>
            <a:off x="1620078" y="2151960"/>
            <a:ext cx="6138002" cy="383656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The CPU, the processor at the heart of every digital device, is composed of millions of microscopic electronic circuits called logic gates.</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There are only two possible states for the inputs to, and the outputs from, a logic gate: ON represented by 1 and OFF represented 0.</a:t>
            </a:r>
            <a:endParaRPr sz="24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Computer programmers write computer code and this is converted, by a translator, into 1s and 0s that activate the logic gates in the CPU.</a:t>
            </a:r>
            <a:endParaRPr sz="2400">
              <a:solidFill>
                <a:schemeClr val="dk1"/>
              </a:solidFill>
              <a:latin typeface="Calibri"/>
              <a:ea typeface="Calibri"/>
              <a:cs typeface="Calibri"/>
              <a:sym typeface="Calibri"/>
            </a:endParaRPr>
          </a:p>
        </p:txBody>
      </p:sp>
      <p:sp>
        <p:nvSpPr>
          <p:cNvPr id="95" name="Google Shape;95;p15"/>
          <p:cNvSpPr/>
          <p:nvPr/>
        </p:nvSpPr>
        <p:spPr>
          <a:xfrm>
            <a:off x="7758080" y="5088836"/>
            <a:ext cx="3635477" cy="46166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1200">
                <a:solidFill>
                  <a:schemeClr val="dk1"/>
                </a:solidFill>
                <a:latin typeface="Calibri"/>
                <a:ea typeface="Calibri"/>
                <a:cs typeface="Calibri"/>
                <a:sym typeface="Calibri"/>
              </a:rPr>
              <a:t>An integrated circuit containing millions of logic gates, on a fingernail! </a:t>
            </a:r>
            <a:endParaRPr i="1" sz="1200">
              <a:solidFill>
                <a:schemeClr val="dk1"/>
              </a:solidFill>
              <a:latin typeface="Calibri"/>
              <a:ea typeface="Calibri"/>
              <a:cs typeface="Calibri"/>
              <a:sym typeface="Calibri"/>
            </a:endParaRPr>
          </a:p>
        </p:txBody>
      </p:sp>
      <p:pic>
        <p:nvPicPr>
          <p:cNvPr id="96" name="Google Shape;96;p15"/>
          <p:cNvPicPr preferRelativeResize="0"/>
          <p:nvPr/>
        </p:nvPicPr>
        <p:blipFill rotWithShape="1">
          <a:blip r:embed="rId3">
            <a:alphaModFix/>
          </a:blip>
          <a:srcRect b="0" l="0" r="0" t="0"/>
          <a:stretch/>
        </p:blipFill>
        <p:spPr>
          <a:xfrm>
            <a:off x="7758080" y="2342348"/>
            <a:ext cx="3661984" cy="274648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6"/>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Counting in denary </a:t>
            </a:r>
            <a:endParaRPr/>
          </a:p>
        </p:txBody>
      </p:sp>
      <p:sp>
        <p:nvSpPr>
          <p:cNvPr id="102" name="Google Shape;102;p16"/>
          <p:cNvSpPr/>
          <p:nvPr/>
        </p:nvSpPr>
        <p:spPr>
          <a:xfrm>
            <a:off x="1620079" y="2098287"/>
            <a:ext cx="8818378" cy="192950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000">
                <a:solidFill>
                  <a:schemeClr val="dk1"/>
                </a:solidFill>
                <a:latin typeface="Calibri"/>
                <a:ea typeface="Calibri"/>
                <a:cs typeface="Calibri"/>
                <a:sym typeface="Calibri"/>
              </a:rPr>
              <a:t>You should be familiar with the </a:t>
            </a:r>
            <a:r>
              <a:rPr b="1" lang="en-GB" sz="2000">
                <a:solidFill>
                  <a:srgbClr val="0070C0"/>
                </a:solidFill>
                <a:latin typeface="Calibri"/>
                <a:ea typeface="Calibri"/>
                <a:cs typeface="Calibri"/>
                <a:sym typeface="Calibri"/>
              </a:rPr>
              <a:t>decimal system</a:t>
            </a:r>
            <a:r>
              <a:rPr lang="en-GB" sz="2000">
                <a:solidFill>
                  <a:schemeClr val="dk1"/>
                </a:solidFill>
                <a:latin typeface="Calibri"/>
                <a:ea typeface="Calibri"/>
                <a:cs typeface="Calibri"/>
                <a:sym typeface="Calibri"/>
              </a:rPr>
              <a:t>, which uses ten digits: 0, 1, 2, 3, 4, 5, 6, 7, 8 and 9.</a:t>
            </a:r>
            <a:endParaRPr sz="20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000">
                <a:solidFill>
                  <a:schemeClr val="dk1"/>
                </a:solidFill>
                <a:latin typeface="Calibri"/>
                <a:ea typeface="Calibri"/>
                <a:cs typeface="Calibri"/>
                <a:sym typeface="Calibri"/>
              </a:rPr>
              <a:t>The decimal system is also known as the </a:t>
            </a:r>
            <a:r>
              <a:rPr b="1" lang="en-GB" sz="2000">
                <a:solidFill>
                  <a:srgbClr val="0070C0"/>
                </a:solidFill>
                <a:latin typeface="Calibri"/>
                <a:ea typeface="Calibri"/>
                <a:cs typeface="Calibri"/>
                <a:sym typeface="Calibri"/>
              </a:rPr>
              <a:t>denary system</a:t>
            </a:r>
            <a:r>
              <a:rPr lang="en-GB" sz="2000">
                <a:solidFill>
                  <a:srgbClr val="0070C0"/>
                </a:solidFill>
                <a:latin typeface="Calibri"/>
                <a:ea typeface="Calibri"/>
                <a:cs typeface="Calibri"/>
                <a:sym typeface="Calibri"/>
              </a:rPr>
              <a:t> </a:t>
            </a:r>
            <a:r>
              <a:rPr lang="en-GB" sz="2000">
                <a:solidFill>
                  <a:schemeClr val="dk1"/>
                </a:solidFill>
                <a:latin typeface="Calibri"/>
                <a:ea typeface="Calibri"/>
                <a:cs typeface="Calibri"/>
                <a:sym typeface="Calibri"/>
              </a:rPr>
              <a:t>or </a:t>
            </a:r>
            <a:r>
              <a:rPr b="1" lang="en-GB" sz="2000">
                <a:solidFill>
                  <a:srgbClr val="0070C0"/>
                </a:solidFill>
                <a:latin typeface="Calibri"/>
                <a:ea typeface="Calibri"/>
                <a:cs typeface="Calibri"/>
                <a:sym typeface="Calibri"/>
              </a:rPr>
              <a:t>base 10</a:t>
            </a:r>
            <a:r>
              <a:rPr lang="en-GB"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000">
                <a:solidFill>
                  <a:schemeClr val="dk1"/>
                </a:solidFill>
                <a:latin typeface="Calibri"/>
                <a:ea typeface="Calibri"/>
                <a:cs typeface="Calibri"/>
                <a:sym typeface="Calibri"/>
              </a:rPr>
              <a:t>In base 10, </a:t>
            </a:r>
            <a:r>
              <a:rPr b="1" lang="en-GB" sz="2000">
                <a:solidFill>
                  <a:srgbClr val="0070C0"/>
                </a:solidFill>
                <a:latin typeface="Calibri"/>
                <a:ea typeface="Calibri"/>
                <a:cs typeface="Calibri"/>
                <a:sym typeface="Calibri"/>
              </a:rPr>
              <a:t>place values</a:t>
            </a:r>
            <a:r>
              <a:rPr lang="en-GB" sz="2000">
                <a:solidFill>
                  <a:srgbClr val="0070C0"/>
                </a:solidFill>
                <a:latin typeface="Calibri"/>
                <a:ea typeface="Calibri"/>
                <a:cs typeface="Calibri"/>
                <a:sym typeface="Calibri"/>
              </a:rPr>
              <a:t> </a:t>
            </a:r>
            <a:r>
              <a:rPr lang="en-GB" sz="2000">
                <a:solidFill>
                  <a:schemeClr val="dk1"/>
                </a:solidFill>
                <a:latin typeface="Calibri"/>
                <a:ea typeface="Calibri"/>
                <a:cs typeface="Calibri"/>
                <a:sym typeface="Calibri"/>
              </a:rPr>
              <a:t>increase in multiples of 10. The units are followed by 10s, the 10s are followed by 100s and the 100s are followed by 1000s and so on.</a:t>
            </a:r>
            <a:endParaRPr sz="2000">
              <a:solidFill>
                <a:schemeClr val="dk1"/>
              </a:solidFill>
              <a:latin typeface="Calibri"/>
              <a:ea typeface="Calibri"/>
              <a:cs typeface="Calibri"/>
              <a:sym typeface="Calibri"/>
            </a:endParaRPr>
          </a:p>
        </p:txBody>
      </p:sp>
      <p:graphicFrame>
        <p:nvGraphicFramePr>
          <p:cNvPr id="103" name="Google Shape;103;p16"/>
          <p:cNvGraphicFramePr/>
          <p:nvPr/>
        </p:nvGraphicFramePr>
        <p:xfrm>
          <a:off x="1740838" y="4232919"/>
          <a:ext cx="3000000" cy="3000000"/>
        </p:xfrm>
        <a:graphic>
          <a:graphicData uri="http://schemas.openxmlformats.org/drawingml/2006/table">
            <a:tbl>
              <a:tblPr>
                <a:noFill/>
                <a:tableStyleId>{F45C716F-7B69-4FB1-A472-72B60403BDF3}</a:tableStyleId>
              </a:tblPr>
              <a:tblGrid>
                <a:gridCol w="1260000"/>
                <a:gridCol w="1260000"/>
                <a:gridCol w="1260000"/>
                <a:gridCol w="1260000"/>
                <a:gridCol w="2160000"/>
                <a:gridCol w="1260000"/>
              </a:tblGrid>
              <a:tr h="288000">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1000s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100s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10s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1s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Place values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100" u="none" cap="none" strike="noStrike">
                          <a:solidFill>
                            <a:schemeClr val="lt1"/>
                          </a:solidFill>
                          <a:latin typeface="Calibri"/>
                          <a:ea typeface="Calibri"/>
                          <a:cs typeface="Calibri"/>
                          <a:sym typeface="Calibri"/>
                        </a:rPr>
                        <a:t>Denary number</a:t>
                      </a:r>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r>
              <a:tr h="288000">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8</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8</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100" u="none" cap="none" strike="noStrike">
                          <a:latin typeface="Calibri"/>
                          <a:ea typeface="Calibri"/>
                          <a:cs typeface="Calibri"/>
                          <a:sym typeface="Calibri"/>
                        </a:rPr>
                        <a:t>8</a:t>
                      </a:r>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5</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(2 × 10) + (5 ×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100" u="none" cap="none" strike="noStrike">
                          <a:latin typeface="Calibri"/>
                          <a:ea typeface="Calibri"/>
                          <a:cs typeface="Calibri"/>
                          <a:sym typeface="Calibri"/>
                        </a:rPr>
                        <a:t>25</a:t>
                      </a:r>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3</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6</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(3 × 100) + (6 × 10) + (2 </a:t>
                      </a:r>
                      <a:r>
                        <a:rPr lang="en-GB" sz="1100" u="none" cap="none" strike="noStrike">
                          <a:latin typeface="Calibri"/>
                          <a:ea typeface="Calibri"/>
                          <a:cs typeface="Calibri"/>
                          <a:sym typeface="Calibri"/>
                        </a:rPr>
                        <a:t>×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100" u="none" cap="none" strike="noStrike">
                          <a:latin typeface="Calibri"/>
                          <a:ea typeface="Calibri"/>
                          <a:cs typeface="Calibri"/>
                          <a:sym typeface="Calibri"/>
                        </a:rPr>
                        <a:t>362</a:t>
                      </a:r>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4</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1000) + (4 × 10)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100" u="none" cap="none" strike="noStrike">
                          <a:latin typeface="Calibri"/>
                          <a:ea typeface="Calibri"/>
                          <a:cs typeface="Calibri"/>
                          <a:sym typeface="Calibri"/>
                        </a:rPr>
                        <a:t>1040</a:t>
                      </a:r>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Counting in binary  </a:t>
            </a:r>
            <a:endParaRPr/>
          </a:p>
        </p:txBody>
      </p:sp>
      <p:sp>
        <p:nvSpPr>
          <p:cNvPr id="109" name="Google Shape;109;p17"/>
          <p:cNvSpPr/>
          <p:nvPr/>
        </p:nvSpPr>
        <p:spPr>
          <a:xfrm>
            <a:off x="1620078" y="2136858"/>
            <a:ext cx="9054548" cy="192950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000">
                <a:solidFill>
                  <a:schemeClr val="dk1"/>
                </a:solidFill>
                <a:latin typeface="Calibri"/>
                <a:ea typeface="Calibri"/>
                <a:cs typeface="Calibri"/>
                <a:sym typeface="Calibri"/>
              </a:rPr>
              <a:t>The </a:t>
            </a:r>
            <a:r>
              <a:rPr b="1" lang="en-GB" sz="2000">
                <a:solidFill>
                  <a:srgbClr val="0070C0"/>
                </a:solidFill>
                <a:latin typeface="Calibri"/>
                <a:ea typeface="Calibri"/>
                <a:cs typeface="Calibri"/>
                <a:sym typeface="Calibri"/>
              </a:rPr>
              <a:t>binary system </a:t>
            </a:r>
            <a:r>
              <a:rPr lang="en-GB" sz="2000">
                <a:solidFill>
                  <a:schemeClr val="dk1"/>
                </a:solidFill>
                <a:latin typeface="Calibri"/>
                <a:ea typeface="Calibri"/>
                <a:cs typeface="Calibri"/>
                <a:sym typeface="Calibri"/>
              </a:rPr>
              <a:t>uses just two digits: 0 and 1.</a:t>
            </a:r>
            <a:endParaRPr/>
          </a:p>
          <a:p>
            <a:pPr indent="0" lvl="0" marL="0" marR="0" rtl="0" algn="l">
              <a:lnSpc>
                <a:spcPct val="107000"/>
              </a:lnSpc>
              <a:spcBef>
                <a:spcPts val="800"/>
              </a:spcBef>
              <a:spcAft>
                <a:spcPts val="0"/>
              </a:spcAft>
              <a:buNone/>
            </a:pPr>
            <a:r>
              <a:rPr lang="en-GB" sz="2000">
                <a:solidFill>
                  <a:schemeClr val="dk1"/>
                </a:solidFill>
                <a:latin typeface="Calibri"/>
                <a:ea typeface="Calibri"/>
                <a:cs typeface="Calibri"/>
                <a:sym typeface="Calibri"/>
              </a:rPr>
              <a:t>The binary system is also known as </a:t>
            </a:r>
            <a:r>
              <a:rPr b="1" lang="en-GB" sz="2000">
                <a:solidFill>
                  <a:srgbClr val="0070C0"/>
                </a:solidFill>
                <a:latin typeface="Calibri"/>
                <a:ea typeface="Calibri"/>
                <a:cs typeface="Calibri"/>
                <a:sym typeface="Calibri"/>
              </a:rPr>
              <a:t>base 2</a:t>
            </a:r>
            <a:r>
              <a:rPr lang="en-GB" sz="2000">
                <a:solidFill>
                  <a:schemeClr val="dk1"/>
                </a:solidFill>
                <a:latin typeface="Calibri"/>
                <a:ea typeface="Calibri"/>
                <a:cs typeface="Calibri"/>
                <a:sym typeface="Calibri"/>
              </a:rPr>
              <a:t>.</a:t>
            </a:r>
            <a:endParaRPr/>
          </a:p>
          <a:p>
            <a:pPr indent="0" lvl="0" marL="0" marR="0" rtl="0" algn="l">
              <a:lnSpc>
                <a:spcPct val="107000"/>
              </a:lnSpc>
              <a:spcBef>
                <a:spcPts val="800"/>
              </a:spcBef>
              <a:spcAft>
                <a:spcPts val="0"/>
              </a:spcAft>
              <a:buNone/>
            </a:pPr>
            <a:r>
              <a:rPr lang="en-GB" sz="2000">
                <a:solidFill>
                  <a:schemeClr val="dk1"/>
                </a:solidFill>
                <a:latin typeface="Calibri"/>
                <a:ea typeface="Calibri"/>
                <a:cs typeface="Calibri"/>
                <a:sym typeface="Calibri"/>
              </a:rPr>
              <a:t>In base 2, place values increase in multiples of 2. The units are followed by 2s, the 2s are followed by 4s, the 4s are followed by 8s and the 8s are followed by 16s and so on.</a:t>
            </a:r>
            <a:endParaRPr/>
          </a:p>
        </p:txBody>
      </p:sp>
      <p:graphicFrame>
        <p:nvGraphicFramePr>
          <p:cNvPr id="110" name="Google Shape;110;p17"/>
          <p:cNvGraphicFramePr/>
          <p:nvPr/>
        </p:nvGraphicFramePr>
        <p:xfrm>
          <a:off x="1698780" y="4201004"/>
          <a:ext cx="3000000" cy="3000000"/>
        </p:xfrm>
        <a:graphic>
          <a:graphicData uri="http://schemas.openxmlformats.org/drawingml/2006/table">
            <a:tbl>
              <a:tblPr>
                <a:noFill/>
                <a:tableStyleId>{F45C716F-7B69-4FB1-A472-72B60403BDF3}</a:tableStyleId>
              </a:tblPr>
              <a:tblGrid>
                <a:gridCol w="1152450"/>
                <a:gridCol w="1152450"/>
                <a:gridCol w="1152450"/>
                <a:gridCol w="1152450"/>
                <a:gridCol w="1152450"/>
                <a:gridCol w="1874900"/>
                <a:gridCol w="1260000"/>
              </a:tblGrid>
              <a:tr h="288000">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16s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8s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4s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2s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100" u="none" cap="none" strike="noStrike">
                          <a:solidFill>
                            <a:schemeClr val="lt1"/>
                          </a:solidFill>
                          <a:latin typeface="Calibri"/>
                          <a:ea typeface="Calibri"/>
                          <a:cs typeface="Calibri"/>
                          <a:sym typeface="Calibri"/>
                        </a:rPr>
                        <a:t>1s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Clr>
                          <a:schemeClr val="lt1"/>
                        </a:buClr>
                        <a:buSzPts val="1200"/>
                        <a:buFont typeface="Calibri"/>
                        <a:buNone/>
                      </a:pPr>
                      <a:r>
                        <a:rPr b="1" lang="en-GB" sz="1200" u="none" cap="none" strike="noStrike">
                          <a:solidFill>
                            <a:schemeClr val="lt1"/>
                          </a:solidFill>
                          <a:latin typeface="Calibri"/>
                          <a:ea typeface="Calibri"/>
                          <a:cs typeface="Calibri"/>
                          <a:sym typeface="Calibri"/>
                        </a:rPr>
                        <a:t>Place values</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c>
                  <a:txBody>
                    <a:bodyPr/>
                    <a:lstStyle/>
                    <a:p>
                      <a:pPr indent="0" lvl="0" marL="0" marR="0" rtl="0" algn="l">
                        <a:lnSpc>
                          <a:spcPct val="107000"/>
                        </a:lnSpc>
                        <a:spcBef>
                          <a:spcPts val="0"/>
                        </a:spcBef>
                        <a:spcAft>
                          <a:spcPts val="0"/>
                        </a:spcAft>
                        <a:buNone/>
                      </a:pPr>
                      <a:r>
                        <a:rPr b="1" lang="en-GB" sz="1200" u="none" cap="none" strike="noStrike">
                          <a:solidFill>
                            <a:schemeClr val="lt1"/>
                          </a:solidFill>
                          <a:latin typeface="Calibri"/>
                          <a:ea typeface="Calibri"/>
                          <a:cs typeface="Calibri"/>
                          <a:sym typeface="Calibri"/>
                        </a:rPr>
                        <a:t>Denary number</a:t>
                      </a:r>
                      <a:endParaRPr sz="1100" u="none" cap="none" strike="noStrike">
                        <a:solidFill>
                          <a:schemeClr val="lt1"/>
                        </a:solidFill>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solidFill>
                      <a:srgbClr val="0075BE"/>
                    </a:solidFill>
                  </a:tcPr>
                </a:tc>
              </a:tr>
              <a:tr h="288000">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2) + (0 ×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2</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4) + (1 × 2) + (1 ×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7</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8) + (1 × 2)</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r h="288000">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r">
                        <a:lnSpc>
                          <a:spcPct val="107000"/>
                        </a:lnSpc>
                        <a:spcBef>
                          <a:spcPts val="0"/>
                        </a:spcBef>
                        <a:spcAft>
                          <a:spcPts val="0"/>
                        </a:spcAft>
                        <a:buNone/>
                      </a:pPr>
                      <a:r>
                        <a:rPr lang="en-GB" sz="1200" u="none" cap="none" strike="noStrike">
                          <a:latin typeface="Calibri"/>
                          <a:ea typeface="Calibri"/>
                          <a:cs typeface="Calibri"/>
                          <a:sym typeface="Calibri"/>
                        </a:rPr>
                        <a:t>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(1 × 16) + (1 × 8) + (1 × 1)</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c>
                  <a:txBody>
                    <a:bodyPr/>
                    <a:lstStyle/>
                    <a:p>
                      <a:pPr indent="0" lvl="0" marL="0" marR="0" rtl="0" algn="l">
                        <a:lnSpc>
                          <a:spcPct val="107000"/>
                        </a:lnSpc>
                        <a:spcBef>
                          <a:spcPts val="0"/>
                        </a:spcBef>
                        <a:spcAft>
                          <a:spcPts val="0"/>
                        </a:spcAft>
                        <a:buNone/>
                      </a:pPr>
                      <a:r>
                        <a:rPr lang="en-GB" sz="1200" u="none" cap="none" strike="noStrike">
                          <a:latin typeface="Calibri"/>
                          <a:ea typeface="Calibri"/>
                          <a:cs typeface="Calibri"/>
                          <a:sym typeface="Calibri"/>
                        </a:rPr>
                        <a:t>25</a:t>
                      </a:r>
                      <a:endParaRPr sz="1100" u="none" cap="none" strike="noStrike">
                        <a:latin typeface="Calibri"/>
                        <a:ea typeface="Calibri"/>
                        <a:cs typeface="Calibri"/>
                        <a:sym typeface="Calibri"/>
                      </a:endParaRPr>
                    </a:p>
                  </a:txBody>
                  <a:tcPr marT="0" marB="0" marR="68575" marL="68575">
                    <a:lnL cap="flat" cmpd="sng" w="12700">
                      <a:solidFill>
                        <a:srgbClr val="0075BE"/>
                      </a:solidFill>
                      <a:prstDash val="solid"/>
                      <a:round/>
                      <a:headEnd len="sm" w="sm" type="none"/>
                      <a:tailEnd len="sm" w="sm" type="none"/>
                    </a:lnL>
                    <a:lnR cap="flat" cmpd="sng" w="12700">
                      <a:solidFill>
                        <a:srgbClr val="0075BE"/>
                      </a:solidFill>
                      <a:prstDash val="solid"/>
                      <a:round/>
                      <a:headEnd len="sm" w="sm" type="none"/>
                      <a:tailEnd len="sm" w="sm" type="none"/>
                    </a:lnR>
                    <a:lnT cap="flat" cmpd="sng" w="12700">
                      <a:solidFill>
                        <a:srgbClr val="0075BE"/>
                      </a:solidFill>
                      <a:prstDash val="solid"/>
                      <a:round/>
                      <a:headEnd len="sm" w="sm" type="none"/>
                      <a:tailEnd len="sm" w="sm" type="none"/>
                    </a:lnT>
                    <a:lnB cap="flat" cmpd="sng" w="12700">
                      <a:solidFill>
                        <a:srgbClr val="0075BE"/>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1620078" y="805071"/>
            <a:ext cx="974366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2.1: Counting in binary </a:t>
            </a:r>
            <a:endParaRPr/>
          </a:p>
        </p:txBody>
      </p:sp>
      <p:pic>
        <p:nvPicPr>
          <p:cNvPr descr="A picture containing athletic game, basketball, sport&#10;&#10;Description automatically generated" id="116" name="Google Shape;116;p18"/>
          <p:cNvPicPr preferRelativeResize="0"/>
          <p:nvPr/>
        </p:nvPicPr>
        <p:blipFill rotWithShape="1">
          <a:blip r:embed="rId3">
            <a:alphaModFix/>
          </a:blip>
          <a:srcRect b="0" l="0" r="0" t="0"/>
          <a:stretch/>
        </p:blipFill>
        <p:spPr>
          <a:xfrm>
            <a:off x="3768169" y="1898933"/>
            <a:ext cx="4655661" cy="45615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1620078" y="805071"/>
            <a:ext cx="974366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2.2: Binary to denary conversion </a:t>
            </a:r>
            <a:endParaRPr/>
          </a:p>
        </p:txBody>
      </p:sp>
      <p:pic>
        <p:nvPicPr>
          <p:cNvPr descr="A picture containing athletic game, basketball, sport&#10;&#10;Description automatically generated" id="122" name="Google Shape;122;p19"/>
          <p:cNvPicPr preferRelativeResize="0"/>
          <p:nvPr/>
        </p:nvPicPr>
        <p:blipFill rotWithShape="1">
          <a:blip r:embed="rId3">
            <a:alphaModFix/>
          </a:blip>
          <a:srcRect b="0" l="0" r="0" t="0"/>
          <a:stretch/>
        </p:blipFill>
        <p:spPr>
          <a:xfrm>
            <a:off x="3768169" y="1898933"/>
            <a:ext cx="4655661" cy="456155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Binary to denary conversion </a:t>
            </a:r>
            <a:endParaRPr/>
          </a:p>
        </p:txBody>
      </p:sp>
      <p:sp>
        <p:nvSpPr>
          <p:cNvPr id="128" name="Google Shape;128;p20"/>
          <p:cNvSpPr/>
          <p:nvPr/>
        </p:nvSpPr>
        <p:spPr>
          <a:xfrm>
            <a:off x="1620078" y="1965294"/>
            <a:ext cx="8421543" cy="4700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Lay out the cards with the denary numbers uppermost as shown:</a:t>
            </a:r>
            <a:endParaRPr sz="2400">
              <a:solidFill>
                <a:schemeClr val="dk1"/>
              </a:solidFill>
              <a:latin typeface="Calibri"/>
              <a:ea typeface="Calibri"/>
              <a:cs typeface="Calibri"/>
              <a:sym typeface="Calibri"/>
            </a:endParaRPr>
          </a:p>
        </p:txBody>
      </p:sp>
      <p:sp>
        <p:nvSpPr>
          <p:cNvPr id="129" name="Google Shape;129;p20"/>
          <p:cNvSpPr/>
          <p:nvPr/>
        </p:nvSpPr>
        <p:spPr>
          <a:xfrm>
            <a:off x="1620078" y="4054529"/>
            <a:ext cx="8597347" cy="865173"/>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Without changing the order of the cards, turn each card over so that the 0 on the back is showing:</a:t>
            </a:r>
            <a:endParaRPr sz="2400">
              <a:solidFill>
                <a:schemeClr val="dk1"/>
              </a:solidFill>
              <a:latin typeface="Calibri"/>
              <a:ea typeface="Calibri"/>
              <a:cs typeface="Calibri"/>
              <a:sym typeface="Calibri"/>
            </a:endParaRPr>
          </a:p>
        </p:txBody>
      </p:sp>
      <p:pic>
        <p:nvPicPr>
          <p:cNvPr descr="A picture containing text, clock&#10;&#10;Description automatically generated" id="130" name="Google Shape;130;p20"/>
          <p:cNvPicPr preferRelativeResize="0"/>
          <p:nvPr/>
        </p:nvPicPr>
        <p:blipFill rotWithShape="1">
          <a:blip r:embed="rId3">
            <a:alphaModFix/>
          </a:blip>
          <a:srcRect b="0" l="0" r="0" t="0"/>
          <a:stretch/>
        </p:blipFill>
        <p:spPr>
          <a:xfrm>
            <a:off x="2090051" y="2704524"/>
            <a:ext cx="5409705" cy="1020393"/>
          </a:xfrm>
          <a:prstGeom prst="rect">
            <a:avLst/>
          </a:prstGeom>
          <a:noFill/>
          <a:ln>
            <a:noFill/>
          </a:ln>
        </p:spPr>
      </p:pic>
      <p:pic>
        <p:nvPicPr>
          <p:cNvPr descr="Diagram&#10;&#10;Description automatically generated" id="131" name="Google Shape;131;p20"/>
          <p:cNvPicPr preferRelativeResize="0"/>
          <p:nvPr/>
        </p:nvPicPr>
        <p:blipFill rotWithShape="1">
          <a:blip r:embed="rId4">
            <a:alphaModFix/>
          </a:blip>
          <a:srcRect b="0" l="0" r="0" t="0"/>
          <a:stretch/>
        </p:blipFill>
        <p:spPr>
          <a:xfrm>
            <a:off x="2001701" y="5125662"/>
            <a:ext cx="5586404" cy="12180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Converting binary 1 to denary </a:t>
            </a:r>
            <a:endParaRPr/>
          </a:p>
        </p:txBody>
      </p:sp>
      <p:sp>
        <p:nvSpPr>
          <p:cNvPr id="137" name="Google Shape;137;p21"/>
          <p:cNvSpPr/>
          <p:nvPr/>
        </p:nvSpPr>
        <p:spPr>
          <a:xfrm>
            <a:off x="1615358" y="1998217"/>
            <a:ext cx="7166112" cy="4700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Turn over the card on the far right:</a:t>
            </a:r>
            <a:endParaRPr/>
          </a:p>
        </p:txBody>
      </p:sp>
      <p:sp>
        <p:nvSpPr>
          <p:cNvPr id="138" name="Google Shape;138;p21"/>
          <p:cNvSpPr/>
          <p:nvPr/>
        </p:nvSpPr>
        <p:spPr>
          <a:xfrm>
            <a:off x="1615358" y="4136172"/>
            <a:ext cx="8597347" cy="15696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card on the far right now represents the binary number 1.</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The denary equivalent of the binary digit is the red number in the bottom left-hand corner of the card; in this case </a:t>
            </a:r>
            <a:r>
              <a:rPr b="1" lang="en-GB" sz="2400">
                <a:solidFill>
                  <a:srgbClr val="0070C0"/>
                </a:solidFill>
                <a:latin typeface="Calibri"/>
                <a:ea typeface="Calibri"/>
                <a:cs typeface="Calibri"/>
                <a:sym typeface="Calibri"/>
              </a:rPr>
              <a:t>1</a:t>
            </a:r>
            <a:r>
              <a:rPr lang="en-GB" sz="24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Binary 1 is denary 1.</a:t>
            </a:r>
            <a:endParaRPr/>
          </a:p>
        </p:txBody>
      </p:sp>
      <p:pic>
        <p:nvPicPr>
          <p:cNvPr descr="A picture containing text, clock, clipart, keyboard&#10;&#10;Description automatically generated" id="139" name="Google Shape;139;p21"/>
          <p:cNvPicPr preferRelativeResize="0"/>
          <p:nvPr/>
        </p:nvPicPr>
        <p:blipFill rotWithShape="1">
          <a:blip r:embed="rId3">
            <a:alphaModFix/>
          </a:blip>
          <a:srcRect b="0" l="0" r="0" t="0"/>
          <a:stretch/>
        </p:blipFill>
        <p:spPr>
          <a:xfrm>
            <a:off x="2060424" y="2693140"/>
            <a:ext cx="5590661" cy="12181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Converting binary 11 to denary </a:t>
            </a:r>
            <a:endParaRPr/>
          </a:p>
        </p:txBody>
      </p:sp>
      <p:sp>
        <p:nvSpPr>
          <p:cNvPr id="145" name="Google Shape;145;p22"/>
          <p:cNvSpPr/>
          <p:nvPr/>
        </p:nvSpPr>
        <p:spPr>
          <a:xfrm>
            <a:off x="1615358" y="2223139"/>
            <a:ext cx="7166112" cy="4700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Turn over the two cards on the far right:</a:t>
            </a:r>
            <a:endParaRPr/>
          </a:p>
        </p:txBody>
      </p:sp>
      <p:sp>
        <p:nvSpPr>
          <p:cNvPr id="146" name="Google Shape;146;p22"/>
          <p:cNvSpPr/>
          <p:nvPr/>
        </p:nvSpPr>
        <p:spPr>
          <a:xfrm>
            <a:off x="1615358" y="4164860"/>
            <a:ext cx="8597347" cy="1860702"/>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The two cards on the far right represent the binary number 11.</a:t>
            </a:r>
            <a:endParaRPr sz="20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The denary equivalent is the sum of the red numbers; in this case, </a:t>
            </a:r>
            <a:r>
              <a:rPr b="1" lang="en-GB" sz="2400">
                <a:solidFill>
                  <a:srgbClr val="0070C0"/>
                </a:solidFill>
                <a:latin typeface="Calibri"/>
                <a:ea typeface="Calibri"/>
                <a:cs typeface="Calibri"/>
                <a:sym typeface="Calibri"/>
              </a:rPr>
              <a:t>2</a:t>
            </a:r>
            <a:r>
              <a:rPr lang="en-GB" sz="2400">
                <a:solidFill>
                  <a:schemeClr val="dk1"/>
                </a:solidFill>
                <a:latin typeface="Calibri"/>
                <a:ea typeface="Calibri"/>
                <a:cs typeface="Calibri"/>
                <a:sym typeface="Calibri"/>
              </a:rPr>
              <a:t> + </a:t>
            </a:r>
            <a:r>
              <a:rPr b="1" lang="en-GB" sz="2400">
                <a:solidFill>
                  <a:srgbClr val="0070C0"/>
                </a:solidFill>
                <a:latin typeface="Calibri"/>
                <a:ea typeface="Calibri"/>
                <a:cs typeface="Calibri"/>
                <a:sym typeface="Calibri"/>
              </a:rPr>
              <a:t>1</a:t>
            </a:r>
            <a:r>
              <a:rPr lang="en-GB" sz="2400">
                <a:solidFill>
                  <a:srgbClr val="000000"/>
                </a:solidFill>
                <a:latin typeface="Calibri"/>
                <a:ea typeface="Calibri"/>
                <a:cs typeface="Calibri"/>
                <a:sym typeface="Calibri"/>
              </a:rPr>
              <a:t> = 3.</a:t>
            </a:r>
            <a:endParaRPr sz="2000">
              <a:solidFill>
                <a:schemeClr val="dk1"/>
              </a:solidFill>
              <a:latin typeface="Calibri"/>
              <a:ea typeface="Calibri"/>
              <a:cs typeface="Calibri"/>
              <a:sym typeface="Calibri"/>
            </a:endParaRPr>
          </a:p>
          <a:p>
            <a:pPr indent="0" lvl="0" marL="0" marR="0" rtl="0" algn="l">
              <a:lnSpc>
                <a:spcPct val="107000"/>
              </a:lnSpc>
              <a:spcBef>
                <a:spcPts val="800"/>
              </a:spcBef>
              <a:spcAft>
                <a:spcPts val="0"/>
              </a:spcAft>
              <a:buNone/>
            </a:pPr>
            <a:r>
              <a:rPr lang="en-GB" sz="2400">
                <a:solidFill>
                  <a:schemeClr val="dk1"/>
                </a:solidFill>
                <a:latin typeface="Calibri"/>
                <a:ea typeface="Calibri"/>
                <a:cs typeface="Calibri"/>
                <a:sym typeface="Calibri"/>
              </a:rPr>
              <a:t>So binary 11 is denary 3.</a:t>
            </a:r>
            <a:endParaRPr sz="2000">
              <a:solidFill>
                <a:schemeClr val="dk1"/>
              </a:solidFill>
              <a:latin typeface="Calibri"/>
              <a:ea typeface="Calibri"/>
              <a:cs typeface="Calibri"/>
              <a:sym typeface="Calibri"/>
            </a:endParaRPr>
          </a:p>
        </p:txBody>
      </p:sp>
      <p:pic>
        <p:nvPicPr>
          <p:cNvPr descr="A picture containing text, clock, clipart&#10;&#10;Description automatically generated" id="147" name="Google Shape;147;p22"/>
          <p:cNvPicPr preferRelativeResize="0"/>
          <p:nvPr/>
        </p:nvPicPr>
        <p:blipFill rotWithShape="1">
          <a:blip r:embed="rId3">
            <a:alphaModFix/>
          </a:blip>
          <a:srcRect b="0" l="0" r="0" t="0"/>
          <a:stretch/>
        </p:blipFill>
        <p:spPr>
          <a:xfrm>
            <a:off x="2144313" y="2817967"/>
            <a:ext cx="5590661" cy="12220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1620079" y="787237"/>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Converting binary 100110 to denary </a:t>
            </a:r>
            <a:endParaRPr/>
          </a:p>
        </p:txBody>
      </p:sp>
      <p:sp>
        <p:nvSpPr>
          <p:cNvPr id="153" name="Google Shape;153;p23"/>
          <p:cNvSpPr/>
          <p:nvPr/>
        </p:nvSpPr>
        <p:spPr>
          <a:xfrm>
            <a:off x="1615357" y="1830638"/>
            <a:ext cx="9508445" cy="1260345"/>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Working from right to left, turn over the cards that correspond to a 1 in the binary number 100110. Ignore the 0s on the left-hand side of the first 1; they have no numerical value.</a:t>
            </a:r>
            <a:endParaRPr sz="2000">
              <a:solidFill>
                <a:schemeClr val="dk1"/>
              </a:solidFill>
              <a:latin typeface="Calibri"/>
              <a:ea typeface="Calibri"/>
              <a:cs typeface="Calibri"/>
              <a:sym typeface="Calibri"/>
            </a:endParaRPr>
          </a:p>
        </p:txBody>
      </p:sp>
      <p:sp>
        <p:nvSpPr>
          <p:cNvPr id="154" name="Google Shape;154;p23"/>
          <p:cNvSpPr/>
          <p:nvPr/>
        </p:nvSpPr>
        <p:spPr>
          <a:xfrm>
            <a:off x="1615357" y="4641684"/>
            <a:ext cx="10321539" cy="1655518"/>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The six cards on the right represent the binary number 100110.</a:t>
            </a:r>
            <a:endParaRPr sz="20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The denary equivalent is the sum of the red numbers; </a:t>
            </a:r>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in this case, </a:t>
            </a:r>
            <a:r>
              <a:rPr b="1" lang="en-GB" sz="2400">
                <a:solidFill>
                  <a:srgbClr val="0070C0"/>
                </a:solidFill>
                <a:latin typeface="Calibri"/>
                <a:ea typeface="Calibri"/>
                <a:cs typeface="Calibri"/>
                <a:sym typeface="Calibri"/>
              </a:rPr>
              <a:t>32</a:t>
            </a:r>
            <a:r>
              <a:rPr lang="en-GB" sz="2400">
                <a:solidFill>
                  <a:srgbClr val="FF0000"/>
                </a:solidFill>
                <a:latin typeface="Calibri"/>
                <a:ea typeface="Calibri"/>
                <a:cs typeface="Calibri"/>
                <a:sym typeface="Calibri"/>
              </a:rPr>
              <a:t> </a:t>
            </a:r>
            <a:r>
              <a:rPr lang="en-GB" sz="2400">
                <a:solidFill>
                  <a:srgbClr val="000000"/>
                </a:solidFill>
                <a:latin typeface="Calibri"/>
                <a:ea typeface="Calibri"/>
                <a:cs typeface="Calibri"/>
                <a:sym typeface="Calibri"/>
              </a:rPr>
              <a:t>+</a:t>
            </a:r>
            <a:r>
              <a:rPr lang="en-GB" sz="2400">
                <a:solidFill>
                  <a:srgbClr val="FF0000"/>
                </a:solidFill>
                <a:latin typeface="Calibri"/>
                <a:ea typeface="Calibri"/>
                <a:cs typeface="Calibri"/>
                <a:sym typeface="Calibri"/>
              </a:rPr>
              <a:t> </a:t>
            </a:r>
            <a:r>
              <a:rPr b="1" lang="en-GB" sz="2400">
                <a:solidFill>
                  <a:srgbClr val="0070C0"/>
                </a:solidFill>
                <a:latin typeface="Calibri"/>
                <a:ea typeface="Calibri"/>
                <a:cs typeface="Calibri"/>
                <a:sym typeface="Calibri"/>
              </a:rPr>
              <a:t>4</a:t>
            </a:r>
            <a:r>
              <a:rPr lang="en-GB" sz="2400">
                <a:solidFill>
                  <a:schemeClr val="dk1"/>
                </a:solidFill>
                <a:latin typeface="Calibri"/>
                <a:ea typeface="Calibri"/>
                <a:cs typeface="Calibri"/>
                <a:sym typeface="Calibri"/>
              </a:rPr>
              <a:t> + </a:t>
            </a:r>
            <a:r>
              <a:rPr b="1" lang="en-GB" sz="2400">
                <a:solidFill>
                  <a:srgbClr val="0070C0"/>
                </a:solidFill>
                <a:latin typeface="Calibri"/>
                <a:ea typeface="Calibri"/>
                <a:cs typeface="Calibri"/>
                <a:sym typeface="Calibri"/>
              </a:rPr>
              <a:t>2</a:t>
            </a:r>
            <a:r>
              <a:rPr lang="en-GB" sz="2400">
                <a:solidFill>
                  <a:srgbClr val="000000"/>
                </a:solidFill>
                <a:latin typeface="Calibri"/>
                <a:ea typeface="Calibri"/>
                <a:cs typeface="Calibri"/>
                <a:sym typeface="Calibri"/>
              </a:rPr>
              <a:t> = 38</a:t>
            </a:r>
            <a:endParaRPr sz="20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So binary 100110 is denary 38.</a:t>
            </a:r>
            <a:endParaRPr sz="2000">
              <a:solidFill>
                <a:schemeClr val="dk1"/>
              </a:solidFill>
              <a:latin typeface="Calibri"/>
              <a:ea typeface="Calibri"/>
              <a:cs typeface="Calibri"/>
              <a:sym typeface="Calibri"/>
            </a:endParaRPr>
          </a:p>
        </p:txBody>
      </p:sp>
      <p:pic>
        <p:nvPicPr>
          <p:cNvPr descr="A picture containing text, clock, clipart&#10;&#10;Description automatically generated" id="155" name="Google Shape;155;p23"/>
          <p:cNvPicPr preferRelativeResize="0"/>
          <p:nvPr/>
        </p:nvPicPr>
        <p:blipFill rotWithShape="1">
          <a:blip r:embed="rId3">
            <a:alphaModFix/>
          </a:blip>
          <a:srcRect b="0" l="0" r="0" t="0"/>
          <a:stretch/>
        </p:blipFill>
        <p:spPr>
          <a:xfrm>
            <a:off x="2360968" y="3255301"/>
            <a:ext cx="5590661" cy="12220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1620078" y="805071"/>
            <a:ext cx="974366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2.3: Adding binary numbers </a:t>
            </a:r>
            <a:endParaRPr/>
          </a:p>
        </p:txBody>
      </p:sp>
      <p:pic>
        <p:nvPicPr>
          <p:cNvPr descr="A picture containing athletic game, basketball, sport&#10;&#10;Description automatically generated" id="161" name="Google Shape;161;p24"/>
          <p:cNvPicPr preferRelativeResize="0"/>
          <p:nvPr/>
        </p:nvPicPr>
        <p:blipFill rotWithShape="1">
          <a:blip r:embed="rId3">
            <a:alphaModFix/>
          </a:blip>
          <a:srcRect b="0" l="0" r="0" t="0"/>
          <a:stretch/>
        </p:blipFill>
        <p:spPr>
          <a:xfrm>
            <a:off x="3768169" y="1898933"/>
            <a:ext cx="4655661" cy="45615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1620078" y="805071"/>
            <a:ext cx="974366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Quiz 2</a:t>
            </a:r>
            <a:endParaRPr/>
          </a:p>
        </p:txBody>
      </p:sp>
      <p:pic>
        <p:nvPicPr>
          <p:cNvPr descr="A picture containing athletic game, basketball, sport&#10;&#10;Description automatically generated" id="167" name="Google Shape;167;p25"/>
          <p:cNvPicPr preferRelativeResize="0"/>
          <p:nvPr/>
        </p:nvPicPr>
        <p:blipFill rotWithShape="1">
          <a:blip r:embed="rId3">
            <a:alphaModFix/>
          </a:blip>
          <a:srcRect b="0" l="0" r="0" t="0"/>
          <a:stretch/>
        </p:blipFill>
        <p:spPr>
          <a:xfrm>
            <a:off x="3768169" y="1898933"/>
            <a:ext cx="4655661" cy="456155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1620078" y="805071"/>
            <a:ext cx="9743660" cy="81500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Activity 2.4: Planning an app</a:t>
            </a:r>
            <a:endParaRPr/>
          </a:p>
        </p:txBody>
      </p:sp>
      <p:pic>
        <p:nvPicPr>
          <p:cNvPr descr="A picture containing athletic game, basketball, sport&#10;&#10;Description automatically generated" id="173" name="Google Shape;173;p26"/>
          <p:cNvPicPr preferRelativeResize="0"/>
          <p:nvPr/>
        </p:nvPicPr>
        <p:blipFill rotWithShape="1">
          <a:blip r:embed="rId3">
            <a:alphaModFix/>
          </a:blip>
          <a:srcRect b="0" l="0" r="0" t="0"/>
          <a:stretch/>
        </p:blipFill>
        <p:spPr>
          <a:xfrm>
            <a:off x="3768169" y="1898933"/>
            <a:ext cx="4655661" cy="456155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