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4" name="Google Shape;5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ape, rectangle&#10;&#10;Description automatically generated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794"/>
            <a:ext cx="12192000" cy="161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/>
        </p:nvSpPr>
        <p:spPr>
          <a:xfrm>
            <a:off x="7547114" y="638019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Hodder &amp; Stoughton Limited 2021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ctrTitle"/>
          </p:nvPr>
        </p:nvSpPr>
        <p:spPr>
          <a:xfrm>
            <a:off x="1006679" y="2816695"/>
            <a:ext cx="5595456" cy="15281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GB"/>
              <a:t>Binary and computer logic</a:t>
            </a:r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4168712" y="4344850"/>
            <a:ext cx="243342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Lesson 1: Logic gates </a:t>
            </a:r>
            <a:endParaRPr b="1" sz="20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text, electronics, display, screenshot&#10;&#10;Description automatically generated" id="82" name="Google Shape;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14532" y="2816695"/>
            <a:ext cx="2937410" cy="2420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1620079" y="795130"/>
            <a:ext cx="9634330" cy="8150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Objectives</a:t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1620079" y="2028616"/>
            <a:ext cx="8666921" cy="2800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lesson, you will learn: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digital devices rely on switches to make the decisions involved in data processing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AND, OR and NOT logic gates operate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complete truth tables for logic gates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significance of 1s and 0s in data processing within digital systems.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1620079" y="787237"/>
            <a:ext cx="9773478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Animal sorting gate </a:t>
            </a:r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1502633" y="2246244"/>
            <a:ext cx="4593367" cy="36786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zookeeper has installed a digital sorting gate between two animal enclosures, to control which animals leave the first enclosure and enter the second enclosure.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gate is programmed to allow only big cats with stripes through, so two things must happen for an animal to enter the second enclosure: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animal must be a big cat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animal must have stripes.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agram, engineering drawing, schematic&#10;&#10;Description automatically generated" id="95" name="Google Shape;9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1915" y="1939159"/>
            <a:ext cx="5368923" cy="4292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/>
          <p:nvPr>
            <p:ph type="title"/>
          </p:nvPr>
        </p:nvSpPr>
        <p:spPr>
          <a:xfrm>
            <a:off x="1620079" y="787237"/>
            <a:ext cx="9773478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Animal sorting gate </a:t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1620079" y="2249767"/>
            <a:ext cx="4080330" cy="3353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lion approaches the gate.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 animal a big cat?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YES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 the animal have stripes?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NO 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lion cannot enter the second enclosure.</a:t>
            </a:r>
            <a:endParaRPr/>
          </a:p>
        </p:txBody>
      </p:sp>
      <p:pic>
        <p:nvPicPr>
          <p:cNvPr descr="Diagram, engineering drawing&#10;&#10;Description automatically generated" id="102" name="Google Shape;10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1914" y="1939159"/>
            <a:ext cx="5368923" cy="4292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>
            <p:ph type="title"/>
          </p:nvPr>
        </p:nvSpPr>
        <p:spPr>
          <a:xfrm>
            <a:off x="1620079" y="787237"/>
            <a:ext cx="9773478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Animal sorting gate </a:t>
            </a:r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620079" y="2253502"/>
            <a:ext cx="4059268" cy="3353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tiger approaches the gate.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 animal a big cat?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YES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 the animal have stripes?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YES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tiger can enter the second enclosure.</a:t>
            </a:r>
            <a:endParaRPr/>
          </a:p>
        </p:txBody>
      </p:sp>
      <p:pic>
        <p:nvPicPr>
          <p:cNvPr descr="Diagram, engineering drawing, schematic&#10;&#10;Description automatically generated" id="109" name="Google Shape;10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1913" y="1939159"/>
            <a:ext cx="5368923" cy="4292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idx="1" type="body"/>
          </p:nvPr>
        </p:nvSpPr>
        <p:spPr>
          <a:xfrm>
            <a:off x="1590169" y="2004655"/>
            <a:ext cx="8531605" cy="639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/>
              <a:t>A basic process in computing is:</a:t>
            </a:r>
            <a:endParaRPr/>
          </a:p>
        </p:txBody>
      </p:sp>
      <p:sp>
        <p:nvSpPr>
          <p:cNvPr id="115" name="Google Shape;115;p18"/>
          <p:cNvSpPr/>
          <p:nvPr/>
        </p:nvSpPr>
        <p:spPr>
          <a:xfrm>
            <a:off x="1590169" y="4692962"/>
            <a:ext cx="9200322" cy="865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describes data going into a processing system and </a:t>
            </a:r>
            <a:r>
              <a:rPr b="1" lang="en-GB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r>
              <a:rPr lang="en-GB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describes data leaving a processing system.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ical user interface, application&#10;&#10;Description automatically generated" id="116" name="Google Shape;11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5978" y="2960158"/>
            <a:ext cx="7840044" cy="11003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1560441" y="1769165"/>
            <a:ext cx="9988830" cy="47111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4200">
                <a:latin typeface="Calibri"/>
                <a:ea typeface="Calibri"/>
                <a:cs typeface="Calibri"/>
                <a:sym typeface="Calibri"/>
              </a:rPr>
              <a:t>Our animal sorting gate receives two inputs:</a:t>
            </a:r>
            <a:endParaRPr sz="4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b="1" lang="en-GB" sz="4200">
                <a:latin typeface="Calibri"/>
                <a:ea typeface="Calibri"/>
                <a:cs typeface="Calibri"/>
                <a:sym typeface="Calibri"/>
              </a:rPr>
              <a:t>Is the animal a big cat?</a:t>
            </a:r>
            <a:endParaRPr sz="4200">
              <a:latin typeface="Calibri"/>
              <a:ea typeface="Calibri"/>
              <a:cs typeface="Calibri"/>
              <a:sym typeface="Calibri"/>
            </a:endParaRPr>
          </a:p>
          <a:p>
            <a:pPr indent="-226800" lvl="0" marL="226800" rtl="0" algn="l">
              <a:lnSpc>
                <a:spcPct val="107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∙"/>
            </a:pPr>
            <a:r>
              <a:rPr lang="en-GB" sz="4200">
                <a:latin typeface="Calibri"/>
                <a:ea typeface="Calibri"/>
                <a:cs typeface="Calibri"/>
                <a:sym typeface="Calibri"/>
              </a:rPr>
              <a:t>If the answer is YES, this is represented by a 1.</a:t>
            </a:r>
            <a:endParaRPr sz="4200">
              <a:latin typeface="Calibri"/>
              <a:ea typeface="Calibri"/>
              <a:cs typeface="Calibri"/>
              <a:sym typeface="Calibri"/>
            </a:endParaRPr>
          </a:p>
          <a:p>
            <a:pPr indent="-226800" lvl="0" marL="226800" rtl="0" algn="l">
              <a:lnSpc>
                <a:spcPct val="107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∙"/>
            </a:pPr>
            <a:r>
              <a:rPr lang="en-GB" sz="4200">
                <a:latin typeface="Calibri"/>
                <a:ea typeface="Calibri"/>
                <a:cs typeface="Calibri"/>
                <a:sym typeface="Calibri"/>
              </a:rPr>
              <a:t>If the answer is NO, this is represented by a 0.</a:t>
            </a:r>
            <a:endParaRPr sz="4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7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GB" sz="4200">
                <a:latin typeface="Calibri"/>
                <a:ea typeface="Calibri"/>
                <a:cs typeface="Calibri"/>
                <a:sym typeface="Calibri"/>
              </a:rPr>
              <a:t>2. Does the animal have stripes?</a:t>
            </a:r>
            <a:endParaRPr sz="4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7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∙"/>
            </a:pPr>
            <a:r>
              <a:rPr lang="en-GB" sz="4200">
                <a:latin typeface="Calibri"/>
                <a:ea typeface="Calibri"/>
                <a:cs typeface="Calibri"/>
                <a:sym typeface="Calibri"/>
              </a:rPr>
              <a:t>If the answer is YES, this is represented by a 1.</a:t>
            </a:r>
            <a:endParaRPr sz="4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7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∙"/>
            </a:pPr>
            <a:r>
              <a:rPr lang="en-GB" sz="4200">
                <a:latin typeface="Calibri"/>
                <a:ea typeface="Calibri"/>
                <a:cs typeface="Calibri"/>
                <a:sym typeface="Calibri"/>
              </a:rPr>
              <a:t>If the answer is NO, this is represented by a 0.</a:t>
            </a:r>
            <a:endParaRPr sz="4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4200">
                <a:latin typeface="Calibri"/>
                <a:ea typeface="Calibri"/>
                <a:cs typeface="Calibri"/>
                <a:sym typeface="Calibri"/>
              </a:rPr>
              <a:t>Our animal sorting gate produces one output:</a:t>
            </a:r>
            <a:endParaRPr sz="4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∙"/>
            </a:pPr>
            <a:r>
              <a:rPr lang="en-GB" sz="4200">
                <a:latin typeface="Calibri"/>
                <a:ea typeface="Calibri"/>
                <a:cs typeface="Calibri"/>
                <a:sym typeface="Calibri"/>
              </a:rPr>
              <a:t>If both inputs are 1, the gate between the enclosures opens, and this is represented by a 1.</a:t>
            </a:r>
            <a:endParaRPr sz="4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7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∙"/>
            </a:pPr>
            <a:r>
              <a:rPr lang="en-GB" sz="4200">
                <a:latin typeface="Calibri"/>
                <a:ea typeface="Calibri"/>
                <a:cs typeface="Calibri"/>
                <a:sym typeface="Calibri"/>
              </a:rPr>
              <a:t>If only one input is 1 or both inputs are 0, the gate between the enclosures remains closed,    and this is represented by a 0.</a:t>
            </a:r>
            <a:endParaRPr sz="4200">
              <a:latin typeface="Calibri"/>
              <a:ea typeface="Calibri"/>
              <a:cs typeface="Calibri"/>
              <a:sym typeface="Calibri"/>
            </a:endParaRPr>
          </a:p>
          <a:p>
            <a:pPr indent="-144145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/>
          <p:nvPr/>
        </p:nvSpPr>
        <p:spPr>
          <a:xfrm>
            <a:off x="5249927" y="2375621"/>
            <a:ext cx="6839205" cy="3430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lion approaches the gate.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 animal a big cat?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YES (represented by a 1)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 the animal have stripes?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NO (represented by a 0)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the state of the gate?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CLOSED (the output is 0 so the gate remains closed)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lion cannot enter the second enclosure.</a:t>
            </a:r>
            <a:endParaRPr/>
          </a:p>
        </p:txBody>
      </p:sp>
      <p:pic>
        <p:nvPicPr>
          <p:cNvPr descr="Diagram, engineering drawing&#10;&#10;Description automatically generated" id="127" name="Google Shape;12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3718" y="2483145"/>
            <a:ext cx="4021349" cy="32153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/>
          <p:nvPr/>
        </p:nvSpPr>
        <p:spPr>
          <a:xfrm>
            <a:off x="5251308" y="2375621"/>
            <a:ext cx="6839205" cy="3430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tiger approaches the gate.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 animal a big cat?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YES (represented by a 1)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 the animal have stripes?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YES (represented by a 1)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the state of the gate?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OPEN (the output is 1 so the gate remains closed)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tiger can enter the second enclosure.</a:t>
            </a:r>
            <a:endParaRPr/>
          </a:p>
        </p:txBody>
      </p:sp>
      <p:pic>
        <p:nvPicPr>
          <p:cNvPr descr="Diagram, engineering drawing&#10;&#10;Description automatically generated" id="133" name="Google Shape;13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3718" y="2483145"/>
            <a:ext cx="4021349" cy="32153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agram, engineering drawing, schematic&#10;&#10;Description automatically generated" id="134" name="Google Shape;13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3718" y="2483145"/>
            <a:ext cx="4021349" cy="32153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/>
          <p:nvPr/>
        </p:nvSpPr>
        <p:spPr>
          <a:xfrm>
            <a:off x="1620079" y="2157342"/>
            <a:ext cx="5785656" cy="32514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Think of each input like a </a:t>
            </a:r>
            <a:r>
              <a:rPr b="1" lang="en-GB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switch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switch is turned on, the input is YES and this is represented by a 1.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switch is turned off, the input is NO and this is represented by a 0.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ical user interface, application&#10;&#10;Description automatically generated" id="140" name="Google Shape;14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6784" y="1827633"/>
            <a:ext cx="984542" cy="1955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06785" y="4125565"/>
            <a:ext cx="984541" cy="19326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idx="1" type="body"/>
          </p:nvPr>
        </p:nvSpPr>
        <p:spPr>
          <a:xfrm>
            <a:off x="1809036" y="2309493"/>
            <a:ext cx="8756357" cy="3022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/>
              <a:t>The animal sorting gate has two switches, one to identify if the animal at the gate is a big cat and one to identify if animal at the gate has stripes.</a:t>
            </a:r>
            <a:endParaRPr/>
          </a:p>
          <a:p>
            <a:pPr indent="0" lvl="0" marL="0" rtl="0" algn="l">
              <a:lnSpc>
                <a:spcPct val="114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/>
              <a:t>These two switches combine to create a </a:t>
            </a:r>
            <a:r>
              <a:rPr b="1" lang="en-GB" sz="2400">
                <a:solidFill>
                  <a:srgbClr val="0070C0"/>
                </a:solidFill>
              </a:rPr>
              <a:t>logic gate</a:t>
            </a:r>
            <a:r>
              <a:rPr lang="en-GB" sz="2400"/>
              <a:t>.</a:t>
            </a:r>
            <a:endParaRPr/>
          </a:p>
          <a:p>
            <a:pPr indent="0" lvl="0" marL="0" rtl="0" algn="l">
              <a:lnSpc>
                <a:spcPct val="114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/>
              <a:t>Logic gates process two or more inputs and produce the correct output. They make decisions.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idx="1" type="body"/>
          </p:nvPr>
        </p:nvSpPr>
        <p:spPr>
          <a:xfrm>
            <a:off x="1520688" y="2074103"/>
            <a:ext cx="445092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GB" sz="2000"/>
              <a:t>The sorting gate requires two conditions to be met before it will open:</a:t>
            </a:r>
            <a:endParaRPr/>
          </a:p>
          <a:p>
            <a:pPr indent="-514350" lvl="0" marL="514350" rtl="0" algn="l">
              <a:lnSpc>
                <a:spcPct val="114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GB" sz="2000"/>
              <a:t>the animal must be a big cat</a:t>
            </a:r>
            <a:endParaRPr/>
          </a:p>
          <a:p>
            <a:pPr indent="0" lvl="0" marL="0" rtl="0" algn="l">
              <a:lnSpc>
                <a:spcPct val="114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GB" sz="2000"/>
              <a:t>AND</a:t>
            </a:r>
            <a:endParaRPr/>
          </a:p>
          <a:p>
            <a:pPr indent="0" lvl="0" marL="0" rtl="0" algn="l">
              <a:lnSpc>
                <a:spcPct val="114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GB" sz="2000"/>
              <a:t>2.    the animal must have stripes. 	</a:t>
            </a:r>
            <a:endParaRPr/>
          </a:p>
          <a:p>
            <a:pPr indent="0" lvl="0" marL="0" rtl="0" algn="l">
              <a:lnSpc>
                <a:spcPct val="114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GB" sz="2000"/>
              <a:t>This logic gate is called an </a:t>
            </a:r>
            <a:r>
              <a:rPr b="1" lang="en-GB" sz="2000">
                <a:solidFill>
                  <a:srgbClr val="0070C0"/>
                </a:solidFill>
              </a:rPr>
              <a:t>AND gate </a:t>
            </a:r>
            <a:r>
              <a:rPr lang="en-GB" sz="2000"/>
              <a:t>because both condition 1 AND condition 2 must be met for the gate to open.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Diagram, engineering drawing&#10;&#10;Description automatically generated" id="152" name="Google Shape;15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1613" y="1817938"/>
            <a:ext cx="5736501" cy="4420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/>
          <p:nvPr>
            <p:ph type="title"/>
          </p:nvPr>
        </p:nvSpPr>
        <p:spPr>
          <a:xfrm>
            <a:off x="1590931" y="824614"/>
            <a:ext cx="9783417" cy="775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1.1: Animal sorting gate </a:t>
            </a:r>
            <a:endParaRPr/>
          </a:p>
        </p:txBody>
      </p:sp>
      <p:sp>
        <p:nvSpPr>
          <p:cNvPr id="158" name="Google Shape;158;p25"/>
          <p:cNvSpPr/>
          <p:nvPr/>
        </p:nvSpPr>
        <p:spPr>
          <a:xfrm>
            <a:off x="1570382" y="4762767"/>
            <a:ext cx="4178614" cy="12603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zebra approaches the gate, but the gate remains closed. Why?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athletic game, basketball, sport&#10;&#10;Description automatically generated" id="159" name="Google Shape;159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2263" y="2095233"/>
            <a:ext cx="2535676" cy="24934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agram, engineering drawing, schematic&#10;&#10;Description automatically generated" id="160" name="Google Shape;160;p25"/>
          <p:cNvPicPr preferRelativeResize="0"/>
          <p:nvPr/>
        </p:nvPicPr>
        <p:blipFill rotWithShape="1">
          <a:blip r:embed="rId4">
            <a:alphaModFix/>
          </a:blip>
          <a:srcRect b="0" l="0" r="0" t="11551"/>
          <a:stretch/>
        </p:blipFill>
        <p:spPr>
          <a:xfrm>
            <a:off x="6096000" y="1817938"/>
            <a:ext cx="5612114" cy="442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>
            <p:ph type="title"/>
          </p:nvPr>
        </p:nvSpPr>
        <p:spPr>
          <a:xfrm>
            <a:off x="1589256" y="811905"/>
            <a:ext cx="9743660" cy="815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1.2: Circuits</a:t>
            </a:r>
            <a:endParaRPr/>
          </a:p>
        </p:txBody>
      </p:sp>
      <p:pic>
        <p:nvPicPr>
          <p:cNvPr descr="A picture containing athletic game, basketball, sport&#10;&#10;Description automatically generated" id="166" name="Google Shape;166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5340" y="1983380"/>
            <a:ext cx="4201320" cy="4131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 txBox="1"/>
          <p:nvPr>
            <p:ph type="title"/>
          </p:nvPr>
        </p:nvSpPr>
        <p:spPr>
          <a:xfrm>
            <a:off x="1610139" y="775253"/>
            <a:ext cx="9743661" cy="8249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Two-key bank vault circuit </a:t>
            </a:r>
            <a:endParaRPr/>
          </a:p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1610139" y="2358292"/>
            <a:ext cx="4738410" cy="35830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/>
              <a:t>Key A closes switch A and Key B closes switch B.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/>
              <a:t>The circuit diagram shows that both switch A </a:t>
            </a:r>
            <a:r>
              <a:rPr b="1" lang="en-GB" sz="2400"/>
              <a:t>AND</a:t>
            </a:r>
            <a:r>
              <a:rPr lang="en-GB" sz="2400"/>
              <a:t> switch B have to be closed to turn on the motor that unlocks the safe door.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/>
              <a:t>The logic gate in this circuit is an AND gate, just like the logic gate in the animal sorting gate.</a:t>
            </a:r>
            <a:endParaRPr/>
          </a:p>
        </p:txBody>
      </p:sp>
      <p:pic>
        <p:nvPicPr>
          <p:cNvPr descr="Diagram, schematic&#10;&#10;Description automatically generated" id="173" name="Google Shape;17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0892" y="2216874"/>
            <a:ext cx="4487657" cy="3865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/>
          <p:nvPr>
            <p:ph type="title"/>
          </p:nvPr>
        </p:nvSpPr>
        <p:spPr>
          <a:xfrm>
            <a:off x="1610139" y="775253"/>
            <a:ext cx="9743661" cy="8249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Automatic shop door circuit </a:t>
            </a:r>
            <a:endParaRPr/>
          </a:p>
        </p:txBody>
      </p:sp>
      <p:sp>
        <p:nvSpPr>
          <p:cNvPr id="179" name="Google Shape;179;p28"/>
          <p:cNvSpPr txBox="1"/>
          <p:nvPr>
            <p:ph idx="1" type="body"/>
          </p:nvPr>
        </p:nvSpPr>
        <p:spPr>
          <a:xfrm>
            <a:off x="1610139" y="2515318"/>
            <a:ext cx="4485861" cy="34193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/>
              <a:t>It does not matter which sensor switch detects a customer.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/>
              <a:t>The circuit diagram shows that if just one switch is closed, A OR B, the motor will operate to open the door.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/>
              <a:t>The logic gate in this circuit is an </a:t>
            </a:r>
            <a:r>
              <a:rPr b="1" lang="en-GB" sz="2400">
                <a:solidFill>
                  <a:srgbClr val="0069B4"/>
                </a:solidFill>
              </a:rPr>
              <a:t>OR gate</a:t>
            </a:r>
            <a:r>
              <a:rPr lang="en-GB" sz="2400"/>
              <a:t>.</a:t>
            </a:r>
            <a:endParaRPr/>
          </a:p>
        </p:txBody>
      </p:sp>
      <p:pic>
        <p:nvPicPr>
          <p:cNvPr descr="Diagram, schematic&#10;&#10;Description automatically generated" id="180" name="Google Shape;18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0891" y="2216873"/>
            <a:ext cx="4487658" cy="386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9"/>
          <p:cNvSpPr txBox="1"/>
          <p:nvPr>
            <p:ph type="title"/>
          </p:nvPr>
        </p:nvSpPr>
        <p:spPr>
          <a:xfrm>
            <a:off x="1610139" y="775253"/>
            <a:ext cx="9743661" cy="8249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Central processing unit </a:t>
            </a:r>
            <a:endParaRPr/>
          </a:p>
        </p:txBody>
      </p:sp>
      <p:sp>
        <p:nvSpPr>
          <p:cNvPr id="186" name="Google Shape;186;p29"/>
          <p:cNvSpPr txBox="1"/>
          <p:nvPr>
            <p:ph idx="1" type="body"/>
          </p:nvPr>
        </p:nvSpPr>
        <p:spPr>
          <a:xfrm>
            <a:off x="1523054" y="1891947"/>
            <a:ext cx="572451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/>
              <a:t>The central processing unit of a computer, the CPU, is built from millions of electrical circuits containing logic gates.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/>
              <a:t>When a computer is processing, each one of the millions of electrical circuits compares two items of data (the inputs) and makes a decision (the output).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/>
              <a:t>The output from one electrical circuit often becomes one of the inputs for another electrical circuit.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/>
              <a:t>The outputs result in the actions you can see on screen.</a:t>
            </a:r>
            <a:endParaRPr/>
          </a:p>
        </p:txBody>
      </p:sp>
      <p:pic>
        <p:nvPicPr>
          <p:cNvPr descr="A picture containing text, circuit, electronics&#10;&#10;Description automatically generated" id="187" name="Google Shape;18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4621" y="2052485"/>
            <a:ext cx="4477379" cy="4030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0"/>
          <p:cNvSpPr txBox="1"/>
          <p:nvPr>
            <p:ph type="title"/>
          </p:nvPr>
        </p:nvSpPr>
        <p:spPr>
          <a:xfrm>
            <a:off x="1620078" y="785192"/>
            <a:ext cx="9733721" cy="8249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AND gate symbol </a:t>
            </a:r>
            <a:endParaRPr/>
          </a:p>
        </p:txBody>
      </p:sp>
      <p:sp>
        <p:nvSpPr>
          <p:cNvPr id="193" name="Google Shape;193;p30"/>
          <p:cNvSpPr/>
          <p:nvPr/>
        </p:nvSpPr>
        <p:spPr>
          <a:xfrm>
            <a:off x="1712443" y="2029242"/>
            <a:ext cx="9431099" cy="4144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standard symbol for the AND gate: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inputs come in the form of two electrical currents, A and B. Each current flows into a switch.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an input switch in the logic gate is open, the electrical current flows and this is represented by a 1.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an input switch in the logic gate is closed, the electrical current does not flow and this is represented by a 0.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input A is 1 </a:t>
            </a:r>
            <a:r>
              <a:rPr b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input B is 1, the output is 1. Otherwise, it is 0.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text, clipart&#10;&#10;Description automatically generated" id="194" name="Google Shape;19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4502" y="1811120"/>
            <a:ext cx="3762350" cy="10372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type="title"/>
          </p:nvPr>
        </p:nvSpPr>
        <p:spPr>
          <a:xfrm>
            <a:off x="1620078" y="785192"/>
            <a:ext cx="9733721" cy="8249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OR gate symbol </a:t>
            </a:r>
            <a:endParaRPr/>
          </a:p>
        </p:txBody>
      </p:sp>
      <p:sp>
        <p:nvSpPr>
          <p:cNvPr id="200" name="Google Shape;200;p31"/>
          <p:cNvSpPr/>
          <p:nvPr/>
        </p:nvSpPr>
        <p:spPr>
          <a:xfrm>
            <a:off x="1620078" y="2416162"/>
            <a:ext cx="580139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standard symbol for the OR gate:</a:t>
            </a:r>
            <a:endParaRPr/>
          </a:p>
        </p:txBody>
      </p:sp>
      <p:sp>
        <p:nvSpPr>
          <p:cNvPr id="201" name="Google Shape;201;p31"/>
          <p:cNvSpPr/>
          <p:nvPr/>
        </p:nvSpPr>
        <p:spPr>
          <a:xfrm>
            <a:off x="1620078" y="4537528"/>
            <a:ext cx="10058400" cy="4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input A is 1 OR input B is 1, the output is 1. Otherwise, it is 0.</a:t>
            </a:r>
            <a:endParaRPr/>
          </a:p>
        </p:txBody>
      </p:sp>
      <p:pic>
        <p:nvPicPr>
          <p:cNvPr id="202" name="Google Shape;20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9535" y="3173062"/>
            <a:ext cx="3732930" cy="1069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2"/>
          <p:cNvSpPr/>
          <p:nvPr/>
        </p:nvSpPr>
        <p:spPr>
          <a:xfrm>
            <a:off x="1629519" y="829126"/>
            <a:ext cx="3000758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Truth tables </a:t>
            </a:r>
            <a:endParaRPr b="1" sz="4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2"/>
          <p:cNvSpPr/>
          <p:nvPr/>
        </p:nvSpPr>
        <p:spPr>
          <a:xfrm>
            <a:off x="1629520" y="2233703"/>
            <a:ext cx="7192264" cy="28410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Logic gates are called logic gates because their operation is entirely logical and predictable.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The operation of a particular gate can, therefore, be summarised in a table, known as a </a:t>
            </a:r>
            <a:r>
              <a:rPr b="1" lang="en-GB" sz="2400">
                <a:solidFill>
                  <a:srgbClr val="0070C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truth table</a:t>
            </a:r>
            <a:r>
              <a:rPr lang="en-GB" sz="24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Truth tables describe how a computer processes data.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3"/>
          <p:cNvSpPr txBox="1"/>
          <p:nvPr>
            <p:ph type="title"/>
          </p:nvPr>
        </p:nvSpPr>
        <p:spPr>
          <a:xfrm>
            <a:off x="1580322" y="805070"/>
            <a:ext cx="9773478" cy="8249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1.3: Truth tables </a:t>
            </a:r>
            <a:endParaRPr/>
          </a:p>
        </p:txBody>
      </p:sp>
      <p:pic>
        <p:nvPicPr>
          <p:cNvPr descr="A picture containing athletic game, basketball, sport&#10;&#10;Description automatically generated" id="214" name="Google Shape;214;p3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5340" y="1983380"/>
            <a:ext cx="4201320" cy="4131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4"/>
          <p:cNvSpPr txBox="1"/>
          <p:nvPr>
            <p:ph type="title"/>
          </p:nvPr>
        </p:nvSpPr>
        <p:spPr>
          <a:xfrm>
            <a:off x="1620078" y="785192"/>
            <a:ext cx="9733721" cy="8249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The NOT gate</a:t>
            </a:r>
            <a:r>
              <a:rPr lang="en-GB">
                <a:solidFill>
                  <a:schemeClr val="lt1"/>
                </a:solidFill>
              </a:rPr>
              <a:t> 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20" name="Google Shape;220;p34"/>
          <p:cNvSpPr/>
          <p:nvPr/>
        </p:nvSpPr>
        <p:spPr>
          <a:xfrm>
            <a:off x="1620078" y="2101482"/>
            <a:ext cx="9819861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input from a sensor or the output from a logic gate needs to be the opposite of what it currently is, we can add a </a:t>
            </a:r>
            <a:r>
              <a:rPr b="1" lang="en-GB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NOT gate 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also called an </a:t>
            </a:r>
            <a:r>
              <a:rPr b="1" lang="en-GB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inverter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to switch 1 to 0 or 0 to 1.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is the standard symbol for the NOT gate:</a:t>
            </a:r>
            <a:endParaRPr/>
          </a:p>
        </p:txBody>
      </p:sp>
      <p:pic>
        <p:nvPicPr>
          <p:cNvPr descr="A picture containing text, clipart&#10;&#10;Description automatically generated" id="221" name="Google Shape;22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25488" y="4091940"/>
            <a:ext cx="4941024" cy="1647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5"/>
          <p:cNvSpPr txBox="1"/>
          <p:nvPr>
            <p:ph type="title"/>
          </p:nvPr>
        </p:nvSpPr>
        <p:spPr>
          <a:xfrm>
            <a:off x="1580322" y="725558"/>
            <a:ext cx="9773478" cy="884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1.4: Street light</a:t>
            </a:r>
            <a:endParaRPr/>
          </a:p>
        </p:txBody>
      </p:sp>
      <p:pic>
        <p:nvPicPr>
          <p:cNvPr descr="A picture containing athletic game, basketball, sport&#10;&#10;Description automatically generated" id="227" name="Google Shape;22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5340" y="1983380"/>
            <a:ext cx="4201320" cy="4131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6"/>
          <p:cNvSpPr txBox="1"/>
          <p:nvPr>
            <p:ph type="title"/>
          </p:nvPr>
        </p:nvSpPr>
        <p:spPr>
          <a:xfrm>
            <a:off x="1590260" y="805070"/>
            <a:ext cx="9763539" cy="815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Quiz 1</a:t>
            </a:r>
            <a:endParaRPr/>
          </a:p>
        </p:txBody>
      </p:sp>
      <p:pic>
        <p:nvPicPr>
          <p:cNvPr descr="A picture containing athletic game, basketball, sport&#10;&#10;Description automatically generated" id="233" name="Google Shape;233;p3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5340" y="1983380"/>
            <a:ext cx="4201320" cy="4131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