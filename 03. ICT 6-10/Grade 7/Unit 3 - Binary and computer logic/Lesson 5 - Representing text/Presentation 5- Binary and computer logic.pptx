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172F14-815E-4D5C-99FF-6C19FC67659C}">
  <a:tblStyle styleId="{13172F14-815E-4D5C-99FF-6C19FC6765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794"/>
            <a:ext cx="12192000" cy="161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006679" y="2816695"/>
            <a:ext cx="5595456" cy="15281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Binary and computer logic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488462" y="4344850"/>
            <a:ext cx="31136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Lesson 5: Representing text</a:t>
            </a:r>
            <a:endParaRPr b="1" i="0" sz="2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electronics, display, screenshot&#10;&#10;Description automatically generated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532" y="2816695"/>
            <a:ext cx="2937410" cy="242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20079" y="795130"/>
            <a:ext cx="9634330" cy="815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20079" y="2527150"/>
            <a:ext cx="8577469" cy="1803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ASCII system has standardised the way characters are represented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convert ASCII text into binary strings and vice versa.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binary number system: a reminder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20079" y="1958322"/>
            <a:ext cx="7586870" cy="916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binary system uses just two digits: 0 and 1.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denary number can be represented by a binary number.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15"/>
          <p:cNvGraphicFramePr/>
          <p:nvPr/>
        </p:nvGraphicFramePr>
        <p:xfrm>
          <a:off x="1620079" y="3200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{13172F14-815E-4D5C-99FF-6C19FC67659C}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2752500"/>
                <a:gridCol w="1165400"/>
              </a:tblGrid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 values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Denary number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5BE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×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× 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 × 4) + (1 × 2) + (1 × 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 × 8) + (1 × 2)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 × 16) + (1 × 8) (1 × 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Processing characters 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620080" y="1924528"/>
            <a:ext cx="7700089" cy="136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processing that takes place inside a computer is done using binary code, using 1s and 0s.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press a key on the keyboard, it uses a keyboard map to identify the character and return a binary code to the CPU.</a:t>
            </a:r>
            <a:endParaRPr/>
          </a:p>
        </p:txBody>
      </p:sp>
      <p:pic>
        <p:nvPicPr>
          <p:cNvPr descr="A picture containing text, keyboard, computer, electronics&#10;&#10;Description automatically generated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246" y="3086367"/>
            <a:ext cx="4481117" cy="2642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620079" y="3291762"/>
            <a:ext cx="4898167" cy="255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English alphabet characters, numbers and symbols are represented using seven bits. For example, H can be represented by 1001000.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Seven-bit binary code can be tricky for humans to work with, so we convert the binary numbers to denary. In this case, H can be represented by the denary number 72.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ASCII denary values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620079" y="2017558"/>
            <a:ext cx="8537712" cy="2258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Standardisation is essential because we cannot assign the same denary number and binary string to two different characters if applications are to work on a range of different devices and on a global scale.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American Standard Code for Information Interchange (</a:t>
            </a:r>
            <a:r>
              <a:rPr b="1" lang="en-GB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ASCII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was invented to standardise the denary numbers assigned to each character on a keyboard.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characters and their ASCII denary values: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17"/>
          <p:cNvGraphicFramePr/>
          <p:nvPr/>
        </p:nvGraphicFramePr>
        <p:xfrm>
          <a:off x="1620079" y="4350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{13172F14-815E-4D5C-99FF-6C19FC67659C}</a:tableStyleId>
              </a:tblPr>
              <a:tblGrid>
                <a:gridCol w="1121800"/>
                <a:gridCol w="1489675"/>
              </a:tblGrid>
              <a:tr h="31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" name="Google Shape;111;p17"/>
          <p:cNvGraphicFramePr/>
          <p:nvPr/>
        </p:nvGraphicFramePr>
        <p:xfrm>
          <a:off x="4707041" y="4355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{13172F14-815E-4D5C-99FF-6C19FC67659C}</a:tableStyleId>
              </a:tblPr>
              <a:tblGrid>
                <a:gridCol w="1121800"/>
                <a:gridCol w="1489675"/>
              </a:tblGrid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" name="Google Shape;112;p17"/>
          <p:cNvGraphicFramePr/>
          <p:nvPr/>
        </p:nvGraphicFramePr>
        <p:xfrm>
          <a:off x="7794003" y="4369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{13172F14-815E-4D5C-99FF-6C19FC67659C}</a:tableStyleId>
              </a:tblPr>
              <a:tblGrid>
                <a:gridCol w="1121800"/>
                <a:gridCol w="1489675"/>
              </a:tblGrid>
              <a:tr h="30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1590169" y="756501"/>
            <a:ext cx="783073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a character to binary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8"/>
          <p:cNvGraphicFramePr/>
          <p:nvPr/>
        </p:nvGraphicFramePr>
        <p:xfrm>
          <a:off x="2752394" y="4964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{13172F14-815E-4D5C-99FF-6C19FC67659C}</a:tableStyleId>
              </a:tblPr>
              <a:tblGrid>
                <a:gridCol w="1819300"/>
                <a:gridCol w="1843500"/>
                <a:gridCol w="1843500"/>
              </a:tblGrid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Letter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ASCII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denary value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 value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01000001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5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8"/>
          <p:cNvSpPr/>
          <p:nvPr/>
        </p:nvSpPr>
        <p:spPr>
          <a:xfrm>
            <a:off x="1590169" y="2206305"/>
            <a:ext cx="8979959" cy="2604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denary number we humans use to define a character is the equivalent of the 7-bit binary number the computer uses. So, 1000001 is the equivalent to 65 in denary, which we use to refer to the character A. Computers work with groups of 8 bits, so an additional 0 is added to the left of the binary number to make it a byte: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1751807" y="2052068"/>
            <a:ext cx="8018358" cy="2024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Each 1 and 0 in a binary number is knows as a </a:t>
            </a:r>
            <a:r>
              <a:rPr b="1" lang="en-GB" sz="2400">
                <a:solidFill>
                  <a:srgbClr val="0070C0"/>
                </a:solidFill>
              </a:rPr>
              <a:t>bit</a:t>
            </a:r>
            <a:r>
              <a:rPr lang="en-GB" sz="24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term ‘bit’ comes from the words ‘binary’</a:t>
            </a:r>
            <a:r>
              <a:rPr b="1" lang="en-GB" sz="2400"/>
              <a:t> </a:t>
            </a:r>
            <a:r>
              <a:rPr lang="en-GB" sz="2400"/>
              <a:t>(involving two things) and ‘digit’ (a number from 0 to 9).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An 8-bit string of data is known as a </a:t>
            </a:r>
            <a:r>
              <a:rPr b="1" lang="en-GB" sz="2400">
                <a:solidFill>
                  <a:srgbClr val="0070C0"/>
                </a:solidFill>
              </a:rPr>
              <a:t>byte</a:t>
            </a:r>
            <a:r>
              <a:rPr b="1" lang="en-GB" sz="2400"/>
              <a:t> </a:t>
            </a:r>
            <a:r>
              <a:rPr lang="en-GB" sz="2400"/>
              <a:t>of data. Computers process bytes.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1590169" y="756501"/>
            <a:ext cx="34733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Bits and bytes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rectangle&#10;&#10;Description automatically generated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4067" y="4079445"/>
            <a:ext cx="4663865" cy="212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1620078" y="805071"/>
            <a:ext cx="9743660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ASCII converter</a:t>
            </a:r>
            <a:endParaRPr/>
          </a:p>
        </p:txBody>
      </p:sp>
      <p:pic>
        <p:nvPicPr>
          <p:cNvPr descr="A picture containing athletic game, basketball, sport&#10;&#10;Description automatically generated"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169" y="1988077"/>
            <a:ext cx="4655661" cy="456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1620078" y="805071"/>
            <a:ext cx="9743660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GB" sz="3200">
                <a:solidFill>
                  <a:schemeClr val="lt1"/>
                </a:solidFill>
              </a:rPr>
              <a:t>Activity 5.2: Processing a character like a computer (Part 1)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169" y="1988077"/>
            <a:ext cx="4655661" cy="456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1620078" y="805071"/>
            <a:ext cx="9743660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GB" sz="3200">
                <a:solidFill>
                  <a:schemeClr val="lt1"/>
                </a:solidFill>
              </a:rPr>
              <a:t>Activity 5.3: Processing a character like a computer (Part 2)</a:t>
            </a:r>
            <a:endParaRPr/>
          </a:p>
        </p:txBody>
      </p:sp>
      <p:pic>
        <p:nvPicPr>
          <p:cNvPr descr="A picture containing athletic game, basketball, sport&#10;&#10;Description automatically generated"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169" y="1988077"/>
            <a:ext cx="4655661" cy="456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1620078" y="805071"/>
            <a:ext cx="9743660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5.4: Hexadecimal </a:t>
            </a:r>
            <a:endParaRPr/>
          </a:p>
        </p:txBody>
      </p:sp>
      <p:pic>
        <p:nvPicPr>
          <p:cNvPr descr="A picture containing athletic game, basketball, sport&#10;&#10;Description automatically generated"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169" y="1988077"/>
            <a:ext cx="4655661" cy="456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1610139" y="775253"/>
            <a:ext cx="9743661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Unicode 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1610139" y="2033401"/>
            <a:ext cx="88844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ASCII can only represent 256 characters. This is because there are only 256 different ways 8 bits can be arranged into a byte.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This is adequate to represent characters when writing in English, but it is not adequate to represent all the characters in all the languages in the world.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This is why </a:t>
            </a:r>
            <a:r>
              <a:rPr b="1" lang="en-GB" sz="2400">
                <a:solidFill>
                  <a:srgbClr val="0070C0"/>
                </a:solidFill>
              </a:rPr>
              <a:t>Unicode</a:t>
            </a:r>
            <a:r>
              <a:rPr lang="en-GB" sz="2400"/>
              <a:t> was developed. Each character is represented by 4 bytes, which means Unicode supports roughly 1,000,000 different characters.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1590260" y="805070"/>
            <a:ext cx="9763539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5</a:t>
            </a:r>
            <a:endParaRPr/>
          </a:p>
        </p:txBody>
      </p:sp>
      <p:pic>
        <p:nvPicPr>
          <p:cNvPr descr="A picture containing athletic game, basketball, sport&#10;&#10;Description automatically generated" id="162" name="Google Shape;1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169" y="1988077"/>
            <a:ext cx="4655661" cy="456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