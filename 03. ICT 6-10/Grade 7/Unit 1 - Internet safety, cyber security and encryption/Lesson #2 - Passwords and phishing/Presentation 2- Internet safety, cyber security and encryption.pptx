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embeddedFontLst>
    <p:embeddedFont>
      <p:font typeface="Short Stack"/>
      <p:regular r:id="rId25"/>
    </p:embeddedFont>
    <p:embeddedFont>
      <p:font typeface="Libre Baskerville"/>
      <p:regular r:id="rId26"/>
      <p:bold r:id="rId27"/>
      <p:italic r:id="rId28"/>
      <p:boldItalic r:id="rId29"/>
    </p:embeddedFont>
    <p:embeddedFont>
      <p:font typeface="Radley"/>
      <p:regular r:id="rId30"/>
      <p:italic r:id="rId31"/>
    </p:embeddedFont>
    <p:embeddedFont>
      <p:font typeface="Milonga"/>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breBaskerville-regular.fntdata"/><Relationship Id="rId25" Type="http://schemas.openxmlformats.org/officeDocument/2006/relationships/font" Target="fonts/ShortStack-regular.fntdata"/><Relationship Id="rId28" Type="http://schemas.openxmlformats.org/officeDocument/2006/relationships/font" Target="fonts/LibreBaskerville-italic.fntdata"/><Relationship Id="rId27" Type="http://schemas.openxmlformats.org/officeDocument/2006/relationships/font" Target="fonts/LibreBaskerville-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ibreBaskerville-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dley-italic.fntdata"/><Relationship Id="rId30" Type="http://schemas.openxmlformats.org/officeDocument/2006/relationships/font" Target="fonts/Radley-regular.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Milonga-regular.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descr="Shape, rectangle&#10;&#10;Description automatically generated" id="9" name="Google Shape;9;p1"/>
          <p:cNvPicPr preferRelativeResize="0"/>
          <p:nvPr/>
        </p:nvPicPr>
        <p:blipFill rotWithShape="1">
          <a:blip r:embed="rId1">
            <a:alphaModFix/>
          </a:blip>
          <a:srcRect b="0" l="0" r="0" t="0"/>
          <a:stretch/>
        </p:blipFill>
        <p:spPr>
          <a:xfrm>
            <a:off x="0" y="0"/>
            <a:ext cx="12192000" cy="169561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1646583" y="2929767"/>
            <a:ext cx="9920500" cy="91585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GB"/>
              <a:t>Internet safety, cyber security</a:t>
            </a:r>
            <a:br>
              <a:rPr b="1" lang="en-GB"/>
            </a:br>
            <a:r>
              <a:rPr b="1" lang="en-GB"/>
              <a:t>and encryption</a:t>
            </a:r>
            <a:endParaRPr/>
          </a:p>
        </p:txBody>
      </p:sp>
      <p:sp>
        <p:nvSpPr>
          <p:cNvPr id="81" name="Google Shape;81;p13"/>
          <p:cNvSpPr/>
          <p:nvPr/>
        </p:nvSpPr>
        <p:spPr>
          <a:xfrm>
            <a:off x="4636690" y="3928233"/>
            <a:ext cx="3755836"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GB" sz="2000" u="none" cap="none" strike="noStrike">
                <a:solidFill>
                  <a:schemeClr val="accent6"/>
                </a:solidFill>
                <a:latin typeface="Calibri"/>
                <a:ea typeface="Calibri"/>
                <a:cs typeface="Calibri"/>
                <a:sym typeface="Calibri"/>
              </a:rPr>
              <a:t>Lesson 2: Passwords and phishing</a:t>
            </a:r>
            <a:endParaRPr/>
          </a:p>
          <a:p>
            <a:pPr indent="0" lvl="0" marL="0" marR="0" rtl="0" algn="l">
              <a:spcBef>
                <a:spcPts val="0"/>
              </a:spcBef>
              <a:spcAft>
                <a:spcPts val="0"/>
              </a:spcAft>
              <a:buNone/>
            </a:pPr>
            <a:r>
              <a:t/>
            </a:r>
            <a:endParaRPr b="1" sz="2000">
              <a:solidFill>
                <a:schemeClr val="accent6"/>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8629671" y="3429000"/>
            <a:ext cx="2937412" cy="2443927"/>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545483" y="824947"/>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545483" y="2066398"/>
            <a:ext cx="8950239" cy="2739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what makes up a secure password</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why reusing passwords is dangerous</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publicly accessible information can be used against you</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spot a phishing email.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580322" y="844826"/>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International Space Organisation </a:t>
            </a:r>
            <a:endParaRPr/>
          </a:p>
        </p:txBody>
      </p:sp>
      <p:sp>
        <p:nvSpPr>
          <p:cNvPr id="94" name="Google Shape;94;p15"/>
          <p:cNvSpPr/>
          <p:nvPr/>
        </p:nvSpPr>
        <p:spPr>
          <a:xfrm>
            <a:off x="1632573" y="2518843"/>
            <a:ext cx="4097667"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You have been hired by the International Space Organisation as a cyber security expert.</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You will be required to carry out a series of tasks over the next few lessons to defend the ISO against cyber security risks.</a:t>
            </a:r>
            <a:endParaRPr sz="2400">
              <a:solidFill>
                <a:schemeClr val="dk1"/>
              </a:solidFill>
              <a:latin typeface="Calibri"/>
              <a:ea typeface="Calibri"/>
              <a:cs typeface="Calibri"/>
              <a:sym typeface="Calibri"/>
            </a:endParaRPr>
          </a:p>
        </p:txBody>
      </p:sp>
      <p:pic>
        <p:nvPicPr>
          <p:cNvPr descr="A picture containing text, person, computer, electronics&#10;&#10;Description automatically generated" id="95" name="Google Shape;95;p15"/>
          <p:cNvPicPr preferRelativeResize="0"/>
          <p:nvPr/>
        </p:nvPicPr>
        <p:blipFill rotWithShape="1">
          <a:blip r:embed="rId3">
            <a:alphaModFix/>
          </a:blip>
          <a:srcRect b="0" l="0" r="0" t="0"/>
          <a:stretch/>
        </p:blipFill>
        <p:spPr>
          <a:xfrm>
            <a:off x="6096000" y="2634840"/>
            <a:ext cx="5277394" cy="2783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1620078" y="795131"/>
            <a:ext cx="9733721" cy="89555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Improving security</a:t>
            </a:r>
            <a:endParaRPr/>
          </a:p>
        </p:txBody>
      </p:sp>
      <p:sp>
        <p:nvSpPr>
          <p:cNvPr id="101" name="Google Shape;101;p16"/>
          <p:cNvSpPr txBox="1"/>
          <p:nvPr>
            <p:ph idx="1" type="body"/>
          </p:nvPr>
        </p:nvSpPr>
        <p:spPr>
          <a:xfrm>
            <a:off x="5137131" y="2592925"/>
            <a:ext cx="6216668" cy="285864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GB" sz="2400"/>
              <a:t>The Chief Scientist has come to see you because she thinks her computer has been </a:t>
            </a:r>
            <a:r>
              <a:rPr b="1" lang="en-GB" sz="2400">
                <a:solidFill>
                  <a:srgbClr val="92D050"/>
                </a:solidFill>
              </a:rPr>
              <a:t>hacked</a:t>
            </a:r>
            <a:r>
              <a:rPr lang="en-GB" sz="2400"/>
              <a:t>!</a:t>
            </a:r>
            <a:endParaRPr/>
          </a:p>
          <a:p>
            <a:pPr indent="0" lvl="0" marL="0" rtl="0" algn="l">
              <a:lnSpc>
                <a:spcPct val="90000"/>
              </a:lnSpc>
              <a:spcBef>
                <a:spcPts val="1000"/>
              </a:spcBef>
              <a:spcAft>
                <a:spcPts val="0"/>
              </a:spcAft>
              <a:buClr>
                <a:schemeClr val="dk1"/>
              </a:buClr>
              <a:buSzPts val="2400"/>
              <a:buNone/>
            </a:pPr>
            <a:r>
              <a:rPr lang="en-GB" sz="2400"/>
              <a:t>Some of her top-secret research has been copied and posted online.</a:t>
            </a:r>
            <a:endParaRPr/>
          </a:p>
          <a:p>
            <a:pPr indent="0" lvl="0" marL="0" rtl="0" algn="l">
              <a:lnSpc>
                <a:spcPct val="90000"/>
              </a:lnSpc>
              <a:spcBef>
                <a:spcPts val="1000"/>
              </a:spcBef>
              <a:spcAft>
                <a:spcPts val="0"/>
              </a:spcAft>
              <a:buClr>
                <a:schemeClr val="dk1"/>
              </a:buClr>
              <a:buSzPts val="2400"/>
              <a:buNone/>
            </a:pPr>
            <a:r>
              <a:rPr lang="en-GB" sz="2400"/>
              <a:t>Your job is to find out how this might have happened, and to make sure it cannot happen again.</a:t>
            </a:r>
            <a:endParaRPr/>
          </a:p>
          <a:p>
            <a:pPr indent="0" lvl="0" marL="0" rtl="0" algn="l">
              <a:lnSpc>
                <a:spcPct val="90000"/>
              </a:lnSpc>
              <a:spcBef>
                <a:spcPts val="1000"/>
              </a:spcBef>
              <a:spcAft>
                <a:spcPts val="0"/>
              </a:spcAft>
              <a:buClr>
                <a:schemeClr val="dk1"/>
              </a:buClr>
              <a:buSzPts val="2400"/>
              <a:buNone/>
            </a:pPr>
            <a:r>
              <a:t/>
            </a:r>
            <a:endParaRPr sz="2400"/>
          </a:p>
        </p:txBody>
      </p:sp>
      <p:pic>
        <p:nvPicPr>
          <p:cNvPr descr="Graphical user interface, application&#10;&#10;Description automatically generated" id="102" name="Google Shape;102;p16"/>
          <p:cNvPicPr preferRelativeResize="0"/>
          <p:nvPr/>
        </p:nvPicPr>
        <p:blipFill rotWithShape="1">
          <a:blip r:embed="rId3">
            <a:alphaModFix/>
          </a:blip>
          <a:srcRect b="0" l="0" r="0" t="0"/>
          <a:stretch/>
        </p:blipFill>
        <p:spPr>
          <a:xfrm>
            <a:off x="1282338" y="2188592"/>
            <a:ext cx="3488444" cy="40728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1570382" y="834887"/>
            <a:ext cx="9783417" cy="8558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Online backup</a:t>
            </a:r>
            <a:endParaRPr/>
          </a:p>
        </p:txBody>
      </p:sp>
      <p:sp>
        <p:nvSpPr>
          <p:cNvPr id="108" name="Google Shape;108;p17"/>
          <p:cNvSpPr/>
          <p:nvPr/>
        </p:nvSpPr>
        <p:spPr>
          <a:xfrm>
            <a:off x="1570381" y="2090172"/>
            <a:ext cx="8160027" cy="26776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You interview the Chief Scientist and discover she backs her research up to an online account, so she can access it at home and at the office.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One possibility is that someone managed to find the password for this online account, log in to the backup and copy the data from there.</a:t>
            </a:r>
            <a:endParaRPr sz="2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1600200" y="844826"/>
            <a:ext cx="10356574" cy="84586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GB">
                <a:solidFill>
                  <a:schemeClr val="lt1"/>
                </a:solidFill>
              </a:rPr>
              <a:t>What are the most commonly used passwords?</a:t>
            </a:r>
            <a:endParaRPr/>
          </a:p>
        </p:txBody>
      </p:sp>
      <p:sp>
        <p:nvSpPr>
          <p:cNvPr id="114" name="Google Shape;114;p18"/>
          <p:cNvSpPr txBox="1"/>
          <p:nvPr>
            <p:ph idx="1" type="body"/>
          </p:nvPr>
        </p:nvSpPr>
        <p:spPr>
          <a:xfrm>
            <a:off x="1600200" y="2296930"/>
            <a:ext cx="8696739" cy="359877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GB" sz="2400"/>
              <a:t>The most commonly used passwords are:</a:t>
            </a:r>
            <a:endParaRPr/>
          </a:p>
          <a:p>
            <a:pPr indent="-228600" lvl="0" marL="228600" rtl="0" algn="l">
              <a:lnSpc>
                <a:spcPct val="90000"/>
              </a:lnSpc>
              <a:spcBef>
                <a:spcPts val="1000"/>
              </a:spcBef>
              <a:spcAft>
                <a:spcPts val="0"/>
              </a:spcAft>
              <a:buClr>
                <a:srgbClr val="0070C0"/>
              </a:buClr>
              <a:buSzPts val="2400"/>
              <a:buChar char="•"/>
            </a:pPr>
            <a:r>
              <a:rPr lang="en-GB" sz="2400">
                <a:solidFill>
                  <a:srgbClr val="0070C0"/>
                </a:solidFill>
                <a:latin typeface="Arial"/>
                <a:ea typeface="Arial"/>
                <a:cs typeface="Arial"/>
                <a:sym typeface="Arial"/>
              </a:rPr>
              <a:t>password</a:t>
            </a:r>
            <a:endParaRPr/>
          </a:p>
          <a:p>
            <a:pPr indent="-228600" lvl="0" marL="228600" rtl="0" algn="l">
              <a:lnSpc>
                <a:spcPct val="90000"/>
              </a:lnSpc>
              <a:spcBef>
                <a:spcPts val="1000"/>
              </a:spcBef>
              <a:spcAft>
                <a:spcPts val="0"/>
              </a:spcAft>
              <a:buClr>
                <a:srgbClr val="C55A11"/>
              </a:buClr>
              <a:buSzPts val="2400"/>
              <a:buChar char="•"/>
            </a:pPr>
            <a:r>
              <a:rPr lang="en-GB" sz="2400">
                <a:solidFill>
                  <a:srgbClr val="C55A11"/>
                </a:solidFill>
                <a:latin typeface="Libre Baskerville"/>
                <a:ea typeface="Libre Baskerville"/>
                <a:cs typeface="Libre Baskerville"/>
                <a:sym typeface="Libre Baskerville"/>
              </a:rPr>
              <a:t>qwerty</a:t>
            </a:r>
            <a:endParaRPr/>
          </a:p>
          <a:p>
            <a:pPr indent="-228600" lvl="0" marL="228600" rtl="0" algn="l">
              <a:lnSpc>
                <a:spcPct val="90000"/>
              </a:lnSpc>
              <a:spcBef>
                <a:spcPts val="1000"/>
              </a:spcBef>
              <a:spcAft>
                <a:spcPts val="0"/>
              </a:spcAft>
              <a:buClr>
                <a:srgbClr val="538135"/>
              </a:buClr>
              <a:buSzPts val="2400"/>
              <a:buChar char="•"/>
            </a:pPr>
            <a:r>
              <a:rPr lang="en-GB" sz="2400">
                <a:solidFill>
                  <a:srgbClr val="538135"/>
                </a:solidFill>
                <a:latin typeface="Radley"/>
                <a:ea typeface="Radley"/>
                <a:cs typeface="Radley"/>
                <a:sym typeface="Radley"/>
              </a:rPr>
              <a:t>12345</a:t>
            </a:r>
            <a:endParaRPr/>
          </a:p>
          <a:p>
            <a:pPr indent="-228600" lvl="0" marL="228600" rtl="0" algn="l">
              <a:lnSpc>
                <a:spcPct val="90000"/>
              </a:lnSpc>
              <a:spcBef>
                <a:spcPts val="1000"/>
              </a:spcBef>
              <a:spcAft>
                <a:spcPts val="0"/>
              </a:spcAft>
              <a:buClr>
                <a:srgbClr val="7030A0"/>
              </a:buClr>
              <a:buSzPts val="2400"/>
              <a:buChar char="•"/>
            </a:pPr>
            <a:r>
              <a:rPr lang="en-GB" sz="2400">
                <a:solidFill>
                  <a:srgbClr val="7030A0"/>
                </a:solidFill>
                <a:latin typeface="Milonga"/>
                <a:ea typeface="Milonga"/>
                <a:cs typeface="Milonga"/>
                <a:sym typeface="Milonga"/>
              </a:rPr>
              <a:t>11111</a:t>
            </a:r>
            <a:endParaRPr/>
          </a:p>
          <a:p>
            <a:pPr indent="-228600" lvl="0" marL="228600" rtl="0" algn="l">
              <a:lnSpc>
                <a:spcPct val="90000"/>
              </a:lnSpc>
              <a:spcBef>
                <a:spcPts val="1000"/>
              </a:spcBef>
              <a:spcAft>
                <a:spcPts val="0"/>
              </a:spcAft>
              <a:buClr>
                <a:srgbClr val="C00000"/>
              </a:buClr>
              <a:buSzPts val="2400"/>
              <a:buChar char="•"/>
            </a:pPr>
            <a:r>
              <a:rPr lang="en-GB" sz="2400">
                <a:solidFill>
                  <a:srgbClr val="C00000"/>
                </a:solidFill>
                <a:latin typeface="Short Stack"/>
                <a:ea typeface="Short Stack"/>
                <a:cs typeface="Short Stack"/>
                <a:sym typeface="Short Stack"/>
              </a:rPr>
              <a:t>password1</a:t>
            </a:r>
            <a:endParaRPr/>
          </a:p>
          <a:p>
            <a:pPr indent="0" lvl="0" marL="0" rtl="0" algn="l">
              <a:lnSpc>
                <a:spcPct val="90000"/>
              </a:lnSpc>
              <a:spcBef>
                <a:spcPts val="1000"/>
              </a:spcBef>
              <a:spcAft>
                <a:spcPts val="0"/>
              </a:spcAft>
              <a:buClr>
                <a:schemeClr val="dk1"/>
              </a:buClr>
              <a:buSzPts val="2400"/>
              <a:buNone/>
            </a:pPr>
            <a:r>
              <a:rPr lang="en-GB" sz="2400"/>
              <a:t>The names of local football teams and celebrities are also commonly used passwords.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1600200" y="844826"/>
            <a:ext cx="10356574"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Why do people use common passwords?</a:t>
            </a:r>
            <a:endParaRPr/>
          </a:p>
        </p:txBody>
      </p:sp>
      <p:sp>
        <p:nvSpPr>
          <p:cNvPr id="120" name="Google Shape;120;p19"/>
          <p:cNvSpPr txBox="1"/>
          <p:nvPr>
            <p:ph idx="1" type="body"/>
          </p:nvPr>
        </p:nvSpPr>
        <p:spPr>
          <a:xfrm>
            <a:off x="1600200" y="2123799"/>
            <a:ext cx="8696739"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GB" sz="2400"/>
              <a:t>People use these passwords because they are:</a:t>
            </a:r>
            <a:endParaRPr/>
          </a:p>
          <a:p>
            <a:pPr indent="-228600" lvl="0" marL="228600" rtl="0" algn="l">
              <a:lnSpc>
                <a:spcPct val="90000"/>
              </a:lnSpc>
              <a:spcBef>
                <a:spcPts val="1000"/>
              </a:spcBef>
              <a:spcAft>
                <a:spcPts val="0"/>
              </a:spcAft>
              <a:buClr>
                <a:schemeClr val="dk1"/>
              </a:buClr>
              <a:buSzPts val="2400"/>
              <a:buChar char="•"/>
            </a:pPr>
            <a:r>
              <a:rPr lang="en-GB" sz="2400"/>
              <a:t>easy to remember</a:t>
            </a:r>
            <a:endParaRPr/>
          </a:p>
          <a:p>
            <a:pPr indent="-228600" lvl="0" marL="228600" rtl="0" algn="l">
              <a:lnSpc>
                <a:spcPct val="90000"/>
              </a:lnSpc>
              <a:spcBef>
                <a:spcPts val="1000"/>
              </a:spcBef>
              <a:spcAft>
                <a:spcPts val="0"/>
              </a:spcAft>
              <a:buClr>
                <a:schemeClr val="dk1"/>
              </a:buClr>
              <a:buSzPts val="2400"/>
              <a:buChar char="•"/>
            </a:pPr>
            <a:r>
              <a:rPr lang="en-GB" sz="2400"/>
              <a:t>quick to type.</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GB" sz="2400"/>
              <a:t>Most people have lots of online accounts and use one password for them all.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 calcmode="lin" valueType="num">
                                      <p:cBhvr additive="base">
                                        <p:cTn dur="500"/>
                                        <p:tgtEl>
                                          <p:spTgt spid="12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 calcmode="lin" valueType="num">
                                      <p:cBhvr additive="base">
                                        <p:cTn dur="500"/>
                                        <p:tgtEl>
                                          <p:spTgt spid="12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 calcmode="lin" valueType="num">
                                      <p:cBhvr additive="base">
                                        <p:cTn dur="500"/>
                                        <p:tgtEl>
                                          <p:spTgt spid="12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anim calcmode="lin" valueType="num">
                                      <p:cBhvr additive="base">
                                        <p:cTn dur="500"/>
                                        <p:tgtEl>
                                          <p:spTgt spid="12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anim calcmode="lin" valueType="num">
                                      <p:cBhvr additive="base">
                                        <p:cTn dur="500"/>
                                        <p:tgtEl>
                                          <p:spTgt spid="12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1600200" y="844826"/>
            <a:ext cx="10591800"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b="1" lang="en-GB" sz="3600">
                <a:solidFill>
                  <a:schemeClr val="lt1"/>
                </a:solidFill>
              </a:rPr>
              <a:t>What’s wrong with using an easy to guess password?</a:t>
            </a:r>
            <a:endParaRPr/>
          </a:p>
        </p:txBody>
      </p:sp>
      <p:sp>
        <p:nvSpPr>
          <p:cNvPr id="126" name="Google Shape;126;p20"/>
          <p:cNvSpPr txBox="1"/>
          <p:nvPr>
            <p:ph idx="1" type="body"/>
          </p:nvPr>
        </p:nvSpPr>
        <p:spPr>
          <a:xfrm>
            <a:off x="1600200" y="2133738"/>
            <a:ext cx="8806543" cy="405834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GB" sz="2400"/>
              <a:t>It’s a terrible idea to use one of the most commonly used passwords.</a:t>
            </a:r>
            <a:endParaRPr/>
          </a:p>
          <a:p>
            <a:pPr indent="-228600" lvl="0" marL="228600" rtl="0" algn="l">
              <a:lnSpc>
                <a:spcPct val="90000"/>
              </a:lnSpc>
              <a:spcBef>
                <a:spcPts val="1000"/>
              </a:spcBef>
              <a:spcAft>
                <a:spcPts val="0"/>
              </a:spcAft>
              <a:buClr>
                <a:schemeClr val="dk1"/>
              </a:buClr>
              <a:buSzPts val="2400"/>
              <a:buChar char="•"/>
            </a:pPr>
            <a:r>
              <a:rPr lang="en-GB" sz="2400"/>
              <a:t>They are easy to guess and can be quickly identified with a </a:t>
            </a:r>
            <a:r>
              <a:rPr b="1" lang="en-GB" sz="2400">
                <a:solidFill>
                  <a:srgbClr val="92D050"/>
                </a:solidFill>
              </a:rPr>
              <a:t>brute force attack</a:t>
            </a:r>
            <a:r>
              <a:rPr lang="en-GB" sz="2400"/>
              <a:t>.</a:t>
            </a:r>
            <a:endParaRPr/>
          </a:p>
          <a:p>
            <a:pPr indent="-228600" lvl="0" marL="228600" rtl="0" algn="l">
              <a:lnSpc>
                <a:spcPct val="90000"/>
              </a:lnSpc>
              <a:spcBef>
                <a:spcPts val="1000"/>
              </a:spcBef>
              <a:spcAft>
                <a:spcPts val="0"/>
              </a:spcAft>
              <a:buClr>
                <a:schemeClr val="dk1"/>
              </a:buClr>
              <a:buSzPts val="2400"/>
              <a:buChar char="•"/>
            </a:pPr>
            <a:r>
              <a:rPr lang="en-GB" sz="2400"/>
              <a:t>If someone wants to log into your account but doesn’t know the password, they can use a computer program that tries every possible combination of letters, numbers, and symbols until it breaks in.</a:t>
            </a:r>
            <a:endParaRPr/>
          </a:p>
          <a:p>
            <a:pPr indent="-228600" lvl="0" marL="228600" rtl="0" algn="l">
              <a:lnSpc>
                <a:spcPct val="90000"/>
              </a:lnSpc>
              <a:spcBef>
                <a:spcPts val="1000"/>
              </a:spcBef>
              <a:spcAft>
                <a:spcPts val="0"/>
              </a:spcAft>
              <a:buClr>
                <a:schemeClr val="dk1"/>
              </a:buClr>
              <a:buSzPts val="2400"/>
              <a:buChar char="•"/>
            </a:pPr>
            <a:r>
              <a:rPr lang="en-GB" sz="2400"/>
              <a:t>The software will try the most common passwords first, so the more common your password the quicker it will be identified.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anim calcmode="lin" valueType="num">
                                      <p:cBhvr additive="base">
                                        <p:cTn dur="500"/>
                                        <p:tgtEl>
                                          <p:spTgt spid="1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anim calcmode="lin" valueType="num">
                                      <p:cBhvr additive="base">
                                        <p:cTn dur="500"/>
                                        <p:tgtEl>
                                          <p:spTgt spid="1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anim calcmode="lin" valueType="num">
                                      <p:cBhvr additive="base">
                                        <p:cTn dur="500"/>
                                        <p:tgtEl>
                                          <p:spTgt spid="1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anim calcmode="lin" valueType="num">
                                      <p:cBhvr additive="base">
                                        <p:cTn dur="500"/>
                                        <p:tgtEl>
                                          <p:spTgt spid="1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1600200" y="844826"/>
            <a:ext cx="10591800"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What makes a password hard to identify?</a:t>
            </a:r>
            <a:endParaRPr/>
          </a:p>
        </p:txBody>
      </p:sp>
      <p:sp>
        <p:nvSpPr>
          <p:cNvPr id="132" name="Google Shape;132;p21"/>
          <p:cNvSpPr txBox="1"/>
          <p:nvPr>
            <p:ph idx="1" type="body"/>
          </p:nvPr>
        </p:nvSpPr>
        <p:spPr>
          <a:xfrm>
            <a:off x="1600200" y="1987826"/>
            <a:ext cx="9529354" cy="450242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GB" sz="2400"/>
              <a:t>A password is much harder to identify if it is a mixture of the following:</a:t>
            </a:r>
            <a:endParaRPr/>
          </a:p>
          <a:p>
            <a:pPr indent="-228600" lvl="0" marL="228600" rtl="0" algn="l">
              <a:lnSpc>
                <a:spcPct val="90000"/>
              </a:lnSpc>
              <a:spcBef>
                <a:spcPts val="1000"/>
              </a:spcBef>
              <a:spcAft>
                <a:spcPts val="0"/>
              </a:spcAft>
              <a:buClr>
                <a:schemeClr val="dk1"/>
              </a:buClr>
              <a:buSzPts val="2400"/>
              <a:buChar char="•"/>
            </a:pPr>
            <a:r>
              <a:rPr lang="en-GB" sz="2400"/>
              <a:t>upper case letters (A B C D E, etc.)</a:t>
            </a:r>
            <a:endParaRPr/>
          </a:p>
          <a:p>
            <a:pPr indent="-228600" lvl="0" marL="228600" rtl="0" algn="l">
              <a:lnSpc>
                <a:spcPct val="90000"/>
              </a:lnSpc>
              <a:spcBef>
                <a:spcPts val="1000"/>
              </a:spcBef>
              <a:spcAft>
                <a:spcPts val="0"/>
              </a:spcAft>
              <a:buClr>
                <a:schemeClr val="dk1"/>
              </a:buClr>
              <a:buSzPts val="2400"/>
              <a:buChar char="•"/>
            </a:pPr>
            <a:r>
              <a:rPr lang="en-GB" sz="2400"/>
              <a:t>lower case letters (a b c d e, etc.)</a:t>
            </a:r>
            <a:endParaRPr/>
          </a:p>
          <a:p>
            <a:pPr indent="-228600" lvl="0" marL="228600" rtl="0" algn="l">
              <a:lnSpc>
                <a:spcPct val="90000"/>
              </a:lnSpc>
              <a:spcBef>
                <a:spcPts val="1000"/>
              </a:spcBef>
              <a:spcAft>
                <a:spcPts val="0"/>
              </a:spcAft>
              <a:buClr>
                <a:schemeClr val="dk1"/>
              </a:buClr>
              <a:buSzPts val="2400"/>
              <a:buChar char="•"/>
            </a:pPr>
            <a:r>
              <a:rPr lang="en-GB" sz="2400"/>
              <a:t>digits (1 2 3 4 5, etc.)</a:t>
            </a:r>
            <a:endParaRPr/>
          </a:p>
          <a:p>
            <a:pPr indent="-228600" lvl="0" marL="228600" rtl="0" algn="l">
              <a:lnSpc>
                <a:spcPct val="90000"/>
              </a:lnSpc>
              <a:spcBef>
                <a:spcPts val="1000"/>
              </a:spcBef>
              <a:spcAft>
                <a:spcPts val="0"/>
              </a:spcAft>
              <a:buClr>
                <a:schemeClr val="dk1"/>
              </a:buClr>
              <a:buSzPts val="2400"/>
              <a:buChar char="•"/>
            </a:pPr>
            <a:r>
              <a:rPr lang="en-GB" sz="2400"/>
              <a:t>special characters (! £ $ %, etc.)</a:t>
            </a:r>
            <a:endParaRPr/>
          </a:p>
          <a:p>
            <a:pPr indent="0" lvl="0" marL="0" rtl="0" algn="l">
              <a:lnSpc>
                <a:spcPct val="90000"/>
              </a:lnSpc>
              <a:spcBef>
                <a:spcPts val="1000"/>
              </a:spcBef>
              <a:spcAft>
                <a:spcPts val="0"/>
              </a:spcAft>
              <a:buClr>
                <a:schemeClr val="dk1"/>
              </a:buClr>
              <a:buSzPts val="2400"/>
              <a:buNone/>
            </a:pPr>
            <a:r>
              <a:rPr lang="en-GB" sz="2400"/>
              <a:t>Passwords that are harder to identify are also harder to remember, so a good technique to create a strong but memorable password is to base it on a phrase or song lyric.</a:t>
            </a:r>
            <a:endParaRPr/>
          </a:p>
          <a:p>
            <a:pPr indent="0" lvl="0" marL="0" rtl="0" algn="l">
              <a:lnSpc>
                <a:spcPct val="90000"/>
              </a:lnSpc>
              <a:spcBef>
                <a:spcPts val="1000"/>
              </a:spcBef>
              <a:spcAft>
                <a:spcPts val="0"/>
              </a:spcAft>
              <a:buClr>
                <a:schemeClr val="dk1"/>
              </a:buClr>
              <a:buSzPts val="2400"/>
              <a:buNone/>
            </a:pPr>
            <a:r>
              <a:rPr lang="en-GB" sz="2400"/>
              <a:t>For example, the song lyrics ‘Twinkle twinkle little star, How I wonder what you are’ become the password ‘Ttls,H1wwya’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1570382" y="834887"/>
            <a:ext cx="10296940" cy="85580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2.1: Password security</a:t>
            </a:r>
            <a:endParaRPr/>
          </a:p>
        </p:txBody>
      </p:sp>
      <p:pic>
        <p:nvPicPr>
          <p:cNvPr descr="A picture containing athletic game, basketball, sport&#10;&#10;Description automatically generated" id="138" name="Google Shape;138;p22"/>
          <p:cNvPicPr preferRelativeResize="0"/>
          <p:nvPr/>
        </p:nvPicPr>
        <p:blipFill rotWithShape="1">
          <a:blip r:embed="rId3">
            <a:alphaModFix/>
          </a:blip>
          <a:srcRect b="0" l="0" r="0" t="0"/>
          <a:stretch/>
        </p:blipFill>
        <p:spPr>
          <a:xfrm>
            <a:off x="3827611" y="1947016"/>
            <a:ext cx="4536777" cy="44450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1600200" y="844826"/>
            <a:ext cx="8728166"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Once someone has come up with a secure password, should they use it for everything?</a:t>
            </a:r>
            <a:endParaRPr/>
          </a:p>
        </p:txBody>
      </p:sp>
      <p:sp>
        <p:nvSpPr>
          <p:cNvPr id="144" name="Google Shape;144;p23"/>
          <p:cNvSpPr txBox="1"/>
          <p:nvPr>
            <p:ph idx="1" type="body"/>
          </p:nvPr>
        </p:nvSpPr>
        <p:spPr>
          <a:xfrm>
            <a:off x="4214191" y="2524540"/>
            <a:ext cx="4094922" cy="2216426"/>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90000"/>
              </a:lnSpc>
              <a:spcBef>
                <a:spcPts val="0"/>
              </a:spcBef>
              <a:spcAft>
                <a:spcPts val="0"/>
              </a:spcAft>
              <a:buClr>
                <a:srgbClr val="FF0000"/>
              </a:buClr>
              <a:buSzPct val="100000"/>
              <a:buNone/>
            </a:pPr>
            <a:r>
              <a:rPr lang="en-GB" sz="28800">
                <a:solidFill>
                  <a:srgbClr val="FF0000"/>
                </a:solidFill>
              </a:rPr>
              <a:t>NO!</a:t>
            </a:r>
            <a:endParaRPr/>
          </a:p>
        </p:txBody>
      </p:sp>
      <p:sp>
        <p:nvSpPr>
          <p:cNvPr id="145" name="Google Shape;145;p23"/>
          <p:cNvSpPr/>
          <p:nvPr/>
        </p:nvSpPr>
        <p:spPr>
          <a:xfrm>
            <a:off x="1600200" y="4740966"/>
            <a:ext cx="8797834"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Using the same password on several sites means that, if one website is compromised, a hacker can access your other accounts.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 calcmode="lin" valueType="num">
                                      <p:cBhvr additive="base">
                                        <p:cTn dur="500"/>
                                        <p:tgtEl>
                                          <p:spTgt spid="1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1600200" y="844826"/>
            <a:ext cx="7273834"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How can you remember all your passwords if you use a different one for every account? </a:t>
            </a:r>
            <a:endParaRPr/>
          </a:p>
        </p:txBody>
      </p:sp>
      <p:sp>
        <p:nvSpPr>
          <p:cNvPr id="151" name="Google Shape;151;p24"/>
          <p:cNvSpPr/>
          <p:nvPr/>
        </p:nvSpPr>
        <p:spPr>
          <a:xfrm>
            <a:off x="1669774" y="2286001"/>
            <a:ext cx="8676009" cy="341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There are no perfect solutions. Remembering dozens of unique passwords is almost impossible and writing them down somewhere is a big risk.</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One strategy is to use unique passwords for key accounts (banking, email, social media and so on) and worry less about websites that don’t include payment information.</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Another strategy is to use a password manager, a piece of software that you can use to store and retrieve passwords for different websites.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1600200" y="844826"/>
            <a:ext cx="9015549"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Once someone has come up with a secure password, are there other ways to try and guess it? </a:t>
            </a:r>
            <a:endParaRPr/>
          </a:p>
        </p:txBody>
      </p:sp>
      <p:sp>
        <p:nvSpPr>
          <p:cNvPr id="157" name="Google Shape;157;p25"/>
          <p:cNvSpPr/>
          <p:nvPr/>
        </p:nvSpPr>
        <p:spPr>
          <a:xfrm>
            <a:off x="1669774" y="2286001"/>
            <a:ext cx="5645426" cy="37856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There are two other threats to passwords.</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The first threat is from publicly accessible information.</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If you use the name of a favourite musician or sports personality, the name of your pet or your brother, or a key date like your birthday as part of your password, then a hacker can surf your social media to find out information about you that will help them guess your password.</a:t>
            </a:r>
            <a:endParaRPr/>
          </a:p>
        </p:txBody>
      </p:sp>
      <p:pic>
        <p:nvPicPr>
          <p:cNvPr id="158" name="Google Shape;158;p25"/>
          <p:cNvPicPr preferRelativeResize="0"/>
          <p:nvPr/>
        </p:nvPicPr>
        <p:blipFill rotWithShape="1">
          <a:blip r:embed="rId3">
            <a:alphaModFix/>
          </a:blip>
          <a:srcRect b="0" l="0" r="0" t="0"/>
          <a:stretch/>
        </p:blipFill>
        <p:spPr>
          <a:xfrm>
            <a:off x="7493508" y="2286001"/>
            <a:ext cx="3422904" cy="37368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1600200" y="844826"/>
            <a:ext cx="8815251"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Once someone has come up with a secure password, are there other ways to try and guess it? </a:t>
            </a:r>
            <a:endParaRPr/>
          </a:p>
        </p:txBody>
      </p:sp>
      <p:sp>
        <p:nvSpPr>
          <p:cNvPr id="164" name="Google Shape;164;p26"/>
          <p:cNvSpPr/>
          <p:nvPr/>
        </p:nvSpPr>
        <p:spPr>
          <a:xfrm>
            <a:off x="1669774" y="2286001"/>
            <a:ext cx="5000991" cy="26776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 second threat is </a:t>
            </a:r>
            <a:r>
              <a:rPr b="1" lang="en-GB" sz="2400">
                <a:solidFill>
                  <a:srgbClr val="92D050"/>
                </a:solidFill>
                <a:latin typeface="Calibri"/>
                <a:ea typeface="Calibri"/>
                <a:cs typeface="Calibri"/>
                <a:sym typeface="Calibri"/>
              </a:rPr>
              <a:t>shoulder surfing</a:t>
            </a:r>
            <a:r>
              <a:rPr lang="en-GB" sz="24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It is surprisingly easy for someone to look over your shoulder as you enter your password. This is why you should be especially careful entering passwords into your devices in public places.</a:t>
            </a:r>
            <a:endParaRPr/>
          </a:p>
        </p:txBody>
      </p:sp>
      <p:pic>
        <p:nvPicPr>
          <p:cNvPr id="165" name="Google Shape;165;p26"/>
          <p:cNvPicPr preferRelativeResize="0"/>
          <p:nvPr/>
        </p:nvPicPr>
        <p:blipFill rotWithShape="1">
          <a:blip r:embed="rId3">
            <a:alphaModFix/>
          </a:blip>
          <a:srcRect b="0" l="0" r="0" t="15238"/>
          <a:stretch/>
        </p:blipFill>
        <p:spPr>
          <a:xfrm>
            <a:off x="6938649" y="1762196"/>
            <a:ext cx="3583577" cy="45562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1600200" y="844826"/>
            <a:ext cx="9760226"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What else can an organisation do to make sure passwords are safe and secure?</a:t>
            </a:r>
            <a:endParaRPr/>
          </a:p>
        </p:txBody>
      </p:sp>
      <p:sp>
        <p:nvSpPr>
          <p:cNvPr id="171" name="Google Shape;171;p27"/>
          <p:cNvSpPr/>
          <p:nvPr/>
        </p:nvSpPr>
        <p:spPr>
          <a:xfrm>
            <a:off x="1600200" y="1960892"/>
            <a:ext cx="9085312" cy="45243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An organisation can establish a </a:t>
            </a:r>
            <a:r>
              <a:rPr b="1" lang="en-GB" sz="2400">
                <a:solidFill>
                  <a:srgbClr val="92D050"/>
                </a:solidFill>
                <a:latin typeface="Calibri"/>
                <a:ea typeface="Calibri"/>
                <a:cs typeface="Calibri"/>
                <a:sym typeface="Calibri"/>
              </a:rPr>
              <a:t>password policy</a:t>
            </a:r>
            <a:r>
              <a:rPr lang="en-GB" sz="24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This is a set of rules for passwords, that everyone in the organisation has to follow.</a:t>
            </a:r>
            <a:r>
              <a:rPr b="1" lang="en-GB" sz="2400">
                <a:solidFill>
                  <a:srgbClr val="92D050"/>
                </a:solidFill>
                <a:latin typeface="Calibri"/>
                <a:ea typeface="Calibri"/>
                <a:cs typeface="Calibri"/>
                <a:sym typeface="Calibri"/>
              </a:rPr>
              <a:t> </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Here are some rules that many organisations have:</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Passwords must be a minimum length.</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Password must contain a mixture of upper-case and lower-case letters, digits and special characters.</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There is a time limit on each password and users are forced to change their password frequently. This means that, even if a password is compromised, it will be changed shortly.</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These rules can make passwords hard to remember, so there isn't a perfect solution.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1570382" y="834887"/>
            <a:ext cx="10296940" cy="85580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2.2: Password policy</a:t>
            </a:r>
            <a:endParaRPr/>
          </a:p>
        </p:txBody>
      </p:sp>
      <p:sp>
        <p:nvSpPr>
          <p:cNvPr id="177" name="Google Shape;177;p28"/>
          <p:cNvSpPr/>
          <p:nvPr/>
        </p:nvSpPr>
        <p:spPr>
          <a:xfrm>
            <a:off x="6820247" y="3056773"/>
            <a:ext cx="4187687"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Using everything you know about password security and shoulder surfing, devise a password policy for the International Space Organisation.</a:t>
            </a:r>
            <a:endParaRPr sz="2400">
              <a:solidFill>
                <a:schemeClr val="dk1"/>
              </a:solidFill>
              <a:latin typeface="Calibri"/>
              <a:ea typeface="Calibri"/>
              <a:cs typeface="Calibri"/>
              <a:sym typeface="Calibri"/>
            </a:endParaRPr>
          </a:p>
        </p:txBody>
      </p:sp>
      <p:pic>
        <p:nvPicPr>
          <p:cNvPr descr="A picture containing athletic game, basketball, sport&#10;&#10;Description automatically generated" id="178" name="Google Shape;178;p28"/>
          <p:cNvPicPr preferRelativeResize="0"/>
          <p:nvPr/>
        </p:nvPicPr>
        <p:blipFill rotWithShape="1">
          <a:blip r:embed="rId3">
            <a:alphaModFix/>
          </a:blip>
          <a:srcRect b="0" l="0" r="0" t="0"/>
          <a:stretch/>
        </p:blipFill>
        <p:spPr>
          <a:xfrm>
            <a:off x="1559223" y="1988397"/>
            <a:ext cx="4536777" cy="44450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1600200" y="844826"/>
            <a:ext cx="9760226"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What do you know about phishing?</a:t>
            </a:r>
            <a:endParaRPr/>
          </a:p>
        </p:txBody>
      </p:sp>
      <p:sp>
        <p:nvSpPr>
          <p:cNvPr id="184" name="Google Shape;184;p29"/>
          <p:cNvSpPr/>
          <p:nvPr/>
        </p:nvSpPr>
        <p:spPr>
          <a:xfrm>
            <a:off x="1600200" y="1899934"/>
            <a:ext cx="5149037" cy="341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2400">
                <a:solidFill>
                  <a:srgbClr val="92D050"/>
                </a:solidFill>
                <a:latin typeface="Calibri"/>
                <a:ea typeface="Calibri"/>
                <a:cs typeface="Calibri"/>
                <a:sym typeface="Calibri"/>
              </a:rPr>
              <a:t>Phishing</a:t>
            </a:r>
            <a:r>
              <a:rPr lang="en-GB" sz="2400">
                <a:solidFill>
                  <a:schemeClr val="dk1"/>
                </a:solidFill>
                <a:latin typeface="Calibri"/>
                <a:ea typeface="Calibri"/>
                <a:cs typeface="Calibri"/>
                <a:sym typeface="Calibri"/>
              </a:rPr>
              <a:t> is a common scam.</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Someone sends you an email that pretends to be from a legitimate source, such as a bank or a big trusted company like Amazon or BT. The emails usually use a pressure tactic, for example, threatening to close your account, and contain a </a:t>
            </a:r>
            <a:r>
              <a:rPr b="1" lang="en-GB" sz="2400">
                <a:solidFill>
                  <a:srgbClr val="92D050"/>
                </a:solidFill>
                <a:latin typeface="Calibri"/>
                <a:ea typeface="Calibri"/>
                <a:cs typeface="Calibri"/>
                <a:sym typeface="Calibri"/>
              </a:rPr>
              <a:t>hyperlink</a:t>
            </a:r>
            <a:r>
              <a:rPr lang="en-GB" sz="2400">
                <a:solidFill>
                  <a:schemeClr val="dk1"/>
                </a:solidFill>
                <a:latin typeface="Calibri"/>
                <a:ea typeface="Calibri"/>
                <a:cs typeface="Calibri"/>
                <a:sym typeface="Calibri"/>
              </a:rPr>
              <a:t> for the user to click on.</a:t>
            </a:r>
            <a:endParaRPr/>
          </a:p>
        </p:txBody>
      </p:sp>
      <p:pic>
        <p:nvPicPr>
          <p:cNvPr descr="A picture containing water, boat, sky, outdoor&#10;&#10;Description automatically generated" id="185" name="Google Shape;185;p29"/>
          <p:cNvPicPr preferRelativeResize="0"/>
          <p:nvPr/>
        </p:nvPicPr>
        <p:blipFill rotWithShape="1">
          <a:blip r:embed="rId3">
            <a:alphaModFix/>
          </a:blip>
          <a:srcRect b="0" l="0" r="0" t="0"/>
          <a:stretch/>
        </p:blipFill>
        <p:spPr>
          <a:xfrm>
            <a:off x="7010400" y="1899934"/>
            <a:ext cx="4595837" cy="3058132"/>
          </a:xfrm>
          <a:prstGeom prst="rect">
            <a:avLst/>
          </a:prstGeom>
          <a:noFill/>
          <a:ln>
            <a:noFill/>
          </a:ln>
        </p:spPr>
      </p:pic>
      <p:sp>
        <p:nvSpPr>
          <p:cNvPr id="186" name="Google Shape;186;p29"/>
          <p:cNvSpPr/>
          <p:nvPr/>
        </p:nvSpPr>
        <p:spPr>
          <a:xfrm>
            <a:off x="1600200" y="5167312"/>
            <a:ext cx="9512032"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This hyperlink will take you to a fake website that looks real, where you will be asked to log in. The scammers have now discovered your password and can use it to log in to your real account.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1600200" y="844826"/>
            <a:ext cx="9760226" cy="8458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How do you spot a phishing email?</a:t>
            </a:r>
            <a:endParaRPr/>
          </a:p>
        </p:txBody>
      </p:sp>
      <p:sp>
        <p:nvSpPr>
          <p:cNvPr id="192" name="Google Shape;192;p30"/>
          <p:cNvSpPr/>
          <p:nvPr/>
        </p:nvSpPr>
        <p:spPr>
          <a:xfrm>
            <a:off x="1600200" y="1795076"/>
            <a:ext cx="8517835" cy="40934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Common features of phishing emails include:</a:t>
            </a:r>
            <a:endParaRPr/>
          </a:p>
          <a:p>
            <a:pPr indent="-342900" lvl="0" marL="342900" marR="0" rtl="0" algn="l">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a generic greeting, when the real company knows your name</a:t>
            </a:r>
            <a:endParaRPr/>
          </a:p>
          <a:p>
            <a:pPr indent="-342900" lvl="0" marL="342900" marR="0" rtl="0" algn="l">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spelling and grammar mistakes</a:t>
            </a:r>
            <a:endParaRPr/>
          </a:p>
          <a:p>
            <a:pPr indent="-342900" lvl="0" marL="342900" marR="0" rtl="0" algn="l">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a suspicious email address; the email has obviously not come from the real company</a:t>
            </a:r>
            <a:endParaRPr/>
          </a:p>
          <a:p>
            <a:pPr indent="-342900" lvl="0" marL="342900" marR="0" rtl="0" algn="l">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high pressure tactics; for example, telling you that your account will be closed unless you click on the hyperlink</a:t>
            </a:r>
            <a:endParaRPr/>
          </a:p>
          <a:p>
            <a:pPr indent="-342900" lvl="0" marL="342900" marR="0" rtl="0" algn="l">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exploiting greed; for example, offering you a free iPhone if you click on the hyperlink</a:t>
            </a:r>
            <a:endParaRPr/>
          </a:p>
          <a:p>
            <a:pPr indent="-342900" lvl="0" marL="342900" marR="0" rtl="0" algn="l">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a hyperlink to click on, which may look legitimate but hovering over shows that it will not take you to the real company.</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2000">
                <a:solidFill>
                  <a:schemeClr val="dk1"/>
                </a:solidFill>
                <a:latin typeface="Calibri"/>
                <a:ea typeface="Calibri"/>
                <a:cs typeface="Calibri"/>
                <a:sym typeface="Calibri"/>
              </a:rPr>
              <a:t>If you suspect an email is a phishing email, ignore it. DO NOT click on the link.</a:t>
            </a:r>
            <a:endParaRPr sz="2000">
              <a:solidFill>
                <a:schemeClr val="dk1"/>
              </a:solidFill>
              <a:latin typeface="Calibri"/>
              <a:ea typeface="Calibri"/>
              <a:cs typeface="Calibri"/>
              <a:sym typeface="Calibri"/>
            </a:endParaRPr>
          </a:p>
        </p:txBody>
      </p:sp>
      <p:sp>
        <p:nvSpPr>
          <p:cNvPr id="193" name="Google Shape;193;p30"/>
          <p:cNvSpPr/>
          <p:nvPr/>
        </p:nvSpPr>
        <p:spPr>
          <a:xfrm>
            <a:off x="4072272" y="5888504"/>
            <a:ext cx="4047455"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Now watch Animation 2.1.</a:t>
            </a:r>
            <a:endParaRPr sz="2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animEffect filter="fade" transition="in">
                                      <p:cBhvr>
                                        <p:cTn dur="500"/>
                                        <p:tgtEl>
                                          <p:spTgt spid="19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1570382" y="834887"/>
            <a:ext cx="10296940" cy="85580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2.3: Phishing or genuine?</a:t>
            </a:r>
            <a:endParaRPr/>
          </a:p>
        </p:txBody>
      </p:sp>
      <p:pic>
        <p:nvPicPr>
          <p:cNvPr descr="A picture containing athletic game, basketball, sport&#10;&#10;Description automatically generated" id="199" name="Google Shape;199;p31"/>
          <p:cNvPicPr preferRelativeResize="0"/>
          <p:nvPr/>
        </p:nvPicPr>
        <p:blipFill rotWithShape="1">
          <a:blip r:embed="rId3">
            <a:alphaModFix/>
          </a:blip>
          <a:srcRect b="0" l="0" r="0" t="0"/>
          <a:stretch/>
        </p:blipFill>
        <p:spPr>
          <a:xfrm>
            <a:off x="3827611" y="1947016"/>
            <a:ext cx="4536777" cy="44450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type="title"/>
          </p:nvPr>
        </p:nvSpPr>
        <p:spPr>
          <a:xfrm>
            <a:off x="1570382" y="834887"/>
            <a:ext cx="10296940" cy="85580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2</a:t>
            </a:r>
            <a:endParaRPr/>
          </a:p>
        </p:txBody>
      </p:sp>
      <p:pic>
        <p:nvPicPr>
          <p:cNvPr descr="A picture containing athletic game, basketball, sport&#10;&#10;Description automatically generated" id="205" name="Google Shape;205;p32"/>
          <p:cNvPicPr preferRelativeResize="0"/>
          <p:nvPr/>
        </p:nvPicPr>
        <p:blipFill rotWithShape="1">
          <a:blip r:embed="rId3">
            <a:alphaModFix/>
          </a:blip>
          <a:srcRect b="0" l="0" r="0" t="0"/>
          <a:stretch/>
        </p:blipFill>
        <p:spPr>
          <a:xfrm>
            <a:off x="3827611" y="1947016"/>
            <a:ext cx="4536777" cy="44450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