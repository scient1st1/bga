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78" name="Google Shape;78;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5" name="Google Shape;85;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91" name="Google Shape;91;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98" name="Google Shape;98;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5" name="Google Shape;105;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11" name="Google Shape;111;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18" name="Google Shape;118;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4" name="Google Shape;124;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31" name="Google Shape;131;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38" name="Google Shape;138;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45" name="Google Shape;145;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52" name="Google Shape;152;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58" name="Google Shape;158;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4" name="Google Shape;164;p1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71" name="Google Shape;171;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
        <p:nvSpPr>
          <p:cNvPr id="11" name="Google Shape;11;p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 name="Google Shape;12;p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3" name="Shape 13"/>
        <p:cNvGrpSpPr/>
        <p:nvPr/>
      </p:nvGrpSpPr>
      <p:grpSpPr>
        <a:xfrm>
          <a:off x="0" y="0"/>
          <a:ext cx="0" cy="0"/>
          <a:chOff x="0" y="0"/>
          <a:chExt cx="0" cy="0"/>
        </a:xfrm>
      </p:grpSpPr>
      <p:sp>
        <p:nvSpPr>
          <p:cNvPr id="14" name="Google Shape;14;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 name="Google Shape;15;p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6" name="Google Shape;16;p3"/>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7" name="Google Shape;17;p3"/>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8" name="Google Shape;18;p3"/>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9" name="Shape 19"/>
        <p:cNvGrpSpPr/>
        <p:nvPr/>
      </p:nvGrpSpPr>
      <p:grpSpPr>
        <a:xfrm>
          <a:off x="0" y="0"/>
          <a:ext cx="0" cy="0"/>
          <a:chOff x="0" y="0"/>
          <a:chExt cx="0" cy="0"/>
        </a:xfrm>
      </p:grpSpPr>
      <p:sp>
        <p:nvSpPr>
          <p:cNvPr id="20" name="Google Shape;20;p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p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22" name="Google Shape;22;p4"/>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23" name="Google Shape;23;p4"/>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24" name="Google Shape;24;p4"/>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5" name="Shape 25"/>
        <p:cNvGrpSpPr/>
        <p:nvPr/>
      </p:nvGrpSpPr>
      <p:grpSpPr>
        <a:xfrm>
          <a:off x="0" y="0"/>
          <a:ext cx="0" cy="0"/>
          <a:chOff x="0" y="0"/>
          <a:chExt cx="0" cy="0"/>
        </a:xfrm>
      </p:grpSpPr>
      <p:sp>
        <p:nvSpPr>
          <p:cNvPr id="26" name="Google Shape;26;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7" name="Google Shape;27;p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8" name="Google Shape;28;p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5"/>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30" name="Google Shape;30;p5"/>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31" name="Google Shape;31;p5"/>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2" name="Shape 32"/>
        <p:cNvGrpSpPr/>
        <p:nvPr/>
      </p:nvGrpSpPr>
      <p:grpSpPr>
        <a:xfrm>
          <a:off x="0" y="0"/>
          <a:ext cx="0" cy="0"/>
          <a:chOff x="0" y="0"/>
          <a:chExt cx="0" cy="0"/>
        </a:xfrm>
      </p:grpSpPr>
      <p:sp>
        <p:nvSpPr>
          <p:cNvPr id="33" name="Google Shape;33;p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4" name="Google Shape;34;p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5" name="Google Shape;35;p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 name="Google Shape;36;p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7" name="Google Shape;37;p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 name="Google Shape;38;p6"/>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39" name="Google Shape;39;p6"/>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0" name="Google Shape;40;p6"/>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1" name="Shape 41"/>
        <p:cNvGrpSpPr/>
        <p:nvPr/>
      </p:nvGrpSpPr>
      <p:grpSpPr>
        <a:xfrm>
          <a:off x="0" y="0"/>
          <a:ext cx="0" cy="0"/>
          <a:chOff x="0" y="0"/>
          <a:chExt cx="0" cy="0"/>
        </a:xfrm>
      </p:grpSpPr>
      <p:sp>
        <p:nvSpPr>
          <p:cNvPr id="42" name="Google Shape;42;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4" name="Google Shape;44;p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5" name="Google Shape;45;p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6" name="Shape 46"/>
        <p:cNvGrpSpPr/>
        <p:nvPr/>
      </p:nvGrpSpPr>
      <p:grpSpPr>
        <a:xfrm>
          <a:off x="0" y="0"/>
          <a:ext cx="0" cy="0"/>
          <a:chOff x="0" y="0"/>
          <a:chExt cx="0" cy="0"/>
        </a:xfrm>
      </p:grpSpPr>
      <p:sp>
        <p:nvSpPr>
          <p:cNvPr id="47" name="Google Shape;47;p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8" name="Google Shape;48;p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9" name="Google Shape;49;p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0" name="Shape 50"/>
        <p:cNvGrpSpPr/>
        <p:nvPr/>
      </p:nvGrpSpPr>
      <p:grpSpPr>
        <a:xfrm>
          <a:off x="0" y="0"/>
          <a:ext cx="0" cy="0"/>
          <a:chOff x="0" y="0"/>
          <a:chExt cx="0" cy="0"/>
        </a:xfrm>
      </p:grpSpPr>
      <p:sp>
        <p:nvSpPr>
          <p:cNvPr id="51" name="Google Shape;51;p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3" name="Google Shape;53;p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4" name="Google Shape;54;p9"/>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5" name="Google Shape;55;p9"/>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6" name="Google Shape;56;p9"/>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57" name="Shape 57"/>
        <p:cNvGrpSpPr/>
        <p:nvPr/>
      </p:nvGrpSpPr>
      <p:grpSpPr>
        <a:xfrm>
          <a:off x="0" y="0"/>
          <a:ext cx="0" cy="0"/>
          <a:chOff x="0" y="0"/>
          <a:chExt cx="0" cy="0"/>
        </a:xfrm>
      </p:grpSpPr>
      <p:sp>
        <p:nvSpPr>
          <p:cNvPr id="58" name="Google Shape;58;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10"/>
          <p:cNvSpPr/>
          <p:nvPr>
            <p:ph idx="2" type="pic"/>
          </p:nvPr>
        </p:nvSpPr>
        <p:spPr>
          <a:xfrm>
            <a:off x="5183188" y="987425"/>
            <a:ext cx="6172200" cy="4873625"/>
          </a:xfrm>
          <a:prstGeom prst="rect">
            <a:avLst/>
          </a:prstGeom>
          <a:noFill/>
          <a:ln>
            <a:noFill/>
          </a:ln>
        </p:spPr>
      </p:sp>
      <p:sp>
        <p:nvSpPr>
          <p:cNvPr id="60" name="Google Shape;60;p1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1" name="Google Shape;61;p10"/>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62" name="Google Shape;62;p10"/>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63" name="Google Shape;63;p10"/>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4" name="Shape 64"/>
        <p:cNvGrpSpPr/>
        <p:nvPr/>
      </p:nvGrpSpPr>
      <p:grpSpPr>
        <a:xfrm>
          <a:off x="0" y="0"/>
          <a:ext cx="0" cy="0"/>
          <a:chOff x="0" y="0"/>
          <a:chExt cx="0" cy="0"/>
        </a:xfrm>
      </p:grpSpPr>
      <p:sp>
        <p:nvSpPr>
          <p:cNvPr id="65" name="Google Shape;65;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7" name="Google Shape;67;p11"/>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68" name="Google Shape;68;p11"/>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69" name="Google Shape;69;p11"/>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0" name="Shape 70"/>
        <p:cNvGrpSpPr/>
        <p:nvPr/>
      </p:nvGrpSpPr>
      <p:grpSpPr>
        <a:xfrm>
          <a:off x="0" y="0"/>
          <a:ext cx="0" cy="0"/>
          <a:chOff x="0" y="0"/>
          <a:chExt cx="0" cy="0"/>
        </a:xfrm>
      </p:grpSpPr>
      <p:sp>
        <p:nvSpPr>
          <p:cNvPr id="71" name="Google Shape;71;p1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1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3" name="Google Shape;73;p12"/>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74" name="Google Shape;74;p12"/>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75" name="Google Shape;75;p12"/>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1.xml"/><Relationship Id="rId12" Type="http://schemas.openxmlformats.org/officeDocument/2006/relationships/slideLayout" Target="../slideLayouts/slideLayout11.xml"/><Relationship Id="rId1" Type="http://schemas.openxmlformats.org/officeDocument/2006/relationships/image" Target="../media/image2.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
          <p:cNvSpPr txBox="1"/>
          <p:nvPr/>
        </p:nvSpPr>
        <p:spPr>
          <a:xfrm>
            <a:off x="7547114" y="6380197"/>
            <a:ext cx="4114800" cy="365125"/>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r>
              <a:rPr b="0" i="0" lang="en-GB" sz="1200" u="none" cap="none" strike="noStrike">
                <a:solidFill>
                  <a:schemeClr val="dk1"/>
                </a:solidFill>
                <a:latin typeface="Calibri"/>
                <a:ea typeface="Calibri"/>
                <a:cs typeface="Calibri"/>
                <a:sym typeface="Calibri"/>
              </a:rPr>
              <a:t>© Hodder &amp; Stoughton Limited 2021</a:t>
            </a:r>
            <a:endParaRPr b="0" i="0" sz="1400" u="none" cap="none" strike="noStrike">
              <a:solidFill>
                <a:srgbClr val="000000"/>
              </a:solidFill>
              <a:latin typeface="Arial"/>
              <a:ea typeface="Arial"/>
              <a:cs typeface="Arial"/>
              <a:sym typeface="Arial"/>
            </a:endParaRPr>
          </a:p>
        </p:txBody>
      </p:sp>
      <p:pic>
        <p:nvPicPr>
          <p:cNvPr descr="Shape, rectangle&#10;&#10;Description automatically generated" id="9" name="Google Shape;9;p1"/>
          <p:cNvPicPr preferRelativeResize="0"/>
          <p:nvPr/>
        </p:nvPicPr>
        <p:blipFill rotWithShape="1">
          <a:blip r:embed="rId1">
            <a:alphaModFix/>
          </a:blip>
          <a:srcRect b="0" l="0" r="0" t="0"/>
          <a:stretch/>
        </p:blipFill>
        <p:spPr>
          <a:xfrm>
            <a:off x="0" y="0"/>
            <a:ext cx="12192000" cy="1695610"/>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8.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9.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3"/>
          <p:cNvSpPr txBox="1"/>
          <p:nvPr>
            <p:ph type="ctrTitle"/>
          </p:nvPr>
        </p:nvSpPr>
        <p:spPr>
          <a:xfrm>
            <a:off x="1646583" y="2929767"/>
            <a:ext cx="9920500" cy="915850"/>
          </a:xfrm>
          <a:prstGeom prst="rect">
            <a:avLst/>
          </a:prstGeom>
          <a:noFill/>
          <a:ln>
            <a:noFill/>
          </a:ln>
        </p:spPr>
        <p:txBody>
          <a:bodyPr anchorCtr="0" anchor="b" bIns="45700" lIns="91425" spcFirstLastPara="1" rIns="91425" wrap="square" tIns="45700">
            <a:normAutofit fontScale="90000"/>
          </a:bodyPr>
          <a:lstStyle/>
          <a:p>
            <a:pPr indent="0" lvl="0" marL="0" rtl="0" algn="l">
              <a:lnSpc>
                <a:spcPct val="90000"/>
              </a:lnSpc>
              <a:spcBef>
                <a:spcPts val="0"/>
              </a:spcBef>
              <a:spcAft>
                <a:spcPts val="0"/>
              </a:spcAft>
              <a:buClr>
                <a:schemeClr val="dk1"/>
              </a:buClr>
              <a:buSzPct val="100000"/>
              <a:buFont typeface="Calibri"/>
              <a:buNone/>
            </a:pPr>
            <a:r>
              <a:rPr b="1" lang="en-GB"/>
              <a:t>Internet safety, cyber security</a:t>
            </a:r>
            <a:br>
              <a:rPr b="1" lang="en-GB"/>
            </a:br>
            <a:r>
              <a:rPr b="1" lang="en-GB"/>
              <a:t>and encryption</a:t>
            </a:r>
            <a:endParaRPr/>
          </a:p>
        </p:txBody>
      </p:sp>
      <p:sp>
        <p:nvSpPr>
          <p:cNvPr id="81" name="Google Shape;81;p13"/>
          <p:cNvSpPr/>
          <p:nvPr/>
        </p:nvSpPr>
        <p:spPr>
          <a:xfrm>
            <a:off x="4636690" y="3928233"/>
            <a:ext cx="2166747" cy="707886"/>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00"/>
              <a:buFont typeface="Arial"/>
              <a:buNone/>
            </a:pPr>
            <a:r>
              <a:rPr b="1" i="0" lang="en-GB" sz="2000" u="none" cap="none" strike="noStrike">
                <a:solidFill>
                  <a:schemeClr val="accent6"/>
                </a:solidFill>
                <a:latin typeface="Calibri"/>
                <a:ea typeface="Calibri"/>
                <a:cs typeface="Calibri"/>
                <a:sym typeface="Calibri"/>
              </a:rPr>
              <a:t>Lesson 3: Malware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chemeClr val="accent6"/>
              </a:solidFill>
              <a:latin typeface="Calibri"/>
              <a:ea typeface="Calibri"/>
              <a:cs typeface="Calibri"/>
              <a:sym typeface="Calibri"/>
            </a:endParaRPr>
          </a:p>
        </p:txBody>
      </p:sp>
      <p:pic>
        <p:nvPicPr>
          <p:cNvPr id="82" name="Google Shape;82;p13"/>
          <p:cNvPicPr preferRelativeResize="0"/>
          <p:nvPr/>
        </p:nvPicPr>
        <p:blipFill rotWithShape="1">
          <a:blip r:embed="rId3">
            <a:alphaModFix/>
          </a:blip>
          <a:srcRect b="0" l="0" r="0" t="0"/>
          <a:stretch/>
        </p:blipFill>
        <p:spPr>
          <a:xfrm>
            <a:off x="8629671" y="3429000"/>
            <a:ext cx="2937412" cy="2443927"/>
          </a:xfrm>
          <a:prstGeom prst="rect">
            <a:avLst/>
          </a:prstGeom>
          <a:noFill/>
          <a:ln>
            <a:noFill/>
          </a:ln>
          <a:effectLst>
            <a:outerShdw blurRad="50800" rotWithShape="0" algn="tl" dir="2700000" dist="38100">
              <a:srgbClr val="000000">
                <a:alpha val="4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14"/>
          <p:cNvSpPr txBox="1"/>
          <p:nvPr>
            <p:ph type="title"/>
          </p:nvPr>
        </p:nvSpPr>
        <p:spPr>
          <a:xfrm>
            <a:off x="1545483" y="824947"/>
            <a:ext cx="9634330" cy="76634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Objectives</a:t>
            </a:r>
            <a:endParaRPr/>
          </a:p>
        </p:txBody>
      </p:sp>
      <p:sp>
        <p:nvSpPr>
          <p:cNvPr id="88" name="Google Shape;88;p14"/>
          <p:cNvSpPr/>
          <p:nvPr/>
        </p:nvSpPr>
        <p:spPr>
          <a:xfrm>
            <a:off x="1545483" y="2066398"/>
            <a:ext cx="8950239" cy="2739211"/>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200"/>
              <a:buFont typeface="Arial"/>
              <a:buNone/>
            </a:pPr>
            <a:r>
              <a:rPr b="0" i="0" lang="en-GB" sz="3200" u="none" cap="none" strike="noStrike">
                <a:solidFill>
                  <a:schemeClr val="dk1"/>
                </a:solidFill>
                <a:latin typeface="Calibri"/>
                <a:ea typeface="Calibri"/>
                <a:cs typeface="Calibri"/>
                <a:sym typeface="Calibri"/>
              </a:rPr>
              <a:t>In this lesson, you will learn:</a:t>
            </a:r>
            <a:endParaRPr b="0" i="0" sz="1400" u="none" cap="none" strike="noStrike">
              <a:solidFill>
                <a:srgbClr val="000000"/>
              </a:solidFill>
              <a:latin typeface="Arial"/>
              <a:ea typeface="Arial"/>
              <a:cs typeface="Arial"/>
              <a:sym typeface="Arial"/>
            </a:endParaRPr>
          </a:p>
          <a:p>
            <a:pPr indent="-342900" lvl="0" marL="342900" marR="0" rtl="0" algn="l">
              <a:lnSpc>
                <a:spcPct val="100000"/>
              </a:lnSpc>
              <a:spcBef>
                <a:spcPts val="0"/>
              </a:spcBef>
              <a:spcAft>
                <a:spcPts val="0"/>
              </a:spcAft>
              <a:buClr>
                <a:schemeClr val="dk1"/>
              </a:buClr>
              <a:buSzPts val="2800"/>
              <a:buFont typeface="Noto Sans Symbols"/>
              <a:buChar char="∙"/>
            </a:pPr>
            <a:r>
              <a:rPr b="0" i="0" lang="en-GB" sz="2800" u="none" cap="none" strike="noStrike">
                <a:solidFill>
                  <a:schemeClr val="dk1"/>
                </a:solidFill>
                <a:latin typeface="Calibri"/>
                <a:ea typeface="Calibri"/>
                <a:cs typeface="Calibri"/>
                <a:sym typeface="Calibri"/>
              </a:rPr>
              <a:t>the names of different types of malware</a:t>
            </a:r>
            <a:endParaRPr b="0" i="0" sz="1400" u="none" cap="none" strike="noStrike">
              <a:solidFill>
                <a:srgbClr val="000000"/>
              </a:solidFill>
              <a:latin typeface="Arial"/>
              <a:ea typeface="Arial"/>
              <a:cs typeface="Arial"/>
              <a:sym typeface="Arial"/>
            </a:endParaRPr>
          </a:p>
          <a:p>
            <a:pPr indent="-342900" lvl="0" marL="342900" marR="0" rtl="0" algn="l">
              <a:lnSpc>
                <a:spcPct val="100000"/>
              </a:lnSpc>
              <a:spcBef>
                <a:spcPts val="0"/>
              </a:spcBef>
              <a:spcAft>
                <a:spcPts val="0"/>
              </a:spcAft>
              <a:buClr>
                <a:schemeClr val="dk1"/>
              </a:buClr>
              <a:buSzPts val="2800"/>
              <a:buFont typeface="Noto Sans Symbols"/>
              <a:buChar char="∙"/>
            </a:pPr>
            <a:r>
              <a:rPr b="0" i="0" lang="en-GB" sz="2800" u="none" cap="none" strike="noStrike">
                <a:solidFill>
                  <a:schemeClr val="dk1"/>
                </a:solidFill>
                <a:latin typeface="Calibri"/>
                <a:ea typeface="Calibri"/>
                <a:cs typeface="Calibri"/>
                <a:sym typeface="Calibri"/>
              </a:rPr>
              <a:t>how different types of malware work</a:t>
            </a:r>
            <a:endParaRPr b="0" i="0" sz="1400" u="none" cap="none" strike="noStrike">
              <a:solidFill>
                <a:srgbClr val="000000"/>
              </a:solidFill>
              <a:latin typeface="Arial"/>
              <a:ea typeface="Arial"/>
              <a:cs typeface="Arial"/>
              <a:sym typeface="Arial"/>
            </a:endParaRPr>
          </a:p>
          <a:p>
            <a:pPr indent="-342900" lvl="0" marL="342900" marR="0" rtl="0" algn="l">
              <a:lnSpc>
                <a:spcPct val="100000"/>
              </a:lnSpc>
              <a:spcBef>
                <a:spcPts val="0"/>
              </a:spcBef>
              <a:spcAft>
                <a:spcPts val="0"/>
              </a:spcAft>
              <a:buClr>
                <a:schemeClr val="dk1"/>
              </a:buClr>
              <a:buSzPts val="2800"/>
              <a:buFont typeface="Noto Sans Symbols"/>
              <a:buChar char="∙"/>
            </a:pPr>
            <a:r>
              <a:rPr b="0" i="0" lang="en-GB" sz="2800" u="none" cap="none" strike="noStrike">
                <a:solidFill>
                  <a:schemeClr val="dk1"/>
                </a:solidFill>
                <a:latin typeface="Calibri"/>
                <a:ea typeface="Calibri"/>
                <a:cs typeface="Calibri"/>
                <a:sym typeface="Calibri"/>
              </a:rPr>
              <a:t>what software can be used to protect computer systems from malware</a:t>
            </a:r>
            <a:endParaRPr b="0" i="0" sz="1400" u="none" cap="none" strike="noStrike">
              <a:solidFill>
                <a:srgbClr val="000000"/>
              </a:solidFill>
              <a:latin typeface="Arial"/>
              <a:ea typeface="Arial"/>
              <a:cs typeface="Arial"/>
              <a:sym typeface="Arial"/>
            </a:endParaRPr>
          </a:p>
          <a:p>
            <a:pPr indent="-342900" lvl="0" marL="342900" marR="0" rtl="0" algn="l">
              <a:lnSpc>
                <a:spcPct val="100000"/>
              </a:lnSpc>
              <a:spcBef>
                <a:spcPts val="0"/>
              </a:spcBef>
              <a:spcAft>
                <a:spcPts val="0"/>
              </a:spcAft>
              <a:buClr>
                <a:schemeClr val="dk1"/>
              </a:buClr>
              <a:buSzPts val="2800"/>
              <a:buFont typeface="Noto Sans Symbols"/>
              <a:buChar char="∙"/>
            </a:pPr>
            <a:r>
              <a:rPr b="0" i="0" lang="en-GB" sz="2800" u="none" cap="none" strike="noStrike">
                <a:solidFill>
                  <a:schemeClr val="dk1"/>
                </a:solidFill>
                <a:latin typeface="Calibri"/>
                <a:ea typeface="Calibri"/>
                <a:cs typeface="Calibri"/>
                <a:sym typeface="Calibri"/>
              </a:rPr>
              <a:t>how to match protective measures to threats.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5"/>
          <p:cNvSpPr txBox="1"/>
          <p:nvPr>
            <p:ph type="title"/>
          </p:nvPr>
        </p:nvSpPr>
        <p:spPr>
          <a:xfrm>
            <a:off x="1580322" y="844826"/>
            <a:ext cx="9773478" cy="84586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Malware attack</a:t>
            </a:r>
            <a:endParaRPr/>
          </a:p>
        </p:txBody>
      </p:sp>
      <p:sp>
        <p:nvSpPr>
          <p:cNvPr id="94" name="Google Shape;94;p15"/>
          <p:cNvSpPr/>
          <p:nvPr/>
        </p:nvSpPr>
        <p:spPr>
          <a:xfrm>
            <a:off x="1580322" y="2495014"/>
            <a:ext cx="5308158" cy="304698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0" i="0" lang="en-GB" sz="2400" u="none" cap="none" strike="noStrike">
                <a:solidFill>
                  <a:schemeClr val="dk1"/>
                </a:solidFill>
                <a:latin typeface="Calibri"/>
                <a:ea typeface="Calibri"/>
                <a:cs typeface="Calibri"/>
                <a:sym typeface="Calibri"/>
              </a:rPr>
              <a:t>Some of the computers in the research lab at the International Space Organisation are playing up, and someone has suggested that there might be a computer virus involved.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400"/>
              <a:buFont typeface="Arial"/>
              <a:buNone/>
            </a:pPr>
            <a:r>
              <a:rPr b="0" i="0" lang="en-GB" sz="2400" u="none" cap="none" strike="noStrike">
                <a:solidFill>
                  <a:schemeClr val="dk1"/>
                </a:solidFill>
                <a:latin typeface="Calibri"/>
                <a:ea typeface="Calibri"/>
                <a:cs typeface="Calibri"/>
                <a:sym typeface="Calibri"/>
              </a:rPr>
              <a:t>You must use your knowledge of malware to identify the problem and prevent it from causing further damage.</a:t>
            </a:r>
            <a:endParaRPr b="0" i="0" sz="1400" u="none" cap="none" strike="noStrike">
              <a:solidFill>
                <a:srgbClr val="000000"/>
              </a:solidFill>
              <a:latin typeface="Arial"/>
              <a:ea typeface="Arial"/>
              <a:cs typeface="Arial"/>
              <a:sym typeface="Arial"/>
            </a:endParaRPr>
          </a:p>
        </p:txBody>
      </p:sp>
      <p:pic>
        <p:nvPicPr>
          <p:cNvPr descr="Diagram&#10;&#10;Description automatically generated" id="95" name="Google Shape;95;p15"/>
          <p:cNvPicPr preferRelativeResize="0"/>
          <p:nvPr/>
        </p:nvPicPr>
        <p:blipFill rotWithShape="1">
          <a:blip r:embed="rId3">
            <a:alphaModFix/>
          </a:blip>
          <a:srcRect b="0" l="0" r="0" t="0"/>
          <a:stretch/>
        </p:blipFill>
        <p:spPr>
          <a:xfrm>
            <a:off x="7091390" y="2698724"/>
            <a:ext cx="4035552" cy="2639568"/>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6"/>
          <p:cNvSpPr txBox="1"/>
          <p:nvPr>
            <p:ph type="title"/>
          </p:nvPr>
        </p:nvSpPr>
        <p:spPr>
          <a:xfrm>
            <a:off x="1620078" y="795131"/>
            <a:ext cx="9733721" cy="895558"/>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What does the word malware</a:t>
            </a:r>
            <a:r>
              <a:rPr b="1" lang="en-GB"/>
              <a:t> </a:t>
            </a:r>
            <a:r>
              <a:rPr b="1" lang="en-GB">
                <a:solidFill>
                  <a:schemeClr val="lt1"/>
                </a:solidFill>
              </a:rPr>
              <a:t>mean?</a:t>
            </a:r>
            <a:endParaRPr/>
          </a:p>
        </p:txBody>
      </p:sp>
      <p:sp>
        <p:nvSpPr>
          <p:cNvPr id="101" name="Google Shape;101;p16"/>
          <p:cNvSpPr txBox="1"/>
          <p:nvPr>
            <p:ph idx="1" type="body"/>
          </p:nvPr>
        </p:nvSpPr>
        <p:spPr>
          <a:xfrm>
            <a:off x="1489450" y="2688720"/>
            <a:ext cx="4475922" cy="2597384"/>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rgbClr val="70AD47"/>
              </a:buClr>
              <a:buSzPts val="2400"/>
              <a:buNone/>
            </a:pPr>
            <a:r>
              <a:rPr b="1" lang="en-GB" sz="2400">
                <a:solidFill>
                  <a:srgbClr val="70AD47"/>
                </a:solidFill>
              </a:rPr>
              <a:t>Malware</a:t>
            </a:r>
            <a:r>
              <a:rPr lang="en-GB" sz="2400"/>
              <a:t> comes from the words </a:t>
            </a:r>
            <a:r>
              <a:rPr b="1" lang="en-GB" sz="2400"/>
              <a:t>mal</a:t>
            </a:r>
            <a:r>
              <a:rPr lang="en-GB" sz="2400"/>
              <a:t>icious (meaning ‘bad’) and soft</a:t>
            </a:r>
            <a:r>
              <a:rPr b="1" lang="en-GB" sz="2400"/>
              <a:t>ware</a:t>
            </a:r>
            <a:r>
              <a:rPr lang="en-GB" sz="2400"/>
              <a:t> (meaning ‘computer programs’).</a:t>
            </a:r>
            <a:endParaRPr/>
          </a:p>
          <a:p>
            <a:pPr indent="0" lvl="0" marL="0" rtl="0" algn="l">
              <a:lnSpc>
                <a:spcPct val="90000"/>
              </a:lnSpc>
              <a:spcBef>
                <a:spcPts val="1000"/>
              </a:spcBef>
              <a:spcAft>
                <a:spcPts val="0"/>
              </a:spcAft>
              <a:buClr>
                <a:schemeClr val="dk1"/>
              </a:buClr>
              <a:buSzPts val="2400"/>
              <a:buNone/>
            </a:pPr>
            <a:r>
              <a:rPr lang="en-GB" sz="2400"/>
              <a:t>‘Malware’ is used to describe computer programs designed to do something bad.</a:t>
            </a:r>
            <a:endParaRPr/>
          </a:p>
        </p:txBody>
      </p:sp>
      <p:pic>
        <p:nvPicPr>
          <p:cNvPr descr="Text&#10;&#10;Description automatically generated" id="102" name="Google Shape;102;p16"/>
          <p:cNvPicPr preferRelativeResize="0"/>
          <p:nvPr/>
        </p:nvPicPr>
        <p:blipFill rotWithShape="1">
          <a:blip r:embed="rId3">
            <a:alphaModFix/>
          </a:blip>
          <a:srcRect b="0" l="0" r="0" t="0"/>
          <a:stretch/>
        </p:blipFill>
        <p:spPr>
          <a:xfrm>
            <a:off x="6096000" y="2275753"/>
            <a:ext cx="5246479" cy="3423317"/>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7"/>
          <p:cNvSpPr txBox="1"/>
          <p:nvPr>
            <p:ph type="title"/>
          </p:nvPr>
        </p:nvSpPr>
        <p:spPr>
          <a:xfrm>
            <a:off x="1620078" y="795131"/>
            <a:ext cx="9733721" cy="895558"/>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What types of malware are there?</a:t>
            </a:r>
            <a:endParaRPr/>
          </a:p>
        </p:txBody>
      </p:sp>
      <p:sp>
        <p:nvSpPr>
          <p:cNvPr id="108" name="Google Shape;108;p17"/>
          <p:cNvSpPr txBox="1"/>
          <p:nvPr>
            <p:ph idx="1" type="body"/>
          </p:nvPr>
        </p:nvSpPr>
        <p:spPr>
          <a:xfrm>
            <a:off x="1620078" y="2270710"/>
            <a:ext cx="8754197" cy="3146022"/>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400"/>
              <a:buNone/>
            </a:pPr>
            <a:r>
              <a:rPr lang="en-GB" sz="2400"/>
              <a:t>There’s more to malware than </a:t>
            </a:r>
            <a:r>
              <a:rPr b="1" lang="en-GB" sz="2400"/>
              <a:t>viruses</a:t>
            </a:r>
            <a:r>
              <a:rPr lang="en-GB" sz="2400"/>
              <a:t>. You also need to be careful of:</a:t>
            </a:r>
            <a:endParaRPr/>
          </a:p>
          <a:p>
            <a:pPr indent="0" lvl="0" marL="0" rtl="0" algn="ctr">
              <a:lnSpc>
                <a:spcPct val="90000"/>
              </a:lnSpc>
              <a:spcBef>
                <a:spcPts val="1000"/>
              </a:spcBef>
              <a:spcAft>
                <a:spcPts val="0"/>
              </a:spcAft>
              <a:buClr>
                <a:schemeClr val="accent6"/>
              </a:buClr>
              <a:buSzPts val="2400"/>
              <a:buNone/>
            </a:pPr>
            <a:r>
              <a:rPr b="1" lang="en-GB" sz="2400">
                <a:solidFill>
                  <a:schemeClr val="accent6"/>
                </a:solidFill>
              </a:rPr>
              <a:t>trojans       worms       ransomware       </a:t>
            </a:r>
            <a:r>
              <a:rPr b="1" lang="en-GB" sz="2400">
                <a:solidFill>
                  <a:srgbClr val="70AD47"/>
                </a:solidFill>
              </a:rPr>
              <a:t>adware        </a:t>
            </a:r>
            <a:r>
              <a:rPr b="1" lang="en-GB" sz="2400">
                <a:solidFill>
                  <a:schemeClr val="accent6"/>
                </a:solidFill>
              </a:rPr>
              <a:t>spyware</a:t>
            </a:r>
            <a:endParaRPr/>
          </a:p>
          <a:p>
            <a:pPr indent="0" lvl="0" marL="0" rtl="0" algn="l">
              <a:lnSpc>
                <a:spcPct val="90000"/>
              </a:lnSpc>
              <a:spcBef>
                <a:spcPts val="1000"/>
              </a:spcBef>
              <a:spcAft>
                <a:spcPts val="0"/>
              </a:spcAft>
              <a:buClr>
                <a:schemeClr val="dk1"/>
              </a:buClr>
              <a:buSzPts val="2400"/>
              <a:buNone/>
            </a:pPr>
            <a:r>
              <a:rPr lang="en-GB" sz="2400"/>
              <a:t>Labelling all malware as ‘a virus’ is like labelling all types of glue as ‘Pritt Stick</a:t>
            </a:r>
            <a:r>
              <a:rPr baseline="30000" lang="en-GB" sz="2400"/>
              <a:t>™</a:t>
            </a:r>
            <a:r>
              <a:rPr lang="en-GB" sz="2400"/>
              <a:t>’.</a:t>
            </a:r>
            <a:endParaRPr/>
          </a:p>
          <a:p>
            <a:pPr indent="0" lvl="0" marL="0" rtl="0" algn="l">
              <a:lnSpc>
                <a:spcPct val="90000"/>
              </a:lnSpc>
              <a:spcBef>
                <a:spcPts val="1000"/>
              </a:spcBef>
              <a:spcAft>
                <a:spcPts val="0"/>
              </a:spcAft>
              <a:buClr>
                <a:schemeClr val="dk1"/>
              </a:buClr>
              <a:buSzPts val="2400"/>
              <a:buNone/>
            </a:pPr>
            <a:r>
              <a:rPr lang="en-GB" sz="2400"/>
              <a:t>Everyone will know what you are talking about, but people in the know will need more detail to know how to fix the problem. After all, you wouldn’t use a Pritt Stick to glue two pieces of wood together!</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8"/>
          <p:cNvSpPr txBox="1"/>
          <p:nvPr>
            <p:ph type="title"/>
          </p:nvPr>
        </p:nvSpPr>
        <p:spPr>
          <a:xfrm>
            <a:off x="1570382" y="834887"/>
            <a:ext cx="9783417" cy="855801"/>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3.1: Types of malware (Part one)</a:t>
            </a:r>
            <a:endParaRPr/>
          </a:p>
        </p:txBody>
      </p:sp>
      <p:pic>
        <p:nvPicPr>
          <p:cNvPr descr="A picture containing athletic game, basketball, sport&#10;&#10;Description automatically generated" id="114" name="Google Shape;114;p18"/>
          <p:cNvPicPr preferRelativeResize="0"/>
          <p:nvPr/>
        </p:nvPicPr>
        <p:blipFill rotWithShape="1">
          <a:blip r:embed="rId3">
            <a:alphaModFix/>
          </a:blip>
          <a:srcRect b="0" l="0" r="0" t="0"/>
          <a:stretch/>
        </p:blipFill>
        <p:spPr>
          <a:xfrm>
            <a:off x="3690255" y="1912181"/>
            <a:ext cx="4811489" cy="4714236"/>
          </a:xfrm>
          <a:prstGeom prst="rect">
            <a:avLst/>
          </a:prstGeom>
          <a:noFill/>
          <a:ln>
            <a:noFill/>
          </a:ln>
        </p:spPr>
      </p:pic>
      <p:sp>
        <p:nvSpPr>
          <p:cNvPr id="115" name="Google Shape;115;p18"/>
          <p:cNvSpPr txBox="1"/>
          <p:nvPr/>
        </p:nvSpPr>
        <p:spPr>
          <a:xfrm>
            <a:off x="288275" y="5860495"/>
            <a:ext cx="3088385" cy="865740"/>
          </a:xfrm>
          <a:prstGeom prst="rect">
            <a:avLst/>
          </a:prstGeom>
          <a:noFill/>
          <a:ln>
            <a:noFill/>
          </a:ln>
        </p:spPr>
        <p:txBody>
          <a:bodyPr anchorCtr="0" anchor="b" bIns="45700" lIns="91425" spcFirstLastPara="1" rIns="91425" wrap="square" tIns="45700">
            <a:normAutofit fontScale="85000" lnSpcReduction="10000"/>
          </a:bodyPr>
          <a:lstStyle/>
          <a:p>
            <a:pPr indent="0" lvl="0" marL="0" marR="0" rtl="0" algn="ctr">
              <a:lnSpc>
                <a:spcPct val="90000"/>
              </a:lnSpc>
              <a:spcBef>
                <a:spcPts val="0"/>
              </a:spcBef>
              <a:spcAft>
                <a:spcPts val="0"/>
              </a:spcAft>
              <a:buClr>
                <a:srgbClr val="000000"/>
              </a:buClr>
              <a:buSzPct val="100000"/>
              <a:buFont typeface="Arial"/>
              <a:buNone/>
            </a:pPr>
            <a:r>
              <a:rPr b="1" i="0" lang="en-GB" sz="6000" u="none" cap="none" strike="noStrike">
                <a:solidFill>
                  <a:srgbClr val="E1EFD8"/>
                </a:solidFill>
                <a:latin typeface="Arial"/>
                <a:ea typeface="Arial"/>
                <a:cs typeface="Arial"/>
                <a:sym typeface="Arial"/>
              </a:rPr>
              <a:t>DO NOW</a:t>
            </a:r>
            <a:endParaRPr b="1" i="0" sz="6000" u="none" cap="none" strike="noStrike">
              <a:solidFill>
                <a:srgbClr val="E1EFD8"/>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19"/>
          <p:cNvSpPr txBox="1"/>
          <p:nvPr>
            <p:ph type="title"/>
          </p:nvPr>
        </p:nvSpPr>
        <p:spPr>
          <a:xfrm>
            <a:off x="1600200" y="844826"/>
            <a:ext cx="9753599" cy="84586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Anti-malware software</a:t>
            </a:r>
            <a:r>
              <a:rPr lang="en-GB">
                <a:solidFill>
                  <a:schemeClr val="lt1"/>
                </a:solidFill>
              </a:rPr>
              <a:t> </a:t>
            </a:r>
            <a:endParaRPr b="1">
              <a:solidFill>
                <a:schemeClr val="lt1"/>
              </a:solidFill>
            </a:endParaRPr>
          </a:p>
        </p:txBody>
      </p:sp>
      <p:sp>
        <p:nvSpPr>
          <p:cNvPr id="121" name="Google Shape;121;p19"/>
          <p:cNvSpPr txBox="1"/>
          <p:nvPr>
            <p:ph idx="1" type="body"/>
          </p:nvPr>
        </p:nvSpPr>
        <p:spPr>
          <a:xfrm>
            <a:off x="1600200" y="2330132"/>
            <a:ext cx="8696739" cy="2197735"/>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accent6"/>
              </a:buClr>
              <a:buSzPts val="2400"/>
              <a:buChar char="•"/>
            </a:pPr>
            <a:r>
              <a:rPr b="1" lang="en-GB" sz="2400">
                <a:solidFill>
                  <a:schemeClr val="accent6"/>
                </a:solidFill>
              </a:rPr>
              <a:t>Anti-malware</a:t>
            </a:r>
            <a:r>
              <a:rPr lang="en-GB" sz="2400">
                <a:solidFill>
                  <a:schemeClr val="accent6"/>
                </a:solidFill>
              </a:rPr>
              <a:t> </a:t>
            </a:r>
            <a:r>
              <a:rPr b="1" lang="en-GB" sz="2400">
                <a:solidFill>
                  <a:schemeClr val="accent6"/>
                </a:solidFill>
              </a:rPr>
              <a:t>software</a:t>
            </a:r>
            <a:r>
              <a:rPr lang="en-GB" sz="2400">
                <a:solidFill>
                  <a:schemeClr val="accent6"/>
                </a:solidFill>
              </a:rPr>
              <a:t> </a:t>
            </a:r>
            <a:r>
              <a:rPr lang="en-GB" sz="2400"/>
              <a:t>(often called </a:t>
            </a:r>
            <a:r>
              <a:rPr b="1" lang="en-GB" sz="2400">
                <a:solidFill>
                  <a:schemeClr val="accent6"/>
                </a:solidFill>
              </a:rPr>
              <a:t>anti-virus</a:t>
            </a:r>
            <a:r>
              <a:rPr lang="en-GB" sz="2400">
                <a:solidFill>
                  <a:schemeClr val="accent6"/>
                </a:solidFill>
              </a:rPr>
              <a:t> </a:t>
            </a:r>
            <a:r>
              <a:rPr b="1" lang="en-GB" sz="2400">
                <a:solidFill>
                  <a:schemeClr val="accent6"/>
                </a:solidFill>
              </a:rPr>
              <a:t>software</a:t>
            </a:r>
            <a:r>
              <a:rPr lang="en-GB" sz="2400"/>
              <a:t>) scans computer programs and emails for malicious code.</a:t>
            </a:r>
            <a:endParaRPr/>
          </a:p>
          <a:p>
            <a:pPr indent="-228600" lvl="0" marL="228600" rtl="0" algn="l">
              <a:lnSpc>
                <a:spcPct val="90000"/>
              </a:lnSpc>
              <a:spcBef>
                <a:spcPts val="1000"/>
              </a:spcBef>
              <a:spcAft>
                <a:spcPts val="0"/>
              </a:spcAft>
              <a:buClr>
                <a:schemeClr val="dk1"/>
              </a:buClr>
              <a:buSzPts val="2400"/>
              <a:buChar char="•"/>
            </a:pPr>
            <a:r>
              <a:rPr lang="en-GB" sz="2400"/>
              <a:t>If it finds anything suspicious it puts it into quarantine so it cannot infect or damage the computer system. The user can then decide whether or not to trust the file, or delete it.</a:t>
            </a:r>
            <a:endParaRPr sz="2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0"/>
          <p:cNvSpPr txBox="1"/>
          <p:nvPr>
            <p:ph type="title"/>
          </p:nvPr>
        </p:nvSpPr>
        <p:spPr>
          <a:xfrm>
            <a:off x="1560442" y="834887"/>
            <a:ext cx="9793357" cy="855801"/>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Firewalls </a:t>
            </a:r>
            <a:endParaRPr/>
          </a:p>
        </p:txBody>
      </p:sp>
      <p:sp>
        <p:nvSpPr>
          <p:cNvPr id="127" name="Google Shape;127;p20"/>
          <p:cNvSpPr txBox="1"/>
          <p:nvPr>
            <p:ph idx="1" type="body"/>
          </p:nvPr>
        </p:nvSpPr>
        <p:spPr>
          <a:xfrm>
            <a:off x="1560442" y="2605038"/>
            <a:ext cx="4152381" cy="3007635"/>
          </a:xfrm>
          <a:prstGeom prst="rect">
            <a:avLst/>
          </a:prstGeom>
          <a:noFill/>
          <a:ln>
            <a:noFill/>
          </a:ln>
        </p:spPr>
        <p:txBody>
          <a:bodyPr anchorCtr="0" anchor="t" bIns="45700" lIns="91425" spcFirstLastPara="1" rIns="91425" wrap="square" tIns="45700">
            <a:normAutofit lnSpcReduction="10000"/>
          </a:bodyPr>
          <a:lstStyle/>
          <a:p>
            <a:pPr indent="0" lvl="0" marL="0" rtl="0" algn="l">
              <a:lnSpc>
                <a:spcPct val="90000"/>
              </a:lnSpc>
              <a:spcBef>
                <a:spcPts val="0"/>
              </a:spcBef>
              <a:spcAft>
                <a:spcPts val="0"/>
              </a:spcAft>
              <a:buClr>
                <a:schemeClr val="accent6"/>
              </a:buClr>
              <a:buSzPts val="2400"/>
              <a:buNone/>
            </a:pPr>
            <a:r>
              <a:rPr b="1" lang="en-GB" sz="2400">
                <a:solidFill>
                  <a:schemeClr val="accent6"/>
                </a:solidFill>
              </a:rPr>
              <a:t>Firewalls</a:t>
            </a:r>
            <a:r>
              <a:rPr lang="en-GB" sz="2400"/>
              <a:t> block connections into or out of a computer system unless they are authorised.</a:t>
            </a:r>
            <a:endParaRPr/>
          </a:p>
          <a:p>
            <a:pPr indent="0" lvl="0" marL="0" rtl="0" algn="l">
              <a:lnSpc>
                <a:spcPct val="90000"/>
              </a:lnSpc>
              <a:spcBef>
                <a:spcPts val="1000"/>
              </a:spcBef>
              <a:spcAft>
                <a:spcPts val="0"/>
              </a:spcAft>
              <a:buClr>
                <a:schemeClr val="dk1"/>
              </a:buClr>
              <a:buSzPts val="2400"/>
              <a:buNone/>
            </a:pPr>
            <a:r>
              <a:rPr lang="en-GB" sz="2400"/>
              <a:t>Firewalls stop spyware and keyloggers from sending data back to the creators of the malware, and they stop worms from spreading automatically.</a:t>
            </a:r>
            <a:endParaRPr/>
          </a:p>
        </p:txBody>
      </p:sp>
      <p:pic>
        <p:nvPicPr>
          <p:cNvPr descr="Diagram&#10;&#10;Description automatically generated" id="128" name="Google Shape;128;p20"/>
          <p:cNvPicPr preferRelativeResize="0"/>
          <p:nvPr/>
        </p:nvPicPr>
        <p:blipFill rotWithShape="1">
          <a:blip r:embed="rId3">
            <a:alphaModFix/>
          </a:blip>
          <a:srcRect b="0" l="0" r="0" t="0"/>
          <a:stretch/>
        </p:blipFill>
        <p:spPr>
          <a:xfrm>
            <a:off x="6331748" y="2451686"/>
            <a:ext cx="5022051" cy="3314341"/>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1"/>
          <p:cNvSpPr txBox="1"/>
          <p:nvPr>
            <p:ph type="title"/>
          </p:nvPr>
        </p:nvSpPr>
        <p:spPr>
          <a:xfrm>
            <a:off x="1560442" y="834887"/>
            <a:ext cx="9793357" cy="855801"/>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Backups</a:t>
            </a:r>
            <a:endParaRPr/>
          </a:p>
        </p:txBody>
      </p:sp>
      <p:sp>
        <p:nvSpPr>
          <p:cNvPr id="134" name="Google Shape;134;p21"/>
          <p:cNvSpPr txBox="1"/>
          <p:nvPr>
            <p:ph idx="1" type="body"/>
          </p:nvPr>
        </p:nvSpPr>
        <p:spPr>
          <a:xfrm>
            <a:off x="1560442" y="2495416"/>
            <a:ext cx="4256884" cy="3295015"/>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400"/>
              <a:buNone/>
            </a:pPr>
            <a:r>
              <a:rPr lang="en-GB" sz="2400"/>
              <a:t>Regularly backing up your files (saving a copy of all your files) means that damaged or deleted files can be quickly replaced with little or no loss of data.</a:t>
            </a:r>
            <a:endParaRPr/>
          </a:p>
          <a:p>
            <a:pPr indent="0" lvl="0" marL="0" rtl="0" algn="l">
              <a:lnSpc>
                <a:spcPct val="90000"/>
              </a:lnSpc>
              <a:spcBef>
                <a:spcPts val="1000"/>
              </a:spcBef>
              <a:spcAft>
                <a:spcPts val="0"/>
              </a:spcAft>
              <a:buClr>
                <a:schemeClr val="dk1"/>
              </a:buClr>
              <a:buSzPts val="2400"/>
              <a:buNone/>
            </a:pPr>
            <a:r>
              <a:rPr lang="en-GB" sz="2400"/>
              <a:t>This limits the impact of viruses, trojans, worms and ransomware.</a:t>
            </a:r>
            <a:endParaRPr/>
          </a:p>
        </p:txBody>
      </p:sp>
      <p:pic>
        <p:nvPicPr>
          <p:cNvPr descr="A picture containing text, indoor, computer, computer&#10;&#10;Description automatically generated" id="135" name="Google Shape;135;p21"/>
          <p:cNvPicPr preferRelativeResize="0"/>
          <p:nvPr/>
        </p:nvPicPr>
        <p:blipFill rotWithShape="1">
          <a:blip r:embed="rId3">
            <a:alphaModFix/>
          </a:blip>
          <a:srcRect b="0" l="0" r="0" t="0"/>
          <a:stretch/>
        </p:blipFill>
        <p:spPr>
          <a:xfrm>
            <a:off x="6096000" y="2379074"/>
            <a:ext cx="5291545" cy="3527697"/>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descr="A picture containing icon&#10;&#10;Description automatically generated" id="140" name="Google Shape;140;p22"/>
          <p:cNvPicPr preferRelativeResize="0"/>
          <p:nvPr/>
        </p:nvPicPr>
        <p:blipFill rotWithShape="1">
          <a:blip r:embed="rId3">
            <a:alphaModFix/>
          </a:blip>
          <a:srcRect b="0" l="0" r="0" t="0"/>
          <a:stretch/>
        </p:blipFill>
        <p:spPr>
          <a:xfrm>
            <a:off x="8905820" y="2020069"/>
            <a:ext cx="2764536" cy="2566416"/>
          </a:xfrm>
          <a:prstGeom prst="rect">
            <a:avLst/>
          </a:prstGeom>
          <a:noFill/>
          <a:ln>
            <a:noFill/>
          </a:ln>
        </p:spPr>
      </p:pic>
      <p:sp>
        <p:nvSpPr>
          <p:cNvPr id="141" name="Google Shape;141;p22"/>
          <p:cNvSpPr txBox="1"/>
          <p:nvPr>
            <p:ph type="title"/>
          </p:nvPr>
        </p:nvSpPr>
        <p:spPr>
          <a:xfrm>
            <a:off x="1600200" y="815009"/>
            <a:ext cx="9753600" cy="87567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Updates </a:t>
            </a:r>
            <a:endParaRPr/>
          </a:p>
        </p:txBody>
      </p:sp>
      <p:sp>
        <p:nvSpPr>
          <p:cNvPr id="142" name="Google Shape;142;p22"/>
          <p:cNvSpPr/>
          <p:nvPr/>
        </p:nvSpPr>
        <p:spPr>
          <a:xfrm>
            <a:off x="1600200" y="2019749"/>
            <a:ext cx="7835348" cy="4154984"/>
          </a:xfrm>
          <a:prstGeom prst="rect">
            <a:avLst/>
          </a:prstGeom>
          <a:noFill/>
          <a:ln>
            <a:noFill/>
          </a:ln>
        </p:spPr>
        <p:txBody>
          <a:bodyPr anchorCtr="0" anchor="t" bIns="45700" lIns="91425" spcFirstLastPara="1" rIns="91425" wrap="square" tIns="45700">
            <a:noAutofit/>
          </a:bodyPr>
          <a:lstStyle/>
          <a:p>
            <a:pPr indent="-285750" lvl="0" marL="285750" marR="0" rtl="0" algn="l">
              <a:lnSpc>
                <a:spcPct val="100000"/>
              </a:lnSpc>
              <a:spcBef>
                <a:spcPts val="0"/>
              </a:spcBef>
              <a:spcAft>
                <a:spcPts val="0"/>
              </a:spcAft>
              <a:buClr>
                <a:schemeClr val="dk1"/>
              </a:buClr>
              <a:buSzPts val="2400"/>
              <a:buFont typeface="Arial"/>
              <a:buChar char="•"/>
            </a:pPr>
            <a:r>
              <a:rPr b="0" i="0" lang="en-GB" sz="2400" u="none" cap="none" strike="noStrike">
                <a:solidFill>
                  <a:schemeClr val="dk1"/>
                </a:solidFill>
                <a:latin typeface="Calibri"/>
                <a:ea typeface="Calibri"/>
                <a:cs typeface="Calibri"/>
                <a:sym typeface="Calibri"/>
              </a:rPr>
              <a:t>Installing system updates fixes security flaws identified by the company that makes your computer’s operating system.</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chemeClr val="dk1"/>
              </a:buClr>
              <a:buSzPts val="2400"/>
              <a:buFont typeface="Arial"/>
              <a:buChar char="•"/>
            </a:pPr>
            <a:r>
              <a:rPr b="0" i="0" lang="en-GB" sz="2400" u="none" cap="none" strike="noStrike">
                <a:solidFill>
                  <a:schemeClr val="dk1"/>
                </a:solidFill>
                <a:latin typeface="Calibri"/>
                <a:ea typeface="Calibri"/>
                <a:cs typeface="Calibri"/>
                <a:sym typeface="Calibri"/>
              </a:rPr>
              <a:t>Installing program updates fixes the security flaws identified by the companies that make the software programs your computer uses.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chemeClr val="dk1"/>
              </a:buClr>
              <a:buSzPts val="2400"/>
              <a:buFont typeface="Arial"/>
              <a:buChar char="•"/>
            </a:pPr>
            <a:r>
              <a:rPr b="0" i="0" lang="en-GB" sz="2400" u="none" cap="none" strike="noStrike">
                <a:solidFill>
                  <a:schemeClr val="dk1"/>
                </a:solidFill>
                <a:latin typeface="Calibri"/>
                <a:ea typeface="Calibri"/>
                <a:cs typeface="Calibri"/>
                <a:sym typeface="Calibri"/>
              </a:rPr>
              <a:t>New flaws are found all the time, so it’s really important to install updates whenever they are available.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chemeClr val="dk1"/>
              </a:buClr>
              <a:buSzPts val="2400"/>
              <a:buFont typeface="Arial"/>
              <a:buChar char="•"/>
            </a:pPr>
            <a:r>
              <a:rPr b="0" i="0" lang="en-GB" sz="2400" u="none" cap="none" strike="noStrike">
                <a:solidFill>
                  <a:schemeClr val="dk1"/>
                </a:solidFill>
                <a:latin typeface="Calibri"/>
                <a:ea typeface="Calibri"/>
                <a:cs typeface="Calibri"/>
                <a:sym typeface="Calibri"/>
              </a:rPr>
              <a:t>These updates make your computer, phone and console much harder to attack. Putting off a security update is a major security mistake!</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3"/>
          <p:cNvSpPr txBox="1"/>
          <p:nvPr>
            <p:ph type="title"/>
          </p:nvPr>
        </p:nvSpPr>
        <p:spPr>
          <a:xfrm>
            <a:off x="1600200" y="815009"/>
            <a:ext cx="9753600" cy="87567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Avoid file-sharing websites </a:t>
            </a:r>
            <a:endParaRPr/>
          </a:p>
        </p:txBody>
      </p:sp>
      <p:sp>
        <p:nvSpPr>
          <p:cNvPr id="148" name="Google Shape;148;p23"/>
          <p:cNvSpPr/>
          <p:nvPr/>
        </p:nvSpPr>
        <p:spPr>
          <a:xfrm>
            <a:off x="1600200" y="1889434"/>
            <a:ext cx="7835348" cy="193899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0" i="0" lang="en-GB" sz="2400" u="none" cap="none" strike="noStrike">
                <a:solidFill>
                  <a:schemeClr val="dk1"/>
                </a:solidFill>
                <a:latin typeface="Calibri"/>
                <a:ea typeface="Calibri"/>
                <a:cs typeface="Calibri"/>
                <a:sym typeface="Calibri"/>
              </a:rPr>
              <a:t>File-sharing websites are common places to pick up malware.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400"/>
              <a:buFont typeface="Arial"/>
              <a:buNone/>
            </a:pPr>
            <a:r>
              <a:rPr b="0" i="0" lang="en-GB" sz="2400" u="none" cap="none" strike="noStrike">
                <a:solidFill>
                  <a:schemeClr val="dk1"/>
                </a:solidFill>
                <a:latin typeface="Calibri"/>
                <a:ea typeface="Calibri"/>
                <a:cs typeface="Calibri"/>
                <a:sym typeface="Calibri"/>
              </a:rPr>
              <a:t>Stay away from dodgy websites and illegal downloads and stick to legal and official websites. This will reduce your risk of infecting your computer system with malware.</a:t>
            </a:r>
            <a:endParaRPr b="0" i="0" sz="1400" u="none" cap="none" strike="noStrike">
              <a:solidFill>
                <a:srgbClr val="000000"/>
              </a:solidFill>
              <a:latin typeface="Arial"/>
              <a:ea typeface="Arial"/>
              <a:cs typeface="Arial"/>
              <a:sym typeface="Arial"/>
            </a:endParaRPr>
          </a:p>
        </p:txBody>
      </p:sp>
      <p:pic>
        <p:nvPicPr>
          <p:cNvPr id="149" name="Google Shape;149;p23"/>
          <p:cNvPicPr preferRelativeResize="0"/>
          <p:nvPr/>
        </p:nvPicPr>
        <p:blipFill rotWithShape="1">
          <a:blip r:embed="rId3">
            <a:alphaModFix/>
          </a:blip>
          <a:srcRect b="0" l="0" r="0" t="0"/>
          <a:stretch/>
        </p:blipFill>
        <p:spPr>
          <a:xfrm>
            <a:off x="3480816" y="4027172"/>
            <a:ext cx="5230368" cy="227220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pic>
        <p:nvPicPr>
          <p:cNvPr descr="A picture containing athletic game, basketball, sport&#10;&#10;Description automatically generated" id="154" name="Google Shape;154;p24"/>
          <p:cNvPicPr preferRelativeResize="0"/>
          <p:nvPr/>
        </p:nvPicPr>
        <p:blipFill rotWithShape="1">
          <a:blip r:embed="rId3">
            <a:alphaModFix/>
          </a:blip>
          <a:srcRect b="0" l="0" r="0" t="0"/>
          <a:stretch/>
        </p:blipFill>
        <p:spPr>
          <a:xfrm>
            <a:off x="3690255" y="1912181"/>
            <a:ext cx="4811489" cy="4714236"/>
          </a:xfrm>
          <a:prstGeom prst="rect">
            <a:avLst/>
          </a:prstGeom>
          <a:noFill/>
          <a:ln>
            <a:noFill/>
          </a:ln>
        </p:spPr>
      </p:pic>
      <p:sp>
        <p:nvSpPr>
          <p:cNvPr id="155" name="Google Shape;155;p24"/>
          <p:cNvSpPr txBox="1"/>
          <p:nvPr>
            <p:ph type="title"/>
          </p:nvPr>
        </p:nvSpPr>
        <p:spPr>
          <a:xfrm>
            <a:off x="1570382" y="834887"/>
            <a:ext cx="9783417" cy="855801"/>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3.1: Types of malware (Part two)</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5"/>
          <p:cNvSpPr txBox="1"/>
          <p:nvPr>
            <p:ph type="title"/>
          </p:nvPr>
        </p:nvSpPr>
        <p:spPr>
          <a:xfrm>
            <a:off x="1570382" y="834887"/>
            <a:ext cx="10296940" cy="855801"/>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lt1"/>
              </a:buClr>
              <a:buSzPts val="4000"/>
              <a:buFont typeface="Calibri"/>
              <a:buNone/>
            </a:pPr>
            <a:r>
              <a:rPr b="1" lang="en-GB" sz="4000">
                <a:solidFill>
                  <a:schemeClr val="lt1"/>
                </a:solidFill>
              </a:rPr>
              <a:t>Activity 3.3: Malware: risks and minimising risks </a:t>
            </a:r>
            <a:endParaRPr/>
          </a:p>
        </p:txBody>
      </p:sp>
      <p:pic>
        <p:nvPicPr>
          <p:cNvPr descr="A picture containing athletic game, basketball, sport&#10;&#10;Description automatically generated" id="161" name="Google Shape;161;p25"/>
          <p:cNvPicPr preferRelativeResize="0"/>
          <p:nvPr/>
        </p:nvPicPr>
        <p:blipFill rotWithShape="1">
          <a:blip r:embed="rId3">
            <a:alphaModFix/>
          </a:blip>
          <a:srcRect b="0" l="0" r="0" t="0"/>
          <a:stretch/>
        </p:blipFill>
        <p:spPr>
          <a:xfrm>
            <a:off x="3690255" y="1912181"/>
            <a:ext cx="4811489" cy="4714236"/>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65" name="Shape 165"/>
        <p:cNvGrpSpPr/>
        <p:nvPr/>
      </p:nvGrpSpPr>
      <p:grpSpPr>
        <a:xfrm>
          <a:off x="0" y="0"/>
          <a:ext cx="0" cy="0"/>
          <a:chOff x="0" y="0"/>
          <a:chExt cx="0" cy="0"/>
        </a:xfrm>
      </p:grpSpPr>
      <p:sp>
        <p:nvSpPr>
          <p:cNvPr id="166" name="Google Shape;166;p26"/>
          <p:cNvSpPr txBox="1"/>
          <p:nvPr>
            <p:ph type="title"/>
          </p:nvPr>
        </p:nvSpPr>
        <p:spPr>
          <a:xfrm>
            <a:off x="1570382" y="834887"/>
            <a:ext cx="9783417" cy="855801"/>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3.2: Malware posters</a:t>
            </a:r>
            <a:endParaRPr/>
          </a:p>
        </p:txBody>
      </p:sp>
      <p:sp>
        <p:nvSpPr>
          <p:cNvPr id="167" name="Google Shape;167;p26"/>
          <p:cNvSpPr/>
          <p:nvPr/>
        </p:nvSpPr>
        <p:spPr>
          <a:xfrm>
            <a:off x="6401130" y="3429000"/>
            <a:ext cx="4257261" cy="1200329"/>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0" i="0" lang="en-GB" sz="2400" u="none" cap="none" strike="noStrike">
                <a:solidFill>
                  <a:schemeClr val="dk1"/>
                </a:solidFill>
                <a:latin typeface="Calibri"/>
                <a:ea typeface="Calibri"/>
                <a:cs typeface="Calibri"/>
                <a:sym typeface="Calibri"/>
              </a:rPr>
              <a:t>Your poster or presentation slide can contain images but should include no more than 10 words.</a:t>
            </a:r>
            <a:endParaRPr b="0" i="0" sz="2400" u="none" cap="none" strike="noStrike">
              <a:solidFill>
                <a:schemeClr val="dk1"/>
              </a:solidFill>
              <a:latin typeface="Times New Roman"/>
              <a:ea typeface="Times New Roman"/>
              <a:cs typeface="Times New Roman"/>
              <a:sym typeface="Times New Roman"/>
            </a:endParaRPr>
          </a:p>
        </p:txBody>
      </p:sp>
      <p:pic>
        <p:nvPicPr>
          <p:cNvPr descr="A picture containing athletic game, basketball, sport&#10;&#10;Description automatically generated" id="168" name="Google Shape;168;p26"/>
          <p:cNvPicPr preferRelativeResize="0"/>
          <p:nvPr/>
        </p:nvPicPr>
        <p:blipFill rotWithShape="1">
          <a:blip r:embed="rId3">
            <a:alphaModFix/>
          </a:blip>
          <a:srcRect b="0" l="0" r="0" t="0"/>
          <a:stretch/>
        </p:blipFill>
        <p:spPr>
          <a:xfrm>
            <a:off x="979382" y="1886757"/>
            <a:ext cx="4811489" cy="4714236"/>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72" name="Shape 172"/>
        <p:cNvGrpSpPr/>
        <p:nvPr/>
      </p:nvGrpSpPr>
      <p:grpSpPr>
        <a:xfrm>
          <a:off x="0" y="0"/>
          <a:ext cx="0" cy="0"/>
          <a:chOff x="0" y="0"/>
          <a:chExt cx="0" cy="0"/>
        </a:xfrm>
      </p:grpSpPr>
      <p:sp>
        <p:nvSpPr>
          <p:cNvPr id="173" name="Google Shape;173;p27"/>
          <p:cNvSpPr txBox="1"/>
          <p:nvPr>
            <p:ph type="title"/>
          </p:nvPr>
        </p:nvSpPr>
        <p:spPr>
          <a:xfrm>
            <a:off x="1570382" y="834887"/>
            <a:ext cx="10296940" cy="855801"/>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Quiz 3</a:t>
            </a:r>
            <a:endParaRPr/>
          </a:p>
        </p:txBody>
      </p:sp>
      <p:pic>
        <p:nvPicPr>
          <p:cNvPr descr="A picture containing athletic game, basketball, sport&#10;&#10;Description automatically generated" id="174" name="Google Shape;174;p27"/>
          <p:cNvPicPr preferRelativeResize="0"/>
          <p:nvPr/>
        </p:nvPicPr>
        <p:blipFill rotWithShape="1">
          <a:blip r:embed="rId3">
            <a:alphaModFix/>
          </a:blip>
          <a:srcRect b="0" l="0" r="0" t="0"/>
          <a:stretch/>
        </p:blipFill>
        <p:spPr>
          <a:xfrm>
            <a:off x="3690255" y="1912181"/>
            <a:ext cx="4811489" cy="471423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