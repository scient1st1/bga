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310D57-90D6-4E41-8233-D5801A9D67D0}">
  <a:tblStyle styleId="{80310D57-90D6-4E41-8233-D5801A9D67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Shape, rectangle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169561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646583" y="2929767"/>
            <a:ext cx="9920500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/>
              <a:t>Internet safety, cyber security</a:t>
            </a:r>
            <a:br>
              <a:rPr b="1" lang="en-GB"/>
            </a:br>
            <a:r>
              <a:rPr b="1" lang="en-GB"/>
              <a:t>and encryption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4636690" y="3928233"/>
            <a:ext cx="3748206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Lesson 5: Automating encryption </a:t>
            </a:r>
            <a:endParaRPr b="1" sz="2000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29671" y="3429000"/>
            <a:ext cx="2937412" cy="2443927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45483" y="824947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45484" y="2066398"/>
            <a:ext cx="8781274" cy="2062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encryption algorithms can be automated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use spreadsheet formulae to automate the Atbash Cipher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use spreadsheet formulae to automate the Caesar Cipher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a programmed encryption algorithm is more efficient.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80322" y="844826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Secret message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80322" y="2436571"/>
            <a:ext cx="8736495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email has been sent from one of the computers inside the International Space Organisation, with a garbled message attached.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Chief Security Officer thinks it might be an encrypted message and has asked you to decrypt it and work out if security has been compromised.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will need to use your new-found knowledge of the Atbash Cipher and the Caesar Cipher to crack the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620078" y="795131"/>
            <a:ext cx="9733721" cy="8955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Atbash Cipher </a:t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1620078" y="2384851"/>
            <a:ext cx="9490807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The alphabet is written twice, once forwards and one backwards:</a:t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1620078" y="3890393"/>
            <a:ext cx="8497957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encrypt a message, the original letter is identified in the plaintext row and the encrypted letter is taken from the ciphertext row directly below it.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'BAD' is encrypted as 'YZW'.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2719388" y="3624263"/>
            <a:ext cx="94726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3" name="Google Shape;103;p16"/>
          <p:cNvGraphicFramePr/>
          <p:nvPr/>
        </p:nvGraphicFramePr>
        <p:xfrm>
          <a:off x="1656528" y="30021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{80310D57-90D6-4E41-8233-D5801A9D67D0}</a:tableStyleId>
              </a:tblPr>
              <a:tblGrid>
                <a:gridCol w="8193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  <a:gridCol w="311400"/>
              </a:tblGrid>
              <a:tr h="306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Plaintext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306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Ciphertext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1620078" y="795131"/>
            <a:ext cx="9733721" cy="8955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Caesar Cipher 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1620078" y="2195811"/>
            <a:ext cx="9490807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The ciphertext alphabet is written shifted sideways by the number of letters identified by the key. Here the key is 1:</a:t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1620078" y="4451263"/>
            <a:ext cx="7076661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'BAD' is encrypted as 'CBE'.</a:t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2719388" y="3624263"/>
            <a:ext cx="94726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2" name="Google Shape;112;p17"/>
          <p:cNvGraphicFramePr/>
          <p:nvPr/>
        </p:nvGraphicFramePr>
        <p:xfrm>
          <a:off x="1620078" y="31694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{80310D57-90D6-4E41-8233-D5801A9D67D0}</a:tableStyleId>
              </a:tblPr>
              <a:tblGrid>
                <a:gridCol w="1020350"/>
                <a:gridCol w="252950"/>
                <a:gridCol w="252950"/>
                <a:gridCol w="253650"/>
                <a:gridCol w="252950"/>
                <a:gridCol w="252950"/>
                <a:gridCol w="253650"/>
                <a:gridCol w="252950"/>
                <a:gridCol w="253650"/>
                <a:gridCol w="252950"/>
                <a:gridCol w="252950"/>
                <a:gridCol w="253650"/>
                <a:gridCol w="252950"/>
                <a:gridCol w="253650"/>
                <a:gridCol w="252950"/>
                <a:gridCol w="252950"/>
                <a:gridCol w="253650"/>
                <a:gridCol w="252950"/>
                <a:gridCol w="252950"/>
                <a:gridCol w="253650"/>
                <a:gridCol w="252950"/>
                <a:gridCol w="253650"/>
                <a:gridCol w="252950"/>
                <a:gridCol w="252950"/>
                <a:gridCol w="253650"/>
                <a:gridCol w="252950"/>
                <a:gridCol w="253650"/>
              </a:tblGrid>
              <a:tr h="31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Plaintext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00"/>
                    </a:solidFill>
                  </a:tcPr>
                </a:tc>
              </a:tr>
              <a:tr h="31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Ciphertext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/>
                    </a:p>
                  </a:txBody>
                  <a:tcPr marT="0" marB="0" marR="68575" marL="68575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title"/>
          </p:nvPr>
        </p:nvSpPr>
        <p:spPr>
          <a:xfrm>
            <a:off x="1570382" y="834887"/>
            <a:ext cx="10621618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b="1" lang="en-GB" sz="3400">
                <a:solidFill>
                  <a:schemeClr val="lt1"/>
                </a:solidFill>
              </a:rPr>
              <a:t>Activity 5.1: The Atbash Cipher: </a:t>
            </a:r>
            <a:br>
              <a:rPr b="1" lang="en-GB" sz="3400">
                <a:solidFill>
                  <a:schemeClr val="lt1"/>
                </a:solidFill>
              </a:rPr>
            </a:br>
            <a:r>
              <a:rPr b="1" lang="en-GB" sz="3400">
                <a:solidFill>
                  <a:schemeClr val="lt1"/>
                </a:solidFill>
              </a:rPr>
              <a:t>manual encryption and decryption </a:t>
            </a:r>
            <a:endParaRPr/>
          </a:p>
        </p:txBody>
      </p:sp>
      <p:pic>
        <p:nvPicPr>
          <p:cNvPr descr="A picture containing athletic game, basketball, sport&#10;&#10;Description automatically generated" id="118" name="Google Shape;11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6098" y="1907177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1570382" y="834887"/>
            <a:ext cx="10621618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b="1" lang="en-GB" sz="3400">
                <a:solidFill>
                  <a:schemeClr val="lt1"/>
                </a:solidFill>
              </a:rPr>
              <a:t>Activity 5.2: The Atbash Cipher: </a:t>
            </a:r>
            <a:br>
              <a:rPr b="1" lang="en-GB" sz="3400">
                <a:solidFill>
                  <a:schemeClr val="lt1"/>
                </a:solidFill>
              </a:rPr>
            </a:br>
            <a:r>
              <a:rPr b="1" lang="en-GB" sz="3400">
                <a:solidFill>
                  <a:schemeClr val="lt1"/>
                </a:solidFill>
              </a:rPr>
              <a:t>automated encryption and decryption</a:t>
            </a:r>
            <a:endParaRPr/>
          </a:p>
        </p:txBody>
      </p:sp>
      <p:sp>
        <p:nvSpPr>
          <p:cNvPr id="124" name="Google Shape;124;p19"/>
          <p:cNvSpPr/>
          <p:nvPr/>
        </p:nvSpPr>
        <p:spPr>
          <a:xfrm>
            <a:off x="7925214" y="5083074"/>
            <a:ext cx="381809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5.1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athletic game, basketball, sport&#10;&#10;Description automatically generated" id="125" name="Google Shape;12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6098" y="1907177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1570382" y="834887"/>
            <a:ext cx="10621618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b="1" lang="en-GB" sz="3400">
                <a:solidFill>
                  <a:schemeClr val="lt1"/>
                </a:solidFill>
              </a:rPr>
              <a:t>Activity 5.3: The Caesar Cipher: </a:t>
            </a:r>
            <a:br>
              <a:rPr b="1" lang="en-GB" sz="3400">
                <a:solidFill>
                  <a:schemeClr val="lt1"/>
                </a:solidFill>
              </a:rPr>
            </a:br>
            <a:r>
              <a:rPr b="1" lang="en-GB" sz="3400">
                <a:solidFill>
                  <a:schemeClr val="lt1"/>
                </a:solidFill>
              </a:rPr>
              <a:t>manual encryption and decryption </a:t>
            </a:r>
            <a:endParaRPr/>
          </a:p>
        </p:txBody>
      </p:sp>
      <p:pic>
        <p:nvPicPr>
          <p:cNvPr descr="A picture containing athletic game, basketball, sport&#10;&#10;Description automatically generated" id="131" name="Google Shape;13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6098" y="1907177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/>
          <p:nvPr>
            <p:ph type="title"/>
          </p:nvPr>
        </p:nvSpPr>
        <p:spPr>
          <a:xfrm>
            <a:off x="1570382" y="834887"/>
            <a:ext cx="10621618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Activity 5.4: The Caesar Cipher: automated encryption </a:t>
            </a:r>
            <a:endParaRPr/>
          </a:p>
        </p:txBody>
      </p:sp>
      <p:pic>
        <p:nvPicPr>
          <p:cNvPr descr="A picture containing athletic game, basketball, sport&#10;&#10;Description automatically generated" id="137" name="Google Shape;13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6098" y="1907177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1570382" y="834887"/>
            <a:ext cx="10621618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Activity 5.5: The Caesar Cipher: automated encryption </a:t>
            </a:r>
            <a:endParaRPr/>
          </a:p>
        </p:txBody>
      </p:sp>
      <p:sp>
        <p:nvSpPr>
          <p:cNvPr id="143" name="Google Shape;143;p22"/>
          <p:cNvSpPr/>
          <p:nvPr/>
        </p:nvSpPr>
        <p:spPr>
          <a:xfrm>
            <a:off x="8299633" y="5043317"/>
            <a:ext cx="336470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5.2 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athletic game, basketball, sport&#10;&#10;Description automatically generated" id="144" name="Google Shape;14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6098" y="1907177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3"/>
          <p:cNvSpPr txBox="1"/>
          <p:nvPr>
            <p:ph type="title"/>
          </p:nvPr>
        </p:nvSpPr>
        <p:spPr>
          <a:xfrm>
            <a:off x="1570382" y="834887"/>
            <a:ext cx="10621618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5.6: Secret message </a:t>
            </a:r>
            <a:endParaRPr/>
          </a:p>
        </p:txBody>
      </p:sp>
      <p:sp>
        <p:nvSpPr>
          <p:cNvPr id="150" name="Google Shape;150;p23"/>
          <p:cNvSpPr/>
          <p:nvPr/>
        </p:nvSpPr>
        <p:spPr>
          <a:xfrm>
            <a:off x="5910470" y="2314405"/>
            <a:ext cx="5738191" cy="37087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 you remember the garbled message attached to an email sent from one of the computers inside the International Space Organisation?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Chief Security Officer has asked you to decrypt it.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need to work out if it was encrypted with the Atbash Cipher or the Caesar Cipher and, if it is the Caesar Cipher, what key was used.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Has the security of the International Space Organisation been compromised?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athletic game, basketball, sport&#10;&#10;Description automatically generated" id="151" name="Google Shape;15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9024" y="1887572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4"/>
          <p:cNvSpPr txBox="1"/>
          <p:nvPr>
            <p:ph type="title"/>
          </p:nvPr>
        </p:nvSpPr>
        <p:spPr>
          <a:xfrm>
            <a:off x="1570382" y="834887"/>
            <a:ext cx="10621618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5.6: Secret message </a:t>
            </a:r>
            <a:endParaRPr/>
          </a:p>
        </p:txBody>
      </p:sp>
      <p:sp>
        <p:nvSpPr>
          <p:cNvPr id="157" name="Google Shape;157;p24"/>
          <p:cNvSpPr/>
          <p:nvPr/>
        </p:nvSpPr>
        <p:spPr>
          <a:xfrm>
            <a:off x="5962721" y="2715471"/>
            <a:ext cx="5738191" cy="3046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the message: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have the new rocket launch computer program. It is far better than we ever expected and will ensure the ISO dominates the space tourism market for years to come. I can share it with you if you are willing to compensate me.</a:t>
            </a:r>
            <a:endParaRPr/>
          </a:p>
        </p:txBody>
      </p:sp>
      <p:pic>
        <p:nvPicPr>
          <p:cNvPr descr="A picture containing athletic game, basketball, sport&#10;&#10;Description automatically generated" id="158" name="Google Shape;15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9024" y="1887572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type="title"/>
          </p:nvPr>
        </p:nvSpPr>
        <p:spPr>
          <a:xfrm>
            <a:off x="1570382" y="834887"/>
            <a:ext cx="10296940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5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64" name="Google Shape;164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6098" y="1907177"/>
            <a:ext cx="4799803" cy="47027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