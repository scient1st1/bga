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2000" cy="16416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8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1864450" y="2971075"/>
            <a:ext cx="4231550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lang="en-GB"/>
              <a:t>Algorithms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2475879" y="3886925"/>
            <a:ext cx="3620121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00B0F0"/>
                </a:solidFill>
                <a:latin typeface="Calibri"/>
                <a:ea typeface="Calibri"/>
                <a:cs typeface="Calibri"/>
                <a:sym typeface="Calibri"/>
              </a:rPr>
              <a:t>Lesson 2: Pattern recognition</a:t>
            </a:r>
            <a:endParaRPr/>
          </a:p>
        </p:txBody>
      </p:sp>
      <p:pic>
        <p:nvPicPr>
          <p:cNvPr descr="A picture containing text, electronics, display, screenshot&#10;&#10;Description automatically generated"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07429" y="2607043"/>
            <a:ext cx="2937410" cy="2420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80322" y="874643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580321" y="2213282"/>
            <a:ext cx="7084707" cy="20621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solve a range of problems by combining decomposition, abstraction and algorithm design with pattern recognition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benefits of a modular approach to programming.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80322" y="832895"/>
            <a:ext cx="9773478" cy="767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One flower </a:t>
            </a:r>
            <a:endParaRPr/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80787" y="1849903"/>
            <a:ext cx="4630425" cy="46075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620077" y="864704"/>
            <a:ext cx="10197548" cy="765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lang="en-GB">
                <a:solidFill>
                  <a:srgbClr val="FFFFFF"/>
                </a:solidFill>
              </a:rPr>
              <a:t>Pattern recognition 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00" name="Google Shape;100;p16"/>
          <p:cNvSpPr txBox="1"/>
          <p:nvPr>
            <p:ph idx="1" type="body"/>
          </p:nvPr>
        </p:nvSpPr>
        <p:spPr>
          <a:xfrm>
            <a:off x="1620077" y="2113860"/>
            <a:ext cx="9223513" cy="38794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69B4"/>
              </a:buClr>
              <a:buSzPts val="2800"/>
              <a:buNone/>
            </a:pPr>
            <a:r>
              <a:rPr b="1" lang="en-GB">
                <a:solidFill>
                  <a:srgbClr val="0069B4"/>
                </a:solidFill>
              </a:rPr>
              <a:t>Pattern recognition </a:t>
            </a:r>
            <a:r>
              <a:rPr lang="en-GB">
                <a:solidFill>
                  <a:srgbClr val="000000"/>
                </a:solidFill>
              </a:rPr>
              <a:t>is the fourth cornerstone of computational thinking.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</a:pPr>
            <a:r>
              <a:rPr lang="en-GB">
                <a:solidFill>
                  <a:srgbClr val="000000"/>
                </a:solidFill>
              </a:rPr>
              <a:t>It is an important part of problem solving because, if you can identify similarities between two different problems, you might be able to apply the same or a slightly modified solution to both problems.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None/>
            </a:pPr>
            <a:r>
              <a:rPr lang="en-GB">
                <a:solidFill>
                  <a:srgbClr val="000000"/>
                </a:solidFill>
              </a:rPr>
              <a:t>This enables computer programmers to work efficiently, solving problems more quickly and writing less code.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None/>
            </a:pPr>
            <a:r>
              <a:t/>
            </a:r>
            <a:endParaRPr sz="7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None/>
            </a:pPr>
            <a:r>
              <a:t/>
            </a:r>
            <a:endParaRPr sz="7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None/>
            </a:pPr>
            <a:r>
              <a:t/>
            </a:r>
            <a:endParaRPr sz="7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None/>
            </a:pPr>
            <a:r>
              <a:t/>
            </a:r>
            <a:endParaRPr sz="7000">
              <a:solidFill>
                <a:srgbClr val="000000"/>
              </a:solidFill>
            </a:endParaRPr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/>
          <p:nvPr>
            <p:ph type="title"/>
          </p:nvPr>
        </p:nvSpPr>
        <p:spPr>
          <a:xfrm>
            <a:off x="1570382" y="834887"/>
            <a:ext cx="9783417" cy="815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2.1: Flower design problem</a:t>
            </a:r>
            <a:endParaRPr/>
          </a:p>
        </p:txBody>
      </p:sp>
      <p:pic>
        <p:nvPicPr>
          <p:cNvPr descr="A picture containing athletic game, basketball, sport&#10;&#10;Description automatically generated" id="106" name="Google Shape;10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52977" y="1885897"/>
            <a:ext cx="4686046" cy="45913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8"/>
          <p:cNvSpPr txBox="1"/>
          <p:nvPr>
            <p:ph type="title"/>
          </p:nvPr>
        </p:nvSpPr>
        <p:spPr>
          <a:xfrm>
            <a:off x="1600201" y="844826"/>
            <a:ext cx="9753598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Two flowers </a:t>
            </a:r>
            <a:endParaRPr/>
          </a:p>
        </p:txBody>
      </p:sp>
      <p:pic>
        <p:nvPicPr>
          <p:cNvPr descr="Shape, polygon&#10;&#10;Description automatically generated" id="112" name="Google Shape;11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70695" y="2166658"/>
            <a:ext cx="3897008" cy="39953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art, radar chart&#10;&#10;Description automatically generated" id="113" name="Google Shape;11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00201" y="2166658"/>
            <a:ext cx="4021105" cy="4001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/>
          <p:nvPr>
            <p:ph type="title"/>
          </p:nvPr>
        </p:nvSpPr>
        <p:spPr>
          <a:xfrm>
            <a:off x="1560442" y="834888"/>
            <a:ext cx="9793357" cy="8170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Computational thinking </a:t>
            </a:r>
            <a:endParaRPr/>
          </a:p>
        </p:txBody>
      </p:sp>
      <p:sp>
        <p:nvSpPr>
          <p:cNvPr id="119" name="Google Shape;119;p19"/>
          <p:cNvSpPr txBox="1"/>
          <p:nvPr>
            <p:ph idx="1" type="body"/>
          </p:nvPr>
        </p:nvSpPr>
        <p:spPr>
          <a:xfrm>
            <a:off x="1560442" y="1776619"/>
            <a:ext cx="9581252" cy="46494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GB" sz="2400">
                <a:latin typeface="Calibri"/>
                <a:ea typeface="Calibri"/>
                <a:cs typeface="Calibri"/>
                <a:sym typeface="Calibri"/>
              </a:rPr>
              <a:t>When you were thinking about the flower designs, you were carrying out computational thinking.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GB" sz="2400">
                <a:latin typeface="Calibri"/>
                <a:ea typeface="Calibri"/>
                <a:cs typeface="Calibri"/>
                <a:sym typeface="Calibri"/>
              </a:rPr>
              <a:t>When you were identifying patterns in the original flower, you were decomposing the flower and carrying out pattern recognition.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GB" sz="2400">
                <a:latin typeface="Calibri"/>
                <a:ea typeface="Calibri"/>
                <a:cs typeface="Calibri"/>
                <a:sym typeface="Calibri"/>
              </a:rPr>
              <a:t>When you made a list of elements that could be removed or changed and still leave a recognisable flower design, you were carrying out abstraction.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GB" sz="2400">
                <a:latin typeface="Calibri"/>
                <a:ea typeface="Calibri"/>
                <a:cs typeface="Calibri"/>
                <a:sym typeface="Calibri"/>
              </a:rPr>
              <a:t>When you were identifying the similarities and differences between the flowers, you were carrying out pattern recognition.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GB" sz="2400">
                <a:latin typeface="Calibri"/>
                <a:ea typeface="Calibri"/>
                <a:cs typeface="Calibri"/>
                <a:sym typeface="Calibri"/>
              </a:rPr>
              <a:t>Computational thinking will help you create an algorithm for drawing the abstracted flower, an algorithm that could then be adapted to draw an infinite number of different flowers</a:t>
            </a:r>
            <a:r>
              <a:rPr lang="en-GB"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 txBox="1"/>
          <p:nvPr>
            <p:ph type="title"/>
          </p:nvPr>
        </p:nvSpPr>
        <p:spPr>
          <a:xfrm>
            <a:off x="1570382" y="834887"/>
            <a:ext cx="9783417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2.2: Flower algorithm</a:t>
            </a:r>
            <a:endParaRPr/>
          </a:p>
        </p:txBody>
      </p:sp>
      <p:pic>
        <p:nvPicPr>
          <p:cNvPr descr="A picture containing athletic game, basketball, sport&#10;&#10;Description automatically generated" id="125" name="Google Shape;12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52977" y="1885897"/>
            <a:ext cx="4686046" cy="45913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>
            <p:ph type="title"/>
          </p:nvPr>
        </p:nvSpPr>
        <p:spPr>
          <a:xfrm>
            <a:off x="1580322" y="824948"/>
            <a:ext cx="10611678" cy="785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Modular programming </a:t>
            </a:r>
            <a:endParaRPr/>
          </a:p>
        </p:txBody>
      </p:sp>
      <p:sp>
        <p:nvSpPr>
          <p:cNvPr id="131" name="Google Shape;131;p21"/>
          <p:cNvSpPr txBox="1"/>
          <p:nvPr>
            <p:ph idx="1" type="body"/>
          </p:nvPr>
        </p:nvSpPr>
        <p:spPr>
          <a:xfrm>
            <a:off x="1580322" y="2067339"/>
            <a:ext cx="8169965" cy="43779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2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8000"/>
              <a:t>Where possible, you should take a modular</a:t>
            </a:r>
            <a:r>
              <a:rPr b="1" lang="en-GB" sz="8000"/>
              <a:t> </a:t>
            </a:r>
            <a:r>
              <a:rPr lang="en-GB" sz="8000"/>
              <a:t>approach to programming.</a:t>
            </a:r>
            <a:endParaRPr/>
          </a:p>
          <a:p>
            <a:pPr indent="-101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 sz="8000"/>
          </a:p>
          <a:p>
            <a:pPr indent="0" lvl="0" marL="0" rtl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8000"/>
              <a:t>Modules are small chunks of code that perform a discrete task. In Logo, these chunks of code are called ‘procedures’. They are called on by the main program when needed.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GB" sz="8000"/>
              <a:t>Modularity brings a number of important benefits to the programmer.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8000"/>
              <a:t>A module can be used many times within a single program.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8000"/>
              <a:t>A module can be used in more than one program.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8000"/>
              <a:t>A module can easily be changed to do something similar but slightly different.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8000"/>
              <a:t>Code written in modules is easier to read and debug than a single long sequence of code.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GB" sz="8000"/>
              <a:t>Modules are more efficient for the programmer to write because they use fewer lines of code.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 txBox="1"/>
          <p:nvPr>
            <p:ph type="title"/>
          </p:nvPr>
        </p:nvSpPr>
        <p:spPr>
          <a:xfrm>
            <a:off x="1580322" y="824948"/>
            <a:ext cx="9773478" cy="8050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2.3: Flower program</a:t>
            </a:r>
            <a:endParaRPr b="1"/>
          </a:p>
        </p:txBody>
      </p:sp>
      <p:pic>
        <p:nvPicPr>
          <p:cNvPr descr="A picture containing athletic game, basketball, sport&#10;&#10;Description automatically generated" id="137" name="Google Shape;13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52977" y="1885897"/>
            <a:ext cx="4686046" cy="45913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1590260" y="805070"/>
            <a:ext cx="9763539" cy="834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1</a:t>
            </a:r>
            <a:endParaRPr/>
          </a:p>
        </p:txBody>
      </p:sp>
      <p:sp>
        <p:nvSpPr>
          <p:cNvPr id="143" name="Google Shape;143;p23"/>
          <p:cNvSpPr/>
          <p:nvPr/>
        </p:nvSpPr>
        <p:spPr>
          <a:xfrm>
            <a:off x="755375" y="3093057"/>
            <a:ext cx="10766066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4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repeat 4 [fd 100 rt 90] 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 txBox="1"/>
          <p:nvPr>
            <p:ph type="title"/>
          </p:nvPr>
        </p:nvSpPr>
        <p:spPr>
          <a:xfrm>
            <a:off x="1570382" y="824948"/>
            <a:ext cx="10621618" cy="821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Flower program</a:t>
            </a:r>
            <a:endParaRPr/>
          </a:p>
        </p:txBody>
      </p:sp>
      <p:sp>
        <p:nvSpPr>
          <p:cNvPr id="149" name="Google Shape;149;p24"/>
          <p:cNvSpPr/>
          <p:nvPr/>
        </p:nvSpPr>
        <p:spPr>
          <a:xfrm>
            <a:off x="7429480" y="2000906"/>
            <a:ext cx="3143553" cy="397609"/>
          </a:xfrm>
          <a:prstGeom prst="rect">
            <a:avLst/>
          </a:prstGeom>
          <a:noFill/>
          <a:ln cap="flat" cmpd="sng" w="9525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Creates a procedure called </a:t>
            </a: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squ</a:t>
            </a:r>
            <a:endParaRPr sz="16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150" name="Google Shape;150;p24"/>
          <p:cNvSpPr/>
          <p:nvPr/>
        </p:nvSpPr>
        <p:spPr>
          <a:xfrm>
            <a:off x="7429480" y="2473433"/>
            <a:ext cx="4078357" cy="708912"/>
          </a:xfrm>
          <a:prstGeom prst="rect">
            <a:avLst/>
          </a:prstGeom>
          <a:noFill/>
          <a:ln cap="flat" cmpd="sng" w="9525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Creates a loop that will repeat four times (draw line, turn 90 degrees right)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24"/>
          <p:cNvSpPr/>
          <p:nvPr/>
        </p:nvSpPr>
        <p:spPr>
          <a:xfrm>
            <a:off x="7463257" y="3233818"/>
            <a:ext cx="2019784" cy="390363"/>
          </a:xfrm>
          <a:prstGeom prst="rect">
            <a:avLst/>
          </a:prstGeom>
          <a:noFill/>
          <a:ln cap="flat" cmpd="sng" w="9525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Ends the procedure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4"/>
          <p:cNvSpPr/>
          <p:nvPr/>
        </p:nvSpPr>
        <p:spPr>
          <a:xfrm>
            <a:off x="7443863" y="3652601"/>
            <a:ext cx="2865528" cy="390363"/>
          </a:xfrm>
          <a:prstGeom prst="rect">
            <a:avLst/>
          </a:prstGeom>
          <a:noFill/>
          <a:ln cap="flat" cmpd="sng" w="9525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Changes the line width to 10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7443863" y="4104896"/>
            <a:ext cx="4239311" cy="718082"/>
          </a:xfrm>
          <a:prstGeom prst="rect">
            <a:avLst/>
          </a:prstGeom>
          <a:noFill/>
          <a:ln cap="flat" cmpd="sng" w="9525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Creates a loop that will repeat 6 times (calling the </a:t>
            </a: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squ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procedure)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24"/>
          <p:cNvSpPr/>
          <p:nvPr/>
        </p:nvSpPr>
        <p:spPr>
          <a:xfrm>
            <a:off x="7425277" y="4927012"/>
            <a:ext cx="1653017" cy="390363"/>
          </a:xfrm>
          <a:prstGeom prst="rect">
            <a:avLst/>
          </a:prstGeom>
          <a:noFill/>
          <a:ln cap="flat" cmpd="sng" w="9525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Hides the turtle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5" name="Google Shape;155;p24"/>
          <p:cNvCxnSpPr/>
          <p:nvPr/>
        </p:nvCxnSpPr>
        <p:spPr>
          <a:xfrm rot="10800000">
            <a:off x="3405809" y="4927012"/>
            <a:ext cx="4039347" cy="205120"/>
          </a:xfrm>
          <a:prstGeom prst="straightConnector1">
            <a:avLst/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156" name="Google Shape;156;p24"/>
          <p:cNvCxnSpPr/>
          <p:nvPr/>
        </p:nvCxnSpPr>
        <p:spPr>
          <a:xfrm rot="10800000">
            <a:off x="6555231" y="4459352"/>
            <a:ext cx="888632" cy="0"/>
          </a:xfrm>
          <a:prstGeom prst="straightConnector1">
            <a:avLst/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157" name="Google Shape;157;p24"/>
          <p:cNvCxnSpPr/>
          <p:nvPr/>
        </p:nvCxnSpPr>
        <p:spPr>
          <a:xfrm rot="10800000">
            <a:off x="4691270" y="3847782"/>
            <a:ext cx="2771988" cy="0"/>
          </a:xfrm>
          <a:prstGeom prst="straightConnector1">
            <a:avLst/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158" name="Google Shape;158;p24"/>
          <p:cNvCxnSpPr/>
          <p:nvPr/>
        </p:nvCxnSpPr>
        <p:spPr>
          <a:xfrm rot="10800000">
            <a:off x="3154017" y="3428999"/>
            <a:ext cx="4271261" cy="0"/>
          </a:xfrm>
          <a:prstGeom prst="straightConnector1">
            <a:avLst/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159" name="Google Shape;159;p24"/>
          <p:cNvCxnSpPr/>
          <p:nvPr/>
        </p:nvCxnSpPr>
        <p:spPr>
          <a:xfrm flipH="1">
            <a:off x="7209184" y="2887709"/>
            <a:ext cx="216093" cy="41021"/>
          </a:xfrm>
          <a:prstGeom prst="straightConnector1">
            <a:avLst/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160" name="Google Shape;160;p24"/>
          <p:cNvCxnSpPr/>
          <p:nvPr/>
        </p:nvCxnSpPr>
        <p:spPr>
          <a:xfrm flipH="1">
            <a:off x="3551583" y="2199711"/>
            <a:ext cx="3877897" cy="269216"/>
          </a:xfrm>
          <a:prstGeom prst="straightConnector1">
            <a:avLst/>
          </a:prstGeom>
          <a:noFill/>
          <a:ln cap="flat" cmpd="sng" w="9525">
            <a:solidFill>
              <a:srgbClr val="00B0F0"/>
            </a:solidFill>
            <a:prstDash val="solid"/>
            <a:miter lim="8000"/>
            <a:headEnd len="sm" w="sm" type="none"/>
            <a:tailEnd len="med" w="med" type="triangle"/>
          </a:ln>
        </p:spPr>
      </p:cxnSp>
      <p:sp>
        <p:nvSpPr>
          <p:cNvPr id="161" name="Google Shape;161;p24"/>
          <p:cNvSpPr/>
          <p:nvPr/>
        </p:nvSpPr>
        <p:spPr>
          <a:xfrm>
            <a:off x="1618966" y="2154683"/>
            <a:ext cx="6047415" cy="3046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to squ</a:t>
            </a:r>
            <a:endParaRPr sz="320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repeat 4 [fd 100 rt 90] end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setwidth 10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repeat 6 [squ rt 60]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ht</a:t>
            </a:r>
            <a:endParaRPr sz="320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/>
          <p:nvPr>
            <p:ph type="title"/>
          </p:nvPr>
        </p:nvSpPr>
        <p:spPr>
          <a:xfrm>
            <a:off x="1580322" y="824948"/>
            <a:ext cx="9773478" cy="785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Spot the pattern </a:t>
            </a:r>
            <a:endParaRPr/>
          </a:p>
        </p:txBody>
      </p:sp>
      <p:sp>
        <p:nvSpPr>
          <p:cNvPr id="167" name="Google Shape;167;p25"/>
          <p:cNvSpPr/>
          <p:nvPr/>
        </p:nvSpPr>
        <p:spPr>
          <a:xfrm>
            <a:off x="1580322" y="2029602"/>
            <a:ext cx="10012680" cy="42780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will a flower drawn using the code below differ from the flower shown?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to petal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repeat 8 [fd 50 rt 45]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setwidth 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setpencolor random 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repeat 10 [petal rt 36 setpencolor random 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ht</a:t>
            </a:r>
            <a:endParaRPr sz="24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pic>
        <p:nvPicPr>
          <p:cNvPr id="168" name="Google Shape;16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44364" y="2482078"/>
            <a:ext cx="2643784" cy="26306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 txBox="1"/>
          <p:nvPr>
            <p:ph type="title"/>
          </p:nvPr>
        </p:nvSpPr>
        <p:spPr>
          <a:xfrm>
            <a:off x="1580322" y="824948"/>
            <a:ext cx="9773478" cy="785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Spot the pattern </a:t>
            </a:r>
            <a:endParaRPr/>
          </a:p>
        </p:txBody>
      </p:sp>
      <p:sp>
        <p:nvSpPr>
          <p:cNvPr id="174" name="Google Shape;174;p26"/>
          <p:cNvSpPr/>
          <p:nvPr/>
        </p:nvSpPr>
        <p:spPr>
          <a:xfrm>
            <a:off x="1128039" y="1610139"/>
            <a:ext cx="6560788" cy="37856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to petal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repeat 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[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100 rt 60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100 lt -120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100 lt -60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100]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repeat 6 [petal rt 10]</a:t>
            </a:r>
            <a:endParaRPr/>
          </a:p>
        </p:txBody>
      </p:sp>
      <p:pic>
        <p:nvPicPr>
          <p:cNvPr id="175" name="Google Shape;17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67061" y="1965127"/>
            <a:ext cx="3778444" cy="37339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3021" y="1610139"/>
            <a:ext cx="3873699" cy="3930852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7"/>
          <p:cNvSpPr txBox="1"/>
          <p:nvPr>
            <p:ph type="title"/>
          </p:nvPr>
        </p:nvSpPr>
        <p:spPr>
          <a:xfrm>
            <a:off x="1580322" y="824948"/>
            <a:ext cx="9773478" cy="785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Spot the pattern </a:t>
            </a:r>
            <a:endParaRPr/>
          </a:p>
        </p:txBody>
      </p:sp>
      <p:sp>
        <p:nvSpPr>
          <p:cNvPr id="182" name="Google Shape;182;p27"/>
          <p:cNvSpPr/>
          <p:nvPr/>
        </p:nvSpPr>
        <p:spPr>
          <a:xfrm>
            <a:off x="879988" y="1394533"/>
            <a:ext cx="9773477" cy="45243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to petal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repeat 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[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100 rt 60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100 lt -120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100 lt -60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100]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cs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repeat 6 [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setpc repcount  ; repcount = 1, 2, ..., 6 (auto variable inside repeat)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petal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rt 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]                         setpc random 15 – also may be used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8"/>
          <p:cNvSpPr txBox="1"/>
          <p:nvPr>
            <p:ph type="title"/>
          </p:nvPr>
        </p:nvSpPr>
        <p:spPr>
          <a:xfrm>
            <a:off x="1590260" y="805070"/>
            <a:ext cx="9763539" cy="834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2</a:t>
            </a:r>
            <a:endParaRPr/>
          </a:p>
        </p:txBody>
      </p:sp>
      <p:sp>
        <p:nvSpPr>
          <p:cNvPr id="188" name="Google Shape;188;p28"/>
          <p:cNvSpPr/>
          <p:nvPr/>
        </p:nvSpPr>
        <p:spPr>
          <a:xfrm>
            <a:off x="1088996" y="2041006"/>
            <a:ext cx="10766066" cy="37856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to petal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repeat 8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[fd 100 rt 45]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end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repeat 6 [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  setpc repcount  ; repcount = 1, 2, ..., 6 (auto variable inside repeat)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  petal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  rt 60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29"/>
          <p:cNvPicPr preferRelativeResize="0"/>
          <p:nvPr/>
        </p:nvPicPr>
        <p:blipFill rotWithShape="1">
          <a:blip r:embed="rId3">
            <a:alphaModFix/>
          </a:blip>
          <a:srcRect b="9401" l="28044" r="45352" t="42450"/>
          <a:stretch/>
        </p:blipFill>
        <p:spPr>
          <a:xfrm>
            <a:off x="1741073" y="2166658"/>
            <a:ext cx="3930371" cy="40011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art, radar chart&#10;&#10;Description automatically generated" id="194" name="Google Shape;194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20557" y="2166658"/>
            <a:ext cx="4021105" cy="4001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/>
          <p:nvPr>
            <p:ph type="title"/>
          </p:nvPr>
        </p:nvSpPr>
        <p:spPr>
          <a:xfrm>
            <a:off x="1580322" y="824948"/>
            <a:ext cx="9773478" cy="8050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4400"/>
              <a:buFont typeface="Calibri"/>
              <a:buNone/>
            </a:pPr>
            <a:r>
              <a:rPr b="1" lang="en-GB">
                <a:solidFill>
                  <a:srgbClr val="F2F2F2"/>
                </a:solidFill>
              </a:rPr>
              <a:t>Activity 2.4: Comparing code</a:t>
            </a:r>
            <a:endParaRPr b="1"/>
          </a:p>
        </p:txBody>
      </p:sp>
      <p:pic>
        <p:nvPicPr>
          <p:cNvPr descr="A picture containing athletic game, basketball, sport&#10;&#10;Description automatically generated" id="200" name="Google Shape;20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52977" y="1885897"/>
            <a:ext cx="4686046" cy="45913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1"/>
          <p:cNvSpPr txBox="1"/>
          <p:nvPr>
            <p:ph type="title"/>
          </p:nvPr>
        </p:nvSpPr>
        <p:spPr>
          <a:xfrm>
            <a:off x="1590260" y="805070"/>
            <a:ext cx="9763539" cy="834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2</a:t>
            </a:r>
            <a:endParaRPr/>
          </a:p>
        </p:txBody>
      </p:sp>
      <p:pic>
        <p:nvPicPr>
          <p:cNvPr descr="A picture containing athletic game, basketball, sport&#10;&#10;Description automatically generated" id="206" name="Google Shape;20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52977" y="1885897"/>
            <a:ext cx="4686046" cy="45913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