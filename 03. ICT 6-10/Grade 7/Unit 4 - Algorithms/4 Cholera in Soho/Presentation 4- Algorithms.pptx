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2.xml"/><Relationship Id="rId12" Type="http://schemas.openxmlformats.org/officeDocument/2006/relationships/slideLayout" Target="../slideLayouts/slideLayout11.xml"/><Relationship Id="rId1" Type="http://schemas.openxmlformats.org/officeDocument/2006/relationships/image" Target="../media/image2.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pic>
        <p:nvPicPr>
          <p:cNvPr id="9" name="Google Shape;9;p1"/>
          <p:cNvPicPr preferRelativeResize="0"/>
          <p:nvPr/>
        </p:nvPicPr>
        <p:blipFill rotWithShape="1">
          <a:blip r:embed="rId1">
            <a:alphaModFix/>
          </a:blip>
          <a:srcRect b="0" l="0" r="0" t="0"/>
          <a:stretch/>
        </p:blipFill>
        <p:spPr>
          <a:xfrm>
            <a:off x="0" y="0"/>
            <a:ext cx="12192000" cy="16416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jp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jp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ph type="ctrTitle"/>
          </p:nvPr>
        </p:nvSpPr>
        <p:spPr>
          <a:xfrm>
            <a:off x="1864450" y="2971075"/>
            <a:ext cx="4231550" cy="915850"/>
          </a:xfrm>
          <a:prstGeom prst="rect">
            <a:avLst/>
          </a:prstGeom>
          <a:noFill/>
          <a:ln>
            <a:noFill/>
          </a:ln>
        </p:spPr>
        <p:txBody>
          <a:bodyPr anchorCtr="0" anchor="b" bIns="45700" lIns="91425" spcFirstLastPara="1" rIns="91425" wrap="square" tIns="45700">
            <a:normAutofit/>
          </a:bodyPr>
          <a:lstStyle/>
          <a:p>
            <a:pPr indent="0" lvl="0" marL="0" rtl="0" algn="r">
              <a:lnSpc>
                <a:spcPct val="90000"/>
              </a:lnSpc>
              <a:spcBef>
                <a:spcPts val="0"/>
              </a:spcBef>
              <a:spcAft>
                <a:spcPts val="0"/>
              </a:spcAft>
              <a:buClr>
                <a:schemeClr val="dk1"/>
              </a:buClr>
              <a:buSzPts val="6000"/>
              <a:buFont typeface="Calibri"/>
              <a:buNone/>
            </a:pPr>
            <a:r>
              <a:rPr b="1" lang="en-GB"/>
              <a:t>Algorithms</a:t>
            </a:r>
            <a:endParaRPr/>
          </a:p>
        </p:txBody>
      </p:sp>
      <p:sp>
        <p:nvSpPr>
          <p:cNvPr id="81" name="Google Shape;81;p13"/>
          <p:cNvSpPr/>
          <p:nvPr/>
        </p:nvSpPr>
        <p:spPr>
          <a:xfrm>
            <a:off x="2475879" y="3886925"/>
            <a:ext cx="3620121" cy="40011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1" i="0" lang="en-GB" sz="2000" u="none" cap="none" strike="noStrike">
                <a:solidFill>
                  <a:srgbClr val="00B0F0"/>
                </a:solidFill>
                <a:latin typeface="Calibri"/>
                <a:ea typeface="Calibri"/>
                <a:cs typeface="Calibri"/>
                <a:sym typeface="Calibri"/>
              </a:rPr>
              <a:t>Lesson 4: Cholera in Soho</a:t>
            </a:r>
            <a:endParaRPr/>
          </a:p>
        </p:txBody>
      </p:sp>
      <p:pic>
        <p:nvPicPr>
          <p:cNvPr descr="A picture containing text, electronics, display, screenshot&#10;&#10;Description automatically generated" id="82" name="Google Shape;82;p13"/>
          <p:cNvPicPr preferRelativeResize="0"/>
          <p:nvPr/>
        </p:nvPicPr>
        <p:blipFill rotWithShape="1">
          <a:blip r:embed="rId3">
            <a:alphaModFix/>
          </a:blip>
          <a:srcRect b="0" l="0" r="0" t="0"/>
          <a:stretch/>
        </p:blipFill>
        <p:spPr>
          <a:xfrm>
            <a:off x="6707429" y="2607043"/>
            <a:ext cx="2937410" cy="242042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580322" y="874643"/>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580322" y="2244060"/>
            <a:ext cx="8199404" cy="2369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In this lesson, you will learn how to:</a:t>
            </a:r>
            <a:endParaRPr sz="2800">
              <a:solidFill>
                <a:schemeClr val="dk1"/>
              </a:solidFill>
              <a:latin typeface="Times New Roman"/>
              <a:ea typeface="Times New Roman"/>
              <a:cs typeface="Times New Roman"/>
              <a:sym typeface="Times New Roman"/>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use decomposition and abstraction to gain an understanding of a real-world problem</a:t>
            </a:r>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apply pattern recognition to identify the cause of a real-world problem and understand how it can be solved</a:t>
            </a:r>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analyse different approaches to solving problems.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title"/>
          </p:nvPr>
        </p:nvSpPr>
        <p:spPr>
          <a:xfrm>
            <a:off x="1580322" y="844826"/>
            <a:ext cx="9773478"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The Soho cholera outbreak of 1854 </a:t>
            </a:r>
            <a:endParaRPr/>
          </a:p>
        </p:txBody>
      </p:sp>
      <p:sp>
        <p:nvSpPr>
          <p:cNvPr id="94" name="Google Shape;94;p15"/>
          <p:cNvSpPr/>
          <p:nvPr/>
        </p:nvSpPr>
        <p:spPr>
          <a:xfrm>
            <a:off x="1580322" y="2109692"/>
            <a:ext cx="5943884" cy="39341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000">
                <a:solidFill>
                  <a:schemeClr val="dk1"/>
                </a:solidFill>
                <a:latin typeface="Calibri"/>
                <a:ea typeface="Calibri"/>
                <a:cs typeface="Calibri"/>
                <a:sym typeface="Calibri"/>
              </a:rPr>
              <a:t>Covid-19 has had a big impact on our lives since the beginning of 2020, but the experience of battling disease is not new and we have overcome serious health crises in the past.</a:t>
            </a:r>
            <a:endParaRPr/>
          </a:p>
          <a:p>
            <a:pPr indent="0" lvl="0" marL="0" marR="0" rtl="0" algn="l">
              <a:lnSpc>
                <a:spcPct val="115000"/>
              </a:lnSpc>
              <a:spcBef>
                <a:spcPts val="600"/>
              </a:spcBef>
              <a:spcAft>
                <a:spcPts val="0"/>
              </a:spcAft>
              <a:buNone/>
            </a:pPr>
            <a:r>
              <a:rPr lang="en-GB" sz="2000">
                <a:solidFill>
                  <a:schemeClr val="dk1"/>
                </a:solidFill>
                <a:latin typeface="Calibri"/>
                <a:ea typeface="Calibri"/>
                <a:cs typeface="Calibri"/>
                <a:sym typeface="Calibri"/>
              </a:rPr>
              <a:t>In 1854, the Soho district of London was being ravaged by cholera. Hundreds of people were already dead and more were dying every day.</a:t>
            </a:r>
            <a:endParaRPr/>
          </a:p>
          <a:p>
            <a:pPr indent="0" lvl="0" marL="0" marR="0" rtl="0" algn="l">
              <a:lnSpc>
                <a:spcPct val="115000"/>
              </a:lnSpc>
              <a:spcBef>
                <a:spcPts val="600"/>
              </a:spcBef>
              <a:spcAft>
                <a:spcPts val="0"/>
              </a:spcAft>
              <a:buNone/>
            </a:pPr>
            <a:r>
              <a:rPr lang="en-GB" sz="2000">
                <a:solidFill>
                  <a:schemeClr val="dk1"/>
                </a:solidFill>
                <a:latin typeface="Calibri"/>
                <a:ea typeface="Calibri"/>
                <a:cs typeface="Calibri"/>
                <a:sym typeface="Calibri"/>
              </a:rPr>
              <a:t>Bacteria had not yet been identified as the cause of cholera. A commonly held view was that it was ‘miasma’, foul-smelling air, possibly from the highly polluted River Thames, that spread the disease.</a:t>
            </a:r>
            <a:endParaRPr/>
          </a:p>
        </p:txBody>
      </p:sp>
      <p:pic>
        <p:nvPicPr>
          <p:cNvPr descr="A picture containing text, book&#10;&#10;Description automatically generated" id="95" name="Google Shape;95;p15"/>
          <p:cNvPicPr preferRelativeResize="0"/>
          <p:nvPr/>
        </p:nvPicPr>
        <p:blipFill rotWithShape="1">
          <a:blip r:embed="rId3">
            <a:alphaModFix/>
          </a:blip>
          <a:srcRect b="0" l="0" r="0" t="0"/>
          <a:stretch/>
        </p:blipFill>
        <p:spPr>
          <a:xfrm>
            <a:off x="7687182" y="2434412"/>
            <a:ext cx="4119508" cy="313082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6"/>
          <p:cNvSpPr txBox="1"/>
          <p:nvPr>
            <p:ph type="title"/>
          </p:nvPr>
        </p:nvSpPr>
        <p:spPr>
          <a:xfrm>
            <a:off x="1620078" y="854765"/>
            <a:ext cx="10197548" cy="765313"/>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rgbClr val="FFFFFF"/>
              </a:buClr>
              <a:buSzPts val="4400"/>
              <a:buFont typeface="Calibri"/>
              <a:buNone/>
            </a:pPr>
            <a:r>
              <a:rPr b="1" lang="en-GB">
                <a:solidFill>
                  <a:srgbClr val="FFFFFF"/>
                </a:solidFill>
              </a:rPr>
              <a:t>Dr John Snow </a:t>
            </a:r>
            <a:endParaRPr b="1">
              <a:solidFill>
                <a:schemeClr val="lt1"/>
              </a:solidFill>
            </a:endParaRPr>
          </a:p>
        </p:txBody>
      </p:sp>
      <p:sp>
        <p:nvSpPr>
          <p:cNvPr id="101" name="Google Shape;101;p16"/>
          <p:cNvSpPr txBox="1"/>
          <p:nvPr>
            <p:ph idx="1" type="body"/>
          </p:nvPr>
        </p:nvSpPr>
        <p:spPr>
          <a:xfrm>
            <a:off x="1620078" y="2209546"/>
            <a:ext cx="5660288" cy="332776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None/>
            </a:pPr>
            <a:r>
              <a:rPr lang="en-GB" sz="2400"/>
              <a:t>This was the challenge facing Dr John Snow.</a:t>
            </a:r>
            <a:endParaRPr/>
          </a:p>
          <a:p>
            <a:pPr indent="0" lvl="0" marL="0" rtl="0" algn="l">
              <a:lnSpc>
                <a:spcPct val="90000"/>
              </a:lnSpc>
              <a:spcBef>
                <a:spcPts val="1000"/>
              </a:spcBef>
              <a:spcAft>
                <a:spcPts val="0"/>
              </a:spcAft>
              <a:buClr>
                <a:schemeClr val="dk1"/>
              </a:buClr>
              <a:buSzPts val="2400"/>
              <a:buNone/>
            </a:pPr>
            <a:r>
              <a:rPr lang="en-GB" sz="2400"/>
              <a:t>He did not accept the miasma theory and set about proving that something else was causing the spread of cholera in Soho.</a:t>
            </a:r>
            <a:endParaRPr/>
          </a:p>
          <a:p>
            <a:pPr indent="0" lvl="0" marL="0" rtl="0" algn="l">
              <a:lnSpc>
                <a:spcPct val="90000"/>
              </a:lnSpc>
              <a:spcBef>
                <a:spcPts val="1000"/>
              </a:spcBef>
              <a:spcAft>
                <a:spcPts val="0"/>
              </a:spcAft>
              <a:buClr>
                <a:schemeClr val="dk1"/>
              </a:buClr>
              <a:buSzPts val="2400"/>
              <a:buNone/>
            </a:pPr>
            <a:r>
              <a:rPr lang="en-GB" sz="2400"/>
              <a:t>Although the term was not used at the time, Dr Snow applied some of the principles of </a:t>
            </a:r>
            <a:r>
              <a:rPr b="1" lang="en-GB" sz="2400">
                <a:solidFill>
                  <a:srgbClr val="0069B4"/>
                </a:solidFill>
              </a:rPr>
              <a:t>computational thinking</a:t>
            </a:r>
            <a:r>
              <a:rPr lang="en-GB" sz="2400">
                <a:solidFill>
                  <a:srgbClr val="0069B4"/>
                </a:solidFill>
              </a:rPr>
              <a:t> </a:t>
            </a:r>
            <a:r>
              <a:rPr lang="en-GB" sz="2400"/>
              <a:t>as he set about working out what was killing people.</a:t>
            </a:r>
            <a:endParaRPr/>
          </a:p>
        </p:txBody>
      </p:sp>
      <p:pic>
        <p:nvPicPr>
          <p:cNvPr id="102" name="Google Shape;102;p16"/>
          <p:cNvPicPr preferRelativeResize="0"/>
          <p:nvPr/>
        </p:nvPicPr>
        <p:blipFill rotWithShape="1">
          <a:blip r:embed="rId3">
            <a:alphaModFix/>
          </a:blip>
          <a:srcRect b="0" l="0" r="0" t="0"/>
          <a:stretch/>
        </p:blipFill>
        <p:spPr>
          <a:xfrm>
            <a:off x="8064137" y="1879386"/>
            <a:ext cx="3249367" cy="412384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7"/>
          <p:cNvSpPr txBox="1"/>
          <p:nvPr>
            <p:ph type="title"/>
          </p:nvPr>
        </p:nvSpPr>
        <p:spPr>
          <a:xfrm>
            <a:off x="1600201" y="844826"/>
            <a:ext cx="9753598"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Understanding the problem  </a:t>
            </a:r>
            <a:endParaRPr/>
          </a:p>
        </p:txBody>
      </p:sp>
      <p:sp>
        <p:nvSpPr>
          <p:cNvPr id="108" name="Google Shape;108;p17"/>
          <p:cNvSpPr txBox="1"/>
          <p:nvPr>
            <p:ph idx="1" type="body"/>
          </p:nvPr>
        </p:nvSpPr>
        <p:spPr>
          <a:xfrm>
            <a:off x="1600201" y="1905137"/>
            <a:ext cx="8736873" cy="4351338"/>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000"/>
              <a:buNone/>
            </a:pPr>
            <a:r>
              <a:rPr lang="en-GB" sz="2000"/>
              <a:t>Dr Snow's first goal was to understand the outbreak.</a:t>
            </a:r>
            <a:endParaRPr/>
          </a:p>
          <a:p>
            <a:pPr indent="0" lvl="0" marL="0" rtl="0" algn="l">
              <a:lnSpc>
                <a:spcPct val="90000"/>
              </a:lnSpc>
              <a:spcBef>
                <a:spcPts val="1000"/>
              </a:spcBef>
              <a:spcAft>
                <a:spcPts val="0"/>
              </a:spcAft>
              <a:buClr>
                <a:schemeClr val="dk1"/>
              </a:buClr>
              <a:buSzPts val="2000"/>
              <a:buNone/>
            </a:pPr>
            <a:r>
              <a:rPr lang="en-GB" sz="2000"/>
              <a:t>He began by applying </a:t>
            </a:r>
            <a:r>
              <a:rPr b="1" lang="en-GB" sz="2000">
                <a:solidFill>
                  <a:srgbClr val="0069B4"/>
                </a:solidFill>
              </a:rPr>
              <a:t>decomposition</a:t>
            </a:r>
            <a:r>
              <a:rPr lang="en-GB" sz="2000">
                <a:solidFill>
                  <a:srgbClr val="00B0F0"/>
                </a:solidFill>
              </a:rPr>
              <a:t> </a:t>
            </a:r>
            <a:r>
              <a:rPr lang="en-GB" sz="2000"/>
              <a:t>and </a:t>
            </a:r>
            <a:r>
              <a:rPr b="1" lang="en-GB" sz="2000">
                <a:solidFill>
                  <a:srgbClr val="0069B4"/>
                </a:solidFill>
              </a:rPr>
              <a:t>pattern recognition</a:t>
            </a:r>
            <a:r>
              <a:rPr lang="en-GB" sz="2000"/>
              <a:t>, asking questions and gathering as much data as he could and examining it for patterns.</a:t>
            </a:r>
            <a:endParaRPr/>
          </a:p>
          <a:p>
            <a:pPr indent="0" lvl="0" marL="0" rtl="0" algn="l">
              <a:lnSpc>
                <a:spcPct val="90000"/>
              </a:lnSpc>
              <a:spcBef>
                <a:spcPts val="1000"/>
              </a:spcBef>
              <a:spcAft>
                <a:spcPts val="0"/>
              </a:spcAft>
              <a:buClr>
                <a:schemeClr val="dk1"/>
              </a:buClr>
              <a:buSzPts val="2000"/>
              <a:buNone/>
            </a:pPr>
            <a:r>
              <a:rPr lang="en-GB" sz="2000"/>
              <a:t>Here are some of the vital clues Dr Snow collected:</a:t>
            </a:r>
            <a:endParaRPr/>
          </a:p>
          <a:p>
            <a:pPr indent="-228600" lvl="0" marL="228600" rtl="0" algn="l">
              <a:lnSpc>
                <a:spcPct val="90000"/>
              </a:lnSpc>
              <a:spcBef>
                <a:spcPts val="1000"/>
              </a:spcBef>
              <a:spcAft>
                <a:spcPts val="0"/>
              </a:spcAft>
              <a:buClr>
                <a:schemeClr val="dk1"/>
              </a:buClr>
              <a:buSzPts val="2000"/>
              <a:buChar char="•"/>
            </a:pPr>
            <a:r>
              <a:rPr lang="en-GB" sz="2000"/>
              <a:t>Brewery workers rarely caught cholera. They did not drink water, preferring to drink the free beer available to them.</a:t>
            </a:r>
            <a:endParaRPr/>
          </a:p>
          <a:p>
            <a:pPr indent="-228600" lvl="0" marL="228600" rtl="0" algn="l">
              <a:lnSpc>
                <a:spcPct val="90000"/>
              </a:lnSpc>
              <a:spcBef>
                <a:spcPts val="1000"/>
              </a:spcBef>
              <a:spcAft>
                <a:spcPts val="0"/>
              </a:spcAft>
              <a:buClr>
                <a:schemeClr val="dk1"/>
              </a:buClr>
              <a:buSzPts val="2000"/>
              <a:buChar char="•"/>
            </a:pPr>
            <a:r>
              <a:rPr lang="en-GB" sz="2000"/>
              <a:t>A workhouse near Soho had 535 inmates but almost no cases of cholera. The workhouse had its own well.</a:t>
            </a:r>
            <a:endParaRPr/>
          </a:p>
          <a:p>
            <a:pPr indent="-228600" lvl="0" marL="228600" rtl="0" algn="l">
              <a:lnSpc>
                <a:spcPct val="90000"/>
              </a:lnSpc>
              <a:spcBef>
                <a:spcPts val="1000"/>
              </a:spcBef>
              <a:spcAft>
                <a:spcPts val="0"/>
              </a:spcAft>
              <a:buClr>
                <a:schemeClr val="dk1"/>
              </a:buClr>
              <a:buSzPts val="2000"/>
              <a:buChar char="•"/>
            </a:pPr>
            <a:r>
              <a:rPr lang="en-GB" sz="2000"/>
              <a:t>Two women living some distance from Soho died of cholera. They had water from the Broad Street pump in Soho brough to them regularly.</a:t>
            </a:r>
            <a:endParaRPr/>
          </a:p>
          <a:p>
            <a:pPr indent="-228600" lvl="0" marL="228600" rtl="0" algn="l">
              <a:lnSpc>
                <a:spcPct val="90000"/>
              </a:lnSpc>
              <a:spcBef>
                <a:spcPts val="1000"/>
              </a:spcBef>
              <a:spcAft>
                <a:spcPts val="0"/>
              </a:spcAft>
              <a:buClr>
                <a:schemeClr val="dk1"/>
              </a:buClr>
              <a:buSzPts val="2000"/>
              <a:buChar char="•"/>
            </a:pPr>
            <a:r>
              <a:rPr lang="en-GB" sz="2000"/>
              <a:t>Hundreds of people contracted cholera after spending time in schools, restaurants, businesses and pubs near the Broad Street pump.</a:t>
            </a:r>
            <a:endParaRPr/>
          </a:p>
          <a:p>
            <a:pPr indent="0" lvl="0" marL="0" rtl="0" algn="l">
              <a:lnSpc>
                <a:spcPct val="90000"/>
              </a:lnSpc>
              <a:spcBef>
                <a:spcPts val="1000"/>
              </a:spcBef>
              <a:spcAft>
                <a:spcPts val="0"/>
              </a:spcAft>
              <a:buClr>
                <a:schemeClr val="dk1"/>
              </a:buClr>
              <a:buSzPts val="2800"/>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8"/>
          <p:cNvSpPr txBox="1"/>
          <p:nvPr>
            <p:ph type="title"/>
          </p:nvPr>
        </p:nvSpPr>
        <p:spPr>
          <a:xfrm>
            <a:off x="1560442" y="834888"/>
            <a:ext cx="9793357" cy="81701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Collecting data  </a:t>
            </a:r>
            <a:endParaRPr/>
          </a:p>
        </p:txBody>
      </p:sp>
      <p:sp>
        <p:nvSpPr>
          <p:cNvPr id="114" name="Google Shape;114;p18"/>
          <p:cNvSpPr txBox="1"/>
          <p:nvPr>
            <p:ph idx="1" type="body"/>
          </p:nvPr>
        </p:nvSpPr>
        <p:spPr>
          <a:xfrm>
            <a:off x="1560442" y="2113860"/>
            <a:ext cx="8219284" cy="343350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GB" sz="2400"/>
              <a:t>Dr Snow also compiled a detailed ‘spot map’ to record the locations where people died of cholera.</a:t>
            </a:r>
            <a:endParaRPr/>
          </a:p>
          <a:p>
            <a:pPr indent="0" lvl="0" marL="0" rtl="0" algn="l">
              <a:lnSpc>
                <a:spcPct val="90000"/>
              </a:lnSpc>
              <a:spcBef>
                <a:spcPts val="1000"/>
              </a:spcBef>
              <a:spcAft>
                <a:spcPts val="0"/>
              </a:spcAft>
              <a:buClr>
                <a:schemeClr val="dk1"/>
              </a:buClr>
              <a:buSzPts val="2400"/>
              <a:buNone/>
            </a:pPr>
            <a:r>
              <a:rPr lang="en-GB" sz="2400"/>
              <a:t>The map is an </a:t>
            </a:r>
            <a:r>
              <a:rPr b="1" lang="en-GB" sz="2400">
                <a:solidFill>
                  <a:srgbClr val="0069B4"/>
                </a:solidFill>
              </a:rPr>
              <a:t>abstraction</a:t>
            </a:r>
            <a:r>
              <a:rPr lang="en-GB" sz="2400"/>
              <a:t> of the cholera outbreak. Each bar drawn on the map represents a person who died.</a:t>
            </a:r>
            <a:endParaRPr/>
          </a:p>
          <a:p>
            <a:pPr indent="0" lvl="0" marL="0" rtl="0" algn="l">
              <a:lnSpc>
                <a:spcPct val="90000"/>
              </a:lnSpc>
              <a:spcBef>
                <a:spcPts val="1000"/>
              </a:spcBef>
              <a:spcAft>
                <a:spcPts val="0"/>
              </a:spcAft>
              <a:buClr>
                <a:schemeClr val="dk1"/>
              </a:buClr>
              <a:buSzPts val="2400"/>
              <a:buNone/>
            </a:pPr>
            <a:r>
              <a:rPr lang="en-GB" sz="2400"/>
              <a:t>Without lots of personal information about each person, Dr Snow was able to recognise patterns in the locations of infected people.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pic>
        <p:nvPicPr>
          <p:cNvPr descr="Diagram&#10;&#10;Description automatically generated" id="119" name="Google Shape;119;p19"/>
          <p:cNvPicPr preferRelativeResize="0"/>
          <p:nvPr/>
        </p:nvPicPr>
        <p:blipFill rotWithShape="1">
          <a:blip r:embed="rId3">
            <a:alphaModFix/>
          </a:blip>
          <a:srcRect b="0" l="0" r="0" t="0"/>
          <a:stretch/>
        </p:blipFill>
        <p:spPr>
          <a:xfrm>
            <a:off x="672709" y="1983457"/>
            <a:ext cx="2750885" cy="4524103"/>
          </a:xfrm>
          <a:prstGeom prst="rect">
            <a:avLst/>
          </a:prstGeom>
          <a:noFill/>
          <a:ln>
            <a:noFill/>
          </a:ln>
        </p:spPr>
      </p:pic>
      <p:pic>
        <p:nvPicPr>
          <p:cNvPr descr="Diagram&#10;&#10;Description automatically generated" id="120" name="Google Shape;120;p19"/>
          <p:cNvPicPr preferRelativeResize="0"/>
          <p:nvPr/>
        </p:nvPicPr>
        <p:blipFill rotWithShape="1">
          <a:blip r:embed="rId4">
            <a:alphaModFix/>
          </a:blip>
          <a:srcRect b="0" l="0" r="0" t="0"/>
          <a:stretch/>
        </p:blipFill>
        <p:spPr>
          <a:xfrm>
            <a:off x="9590843" y="3400962"/>
            <a:ext cx="2146905" cy="2520279"/>
          </a:xfrm>
          <a:prstGeom prst="rect">
            <a:avLst/>
          </a:prstGeom>
          <a:noFill/>
          <a:ln>
            <a:noFill/>
          </a:ln>
        </p:spPr>
      </p:pic>
      <p:sp>
        <p:nvSpPr>
          <p:cNvPr id="121" name="Google Shape;121;p19"/>
          <p:cNvSpPr/>
          <p:nvPr/>
        </p:nvSpPr>
        <p:spPr>
          <a:xfrm>
            <a:off x="3477014" y="1738583"/>
            <a:ext cx="5237972" cy="489749"/>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None/>
            </a:pPr>
            <a:r>
              <a:rPr lang="en-GB" sz="2400">
                <a:solidFill>
                  <a:schemeClr val="dk1"/>
                </a:solidFill>
                <a:latin typeface="Calibri"/>
                <a:ea typeface="Calibri"/>
                <a:cs typeface="Calibri"/>
                <a:sym typeface="Calibri"/>
              </a:rPr>
              <a:t>Here are two sections of Dr Snow's map:</a:t>
            </a:r>
            <a:endParaRPr sz="2400">
              <a:solidFill>
                <a:schemeClr val="dk1"/>
              </a:solidFill>
              <a:latin typeface="Arial"/>
              <a:ea typeface="Arial"/>
              <a:cs typeface="Arial"/>
              <a:sym typeface="Arial"/>
            </a:endParaRPr>
          </a:p>
        </p:txBody>
      </p:sp>
      <p:sp>
        <p:nvSpPr>
          <p:cNvPr id="122" name="Google Shape;122;p19"/>
          <p:cNvSpPr/>
          <p:nvPr/>
        </p:nvSpPr>
        <p:spPr>
          <a:xfrm>
            <a:off x="3642046" y="2795083"/>
            <a:ext cx="5441803" cy="1983107"/>
          </a:xfrm>
          <a:prstGeom prst="rect">
            <a:avLst/>
          </a:prstGeom>
          <a:noFill/>
          <a:ln cap="flat" cmpd="sng" w="9525">
            <a:solidFill>
              <a:srgbClr val="00B0F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None/>
            </a:pPr>
            <a:r>
              <a:rPr lang="en-GB" sz="1800">
                <a:solidFill>
                  <a:schemeClr val="dk1"/>
                </a:solidFill>
                <a:latin typeface="Calibri"/>
                <a:ea typeface="Calibri"/>
                <a:cs typeface="Calibri"/>
                <a:sym typeface="Calibri"/>
              </a:rPr>
              <a:t>Each bar represents a person who died of cholera. Some houses on Marshall Street have no bars; no one died in these houses. Some houses have four bars.</a:t>
            </a:r>
            <a:endParaRPr sz="1600">
              <a:solidFill>
                <a:schemeClr val="dk1"/>
              </a:solidFill>
              <a:latin typeface="Arial"/>
              <a:ea typeface="Arial"/>
              <a:cs typeface="Arial"/>
              <a:sym typeface="Arial"/>
            </a:endParaRPr>
          </a:p>
          <a:p>
            <a:pPr indent="0" lvl="0" marL="0" marR="0" rtl="0" algn="l">
              <a:lnSpc>
                <a:spcPct val="115000"/>
              </a:lnSpc>
              <a:spcBef>
                <a:spcPts val="0"/>
              </a:spcBef>
              <a:spcAft>
                <a:spcPts val="0"/>
              </a:spcAft>
              <a:buNone/>
            </a:pPr>
            <a:r>
              <a:rPr lang="en-GB" sz="1800">
                <a:solidFill>
                  <a:schemeClr val="dk1"/>
                </a:solidFill>
                <a:latin typeface="Calibri"/>
                <a:ea typeface="Calibri"/>
                <a:cs typeface="Calibri"/>
                <a:sym typeface="Calibri"/>
              </a:rPr>
              <a:t>If we count all the bars that run parallel to the road, we can see that at least 31 people died in the portion of Marshall Street shown here.</a:t>
            </a:r>
            <a:endParaRPr sz="1600">
              <a:solidFill>
                <a:schemeClr val="dk1"/>
              </a:solidFill>
              <a:latin typeface="Arial"/>
              <a:ea typeface="Arial"/>
              <a:cs typeface="Arial"/>
              <a:sym typeface="Arial"/>
            </a:endParaRPr>
          </a:p>
        </p:txBody>
      </p:sp>
      <p:sp>
        <p:nvSpPr>
          <p:cNvPr id="123" name="Google Shape;123;p19"/>
          <p:cNvSpPr/>
          <p:nvPr/>
        </p:nvSpPr>
        <p:spPr>
          <a:xfrm>
            <a:off x="3712138" y="5333091"/>
            <a:ext cx="5441802" cy="1027461"/>
          </a:xfrm>
          <a:prstGeom prst="rect">
            <a:avLst/>
          </a:prstGeom>
          <a:noFill/>
          <a:ln cap="flat" cmpd="sng" w="9525">
            <a:solidFill>
              <a:srgbClr val="00B0F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None/>
            </a:pPr>
            <a:r>
              <a:rPr lang="en-GB" sz="1800">
                <a:solidFill>
                  <a:schemeClr val="dk1"/>
                </a:solidFill>
                <a:latin typeface="Calibri"/>
                <a:ea typeface="Calibri"/>
                <a:cs typeface="Calibri"/>
                <a:sym typeface="Calibri"/>
              </a:rPr>
              <a:t>Dr Snow's map also recorded the locations of the drinking water pumps, where people collected water. People did not have taps in their houses.</a:t>
            </a:r>
            <a:endParaRPr sz="1600">
              <a:solidFill>
                <a:schemeClr val="dk1"/>
              </a:solidFill>
              <a:latin typeface="Arial"/>
              <a:ea typeface="Arial"/>
              <a:cs typeface="Arial"/>
              <a:sym typeface="Arial"/>
            </a:endParaRPr>
          </a:p>
        </p:txBody>
      </p:sp>
      <p:cxnSp>
        <p:nvCxnSpPr>
          <p:cNvPr id="124" name="Google Shape;124;p19"/>
          <p:cNvCxnSpPr/>
          <p:nvPr/>
        </p:nvCxnSpPr>
        <p:spPr>
          <a:xfrm flipH="1">
            <a:off x="2586446" y="3400962"/>
            <a:ext cx="1055601" cy="385674"/>
          </a:xfrm>
          <a:prstGeom prst="straightConnector1">
            <a:avLst/>
          </a:prstGeom>
          <a:noFill/>
          <a:ln cap="flat" cmpd="sng" w="9525">
            <a:solidFill>
              <a:srgbClr val="00B0F0"/>
            </a:solidFill>
            <a:prstDash val="solid"/>
            <a:miter lim="8000"/>
            <a:headEnd len="sm" w="sm" type="none"/>
            <a:tailEnd len="med" w="med" type="triangle"/>
          </a:ln>
        </p:spPr>
      </p:cxnSp>
      <p:cxnSp>
        <p:nvCxnSpPr>
          <p:cNvPr id="125" name="Google Shape;125;p19"/>
          <p:cNvCxnSpPr/>
          <p:nvPr/>
        </p:nvCxnSpPr>
        <p:spPr>
          <a:xfrm flipH="1" rot="10800000">
            <a:off x="9153940" y="5016137"/>
            <a:ext cx="852209" cy="535577"/>
          </a:xfrm>
          <a:prstGeom prst="straightConnector1">
            <a:avLst/>
          </a:prstGeom>
          <a:noFill/>
          <a:ln cap="flat" cmpd="sng" w="9525">
            <a:solidFill>
              <a:srgbClr val="00B0F0"/>
            </a:solidFill>
            <a:prstDash val="solid"/>
            <a:miter lim="8000"/>
            <a:headEnd len="sm" w="sm" type="none"/>
            <a:tailEnd len="med" w="med" type="triangle"/>
          </a:ln>
        </p:spPr>
      </p:cxn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0"/>
          <p:cNvSpPr txBox="1"/>
          <p:nvPr>
            <p:ph type="title"/>
          </p:nvPr>
        </p:nvSpPr>
        <p:spPr>
          <a:xfrm>
            <a:off x="1570382" y="834887"/>
            <a:ext cx="9783417" cy="78519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4.1: Dr Snow's cholera map</a:t>
            </a:r>
            <a:endParaRPr/>
          </a:p>
        </p:txBody>
      </p:sp>
      <p:pic>
        <p:nvPicPr>
          <p:cNvPr descr="A picture containing athletic game, basketball, sport&#10;&#10;Description automatically generated" id="131" name="Google Shape;131;p20"/>
          <p:cNvPicPr preferRelativeResize="0"/>
          <p:nvPr/>
        </p:nvPicPr>
        <p:blipFill rotWithShape="1">
          <a:blip r:embed="rId3">
            <a:alphaModFix/>
          </a:blip>
          <a:srcRect b="0" l="0" r="0" t="0"/>
          <a:stretch/>
        </p:blipFill>
        <p:spPr>
          <a:xfrm>
            <a:off x="3672838" y="1807678"/>
            <a:ext cx="4846323" cy="474836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1"/>
          <p:cNvSpPr txBox="1"/>
          <p:nvPr>
            <p:ph type="title"/>
          </p:nvPr>
        </p:nvSpPr>
        <p:spPr>
          <a:xfrm>
            <a:off x="1570382" y="824948"/>
            <a:ext cx="10621618" cy="79513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3200"/>
              <a:buFont typeface="Calibri"/>
              <a:buNone/>
            </a:pPr>
            <a:r>
              <a:rPr b="1" lang="en-GB" sz="3200">
                <a:solidFill>
                  <a:schemeClr val="lt1"/>
                </a:solidFill>
              </a:rPr>
              <a:t>The well beneath the Broad Street pump and 40 Broad Street </a:t>
            </a:r>
            <a:endParaRPr/>
          </a:p>
        </p:txBody>
      </p:sp>
      <p:sp>
        <p:nvSpPr>
          <p:cNvPr id="137" name="Google Shape;137;p21"/>
          <p:cNvSpPr/>
          <p:nvPr/>
        </p:nvSpPr>
        <p:spPr>
          <a:xfrm>
            <a:off x="1570381" y="2088253"/>
            <a:ext cx="5605481" cy="415498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Further detective work to identify the cause of the cholera found that a cesspit filled with toilet waste, below 40 Broad Street, was leaking into the well that the Broad Street pump drew water from.</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A child living at 40 Broad Street died of cholera two days before the outbreak. The child’s mother had been disposing of the child’s toilet waste into the cesspit. This was the cause of the infected pump water.</a:t>
            </a:r>
            <a:endParaRPr/>
          </a:p>
        </p:txBody>
      </p:sp>
      <p:pic>
        <p:nvPicPr>
          <p:cNvPr id="138" name="Google Shape;138;p21"/>
          <p:cNvPicPr preferRelativeResize="0"/>
          <p:nvPr/>
        </p:nvPicPr>
        <p:blipFill rotWithShape="1">
          <a:blip r:embed="rId3">
            <a:alphaModFix/>
          </a:blip>
          <a:srcRect b="0" l="0" r="0" t="0"/>
          <a:stretch/>
        </p:blipFill>
        <p:spPr>
          <a:xfrm>
            <a:off x="7477781" y="1964547"/>
            <a:ext cx="3303431" cy="44045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2"/>
          <p:cNvSpPr txBox="1"/>
          <p:nvPr>
            <p:ph type="title"/>
          </p:nvPr>
        </p:nvSpPr>
        <p:spPr>
          <a:xfrm>
            <a:off x="1570382" y="824948"/>
            <a:ext cx="10621618" cy="79513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Dr Snow and epidemiology</a:t>
            </a:r>
            <a:endParaRPr/>
          </a:p>
        </p:txBody>
      </p:sp>
      <p:sp>
        <p:nvSpPr>
          <p:cNvPr id="144" name="Google Shape;144;p22"/>
          <p:cNvSpPr/>
          <p:nvPr/>
        </p:nvSpPr>
        <p:spPr>
          <a:xfrm>
            <a:off x="1570382" y="2157924"/>
            <a:ext cx="8235469" cy="34163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Dr Snow saved many lives in Soho, but his greater contribution to medicine is the algorithm he invented. He is considered to be the ‘father of epidemiology’.</a:t>
            </a:r>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Epidemiology is the study of the distribution (who, when and where) and causes of health and disease in defined populations. The computational-thinking approach to tackling disease outbreaks that Dr Snow invented can be seen in epidemiologists' important role in responding to Covid-19.</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3"/>
          <p:cNvSpPr txBox="1"/>
          <p:nvPr>
            <p:ph type="title"/>
          </p:nvPr>
        </p:nvSpPr>
        <p:spPr>
          <a:xfrm>
            <a:off x="1580322" y="824948"/>
            <a:ext cx="9773478" cy="80506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4.2: Dr Snow's algorithm</a:t>
            </a:r>
            <a:endParaRPr/>
          </a:p>
        </p:txBody>
      </p:sp>
      <p:pic>
        <p:nvPicPr>
          <p:cNvPr descr="A picture containing athletic game, basketball, sport&#10;&#10;Description automatically generated" id="150" name="Google Shape;150;p23"/>
          <p:cNvPicPr preferRelativeResize="0"/>
          <p:nvPr/>
        </p:nvPicPr>
        <p:blipFill rotWithShape="1">
          <a:blip r:embed="rId3">
            <a:alphaModFix/>
          </a:blip>
          <a:srcRect b="0" l="0" r="0" t="0"/>
          <a:stretch/>
        </p:blipFill>
        <p:spPr>
          <a:xfrm>
            <a:off x="3672838" y="1807678"/>
            <a:ext cx="4846323" cy="474836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24"/>
          <p:cNvSpPr txBox="1"/>
          <p:nvPr>
            <p:ph type="title"/>
          </p:nvPr>
        </p:nvSpPr>
        <p:spPr>
          <a:xfrm>
            <a:off x="1580322" y="824948"/>
            <a:ext cx="10611678" cy="79513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4.2: Dr Snow’s algorithm</a:t>
            </a:r>
            <a:endParaRPr/>
          </a:p>
        </p:txBody>
      </p:sp>
      <p:sp>
        <p:nvSpPr>
          <p:cNvPr id="156" name="Google Shape;156;p24"/>
          <p:cNvSpPr txBox="1"/>
          <p:nvPr>
            <p:ph idx="1" type="body"/>
          </p:nvPr>
        </p:nvSpPr>
        <p:spPr>
          <a:xfrm>
            <a:off x="1580320" y="2018382"/>
            <a:ext cx="9803445" cy="548909"/>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GB" sz="2400"/>
              <a:t>Here are some hints to help you with the activity, in no particular order.</a:t>
            </a:r>
            <a:endParaRPr/>
          </a:p>
        </p:txBody>
      </p:sp>
      <p:sp>
        <p:nvSpPr>
          <p:cNvPr id="157" name="Google Shape;157;p24"/>
          <p:cNvSpPr/>
          <p:nvPr/>
        </p:nvSpPr>
        <p:spPr>
          <a:xfrm>
            <a:off x="6227493" y="4324034"/>
            <a:ext cx="3842975" cy="492443"/>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600">
                <a:solidFill>
                  <a:schemeClr val="dk1"/>
                </a:solidFill>
                <a:latin typeface="Calibri"/>
                <a:ea typeface="Calibri"/>
                <a:cs typeface="Calibri"/>
                <a:sym typeface="Calibri"/>
              </a:rPr>
              <a:t>Come up with a hypothesis</a:t>
            </a:r>
            <a:endParaRPr/>
          </a:p>
        </p:txBody>
      </p:sp>
      <p:sp>
        <p:nvSpPr>
          <p:cNvPr id="158" name="Google Shape;158;p24"/>
          <p:cNvSpPr/>
          <p:nvPr/>
        </p:nvSpPr>
        <p:spPr>
          <a:xfrm>
            <a:off x="7365345" y="5540609"/>
            <a:ext cx="1786963" cy="492443"/>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GB" sz="2600">
                <a:solidFill>
                  <a:schemeClr val="dk1"/>
                </a:solidFill>
                <a:latin typeface="Calibri"/>
                <a:ea typeface="Calibri"/>
                <a:cs typeface="Calibri"/>
                <a:sym typeface="Calibri"/>
              </a:rPr>
              <a:t>Collect data</a:t>
            </a:r>
            <a:endParaRPr/>
          </a:p>
        </p:txBody>
      </p:sp>
      <p:sp>
        <p:nvSpPr>
          <p:cNvPr id="159" name="Google Shape;159;p24"/>
          <p:cNvSpPr/>
          <p:nvPr/>
        </p:nvSpPr>
        <p:spPr>
          <a:xfrm>
            <a:off x="5178007" y="2791091"/>
            <a:ext cx="2098973"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Test hypothesis</a:t>
            </a:r>
            <a:endParaRPr/>
          </a:p>
        </p:txBody>
      </p:sp>
      <p:sp>
        <p:nvSpPr>
          <p:cNvPr id="160" name="Google Shape;160;p24"/>
          <p:cNvSpPr/>
          <p:nvPr/>
        </p:nvSpPr>
        <p:spPr>
          <a:xfrm>
            <a:off x="2552216" y="5453599"/>
            <a:ext cx="3163238"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Identify infected people</a:t>
            </a:r>
            <a:endParaRPr/>
          </a:p>
        </p:txBody>
      </p:sp>
      <p:sp>
        <p:nvSpPr>
          <p:cNvPr id="161" name="Google Shape;161;p24"/>
          <p:cNvSpPr/>
          <p:nvPr/>
        </p:nvSpPr>
        <p:spPr>
          <a:xfrm>
            <a:off x="7998992" y="3252756"/>
            <a:ext cx="3384773"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Is the hypothesis correct?</a:t>
            </a:r>
            <a:endParaRPr/>
          </a:p>
        </p:txBody>
      </p:sp>
      <p:sp>
        <p:nvSpPr>
          <p:cNvPr id="162" name="Google Shape;162;p24"/>
          <p:cNvSpPr/>
          <p:nvPr/>
        </p:nvSpPr>
        <p:spPr>
          <a:xfrm>
            <a:off x="2017368" y="3400676"/>
            <a:ext cx="2320443"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Look for patterns</a:t>
            </a:r>
            <a:endParaRPr/>
          </a:p>
        </p:txBody>
      </p:sp>
      <p:sp>
        <p:nvSpPr>
          <p:cNvPr id="163" name="Google Shape;163;p24"/>
          <p:cNvSpPr/>
          <p:nvPr/>
        </p:nvSpPr>
        <p:spPr>
          <a:xfrm>
            <a:off x="1580320" y="4427137"/>
            <a:ext cx="2959593"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Implement treatment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5"/>
          <p:cNvSpPr txBox="1"/>
          <p:nvPr>
            <p:ph type="title"/>
          </p:nvPr>
        </p:nvSpPr>
        <p:spPr>
          <a:xfrm>
            <a:off x="1580322" y="824948"/>
            <a:ext cx="9773478"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4.2: Dr Snow’s algorithm </a:t>
            </a:r>
            <a:endParaRPr/>
          </a:p>
        </p:txBody>
      </p:sp>
      <p:sp>
        <p:nvSpPr>
          <p:cNvPr id="169" name="Google Shape;169;p25"/>
          <p:cNvSpPr/>
          <p:nvPr/>
        </p:nvSpPr>
        <p:spPr>
          <a:xfrm>
            <a:off x="1580322" y="3429000"/>
            <a:ext cx="4515678"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rgbClr val="000000"/>
                </a:solidFill>
                <a:latin typeface="Calibri"/>
                <a:ea typeface="Calibri"/>
                <a:cs typeface="Calibri"/>
                <a:sym typeface="Calibri"/>
              </a:rPr>
              <a:t>Here is one possible solution:</a:t>
            </a:r>
            <a:endParaRPr/>
          </a:p>
        </p:txBody>
      </p:sp>
      <p:pic>
        <p:nvPicPr>
          <p:cNvPr descr="Diagram&#10;&#10;Description automatically generated" id="170" name="Google Shape;170;p25"/>
          <p:cNvPicPr preferRelativeResize="0"/>
          <p:nvPr/>
        </p:nvPicPr>
        <p:blipFill rotWithShape="1">
          <a:blip r:embed="rId3">
            <a:alphaModFix/>
          </a:blip>
          <a:srcRect b="0" l="0" r="0" t="0"/>
          <a:stretch/>
        </p:blipFill>
        <p:spPr>
          <a:xfrm>
            <a:off x="6096000" y="2179712"/>
            <a:ext cx="3307269" cy="401914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6"/>
          <p:cNvSpPr txBox="1"/>
          <p:nvPr>
            <p:ph type="title"/>
          </p:nvPr>
        </p:nvSpPr>
        <p:spPr>
          <a:xfrm>
            <a:off x="1580322" y="824948"/>
            <a:ext cx="9773478" cy="830997"/>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Generalisation </a:t>
            </a:r>
            <a:endParaRPr/>
          </a:p>
        </p:txBody>
      </p:sp>
      <p:sp>
        <p:nvSpPr>
          <p:cNvPr id="176" name="Google Shape;176;p26"/>
          <p:cNvSpPr/>
          <p:nvPr/>
        </p:nvSpPr>
        <p:spPr>
          <a:xfrm>
            <a:off x="1580322" y="2101521"/>
            <a:ext cx="8591094" cy="34163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rgbClr val="000000"/>
                </a:solidFill>
                <a:latin typeface="Calibri"/>
                <a:ea typeface="Calibri"/>
                <a:cs typeface="Calibri"/>
                <a:sym typeface="Calibri"/>
              </a:rPr>
              <a:t>Dr Snow's algorithm is still relevant today.</a:t>
            </a:r>
            <a:endParaRPr/>
          </a:p>
          <a:p>
            <a:pPr indent="0" lvl="0" marL="0" marR="0" rtl="0" algn="l">
              <a:spcBef>
                <a:spcPts val="0"/>
              </a:spcBef>
              <a:spcAft>
                <a:spcPts val="0"/>
              </a:spcAft>
              <a:buNone/>
            </a:pPr>
            <a:r>
              <a:t/>
            </a:r>
            <a:endParaRPr sz="2400">
              <a:solidFill>
                <a:srgbClr val="000000"/>
              </a:solidFill>
              <a:latin typeface="Calibri"/>
              <a:ea typeface="Calibri"/>
              <a:cs typeface="Calibri"/>
              <a:sym typeface="Calibri"/>
            </a:endParaRPr>
          </a:p>
          <a:p>
            <a:pPr indent="0" lvl="0" marL="0" marR="0" rtl="0" algn="l">
              <a:spcBef>
                <a:spcPts val="0"/>
              </a:spcBef>
              <a:spcAft>
                <a:spcPts val="0"/>
              </a:spcAft>
              <a:buNone/>
            </a:pPr>
            <a:r>
              <a:rPr lang="en-GB" sz="2400">
                <a:solidFill>
                  <a:srgbClr val="000000"/>
                </a:solidFill>
                <a:latin typeface="Calibri"/>
                <a:ea typeface="Calibri"/>
                <a:cs typeface="Calibri"/>
                <a:sym typeface="Calibri"/>
              </a:rPr>
              <a:t>When a solution to a problem – like Dr Snow's algorithm – is applied to many similar types of problems, this is known as </a:t>
            </a:r>
            <a:r>
              <a:rPr b="1" lang="en-GB" sz="2400">
                <a:solidFill>
                  <a:srgbClr val="0069B4"/>
                </a:solidFill>
                <a:latin typeface="Calibri"/>
                <a:ea typeface="Calibri"/>
                <a:cs typeface="Calibri"/>
                <a:sym typeface="Calibri"/>
              </a:rPr>
              <a:t>generalisation</a:t>
            </a:r>
            <a:r>
              <a:rPr lang="en-GB" sz="2400">
                <a:solidFill>
                  <a:srgbClr val="000000"/>
                </a:solidFill>
                <a:latin typeface="Calibri"/>
                <a:ea typeface="Calibri"/>
                <a:cs typeface="Calibri"/>
                <a:sym typeface="Calibri"/>
              </a:rPr>
              <a:t> and it is a key technique used in computing.</a:t>
            </a:r>
            <a:endParaRPr/>
          </a:p>
          <a:p>
            <a:pPr indent="0" lvl="0" marL="0" marR="0" rtl="0" algn="l">
              <a:spcBef>
                <a:spcPts val="0"/>
              </a:spcBef>
              <a:spcAft>
                <a:spcPts val="0"/>
              </a:spcAft>
              <a:buNone/>
            </a:pPr>
            <a:r>
              <a:t/>
            </a:r>
            <a:endParaRPr sz="2400">
              <a:solidFill>
                <a:srgbClr val="000000"/>
              </a:solidFill>
              <a:latin typeface="Calibri"/>
              <a:ea typeface="Calibri"/>
              <a:cs typeface="Calibri"/>
              <a:sym typeface="Calibri"/>
            </a:endParaRPr>
          </a:p>
          <a:p>
            <a:pPr indent="0" lvl="0" marL="0" marR="0" rtl="0" algn="l">
              <a:spcBef>
                <a:spcPts val="0"/>
              </a:spcBef>
              <a:spcAft>
                <a:spcPts val="0"/>
              </a:spcAft>
              <a:buNone/>
            </a:pPr>
            <a:r>
              <a:rPr lang="en-GB" sz="2400">
                <a:solidFill>
                  <a:srgbClr val="000000"/>
                </a:solidFill>
                <a:latin typeface="Calibri"/>
                <a:ea typeface="Calibri"/>
                <a:cs typeface="Calibri"/>
                <a:sym typeface="Calibri"/>
              </a:rPr>
              <a:t>Computer programmers frequently borrow and adapt code written for a different but similar purpose. Generalisation makes coding much more efficient and improves productivity.</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7"/>
          <p:cNvSpPr txBox="1"/>
          <p:nvPr>
            <p:ph type="title"/>
          </p:nvPr>
        </p:nvSpPr>
        <p:spPr>
          <a:xfrm>
            <a:off x="1590260" y="805070"/>
            <a:ext cx="9763539" cy="824947"/>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i="1" lang="en-GB">
                <a:solidFill>
                  <a:schemeClr val="lt1"/>
                </a:solidFill>
              </a:rPr>
              <a:t>East African News </a:t>
            </a:r>
            <a:endParaRPr/>
          </a:p>
        </p:txBody>
      </p:sp>
      <p:sp>
        <p:nvSpPr>
          <p:cNvPr id="182" name="Google Shape;182;p27"/>
          <p:cNvSpPr/>
          <p:nvPr/>
        </p:nvSpPr>
        <p:spPr>
          <a:xfrm>
            <a:off x="1590260" y="2165327"/>
            <a:ext cx="4297018" cy="1763944"/>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None/>
            </a:pPr>
            <a:r>
              <a:rPr lang="en-GB" sz="2400">
                <a:solidFill>
                  <a:schemeClr val="dk1"/>
                </a:solidFill>
                <a:latin typeface="Calibri"/>
                <a:ea typeface="Calibri"/>
                <a:cs typeface="Calibri"/>
                <a:sym typeface="Calibri"/>
              </a:rPr>
              <a:t>Malaria is the deadliest disease on Earth. It is spread by the </a:t>
            </a:r>
            <a:r>
              <a:rPr i="1" lang="en-GB" sz="2400">
                <a:solidFill>
                  <a:schemeClr val="dk1"/>
                </a:solidFill>
                <a:latin typeface="Calibri"/>
                <a:ea typeface="Calibri"/>
                <a:cs typeface="Calibri"/>
                <a:sym typeface="Calibri"/>
              </a:rPr>
              <a:t>Anopheles</a:t>
            </a:r>
            <a:r>
              <a:rPr lang="en-GB" sz="2400">
                <a:solidFill>
                  <a:schemeClr val="dk1"/>
                </a:solidFill>
                <a:latin typeface="Calibri"/>
                <a:ea typeface="Calibri"/>
                <a:cs typeface="Calibri"/>
                <a:sym typeface="Calibri"/>
              </a:rPr>
              <a:t> mosquito and kills millions of people every year.</a:t>
            </a:r>
            <a:endParaRPr sz="2400">
              <a:solidFill>
                <a:schemeClr val="dk1"/>
              </a:solidFill>
              <a:latin typeface="Arial"/>
              <a:ea typeface="Arial"/>
              <a:cs typeface="Arial"/>
              <a:sym typeface="Arial"/>
            </a:endParaRPr>
          </a:p>
        </p:txBody>
      </p:sp>
      <p:sp>
        <p:nvSpPr>
          <p:cNvPr id="183" name="Google Shape;183;p27"/>
          <p:cNvSpPr/>
          <p:nvPr/>
        </p:nvSpPr>
        <p:spPr>
          <a:xfrm>
            <a:off x="6679568" y="2165327"/>
            <a:ext cx="4297018" cy="3887603"/>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None/>
            </a:pPr>
            <a:r>
              <a:rPr lang="en-GB" sz="2400">
                <a:solidFill>
                  <a:schemeClr val="dk1"/>
                </a:solidFill>
                <a:latin typeface="Calibri"/>
                <a:ea typeface="Calibri"/>
                <a:cs typeface="Calibri"/>
                <a:sym typeface="Calibri"/>
              </a:rPr>
              <a:t>The most effective way of preventing malaria is to destroy the mosquito in its breeding grounds by spraying them with insecticide, but insecticides are expensive and polluting. Mosquito nets can stop people being bitten in the first place, but not everyone uses them.</a:t>
            </a:r>
            <a:endParaRPr sz="2400">
              <a:solidFill>
                <a:schemeClr val="dk1"/>
              </a:solidFill>
              <a:latin typeface="Arial"/>
              <a:ea typeface="Arial"/>
              <a:cs typeface="Arial"/>
              <a:sym typeface="Arial"/>
            </a:endParaRPr>
          </a:p>
        </p:txBody>
      </p:sp>
      <p:pic>
        <p:nvPicPr>
          <p:cNvPr id="184" name="Google Shape;184;p27"/>
          <p:cNvPicPr preferRelativeResize="0"/>
          <p:nvPr/>
        </p:nvPicPr>
        <p:blipFill rotWithShape="1">
          <a:blip r:embed="rId3">
            <a:alphaModFix/>
          </a:blip>
          <a:srcRect b="0" l="0" r="0" t="0"/>
          <a:stretch/>
        </p:blipFill>
        <p:spPr>
          <a:xfrm>
            <a:off x="3972668" y="3929271"/>
            <a:ext cx="2499361" cy="1778116"/>
          </a:xfrm>
          <a:prstGeom prst="rect">
            <a:avLst/>
          </a:prstGeom>
          <a:noFill/>
          <a:ln>
            <a:noFill/>
          </a:ln>
        </p:spPr>
      </p:pic>
      <p:pic>
        <p:nvPicPr>
          <p:cNvPr descr="Text&#10;&#10;Description automatically generated" id="185" name="Google Shape;185;p27"/>
          <p:cNvPicPr preferRelativeResize="0"/>
          <p:nvPr/>
        </p:nvPicPr>
        <p:blipFill rotWithShape="1">
          <a:blip r:embed="rId4">
            <a:alphaModFix/>
          </a:blip>
          <a:srcRect b="0" l="0" r="0" t="0"/>
          <a:stretch/>
        </p:blipFill>
        <p:spPr>
          <a:xfrm>
            <a:off x="598877" y="4998907"/>
            <a:ext cx="4091500" cy="1416959"/>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8"/>
          <p:cNvSpPr txBox="1"/>
          <p:nvPr>
            <p:ph type="title"/>
          </p:nvPr>
        </p:nvSpPr>
        <p:spPr>
          <a:xfrm>
            <a:off x="1590260" y="805070"/>
            <a:ext cx="9763539" cy="834887"/>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 4</a:t>
            </a:r>
            <a:endParaRPr/>
          </a:p>
        </p:txBody>
      </p:sp>
      <p:pic>
        <p:nvPicPr>
          <p:cNvPr descr="A picture containing athletic game, basketball, sport&#10;&#10;Description automatically generated" id="191" name="Google Shape;191;p28"/>
          <p:cNvPicPr preferRelativeResize="0"/>
          <p:nvPr/>
        </p:nvPicPr>
        <p:blipFill rotWithShape="1">
          <a:blip r:embed="rId3">
            <a:alphaModFix/>
          </a:blip>
          <a:srcRect b="0" l="0" r="0" t="0"/>
          <a:stretch/>
        </p:blipFill>
        <p:spPr>
          <a:xfrm>
            <a:off x="3672838" y="1807678"/>
            <a:ext cx="4846323" cy="474836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