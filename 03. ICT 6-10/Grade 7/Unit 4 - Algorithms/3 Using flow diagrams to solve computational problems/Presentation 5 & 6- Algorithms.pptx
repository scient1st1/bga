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192000" cy="16416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1864450" y="2971075"/>
            <a:ext cx="4231550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lang="en-GB"/>
              <a:t>Algorithms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2133507" y="3886925"/>
            <a:ext cx="3962494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Lessons 5 and 6: Malaria in Kitanga</a:t>
            </a:r>
            <a:endParaRPr b="1" i="0" sz="2000" u="none" cap="none" strike="noStrike">
              <a:solidFill>
                <a:srgbClr val="00B0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text, electronics, display, screenshot&#10;&#10;Description automatically generated"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07429" y="2607043"/>
            <a:ext cx="2937410" cy="2420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580322" y="874643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393937" y="2305615"/>
            <a:ext cx="9559198" cy="27392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 how to: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the concepts of decomposition, abstraction, pattern recognition and algorithm design to a real-world problem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collect and analyse data to identify the cause of a real-world problem and suggest a solution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analyse different approaches to solving problems.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580322" y="874643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423433" y="1951654"/>
            <a:ext cx="9559198" cy="50475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terminology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Generalization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Decomposition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collection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Abstraction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Pattern recognition</a:t>
            </a:r>
            <a:endParaRPr/>
          </a:p>
          <a:p>
            <a:pPr indent="-1397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Noto Sans Symbols"/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1570382" y="834888"/>
            <a:ext cx="9783417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i="1" lang="en-GB">
                <a:solidFill>
                  <a:schemeClr val="lt1"/>
                </a:solidFill>
              </a:rPr>
              <a:t>East African News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1570382" y="2470109"/>
            <a:ext cx="3916018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Read the front page of the </a:t>
            </a:r>
            <a:r>
              <a:rPr i="1"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East African News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look at the map of Kitanga District.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agram, map&#10;&#10;Description automatically generated" id="101" name="Google Shape;10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05602" y="1922198"/>
            <a:ext cx="4376928" cy="43295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ext&#10;&#10;Description automatically generated" id="102" name="Google Shape;10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6983" y="4336047"/>
            <a:ext cx="5112290" cy="1770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type="title"/>
          </p:nvPr>
        </p:nvSpPr>
        <p:spPr>
          <a:xfrm>
            <a:off x="1580322" y="844253"/>
            <a:ext cx="9773478" cy="7559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Dr Snow’s algorithm </a:t>
            </a:r>
            <a:endParaRPr/>
          </a:p>
        </p:txBody>
      </p:sp>
      <p:pic>
        <p:nvPicPr>
          <p:cNvPr descr="Diagram&#10;&#10;Description automatically generated" id="108" name="Google Shape;10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6157" y="1820656"/>
            <a:ext cx="3719686" cy="45203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/>
          <p:nvPr>
            <p:ph type="title"/>
          </p:nvPr>
        </p:nvSpPr>
        <p:spPr>
          <a:xfrm>
            <a:off x="1580322" y="844253"/>
            <a:ext cx="9773478" cy="7559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Dr Snow’s algorithm </a:t>
            </a:r>
            <a:endParaRPr/>
          </a:p>
        </p:txBody>
      </p:sp>
      <p:pic>
        <p:nvPicPr>
          <p:cNvPr descr="Table&#10;&#10;Description automatically generated" id="114" name="Google Shape;11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62334" y="1812586"/>
            <a:ext cx="8576401" cy="4834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9"/>
          <p:cNvSpPr txBox="1"/>
          <p:nvPr>
            <p:ph type="title"/>
          </p:nvPr>
        </p:nvSpPr>
        <p:spPr>
          <a:xfrm>
            <a:off x="1580322" y="844253"/>
            <a:ext cx="9773478" cy="7559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Dr Snow’s algorithm </a:t>
            </a:r>
            <a:endParaRPr/>
          </a:p>
        </p:txBody>
      </p:sp>
      <p:pic>
        <p:nvPicPr>
          <p:cNvPr id="120" name="Google Shape;12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277" y="1745932"/>
            <a:ext cx="4754413" cy="5016927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9"/>
          <p:cNvSpPr/>
          <p:nvPr/>
        </p:nvSpPr>
        <p:spPr>
          <a:xfrm>
            <a:off x="5545393" y="1745932"/>
            <a:ext cx="6096000" cy="36933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population = 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nets = 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infected = 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infection_rate = 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distance = 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population = int(input('What is the village population? '))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nets = int(input('How many villagers use nets? '))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infected = int(input('How many villagers are infected? '))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infection_rate = (infected/(population - nets))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distance = int(input('What is distance to the swamp? '))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risk = (infection_rate / distance)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print('The risk is:')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print(risk)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type="title"/>
          </p:nvPr>
        </p:nvSpPr>
        <p:spPr>
          <a:xfrm>
            <a:off x="1620077" y="854766"/>
            <a:ext cx="10197548" cy="755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lang="en-GB">
                <a:solidFill>
                  <a:srgbClr val="FFFFFF"/>
                </a:solidFill>
              </a:rPr>
              <a:t>Generalisation 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127" name="Google Shape;127;p20"/>
          <p:cNvSpPr txBox="1"/>
          <p:nvPr>
            <p:ph idx="1" type="body"/>
          </p:nvPr>
        </p:nvSpPr>
        <p:spPr>
          <a:xfrm>
            <a:off x="1620077" y="2065750"/>
            <a:ext cx="8517836" cy="27264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Dr Snow's algorithm is still relevant today.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When a solution to a problem – like Dr Snow's algorithm – is applied to many similar types of problems, this is known as </a:t>
            </a:r>
            <a:r>
              <a:rPr b="1" lang="en-GB" sz="2400">
                <a:solidFill>
                  <a:srgbClr val="00B0F0"/>
                </a:solidFill>
              </a:rPr>
              <a:t>generalisation</a:t>
            </a:r>
            <a:r>
              <a:rPr lang="en-GB" sz="2400"/>
              <a:t> and it is a key technique used in computing.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Computer programmers frequently borrow and adapt code written for a different but similar purpose. Generalisation makes coding much more efficient and improves productivity.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/>
          <p:nvPr>
            <p:ph type="title"/>
          </p:nvPr>
        </p:nvSpPr>
        <p:spPr>
          <a:xfrm>
            <a:off x="1570382" y="834888"/>
            <a:ext cx="9783417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5.1: </a:t>
            </a:r>
            <a:r>
              <a:rPr b="1" i="1" lang="en-GB">
                <a:solidFill>
                  <a:schemeClr val="lt1"/>
                </a:solidFill>
              </a:rPr>
              <a:t>East African News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descr="A picture containing athletic game, basketball, sport&#10;&#10;Description automatically generated" id="133" name="Google Shape;13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72838" y="1807678"/>
            <a:ext cx="4846323" cy="47483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athletic game, basketball, sport&#10;&#10;Description automatically generated" id="138" name="Google Shape;13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72838" y="1807678"/>
            <a:ext cx="4846323" cy="4748366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2"/>
          <p:cNvSpPr txBox="1"/>
          <p:nvPr>
            <p:ph type="title"/>
          </p:nvPr>
        </p:nvSpPr>
        <p:spPr>
          <a:xfrm>
            <a:off x="1570382" y="834888"/>
            <a:ext cx="9783417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5.2: Data collection 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3"/>
          <p:cNvSpPr txBox="1"/>
          <p:nvPr>
            <p:ph type="title"/>
          </p:nvPr>
        </p:nvSpPr>
        <p:spPr>
          <a:xfrm>
            <a:off x="1570382" y="834888"/>
            <a:ext cx="9783417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4400"/>
              <a:buFont typeface="Calibri"/>
              <a:buNone/>
            </a:pPr>
            <a:r>
              <a:rPr b="1" lang="en-GB">
                <a:solidFill>
                  <a:srgbClr val="F2F2F2"/>
                </a:solidFill>
              </a:rPr>
              <a:t>Activity 5.3: Abstraction </a:t>
            </a:r>
            <a:endParaRPr/>
          </a:p>
        </p:txBody>
      </p:sp>
      <p:pic>
        <p:nvPicPr>
          <p:cNvPr descr="A picture containing athletic game, basketball, sport&#10;&#10;Description automatically generated" id="145" name="Google Shape;14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72838" y="1807678"/>
            <a:ext cx="4846323" cy="47483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4"/>
          <p:cNvSpPr txBox="1"/>
          <p:nvPr>
            <p:ph type="title"/>
          </p:nvPr>
        </p:nvSpPr>
        <p:spPr>
          <a:xfrm>
            <a:off x="1570382" y="834888"/>
            <a:ext cx="9783417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4400"/>
              <a:buFont typeface="Calibri"/>
              <a:buNone/>
            </a:pPr>
            <a:r>
              <a:rPr b="1" lang="en-GB">
                <a:solidFill>
                  <a:srgbClr val="F2F2F2"/>
                </a:solidFill>
              </a:rPr>
              <a:t>Activity 5.4: Pattern recognition </a:t>
            </a:r>
            <a:endParaRPr/>
          </a:p>
        </p:txBody>
      </p:sp>
      <p:pic>
        <p:nvPicPr>
          <p:cNvPr descr="A picture containing athletic game, basketball, sport&#10;&#10;Description automatically generated" id="151" name="Google Shape;15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72838" y="1807678"/>
            <a:ext cx="4846323" cy="47483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/>
          <p:nvPr>
            <p:ph type="title"/>
          </p:nvPr>
        </p:nvSpPr>
        <p:spPr>
          <a:xfrm>
            <a:off x="1600201" y="844826"/>
            <a:ext cx="9753598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Which swamp should be sprayed? </a:t>
            </a:r>
            <a:endParaRPr/>
          </a:p>
        </p:txBody>
      </p:sp>
      <p:pic>
        <p:nvPicPr>
          <p:cNvPr descr="Chart, bar chart, histogram&#10;&#10;Description automatically generated" id="157" name="Google Shape;15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74218" y="1837214"/>
            <a:ext cx="4643563" cy="45885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6"/>
          <p:cNvSpPr txBox="1"/>
          <p:nvPr>
            <p:ph type="title"/>
          </p:nvPr>
        </p:nvSpPr>
        <p:spPr>
          <a:xfrm>
            <a:off x="1570382" y="834888"/>
            <a:ext cx="9783417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4400"/>
              <a:buFont typeface="Calibri"/>
              <a:buNone/>
            </a:pPr>
            <a:r>
              <a:rPr b="1" lang="en-GB">
                <a:solidFill>
                  <a:srgbClr val="F2F2F2"/>
                </a:solidFill>
              </a:rPr>
              <a:t>Activity 5.5: Meet the Potato Heads </a:t>
            </a:r>
            <a:endParaRPr/>
          </a:p>
        </p:txBody>
      </p:sp>
      <p:pic>
        <p:nvPicPr>
          <p:cNvPr descr="A picture containing athletic game, basketball, sport&#10;&#10;Description automatically generated" id="163" name="Google Shape;16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72838" y="1807678"/>
            <a:ext cx="4846323" cy="47483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1570382" y="834888"/>
            <a:ext cx="9783417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4400"/>
              <a:buFont typeface="Calibri"/>
              <a:buNone/>
            </a:pPr>
            <a:r>
              <a:rPr b="1" lang="en-GB">
                <a:solidFill>
                  <a:srgbClr val="F2F2F2"/>
                </a:solidFill>
              </a:rPr>
              <a:t>Activity 5.6: Infection risk app </a:t>
            </a:r>
            <a:endParaRPr/>
          </a:p>
        </p:txBody>
      </p:sp>
      <p:pic>
        <p:nvPicPr>
          <p:cNvPr descr="A picture containing athletic game, basketball, sport&#10;&#10;Description automatically generated" id="169" name="Google Shape;16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72838" y="1807678"/>
            <a:ext cx="4846323" cy="47483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1600199" y="805071"/>
            <a:ext cx="9753600" cy="8756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Reflection </a:t>
            </a:r>
            <a:endParaRPr/>
          </a:p>
        </p:txBody>
      </p:sp>
      <p:sp>
        <p:nvSpPr>
          <p:cNvPr id="175" name="Google Shape;175;p28"/>
          <p:cNvSpPr txBox="1"/>
          <p:nvPr>
            <p:ph idx="1" type="body"/>
          </p:nvPr>
        </p:nvSpPr>
        <p:spPr>
          <a:xfrm>
            <a:off x="1600199" y="2302470"/>
            <a:ext cx="7866018" cy="4109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GB" sz="2400"/>
              <a:t>Name three things you have learnt during this module that you did not know before.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GB" sz="2400"/>
              <a:t>Name two things you would like to know more about.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GB" sz="2400"/>
              <a:t>Will you apply the computational-thinking approach to problem solving when you have problems of your own to solve in the future?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