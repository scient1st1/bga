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slide" Target="slides/slide20.xml"/><Relationship Id="rId12" Type="http://schemas.openxmlformats.org/officeDocument/2006/relationships/slide" Target="slides/slide8.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192000" cy="16416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jp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jp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864450" y="2971075"/>
            <a:ext cx="4231550" cy="915850"/>
          </a:xfrm>
          <a:prstGeom prst="rect">
            <a:avLst/>
          </a:prstGeom>
          <a:noFill/>
          <a:ln>
            <a:noFill/>
          </a:ln>
        </p:spPr>
        <p:txBody>
          <a:bodyPr anchorCtr="0" anchor="b" bIns="45700" lIns="91425" spcFirstLastPara="1" rIns="91425" wrap="square" tIns="45700">
            <a:normAutofit/>
          </a:bodyPr>
          <a:lstStyle/>
          <a:p>
            <a:pPr indent="0" lvl="0" marL="0" rtl="0" algn="r">
              <a:lnSpc>
                <a:spcPct val="90000"/>
              </a:lnSpc>
              <a:spcBef>
                <a:spcPts val="0"/>
              </a:spcBef>
              <a:spcAft>
                <a:spcPts val="0"/>
              </a:spcAft>
              <a:buClr>
                <a:schemeClr val="dk1"/>
              </a:buClr>
              <a:buSzPts val="6000"/>
              <a:buFont typeface="Calibri"/>
              <a:buNone/>
            </a:pPr>
            <a:r>
              <a:rPr b="1" lang="en-GB"/>
              <a:t>Algorithms</a:t>
            </a:r>
            <a:endParaRPr/>
          </a:p>
        </p:txBody>
      </p:sp>
      <p:sp>
        <p:nvSpPr>
          <p:cNvPr id="81" name="Google Shape;81;p13"/>
          <p:cNvSpPr/>
          <p:nvPr/>
        </p:nvSpPr>
        <p:spPr>
          <a:xfrm>
            <a:off x="2475879" y="3886925"/>
            <a:ext cx="3620121" cy="707886"/>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00B0F0"/>
                </a:solidFill>
                <a:latin typeface="Calibri"/>
                <a:ea typeface="Calibri"/>
                <a:cs typeface="Calibri"/>
                <a:sym typeface="Calibri"/>
              </a:rPr>
              <a:t>Lesson 1: Using computational thinking to solve problems</a:t>
            </a:r>
            <a:endParaRPr/>
          </a:p>
        </p:txBody>
      </p:sp>
      <p:pic>
        <p:nvPicPr>
          <p:cNvPr descr="A picture containing text, electronics, display, screenshot&#10;&#10;Description automatically generated" id="82" name="Google Shape;82;p13"/>
          <p:cNvPicPr preferRelativeResize="0"/>
          <p:nvPr/>
        </p:nvPicPr>
        <p:blipFill rotWithShape="1">
          <a:blip r:embed="rId3">
            <a:alphaModFix/>
          </a:blip>
          <a:srcRect b="0" l="0" r="0" t="0"/>
          <a:stretch/>
        </p:blipFill>
        <p:spPr>
          <a:xfrm>
            <a:off x="6707429" y="2607043"/>
            <a:ext cx="2937410" cy="242042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80322" y="87464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393937" y="2305615"/>
            <a:ext cx="7488806" cy="200054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In this lesson, you will learn how to:</a:t>
            </a:r>
            <a:endParaRPr sz="2800">
              <a:solidFill>
                <a:schemeClr val="dk1"/>
              </a:solidFill>
              <a:latin typeface="Times New Roman"/>
              <a:ea typeface="Times New Roman"/>
              <a:cs typeface="Times New Roman"/>
              <a:sym typeface="Times New Roman"/>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apply a logical approach to problem solving</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create solutions to problems that can be implemented by following a series of simple instructions</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compare different approaches to problem solving.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844826"/>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Your cousin’s problem </a:t>
            </a:r>
            <a:endParaRPr/>
          </a:p>
        </p:txBody>
      </p:sp>
      <p:sp>
        <p:nvSpPr>
          <p:cNvPr id="94" name="Google Shape;94;p15"/>
          <p:cNvSpPr/>
          <p:nvPr/>
        </p:nvSpPr>
        <p:spPr>
          <a:xfrm>
            <a:off x="1580322" y="2546127"/>
            <a:ext cx="4989443" cy="3040512"/>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2400">
                <a:solidFill>
                  <a:srgbClr val="000000"/>
                </a:solidFill>
                <a:latin typeface="Calibri"/>
                <a:ea typeface="Calibri"/>
                <a:cs typeface="Calibri"/>
                <a:sym typeface="Calibri"/>
              </a:rPr>
              <a:t>When she visited your house, your cousin saw a model helicopter that you had built with a construction toy.</a:t>
            </a:r>
            <a:endParaRPr/>
          </a:p>
          <a:p>
            <a:pPr indent="0" lvl="0" marL="0" marR="0" rtl="0" algn="l">
              <a:lnSpc>
                <a:spcPct val="115000"/>
              </a:lnSpc>
              <a:spcBef>
                <a:spcPts val="0"/>
              </a:spcBef>
              <a:spcAft>
                <a:spcPts val="0"/>
              </a:spcAft>
              <a:buNone/>
            </a:pPr>
            <a:r>
              <a:rPr lang="en-GB" sz="2400">
                <a:solidFill>
                  <a:srgbClr val="000000"/>
                </a:solidFill>
                <a:latin typeface="Calibri"/>
                <a:ea typeface="Calibri"/>
                <a:cs typeface="Calibri"/>
                <a:sym typeface="Calibri"/>
              </a:rPr>
              <a:t>She has asked you to send her some instructions to follow so that she can build the same model for herself, using the same construction toy.</a:t>
            </a:r>
            <a:endParaRPr/>
          </a:p>
        </p:txBody>
      </p:sp>
      <p:pic>
        <p:nvPicPr>
          <p:cNvPr descr="A picture containing toy&#10;&#10;Description automatically generated" id="95" name="Google Shape;95;p15"/>
          <p:cNvPicPr preferRelativeResize="0"/>
          <p:nvPr/>
        </p:nvPicPr>
        <p:blipFill rotWithShape="1">
          <a:blip r:embed="rId3">
            <a:alphaModFix/>
          </a:blip>
          <a:srcRect b="0" l="0" r="0" t="0"/>
          <a:stretch/>
        </p:blipFill>
        <p:spPr>
          <a:xfrm>
            <a:off x="7329238" y="2546127"/>
            <a:ext cx="3800856" cy="303885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854765"/>
            <a:ext cx="10197548"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FFFFFF"/>
              </a:buClr>
              <a:buSzPts val="3200"/>
              <a:buFont typeface="Calibri"/>
              <a:buNone/>
            </a:pPr>
            <a:r>
              <a:rPr b="1" lang="en-GB" sz="3200">
                <a:solidFill>
                  <a:srgbClr val="FFFFFF"/>
                </a:solidFill>
              </a:rPr>
              <a:t>Using computational thinking to solve your cousin’s problem</a:t>
            </a:r>
            <a:endParaRPr b="1" sz="3200">
              <a:solidFill>
                <a:schemeClr val="lt1"/>
              </a:solidFill>
            </a:endParaRPr>
          </a:p>
        </p:txBody>
      </p:sp>
      <p:sp>
        <p:nvSpPr>
          <p:cNvPr id="101" name="Google Shape;101;p16"/>
          <p:cNvSpPr txBox="1"/>
          <p:nvPr>
            <p:ph idx="1" type="body"/>
          </p:nvPr>
        </p:nvSpPr>
        <p:spPr>
          <a:xfrm>
            <a:off x="1620078" y="2123799"/>
            <a:ext cx="8925340" cy="3879436"/>
          </a:xfrm>
          <a:prstGeom prst="rect">
            <a:avLst/>
          </a:prstGeom>
          <a:noFill/>
          <a:ln>
            <a:noFill/>
          </a:ln>
        </p:spPr>
        <p:txBody>
          <a:bodyPr anchorCtr="0" anchor="t" bIns="45700" lIns="91425" spcFirstLastPara="1" rIns="91425" wrap="square" tIns="45700">
            <a:normAutofit/>
          </a:bodyPr>
          <a:lstStyle/>
          <a:p>
            <a:pPr indent="0" lvl="0" marL="0" rtl="0" algn="l">
              <a:lnSpc>
                <a:spcPct val="115000"/>
              </a:lnSpc>
              <a:spcBef>
                <a:spcPts val="0"/>
              </a:spcBef>
              <a:spcAft>
                <a:spcPts val="0"/>
              </a:spcAft>
              <a:buClr>
                <a:srgbClr val="000000"/>
              </a:buClr>
              <a:buSzPts val="2400"/>
              <a:buNone/>
            </a:pPr>
            <a:r>
              <a:rPr lang="en-GB" sz="2400">
                <a:solidFill>
                  <a:srgbClr val="000000"/>
                </a:solidFill>
              </a:rPr>
              <a:t>A computer scientist would tackle your cousin’s problem in a logical way, by applying an approach known as </a:t>
            </a:r>
            <a:r>
              <a:rPr b="1" lang="en-GB" sz="2400">
                <a:solidFill>
                  <a:srgbClr val="0069B4"/>
                </a:solidFill>
              </a:rPr>
              <a:t>computational</a:t>
            </a:r>
            <a:r>
              <a:rPr b="1" lang="en-GB" sz="2400">
                <a:solidFill>
                  <a:srgbClr val="00B0F0"/>
                </a:solidFill>
              </a:rPr>
              <a:t> </a:t>
            </a:r>
            <a:r>
              <a:rPr b="1" lang="en-GB" sz="2400">
                <a:solidFill>
                  <a:srgbClr val="0069B4"/>
                </a:solidFill>
              </a:rPr>
              <a:t>thinking</a:t>
            </a:r>
            <a:r>
              <a:rPr lang="en-GB" sz="2400">
                <a:solidFill>
                  <a:srgbClr val="000000"/>
                </a:solidFill>
              </a:rPr>
              <a:t>.</a:t>
            </a:r>
            <a:endParaRPr/>
          </a:p>
          <a:p>
            <a:pPr indent="0" lvl="0" marL="0" rtl="0" algn="l">
              <a:lnSpc>
                <a:spcPct val="115000"/>
              </a:lnSpc>
              <a:spcBef>
                <a:spcPts val="0"/>
              </a:spcBef>
              <a:spcAft>
                <a:spcPts val="0"/>
              </a:spcAft>
              <a:buClr>
                <a:schemeClr val="dk1"/>
              </a:buClr>
              <a:buSzPts val="2400"/>
              <a:buNone/>
            </a:pPr>
            <a:r>
              <a:t/>
            </a:r>
            <a:endParaRPr sz="2400">
              <a:solidFill>
                <a:srgbClr val="231F20"/>
              </a:solidFill>
            </a:endParaRPr>
          </a:p>
          <a:p>
            <a:pPr indent="0" lvl="0" marL="0" rtl="0" algn="l">
              <a:lnSpc>
                <a:spcPct val="115000"/>
              </a:lnSpc>
              <a:spcBef>
                <a:spcPts val="0"/>
              </a:spcBef>
              <a:spcAft>
                <a:spcPts val="0"/>
              </a:spcAft>
              <a:buClr>
                <a:srgbClr val="231F20"/>
              </a:buClr>
              <a:buSzPts val="2400"/>
              <a:buNone/>
            </a:pPr>
            <a:r>
              <a:rPr lang="en-GB" sz="2400">
                <a:solidFill>
                  <a:srgbClr val="231F20"/>
                </a:solidFill>
              </a:rPr>
              <a:t>Computational thinking allows us to take a complex problem, understand what the problem is and develop possible solutions.</a:t>
            </a:r>
            <a:endParaRPr sz="2400">
              <a:solidFill>
                <a:srgbClr val="000000"/>
              </a:solidFill>
            </a:endParaRPr>
          </a:p>
          <a:p>
            <a:pPr indent="0" lvl="0" marL="0" rtl="0" algn="l">
              <a:lnSpc>
                <a:spcPct val="115000"/>
              </a:lnSpc>
              <a:spcBef>
                <a:spcPts val="0"/>
              </a:spcBef>
              <a:spcAft>
                <a:spcPts val="0"/>
              </a:spcAft>
              <a:buClr>
                <a:schemeClr val="dk1"/>
              </a:buClr>
              <a:buSzPts val="2400"/>
              <a:buNone/>
            </a:pPr>
            <a:r>
              <a:t/>
            </a:r>
            <a:endParaRPr sz="2400">
              <a:solidFill>
                <a:srgbClr val="000000"/>
              </a:solidFill>
            </a:endParaRPr>
          </a:p>
          <a:p>
            <a:pPr indent="0" lvl="0" marL="0" rtl="0" algn="l">
              <a:lnSpc>
                <a:spcPct val="115000"/>
              </a:lnSpc>
              <a:spcBef>
                <a:spcPts val="0"/>
              </a:spcBef>
              <a:spcAft>
                <a:spcPts val="0"/>
              </a:spcAft>
              <a:buClr>
                <a:srgbClr val="000000"/>
              </a:buClr>
              <a:buSzPts val="2400"/>
              <a:buNone/>
            </a:pPr>
            <a:r>
              <a:rPr lang="en-GB" sz="2400">
                <a:solidFill>
                  <a:srgbClr val="000000"/>
                </a:solidFill>
              </a:rPr>
              <a:t>There are a number of distinct stages or </a:t>
            </a:r>
            <a:r>
              <a:rPr b="1" lang="en-GB" sz="2400">
                <a:solidFill>
                  <a:srgbClr val="000000"/>
                </a:solidFill>
              </a:rPr>
              <a:t>cornerstones</a:t>
            </a:r>
            <a:r>
              <a:rPr lang="en-GB" sz="2400">
                <a:solidFill>
                  <a:srgbClr val="000000"/>
                </a:solidFill>
              </a:rPr>
              <a:t> to computational thinking. The first is called </a:t>
            </a:r>
            <a:r>
              <a:rPr b="1" lang="en-GB" sz="2400">
                <a:solidFill>
                  <a:srgbClr val="0069B4"/>
                </a:solidFill>
              </a:rPr>
              <a:t>decomposition</a:t>
            </a:r>
            <a:r>
              <a:rPr lang="en-GB" sz="2400">
                <a:solidFill>
                  <a:srgbClr val="000000"/>
                </a:solidFill>
              </a:rPr>
              <a: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type="title"/>
          </p:nvPr>
        </p:nvSpPr>
        <p:spPr>
          <a:xfrm>
            <a:off x="1600201" y="844826"/>
            <a:ext cx="9753598"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Decomposition </a:t>
            </a:r>
            <a:endParaRPr/>
          </a:p>
        </p:txBody>
      </p:sp>
      <p:sp>
        <p:nvSpPr>
          <p:cNvPr id="107" name="Google Shape;107;p17"/>
          <p:cNvSpPr txBox="1"/>
          <p:nvPr>
            <p:ph idx="1" type="body"/>
          </p:nvPr>
        </p:nvSpPr>
        <p:spPr>
          <a:xfrm>
            <a:off x="1600201" y="1905137"/>
            <a:ext cx="9481930"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latin typeface="Calibri"/>
                <a:ea typeface="Calibri"/>
                <a:cs typeface="Calibri"/>
                <a:sym typeface="Calibri"/>
              </a:rPr>
              <a:t>To gain a really good understanding of a complex problem, it helps to break it down or decompose it into a number of smaller problems.</a:t>
            </a:r>
            <a:endParaRPr/>
          </a:p>
          <a:p>
            <a:pPr indent="0" lvl="0" marL="0" rtl="0" algn="l">
              <a:lnSpc>
                <a:spcPct val="90000"/>
              </a:lnSpc>
              <a:spcBef>
                <a:spcPts val="1000"/>
              </a:spcBef>
              <a:spcAft>
                <a:spcPts val="0"/>
              </a:spcAft>
              <a:buClr>
                <a:schemeClr val="dk1"/>
              </a:buClr>
              <a:buSzPts val="2800"/>
              <a:buNone/>
            </a:pPr>
            <a:r>
              <a:t/>
            </a:r>
            <a:endParaRPr/>
          </a:p>
        </p:txBody>
      </p:sp>
      <p:pic>
        <p:nvPicPr>
          <p:cNvPr id="108" name="Google Shape;108;p17"/>
          <p:cNvPicPr preferRelativeResize="0"/>
          <p:nvPr/>
        </p:nvPicPr>
        <p:blipFill rotWithShape="1">
          <a:blip r:embed="rId3">
            <a:alphaModFix/>
          </a:blip>
          <a:srcRect b="0" l="0" r="0" t="0"/>
          <a:stretch/>
        </p:blipFill>
        <p:spPr>
          <a:xfrm>
            <a:off x="1600201" y="3135004"/>
            <a:ext cx="3800856" cy="3038856"/>
          </a:xfrm>
          <a:prstGeom prst="rect">
            <a:avLst/>
          </a:prstGeom>
          <a:noFill/>
          <a:ln>
            <a:noFill/>
          </a:ln>
        </p:spPr>
      </p:pic>
      <p:pic>
        <p:nvPicPr>
          <p:cNvPr id="109" name="Google Shape;109;p17"/>
          <p:cNvPicPr preferRelativeResize="0"/>
          <p:nvPr/>
        </p:nvPicPr>
        <p:blipFill rotWithShape="1">
          <a:blip r:embed="rId4">
            <a:alphaModFix/>
          </a:blip>
          <a:srcRect b="0" l="0" r="0" t="0"/>
          <a:stretch/>
        </p:blipFill>
        <p:spPr>
          <a:xfrm>
            <a:off x="6685720" y="3135004"/>
            <a:ext cx="4371197" cy="3038856"/>
          </a:xfrm>
          <a:prstGeom prst="rect">
            <a:avLst/>
          </a:prstGeom>
          <a:noFill/>
          <a:ln>
            <a:noFill/>
          </a:ln>
        </p:spPr>
      </p:pic>
      <p:sp>
        <p:nvSpPr>
          <p:cNvPr id="110" name="Google Shape;110;p17"/>
          <p:cNvSpPr/>
          <p:nvPr/>
        </p:nvSpPr>
        <p:spPr>
          <a:xfrm>
            <a:off x="5499102" y="4454134"/>
            <a:ext cx="1088572" cy="400595"/>
          </a:xfrm>
          <a:prstGeom prst="rightArrow">
            <a:avLst>
              <a:gd fmla="val 50000" name="adj1"/>
              <a:gd fmla="val 50000" name="adj2"/>
            </a:avLst>
          </a:prstGeom>
          <a:solidFill>
            <a:srgbClr val="1DAEE4"/>
          </a:solidFill>
          <a:ln cap="flat" cmpd="sng" w="12700">
            <a:solidFill>
              <a:srgbClr val="1DAEE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18"/>
          <p:cNvSpPr txBox="1"/>
          <p:nvPr>
            <p:ph type="title"/>
          </p:nvPr>
        </p:nvSpPr>
        <p:spPr>
          <a:xfrm>
            <a:off x="1560442" y="834888"/>
            <a:ext cx="9793357" cy="81701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Decomposition </a:t>
            </a:r>
            <a:endParaRPr/>
          </a:p>
        </p:txBody>
      </p:sp>
      <p:sp>
        <p:nvSpPr>
          <p:cNvPr id="116" name="Google Shape;116;p18"/>
          <p:cNvSpPr txBox="1"/>
          <p:nvPr>
            <p:ph idx="1" type="body"/>
          </p:nvPr>
        </p:nvSpPr>
        <p:spPr>
          <a:xfrm>
            <a:off x="1560441" y="1882879"/>
            <a:ext cx="8488019" cy="81701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These problems might, in turn, need to be decomposed further until the true nature of the problem is fully understood.</a:t>
            </a:r>
            <a:endParaRPr/>
          </a:p>
        </p:txBody>
      </p:sp>
      <p:pic>
        <p:nvPicPr>
          <p:cNvPr descr="A picture containing indoor&#10;&#10;Description automatically generated" id="117" name="Google Shape;117;p18"/>
          <p:cNvPicPr preferRelativeResize="0"/>
          <p:nvPr/>
        </p:nvPicPr>
        <p:blipFill rotWithShape="1">
          <a:blip r:embed="rId3">
            <a:alphaModFix/>
          </a:blip>
          <a:srcRect b="0" l="0" r="0" t="0"/>
          <a:stretch/>
        </p:blipFill>
        <p:spPr>
          <a:xfrm>
            <a:off x="1560441" y="3041514"/>
            <a:ext cx="4423809" cy="3075432"/>
          </a:xfrm>
          <a:prstGeom prst="rect">
            <a:avLst/>
          </a:prstGeom>
          <a:noFill/>
          <a:ln>
            <a:noFill/>
          </a:ln>
        </p:spPr>
      </p:pic>
      <p:pic>
        <p:nvPicPr>
          <p:cNvPr descr="A picture containing indoor, several&#10;&#10;Description automatically generated" id="118" name="Google Shape;118;p18"/>
          <p:cNvPicPr preferRelativeResize="0"/>
          <p:nvPr/>
        </p:nvPicPr>
        <p:blipFill rotWithShape="1">
          <a:blip r:embed="rId4">
            <a:alphaModFix/>
          </a:blip>
          <a:srcRect b="0" l="0" r="0" t="0"/>
          <a:stretch/>
        </p:blipFill>
        <p:spPr>
          <a:xfrm>
            <a:off x="6830702" y="3041514"/>
            <a:ext cx="3800856" cy="3075432"/>
          </a:xfrm>
          <a:prstGeom prst="rect">
            <a:avLst/>
          </a:prstGeom>
          <a:noFill/>
          <a:ln>
            <a:noFill/>
          </a:ln>
        </p:spPr>
      </p:pic>
      <p:sp>
        <p:nvSpPr>
          <p:cNvPr id="119" name="Google Shape;119;p18"/>
          <p:cNvSpPr/>
          <p:nvPr/>
        </p:nvSpPr>
        <p:spPr>
          <a:xfrm>
            <a:off x="6079457" y="4378932"/>
            <a:ext cx="656038" cy="400595"/>
          </a:xfrm>
          <a:prstGeom prst="rightArrow">
            <a:avLst>
              <a:gd fmla="val 50000" name="adj1"/>
              <a:gd fmla="val 50000" name="adj2"/>
            </a:avLst>
          </a:prstGeom>
          <a:solidFill>
            <a:srgbClr val="1DAEE4"/>
          </a:solidFill>
          <a:ln cap="flat" cmpd="sng" w="12700">
            <a:solidFill>
              <a:srgbClr val="1DAEE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9"/>
          <p:cNvSpPr txBox="1"/>
          <p:nvPr>
            <p:ph type="title"/>
          </p:nvPr>
        </p:nvSpPr>
        <p:spPr>
          <a:xfrm>
            <a:off x="1600200" y="815009"/>
            <a:ext cx="9753600" cy="87567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Decomposition</a:t>
            </a:r>
            <a:endParaRPr/>
          </a:p>
        </p:txBody>
      </p:sp>
      <p:sp>
        <p:nvSpPr>
          <p:cNvPr id="125" name="Google Shape;125;p19"/>
          <p:cNvSpPr txBox="1"/>
          <p:nvPr>
            <p:ph idx="1" type="body"/>
          </p:nvPr>
        </p:nvSpPr>
        <p:spPr>
          <a:xfrm>
            <a:off x="1600199" y="2067339"/>
            <a:ext cx="8706679" cy="4109624"/>
          </a:xfrm>
          <a:prstGeom prst="rect">
            <a:avLst/>
          </a:prstGeom>
          <a:noFill/>
          <a:ln>
            <a:noFill/>
          </a:ln>
        </p:spPr>
        <p:txBody>
          <a:bodyPr anchorCtr="0" anchor="t" bIns="45700" lIns="91425" spcFirstLastPara="1" rIns="91425" wrap="square" tIns="45700">
            <a:normAutofit/>
          </a:bodyPr>
          <a:lstStyle/>
          <a:p>
            <a:pPr indent="-457200" lvl="0" marL="457200" rtl="0" algn="l">
              <a:lnSpc>
                <a:spcPct val="90000"/>
              </a:lnSpc>
              <a:spcBef>
                <a:spcPts val="0"/>
              </a:spcBef>
              <a:spcAft>
                <a:spcPts val="0"/>
              </a:spcAft>
              <a:buClr>
                <a:schemeClr val="dk1"/>
              </a:buClr>
              <a:buSzPts val="2800"/>
              <a:buChar char="•"/>
            </a:pPr>
            <a:r>
              <a:rPr lang="en-GB">
                <a:latin typeface="Calibri"/>
                <a:ea typeface="Calibri"/>
                <a:cs typeface="Calibri"/>
                <a:sym typeface="Calibri"/>
              </a:rPr>
              <a:t>By decomposing a problem, you gain a much deeper understanding of it.</a:t>
            </a:r>
            <a:endParaRPr/>
          </a:p>
          <a:p>
            <a:pPr indent="-457200" lvl="0" marL="457200" rtl="0" algn="l">
              <a:lnSpc>
                <a:spcPct val="90000"/>
              </a:lnSpc>
              <a:spcBef>
                <a:spcPts val="1000"/>
              </a:spcBef>
              <a:spcAft>
                <a:spcPts val="0"/>
              </a:spcAft>
              <a:buClr>
                <a:schemeClr val="dk1"/>
              </a:buClr>
              <a:buSzPts val="2800"/>
              <a:buChar char="•"/>
            </a:pPr>
            <a:r>
              <a:rPr lang="en-GB">
                <a:latin typeface="Calibri"/>
                <a:ea typeface="Calibri"/>
                <a:cs typeface="Calibri"/>
                <a:sym typeface="Calibri"/>
              </a:rPr>
              <a:t>You have broken a problem down into a number of smaller problems. Each one of these smaller problems is easier to solve than the big problem you started with. And when you have solved the smaller problems, you have also solved the big problem.</a:t>
            </a:r>
            <a:endParaRPr/>
          </a:p>
          <a:p>
            <a:pPr indent="-457200" lvl="0" marL="457200" rtl="0" algn="l">
              <a:lnSpc>
                <a:spcPct val="90000"/>
              </a:lnSpc>
              <a:spcBef>
                <a:spcPts val="1000"/>
              </a:spcBef>
              <a:spcAft>
                <a:spcPts val="0"/>
              </a:spcAft>
              <a:buClr>
                <a:schemeClr val="dk1"/>
              </a:buClr>
              <a:buSzPts val="2800"/>
              <a:buChar char="•"/>
            </a:pPr>
            <a:r>
              <a:rPr lang="en-GB">
                <a:latin typeface="Calibri"/>
                <a:ea typeface="Calibri"/>
                <a:cs typeface="Calibri"/>
                <a:sym typeface="Calibri"/>
              </a:rPr>
              <a:t>Decomposition can be applied to any problem, even a simple daily routine such as brushing your teeth.</a:t>
            </a:r>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0"/>
          <p:cNvSpPr txBox="1"/>
          <p:nvPr>
            <p:ph type="title"/>
          </p:nvPr>
        </p:nvSpPr>
        <p:spPr>
          <a:xfrm>
            <a:off x="1570382" y="82494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How do you brush your teeth?</a:t>
            </a:r>
            <a:endParaRPr/>
          </a:p>
        </p:txBody>
      </p:sp>
      <p:sp>
        <p:nvSpPr>
          <p:cNvPr id="131" name="Google Shape;131;p20"/>
          <p:cNvSpPr/>
          <p:nvPr/>
        </p:nvSpPr>
        <p:spPr>
          <a:xfrm>
            <a:off x="6579704" y="2698161"/>
            <a:ext cx="4393096" cy="2615781"/>
          </a:xfrm>
          <a:prstGeom prst="rect">
            <a:avLst/>
          </a:prstGeom>
          <a:noFill/>
          <a:ln>
            <a:noFill/>
          </a:ln>
        </p:spPr>
        <p:txBody>
          <a:bodyPr anchorCtr="0" anchor="t" bIns="45700" lIns="91425" spcFirstLastPara="1" rIns="91425" wrap="square" tIns="45700">
            <a:noAutofit/>
          </a:bodyPr>
          <a:lstStyle/>
          <a:p>
            <a:pPr indent="-342900" lvl="0" marL="342900" marR="0" rtl="0" algn="l">
              <a:lnSpc>
                <a:spcPct val="115000"/>
              </a:lnSpc>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What is involved in brushing your teeth?</a:t>
            </a:r>
            <a:endParaRPr/>
          </a:p>
          <a:p>
            <a:pPr indent="-342900" lvl="0" marL="342900" marR="0" rtl="0" algn="l">
              <a:lnSpc>
                <a:spcPct val="115000"/>
              </a:lnSpc>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What are the things you must do to make sure that your teeth are clean and your gums stay healthy?</a:t>
            </a:r>
            <a:endParaRPr/>
          </a:p>
        </p:txBody>
      </p:sp>
      <p:pic>
        <p:nvPicPr>
          <p:cNvPr descr="A picture containing person, wall, indoor, bathroom&#10;&#10;Description automatically generated" id="132" name="Google Shape;132;p20"/>
          <p:cNvPicPr preferRelativeResize="0"/>
          <p:nvPr/>
        </p:nvPicPr>
        <p:blipFill rotWithShape="1">
          <a:blip r:embed="rId3">
            <a:alphaModFix/>
          </a:blip>
          <a:srcRect b="0" l="0" r="0" t="0"/>
          <a:stretch/>
        </p:blipFill>
        <p:spPr>
          <a:xfrm>
            <a:off x="839857" y="2254005"/>
            <a:ext cx="5256143" cy="350409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1"/>
          <p:cNvSpPr txBox="1"/>
          <p:nvPr>
            <p:ph idx="1" type="body"/>
          </p:nvPr>
        </p:nvSpPr>
        <p:spPr>
          <a:xfrm>
            <a:off x="1610138" y="1825625"/>
            <a:ext cx="7368399" cy="4351338"/>
          </a:xfrm>
          <a:prstGeom prst="rect">
            <a:avLst/>
          </a:prstGeom>
          <a:noFill/>
          <a:ln>
            <a:noFill/>
          </a:ln>
        </p:spPr>
        <p:txBody>
          <a:bodyPr anchorCtr="0" anchor="t" bIns="45700" lIns="91425" spcFirstLastPara="1" rIns="91425" wrap="square" tIns="45700">
            <a:normAutofit fontScale="77500" lnSpcReduction="20000"/>
          </a:bodyPr>
          <a:lstStyle/>
          <a:p>
            <a:pPr indent="0" lvl="0" marL="0" rtl="0" algn="l">
              <a:lnSpc>
                <a:spcPct val="115000"/>
              </a:lnSpc>
              <a:spcBef>
                <a:spcPts val="0"/>
              </a:spcBef>
              <a:spcAft>
                <a:spcPts val="0"/>
              </a:spcAft>
              <a:buClr>
                <a:schemeClr val="dk1"/>
              </a:buClr>
              <a:buSzPct val="100000"/>
              <a:buNone/>
            </a:pPr>
            <a:r>
              <a:rPr lang="en-GB"/>
              <a:t>A teenager’s first attempt at decomposing the problem of how to brush your teeth might look something like this:</a:t>
            </a:r>
            <a:endParaRPr/>
          </a:p>
          <a:p>
            <a:pPr indent="-342900" lvl="0" marL="342900" rtl="0" algn="l">
              <a:lnSpc>
                <a:spcPct val="115000"/>
              </a:lnSpc>
              <a:spcBef>
                <a:spcPts val="1000"/>
              </a:spcBef>
              <a:spcAft>
                <a:spcPts val="0"/>
              </a:spcAft>
              <a:buClr>
                <a:schemeClr val="dk1"/>
              </a:buClr>
              <a:buSzPct val="100000"/>
              <a:buChar char="•"/>
            </a:pPr>
            <a:r>
              <a:rPr lang="en-GB"/>
              <a:t>place your mobile phone beside you</a:t>
            </a:r>
            <a:endParaRPr/>
          </a:p>
          <a:p>
            <a:pPr indent="-342900" lvl="0" marL="342900" rtl="0" algn="l">
              <a:lnSpc>
                <a:spcPct val="115000"/>
              </a:lnSpc>
              <a:spcBef>
                <a:spcPts val="1000"/>
              </a:spcBef>
              <a:spcAft>
                <a:spcPts val="0"/>
              </a:spcAft>
              <a:buClr>
                <a:schemeClr val="dk1"/>
              </a:buClr>
              <a:buSzPct val="100000"/>
              <a:buChar char="•"/>
            </a:pPr>
            <a:r>
              <a:rPr lang="en-GB"/>
              <a:t>locate a toothbrush</a:t>
            </a:r>
            <a:endParaRPr/>
          </a:p>
          <a:p>
            <a:pPr indent="-342900" lvl="0" marL="342900" rtl="0" algn="l">
              <a:lnSpc>
                <a:spcPct val="115000"/>
              </a:lnSpc>
              <a:spcBef>
                <a:spcPts val="1000"/>
              </a:spcBef>
              <a:spcAft>
                <a:spcPts val="0"/>
              </a:spcAft>
              <a:buClr>
                <a:schemeClr val="dk1"/>
              </a:buClr>
              <a:buSzPct val="100000"/>
              <a:buChar char="•"/>
            </a:pPr>
            <a:r>
              <a:rPr lang="en-GB"/>
              <a:t>choose a blue toothbrush</a:t>
            </a:r>
            <a:endParaRPr/>
          </a:p>
          <a:p>
            <a:pPr indent="-342900" lvl="0" marL="342900" rtl="0" algn="l">
              <a:lnSpc>
                <a:spcPct val="115000"/>
              </a:lnSpc>
              <a:spcBef>
                <a:spcPts val="1000"/>
              </a:spcBef>
              <a:spcAft>
                <a:spcPts val="0"/>
              </a:spcAft>
              <a:buClr>
                <a:schemeClr val="dk1"/>
              </a:buClr>
              <a:buSzPct val="100000"/>
              <a:buChar char="•"/>
            </a:pPr>
            <a:r>
              <a:rPr lang="en-GB"/>
              <a:t>locate the toothpaste</a:t>
            </a:r>
            <a:endParaRPr/>
          </a:p>
          <a:p>
            <a:pPr indent="-342900" lvl="0" marL="342900" rtl="0" algn="l">
              <a:lnSpc>
                <a:spcPct val="115000"/>
              </a:lnSpc>
              <a:spcBef>
                <a:spcPts val="1000"/>
              </a:spcBef>
              <a:spcAft>
                <a:spcPts val="0"/>
              </a:spcAft>
              <a:buClr>
                <a:schemeClr val="dk1"/>
              </a:buClr>
              <a:buSzPct val="100000"/>
              <a:buChar char="•"/>
            </a:pPr>
            <a:r>
              <a:rPr lang="en-GB"/>
              <a:t>locate the sink</a:t>
            </a:r>
            <a:endParaRPr/>
          </a:p>
          <a:p>
            <a:pPr indent="-342900" lvl="0" marL="342900" rtl="0" algn="l">
              <a:lnSpc>
                <a:spcPct val="115000"/>
              </a:lnSpc>
              <a:spcBef>
                <a:spcPts val="1000"/>
              </a:spcBef>
              <a:spcAft>
                <a:spcPts val="0"/>
              </a:spcAft>
              <a:buClr>
                <a:schemeClr val="dk1"/>
              </a:buClr>
              <a:buSzPct val="100000"/>
              <a:buChar char="•"/>
            </a:pPr>
            <a:r>
              <a:rPr lang="en-GB"/>
              <a:t>start brushing your teeth</a:t>
            </a:r>
            <a:endParaRPr/>
          </a:p>
          <a:p>
            <a:pPr indent="-342900" lvl="0" marL="342900" rtl="0" algn="l">
              <a:lnSpc>
                <a:spcPct val="115000"/>
              </a:lnSpc>
              <a:spcBef>
                <a:spcPts val="1000"/>
              </a:spcBef>
              <a:spcAft>
                <a:spcPts val="0"/>
              </a:spcAft>
              <a:buClr>
                <a:schemeClr val="dk1"/>
              </a:buClr>
              <a:buSzPct val="100000"/>
              <a:buChar char="•"/>
            </a:pPr>
            <a:r>
              <a:rPr lang="en-GB"/>
              <a:t>put on some loud music</a:t>
            </a:r>
            <a:endParaRPr/>
          </a:p>
          <a:p>
            <a:pPr indent="-342900" lvl="0" marL="342900" rtl="0" algn="l">
              <a:lnSpc>
                <a:spcPct val="115000"/>
              </a:lnSpc>
              <a:spcBef>
                <a:spcPts val="1000"/>
              </a:spcBef>
              <a:spcAft>
                <a:spcPts val="0"/>
              </a:spcAft>
              <a:buClr>
                <a:schemeClr val="dk1"/>
              </a:buClr>
              <a:buSzPct val="100000"/>
              <a:buChar char="•"/>
            </a:pPr>
            <a:r>
              <a:rPr lang="en-GB"/>
              <a:t>finish brushing your teeth.</a:t>
            </a:r>
            <a:endParaRPr/>
          </a:p>
          <a:p>
            <a:pPr indent="0" lvl="0" marL="0" rtl="0" algn="l">
              <a:lnSpc>
                <a:spcPct val="90000"/>
              </a:lnSpc>
              <a:spcBef>
                <a:spcPts val="1000"/>
              </a:spcBef>
              <a:spcAft>
                <a:spcPts val="0"/>
              </a:spcAft>
              <a:buClr>
                <a:schemeClr val="dk1"/>
              </a:buClr>
              <a:buSzPct val="100000"/>
              <a:buNone/>
            </a:pPr>
            <a:r>
              <a:t/>
            </a:r>
            <a:endParaRPr/>
          </a:p>
        </p:txBody>
      </p:sp>
      <p:sp>
        <p:nvSpPr>
          <p:cNvPr id="138" name="Google Shape;138;p21"/>
          <p:cNvSpPr txBox="1"/>
          <p:nvPr/>
        </p:nvSpPr>
        <p:spPr>
          <a:xfrm>
            <a:off x="1570382" y="824948"/>
            <a:ext cx="9783417" cy="86574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4400"/>
              <a:buFont typeface="Calibri"/>
              <a:buNone/>
            </a:pPr>
            <a:r>
              <a:rPr b="1" lang="en-GB" sz="4400">
                <a:solidFill>
                  <a:schemeClr val="lt1"/>
                </a:solidFill>
                <a:latin typeface="Calibri"/>
                <a:ea typeface="Calibri"/>
                <a:cs typeface="Calibri"/>
                <a:sym typeface="Calibri"/>
              </a:rPr>
              <a:t>How do you brush your teeth?</a:t>
            </a:r>
            <a:endParaRPr b="1" sz="4400">
              <a:solidFill>
                <a:schemeClr val="lt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2"/>
          <p:cNvSpPr txBox="1"/>
          <p:nvPr>
            <p:ph type="title"/>
          </p:nvPr>
        </p:nvSpPr>
        <p:spPr>
          <a:xfrm>
            <a:off x="1590260" y="824948"/>
            <a:ext cx="9763539"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Abstraction </a:t>
            </a:r>
            <a:endParaRPr/>
          </a:p>
        </p:txBody>
      </p:sp>
      <p:sp>
        <p:nvSpPr>
          <p:cNvPr id="144" name="Google Shape;144;p22"/>
          <p:cNvSpPr txBox="1"/>
          <p:nvPr>
            <p:ph idx="1" type="body"/>
          </p:nvPr>
        </p:nvSpPr>
        <p:spPr>
          <a:xfrm>
            <a:off x="1590260" y="2143677"/>
            <a:ext cx="8159915" cy="3124062"/>
          </a:xfrm>
          <a:prstGeom prst="rect">
            <a:avLst/>
          </a:prstGeom>
          <a:noFill/>
          <a:ln>
            <a:noFill/>
          </a:ln>
        </p:spPr>
        <p:txBody>
          <a:bodyPr anchorCtr="0" anchor="t" bIns="45700" lIns="91425" spcFirstLastPara="1" rIns="91425" wrap="square" tIns="45700">
            <a:normAutofit/>
          </a:bodyPr>
          <a:lstStyle/>
          <a:p>
            <a:pPr indent="0" lvl="0" marL="0" rtl="0" algn="l">
              <a:lnSpc>
                <a:spcPct val="115000"/>
              </a:lnSpc>
              <a:spcBef>
                <a:spcPts val="0"/>
              </a:spcBef>
              <a:spcAft>
                <a:spcPts val="0"/>
              </a:spcAft>
              <a:buClr>
                <a:schemeClr val="dk1"/>
              </a:buClr>
              <a:buSzPts val="2400"/>
              <a:buNone/>
            </a:pPr>
            <a:r>
              <a:rPr lang="en-GB" sz="2400"/>
              <a:t>It is illogical and unhelpful to include tasks that do not help you solve your problem.</a:t>
            </a:r>
            <a:endParaRPr/>
          </a:p>
          <a:p>
            <a:pPr indent="0" lvl="0" marL="0" rtl="0" algn="l">
              <a:lnSpc>
                <a:spcPct val="115000"/>
              </a:lnSpc>
              <a:spcBef>
                <a:spcPts val="1000"/>
              </a:spcBef>
              <a:spcAft>
                <a:spcPts val="0"/>
              </a:spcAft>
              <a:buClr>
                <a:schemeClr val="dk1"/>
              </a:buClr>
              <a:buSzPts val="2400"/>
              <a:buNone/>
            </a:pPr>
            <a:r>
              <a:rPr lang="en-GB" sz="2400"/>
              <a:t>The second cornerstone of computational thinking is to remove unnecessary and unhelpful detail. This process is known as </a:t>
            </a:r>
            <a:r>
              <a:rPr b="1" lang="en-GB" sz="2400">
                <a:solidFill>
                  <a:srgbClr val="0069B4"/>
                </a:solidFill>
              </a:rPr>
              <a:t>abstraction</a:t>
            </a:r>
            <a:r>
              <a:rPr lang="en-GB" sz="2400"/>
              <a: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3"/>
          <p:cNvSpPr txBox="1"/>
          <p:nvPr>
            <p:ph type="title"/>
          </p:nvPr>
        </p:nvSpPr>
        <p:spPr>
          <a:xfrm>
            <a:off x="1570382" y="834887"/>
            <a:ext cx="978341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Abstraction</a:t>
            </a:r>
            <a:endParaRPr/>
          </a:p>
        </p:txBody>
      </p:sp>
      <p:pic>
        <p:nvPicPr>
          <p:cNvPr descr="A picture containing athletic game, basketball, sport&#10;&#10;Description automatically generated" id="150" name="Google Shape;150;p23"/>
          <p:cNvPicPr preferRelativeResize="0"/>
          <p:nvPr/>
        </p:nvPicPr>
        <p:blipFill rotWithShape="1">
          <a:blip r:embed="rId3">
            <a:alphaModFix/>
          </a:blip>
          <a:srcRect b="0" l="0" r="0" t="0"/>
          <a:stretch/>
        </p:blipFill>
        <p:spPr>
          <a:xfrm>
            <a:off x="3752977" y="1885897"/>
            <a:ext cx="4686046" cy="459132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4"/>
          <p:cNvSpPr txBox="1"/>
          <p:nvPr>
            <p:ph type="title"/>
          </p:nvPr>
        </p:nvSpPr>
        <p:spPr>
          <a:xfrm>
            <a:off x="1580322" y="824948"/>
            <a:ext cx="10611678" cy="86574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FFFFFF"/>
              </a:buClr>
              <a:buSzPts val="3600"/>
              <a:buFont typeface="Calibri"/>
              <a:buNone/>
            </a:pPr>
            <a:r>
              <a:rPr b="1" lang="en-GB" sz="3600">
                <a:solidFill>
                  <a:srgbClr val="FFFFFF"/>
                </a:solidFill>
              </a:rPr>
              <a:t>Teeth brushing problem decomposed and abstracted </a:t>
            </a:r>
            <a:endParaRPr b="1" sz="3600">
              <a:solidFill>
                <a:schemeClr val="lt1"/>
              </a:solidFill>
            </a:endParaRPr>
          </a:p>
        </p:txBody>
      </p:sp>
      <p:sp>
        <p:nvSpPr>
          <p:cNvPr id="156" name="Google Shape;156;p24"/>
          <p:cNvSpPr txBox="1"/>
          <p:nvPr>
            <p:ph idx="1" type="body"/>
          </p:nvPr>
        </p:nvSpPr>
        <p:spPr>
          <a:xfrm>
            <a:off x="1580322" y="2266122"/>
            <a:ext cx="8169965" cy="437798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800"/>
              <a:buNone/>
            </a:pPr>
            <a:r>
              <a:rPr lang="en-GB"/>
              <a:t>This is the decomposed problem after abstraction has been carried out:</a:t>
            </a:r>
            <a:endParaRPr/>
          </a:p>
          <a:p>
            <a:pPr indent="-457200" lvl="0" marL="457200" rtl="0" algn="l">
              <a:lnSpc>
                <a:spcPct val="90000"/>
              </a:lnSpc>
              <a:spcBef>
                <a:spcPts val="1000"/>
              </a:spcBef>
              <a:spcAft>
                <a:spcPts val="0"/>
              </a:spcAft>
              <a:buClr>
                <a:schemeClr val="dk1"/>
              </a:buClr>
              <a:buSzPts val="2800"/>
              <a:buChar char="•"/>
            </a:pPr>
            <a:r>
              <a:rPr lang="en-GB"/>
              <a:t>locate a toothbrush</a:t>
            </a:r>
            <a:endParaRPr/>
          </a:p>
          <a:p>
            <a:pPr indent="-457200" lvl="0" marL="457200" rtl="0" algn="l">
              <a:lnSpc>
                <a:spcPct val="90000"/>
              </a:lnSpc>
              <a:spcBef>
                <a:spcPts val="1000"/>
              </a:spcBef>
              <a:spcAft>
                <a:spcPts val="0"/>
              </a:spcAft>
              <a:buClr>
                <a:schemeClr val="dk1"/>
              </a:buClr>
              <a:buSzPts val="2800"/>
              <a:buChar char="•"/>
            </a:pPr>
            <a:r>
              <a:rPr lang="en-GB"/>
              <a:t>locate the toothpaste</a:t>
            </a:r>
            <a:endParaRPr/>
          </a:p>
          <a:p>
            <a:pPr indent="-457200" lvl="0" marL="457200" rtl="0" algn="l">
              <a:lnSpc>
                <a:spcPct val="90000"/>
              </a:lnSpc>
              <a:spcBef>
                <a:spcPts val="1000"/>
              </a:spcBef>
              <a:spcAft>
                <a:spcPts val="0"/>
              </a:spcAft>
              <a:buClr>
                <a:schemeClr val="dk1"/>
              </a:buClr>
              <a:buSzPts val="2800"/>
              <a:buChar char="•"/>
            </a:pPr>
            <a:r>
              <a:rPr lang="en-GB"/>
              <a:t>locate the sink</a:t>
            </a:r>
            <a:endParaRPr/>
          </a:p>
          <a:p>
            <a:pPr indent="-457200" lvl="0" marL="457200" rtl="0" algn="l">
              <a:lnSpc>
                <a:spcPct val="90000"/>
              </a:lnSpc>
              <a:spcBef>
                <a:spcPts val="1000"/>
              </a:spcBef>
              <a:spcAft>
                <a:spcPts val="0"/>
              </a:spcAft>
              <a:buClr>
                <a:schemeClr val="dk1"/>
              </a:buClr>
              <a:buSzPts val="2800"/>
              <a:buChar char="•"/>
            </a:pPr>
            <a:r>
              <a:rPr lang="en-GB"/>
              <a:t>start brushing your teeth</a:t>
            </a:r>
            <a:endParaRPr/>
          </a:p>
          <a:p>
            <a:pPr indent="-457200" lvl="0" marL="457200" rtl="0" algn="l">
              <a:lnSpc>
                <a:spcPct val="90000"/>
              </a:lnSpc>
              <a:spcBef>
                <a:spcPts val="1000"/>
              </a:spcBef>
              <a:spcAft>
                <a:spcPts val="0"/>
              </a:spcAft>
              <a:buClr>
                <a:schemeClr val="dk1"/>
              </a:buClr>
              <a:buSzPts val="2800"/>
              <a:buChar char="•"/>
            </a:pPr>
            <a:r>
              <a:rPr lang="en-GB"/>
              <a:t>finish brushing your teeth.</a:t>
            </a:r>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5"/>
          <p:cNvSpPr txBox="1"/>
          <p:nvPr>
            <p:ph type="title"/>
          </p:nvPr>
        </p:nvSpPr>
        <p:spPr>
          <a:xfrm>
            <a:off x="1570382" y="824948"/>
            <a:ext cx="10621618" cy="86574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Further decomposition to add sufficient detail </a:t>
            </a:r>
            <a:endParaRPr/>
          </a:p>
        </p:txBody>
      </p:sp>
      <p:sp>
        <p:nvSpPr>
          <p:cNvPr id="162" name="Google Shape;162;p25"/>
          <p:cNvSpPr/>
          <p:nvPr/>
        </p:nvSpPr>
        <p:spPr>
          <a:xfrm>
            <a:off x="1570382" y="2088253"/>
            <a:ext cx="9591260" cy="415498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2200">
                <a:solidFill>
                  <a:srgbClr val="0069B4"/>
                </a:solidFill>
                <a:latin typeface="Calibri"/>
                <a:ea typeface="Calibri"/>
                <a:cs typeface="Calibri"/>
                <a:sym typeface="Calibri"/>
              </a:rPr>
              <a:t>Abstraction</a:t>
            </a:r>
            <a:r>
              <a:rPr lang="en-GB" sz="2200">
                <a:solidFill>
                  <a:schemeClr val="dk1"/>
                </a:solidFill>
                <a:latin typeface="Calibri"/>
                <a:ea typeface="Calibri"/>
                <a:cs typeface="Calibri"/>
                <a:sym typeface="Calibri"/>
              </a:rPr>
              <a:t> removes unhelpful or unnecessary detail. </a:t>
            </a:r>
            <a:endParaRPr/>
          </a:p>
          <a:p>
            <a:pPr indent="0" lvl="0" marL="0" marR="0" rtl="0" algn="l">
              <a:spcBef>
                <a:spcPts val="0"/>
              </a:spcBef>
              <a:spcAft>
                <a:spcPts val="0"/>
              </a:spcAft>
              <a:buNone/>
            </a:pPr>
            <a:r>
              <a:rPr b="1" lang="en-GB" sz="2200">
                <a:solidFill>
                  <a:srgbClr val="0069B4"/>
                </a:solidFill>
                <a:latin typeface="Calibri"/>
                <a:ea typeface="Calibri"/>
                <a:cs typeface="Calibri"/>
                <a:sym typeface="Calibri"/>
              </a:rPr>
              <a:t>Further decomposition</a:t>
            </a:r>
            <a:r>
              <a:rPr b="1" lang="en-GB" sz="2200">
                <a:solidFill>
                  <a:srgbClr val="00B0F0"/>
                </a:solidFill>
                <a:latin typeface="Calibri"/>
                <a:ea typeface="Calibri"/>
                <a:cs typeface="Calibri"/>
                <a:sym typeface="Calibri"/>
              </a:rPr>
              <a:t> </a:t>
            </a:r>
            <a:r>
              <a:rPr lang="en-GB" sz="2200">
                <a:solidFill>
                  <a:schemeClr val="dk1"/>
                </a:solidFill>
                <a:latin typeface="Calibri"/>
                <a:ea typeface="Calibri"/>
                <a:cs typeface="Calibri"/>
                <a:sym typeface="Calibri"/>
              </a:rPr>
              <a:t>makes sure that the solution is sufficiently detailed to solve the problem.</a:t>
            </a:r>
            <a:endParaRPr/>
          </a:p>
          <a:p>
            <a:pPr indent="0" lvl="0" marL="0" marR="0" rtl="0" algn="l">
              <a:spcBef>
                <a:spcPts val="0"/>
              </a:spcBef>
              <a:spcAft>
                <a:spcPts val="0"/>
              </a:spcAft>
              <a:buNone/>
            </a:pPr>
            <a:r>
              <a:rPr lang="en-GB" sz="2200">
                <a:solidFill>
                  <a:schemeClr val="dk1"/>
                </a:solidFill>
                <a:latin typeface="Calibri"/>
                <a:ea typeface="Calibri"/>
                <a:cs typeface="Calibri"/>
                <a:sym typeface="Calibri"/>
              </a:rPr>
              <a:t>The teenager has decomposed the teeth brushing problem and we have abstracted it, but is the list detailed enough?</a:t>
            </a:r>
            <a:endParaRPr/>
          </a:p>
          <a:p>
            <a:pPr indent="0" lvl="0" marL="0" marR="0" rtl="0" algn="l">
              <a:spcBef>
                <a:spcPts val="0"/>
              </a:spcBef>
              <a:spcAft>
                <a:spcPts val="0"/>
              </a:spcAft>
              <a:buNone/>
            </a:pPr>
            <a:r>
              <a:rPr lang="en-GB" sz="2200">
                <a:solidFill>
                  <a:schemeClr val="dk1"/>
                </a:solidFill>
                <a:latin typeface="Calibri"/>
                <a:ea typeface="Calibri"/>
                <a:cs typeface="Calibri"/>
                <a:sym typeface="Calibri"/>
              </a:rPr>
              <a:t>Let us further decompose the first item in the list: Locate a toothbrush.</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What sort of brush do you need?</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Is the brush clean?</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You need a toothbrush but should it be a manual or an electric toothbrush?</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If it is an electric toothbrush, is it charged?</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If it needs charging, is there a charging point nearby?</a:t>
            </a:r>
            <a:endParaRPr/>
          </a:p>
          <a:p>
            <a:pPr indent="-342900" lvl="0" marL="342900" marR="0" rtl="0" algn="l">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Do you have a brush head that fits an electric toothbrush?</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6"/>
          <p:cNvSpPr txBox="1"/>
          <p:nvPr>
            <p:ph type="title"/>
          </p:nvPr>
        </p:nvSpPr>
        <p:spPr>
          <a:xfrm>
            <a:off x="1580322" y="824948"/>
            <a:ext cx="9773478" cy="80506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1.2: Decomposing a daily routine </a:t>
            </a:r>
            <a:endParaRPr b="1"/>
          </a:p>
        </p:txBody>
      </p:sp>
      <p:pic>
        <p:nvPicPr>
          <p:cNvPr descr="A picture containing athletic game, basketball, sport&#10;&#10;Description automatically generated" id="168" name="Google Shape;168;p26"/>
          <p:cNvPicPr preferRelativeResize="0"/>
          <p:nvPr/>
        </p:nvPicPr>
        <p:blipFill rotWithShape="1">
          <a:blip r:embed="rId3">
            <a:alphaModFix/>
          </a:blip>
          <a:srcRect b="0" l="0" r="0" t="0"/>
          <a:stretch/>
        </p:blipFill>
        <p:spPr>
          <a:xfrm>
            <a:off x="3752977" y="1885897"/>
            <a:ext cx="4686046" cy="459132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7"/>
          <p:cNvSpPr txBox="1"/>
          <p:nvPr>
            <p:ph type="title"/>
          </p:nvPr>
        </p:nvSpPr>
        <p:spPr>
          <a:xfrm>
            <a:off x="1580322" y="824948"/>
            <a:ext cx="9773478"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Algorithm design </a:t>
            </a:r>
            <a:endParaRPr/>
          </a:p>
        </p:txBody>
      </p:sp>
      <p:sp>
        <p:nvSpPr>
          <p:cNvPr id="174" name="Google Shape;174;p27"/>
          <p:cNvSpPr/>
          <p:nvPr/>
        </p:nvSpPr>
        <p:spPr>
          <a:xfrm>
            <a:off x="1580322" y="2029602"/>
            <a:ext cx="8839200" cy="415498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rgbClr val="000000"/>
                </a:solidFill>
                <a:latin typeface="Calibri"/>
                <a:ea typeface="Calibri"/>
                <a:cs typeface="Calibri"/>
                <a:sym typeface="Calibri"/>
              </a:rPr>
              <a:t>The third cornerstone of computational thinking is </a:t>
            </a:r>
            <a:r>
              <a:rPr b="1" lang="en-GB" sz="2400">
                <a:solidFill>
                  <a:srgbClr val="0069B4"/>
                </a:solidFill>
                <a:latin typeface="Calibri"/>
                <a:ea typeface="Calibri"/>
                <a:cs typeface="Calibri"/>
                <a:sym typeface="Calibri"/>
              </a:rPr>
              <a:t>algorithm design</a:t>
            </a:r>
            <a:r>
              <a:rPr lang="en-GB" sz="2400">
                <a:solidFill>
                  <a:srgbClr val="000000"/>
                </a:solidFill>
                <a:latin typeface="Calibri"/>
                <a:ea typeface="Calibri"/>
                <a:cs typeface="Calibri"/>
                <a:sym typeface="Calibri"/>
              </a:rPr>
              <a:t>, planning a solution based on your understanding of the problem.</a:t>
            </a:r>
            <a:endParaRPr/>
          </a:p>
          <a:p>
            <a:pPr indent="0" lvl="0" marL="0" marR="0" rtl="0" algn="l">
              <a:spcBef>
                <a:spcPts val="0"/>
              </a:spcBef>
              <a:spcAft>
                <a:spcPts val="0"/>
              </a:spcAft>
              <a:buNone/>
            </a:pPr>
            <a:r>
              <a:rPr lang="en-GB" sz="2400">
                <a:solidFill>
                  <a:srgbClr val="000000"/>
                </a:solidFill>
                <a:latin typeface="Calibri"/>
                <a:ea typeface="Calibri"/>
                <a:cs typeface="Calibri"/>
                <a:sym typeface="Calibri"/>
              </a:rPr>
              <a:t>The solution will take the form of a series of simple, logical, step-by-step instructions that must be followed in a strict sequence.</a:t>
            </a:r>
            <a:endParaRPr/>
          </a:p>
          <a:p>
            <a:pPr indent="0" lvl="0" marL="0" marR="0" rtl="0" algn="l">
              <a:spcBef>
                <a:spcPts val="0"/>
              </a:spcBef>
              <a:spcAft>
                <a:spcPts val="0"/>
              </a:spcAft>
              <a:buNone/>
            </a:pPr>
            <a:r>
              <a:rPr lang="en-GB" sz="2400">
                <a:solidFill>
                  <a:srgbClr val="000000"/>
                </a:solidFill>
                <a:latin typeface="Calibri"/>
                <a:ea typeface="Calibri"/>
                <a:cs typeface="Calibri"/>
                <a:sym typeface="Calibri"/>
              </a:rPr>
              <a:t>To make a good</a:t>
            </a:r>
            <a:r>
              <a:rPr lang="en-GB" sz="2400">
                <a:solidFill>
                  <a:srgbClr val="00B0F0"/>
                </a:solidFill>
                <a:latin typeface="Calibri"/>
                <a:ea typeface="Calibri"/>
                <a:cs typeface="Calibri"/>
                <a:sym typeface="Calibri"/>
              </a:rPr>
              <a:t> </a:t>
            </a:r>
            <a:r>
              <a:rPr b="1" lang="en-GB" sz="2400">
                <a:solidFill>
                  <a:srgbClr val="0069B4"/>
                </a:solidFill>
                <a:latin typeface="Calibri"/>
                <a:ea typeface="Calibri"/>
                <a:cs typeface="Calibri"/>
                <a:sym typeface="Calibri"/>
              </a:rPr>
              <a:t>algorithm</a:t>
            </a:r>
            <a:r>
              <a:rPr lang="en-GB" sz="2400">
                <a:solidFill>
                  <a:srgbClr val="000000"/>
                </a:solidFill>
                <a:latin typeface="Calibri"/>
                <a:ea typeface="Calibri"/>
                <a:cs typeface="Calibri"/>
                <a:sym typeface="Calibri"/>
              </a:rPr>
              <a:t>, the instructions must be:</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clear</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simple</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unambiguous</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precise</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correctly sequenced</a:t>
            </a:r>
            <a:endParaRPr/>
          </a:p>
          <a:p>
            <a:pPr indent="-342900" lvl="0" marL="342900" marR="0" rtl="0" algn="l">
              <a:spcBef>
                <a:spcPts val="0"/>
              </a:spcBef>
              <a:spcAft>
                <a:spcPts val="0"/>
              </a:spcAft>
              <a:buClr>
                <a:srgbClr val="000000"/>
              </a:buClr>
              <a:buSzPts val="2400"/>
              <a:buFont typeface="Arial"/>
              <a:buChar char="•"/>
            </a:pPr>
            <a:r>
              <a:rPr lang="en-GB" sz="2400">
                <a:solidFill>
                  <a:srgbClr val="000000"/>
                </a:solidFill>
                <a:latin typeface="Calibri"/>
                <a:ea typeface="Calibri"/>
                <a:cs typeface="Calibri"/>
                <a:sym typeface="Calibri"/>
              </a:rPr>
              <a:t>sufficiently detailed to complete the task.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8"/>
          <p:cNvSpPr txBox="1"/>
          <p:nvPr>
            <p:ph type="title"/>
          </p:nvPr>
        </p:nvSpPr>
        <p:spPr>
          <a:xfrm>
            <a:off x="1580322" y="824948"/>
            <a:ext cx="9773478"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Algorithm </a:t>
            </a:r>
            <a:endParaRPr/>
          </a:p>
        </p:txBody>
      </p:sp>
      <p:sp>
        <p:nvSpPr>
          <p:cNvPr id="180" name="Google Shape;180;p28"/>
          <p:cNvSpPr/>
          <p:nvPr/>
        </p:nvSpPr>
        <p:spPr>
          <a:xfrm>
            <a:off x="6692348" y="2568834"/>
            <a:ext cx="4134678" cy="19389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rgbClr val="000000"/>
                </a:solidFill>
                <a:latin typeface="Calibri"/>
                <a:ea typeface="Calibri"/>
                <a:cs typeface="Calibri"/>
                <a:sym typeface="Calibri"/>
              </a:rPr>
              <a:t>The word ‘algorithm’ is derived from the name of the Persian mathematician and astronomer, </a:t>
            </a:r>
            <a:r>
              <a:rPr b="1" lang="en-GB" sz="2400">
                <a:solidFill>
                  <a:schemeClr val="dk1"/>
                </a:solidFill>
                <a:latin typeface="Calibri"/>
                <a:ea typeface="Calibri"/>
                <a:cs typeface="Calibri"/>
                <a:sym typeface="Calibri"/>
              </a:rPr>
              <a:t>al-Khwarizmi</a:t>
            </a:r>
            <a:r>
              <a:rPr lang="en-GB" sz="2400">
                <a:solidFill>
                  <a:srgbClr val="000000"/>
                </a:solidFill>
                <a:latin typeface="Calibri"/>
                <a:ea typeface="Calibri"/>
                <a:cs typeface="Calibri"/>
                <a:sym typeface="Calibri"/>
              </a:rPr>
              <a:t> (780–850 CE).</a:t>
            </a:r>
            <a:endParaRPr/>
          </a:p>
        </p:txBody>
      </p:sp>
      <p:pic>
        <p:nvPicPr>
          <p:cNvPr descr="A picture containing text&#10;&#10;Description automatically generated" id="181" name="Google Shape;181;p28"/>
          <p:cNvPicPr preferRelativeResize="0"/>
          <p:nvPr/>
        </p:nvPicPr>
        <p:blipFill rotWithShape="1">
          <a:blip r:embed="rId3">
            <a:alphaModFix/>
          </a:blip>
          <a:srcRect b="0" l="0" r="0" t="0"/>
          <a:stretch/>
        </p:blipFill>
        <p:spPr>
          <a:xfrm>
            <a:off x="2286818" y="1839775"/>
            <a:ext cx="3809182" cy="464505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9"/>
          <p:cNvSpPr txBox="1"/>
          <p:nvPr>
            <p:ph type="title"/>
          </p:nvPr>
        </p:nvSpPr>
        <p:spPr>
          <a:xfrm>
            <a:off x="1590260" y="805070"/>
            <a:ext cx="9763539" cy="88561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1.3: Paper aeroplane algorithm</a:t>
            </a:r>
            <a:endParaRPr/>
          </a:p>
        </p:txBody>
      </p:sp>
      <p:pic>
        <p:nvPicPr>
          <p:cNvPr descr="A picture containing athletic game, basketball, sport&#10;&#10;Description automatically generated" id="187" name="Google Shape;187;p29"/>
          <p:cNvPicPr preferRelativeResize="0"/>
          <p:nvPr/>
        </p:nvPicPr>
        <p:blipFill rotWithShape="1">
          <a:blip r:embed="rId3">
            <a:alphaModFix/>
          </a:blip>
          <a:srcRect b="0" l="0" r="0" t="0"/>
          <a:stretch/>
        </p:blipFill>
        <p:spPr>
          <a:xfrm>
            <a:off x="3752977" y="1885897"/>
            <a:ext cx="4686046" cy="4591328"/>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0"/>
          <p:cNvSpPr txBox="1"/>
          <p:nvPr>
            <p:ph type="title"/>
          </p:nvPr>
        </p:nvSpPr>
        <p:spPr>
          <a:xfrm>
            <a:off x="1580322" y="824948"/>
            <a:ext cx="10611678" cy="830997"/>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3600"/>
              <a:buFont typeface="Calibri"/>
              <a:buNone/>
            </a:pPr>
            <a:r>
              <a:rPr b="1" lang="en-GB" sz="3600">
                <a:solidFill>
                  <a:schemeClr val="lt1"/>
                </a:solidFill>
              </a:rPr>
              <a:t>Why is a logical approach to problem solving important?</a:t>
            </a:r>
            <a:endParaRPr/>
          </a:p>
        </p:txBody>
      </p:sp>
      <p:sp>
        <p:nvSpPr>
          <p:cNvPr id="193" name="Google Shape;193;p30"/>
          <p:cNvSpPr/>
          <p:nvPr/>
        </p:nvSpPr>
        <p:spPr>
          <a:xfrm>
            <a:off x="1580322" y="2090172"/>
            <a:ext cx="8839200" cy="267765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Computational thinking (decomposition, abstraction and algorithm design) is a logical approach to problem solving that is commonly used by computer programmers.</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This is because computers can only follow instructions and so, for a computer to implement the solution to a problem, the problem must be written as a series of instructions.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1"/>
          <p:cNvSpPr txBox="1"/>
          <p:nvPr>
            <p:ph type="title"/>
          </p:nvPr>
        </p:nvSpPr>
        <p:spPr>
          <a:xfrm>
            <a:off x="1590260" y="805070"/>
            <a:ext cx="9763539"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1</a:t>
            </a:r>
            <a:endParaRPr/>
          </a:p>
        </p:txBody>
      </p:sp>
      <p:pic>
        <p:nvPicPr>
          <p:cNvPr descr="A picture containing athletic game, basketball, sport&#10;&#10;Description automatically generated" id="199" name="Google Shape;199;p31"/>
          <p:cNvPicPr preferRelativeResize="0"/>
          <p:nvPr/>
        </p:nvPicPr>
        <p:blipFill rotWithShape="1">
          <a:blip r:embed="rId3">
            <a:alphaModFix/>
          </a:blip>
          <a:srcRect b="0" l="0" r="0" t="0"/>
          <a:stretch/>
        </p:blipFill>
        <p:spPr>
          <a:xfrm>
            <a:off x="3752977" y="1885897"/>
            <a:ext cx="4686046" cy="4591328"/>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2"/>
          <p:cNvSpPr txBox="1"/>
          <p:nvPr>
            <p:ph type="title"/>
          </p:nvPr>
        </p:nvSpPr>
        <p:spPr>
          <a:xfrm>
            <a:off x="1590260" y="805070"/>
            <a:ext cx="9763539" cy="81500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1.4: Teach yourself turtle graphics</a:t>
            </a:r>
            <a:endParaRPr/>
          </a:p>
        </p:txBody>
      </p:sp>
      <p:pic>
        <p:nvPicPr>
          <p:cNvPr descr="A picture containing athletic game, basketball, sport&#10;&#10;Description automatically generated" id="205" name="Google Shape;205;p32"/>
          <p:cNvPicPr preferRelativeResize="0"/>
          <p:nvPr/>
        </p:nvPicPr>
        <p:blipFill rotWithShape="1">
          <a:blip r:embed="rId3">
            <a:alphaModFix/>
          </a:blip>
          <a:srcRect b="0" l="0" r="0" t="0"/>
          <a:stretch/>
        </p:blipFill>
        <p:spPr>
          <a:xfrm>
            <a:off x="3752977" y="1885897"/>
            <a:ext cx="4686046" cy="459132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