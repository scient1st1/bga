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2" name="Google Shape;22;p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7" name="Google Shape;27;p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8" name="Google Shape;28;p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4" name="Google Shape;34;p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5" name="Google Shape;35;p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3" name="Google Shape;43;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4" name="Google Shape;44;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8" name="Google Shape;48;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9" name="Google Shape;49;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descr="Shape, rectangle&#10;&#10;Description automatically generated" id="10" name="Google Shape;10;p1"/>
          <p:cNvPicPr preferRelativeResize="0"/>
          <p:nvPr/>
        </p:nvPicPr>
        <p:blipFill rotWithShape="1">
          <a:blip r:embed="rId1">
            <a:alphaModFix/>
          </a:blip>
          <a:srcRect b="0" l="0" r="0" t="0"/>
          <a:stretch/>
        </p:blipFill>
        <p:spPr>
          <a:xfrm>
            <a:off x="0" y="-25758"/>
            <a:ext cx="12192000" cy="1656196"/>
          </a:xfrm>
          <a:prstGeom prst="rect">
            <a:avLst/>
          </a:prstGeom>
          <a:noFill/>
          <a:ln>
            <a:noFill/>
          </a:ln>
        </p:spPr>
      </p:pic>
      <p:sp>
        <p:nvSpPr>
          <p:cNvPr id="11" name="Google Shape;11;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nvSpPr>
        <p:spPr>
          <a:xfrm>
            <a:off x="7547114" y="6380197"/>
            <a:ext cx="41148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GB" sz="1200" u="none" cap="none" strike="noStrike">
                <a:solidFill>
                  <a:schemeClr val="dk1"/>
                </a:solidFill>
                <a:latin typeface="Calibri"/>
                <a:ea typeface="Calibri"/>
                <a:cs typeface="Calibri"/>
                <a:sym typeface="Calibri"/>
              </a:rPr>
              <a:t>© Hodder &amp; Stoughton Limited 2021</a:t>
            </a:r>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624917" y="2325757"/>
            <a:ext cx="10308126" cy="896454"/>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b="1" lang="en-GB"/>
              <a:t>Programming in python: selection</a:t>
            </a:r>
            <a:endParaRPr/>
          </a:p>
        </p:txBody>
      </p:sp>
      <p:sp>
        <p:nvSpPr>
          <p:cNvPr id="86" name="Google Shape;86;p13"/>
          <p:cNvSpPr/>
          <p:nvPr/>
        </p:nvSpPr>
        <p:spPr>
          <a:xfrm>
            <a:off x="3939107" y="3438971"/>
            <a:ext cx="3176062"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GB" sz="2400" u="none" cap="none" strike="noStrike">
                <a:solidFill>
                  <a:srgbClr val="F05900"/>
                </a:solidFill>
                <a:latin typeface="Calibri"/>
                <a:ea typeface="Calibri"/>
                <a:cs typeface="Calibri"/>
                <a:sym typeface="Calibri"/>
              </a:rPr>
              <a:t>Lesson 6: Multiple elifs </a:t>
            </a:r>
            <a:endParaRPr b="1" sz="2400">
              <a:solidFill>
                <a:srgbClr val="F05900"/>
              </a:solidFill>
              <a:latin typeface="Calibri"/>
              <a:ea typeface="Calibri"/>
              <a:cs typeface="Calibri"/>
              <a:sym typeface="Calibri"/>
            </a:endParaRPr>
          </a:p>
        </p:txBody>
      </p:sp>
      <p:pic>
        <p:nvPicPr>
          <p:cNvPr id="87" name="Google Shape;87;p13"/>
          <p:cNvPicPr preferRelativeResize="0"/>
          <p:nvPr/>
        </p:nvPicPr>
        <p:blipFill rotWithShape="1">
          <a:blip r:embed="rId3">
            <a:alphaModFix/>
          </a:blip>
          <a:srcRect b="0" l="0" r="0" t="0"/>
          <a:stretch/>
        </p:blipFill>
        <p:spPr>
          <a:xfrm>
            <a:off x="7115169" y="3438955"/>
            <a:ext cx="2937413" cy="2443928"/>
          </a:xfrm>
          <a:prstGeom prst="rect">
            <a:avLst/>
          </a:prstGeom>
          <a:noFill/>
          <a:ln>
            <a:noFill/>
          </a:ln>
          <a:effectLst>
            <a:outerShdw blurRad="50800" rotWithShape="0" algn="tl" dir="2700000" dist="3810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ph type="title"/>
          </p:nvPr>
        </p:nvSpPr>
        <p:spPr>
          <a:xfrm>
            <a:off x="1610139" y="824948"/>
            <a:ext cx="9634330" cy="76634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Objectives</a:t>
            </a:r>
            <a:endParaRPr/>
          </a:p>
        </p:txBody>
      </p:sp>
      <p:sp>
        <p:nvSpPr>
          <p:cNvPr id="94" name="Google Shape;94;p14"/>
          <p:cNvSpPr/>
          <p:nvPr/>
        </p:nvSpPr>
        <p:spPr>
          <a:xfrm>
            <a:off x="1610139" y="2215485"/>
            <a:ext cx="8368748" cy="273921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3200">
                <a:solidFill>
                  <a:schemeClr val="dk1"/>
                </a:solidFill>
                <a:latin typeface="Calibri"/>
                <a:ea typeface="Calibri"/>
                <a:cs typeface="Calibri"/>
                <a:sym typeface="Calibri"/>
              </a:rPr>
              <a:t>In this lesson, you will learn how to:</a:t>
            </a:r>
            <a:endParaRPr/>
          </a:p>
          <a:p>
            <a:pPr indent="-342900" lvl="0" marL="342900" marR="0" rtl="0" algn="l">
              <a:spcBef>
                <a:spcPts val="0"/>
              </a:spcBef>
              <a:spcAft>
                <a:spcPts val="0"/>
              </a:spcAft>
              <a:buClr>
                <a:schemeClr val="dk1"/>
              </a:buClr>
              <a:buSzPts val="2800"/>
              <a:buFont typeface="Noto Sans Symbols"/>
              <a:buChar char="∙"/>
            </a:pPr>
            <a:r>
              <a:rPr lang="en-GB" sz="2800">
                <a:solidFill>
                  <a:schemeClr val="dk1"/>
                </a:solidFill>
                <a:latin typeface="Calibri"/>
                <a:ea typeface="Calibri"/>
                <a:cs typeface="Calibri"/>
                <a:sym typeface="Calibri"/>
              </a:rPr>
              <a:t>use multiple elif statements with if else to compare multiple conditions</a:t>
            </a:r>
            <a:endParaRPr/>
          </a:p>
          <a:p>
            <a:pPr indent="-342900" lvl="0" marL="342900" marR="0" rtl="0" algn="l">
              <a:spcBef>
                <a:spcPts val="0"/>
              </a:spcBef>
              <a:spcAft>
                <a:spcPts val="0"/>
              </a:spcAft>
              <a:buClr>
                <a:schemeClr val="dk1"/>
              </a:buClr>
              <a:buSzPts val="2800"/>
              <a:buFont typeface="Noto Sans Symbols"/>
              <a:buChar char="∙"/>
            </a:pPr>
            <a:r>
              <a:rPr lang="en-GB" sz="2800">
                <a:solidFill>
                  <a:schemeClr val="dk1"/>
                </a:solidFill>
                <a:latin typeface="Calibri"/>
                <a:ea typeface="Calibri"/>
                <a:cs typeface="Calibri"/>
                <a:sym typeface="Calibri"/>
              </a:rPr>
              <a:t>write a program in Python that uses multiple elif statements.</a:t>
            </a:r>
            <a:endParaRPr/>
          </a:p>
          <a:p>
            <a:pPr indent="0" lvl="0" marL="0" marR="0" rtl="0" algn="l">
              <a:spcBef>
                <a:spcPts val="0"/>
              </a:spcBef>
              <a:spcAft>
                <a:spcPts val="0"/>
              </a:spcAft>
              <a:buNone/>
            </a:pPr>
            <a:r>
              <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ph type="title"/>
          </p:nvPr>
        </p:nvSpPr>
        <p:spPr>
          <a:xfrm>
            <a:off x="1610139" y="815008"/>
            <a:ext cx="9773478" cy="8050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if elif else statements: a reminder </a:t>
            </a:r>
            <a:endParaRPr/>
          </a:p>
        </p:txBody>
      </p:sp>
      <p:sp>
        <p:nvSpPr>
          <p:cNvPr id="101" name="Google Shape;101;p15"/>
          <p:cNvSpPr/>
          <p:nvPr/>
        </p:nvSpPr>
        <p:spPr>
          <a:xfrm>
            <a:off x="1610139" y="2203319"/>
            <a:ext cx="7692887" cy="15696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400">
                <a:solidFill>
                  <a:schemeClr val="dk1"/>
                </a:solidFill>
                <a:latin typeface="Calibri"/>
                <a:ea typeface="Calibri"/>
                <a:cs typeface="Calibri"/>
                <a:sym typeface="Calibri"/>
              </a:rPr>
              <a:t>if elif else statements are used to decide what to do if the condition is true, what to do if the first condition is false and the second condition is true and what to do if both conditions are false:</a:t>
            </a:r>
            <a:endParaRPr/>
          </a:p>
        </p:txBody>
      </p:sp>
      <p:pic>
        <p:nvPicPr>
          <p:cNvPr descr="Text&#10;&#10;Description automatically generated" id="102" name="Google Shape;102;p15"/>
          <p:cNvPicPr preferRelativeResize="0"/>
          <p:nvPr/>
        </p:nvPicPr>
        <p:blipFill rotWithShape="1">
          <a:blip r:embed="rId3">
            <a:alphaModFix/>
          </a:blip>
          <a:srcRect b="0" l="0" r="0" t="0"/>
          <a:stretch/>
        </p:blipFill>
        <p:spPr>
          <a:xfrm>
            <a:off x="3476145" y="3954213"/>
            <a:ext cx="5239710" cy="215844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6"/>
          <p:cNvSpPr txBox="1"/>
          <p:nvPr>
            <p:ph type="title"/>
          </p:nvPr>
        </p:nvSpPr>
        <p:spPr>
          <a:xfrm>
            <a:off x="1570382" y="805071"/>
            <a:ext cx="10621618" cy="79513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Calibri"/>
              <a:buNone/>
            </a:pPr>
            <a:r>
              <a:rPr b="1" lang="en-GB" sz="3600">
                <a:solidFill>
                  <a:schemeClr val="lt1"/>
                </a:solidFill>
              </a:rPr>
              <a:t>Activity 6.1: Programming in Python: selection, Section 6</a:t>
            </a:r>
            <a:endParaRPr/>
          </a:p>
        </p:txBody>
      </p:sp>
      <p:pic>
        <p:nvPicPr>
          <p:cNvPr descr="A picture containing athletic game, basketball, sport&#10;&#10;Description automatically generated" id="109" name="Google Shape;109;p16"/>
          <p:cNvPicPr preferRelativeResize="0"/>
          <p:nvPr/>
        </p:nvPicPr>
        <p:blipFill rotWithShape="1">
          <a:blip r:embed="rId3">
            <a:alphaModFix/>
          </a:blip>
          <a:srcRect b="0" l="0" r="0" t="0"/>
          <a:stretch/>
        </p:blipFill>
        <p:spPr>
          <a:xfrm>
            <a:off x="3855718" y="1930687"/>
            <a:ext cx="4480563" cy="43899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7"/>
          <p:cNvSpPr txBox="1"/>
          <p:nvPr>
            <p:ph type="title"/>
          </p:nvPr>
        </p:nvSpPr>
        <p:spPr>
          <a:xfrm>
            <a:off x="1620078" y="775253"/>
            <a:ext cx="9733721" cy="82494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Question 1 </a:t>
            </a:r>
            <a:endParaRPr/>
          </a:p>
        </p:txBody>
      </p:sp>
      <p:sp>
        <p:nvSpPr>
          <p:cNvPr id="116" name="Google Shape;116;p17"/>
          <p:cNvSpPr txBox="1"/>
          <p:nvPr>
            <p:ph idx="1" type="body"/>
          </p:nvPr>
        </p:nvSpPr>
        <p:spPr>
          <a:xfrm>
            <a:off x="1620078" y="3079543"/>
            <a:ext cx="10118035" cy="69891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None/>
            </a:pPr>
            <a:r>
              <a:rPr lang="en-GB" sz="3200"/>
              <a:t>Which key word do we use to check just one condition?</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8"/>
          <p:cNvSpPr txBox="1"/>
          <p:nvPr>
            <p:ph type="title"/>
          </p:nvPr>
        </p:nvSpPr>
        <p:spPr>
          <a:xfrm>
            <a:off x="1620078" y="775253"/>
            <a:ext cx="9733721" cy="82494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Question 2</a:t>
            </a:r>
            <a:endParaRPr/>
          </a:p>
        </p:txBody>
      </p:sp>
      <p:sp>
        <p:nvSpPr>
          <p:cNvPr id="123" name="Google Shape;123;p18"/>
          <p:cNvSpPr txBox="1"/>
          <p:nvPr>
            <p:ph idx="1" type="body"/>
          </p:nvPr>
        </p:nvSpPr>
        <p:spPr>
          <a:xfrm>
            <a:off x="1620078" y="3079543"/>
            <a:ext cx="10118035" cy="69891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None/>
            </a:pPr>
            <a:r>
              <a:rPr lang="en-GB" sz="3200"/>
              <a:t>Which key word do we use to check multiple conditions?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9"/>
          <p:cNvSpPr txBox="1"/>
          <p:nvPr>
            <p:ph type="title"/>
          </p:nvPr>
        </p:nvSpPr>
        <p:spPr>
          <a:xfrm>
            <a:off x="1620078" y="775253"/>
            <a:ext cx="9733721" cy="82494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Question 3</a:t>
            </a:r>
            <a:endParaRPr/>
          </a:p>
        </p:txBody>
      </p:sp>
      <p:sp>
        <p:nvSpPr>
          <p:cNvPr id="130" name="Google Shape;130;p19"/>
          <p:cNvSpPr txBox="1"/>
          <p:nvPr>
            <p:ph idx="1" type="body"/>
          </p:nvPr>
        </p:nvSpPr>
        <p:spPr>
          <a:xfrm>
            <a:off x="1620078" y="3079543"/>
            <a:ext cx="10118035" cy="698913"/>
          </a:xfrm>
          <a:prstGeom prst="rect">
            <a:avLst/>
          </a:prstGeom>
          <a:noFill/>
          <a:ln>
            <a:noFill/>
          </a:ln>
        </p:spPr>
        <p:txBody>
          <a:bodyPr anchorCtr="0" anchor="t" bIns="45700" lIns="91425" spcFirstLastPara="1" rIns="91425" wrap="square" tIns="45700">
            <a:normAutofit fontScale="92500"/>
          </a:bodyPr>
          <a:lstStyle/>
          <a:p>
            <a:pPr indent="0" lvl="0" marL="0" rtl="0" algn="l">
              <a:lnSpc>
                <a:spcPct val="90000"/>
              </a:lnSpc>
              <a:spcBef>
                <a:spcPts val="0"/>
              </a:spcBef>
              <a:spcAft>
                <a:spcPts val="0"/>
              </a:spcAft>
              <a:buClr>
                <a:schemeClr val="dk1"/>
              </a:buClr>
              <a:buSzPct val="100000"/>
              <a:buNone/>
            </a:pPr>
            <a:r>
              <a:rPr lang="en-GB" sz="3200"/>
              <a:t>Which operator do we use to check if something is not equal?</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0"/>
          <p:cNvSpPr txBox="1"/>
          <p:nvPr>
            <p:ph type="title"/>
          </p:nvPr>
        </p:nvSpPr>
        <p:spPr>
          <a:xfrm>
            <a:off x="1620078" y="775253"/>
            <a:ext cx="9733721" cy="82494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Question 4</a:t>
            </a:r>
            <a:endParaRPr/>
          </a:p>
        </p:txBody>
      </p:sp>
      <p:sp>
        <p:nvSpPr>
          <p:cNvPr id="137" name="Google Shape;137;p20"/>
          <p:cNvSpPr txBox="1"/>
          <p:nvPr>
            <p:ph idx="1" type="body"/>
          </p:nvPr>
        </p:nvSpPr>
        <p:spPr>
          <a:xfrm>
            <a:off x="1620078" y="1779104"/>
            <a:ext cx="9660835" cy="507889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GB" sz="1800"/>
              <a:t>Complete the program by filling in the gaps.</a:t>
            </a:r>
            <a:endParaRPr/>
          </a:p>
          <a:p>
            <a:pPr indent="-228600" lvl="0" marL="228600" rtl="0" algn="l">
              <a:lnSpc>
                <a:spcPct val="90000"/>
              </a:lnSpc>
              <a:spcBef>
                <a:spcPts val="1000"/>
              </a:spcBef>
              <a:spcAft>
                <a:spcPts val="0"/>
              </a:spcAft>
              <a:buClr>
                <a:schemeClr val="dk1"/>
              </a:buClr>
              <a:buSzPts val="1800"/>
              <a:buChar char="•"/>
            </a:pPr>
            <a:r>
              <a:rPr lang="en-GB" sz="1800"/>
              <a:t>If a person is 15 or over, they are old enough to use the fairground ride.</a:t>
            </a:r>
            <a:endParaRPr/>
          </a:p>
          <a:p>
            <a:pPr indent="-228600" lvl="0" marL="228600" rtl="0" algn="l">
              <a:lnSpc>
                <a:spcPct val="90000"/>
              </a:lnSpc>
              <a:spcBef>
                <a:spcPts val="1000"/>
              </a:spcBef>
              <a:spcAft>
                <a:spcPts val="0"/>
              </a:spcAft>
              <a:buClr>
                <a:schemeClr val="dk1"/>
              </a:buClr>
              <a:buSzPts val="1800"/>
              <a:buChar char="•"/>
            </a:pPr>
            <a:r>
              <a:rPr lang="en-GB" sz="1800"/>
              <a:t>If they are not 15 or over but are 1.5 m or taller, they are tall enough to use the fairground ride.</a:t>
            </a:r>
            <a:endParaRPr/>
          </a:p>
          <a:p>
            <a:pPr indent="-228600" lvl="0" marL="228600" rtl="0" algn="l">
              <a:lnSpc>
                <a:spcPct val="90000"/>
              </a:lnSpc>
              <a:spcBef>
                <a:spcPts val="1000"/>
              </a:spcBef>
              <a:spcAft>
                <a:spcPts val="0"/>
              </a:spcAft>
              <a:buClr>
                <a:schemeClr val="dk1"/>
              </a:buClr>
              <a:buSzPts val="1800"/>
              <a:buChar char="•"/>
            </a:pPr>
            <a:r>
              <a:rPr lang="en-GB" sz="1800"/>
              <a:t>If they are not 15 or over and not 1.5 m or taller, they are not old enough and not tall enough to use the fairground ride.</a:t>
            </a:r>
            <a:endParaRPr/>
          </a:p>
          <a:p>
            <a:pPr indent="0" lvl="0" marL="0" rtl="0" algn="l">
              <a:lnSpc>
                <a:spcPct val="90000"/>
              </a:lnSpc>
              <a:spcBef>
                <a:spcPts val="1000"/>
              </a:spcBef>
              <a:spcAft>
                <a:spcPts val="0"/>
              </a:spcAft>
              <a:buClr>
                <a:schemeClr val="dk1"/>
              </a:buClr>
              <a:buSzPts val="1800"/>
              <a:buNone/>
            </a:pPr>
            <a:r>
              <a:rPr lang="en-GB" sz="1800">
                <a:latin typeface="Courier"/>
                <a:ea typeface="Courier"/>
                <a:cs typeface="Courier"/>
                <a:sym typeface="Courier"/>
              </a:rPr>
              <a:t>age = </a:t>
            </a:r>
            <a:r>
              <a:rPr lang="en-GB" sz="1800">
                <a:solidFill>
                  <a:srgbClr val="FF0000"/>
                </a:solidFill>
                <a:latin typeface="Courier"/>
                <a:ea typeface="Courier"/>
                <a:cs typeface="Courier"/>
                <a:sym typeface="Courier"/>
              </a:rPr>
              <a:t>______</a:t>
            </a:r>
            <a:r>
              <a:rPr lang="en-GB" sz="1800">
                <a:latin typeface="Courier"/>
                <a:ea typeface="Courier"/>
                <a:cs typeface="Courier"/>
                <a:sym typeface="Courier"/>
              </a:rPr>
              <a:t>(input('Enter age: '))</a:t>
            </a:r>
            <a:endParaRPr/>
          </a:p>
          <a:p>
            <a:pPr indent="0" lvl="0" marL="0" rtl="0" algn="l">
              <a:lnSpc>
                <a:spcPct val="90000"/>
              </a:lnSpc>
              <a:spcBef>
                <a:spcPts val="1000"/>
              </a:spcBef>
              <a:spcAft>
                <a:spcPts val="0"/>
              </a:spcAft>
              <a:buClr>
                <a:schemeClr val="dk1"/>
              </a:buClr>
              <a:buSzPts val="1800"/>
              <a:buNone/>
            </a:pPr>
            <a:r>
              <a:rPr lang="en-GB" sz="1800">
                <a:latin typeface="Courier"/>
                <a:ea typeface="Courier"/>
                <a:cs typeface="Courier"/>
                <a:sym typeface="Courier"/>
              </a:rPr>
              <a:t>height = </a:t>
            </a:r>
            <a:r>
              <a:rPr lang="en-GB" sz="1800">
                <a:solidFill>
                  <a:srgbClr val="FF0000"/>
                </a:solidFill>
                <a:latin typeface="Courier"/>
                <a:ea typeface="Courier"/>
                <a:cs typeface="Courier"/>
                <a:sym typeface="Courier"/>
              </a:rPr>
              <a:t>__________</a:t>
            </a:r>
            <a:r>
              <a:rPr lang="en-GB" sz="1800">
                <a:latin typeface="Courier"/>
                <a:ea typeface="Courier"/>
                <a:cs typeface="Courier"/>
                <a:sym typeface="Courier"/>
              </a:rPr>
              <a:t>(input('Enter height: '))</a:t>
            </a:r>
            <a:endParaRPr/>
          </a:p>
          <a:p>
            <a:pPr indent="0" lvl="0" marL="0" rtl="0" algn="l">
              <a:lnSpc>
                <a:spcPct val="90000"/>
              </a:lnSpc>
              <a:spcBef>
                <a:spcPts val="1000"/>
              </a:spcBef>
              <a:spcAft>
                <a:spcPts val="0"/>
              </a:spcAft>
              <a:buClr>
                <a:schemeClr val="dk1"/>
              </a:buClr>
              <a:buSzPts val="1800"/>
              <a:buNone/>
            </a:pPr>
            <a:r>
              <a:rPr lang="en-GB" sz="1800">
                <a:latin typeface="Courier"/>
                <a:ea typeface="Courier"/>
                <a:cs typeface="Courier"/>
                <a:sym typeface="Courier"/>
              </a:rPr>
              <a:t>if age </a:t>
            </a:r>
            <a:r>
              <a:rPr lang="en-GB" sz="1800">
                <a:solidFill>
                  <a:srgbClr val="FF0000"/>
                </a:solidFill>
                <a:latin typeface="Courier"/>
                <a:ea typeface="Courier"/>
                <a:cs typeface="Courier"/>
                <a:sym typeface="Courier"/>
              </a:rPr>
              <a:t>____</a:t>
            </a:r>
            <a:r>
              <a:rPr lang="en-GB" sz="1800">
                <a:latin typeface="Courier"/>
                <a:ea typeface="Courier"/>
                <a:cs typeface="Courier"/>
                <a:sym typeface="Courier"/>
              </a:rPr>
              <a:t> 15:</a:t>
            </a:r>
            <a:endParaRPr/>
          </a:p>
          <a:p>
            <a:pPr indent="0" lvl="0" marL="0" rtl="0" algn="l">
              <a:lnSpc>
                <a:spcPct val="90000"/>
              </a:lnSpc>
              <a:spcBef>
                <a:spcPts val="1000"/>
              </a:spcBef>
              <a:spcAft>
                <a:spcPts val="0"/>
              </a:spcAft>
              <a:buClr>
                <a:schemeClr val="dk1"/>
              </a:buClr>
              <a:buSzPts val="1800"/>
              <a:buNone/>
            </a:pPr>
            <a:r>
              <a:rPr lang="en-GB" sz="1800">
                <a:latin typeface="Courier"/>
                <a:ea typeface="Courier"/>
                <a:cs typeface="Courier"/>
                <a:sym typeface="Courier"/>
              </a:rPr>
              <a:t>    print('Old enough to ride')</a:t>
            </a:r>
            <a:endParaRPr/>
          </a:p>
          <a:p>
            <a:pPr indent="0" lvl="0" marL="0" rtl="0" algn="l">
              <a:lnSpc>
                <a:spcPct val="90000"/>
              </a:lnSpc>
              <a:spcBef>
                <a:spcPts val="1000"/>
              </a:spcBef>
              <a:spcAft>
                <a:spcPts val="0"/>
              </a:spcAft>
              <a:buClr>
                <a:srgbClr val="FF0000"/>
              </a:buClr>
              <a:buSzPts val="1800"/>
              <a:buNone/>
            </a:pPr>
            <a:r>
              <a:rPr lang="en-GB" sz="1800">
                <a:solidFill>
                  <a:srgbClr val="FF0000"/>
                </a:solidFill>
                <a:latin typeface="Courier"/>
                <a:ea typeface="Courier"/>
                <a:cs typeface="Courier"/>
                <a:sym typeface="Courier"/>
              </a:rPr>
              <a:t>________</a:t>
            </a:r>
            <a:r>
              <a:rPr lang="en-GB" sz="1800">
                <a:latin typeface="Courier"/>
                <a:ea typeface="Courier"/>
                <a:cs typeface="Courier"/>
                <a:sym typeface="Courier"/>
              </a:rPr>
              <a:t> height </a:t>
            </a:r>
            <a:r>
              <a:rPr lang="en-GB" sz="1800">
                <a:solidFill>
                  <a:srgbClr val="FF0000"/>
                </a:solidFill>
                <a:latin typeface="Courier"/>
                <a:ea typeface="Courier"/>
                <a:cs typeface="Courier"/>
                <a:sym typeface="Courier"/>
              </a:rPr>
              <a:t>________ </a:t>
            </a:r>
            <a:r>
              <a:rPr lang="en-GB" sz="1800">
                <a:latin typeface="Courier"/>
                <a:ea typeface="Courier"/>
                <a:cs typeface="Courier"/>
                <a:sym typeface="Courier"/>
              </a:rPr>
              <a:t>:</a:t>
            </a:r>
            <a:endParaRPr/>
          </a:p>
          <a:p>
            <a:pPr indent="0" lvl="0" marL="0" rtl="0" algn="l">
              <a:lnSpc>
                <a:spcPct val="90000"/>
              </a:lnSpc>
              <a:spcBef>
                <a:spcPts val="1000"/>
              </a:spcBef>
              <a:spcAft>
                <a:spcPts val="0"/>
              </a:spcAft>
              <a:buClr>
                <a:schemeClr val="dk1"/>
              </a:buClr>
              <a:buSzPts val="1800"/>
              <a:buNone/>
            </a:pPr>
            <a:r>
              <a:rPr lang="en-GB" sz="1800">
                <a:latin typeface="Courier"/>
                <a:ea typeface="Courier"/>
                <a:cs typeface="Courier"/>
                <a:sym typeface="Courier"/>
              </a:rPr>
              <a:t>    print</a:t>
            </a:r>
            <a:r>
              <a:rPr lang="en-GB" sz="1800">
                <a:solidFill>
                  <a:srgbClr val="FF0000"/>
                </a:solidFill>
                <a:latin typeface="Courier"/>
                <a:ea typeface="Courier"/>
                <a:cs typeface="Courier"/>
                <a:sym typeface="Courier"/>
              </a:rPr>
              <a:t>(________________________________)</a:t>
            </a:r>
            <a:endParaRPr/>
          </a:p>
          <a:p>
            <a:pPr indent="0" lvl="0" marL="0" rtl="0" algn="l">
              <a:lnSpc>
                <a:spcPct val="90000"/>
              </a:lnSpc>
              <a:spcBef>
                <a:spcPts val="1000"/>
              </a:spcBef>
              <a:spcAft>
                <a:spcPts val="0"/>
              </a:spcAft>
              <a:buClr>
                <a:srgbClr val="FF0000"/>
              </a:buClr>
              <a:buSzPts val="1800"/>
              <a:buNone/>
            </a:pPr>
            <a:r>
              <a:rPr lang="en-GB" sz="1800">
                <a:solidFill>
                  <a:srgbClr val="FF0000"/>
                </a:solidFill>
                <a:latin typeface="Courier"/>
                <a:ea typeface="Courier"/>
                <a:cs typeface="Courier"/>
                <a:sym typeface="Courier"/>
              </a:rPr>
              <a:t>__________</a:t>
            </a:r>
            <a:endParaRPr/>
          </a:p>
          <a:p>
            <a:pPr indent="0" lvl="0" marL="0" rtl="0" algn="l">
              <a:lnSpc>
                <a:spcPct val="90000"/>
              </a:lnSpc>
              <a:spcBef>
                <a:spcPts val="1000"/>
              </a:spcBef>
              <a:spcAft>
                <a:spcPts val="0"/>
              </a:spcAft>
              <a:buClr>
                <a:schemeClr val="dk1"/>
              </a:buClr>
              <a:buSzPts val="1800"/>
              <a:buNone/>
            </a:pPr>
            <a:r>
              <a:rPr lang="en-GB" sz="1800">
                <a:latin typeface="Courier"/>
                <a:ea typeface="Courier"/>
                <a:cs typeface="Courier"/>
                <a:sym typeface="Courier"/>
              </a:rPr>
              <a:t>    print('Sorry not old enough and not tall enough to ride')</a:t>
            </a:r>
            <a:endParaRPr/>
          </a:p>
          <a:p>
            <a:pPr indent="0" lvl="0" marL="0" rtl="0" algn="l">
              <a:lnSpc>
                <a:spcPct val="90000"/>
              </a:lnSpc>
              <a:spcBef>
                <a:spcPts val="1000"/>
              </a:spcBef>
              <a:spcAft>
                <a:spcPts val="0"/>
              </a:spcAft>
              <a:buClr>
                <a:schemeClr val="dk1"/>
              </a:buClr>
              <a:buSzPts val="2800"/>
              <a:buNone/>
            </a:pPr>
            <a:r>
              <a:t/>
            </a:r>
            <a:endParaRPr/>
          </a:p>
        </p:txBody>
      </p:sp>
      <p:sp>
        <p:nvSpPr>
          <p:cNvPr id="138" name="Google Shape;138;p20"/>
          <p:cNvSpPr/>
          <p:nvPr/>
        </p:nvSpPr>
        <p:spPr>
          <a:xfrm>
            <a:off x="2562587" y="3429000"/>
            <a:ext cx="736099"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rgbClr val="FF0000"/>
                </a:solidFill>
                <a:latin typeface="Courier"/>
                <a:ea typeface="Courier"/>
                <a:cs typeface="Courier"/>
                <a:sym typeface="Courier"/>
              </a:rPr>
              <a:t>int</a:t>
            </a:r>
            <a:r>
              <a:rPr lang="en-GB" sz="1800">
                <a:solidFill>
                  <a:schemeClr val="dk1"/>
                </a:solidFill>
                <a:latin typeface="Courier"/>
                <a:ea typeface="Courier"/>
                <a:cs typeface="Courier"/>
                <a:sym typeface="Courier"/>
              </a:rPr>
              <a:t> </a:t>
            </a:r>
            <a:endParaRPr sz="1800">
              <a:solidFill>
                <a:schemeClr val="dk1"/>
              </a:solidFill>
              <a:latin typeface="Courier"/>
              <a:ea typeface="Courier"/>
              <a:cs typeface="Courier"/>
              <a:sym typeface="Courier"/>
            </a:endParaRPr>
          </a:p>
        </p:txBody>
      </p:sp>
      <p:sp>
        <p:nvSpPr>
          <p:cNvPr id="139" name="Google Shape;139;p20"/>
          <p:cNvSpPr/>
          <p:nvPr/>
        </p:nvSpPr>
        <p:spPr>
          <a:xfrm>
            <a:off x="3108122" y="3798332"/>
            <a:ext cx="1011815"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rgbClr val="FF0000"/>
                </a:solidFill>
                <a:latin typeface="Courier"/>
                <a:ea typeface="Courier"/>
                <a:cs typeface="Courier"/>
                <a:sym typeface="Courier"/>
              </a:rPr>
              <a:t>float</a:t>
            </a:r>
            <a:r>
              <a:rPr lang="en-GB" sz="1800">
                <a:solidFill>
                  <a:schemeClr val="dk1"/>
                </a:solidFill>
                <a:latin typeface="Courier"/>
                <a:ea typeface="Courier"/>
                <a:cs typeface="Courier"/>
                <a:sym typeface="Courier"/>
              </a:rPr>
              <a:t> </a:t>
            </a:r>
            <a:endParaRPr sz="1800">
              <a:solidFill>
                <a:schemeClr val="dk1"/>
              </a:solidFill>
              <a:latin typeface="Courier"/>
              <a:ea typeface="Courier"/>
              <a:cs typeface="Courier"/>
              <a:sym typeface="Courier"/>
            </a:endParaRPr>
          </a:p>
        </p:txBody>
      </p:sp>
      <p:sp>
        <p:nvSpPr>
          <p:cNvPr id="140" name="Google Shape;140;p20"/>
          <p:cNvSpPr/>
          <p:nvPr/>
        </p:nvSpPr>
        <p:spPr>
          <a:xfrm>
            <a:off x="2692733" y="4167664"/>
            <a:ext cx="513282"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rgbClr val="FF0000"/>
                </a:solidFill>
                <a:latin typeface="Courier"/>
                <a:ea typeface="Courier"/>
                <a:cs typeface="Courier"/>
                <a:sym typeface="Courier"/>
              </a:rPr>
              <a:t>&gt;=</a:t>
            </a:r>
            <a:r>
              <a:rPr lang="en-GB"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
        <p:nvSpPr>
          <p:cNvPr id="141" name="Google Shape;141;p20"/>
          <p:cNvSpPr/>
          <p:nvPr/>
        </p:nvSpPr>
        <p:spPr>
          <a:xfrm>
            <a:off x="1945144" y="4933986"/>
            <a:ext cx="873957"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rgbClr val="FF0000"/>
                </a:solidFill>
                <a:latin typeface="Courier"/>
                <a:ea typeface="Courier"/>
                <a:cs typeface="Courier"/>
                <a:sym typeface="Courier"/>
              </a:rPr>
              <a:t>elif </a:t>
            </a:r>
            <a:endParaRPr sz="1800">
              <a:solidFill>
                <a:schemeClr val="dk1"/>
              </a:solidFill>
              <a:latin typeface="Courier"/>
              <a:ea typeface="Courier"/>
              <a:cs typeface="Courier"/>
              <a:sym typeface="Courier"/>
            </a:endParaRPr>
          </a:p>
        </p:txBody>
      </p:sp>
      <p:sp>
        <p:nvSpPr>
          <p:cNvPr id="142" name="Google Shape;142;p20"/>
          <p:cNvSpPr/>
          <p:nvPr/>
        </p:nvSpPr>
        <p:spPr>
          <a:xfrm>
            <a:off x="3910373" y="4933986"/>
            <a:ext cx="1149674"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rgbClr val="FF0000"/>
                </a:solidFill>
                <a:latin typeface="Courier"/>
                <a:ea typeface="Courier"/>
                <a:cs typeface="Courier"/>
                <a:sym typeface="Courier"/>
              </a:rPr>
              <a:t>&gt;= 1.5</a:t>
            </a:r>
            <a:r>
              <a:rPr lang="en-GB" sz="1800">
                <a:solidFill>
                  <a:schemeClr val="dk1"/>
                </a:solidFill>
                <a:latin typeface="Courier"/>
                <a:ea typeface="Courier"/>
                <a:cs typeface="Courier"/>
                <a:sym typeface="Courier"/>
              </a:rPr>
              <a:t> </a:t>
            </a:r>
            <a:endParaRPr sz="1800">
              <a:solidFill>
                <a:schemeClr val="dk1"/>
              </a:solidFill>
              <a:latin typeface="Courier"/>
              <a:ea typeface="Courier"/>
              <a:cs typeface="Courier"/>
              <a:sym typeface="Courier"/>
            </a:endParaRPr>
          </a:p>
        </p:txBody>
      </p:sp>
      <p:sp>
        <p:nvSpPr>
          <p:cNvPr id="143" name="Google Shape;143;p20"/>
          <p:cNvSpPr/>
          <p:nvPr/>
        </p:nvSpPr>
        <p:spPr>
          <a:xfrm>
            <a:off x="3819544" y="5303318"/>
            <a:ext cx="3217547"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rgbClr val="FF0000"/>
                </a:solidFill>
                <a:latin typeface="Courier"/>
                <a:ea typeface="Courier"/>
                <a:cs typeface="Courier"/>
                <a:sym typeface="Courier"/>
              </a:rPr>
              <a:t>'Tall enough to ride'</a:t>
            </a:r>
            <a:r>
              <a:rPr lang="en-GB" sz="1800">
                <a:solidFill>
                  <a:schemeClr val="dk1"/>
                </a:solidFill>
                <a:latin typeface="Courier"/>
                <a:ea typeface="Courier"/>
                <a:cs typeface="Courier"/>
                <a:sym typeface="Courier"/>
              </a:rPr>
              <a:t> </a:t>
            </a:r>
            <a:endParaRPr sz="1800">
              <a:solidFill>
                <a:schemeClr val="dk1"/>
              </a:solidFill>
              <a:latin typeface="Courier"/>
              <a:ea typeface="Courier"/>
              <a:cs typeface="Courier"/>
              <a:sym typeface="Courier"/>
            </a:endParaRPr>
          </a:p>
        </p:txBody>
      </p:sp>
      <p:sp>
        <p:nvSpPr>
          <p:cNvPr id="144" name="Google Shape;144;p20"/>
          <p:cNvSpPr/>
          <p:nvPr/>
        </p:nvSpPr>
        <p:spPr>
          <a:xfrm>
            <a:off x="1945144" y="5672650"/>
            <a:ext cx="873957"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rgbClr val="FF0000"/>
                </a:solidFill>
                <a:latin typeface="Courier"/>
                <a:ea typeface="Courier"/>
                <a:cs typeface="Courier"/>
                <a:sym typeface="Courier"/>
              </a:rPr>
              <a:t>else:</a:t>
            </a:r>
            <a:endParaRPr sz="1800">
              <a:solidFill>
                <a:schemeClr val="dk1"/>
              </a:solidFill>
              <a:latin typeface="Courier"/>
              <a:ea typeface="Courier"/>
              <a:cs typeface="Courier"/>
              <a:sym typeface="Courie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8"/>
                                        </p:tgtEl>
                                        <p:attrNameLst>
                                          <p:attrName>style.visibility</p:attrName>
                                        </p:attrNameLst>
                                      </p:cBhvr>
                                      <p:to>
                                        <p:strVal val="visible"/>
                                      </p:to>
                                    </p:set>
                                    <p:anim calcmode="lin" valueType="num">
                                      <p:cBhvr additive="base">
                                        <p:cTn dur="500"/>
                                        <p:tgtEl>
                                          <p:spTgt spid="13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9"/>
                                        </p:tgtEl>
                                        <p:attrNameLst>
                                          <p:attrName>style.visibility</p:attrName>
                                        </p:attrNameLst>
                                      </p:cBhvr>
                                      <p:to>
                                        <p:strVal val="visible"/>
                                      </p:to>
                                    </p:set>
                                    <p:anim calcmode="lin" valueType="num">
                                      <p:cBhvr additive="base">
                                        <p:cTn dur="500"/>
                                        <p:tgtEl>
                                          <p:spTgt spid="13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0"/>
                                        </p:tgtEl>
                                        <p:attrNameLst>
                                          <p:attrName>style.visibility</p:attrName>
                                        </p:attrNameLst>
                                      </p:cBhvr>
                                      <p:to>
                                        <p:strVal val="visible"/>
                                      </p:to>
                                    </p:set>
                                    <p:anim calcmode="lin" valueType="num">
                                      <p:cBhvr additive="base">
                                        <p:cTn dur="500"/>
                                        <p:tgtEl>
                                          <p:spTgt spid="14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1">
                                            <p:txEl>
                                              <p:pRg end="0" st="0"/>
                                            </p:txEl>
                                          </p:spTgt>
                                        </p:tgtEl>
                                        <p:attrNameLst>
                                          <p:attrName>style.visibility</p:attrName>
                                        </p:attrNameLst>
                                      </p:cBhvr>
                                      <p:to>
                                        <p:strVal val="visible"/>
                                      </p:to>
                                    </p:set>
                                    <p:anim calcmode="lin" valueType="num">
                                      <p:cBhvr additive="base">
                                        <p:cTn dur="500"/>
                                        <p:tgtEl>
                                          <p:spTgt spid="14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2"/>
                                        </p:tgtEl>
                                        <p:attrNameLst>
                                          <p:attrName>style.visibility</p:attrName>
                                        </p:attrNameLst>
                                      </p:cBhvr>
                                      <p:to>
                                        <p:strVal val="visible"/>
                                      </p:to>
                                    </p:set>
                                    <p:anim calcmode="lin" valueType="num">
                                      <p:cBhvr additive="base">
                                        <p:cTn dur="500"/>
                                        <p:tgtEl>
                                          <p:spTgt spid="14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3"/>
                                        </p:tgtEl>
                                        <p:attrNameLst>
                                          <p:attrName>style.visibility</p:attrName>
                                        </p:attrNameLst>
                                      </p:cBhvr>
                                      <p:to>
                                        <p:strVal val="visible"/>
                                      </p:to>
                                    </p:set>
                                    <p:anim calcmode="lin" valueType="num">
                                      <p:cBhvr additive="base">
                                        <p:cTn dur="500"/>
                                        <p:tgtEl>
                                          <p:spTgt spid="14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4"/>
                                        </p:tgtEl>
                                        <p:attrNameLst>
                                          <p:attrName>style.visibility</p:attrName>
                                        </p:attrNameLst>
                                      </p:cBhvr>
                                      <p:to>
                                        <p:strVal val="visible"/>
                                      </p:to>
                                    </p:set>
                                    <p:anim calcmode="lin" valueType="num">
                                      <p:cBhvr additive="base">
                                        <p:cTn dur="500"/>
                                        <p:tgtEl>
                                          <p:spTgt spid="14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1"/>
          <p:cNvSpPr txBox="1"/>
          <p:nvPr>
            <p:ph type="title"/>
          </p:nvPr>
        </p:nvSpPr>
        <p:spPr>
          <a:xfrm>
            <a:off x="1570382" y="805071"/>
            <a:ext cx="9783417" cy="79513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Programming constructs </a:t>
            </a:r>
            <a:endParaRPr/>
          </a:p>
        </p:txBody>
      </p:sp>
      <p:sp>
        <p:nvSpPr>
          <p:cNvPr id="151" name="Google Shape;151;p21"/>
          <p:cNvSpPr/>
          <p:nvPr/>
        </p:nvSpPr>
        <p:spPr>
          <a:xfrm>
            <a:off x="1570382" y="1985955"/>
            <a:ext cx="9412357" cy="353943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800">
                <a:solidFill>
                  <a:schemeClr val="dk1"/>
                </a:solidFill>
                <a:latin typeface="Calibri"/>
                <a:ea typeface="Calibri"/>
                <a:cs typeface="Calibri"/>
                <a:sym typeface="Calibri"/>
              </a:rPr>
              <a:t>There are three fundamental programming constructs:</a:t>
            </a:r>
            <a:endParaRPr sz="2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800"/>
              <a:buFont typeface="Noto Sans Symbols"/>
              <a:buChar char="∙"/>
            </a:pPr>
            <a:r>
              <a:rPr lang="en-GB" sz="2800">
                <a:solidFill>
                  <a:schemeClr val="dk1"/>
                </a:solidFill>
                <a:latin typeface="Calibri"/>
                <a:ea typeface="Calibri"/>
                <a:cs typeface="Calibri"/>
                <a:sym typeface="Calibri"/>
              </a:rPr>
              <a:t>Sequence</a:t>
            </a:r>
            <a:endParaRPr sz="2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800"/>
              <a:buFont typeface="Noto Sans Symbols"/>
              <a:buChar char="∙"/>
            </a:pPr>
            <a:r>
              <a:rPr lang="en-GB" sz="2800">
                <a:solidFill>
                  <a:schemeClr val="dk1"/>
                </a:solidFill>
                <a:latin typeface="Calibri"/>
                <a:ea typeface="Calibri"/>
                <a:cs typeface="Calibri"/>
                <a:sym typeface="Calibri"/>
              </a:rPr>
              <a:t>Selection</a:t>
            </a:r>
            <a:endParaRPr sz="2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800"/>
              <a:buFont typeface="Noto Sans Symbols"/>
              <a:buChar char="∙"/>
            </a:pPr>
            <a:r>
              <a:rPr lang="en-GB" sz="2800">
                <a:solidFill>
                  <a:schemeClr val="dk1"/>
                </a:solidFill>
                <a:latin typeface="Calibri"/>
                <a:ea typeface="Calibri"/>
                <a:cs typeface="Calibri"/>
                <a:sym typeface="Calibri"/>
              </a:rPr>
              <a:t>Iteration</a:t>
            </a:r>
            <a:endParaRPr/>
          </a:p>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a:p>
            <a:pPr indent="0" lvl="0" marL="0" marR="0" rtl="0" algn="l">
              <a:spcBef>
                <a:spcPts val="0"/>
              </a:spcBef>
              <a:spcAft>
                <a:spcPts val="0"/>
              </a:spcAft>
              <a:buNone/>
            </a:pPr>
            <a:r>
              <a:rPr lang="en-GB" sz="2800">
                <a:solidFill>
                  <a:schemeClr val="dk1"/>
                </a:solidFill>
                <a:latin typeface="Calibri"/>
                <a:ea typeface="Calibri"/>
                <a:cs typeface="Calibri"/>
                <a:sym typeface="Calibri"/>
              </a:rPr>
              <a:t>In this module, all the programs you have written involved selection. They all made decisions and did something based on the outcome of those decisions.</a:t>
            </a:r>
            <a:endParaRPr sz="2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2"/>
          <p:cNvSpPr txBox="1"/>
          <p:nvPr>
            <p:ph type="title"/>
          </p:nvPr>
        </p:nvSpPr>
        <p:spPr>
          <a:xfrm>
            <a:off x="1590260" y="805070"/>
            <a:ext cx="9763539" cy="82494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Quiz 6</a:t>
            </a:r>
            <a:endParaRPr/>
          </a:p>
        </p:txBody>
      </p:sp>
      <p:pic>
        <p:nvPicPr>
          <p:cNvPr descr="A picture containing athletic game, basketball, sport&#10;&#10;Description automatically generated" id="158" name="Google Shape;158;p22"/>
          <p:cNvPicPr preferRelativeResize="0"/>
          <p:nvPr/>
        </p:nvPicPr>
        <p:blipFill rotWithShape="1">
          <a:blip r:embed="rId3">
            <a:alphaModFix/>
          </a:blip>
          <a:srcRect b="0" l="0" r="0" t="0"/>
          <a:stretch/>
        </p:blipFill>
        <p:spPr>
          <a:xfrm>
            <a:off x="3855718" y="1930687"/>
            <a:ext cx="4480563" cy="43899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