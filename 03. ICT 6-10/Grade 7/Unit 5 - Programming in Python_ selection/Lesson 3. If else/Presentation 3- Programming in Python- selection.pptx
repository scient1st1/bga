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8" name="Google Shape;78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5" name="Google Shape;85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" name="Google Shape;91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8" name="Google Shape;98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3" name="Google Shape;123;p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Google Shape;11;p2"/>
          <p:cNvSpPr txBox="1"/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" name="Google Shape;12;p2"/>
          <p:cNvSpPr txBox="1"/>
          <p:nvPr>
            <p:ph idx="1" type="subTitle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7" name="Google Shape;17;p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8" name="Google Shape;18;p3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9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4"/>
          <p:cNvSpPr txBox="1"/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4"/>
          <p:cNvSpPr txBox="1"/>
          <p:nvPr>
            <p:ph idx="1" type="body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22" name="Google Shape;22;p4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3" name="Google Shape;23;p4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4" name="Google Shape;24;p4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5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" name="Google Shape;27;p5"/>
          <p:cNvSpPr txBox="1"/>
          <p:nvPr>
            <p:ph idx="1" type="body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8" name="Google Shape;28;p5"/>
          <p:cNvSpPr txBox="1"/>
          <p:nvPr>
            <p:ph idx="2" type="body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9" name="Google Shape;29;p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0" name="Google Shape;30;p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1" name="Google Shape;31;p5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6"/>
          <p:cNvSpPr txBox="1"/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6"/>
          <p:cNvSpPr txBox="1"/>
          <p:nvPr>
            <p:ph idx="1" type="body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35" name="Google Shape;35;p6"/>
          <p:cNvSpPr txBox="1"/>
          <p:nvPr>
            <p:ph idx="2" type="body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" name="Google Shape;36;p6"/>
          <p:cNvSpPr txBox="1"/>
          <p:nvPr>
            <p:ph idx="3" type="body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6"/>
          <p:cNvSpPr txBox="1"/>
          <p:nvPr>
            <p:ph idx="4" type="body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" name="Google Shape;38;p6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9" name="Google Shape;39;p6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0" name="Google Shape;40;p6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7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7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4" name="Google Shape;44;p7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5" name="Google Shape;45;p7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8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8" name="Google Shape;48;p8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9" name="Google Shape;49;p8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9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9"/>
          <p:cNvSpPr txBox="1"/>
          <p:nvPr>
            <p:ph idx="1" type="body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indent="-3810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indent="-355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indent="-355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3" name="Google Shape;53;p9"/>
          <p:cNvSpPr txBox="1"/>
          <p:nvPr>
            <p:ph idx="2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54" name="Google Shape;54;p9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5" name="Google Shape;55;p9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6" name="Google Shape;56;p9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10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10"/>
          <p:cNvSpPr/>
          <p:nvPr>
            <p:ph idx="2" type="pic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0" name="Google Shape;60;p10"/>
          <p:cNvSpPr txBox="1"/>
          <p:nvPr>
            <p:ph idx="1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61" name="Google Shape;61;p1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62" name="Google Shape;62;p1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63" name="Google Shape;63;p1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11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1"/>
          <p:cNvSpPr txBox="1"/>
          <p:nvPr>
            <p:ph idx="1" type="body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67" name="Google Shape;67;p11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68" name="Google Shape;68;p11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69" name="Google Shape;69;p11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2"/>
          <p:cNvSpPr txBox="1"/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2"/>
          <p:cNvSpPr txBox="1"/>
          <p:nvPr>
            <p:ph idx="1" type="body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3" name="Google Shape;73;p12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4" name="Google Shape;74;p12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5" name="Google Shape;75;p12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0.xml"/><Relationship Id="rId10" Type="http://schemas.openxmlformats.org/officeDocument/2006/relationships/slideLayout" Target="../slideLayouts/slideLayout9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1.xml"/><Relationship Id="rId1" Type="http://schemas.openxmlformats.org/officeDocument/2006/relationships/image" Target="../media/image3.jpg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9" Type="http://schemas.openxmlformats.org/officeDocument/2006/relationships/slideLayout" Target="../slideLayouts/slideLayout8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hape, rectangle&#10;&#10;Description automatically generated" id="6" name="Google Shape;6;p1"/>
          <p:cNvPicPr preferRelativeResize="0"/>
          <p:nvPr/>
        </p:nvPicPr>
        <p:blipFill rotWithShape="1">
          <a:blip r:embed="rId1">
            <a:alphaModFix/>
          </a:blip>
          <a:srcRect b="0" l="0" r="0" t="0"/>
          <a:stretch/>
        </p:blipFill>
        <p:spPr>
          <a:xfrm>
            <a:off x="0" y="-25758"/>
            <a:ext cx="12192000" cy="1656196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Google Shape;7;p1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8" name="Google Shape;8;p1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"/>
          <p:cNvSpPr txBox="1"/>
          <p:nvPr/>
        </p:nvSpPr>
        <p:spPr>
          <a:xfrm>
            <a:off x="7547114" y="6380197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© Hodder &amp; Stoughton Limited 2021</a:t>
            </a:r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2"/>
    <p:sldLayoutId id="2147483649" r:id="rId3"/>
    <p:sldLayoutId id="2147483650" r:id="rId4"/>
    <p:sldLayoutId id="2147483651" r:id="rId5"/>
    <p:sldLayoutId id="2147483652" r:id="rId6"/>
    <p:sldLayoutId id="2147483653" r:id="rId7"/>
    <p:sldLayoutId id="2147483654" r:id="rId8"/>
    <p:sldLayoutId id="2147483655" r:id="rId9"/>
    <p:sldLayoutId id="2147483656" r:id="rId10"/>
    <p:sldLayoutId id="2147483657" r:id="rId11"/>
    <p:sldLayoutId id="2147483658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jp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13"/>
          <p:cNvSpPr txBox="1"/>
          <p:nvPr>
            <p:ph type="ctrTitle"/>
          </p:nvPr>
        </p:nvSpPr>
        <p:spPr>
          <a:xfrm>
            <a:off x="624917" y="2325757"/>
            <a:ext cx="10308126" cy="896454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 fontScale="90000"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None/>
            </a:pPr>
            <a:r>
              <a:rPr b="1" lang="en-GB"/>
              <a:t>Programming in python: selection</a:t>
            </a:r>
            <a:endParaRPr/>
          </a:p>
        </p:txBody>
      </p:sp>
      <p:sp>
        <p:nvSpPr>
          <p:cNvPr id="81" name="Google Shape;81;p13"/>
          <p:cNvSpPr/>
          <p:nvPr/>
        </p:nvSpPr>
        <p:spPr>
          <a:xfrm>
            <a:off x="4481300" y="3438955"/>
            <a:ext cx="2183611" cy="46166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400" u="none" cap="none" strike="noStrike">
                <a:solidFill>
                  <a:srgbClr val="F05900"/>
                </a:solidFill>
                <a:latin typeface="Calibri"/>
                <a:ea typeface="Calibri"/>
                <a:cs typeface="Calibri"/>
                <a:sym typeface="Calibri"/>
              </a:rPr>
              <a:t>Lesson 3: If else</a:t>
            </a:r>
            <a:endParaRPr/>
          </a:p>
        </p:txBody>
      </p:sp>
      <p:pic>
        <p:nvPicPr>
          <p:cNvPr id="82" name="Google Shape;82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15169" y="3438955"/>
            <a:ext cx="2937413" cy="2443928"/>
          </a:xfrm>
          <a:prstGeom prst="rect">
            <a:avLst/>
          </a:prstGeom>
          <a:noFill/>
          <a:ln>
            <a:noFill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14"/>
          <p:cNvSpPr txBox="1"/>
          <p:nvPr>
            <p:ph type="title"/>
          </p:nvPr>
        </p:nvSpPr>
        <p:spPr>
          <a:xfrm>
            <a:off x="1610139" y="824948"/>
            <a:ext cx="9634330" cy="76634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libri"/>
              <a:buNone/>
            </a:pPr>
            <a:r>
              <a:rPr b="1" lang="en-GB">
                <a:solidFill>
                  <a:schemeClr val="lt1"/>
                </a:solidFill>
              </a:rPr>
              <a:t>Objectives</a:t>
            </a:r>
            <a:endParaRPr/>
          </a:p>
        </p:txBody>
      </p:sp>
      <p:sp>
        <p:nvSpPr>
          <p:cNvPr id="88" name="Google Shape;88;p14"/>
          <p:cNvSpPr/>
          <p:nvPr/>
        </p:nvSpPr>
        <p:spPr>
          <a:xfrm>
            <a:off x="1610139" y="2215485"/>
            <a:ext cx="8368748" cy="317009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 this lesson, you will learn: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∙"/>
            </a:pPr>
            <a:r>
              <a:rPr lang="en-GB" sz="2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how to write a program in Python that uses an if-else statement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∙"/>
            </a:pPr>
            <a:r>
              <a:rPr lang="en-GB" sz="2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how to write a program in Python that uses multiple if statements and an else statement to consider a number of conditions when making a decision.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5"/>
          <p:cNvSpPr txBox="1"/>
          <p:nvPr>
            <p:ph type="title"/>
          </p:nvPr>
        </p:nvSpPr>
        <p:spPr>
          <a:xfrm>
            <a:off x="1610139" y="815008"/>
            <a:ext cx="9773478" cy="8050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libri"/>
              <a:buNone/>
            </a:pPr>
            <a:r>
              <a:rPr b="1" lang="en-GB">
                <a:solidFill>
                  <a:schemeClr val="lt1"/>
                </a:solidFill>
              </a:rPr>
              <a:t>if else statements </a:t>
            </a:r>
            <a:endParaRPr/>
          </a:p>
        </p:txBody>
      </p:sp>
      <p:sp>
        <p:nvSpPr>
          <p:cNvPr id="94" name="Google Shape;94;p15"/>
          <p:cNvSpPr/>
          <p:nvPr/>
        </p:nvSpPr>
        <p:spPr>
          <a:xfrm>
            <a:off x="1610139" y="2203319"/>
            <a:ext cx="7921487" cy="120032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if statements are used to decide what to do next if a condition is true. If we also want to tell the program what to do if the condition is false, we use an else statement:</a:t>
            </a:r>
            <a:endParaRPr sz="2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Text&#10;&#10;Description automatically generated" id="95" name="Google Shape;95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679827" y="3739532"/>
            <a:ext cx="4832346" cy="173825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16"/>
          <p:cNvSpPr txBox="1"/>
          <p:nvPr>
            <p:ph type="title"/>
          </p:nvPr>
        </p:nvSpPr>
        <p:spPr>
          <a:xfrm>
            <a:off x="1620078" y="775253"/>
            <a:ext cx="9733721" cy="82494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libri"/>
              <a:buNone/>
            </a:pPr>
            <a:r>
              <a:rPr b="1" lang="en-GB">
                <a:solidFill>
                  <a:schemeClr val="lt1"/>
                </a:solidFill>
              </a:rPr>
              <a:t>Decisions in algorithms </a:t>
            </a:r>
            <a:endParaRPr/>
          </a:p>
        </p:txBody>
      </p:sp>
      <p:sp>
        <p:nvSpPr>
          <p:cNvPr id="101" name="Google Shape;101;p16"/>
          <p:cNvSpPr txBox="1"/>
          <p:nvPr>
            <p:ph idx="1" type="body"/>
          </p:nvPr>
        </p:nvSpPr>
        <p:spPr>
          <a:xfrm>
            <a:off x="1620078" y="1825625"/>
            <a:ext cx="8736496" cy="7486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lang="en-GB"/>
              <a:t>For example:</a:t>
            </a:r>
            <a:endParaRPr/>
          </a:p>
          <a:p>
            <a:pPr indent="-508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t/>
            </a:r>
            <a:endParaRPr/>
          </a:p>
        </p:txBody>
      </p:sp>
      <p:pic>
        <p:nvPicPr>
          <p:cNvPr descr="A picture containing text&#10;&#10;Description automatically generated" id="102" name="Google Shape;102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20078" y="2799658"/>
            <a:ext cx="3228936" cy="148410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7"/>
          <p:cNvSpPr txBox="1"/>
          <p:nvPr>
            <p:ph type="title"/>
          </p:nvPr>
        </p:nvSpPr>
        <p:spPr>
          <a:xfrm>
            <a:off x="1570382" y="805071"/>
            <a:ext cx="10621618" cy="79513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Calibri"/>
              <a:buNone/>
            </a:pPr>
            <a:r>
              <a:rPr b="1" lang="en-GB" sz="3600">
                <a:solidFill>
                  <a:schemeClr val="lt1"/>
                </a:solidFill>
              </a:rPr>
              <a:t>Activity 3.1: Programming in Python: selection, Section 3</a:t>
            </a:r>
            <a:endParaRPr/>
          </a:p>
        </p:txBody>
      </p:sp>
      <p:pic>
        <p:nvPicPr>
          <p:cNvPr descr="A picture containing athletic game, basketball, sport&#10;&#10;Description automatically generated" id="108" name="Google Shape;108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34095" y="1948103"/>
            <a:ext cx="4480563" cy="43899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8"/>
          <p:cNvSpPr txBox="1"/>
          <p:nvPr>
            <p:ph type="title"/>
          </p:nvPr>
        </p:nvSpPr>
        <p:spPr>
          <a:xfrm>
            <a:off x="1570382" y="805071"/>
            <a:ext cx="9783417" cy="79513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libri"/>
              <a:buNone/>
            </a:pPr>
            <a:r>
              <a:rPr b="1" lang="en-GB">
                <a:solidFill>
                  <a:schemeClr val="lt1"/>
                </a:solidFill>
              </a:rPr>
              <a:t>Questions </a:t>
            </a:r>
            <a:endParaRPr/>
          </a:p>
        </p:txBody>
      </p:sp>
      <p:sp>
        <p:nvSpPr>
          <p:cNvPr id="114" name="Google Shape;114;p18"/>
          <p:cNvSpPr/>
          <p:nvPr/>
        </p:nvSpPr>
        <p:spPr>
          <a:xfrm>
            <a:off x="1570382" y="2093340"/>
            <a:ext cx="8875644" cy="92333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Complete the program by filling in the gaps. It asks the user to print a number between 5 and 10 and outputs 'Too small' if the number is below 5, 'Too big' if the number is above 10 and the number if it is between 5 and 10.</a:t>
            </a:r>
            <a:endParaRPr/>
          </a:p>
        </p:txBody>
      </p:sp>
      <p:sp>
        <p:nvSpPr>
          <p:cNvPr id="115" name="Google Shape;115;p18"/>
          <p:cNvSpPr/>
          <p:nvPr/>
        </p:nvSpPr>
        <p:spPr>
          <a:xfrm>
            <a:off x="1649894" y="3016670"/>
            <a:ext cx="8160027" cy="20313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Courier"/>
                <a:ea typeface="Courier"/>
                <a:cs typeface="Courier"/>
                <a:sym typeface="Courier"/>
              </a:rPr>
              <a:t>num = int(input('Enter a number between 5 and 10: '))</a:t>
            </a:r>
            <a:endParaRPr sz="1800">
              <a:solidFill>
                <a:schemeClr val="dk1"/>
              </a:solidFill>
              <a:latin typeface="Courier"/>
              <a:ea typeface="Courier"/>
              <a:cs typeface="Courier"/>
              <a:sym typeface="Courier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Courier"/>
                <a:ea typeface="Courier"/>
                <a:cs typeface="Courier"/>
                <a:sym typeface="Courier"/>
              </a:rPr>
              <a:t>if num </a:t>
            </a:r>
            <a:r>
              <a:rPr lang="en-GB" sz="1800">
                <a:solidFill>
                  <a:srgbClr val="FF0000"/>
                </a:solidFill>
                <a:latin typeface="Courier"/>
                <a:ea typeface="Courier"/>
                <a:cs typeface="Courier"/>
                <a:sym typeface="Courier"/>
              </a:rPr>
              <a:t>__</a:t>
            </a:r>
            <a:r>
              <a:rPr lang="en-GB" sz="1800">
                <a:solidFill>
                  <a:schemeClr val="dk1"/>
                </a:solidFill>
                <a:latin typeface="Courier"/>
                <a:ea typeface="Courier"/>
                <a:cs typeface="Courier"/>
                <a:sym typeface="Courier"/>
              </a:rPr>
              <a:t> 5:</a:t>
            </a:r>
            <a:endParaRPr sz="1800">
              <a:solidFill>
                <a:schemeClr val="dk1"/>
              </a:solidFill>
              <a:latin typeface="Courier"/>
              <a:ea typeface="Courier"/>
              <a:cs typeface="Courier"/>
              <a:sym typeface="Courier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Courier"/>
                <a:ea typeface="Courier"/>
                <a:cs typeface="Courier"/>
                <a:sym typeface="Courier"/>
              </a:rPr>
              <a:t>    print('Too small')</a:t>
            </a:r>
            <a:endParaRPr sz="1800">
              <a:solidFill>
                <a:schemeClr val="dk1"/>
              </a:solidFill>
              <a:latin typeface="Courier"/>
              <a:ea typeface="Courier"/>
              <a:cs typeface="Courier"/>
              <a:sym typeface="Courier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Courier"/>
                <a:ea typeface="Courier"/>
                <a:cs typeface="Courier"/>
                <a:sym typeface="Courier"/>
              </a:rPr>
              <a:t>if num &gt; </a:t>
            </a:r>
            <a:r>
              <a:rPr lang="en-GB" sz="1800">
                <a:solidFill>
                  <a:srgbClr val="FF0000"/>
                </a:solidFill>
                <a:latin typeface="Courier"/>
                <a:ea typeface="Courier"/>
                <a:cs typeface="Courier"/>
                <a:sym typeface="Courier"/>
              </a:rPr>
              <a:t>____</a:t>
            </a:r>
            <a:r>
              <a:rPr lang="en-GB" sz="1800">
                <a:solidFill>
                  <a:srgbClr val="000000"/>
                </a:solidFill>
                <a:latin typeface="Courier"/>
                <a:ea typeface="Courier"/>
                <a:cs typeface="Courier"/>
                <a:sym typeface="Courier"/>
              </a:rPr>
              <a:t>:</a:t>
            </a:r>
            <a:endParaRPr sz="1800">
              <a:solidFill>
                <a:schemeClr val="dk1"/>
              </a:solidFill>
              <a:latin typeface="Courier"/>
              <a:ea typeface="Courier"/>
              <a:cs typeface="Courier"/>
              <a:sym typeface="Courier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000000"/>
                </a:solidFill>
                <a:latin typeface="Courier"/>
                <a:ea typeface="Courier"/>
                <a:cs typeface="Courier"/>
                <a:sym typeface="Courier"/>
              </a:rPr>
              <a:t>    print('</a:t>
            </a:r>
            <a:r>
              <a:rPr lang="en-GB" sz="1800">
                <a:solidFill>
                  <a:srgbClr val="FF0000"/>
                </a:solidFill>
                <a:latin typeface="Courier"/>
                <a:ea typeface="Courier"/>
                <a:cs typeface="Courier"/>
                <a:sym typeface="Courier"/>
              </a:rPr>
              <a:t>______________</a:t>
            </a:r>
            <a:r>
              <a:rPr lang="en-GB" sz="1800">
                <a:solidFill>
                  <a:srgbClr val="000000"/>
                </a:solidFill>
                <a:latin typeface="Courier"/>
                <a:ea typeface="Courier"/>
                <a:cs typeface="Courier"/>
                <a:sym typeface="Courier"/>
              </a:rPr>
              <a:t>')</a:t>
            </a:r>
            <a:endParaRPr sz="1800">
              <a:solidFill>
                <a:schemeClr val="dk1"/>
              </a:solidFill>
              <a:latin typeface="Courier"/>
              <a:ea typeface="Courier"/>
              <a:cs typeface="Courier"/>
              <a:sym typeface="Courier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F0000"/>
                </a:solidFill>
                <a:latin typeface="Courier"/>
                <a:ea typeface="Courier"/>
                <a:cs typeface="Courier"/>
                <a:sym typeface="Courier"/>
              </a:rPr>
              <a:t>__________</a:t>
            </a:r>
            <a:endParaRPr sz="1800">
              <a:solidFill>
                <a:schemeClr val="dk1"/>
              </a:solidFill>
              <a:latin typeface="Courier"/>
              <a:ea typeface="Courier"/>
              <a:cs typeface="Courier"/>
              <a:sym typeface="Courier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000000"/>
                </a:solidFill>
                <a:latin typeface="Courier"/>
                <a:ea typeface="Courier"/>
                <a:cs typeface="Courier"/>
                <a:sym typeface="Courier"/>
              </a:rPr>
              <a:t>    print('You chose’, </a:t>
            </a:r>
            <a:r>
              <a:rPr lang="en-GB" sz="1800">
                <a:solidFill>
                  <a:srgbClr val="FF0000"/>
                </a:solidFill>
                <a:latin typeface="Courier"/>
                <a:ea typeface="Courier"/>
                <a:cs typeface="Courier"/>
                <a:sym typeface="Courier"/>
              </a:rPr>
              <a:t>_____</a:t>
            </a:r>
            <a:r>
              <a:rPr lang="en-GB" sz="1800">
                <a:solidFill>
                  <a:srgbClr val="000000"/>
                </a:solidFill>
                <a:latin typeface="Courier"/>
                <a:ea typeface="Courier"/>
                <a:cs typeface="Courier"/>
                <a:sym typeface="Courier"/>
              </a:rPr>
              <a:t>)</a:t>
            </a:r>
            <a:endParaRPr sz="1800">
              <a:solidFill>
                <a:schemeClr val="dk1"/>
              </a:solidFill>
              <a:latin typeface="Courier"/>
              <a:ea typeface="Courier"/>
              <a:cs typeface="Courier"/>
              <a:sym typeface="Courier"/>
            </a:endParaRPr>
          </a:p>
        </p:txBody>
      </p:sp>
      <p:sp>
        <p:nvSpPr>
          <p:cNvPr id="116" name="Google Shape;116;p18"/>
          <p:cNvSpPr/>
          <p:nvPr/>
        </p:nvSpPr>
        <p:spPr>
          <a:xfrm>
            <a:off x="2659474" y="3244334"/>
            <a:ext cx="460382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F0000"/>
                </a:solidFill>
                <a:latin typeface="Courier"/>
                <a:ea typeface="Courier"/>
                <a:cs typeface="Courier"/>
                <a:sym typeface="Courier"/>
              </a:rPr>
              <a:t>&lt;</a:t>
            </a:r>
            <a:r>
              <a:rPr lang="en-GB" sz="1800">
                <a:solidFill>
                  <a:schemeClr val="dk1"/>
                </a:solidFill>
                <a:latin typeface="Courier"/>
                <a:ea typeface="Courier"/>
                <a:cs typeface="Courier"/>
                <a:sym typeface="Courier"/>
              </a:rPr>
              <a:t> </a:t>
            </a:r>
            <a:endParaRPr sz="1800">
              <a:solidFill>
                <a:schemeClr val="dk1"/>
              </a:solidFill>
              <a:latin typeface="Courier"/>
              <a:ea typeface="Courier"/>
              <a:cs typeface="Courier"/>
              <a:sym typeface="Courier"/>
            </a:endParaRPr>
          </a:p>
        </p:txBody>
      </p:sp>
      <p:sp>
        <p:nvSpPr>
          <p:cNvPr id="117" name="Google Shape;117;p18"/>
          <p:cNvSpPr/>
          <p:nvPr/>
        </p:nvSpPr>
        <p:spPr>
          <a:xfrm>
            <a:off x="2928391" y="3841330"/>
            <a:ext cx="513282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F0000"/>
                </a:solidFill>
                <a:latin typeface="Courier"/>
                <a:ea typeface="Courier"/>
                <a:cs typeface="Courier"/>
                <a:sym typeface="Courier"/>
              </a:rPr>
              <a:t>10</a:t>
            </a:r>
            <a:r>
              <a:rPr lang="en-GB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" name="Google Shape;118;p18"/>
          <p:cNvSpPr/>
          <p:nvPr/>
        </p:nvSpPr>
        <p:spPr>
          <a:xfrm>
            <a:off x="3432638" y="4068994"/>
            <a:ext cx="1287532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F0000"/>
                </a:solidFill>
                <a:latin typeface="Courier"/>
                <a:ea typeface="Courier"/>
                <a:cs typeface="Courier"/>
                <a:sym typeface="Courier"/>
              </a:rPr>
              <a:t>Too big</a:t>
            </a:r>
            <a:r>
              <a:rPr lang="en-GB" sz="1800">
                <a:solidFill>
                  <a:schemeClr val="dk1"/>
                </a:solidFill>
                <a:latin typeface="Courier"/>
                <a:ea typeface="Courier"/>
                <a:cs typeface="Courier"/>
                <a:sym typeface="Courier"/>
              </a:rPr>
              <a:t> </a:t>
            </a:r>
            <a:endParaRPr sz="1800">
              <a:solidFill>
                <a:schemeClr val="dk1"/>
              </a:solidFill>
              <a:latin typeface="Courier"/>
              <a:ea typeface="Courier"/>
              <a:cs typeface="Courier"/>
              <a:sym typeface="Courier"/>
            </a:endParaRPr>
          </a:p>
        </p:txBody>
      </p:sp>
      <p:sp>
        <p:nvSpPr>
          <p:cNvPr id="119" name="Google Shape;119;p18"/>
          <p:cNvSpPr/>
          <p:nvPr/>
        </p:nvSpPr>
        <p:spPr>
          <a:xfrm>
            <a:off x="1920583" y="4347578"/>
            <a:ext cx="873957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F0000"/>
                </a:solidFill>
                <a:latin typeface="Courier"/>
                <a:ea typeface="Courier"/>
                <a:cs typeface="Courier"/>
                <a:sym typeface="Courier"/>
              </a:rPr>
              <a:t>else:</a:t>
            </a:r>
            <a:endParaRPr sz="1800">
              <a:solidFill>
                <a:schemeClr val="dk1"/>
              </a:solidFill>
              <a:latin typeface="Courier"/>
              <a:ea typeface="Courier"/>
              <a:cs typeface="Courier"/>
              <a:sym typeface="Courier"/>
            </a:endParaRPr>
          </a:p>
        </p:txBody>
      </p:sp>
      <p:sp>
        <p:nvSpPr>
          <p:cNvPr id="120" name="Google Shape;120;p18"/>
          <p:cNvSpPr/>
          <p:nvPr/>
        </p:nvSpPr>
        <p:spPr>
          <a:xfrm>
            <a:off x="4918390" y="4678663"/>
            <a:ext cx="736099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F0000"/>
                </a:solidFill>
                <a:latin typeface="Courier"/>
                <a:ea typeface="Courier"/>
                <a:cs typeface="Courier"/>
                <a:sym typeface="Courier"/>
              </a:rPr>
              <a:t>num</a:t>
            </a:r>
            <a:r>
              <a:rPr lang="en-GB" sz="1800">
                <a:solidFill>
                  <a:schemeClr val="dk1"/>
                </a:solidFill>
                <a:latin typeface="Courier"/>
                <a:ea typeface="Courier"/>
                <a:cs typeface="Courier"/>
                <a:sym typeface="Courier"/>
              </a:rPr>
              <a:t> </a:t>
            </a:r>
            <a:endParaRPr sz="1800">
              <a:solidFill>
                <a:schemeClr val="dk1"/>
              </a:solidFill>
              <a:latin typeface="Courier"/>
              <a:ea typeface="Courier"/>
              <a:cs typeface="Courier"/>
              <a:sym typeface="Courier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19"/>
          <p:cNvSpPr txBox="1"/>
          <p:nvPr>
            <p:ph type="title"/>
          </p:nvPr>
        </p:nvSpPr>
        <p:spPr>
          <a:xfrm>
            <a:off x="1570382" y="805071"/>
            <a:ext cx="10621618" cy="79513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libri"/>
              <a:buNone/>
            </a:pPr>
            <a:r>
              <a:rPr b="1" lang="en-GB">
                <a:solidFill>
                  <a:schemeClr val="lt1"/>
                </a:solidFill>
              </a:rPr>
              <a:t>Quiz 3</a:t>
            </a:r>
            <a:endParaRPr/>
          </a:p>
        </p:txBody>
      </p:sp>
      <p:pic>
        <p:nvPicPr>
          <p:cNvPr descr="A picture containing athletic game, basketball, sport&#10;&#10;Description automatically generated" id="126" name="Google Shape;126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34095" y="1948103"/>
            <a:ext cx="4480563" cy="43899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