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pic>
        <p:nvPicPr>
          <p:cNvPr descr="Shape, rectangle&#10;&#10;Description automatically generated" id="6" name="Google Shape;6;p1"/>
          <p:cNvPicPr preferRelativeResize="0"/>
          <p:nvPr/>
        </p:nvPicPr>
        <p:blipFill rotWithShape="1">
          <a:blip r:embed="rId1">
            <a:alphaModFix/>
          </a:blip>
          <a:srcRect b="0" l="0" r="0" t="0"/>
          <a:stretch/>
        </p:blipFill>
        <p:spPr>
          <a:xfrm>
            <a:off x="0" y="-25758"/>
            <a:ext cx="12192000" cy="1656196"/>
          </a:xfrm>
          <a:prstGeom prst="rect">
            <a:avLst/>
          </a:prstGeom>
          <a:noFill/>
          <a:ln>
            <a:noFill/>
          </a:ln>
        </p:spPr>
      </p:pic>
      <p:sp>
        <p:nvSpPr>
          <p:cNvPr id="7" name="Google Shape;7;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8" name="Google Shape;8;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624917" y="2325757"/>
            <a:ext cx="10308126" cy="896454"/>
          </a:xfrm>
          <a:prstGeom prst="rect">
            <a:avLst/>
          </a:prstGeom>
          <a:no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chemeClr val="dk1"/>
              </a:buClr>
              <a:buSzPct val="100000"/>
              <a:buFont typeface="Calibri"/>
              <a:buNone/>
            </a:pPr>
            <a:r>
              <a:rPr b="1" lang="en-GB"/>
              <a:t>Programming in python: selection</a:t>
            </a:r>
            <a:endParaRPr/>
          </a:p>
        </p:txBody>
      </p:sp>
      <p:sp>
        <p:nvSpPr>
          <p:cNvPr id="81" name="Google Shape;81;p13"/>
          <p:cNvSpPr/>
          <p:nvPr/>
        </p:nvSpPr>
        <p:spPr>
          <a:xfrm>
            <a:off x="4222882" y="3438971"/>
            <a:ext cx="2667718"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i="0" lang="en-GB" sz="2400" u="none" cap="none" strike="noStrike">
                <a:solidFill>
                  <a:srgbClr val="F05900"/>
                </a:solidFill>
                <a:latin typeface="Calibri"/>
                <a:ea typeface="Calibri"/>
                <a:cs typeface="Calibri"/>
                <a:sym typeface="Calibri"/>
              </a:rPr>
              <a:t>Lesson 1: Selection </a:t>
            </a:r>
            <a:endParaRPr b="1" sz="2400">
              <a:solidFill>
                <a:srgbClr val="F05900"/>
              </a:solidFill>
              <a:latin typeface="Calibri"/>
              <a:ea typeface="Calibri"/>
              <a:cs typeface="Calibri"/>
              <a:sym typeface="Calibri"/>
            </a:endParaRPr>
          </a:p>
        </p:txBody>
      </p:sp>
      <p:pic>
        <p:nvPicPr>
          <p:cNvPr id="82" name="Google Shape;82;p13"/>
          <p:cNvPicPr preferRelativeResize="0"/>
          <p:nvPr/>
        </p:nvPicPr>
        <p:blipFill rotWithShape="1">
          <a:blip r:embed="rId3">
            <a:alphaModFix/>
          </a:blip>
          <a:srcRect b="0" l="0" r="0" t="0"/>
          <a:stretch/>
        </p:blipFill>
        <p:spPr>
          <a:xfrm>
            <a:off x="7115169" y="3438955"/>
            <a:ext cx="2937413" cy="2443928"/>
          </a:xfrm>
          <a:prstGeom prst="rect">
            <a:avLst/>
          </a:prstGeom>
          <a:noFill/>
          <a:ln>
            <a:noFill/>
          </a:ln>
          <a:effectLst>
            <a:outerShdw blurRad="50800" rotWithShape="0" algn="tl" dir="2700000" dist="3810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610139" y="824948"/>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610139" y="2215485"/>
            <a:ext cx="8368748" cy="317009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In this lesson, you will learn:</a:t>
            </a:r>
            <a:endParaRPr/>
          </a:p>
          <a:p>
            <a:pPr indent="-342900" lvl="0" marL="342900" marR="0" rtl="0" algn="l">
              <a:spcBef>
                <a:spcPts val="0"/>
              </a:spcBef>
              <a:spcAft>
                <a:spcPts val="0"/>
              </a:spcAft>
              <a:buClr>
                <a:schemeClr val="dk1"/>
              </a:buClr>
              <a:buSzPts val="2800"/>
              <a:buFont typeface="Noto Sans Symbols"/>
              <a:buChar char="∙"/>
            </a:pPr>
            <a:r>
              <a:rPr lang="en-GB" sz="2800">
                <a:solidFill>
                  <a:schemeClr val="dk1"/>
                </a:solidFill>
                <a:latin typeface="Calibri"/>
                <a:ea typeface="Calibri"/>
                <a:cs typeface="Calibri"/>
                <a:sym typeface="Calibri"/>
              </a:rPr>
              <a:t>how to use selection to make a decision</a:t>
            </a:r>
            <a:endParaRPr/>
          </a:p>
          <a:p>
            <a:pPr indent="-342900" lvl="0" marL="342900" marR="0" rtl="0" algn="l">
              <a:spcBef>
                <a:spcPts val="0"/>
              </a:spcBef>
              <a:spcAft>
                <a:spcPts val="0"/>
              </a:spcAft>
              <a:buClr>
                <a:schemeClr val="dk1"/>
              </a:buClr>
              <a:buSzPts val="2800"/>
              <a:buFont typeface="Noto Sans Symbols"/>
              <a:buChar char="∙"/>
            </a:pPr>
            <a:r>
              <a:rPr lang="en-GB" sz="2800">
                <a:solidFill>
                  <a:schemeClr val="dk1"/>
                </a:solidFill>
                <a:latin typeface="Calibri"/>
                <a:ea typeface="Calibri"/>
                <a:cs typeface="Calibri"/>
                <a:sym typeface="Calibri"/>
              </a:rPr>
              <a:t>how to write an algorithm for a program that includes a decision</a:t>
            </a:r>
            <a:endParaRPr/>
          </a:p>
          <a:p>
            <a:pPr indent="-342900" lvl="0" marL="342900" marR="0" rtl="0" algn="l">
              <a:spcBef>
                <a:spcPts val="0"/>
              </a:spcBef>
              <a:spcAft>
                <a:spcPts val="0"/>
              </a:spcAft>
              <a:buClr>
                <a:schemeClr val="dk1"/>
              </a:buClr>
              <a:buSzPts val="2800"/>
              <a:buFont typeface="Noto Sans Symbols"/>
              <a:buChar char="∙"/>
            </a:pPr>
            <a:r>
              <a:rPr lang="en-GB" sz="2800">
                <a:solidFill>
                  <a:schemeClr val="dk1"/>
                </a:solidFill>
                <a:latin typeface="Calibri"/>
                <a:ea typeface="Calibri"/>
                <a:cs typeface="Calibri"/>
                <a:sym typeface="Calibri"/>
              </a:rPr>
              <a:t>how to write a program in Python that makes a decision based on the result of a comparison.</a:t>
            </a:r>
            <a:endParaRPr/>
          </a:p>
          <a:p>
            <a:pPr indent="0" lvl="0" marL="0" marR="0" rtl="0" algn="l">
              <a:spcBef>
                <a:spcPts val="0"/>
              </a:spcBef>
              <a:spcAft>
                <a:spcPts val="0"/>
              </a:spcAft>
              <a:buNone/>
            </a:pPr>
            <a:r>
              <a:t/>
            </a:r>
            <a:endParaRPr sz="2800">
              <a:solidFill>
                <a:schemeClr val="dk1"/>
              </a:solidFill>
              <a:latin typeface="Times New Roman"/>
              <a:ea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610139" y="815008"/>
            <a:ext cx="9773478" cy="80507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Making a decision </a:t>
            </a:r>
            <a:endParaRPr/>
          </a:p>
        </p:txBody>
      </p:sp>
      <p:sp>
        <p:nvSpPr>
          <p:cNvPr id="94" name="Google Shape;94;p15"/>
          <p:cNvSpPr/>
          <p:nvPr/>
        </p:nvSpPr>
        <p:spPr>
          <a:xfrm>
            <a:off x="1610139" y="2203319"/>
            <a:ext cx="5038855" cy="2677656"/>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We make </a:t>
            </a:r>
            <a:r>
              <a:rPr b="1" lang="en-GB" sz="2400">
                <a:solidFill>
                  <a:srgbClr val="ED7D31"/>
                </a:solidFill>
                <a:latin typeface="Calibri"/>
                <a:ea typeface="Calibri"/>
                <a:cs typeface="Calibri"/>
                <a:sym typeface="Calibri"/>
              </a:rPr>
              <a:t>decisions</a:t>
            </a:r>
            <a:r>
              <a:rPr lang="en-GB" sz="2400">
                <a:solidFill>
                  <a:schemeClr val="dk1"/>
                </a:solidFill>
                <a:latin typeface="Calibri"/>
                <a:ea typeface="Calibri"/>
                <a:cs typeface="Calibri"/>
                <a:sym typeface="Calibri"/>
              </a:rPr>
              <a:t> all the time, by selecting a course of action based on the data we receive.</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For example, if we look outside and see it is raining, we take an umbrella, but, if we look outside and see it is not raining, we do not take an umbrella.</a:t>
            </a:r>
            <a:endParaRPr/>
          </a:p>
        </p:txBody>
      </p:sp>
      <p:pic>
        <p:nvPicPr>
          <p:cNvPr descr="A couple of boys holding an umbrella&#10;&#10;Description automatically generated with low confidence" id="95" name="Google Shape;95;p15"/>
          <p:cNvPicPr preferRelativeResize="0"/>
          <p:nvPr/>
        </p:nvPicPr>
        <p:blipFill rotWithShape="1">
          <a:blip r:embed="rId3">
            <a:alphaModFix/>
          </a:blip>
          <a:srcRect b="0" l="0" r="0" t="0"/>
          <a:stretch/>
        </p:blipFill>
        <p:spPr>
          <a:xfrm>
            <a:off x="6949440" y="2124043"/>
            <a:ext cx="3410352" cy="287856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6"/>
          <p:cNvSpPr txBox="1"/>
          <p:nvPr>
            <p:ph type="title"/>
          </p:nvPr>
        </p:nvSpPr>
        <p:spPr>
          <a:xfrm>
            <a:off x="1620078" y="775253"/>
            <a:ext cx="9733721" cy="824948"/>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Decisions in algorithms </a:t>
            </a:r>
            <a:endParaRPr/>
          </a:p>
        </p:txBody>
      </p:sp>
      <p:sp>
        <p:nvSpPr>
          <p:cNvPr id="101" name="Google Shape;101;p16"/>
          <p:cNvSpPr txBox="1"/>
          <p:nvPr>
            <p:ph idx="1" type="body"/>
          </p:nvPr>
        </p:nvSpPr>
        <p:spPr>
          <a:xfrm>
            <a:off x="1620078" y="1825625"/>
            <a:ext cx="8736496" cy="1812724"/>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800"/>
              <a:buNone/>
            </a:pPr>
            <a:r>
              <a:rPr lang="en-GB"/>
              <a:t>In a flow diagram, we use a diamond to represent a decision.</a:t>
            </a:r>
            <a:endParaRPr/>
          </a:p>
          <a:p>
            <a:pPr indent="0" lvl="0" marL="0" rtl="0" algn="l">
              <a:lnSpc>
                <a:spcPct val="90000"/>
              </a:lnSpc>
              <a:spcBef>
                <a:spcPts val="1000"/>
              </a:spcBef>
              <a:spcAft>
                <a:spcPts val="0"/>
              </a:spcAft>
              <a:buClr>
                <a:schemeClr val="dk1"/>
              </a:buClr>
              <a:buSzPts val="2800"/>
              <a:buNone/>
            </a:pPr>
            <a:r>
              <a:rPr lang="en-GB"/>
              <a:t>The course of action selected depends on the answer to the question inside the diamond.</a:t>
            </a:r>
            <a:endParaRPr/>
          </a:p>
          <a:p>
            <a:pPr indent="-50800" lvl="0" marL="228600" rtl="0" algn="l">
              <a:lnSpc>
                <a:spcPct val="90000"/>
              </a:lnSpc>
              <a:spcBef>
                <a:spcPts val="1000"/>
              </a:spcBef>
              <a:spcAft>
                <a:spcPts val="0"/>
              </a:spcAft>
              <a:buClr>
                <a:schemeClr val="dk1"/>
              </a:buClr>
              <a:buSzPts val="2800"/>
              <a:buNone/>
            </a:pPr>
            <a:r>
              <a:t/>
            </a:r>
            <a:endParaRPr/>
          </a:p>
        </p:txBody>
      </p:sp>
      <p:pic>
        <p:nvPicPr>
          <p:cNvPr descr="A picture containing text, clock&#10;&#10;Description automatically generated" id="102" name="Google Shape;102;p16"/>
          <p:cNvPicPr preferRelativeResize="0"/>
          <p:nvPr/>
        </p:nvPicPr>
        <p:blipFill rotWithShape="1">
          <a:blip r:embed="rId3">
            <a:alphaModFix/>
          </a:blip>
          <a:srcRect b="0" l="0" r="0" t="0"/>
          <a:stretch/>
        </p:blipFill>
        <p:spPr>
          <a:xfrm>
            <a:off x="3742236" y="3638349"/>
            <a:ext cx="4707527" cy="209223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7"/>
          <p:cNvSpPr txBox="1"/>
          <p:nvPr>
            <p:ph type="title"/>
          </p:nvPr>
        </p:nvSpPr>
        <p:spPr>
          <a:xfrm>
            <a:off x="1570382" y="805071"/>
            <a:ext cx="9783417"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1.1: Half price or full price?</a:t>
            </a:r>
            <a:endParaRPr/>
          </a:p>
        </p:txBody>
      </p:sp>
      <p:pic>
        <p:nvPicPr>
          <p:cNvPr descr="A picture containing athletic game, basketball, sport&#10;&#10;Description automatically generated" id="108" name="Google Shape;108;p17"/>
          <p:cNvPicPr preferRelativeResize="0"/>
          <p:nvPr/>
        </p:nvPicPr>
        <p:blipFill rotWithShape="1">
          <a:blip r:embed="rId3">
            <a:alphaModFix/>
          </a:blip>
          <a:srcRect b="0" l="0" r="0" t="0"/>
          <a:stretch/>
        </p:blipFill>
        <p:spPr>
          <a:xfrm>
            <a:off x="3855718" y="1964432"/>
            <a:ext cx="4480563" cy="438999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8"/>
          <p:cNvSpPr txBox="1"/>
          <p:nvPr>
            <p:ph type="title"/>
          </p:nvPr>
        </p:nvSpPr>
        <p:spPr>
          <a:xfrm>
            <a:off x="1570382" y="805071"/>
            <a:ext cx="9783417"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Half price or full price?</a:t>
            </a:r>
            <a:endParaRPr/>
          </a:p>
        </p:txBody>
      </p:sp>
      <p:pic>
        <p:nvPicPr>
          <p:cNvPr descr="Diagram&#10;&#10;Description automatically generated" id="114" name="Google Shape;114;p18"/>
          <p:cNvPicPr preferRelativeResize="0"/>
          <p:nvPr/>
        </p:nvPicPr>
        <p:blipFill rotWithShape="1">
          <a:blip r:embed="rId3">
            <a:alphaModFix/>
          </a:blip>
          <a:srcRect b="0" l="0" r="0" t="0"/>
          <a:stretch/>
        </p:blipFill>
        <p:spPr>
          <a:xfrm>
            <a:off x="3703637" y="1780177"/>
            <a:ext cx="4784725" cy="461973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9"/>
          <p:cNvSpPr txBox="1"/>
          <p:nvPr>
            <p:ph type="title"/>
          </p:nvPr>
        </p:nvSpPr>
        <p:spPr>
          <a:xfrm>
            <a:off x="1570382" y="805071"/>
            <a:ext cx="10621618" cy="79513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3600"/>
              <a:buFont typeface="Calibri"/>
              <a:buNone/>
            </a:pPr>
            <a:r>
              <a:rPr b="1" lang="en-GB" sz="3600">
                <a:solidFill>
                  <a:schemeClr val="lt1"/>
                </a:solidFill>
              </a:rPr>
              <a:t>Activity 1.2: Programming in Python: selection, Section 1</a:t>
            </a:r>
            <a:endParaRPr/>
          </a:p>
        </p:txBody>
      </p:sp>
      <p:pic>
        <p:nvPicPr>
          <p:cNvPr descr="A picture containing athletic game, basketball, sport&#10;&#10;Description automatically generated" id="120" name="Google Shape;120;p19"/>
          <p:cNvPicPr preferRelativeResize="0"/>
          <p:nvPr/>
        </p:nvPicPr>
        <p:blipFill rotWithShape="1">
          <a:blip r:embed="rId3">
            <a:alphaModFix/>
          </a:blip>
          <a:srcRect b="0" l="0" r="0" t="0"/>
          <a:stretch/>
        </p:blipFill>
        <p:spPr>
          <a:xfrm>
            <a:off x="3855718" y="1964432"/>
            <a:ext cx="4480563" cy="438999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0"/>
          <p:cNvSpPr txBox="1"/>
          <p:nvPr>
            <p:ph type="title"/>
          </p:nvPr>
        </p:nvSpPr>
        <p:spPr>
          <a:xfrm>
            <a:off x="1600201" y="785191"/>
            <a:ext cx="9753599"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Questions  </a:t>
            </a:r>
            <a:endParaRPr/>
          </a:p>
        </p:txBody>
      </p:sp>
      <p:sp>
        <p:nvSpPr>
          <p:cNvPr id="126" name="Google Shape;126;p20"/>
          <p:cNvSpPr txBox="1"/>
          <p:nvPr>
            <p:ph idx="1" type="body"/>
          </p:nvPr>
        </p:nvSpPr>
        <p:spPr>
          <a:xfrm>
            <a:off x="1600201" y="1938837"/>
            <a:ext cx="8488680" cy="4351338"/>
          </a:xfrm>
          <a:prstGeom prst="rect">
            <a:avLst/>
          </a:prstGeom>
          <a:noFill/>
          <a:ln>
            <a:noFill/>
          </a:ln>
        </p:spPr>
        <p:txBody>
          <a:bodyPr anchorCtr="0" anchor="t" bIns="45700" lIns="91425" spcFirstLastPara="1" rIns="91425" wrap="square" tIns="45700">
            <a:noAutofit/>
          </a:bodyPr>
          <a:lstStyle/>
          <a:p>
            <a:pPr indent="-342900" lvl="0" marL="342900" rtl="0" algn="l">
              <a:lnSpc>
                <a:spcPct val="90000"/>
              </a:lnSpc>
              <a:spcBef>
                <a:spcPts val="0"/>
              </a:spcBef>
              <a:spcAft>
                <a:spcPts val="0"/>
              </a:spcAft>
              <a:buClr>
                <a:schemeClr val="dk1"/>
              </a:buClr>
              <a:buSzPts val="2000"/>
              <a:buFont typeface="Calibri"/>
              <a:buAutoNum type="arabicPeriod"/>
            </a:pPr>
            <a:r>
              <a:rPr lang="en-GB" sz="2000">
                <a:latin typeface="Calibri"/>
                <a:ea typeface="Calibri"/>
                <a:cs typeface="Calibri"/>
                <a:sym typeface="Calibri"/>
              </a:rPr>
              <a:t>What is important about the condition used in an if statement?</a:t>
            </a:r>
            <a:endParaRPr/>
          </a:p>
          <a:p>
            <a:pPr indent="-342900" lvl="0" marL="342900" rtl="0" algn="l">
              <a:lnSpc>
                <a:spcPct val="90000"/>
              </a:lnSpc>
              <a:spcBef>
                <a:spcPts val="1000"/>
              </a:spcBef>
              <a:spcAft>
                <a:spcPts val="0"/>
              </a:spcAft>
              <a:buClr>
                <a:schemeClr val="dk1"/>
              </a:buClr>
              <a:buSzPts val="2000"/>
              <a:buFont typeface="Calibri"/>
              <a:buAutoNum type="arabicPeriod"/>
            </a:pPr>
            <a:r>
              <a:rPr lang="en-GB" sz="2000">
                <a:latin typeface="Calibri"/>
                <a:ea typeface="Calibri"/>
                <a:cs typeface="Calibri"/>
                <a:sym typeface="Calibri"/>
              </a:rPr>
              <a:t>How must an if statement end?</a:t>
            </a:r>
            <a:endParaRPr/>
          </a:p>
          <a:p>
            <a:pPr indent="-342900" lvl="0" marL="342900" rtl="0" algn="l">
              <a:lnSpc>
                <a:spcPct val="90000"/>
              </a:lnSpc>
              <a:spcBef>
                <a:spcPts val="1000"/>
              </a:spcBef>
              <a:spcAft>
                <a:spcPts val="0"/>
              </a:spcAft>
              <a:buClr>
                <a:schemeClr val="dk1"/>
              </a:buClr>
              <a:buSzPts val="2000"/>
              <a:buFont typeface="Calibri"/>
              <a:buAutoNum type="arabicPeriod"/>
            </a:pPr>
            <a:r>
              <a:rPr lang="en-GB" sz="2000">
                <a:latin typeface="Calibri"/>
                <a:ea typeface="Calibri"/>
                <a:cs typeface="Calibri"/>
                <a:sym typeface="Calibri"/>
              </a:rPr>
              <a:t>How can we tell which part of the program runs if the if statement is true?</a:t>
            </a:r>
            <a:endParaRPr/>
          </a:p>
          <a:p>
            <a:pPr indent="-342900" lvl="0" marL="342900" rtl="0" algn="l">
              <a:lnSpc>
                <a:spcPct val="90000"/>
              </a:lnSpc>
              <a:spcBef>
                <a:spcPts val="1000"/>
              </a:spcBef>
              <a:spcAft>
                <a:spcPts val="0"/>
              </a:spcAft>
              <a:buClr>
                <a:schemeClr val="dk1"/>
              </a:buClr>
              <a:buSzPts val="2000"/>
              <a:buFont typeface="Calibri"/>
              <a:buAutoNum type="arabicPeriod"/>
            </a:pPr>
            <a:r>
              <a:rPr lang="en-GB" sz="2000">
                <a:latin typeface="Calibri"/>
                <a:ea typeface="Calibri"/>
                <a:cs typeface="Calibri"/>
                <a:sym typeface="Calibri"/>
              </a:rPr>
              <a:t>What do you use Boolean operators for?</a:t>
            </a:r>
            <a:endParaRPr/>
          </a:p>
          <a:p>
            <a:pPr indent="0" lvl="0" marL="0" rtl="0" algn="l">
              <a:lnSpc>
                <a:spcPct val="90000"/>
              </a:lnSpc>
              <a:spcBef>
                <a:spcPts val="1000"/>
              </a:spcBef>
              <a:spcAft>
                <a:spcPts val="0"/>
              </a:spcAft>
              <a:buClr>
                <a:schemeClr val="dk1"/>
              </a:buClr>
              <a:buSzPts val="2000"/>
              <a:buNone/>
            </a:pPr>
            <a:r>
              <a:rPr lang="en-GB" sz="2000">
                <a:latin typeface="Calibri"/>
                <a:ea typeface="Calibri"/>
                <a:cs typeface="Calibri"/>
                <a:sym typeface="Calibri"/>
              </a:rPr>
              <a:t>5.   What are the following symbols and what do they each mean?</a:t>
            </a:r>
            <a:endParaRPr/>
          </a:p>
          <a:p>
            <a:pPr indent="0" lvl="0" marL="228600" rtl="0" algn="l">
              <a:lnSpc>
                <a:spcPct val="90000"/>
              </a:lnSpc>
              <a:spcBef>
                <a:spcPts val="1000"/>
              </a:spcBef>
              <a:spcAft>
                <a:spcPts val="0"/>
              </a:spcAft>
              <a:buClr>
                <a:schemeClr val="dk1"/>
              </a:buClr>
              <a:buSzPts val="2000"/>
              <a:buNone/>
            </a:pPr>
            <a:r>
              <a:rPr lang="en-GB" sz="2000">
                <a:latin typeface="Calibri"/>
                <a:ea typeface="Calibri"/>
                <a:cs typeface="Calibri"/>
                <a:sym typeface="Calibri"/>
              </a:rPr>
              <a:t>	&gt; </a:t>
            </a:r>
            <a:endParaRPr/>
          </a:p>
          <a:p>
            <a:pPr indent="0" lvl="0" marL="228600" rtl="0" algn="l">
              <a:lnSpc>
                <a:spcPct val="90000"/>
              </a:lnSpc>
              <a:spcBef>
                <a:spcPts val="1000"/>
              </a:spcBef>
              <a:spcAft>
                <a:spcPts val="0"/>
              </a:spcAft>
              <a:buClr>
                <a:schemeClr val="dk1"/>
              </a:buClr>
              <a:buSzPts val="2000"/>
              <a:buNone/>
            </a:pPr>
            <a:r>
              <a:rPr lang="en-GB" sz="2000">
                <a:latin typeface="Calibri"/>
                <a:ea typeface="Calibri"/>
                <a:cs typeface="Calibri"/>
                <a:sym typeface="Calibri"/>
              </a:rPr>
              <a:t>	&gt;=</a:t>
            </a:r>
            <a:endParaRPr/>
          </a:p>
          <a:p>
            <a:pPr indent="0" lvl="0" marL="228600" rtl="0" algn="l">
              <a:lnSpc>
                <a:spcPct val="90000"/>
              </a:lnSpc>
              <a:spcBef>
                <a:spcPts val="1000"/>
              </a:spcBef>
              <a:spcAft>
                <a:spcPts val="0"/>
              </a:spcAft>
              <a:buClr>
                <a:schemeClr val="dk1"/>
              </a:buClr>
              <a:buSzPts val="2000"/>
              <a:buNone/>
            </a:pPr>
            <a:r>
              <a:rPr lang="en-GB" sz="2000">
                <a:latin typeface="Calibri"/>
                <a:ea typeface="Calibri"/>
                <a:cs typeface="Calibri"/>
                <a:sym typeface="Calibri"/>
              </a:rPr>
              <a:t>	&lt; </a:t>
            </a:r>
            <a:endParaRPr/>
          </a:p>
          <a:p>
            <a:pPr indent="0" lvl="0" marL="228600" rtl="0" algn="l">
              <a:lnSpc>
                <a:spcPct val="90000"/>
              </a:lnSpc>
              <a:spcBef>
                <a:spcPts val="1000"/>
              </a:spcBef>
              <a:spcAft>
                <a:spcPts val="0"/>
              </a:spcAft>
              <a:buClr>
                <a:schemeClr val="dk1"/>
              </a:buClr>
              <a:buSzPts val="2000"/>
              <a:buNone/>
            </a:pPr>
            <a:r>
              <a:rPr lang="en-GB" sz="2000">
                <a:latin typeface="Calibri"/>
                <a:ea typeface="Calibri"/>
                <a:cs typeface="Calibri"/>
                <a:sym typeface="Calibri"/>
              </a:rPr>
              <a:t>	&lt;=</a:t>
            </a:r>
            <a:endParaRPr/>
          </a:p>
          <a:p>
            <a:pPr indent="0" lvl="0" marL="228600" rtl="0" algn="l">
              <a:lnSpc>
                <a:spcPct val="90000"/>
              </a:lnSpc>
              <a:spcBef>
                <a:spcPts val="1000"/>
              </a:spcBef>
              <a:spcAft>
                <a:spcPts val="0"/>
              </a:spcAft>
              <a:buClr>
                <a:schemeClr val="dk1"/>
              </a:buClr>
              <a:buSzPts val="2000"/>
              <a:buNone/>
            </a:pPr>
            <a:r>
              <a:rPr lang="en-GB" sz="2000">
                <a:latin typeface="Calibri"/>
                <a:ea typeface="Calibri"/>
                <a:cs typeface="Calibri"/>
                <a:sym typeface="Calibri"/>
              </a:rPr>
              <a:t>	==</a:t>
            </a:r>
            <a:endParaRPr/>
          </a:p>
          <a:p>
            <a:pPr indent="0" lvl="0" marL="228600" rtl="0" algn="l">
              <a:lnSpc>
                <a:spcPct val="90000"/>
              </a:lnSpc>
              <a:spcBef>
                <a:spcPts val="1000"/>
              </a:spcBef>
              <a:spcAft>
                <a:spcPts val="0"/>
              </a:spcAft>
              <a:buClr>
                <a:schemeClr val="dk1"/>
              </a:buClr>
              <a:buSzPts val="2000"/>
              <a:buNone/>
            </a:pPr>
            <a:r>
              <a:rPr lang="en-GB" sz="2000">
                <a:latin typeface="Calibri"/>
                <a:ea typeface="Calibri"/>
                <a:cs typeface="Calibri"/>
                <a:sym typeface="Calibri"/>
              </a:rPr>
              <a:t>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1"/>
          <p:cNvSpPr txBox="1"/>
          <p:nvPr>
            <p:ph type="title"/>
          </p:nvPr>
        </p:nvSpPr>
        <p:spPr>
          <a:xfrm>
            <a:off x="1590260" y="805070"/>
            <a:ext cx="9763539" cy="82494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1</a:t>
            </a:r>
            <a:endParaRPr/>
          </a:p>
        </p:txBody>
      </p:sp>
      <p:pic>
        <p:nvPicPr>
          <p:cNvPr descr="A picture containing athletic game, basketball, sport&#10;&#10;Description automatically generated" id="132" name="Google Shape;132;p21"/>
          <p:cNvPicPr preferRelativeResize="0"/>
          <p:nvPr/>
        </p:nvPicPr>
        <p:blipFill rotWithShape="1">
          <a:blip r:embed="rId3">
            <a:alphaModFix/>
          </a:blip>
          <a:srcRect b="0" l="0" r="0" t="0"/>
          <a:stretch/>
        </p:blipFill>
        <p:spPr>
          <a:xfrm>
            <a:off x="3855718" y="1964432"/>
            <a:ext cx="4480563" cy="438999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