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D06741E-AB09-4058-AB4B-DF96AC086212}">
  <a:tblStyle styleId="{BD06741E-AB09-4058-AB4B-DF96AC08621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7" name="Google Shape;37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4" name="Google Shape;5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hape, rectangle&#10;&#10;Description automatically generated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25758"/>
            <a:ext cx="12192000" cy="1656196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/>
        </p:nvSpPr>
        <p:spPr>
          <a:xfrm>
            <a:off x="7547114" y="6380197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Hodder &amp; Stoughton Limited 2021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/>
          <p:nvPr>
            <p:ph type="ctrTitle"/>
          </p:nvPr>
        </p:nvSpPr>
        <p:spPr>
          <a:xfrm>
            <a:off x="624917" y="2325757"/>
            <a:ext cx="10308126" cy="8964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GB"/>
              <a:t>Programming in python: selection</a:t>
            </a:r>
            <a:endParaRPr/>
          </a:p>
        </p:txBody>
      </p:sp>
      <p:sp>
        <p:nvSpPr>
          <p:cNvPr id="81" name="Google Shape;81;p13"/>
          <p:cNvSpPr/>
          <p:nvPr/>
        </p:nvSpPr>
        <p:spPr>
          <a:xfrm>
            <a:off x="1658586" y="3438955"/>
            <a:ext cx="555068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400" u="none" cap="none" strike="noStrike">
                <a:solidFill>
                  <a:srgbClr val="F05900"/>
                </a:solidFill>
                <a:latin typeface="Calibri"/>
                <a:ea typeface="Calibri"/>
                <a:cs typeface="Calibri"/>
                <a:sym typeface="Calibri"/>
              </a:rPr>
              <a:t>Lesson 4: Comparing strings and numbers </a:t>
            </a:r>
            <a:endParaRPr b="1" sz="2400">
              <a:solidFill>
                <a:srgbClr val="F05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5169" y="3438955"/>
            <a:ext cx="2937413" cy="2443928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type="title"/>
          </p:nvPr>
        </p:nvSpPr>
        <p:spPr>
          <a:xfrm>
            <a:off x="1610139" y="824948"/>
            <a:ext cx="9634330" cy="7663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Objectives</a:t>
            </a:r>
            <a:endParaRPr/>
          </a:p>
        </p:txBody>
      </p:sp>
      <p:sp>
        <p:nvSpPr>
          <p:cNvPr id="88" name="Google Shape;88;p14"/>
          <p:cNvSpPr/>
          <p:nvPr/>
        </p:nvSpPr>
        <p:spPr>
          <a:xfrm>
            <a:off x="1610139" y="2215485"/>
            <a:ext cx="8368748" cy="31700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this lesson, you will learn how to: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if-else statements to compare strings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a program in Python that involves random number generation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∙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remainder after whole number division to decide if a number is odd or even.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1610139" y="815008"/>
            <a:ext cx="9773478" cy="805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Strings </a:t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1610139" y="2203319"/>
            <a:ext cx="7941365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know how to use if-else statements to compare variables containing numerical values, but variables can also contain strings.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use the equal to (</a:t>
            </a: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==</a:t>
            </a: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Boolean operator to compare two variables containing string values to find out if they are the same.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type="title"/>
          </p:nvPr>
        </p:nvSpPr>
        <p:spPr>
          <a:xfrm>
            <a:off x="1620078" y="775253"/>
            <a:ext cx="9733721" cy="824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Arithmetic operators </a:t>
            </a:r>
            <a:endParaRPr/>
          </a:p>
        </p:txBody>
      </p:sp>
      <p:sp>
        <p:nvSpPr>
          <p:cNvPr id="100" name="Google Shape;100;p16"/>
          <p:cNvSpPr txBox="1"/>
          <p:nvPr>
            <p:ph idx="1" type="body"/>
          </p:nvPr>
        </p:nvSpPr>
        <p:spPr>
          <a:xfrm>
            <a:off x="1620078" y="1825625"/>
            <a:ext cx="8736496" cy="1812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We used the following common arithmetic operators in Lesson 3: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graphicFrame>
        <p:nvGraphicFramePr>
          <p:cNvPr id="101" name="Google Shape;101;p16"/>
          <p:cNvGraphicFramePr/>
          <p:nvPr/>
        </p:nvGraphicFramePr>
        <p:xfrm>
          <a:off x="1714499" y="266098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{BD06741E-AB09-4058-AB4B-DF96AC086212}</a:tableStyleId>
              </a:tblPr>
              <a:tblGrid>
                <a:gridCol w="1020825"/>
                <a:gridCol w="1319825"/>
                <a:gridCol w="4427875"/>
              </a:tblGrid>
              <a:tr h="411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 u="none" cap="none" strike="noStrike"/>
                        <a:t>Operator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Meaning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Example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9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+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addition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5 + 3 = 8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-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subtraction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5 – 3 = 2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*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multiplication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3 * 2 = 6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1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/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division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/>
                        <a:t>6 / 2 = 3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" name="Google Shape;102;p16"/>
          <p:cNvSpPr/>
          <p:nvPr/>
        </p:nvSpPr>
        <p:spPr>
          <a:xfrm>
            <a:off x="1620078" y="4904169"/>
            <a:ext cx="668548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is another useful operator we can use:</a:t>
            </a:r>
            <a:endParaRPr/>
          </a:p>
        </p:txBody>
      </p:sp>
      <p:graphicFrame>
        <p:nvGraphicFramePr>
          <p:cNvPr id="103" name="Google Shape;103;p16"/>
          <p:cNvGraphicFramePr/>
          <p:nvPr/>
        </p:nvGraphicFramePr>
        <p:xfrm>
          <a:off x="1699590" y="559763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{BD06741E-AB09-4058-AB4B-DF96AC086212}</a:tableStyleId>
              </a:tblPr>
              <a:tblGrid>
                <a:gridCol w="1260350"/>
                <a:gridCol w="3671975"/>
                <a:gridCol w="3356900"/>
              </a:tblGrid>
              <a:tr h="203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%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remainder after whole number division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</a:rPr>
                        <a:t>11 % 3  = 2 because 11 divided by 3 is 3 remainder 2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>
                    <a:lnL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7"/>
          <p:cNvSpPr txBox="1"/>
          <p:nvPr>
            <p:ph type="title"/>
          </p:nvPr>
        </p:nvSpPr>
        <p:spPr>
          <a:xfrm>
            <a:off x="1620078" y="775253"/>
            <a:ext cx="9733721" cy="8249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Arithmetic operators </a:t>
            </a:r>
            <a:endParaRPr/>
          </a:p>
        </p:txBody>
      </p:sp>
      <p:sp>
        <p:nvSpPr>
          <p:cNvPr id="109" name="Google Shape;109;p17"/>
          <p:cNvSpPr txBox="1"/>
          <p:nvPr>
            <p:ph idx="1" type="body"/>
          </p:nvPr>
        </p:nvSpPr>
        <p:spPr>
          <a:xfrm>
            <a:off x="1620078" y="2233129"/>
            <a:ext cx="8736496" cy="1812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GB"/>
              <a:t>What are the results of the following calculations?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5257799" y="3139491"/>
            <a:ext cx="6096000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19 % 4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23 % 7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29 % 5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1570382" y="805071"/>
            <a:ext cx="10545418" cy="795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Calibri"/>
              <a:buNone/>
            </a:pPr>
            <a:r>
              <a:rPr b="1" lang="en-GB" sz="3400">
                <a:solidFill>
                  <a:schemeClr val="lt1"/>
                </a:solidFill>
              </a:rPr>
              <a:t>Activity 4.1: Programming in Python: selection, Section 4 </a:t>
            </a:r>
            <a:endParaRPr/>
          </a:p>
        </p:txBody>
      </p:sp>
      <p:pic>
        <p:nvPicPr>
          <p:cNvPr descr="A picture containing athletic game, basketball, sport&#10;&#10;Description automatically generated"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5718" y="1930687"/>
            <a:ext cx="4480563" cy="438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>
            <p:ph type="title"/>
          </p:nvPr>
        </p:nvSpPr>
        <p:spPr>
          <a:xfrm>
            <a:off x="1570382" y="805071"/>
            <a:ext cx="9783417" cy="795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1 </a:t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1570382" y="2090172"/>
            <a:ext cx="7507357" cy="31085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of the following lines of code tells the computer to generate a random number between 1 and 10?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number = random(10)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number = random.randint(10)</a:t>
            </a:r>
            <a:endParaRPr/>
          </a:p>
          <a:p>
            <a:pPr indent="-514350" lvl="0" marL="5143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GB" sz="28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number = random.randint(1, 10)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1570382" y="805071"/>
            <a:ext cx="9783417" cy="795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2 </a:t>
            </a:r>
            <a:endParaRPr/>
          </a:p>
        </p:txBody>
      </p:sp>
      <p:sp>
        <p:nvSpPr>
          <p:cNvPr id="128" name="Google Shape;128;p20"/>
          <p:cNvSpPr/>
          <p:nvPr/>
        </p:nvSpPr>
        <p:spPr>
          <a:xfrm>
            <a:off x="2312502" y="2951946"/>
            <a:ext cx="829917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you tell a computer to generate a random number between 1 and 20?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>
            <p:ph type="title"/>
          </p:nvPr>
        </p:nvSpPr>
        <p:spPr>
          <a:xfrm>
            <a:off x="1570382" y="805071"/>
            <a:ext cx="9783417" cy="795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3 </a:t>
            </a:r>
            <a:endParaRPr/>
          </a:p>
        </p:txBody>
      </p:sp>
      <p:sp>
        <p:nvSpPr>
          <p:cNvPr id="134" name="Google Shape;134;p21"/>
          <p:cNvSpPr/>
          <p:nvPr/>
        </p:nvSpPr>
        <p:spPr>
          <a:xfrm>
            <a:off x="2312502" y="2951946"/>
            <a:ext cx="8299175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you tell a computer to generate a random number between 20 and 30?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>
            <p:ph type="title"/>
          </p:nvPr>
        </p:nvSpPr>
        <p:spPr>
          <a:xfrm>
            <a:off x="1570382" y="805071"/>
            <a:ext cx="9783417" cy="7951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Question 4 </a:t>
            </a:r>
            <a:endParaRPr/>
          </a:p>
        </p:txBody>
      </p:sp>
      <p:sp>
        <p:nvSpPr>
          <p:cNvPr id="140" name="Google Shape;140;p22"/>
          <p:cNvSpPr/>
          <p:nvPr/>
        </p:nvSpPr>
        <p:spPr>
          <a:xfrm>
            <a:off x="1570382" y="2226389"/>
            <a:ext cx="8875644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Complete the program by filling in the gaps.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asks the user to enter an integer and decides if a number is divisible by 5 or not.</a:t>
            </a:r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1570382" y="3611384"/>
            <a:ext cx="757361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num = </a:t>
            </a:r>
            <a:r>
              <a:rPr lang="en-GB" sz="20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</a:t>
            </a:r>
            <a:r>
              <a:rPr lang="en-GB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(input('Enter a number: '))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if </a:t>
            </a:r>
            <a:r>
              <a:rPr lang="en-GB" sz="20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______  __  __  ____ </a:t>
            </a:r>
            <a:r>
              <a:rPr lang="en-GB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0: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print('Number is divisible by 5')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__________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   print('</a:t>
            </a:r>
            <a:r>
              <a:rPr lang="en-GB" sz="20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______________________________________</a:t>
            </a:r>
            <a:r>
              <a:rPr lang="en-GB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')</a:t>
            </a:r>
            <a:endParaRPr/>
          </a:p>
        </p:txBody>
      </p:sp>
      <p:sp>
        <p:nvSpPr>
          <p:cNvPr id="142" name="Google Shape;142;p22"/>
          <p:cNvSpPr/>
          <p:nvPr/>
        </p:nvSpPr>
        <p:spPr>
          <a:xfrm>
            <a:off x="2383682" y="3611384"/>
            <a:ext cx="80021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int</a:t>
            </a:r>
            <a:r>
              <a:rPr lang="en-GB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2233235" y="3923960"/>
            <a:ext cx="69923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num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3354311" y="3923960"/>
            <a:ext cx="39145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%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3921389" y="3923960"/>
            <a:ext cx="49244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5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618382" y="3940359"/>
            <a:ext cx="54534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==</a:t>
            </a: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>
            <a:off x="1906628" y="4490946"/>
            <a:ext cx="95410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else: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148" name="Google Shape;148;p22"/>
          <p:cNvSpPr/>
          <p:nvPr/>
        </p:nvSpPr>
        <p:spPr>
          <a:xfrm>
            <a:off x="2860735" y="5094209"/>
            <a:ext cx="464742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FF0000"/>
                </a:solidFill>
                <a:latin typeface="Courier"/>
                <a:ea typeface="Courier"/>
                <a:cs typeface="Courier"/>
                <a:sym typeface="Courier"/>
              </a:rPr>
              <a:t>Number is not divisible by 5</a:t>
            </a:r>
            <a:r>
              <a:rPr lang="en-GB" sz="2000">
                <a:solidFill>
                  <a:schemeClr val="dk1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2000">
              <a:solidFill>
                <a:schemeClr val="dk1"/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/>
          <p:nvPr>
            <p:ph type="title"/>
          </p:nvPr>
        </p:nvSpPr>
        <p:spPr>
          <a:xfrm>
            <a:off x="1590260" y="805070"/>
            <a:ext cx="9763539" cy="8249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1" lang="en-GB">
                <a:solidFill>
                  <a:schemeClr val="lt1"/>
                </a:solidFill>
              </a:rPr>
              <a:t>Quiz 4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descr="A picture containing athletic game, basketball, sport&#10;&#10;Description automatically generated" id="154" name="Google Shape;15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55718" y="1930687"/>
            <a:ext cx="4480563" cy="438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