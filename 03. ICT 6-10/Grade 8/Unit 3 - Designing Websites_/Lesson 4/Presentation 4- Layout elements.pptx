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569134" y="2395813"/>
            <a:ext cx="8860459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Designing websites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334447" y="3311663"/>
            <a:ext cx="53318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2197AC"/>
                </a:solidFill>
                <a:latin typeface="Calibri"/>
                <a:ea typeface="Calibri"/>
                <a:cs typeface="Calibri"/>
                <a:sym typeface="Calibri"/>
              </a:rPr>
              <a:t>Lesson 4: Layout elements and web page design </a:t>
            </a:r>
            <a:endParaRPr b="1" i="0" sz="2000" u="none" cap="none" strike="noStrike">
              <a:solidFill>
                <a:srgbClr val="2197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204" y="2774225"/>
            <a:ext cx="2937412" cy="258492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2719" y="87464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92719" y="2135971"/>
            <a:ext cx="1028539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about how web pages are defined and displayed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add borders and padding to an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define the size of a layout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tips for creating a great website.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844826"/>
            <a:ext cx="9773478" cy="785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HTML document structure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80321" y="2256183"/>
            <a:ext cx="825941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HTML document sets out the structure and content of a web page and there are certain things that it must contain.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needs to start with the following code, which defines it as an HTML5 document, so that the browser displays it correctly: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Immediately below this is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&lt;html&gt;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document ends with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&lt;/html&gt;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rest of the document is divided into two main elements, the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the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620078" y="755374"/>
            <a:ext cx="9733721" cy="884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layout of an HTML page</a:t>
            </a:r>
            <a:endParaRPr/>
          </a:p>
        </p:txBody>
      </p:sp>
      <p:pic>
        <p:nvPicPr>
          <p:cNvPr descr="Graphical user interface, text, application&#10;&#10;Description automatically generated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389" y="1898468"/>
            <a:ext cx="5502773" cy="443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600201" y="824947"/>
            <a:ext cx="9753599" cy="806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b="1" lang="en-GB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1600202" y="1858617"/>
            <a:ext cx="9571382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The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&lt;head&gt;</a:t>
            </a:r>
            <a:r>
              <a:rPr lang="en-GB" sz="6000"/>
              <a:t> element contains information about the page.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There are two elements that we are going to use here: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&lt;title&gt;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This is the title of the document that is displayed in the browser's title bar or page tab.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It can only contain text, and is used by search engine algorithms when listing pages in search results.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For example: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&lt;title&gt;Favourite biscuit recipes&lt;/title&gt;</a:t>
            </a:r>
            <a:r>
              <a:rPr lang="en-GB" sz="6000"/>
              <a:t>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&lt;link&gt;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This links the document to an external style sheet.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For example: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&lt;link rel="stylesheet" href="styles.css"&gt;</a:t>
            </a:r>
            <a:r>
              <a:rPr lang="en-GB" sz="6000"/>
              <a:t>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6000"/>
              <a:t>The </a:t>
            </a:r>
            <a:r>
              <a:rPr lang="en-GB" sz="6000">
                <a:latin typeface="Courier"/>
                <a:ea typeface="Courier"/>
                <a:cs typeface="Courier"/>
                <a:sym typeface="Courier"/>
              </a:rPr>
              <a:t>&lt;link&gt;</a:t>
            </a:r>
            <a:r>
              <a:rPr lang="en-GB" sz="6000"/>
              <a:t> element does not have a closing tag.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b="1" lang="en-GB" sz="3300"/>
            </a:b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600201" y="824947"/>
            <a:ext cx="9753599" cy="806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b="1" lang="en-GB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1600201" y="2226365"/>
            <a:ext cx="8885581" cy="45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/>
              <a:t> element contains all the content of the web page, including text, images, videos and hyperlinks to other pages and websites.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Only the content inside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/>
              <a:t> element will be displayed by the browser.</a:t>
            </a:r>
            <a:endParaRPr/>
          </a:p>
          <a:p>
            <a:pPr indent="0" lvl="0" marL="0" rtl="0" algn="l">
              <a:lnSpc>
                <a:spcPct val="13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br>
              <a:rPr b="1" lang="en-GB" sz="3300"/>
            </a:b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620078" y="834888"/>
            <a:ext cx="9733721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HTML semantic elements 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620077" y="2143677"/>
            <a:ext cx="973372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Various </a:t>
            </a:r>
            <a:r>
              <a:rPr b="1" lang="en-GB">
                <a:solidFill>
                  <a:srgbClr val="2197AC"/>
                </a:solidFill>
              </a:rPr>
              <a:t>semantic elements</a:t>
            </a:r>
            <a:r>
              <a:rPr lang="en-GB">
                <a:solidFill>
                  <a:srgbClr val="2197AC"/>
                </a:solidFill>
              </a:rPr>
              <a:t> </a:t>
            </a:r>
            <a:r>
              <a:rPr lang="en-GB"/>
              <a:t>are used within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&lt;body&gt;</a:t>
            </a:r>
            <a:r>
              <a:rPr lang="en-GB"/>
              <a:t> element. Each one is like a box and its name describes its purpose and content: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077" y="3683241"/>
            <a:ext cx="3143250" cy="249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4946373" y="3505055"/>
            <a:ext cx="6407426" cy="338554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header for a whole web page or a section of a web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4946373" y="3926271"/>
            <a:ext cx="2854179" cy="369332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set of navigation links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946373" y="4347780"/>
            <a:ext cx="6407426" cy="584775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section of the web page and can contain headings, paragraphs, images, videos and hyperlinks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946373" y="5001304"/>
            <a:ext cx="6096000" cy="584775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some independent, self-contained content. It can also contain headings, paragraphs, images, videos and hyperlinks.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941404" y="5614295"/>
            <a:ext cx="5671931" cy="338554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Specifies self-contained visual content like diagrams, photos,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946373" y="6000636"/>
            <a:ext cx="3773725" cy="338554"/>
          </a:xfrm>
          <a:prstGeom prst="rect">
            <a:avLst/>
          </a:prstGeom>
          <a:noFill/>
          <a:ln cap="flat" cmpd="sng" w="9525">
            <a:solidFill>
              <a:srgbClr val="2197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a footer for a document or section.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9"/>
          <p:cNvCxnSpPr>
            <a:stCxn id="121" idx="1"/>
          </p:cNvCxnSpPr>
          <p:nvPr/>
        </p:nvCxnSpPr>
        <p:spPr>
          <a:xfrm flipH="1">
            <a:off x="3684873" y="4110937"/>
            <a:ext cx="1261500" cy="134100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7" name="Google Shape;127;p19"/>
          <p:cNvCxnSpPr/>
          <p:nvPr/>
        </p:nvCxnSpPr>
        <p:spPr>
          <a:xfrm flipH="1">
            <a:off x="3191703" y="4512477"/>
            <a:ext cx="1749701" cy="218349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8" name="Google Shape;128;p19"/>
          <p:cNvCxnSpPr>
            <a:stCxn id="125" idx="1"/>
          </p:cNvCxnSpPr>
          <p:nvPr/>
        </p:nvCxnSpPr>
        <p:spPr>
          <a:xfrm rot="10800000">
            <a:off x="3899373" y="5972513"/>
            <a:ext cx="1047000" cy="197400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9" name="Google Shape;129;p19"/>
          <p:cNvCxnSpPr>
            <a:stCxn id="124" idx="1"/>
          </p:cNvCxnSpPr>
          <p:nvPr/>
        </p:nvCxnSpPr>
        <p:spPr>
          <a:xfrm rot="10800000">
            <a:off x="4450604" y="5432272"/>
            <a:ext cx="490800" cy="351300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0" name="Google Shape;130;p19"/>
          <p:cNvCxnSpPr/>
          <p:nvPr/>
        </p:nvCxnSpPr>
        <p:spPr>
          <a:xfrm flipH="1">
            <a:off x="3191702" y="5100158"/>
            <a:ext cx="1749702" cy="415415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1" name="Google Shape;131;p19"/>
          <p:cNvCxnSpPr/>
          <p:nvPr/>
        </p:nvCxnSpPr>
        <p:spPr>
          <a:xfrm flipH="1">
            <a:off x="3819911" y="3649652"/>
            <a:ext cx="1121493" cy="276619"/>
          </a:xfrm>
          <a:prstGeom prst="straightConnector1">
            <a:avLst/>
          </a:prstGeom>
          <a:noFill/>
          <a:ln cap="flat" cmpd="sng" w="15875">
            <a:solidFill>
              <a:srgbClr val="2197AC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2570" y="1953466"/>
            <a:ext cx="7066860" cy="3850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443" y="1798983"/>
            <a:ext cx="5247861" cy="4671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1570382" y="824948"/>
            <a:ext cx="9783417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Defining the width of an element 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1570382" y="2184929"/>
            <a:ext cx="9783416" cy="1908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default, most elements take up the full width of the screen. However, setting the width allows you to control the layout.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width can be defined as a percentage of the total width, which is better if your website will be viewed on different-sized screens, or as a set value in pixels.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4935" y="3816626"/>
            <a:ext cx="2368951" cy="113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521" y="3816626"/>
            <a:ext cx="2368951" cy="1136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1570381" y="5109722"/>
            <a:ext cx="953162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height of an element automatically adjusts to fit its contents, so it is only necessary to define the height if a specific height needs to be maintained.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Activity 4.2: Setting the width and layout of elements</a:t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1610139" y="761642"/>
            <a:ext cx="9743661" cy="878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Adding borders 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1610139" y="183556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To add a </a:t>
            </a:r>
            <a:r>
              <a:rPr b="1" lang="en-GB" sz="2000">
                <a:solidFill>
                  <a:srgbClr val="2197AC"/>
                </a:solidFill>
              </a:rPr>
              <a:t>border</a:t>
            </a:r>
            <a:r>
              <a:rPr lang="en-GB" sz="2000"/>
              <a:t> to an element we use the CSS property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border</a:t>
            </a:r>
            <a:r>
              <a:rPr lang="en-GB" sz="20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There are three attributes of a border that can be defined: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width: a value in pixels, or simply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thin</a:t>
            </a:r>
            <a:r>
              <a:rPr lang="en-GB" sz="2000"/>
              <a:t>,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medium</a:t>
            </a:r>
            <a:r>
              <a:rPr lang="en-GB" sz="2000"/>
              <a:t> or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thick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style: </a:t>
            </a: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solid</a:t>
            </a:r>
            <a:r>
              <a:rPr lang="en-GB" sz="2000"/>
              <a:t> for a line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colour: a colour name to complement the background colour.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For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border: 2px solid Black</a:t>
            </a:r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139" y="4693738"/>
            <a:ext cx="5221770" cy="492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1610139" y="761642"/>
            <a:ext cx="9743661" cy="878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Adding padding 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1610139" y="1835564"/>
            <a:ext cx="841844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97AC"/>
              </a:buClr>
              <a:buSzPts val="2000"/>
              <a:buNone/>
            </a:pPr>
            <a:r>
              <a:rPr b="1" lang="en-GB" sz="2000">
                <a:solidFill>
                  <a:srgbClr val="2197AC"/>
                </a:solidFill>
              </a:rPr>
              <a:t>Padding </a:t>
            </a:r>
            <a:r>
              <a:rPr lang="en-GB" sz="2000"/>
              <a:t>is used to add space between the border and the contents of the box it defines.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/>
              <a:t>For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Courier"/>
                <a:ea typeface="Courier"/>
                <a:cs typeface="Courier"/>
                <a:sym typeface="Courier"/>
              </a:rPr>
              <a:t>padding: 25px</a:t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1610138" y="4639949"/>
            <a:ext cx="79016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improves the layout and makes text inside the border easier to read.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maintain the width and height of an element so it doesn't get wider and deeper when you add a border and padding, add the following property to the styling: </a:t>
            </a:r>
            <a:r>
              <a:rPr b="0" i="0" lang="en-GB" sz="20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box-sizing: border-box;</a:t>
            </a:r>
            <a:endParaRPr b="0" i="0" sz="2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descr="Text&#10;&#10;Description automatically generated with medium confidence"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137" y="3264468"/>
            <a:ext cx="5705975" cy="1323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4.3: Adding borders and padding </a:t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1570382" y="834888"/>
            <a:ext cx="1062161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4.4: Personalising the styling </a:t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186" y="2009506"/>
            <a:ext cx="4115628" cy="404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