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pic>
        <p:nvPicPr>
          <p:cNvPr descr="Shape, rectangle&#10;&#10;Description automatically generated" id="9" name="Google Shape;9;p1"/>
          <p:cNvPicPr preferRelativeResize="0"/>
          <p:nvPr/>
        </p:nvPicPr>
        <p:blipFill rotWithShape="1">
          <a:blip r:embed="rId1">
            <a:alphaModFix/>
          </a:blip>
          <a:srcRect b="0" l="0" r="0" t="0"/>
          <a:stretch/>
        </p:blipFill>
        <p:spPr>
          <a:xfrm>
            <a:off x="0" y="0"/>
            <a:ext cx="12238036" cy="164781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1569134" y="2395813"/>
            <a:ext cx="8860459" cy="9158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GB"/>
              <a:t>Designing websites</a:t>
            </a:r>
            <a:endParaRPr/>
          </a:p>
        </p:txBody>
      </p:sp>
      <p:sp>
        <p:nvSpPr>
          <p:cNvPr id="81" name="Google Shape;81;p13"/>
          <p:cNvSpPr/>
          <p:nvPr/>
        </p:nvSpPr>
        <p:spPr>
          <a:xfrm>
            <a:off x="3785561" y="3404910"/>
            <a:ext cx="3882088"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GB" sz="2000" u="none" cap="none" strike="noStrike">
                <a:solidFill>
                  <a:srgbClr val="2197AC"/>
                </a:solidFill>
                <a:latin typeface="Calibri"/>
                <a:ea typeface="Calibri"/>
                <a:cs typeface="Calibri"/>
                <a:sym typeface="Calibri"/>
              </a:rPr>
              <a:t>Lesson 5: Web page design (part 1)</a:t>
            </a:r>
            <a:endParaRPr/>
          </a:p>
        </p:txBody>
      </p:sp>
      <p:pic>
        <p:nvPicPr>
          <p:cNvPr id="82" name="Google Shape;82;p13"/>
          <p:cNvPicPr preferRelativeResize="0"/>
          <p:nvPr/>
        </p:nvPicPr>
        <p:blipFill rotWithShape="1">
          <a:blip r:embed="rId3">
            <a:alphaModFix/>
          </a:blip>
          <a:srcRect b="0" l="0" r="0" t="0"/>
          <a:stretch/>
        </p:blipFill>
        <p:spPr>
          <a:xfrm>
            <a:off x="8258169" y="2512559"/>
            <a:ext cx="2937412" cy="2584922"/>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592719" y="874643"/>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592719" y="2135971"/>
            <a:ext cx="10285396" cy="1446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In this lesson, you will:</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learn design tips for creating a great website</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begin developing your own website.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1580322" y="844826"/>
            <a:ext cx="9773478" cy="7851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Your website </a:t>
            </a:r>
            <a:endParaRPr/>
          </a:p>
        </p:txBody>
      </p:sp>
      <p:sp>
        <p:nvSpPr>
          <p:cNvPr id="94" name="Google Shape;94;p15"/>
          <p:cNvSpPr/>
          <p:nvPr/>
        </p:nvSpPr>
        <p:spPr>
          <a:xfrm>
            <a:off x="1580322" y="2151029"/>
            <a:ext cx="9263269" cy="3964547"/>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None/>
            </a:pPr>
            <a:r>
              <a:rPr lang="en-GB" sz="2800">
                <a:solidFill>
                  <a:schemeClr val="dk1"/>
                </a:solidFill>
                <a:latin typeface="Calibri"/>
                <a:ea typeface="Calibri"/>
                <a:cs typeface="Calibri"/>
                <a:sym typeface="Calibri"/>
              </a:rPr>
              <a:t>Today, you are going to begin developing your own website.</a:t>
            </a:r>
            <a:endParaRPr/>
          </a:p>
          <a:p>
            <a:pPr indent="0" lvl="0" marL="0" marR="0" rtl="0" algn="l">
              <a:lnSpc>
                <a:spcPct val="114000"/>
              </a:lnSpc>
              <a:spcBef>
                <a:spcPts val="1200"/>
              </a:spcBef>
              <a:spcAft>
                <a:spcPts val="0"/>
              </a:spcAft>
              <a:buNone/>
            </a:pPr>
            <a:r>
              <a:rPr lang="en-GB" sz="2800">
                <a:solidFill>
                  <a:schemeClr val="dk1"/>
                </a:solidFill>
                <a:latin typeface="Calibri"/>
                <a:ea typeface="Calibri"/>
                <a:cs typeface="Calibri"/>
                <a:sym typeface="Calibri"/>
              </a:rPr>
              <a:t>Your website should be aimed at people of your own age and should tell them about your hobbies and interests.</a:t>
            </a:r>
            <a:endParaRPr/>
          </a:p>
          <a:p>
            <a:pPr indent="0" lvl="0" marL="0" marR="0" rtl="0" algn="l">
              <a:lnSpc>
                <a:spcPct val="114000"/>
              </a:lnSpc>
              <a:spcBef>
                <a:spcPts val="1200"/>
              </a:spcBef>
              <a:spcAft>
                <a:spcPts val="0"/>
              </a:spcAft>
              <a:buNone/>
            </a:pPr>
            <a:r>
              <a:rPr lang="en-GB" sz="2800">
                <a:solidFill>
                  <a:schemeClr val="dk1"/>
                </a:solidFill>
                <a:latin typeface="Calibri"/>
                <a:ea typeface="Calibri"/>
                <a:cs typeface="Calibri"/>
                <a:sym typeface="Calibri"/>
              </a:rPr>
              <a:t>Before starting to write the code for your website, you need to plan out the content that you intend to include.</a:t>
            </a:r>
            <a:endParaRPr/>
          </a:p>
          <a:p>
            <a:pPr indent="0" lvl="0" marL="0" marR="0" rtl="0" algn="l">
              <a:lnSpc>
                <a:spcPct val="114000"/>
              </a:lnSpc>
              <a:spcBef>
                <a:spcPts val="1200"/>
              </a:spcBef>
              <a:spcAft>
                <a:spcPts val="0"/>
              </a:spcAft>
              <a:buNone/>
            </a:pPr>
            <a:r>
              <a:rPr lang="en-GB" sz="2800">
                <a:solidFill>
                  <a:schemeClr val="dk1"/>
                </a:solidFill>
                <a:latin typeface="Calibri"/>
                <a:ea typeface="Calibri"/>
                <a:cs typeface="Calibri"/>
                <a:sym typeface="Calibri"/>
              </a:rPr>
              <a:t>Your finished website should consist of a home page and at least two other pages.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1570382" y="834888"/>
            <a:ext cx="10621618" cy="8050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5.1: Planning the content of a website </a:t>
            </a:r>
            <a:endParaRPr/>
          </a:p>
        </p:txBody>
      </p:sp>
      <p:pic>
        <p:nvPicPr>
          <p:cNvPr id="100" name="Google Shape;100;p16"/>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ph type="title"/>
          </p:nvPr>
        </p:nvSpPr>
        <p:spPr>
          <a:xfrm>
            <a:off x="1580322" y="844826"/>
            <a:ext cx="9773478" cy="7851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Creating a site plan </a:t>
            </a:r>
            <a:endParaRPr/>
          </a:p>
        </p:txBody>
      </p:sp>
      <p:sp>
        <p:nvSpPr>
          <p:cNvPr id="106" name="Google Shape;106;p17"/>
          <p:cNvSpPr/>
          <p:nvPr/>
        </p:nvSpPr>
        <p:spPr>
          <a:xfrm>
            <a:off x="1580322" y="2151029"/>
            <a:ext cx="9263269" cy="4319131"/>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None/>
            </a:pPr>
            <a:r>
              <a:rPr lang="en-GB" sz="2400">
                <a:solidFill>
                  <a:schemeClr val="dk1"/>
                </a:solidFill>
                <a:latin typeface="Calibri"/>
                <a:ea typeface="Calibri"/>
                <a:cs typeface="Calibri"/>
                <a:sym typeface="Calibri"/>
              </a:rPr>
              <a:t>The next stage, is to decide what information will go on each page of your website. This is known as the </a:t>
            </a:r>
            <a:r>
              <a:rPr b="1" lang="en-GB" sz="2400">
                <a:solidFill>
                  <a:srgbClr val="2197AC"/>
                </a:solidFill>
                <a:latin typeface="Calibri"/>
                <a:ea typeface="Calibri"/>
                <a:cs typeface="Calibri"/>
                <a:sym typeface="Calibri"/>
              </a:rPr>
              <a:t>site plan</a:t>
            </a:r>
            <a:r>
              <a:rPr lang="en-GB" sz="2400">
                <a:solidFill>
                  <a:schemeClr val="dk1"/>
                </a:solidFill>
                <a:latin typeface="Calibri"/>
                <a:ea typeface="Calibri"/>
                <a:cs typeface="Calibri"/>
                <a:sym typeface="Calibri"/>
              </a:rPr>
              <a:t>.</a:t>
            </a:r>
            <a:endParaRPr/>
          </a:p>
          <a:p>
            <a:pPr indent="0" lvl="0" marL="0" marR="0" rtl="0" algn="l">
              <a:lnSpc>
                <a:spcPct val="114000"/>
              </a:lnSpc>
              <a:spcBef>
                <a:spcPts val="1200"/>
              </a:spcBef>
              <a:spcAft>
                <a:spcPts val="0"/>
              </a:spcAft>
              <a:buNone/>
            </a:pPr>
            <a:r>
              <a:rPr lang="en-GB" sz="2400">
                <a:solidFill>
                  <a:schemeClr val="dk1"/>
                </a:solidFill>
                <a:latin typeface="Calibri"/>
                <a:ea typeface="Calibri"/>
                <a:cs typeface="Calibri"/>
                <a:sym typeface="Calibri"/>
              </a:rPr>
              <a:t>The home page should explain what your website is about and include general information about the topic you have chosen.</a:t>
            </a:r>
            <a:endParaRPr/>
          </a:p>
          <a:p>
            <a:pPr indent="0" lvl="0" marL="0" marR="0" rtl="0" algn="l">
              <a:lnSpc>
                <a:spcPct val="114000"/>
              </a:lnSpc>
              <a:spcBef>
                <a:spcPts val="1200"/>
              </a:spcBef>
              <a:spcAft>
                <a:spcPts val="0"/>
              </a:spcAft>
              <a:buNone/>
            </a:pPr>
            <a:r>
              <a:rPr lang="en-GB" sz="2400">
                <a:solidFill>
                  <a:schemeClr val="dk1"/>
                </a:solidFill>
                <a:latin typeface="Calibri"/>
                <a:ea typeface="Calibri"/>
                <a:cs typeface="Calibri"/>
                <a:sym typeface="Calibri"/>
              </a:rPr>
              <a:t>Ideally, each of the other pages should have a separate theme.</a:t>
            </a:r>
            <a:endParaRPr/>
          </a:p>
          <a:p>
            <a:pPr indent="0" lvl="0" marL="0" marR="0" rtl="0" algn="l">
              <a:lnSpc>
                <a:spcPct val="114000"/>
              </a:lnSpc>
              <a:spcBef>
                <a:spcPts val="1200"/>
              </a:spcBef>
              <a:spcAft>
                <a:spcPts val="0"/>
              </a:spcAft>
              <a:buNone/>
            </a:pPr>
            <a:r>
              <a:rPr lang="en-GB" sz="2400">
                <a:solidFill>
                  <a:schemeClr val="dk1"/>
                </a:solidFill>
                <a:latin typeface="Calibri"/>
                <a:ea typeface="Calibri"/>
                <a:cs typeface="Calibri"/>
                <a:sym typeface="Calibri"/>
              </a:rPr>
              <a:t>For example, a website about your baking adventures might have some information about you and how you started baking on the home page and then have one page for biscuit recipes and another page for cake recipes.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1570382" y="834888"/>
            <a:ext cx="10621618" cy="8050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5.2: Creating a site plan</a:t>
            </a:r>
            <a:endParaRPr/>
          </a:p>
        </p:txBody>
      </p:sp>
      <p:pic>
        <p:nvPicPr>
          <p:cNvPr id="112" name="Google Shape;112;p18"/>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ph type="title"/>
          </p:nvPr>
        </p:nvSpPr>
        <p:spPr>
          <a:xfrm>
            <a:off x="1580322" y="844826"/>
            <a:ext cx="9773478" cy="7851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Designing the page layout </a:t>
            </a:r>
            <a:endParaRPr/>
          </a:p>
        </p:txBody>
      </p:sp>
      <p:sp>
        <p:nvSpPr>
          <p:cNvPr id="118" name="Google Shape;118;p19"/>
          <p:cNvSpPr/>
          <p:nvPr/>
        </p:nvSpPr>
        <p:spPr>
          <a:xfrm>
            <a:off x="1649896" y="1858641"/>
            <a:ext cx="8398565" cy="29700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It is generally best to keep the same basic layout and colour scheme for every page of a website.</a:t>
            </a:r>
            <a:endParaRPr/>
          </a:p>
          <a:p>
            <a:pPr indent="0" lvl="0" marL="0" marR="0" rtl="0" algn="l">
              <a:spcBef>
                <a:spcPts val="600"/>
              </a:spcBef>
              <a:spcAft>
                <a:spcPts val="0"/>
              </a:spcAft>
              <a:buNone/>
            </a:pPr>
            <a:r>
              <a:rPr lang="en-GB" sz="1800">
                <a:solidFill>
                  <a:schemeClr val="dk1"/>
                </a:solidFill>
                <a:latin typeface="Calibri"/>
                <a:ea typeface="Calibri"/>
                <a:cs typeface="Calibri"/>
                <a:sym typeface="Calibri"/>
              </a:rPr>
              <a:t>Avoid using too many different colours:</a:t>
            </a:r>
            <a:endParaRPr/>
          </a:p>
          <a:p>
            <a:pPr indent="0" lvl="1" marL="0" marR="0" rtl="0" algn="l">
              <a:spcBef>
                <a:spcPts val="60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use one colour as the dominant colour</a:t>
            </a:r>
            <a:endParaRPr/>
          </a:p>
          <a:p>
            <a:pPr indent="0" lvl="1" marL="0" marR="0" rtl="0" algn="l">
              <a:spcBef>
                <a:spcPts val="60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choose a second complementary colour as an accent colour.</a:t>
            </a:r>
            <a:endParaRPr/>
          </a:p>
          <a:p>
            <a:pPr indent="0" lvl="0" marL="0" marR="0" rtl="0" algn="l">
              <a:spcBef>
                <a:spcPts val="600"/>
              </a:spcBef>
              <a:spcAft>
                <a:spcPts val="0"/>
              </a:spcAft>
              <a:buNone/>
            </a:pPr>
            <a:r>
              <a:rPr lang="en-GB" sz="1800">
                <a:solidFill>
                  <a:schemeClr val="dk1"/>
                </a:solidFill>
                <a:latin typeface="Calibri"/>
                <a:ea typeface="Calibri"/>
                <a:cs typeface="Calibri"/>
                <a:sym typeface="Calibri"/>
              </a:rPr>
              <a:t>Avoid using brightly coloured or ‘busy’ backgrounds as it can make text hard to read. Aim for a good contrast between the text and background colours.</a:t>
            </a:r>
            <a:endParaRPr/>
          </a:p>
          <a:p>
            <a:pPr indent="0" lvl="0" marL="0" marR="0" rtl="0" algn="l">
              <a:spcBef>
                <a:spcPts val="600"/>
              </a:spcBef>
              <a:spcAft>
                <a:spcPts val="0"/>
              </a:spcAft>
              <a:buNone/>
            </a:pPr>
            <a:r>
              <a:rPr lang="en-GB" sz="1800">
                <a:solidFill>
                  <a:schemeClr val="dk1"/>
                </a:solidFill>
                <a:latin typeface="Calibri"/>
                <a:ea typeface="Calibri"/>
                <a:cs typeface="Calibri"/>
                <a:sym typeface="Calibri"/>
              </a:rPr>
              <a:t>Avoid using more than two different fonts. Sans-serif fonts generally look clearer on screen than serif fonts.</a:t>
            </a:r>
            <a:endParaRPr/>
          </a:p>
        </p:txBody>
      </p:sp>
      <p:pic>
        <p:nvPicPr>
          <p:cNvPr descr="A picture containing text&#10;&#10;Description automatically generated" id="119" name="Google Shape;119;p19"/>
          <p:cNvPicPr preferRelativeResize="0"/>
          <p:nvPr/>
        </p:nvPicPr>
        <p:blipFill rotWithShape="1">
          <a:blip r:embed="rId3">
            <a:alphaModFix/>
          </a:blip>
          <a:srcRect b="0" l="0" r="0" t="0"/>
          <a:stretch/>
        </p:blipFill>
        <p:spPr>
          <a:xfrm>
            <a:off x="1580322" y="4828685"/>
            <a:ext cx="6715266" cy="11430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type="title"/>
          </p:nvPr>
        </p:nvSpPr>
        <p:spPr>
          <a:xfrm>
            <a:off x="1620078" y="755374"/>
            <a:ext cx="9733721" cy="88458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General page layout advice </a:t>
            </a:r>
            <a:endParaRPr/>
          </a:p>
        </p:txBody>
      </p:sp>
      <p:sp>
        <p:nvSpPr>
          <p:cNvPr id="125" name="Google Shape;125;p20"/>
          <p:cNvSpPr/>
          <p:nvPr/>
        </p:nvSpPr>
        <p:spPr>
          <a:xfrm>
            <a:off x="1620077" y="2274838"/>
            <a:ext cx="8766313" cy="217341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4000"/>
              </a:lnSpc>
              <a:spcBef>
                <a:spcPts val="0"/>
              </a:spcBef>
              <a:spcAft>
                <a:spcPts val="0"/>
              </a:spcAft>
              <a:buClr>
                <a:srgbClr val="000000"/>
              </a:buClr>
              <a:buSzPts val="2400"/>
              <a:buFont typeface="Arial"/>
              <a:buChar char="•"/>
            </a:pPr>
            <a:r>
              <a:rPr lang="en-GB" sz="2400">
                <a:solidFill>
                  <a:srgbClr val="000000"/>
                </a:solidFill>
                <a:latin typeface="Calibri"/>
                <a:ea typeface="Calibri"/>
                <a:cs typeface="Calibri"/>
                <a:sym typeface="Calibri"/>
              </a:rPr>
              <a:t>Put the most important information in the top half of the screen.</a:t>
            </a:r>
            <a:endParaRPr sz="2400">
              <a:solidFill>
                <a:schemeClr val="dk1"/>
              </a:solidFill>
              <a:latin typeface="Calibri"/>
              <a:ea typeface="Calibri"/>
              <a:cs typeface="Calibri"/>
              <a:sym typeface="Calibri"/>
            </a:endParaRPr>
          </a:p>
          <a:p>
            <a:pPr indent="-342900" lvl="0" marL="342900" marR="0" rtl="0" algn="l">
              <a:lnSpc>
                <a:spcPct val="114000"/>
              </a:lnSpc>
              <a:spcBef>
                <a:spcPts val="0"/>
              </a:spcBef>
              <a:spcAft>
                <a:spcPts val="0"/>
              </a:spcAft>
              <a:buClr>
                <a:srgbClr val="000000"/>
              </a:buClr>
              <a:buSzPts val="2400"/>
              <a:buFont typeface="Arial"/>
              <a:buChar char="•"/>
            </a:pPr>
            <a:r>
              <a:rPr lang="en-GB" sz="2400">
                <a:solidFill>
                  <a:srgbClr val="000000"/>
                </a:solidFill>
                <a:latin typeface="Calibri"/>
                <a:ea typeface="Calibri"/>
                <a:cs typeface="Calibri"/>
                <a:sym typeface="Calibri"/>
              </a:rPr>
              <a:t>Text is easiest to read when it is left-aligned, not centred.</a:t>
            </a:r>
            <a:endParaRPr sz="2400">
              <a:solidFill>
                <a:schemeClr val="dk1"/>
              </a:solidFill>
              <a:latin typeface="Calibri"/>
              <a:ea typeface="Calibri"/>
              <a:cs typeface="Calibri"/>
              <a:sym typeface="Calibri"/>
            </a:endParaRPr>
          </a:p>
          <a:p>
            <a:pPr indent="-342900" lvl="0" marL="342900" marR="0" rtl="0" algn="l">
              <a:lnSpc>
                <a:spcPct val="114000"/>
              </a:lnSpc>
              <a:spcBef>
                <a:spcPts val="0"/>
              </a:spcBef>
              <a:spcAft>
                <a:spcPts val="0"/>
              </a:spcAft>
              <a:buClr>
                <a:srgbClr val="000000"/>
              </a:buClr>
              <a:buSzPts val="2400"/>
              <a:buFont typeface="Arial"/>
              <a:buChar char="•"/>
            </a:pPr>
            <a:r>
              <a:rPr lang="en-GB" sz="2400">
                <a:solidFill>
                  <a:srgbClr val="000000"/>
                </a:solidFill>
                <a:latin typeface="Calibri"/>
                <a:ea typeface="Calibri"/>
                <a:cs typeface="Calibri"/>
                <a:sym typeface="Calibri"/>
              </a:rPr>
              <a:t>Divide your content into logical bite-size blocks.</a:t>
            </a:r>
            <a:endParaRPr sz="2400">
              <a:solidFill>
                <a:schemeClr val="dk1"/>
              </a:solidFill>
              <a:latin typeface="Calibri"/>
              <a:ea typeface="Calibri"/>
              <a:cs typeface="Calibri"/>
              <a:sym typeface="Calibri"/>
            </a:endParaRPr>
          </a:p>
          <a:p>
            <a:pPr indent="-342900" lvl="0" marL="342900" marR="0" rtl="0" algn="l">
              <a:lnSpc>
                <a:spcPct val="114000"/>
              </a:lnSpc>
              <a:spcBef>
                <a:spcPts val="0"/>
              </a:spcBef>
              <a:spcAft>
                <a:spcPts val="0"/>
              </a:spcAft>
              <a:buClr>
                <a:srgbClr val="000000"/>
              </a:buClr>
              <a:buSzPts val="2400"/>
              <a:buFont typeface="Arial"/>
              <a:buChar char="•"/>
            </a:pPr>
            <a:r>
              <a:rPr lang="en-GB" sz="2400">
                <a:solidFill>
                  <a:srgbClr val="000000"/>
                </a:solidFill>
                <a:latin typeface="Calibri"/>
                <a:ea typeface="Calibri"/>
                <a:cs typeface="Calibri"/>
                <a:sym typeface="Calibri"/>
              </a:rPr>
              <a:t>Avoid excessive line lengths, because long lines can be hard to read.</a:t>
            </a:r>
            <a:endParaRPr sz="2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1570382" y="834888"/>
            <a:ext cx="10621618" cy="8050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5.3: Designing the page layout</a:t>
            </a:r>
            <a:endParaRPr/>
          </a:p>
        </p:txBody>
      </p:sp>
      <p:pic>
        <p:nvPicPr>
          <p:cNvPr id="131" name="Google Shape;131;p21"/>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1570382" y="834888"/>
            <a:ext cx="10621618" cy="8050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5.4: Setting up the style sheet</a:t>
            </a:r>
            <a:endParaRPr/>
          </a:p>
        </p:txBody>
      </p:sp>
      <p:pic>
        <p:nvPicPr>
          <p:cNvPr id="137" name="Google Shape;137;p22"/>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1570382" y="834888"/>
            <a:ext cx="10621618" cy="8050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5.5: Locating images and URLs </a:t>
            </a:r>
            <a:endParaRPr/>
          </a:p>
        </p:txBody>
      </p:sp>
      <p:pic>
        <p:nvPicPr>
          <p:cNvPr id="143" name="Google Shape;143;p23"/>
          <p:cNvPicPr preferRelativeResize="0"/>
          <p:nvPr/>
        </p:nvPicPr>
        <p:blipFill rotWithShape="1">
          <a:blip r:embed="rId3">
            <a:alphaModFix/>
          </a:blip>
          <a:srcRect b="0" l="0" r="0" t="0"/>
          <a:stretch/>
        </p:blipFill>
        <p:spPr>
          <a:xfrm>
            <a:off x="6096000" y="1979688"/>
            <a:ext cx="4115628" cy="4043424"/>
          </a:xfrm>
          <a:prstGeom prst="rect">
            <a:avLst/>
          </a:prstGeom>
          <a:noFill/>
          <a:ln>
            <a:noFill/>
          </a:ln>
        </p:spPr>
      </p:pic>
      <p:sp>
        <p:nvSpPr>
          <p:cNvPr id="144" name="Google Shape;144;p23"/>
          <p:cNvSpPr/>
          <p:nvPr/>
        </p:nvSpPr>
        <p:spPr>
          <a:xfrm>
            <a:off x="1570382" y="1979688"/>
            <a:ext cx="3955775" cy="415498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Locate and save the images you intend to use on your website.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Locate and save the URLs of any external web pages you intend to link to from your website.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Remember to save these to your ‘My website’ folder.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