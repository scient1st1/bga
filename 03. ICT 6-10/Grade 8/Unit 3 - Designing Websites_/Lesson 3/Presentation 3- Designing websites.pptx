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966699" y="2395813"/>
            <a:ext cx="8860459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Designing websites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980060" y="3346283"/>
            <a:ext cx="40386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Lesson 3: Hyperlinks and navigation </a:t>
            </a:r>
            <a:endParaRPr b="1" sz="2000">
              <a:solidFill>
                <a:srgbClr val="2197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7500" y="2853738"/>
            <a:ext cx="2937412" cy="258492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2719" y="87464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2719" y="2135971"/>
            <a:ext cx="894275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an external web page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pages of a website together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an image as a clickable hyperlink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style a navigation bar.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6502" y="2192370"/>
            <a:ext cx="4523585" cy="396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620078" y="755374"/>
            <a:ext cx="9733721" cy="884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HTML hyperlinks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620078" y="2159697"/>
            <a:ext cx="83886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Hyperlinks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found on nearly all web pages. They allow users to move from page to page within a website, or to move to a page on another website.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78" y="3030855"/>
            <a:ext cx="5592445" cy="398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1620078" y="3592272"/>
            <a:ext cx="894521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anchor tag 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&lt;a&gt;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define a hyperlink, which links one web page to another.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0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hyperlink reference</a:t>
            </a:r>
            <a:r>
              <a:rPr lang="en-GB" sz="20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 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href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identify the destination that the hyperlink will take you to. If this is an external web page, you need to give the full URL.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0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link text</a:t>
            </a:r>
            <a:r>
              <a:rPr lang="en-GB" sz="20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what is shown on the screen. When the mouse moves over this text, the mouse pointer turns into a hand. Clicking on the link text takes you to the linked page.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600202" y="1858617"/>
            <a:ext cx="9571382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Here is an example of a hyperlink included within a sentence in an HTML document: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600202" y="3662315"/>
            <a:ext cx="70864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how the code above is displayed by the browser: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4573690"/>
            <a:ext cx="4760841" cy="18171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8140463" y="5200782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3.1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470" y="2680962"/>
            <a:ext cx="6013173" cy="80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570382" y="834888"/>
            <a:ext cx="9783417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3.1: Adding an external hyperlink 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1600202" y="1858617"/>
            <a:ext cx="9571382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When a user clicks on a hyperlink, the linked page will replace the one currently displayed in the browser window.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This is ideal when moving from page to page within a website.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However, if the hyperlink is to an external web page, it is often preferable for this to open in a new browser window.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This is done by adding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target="_blank"</a:t>
            </a:r>
            <a:r>
              <a:rPr lang="en-GB" sz="2400"/>
              <a:t> after the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href</a:t>
            </a:r>
            <a:r>
              <a:rPr lang="en-GB" sz="24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For example: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8086167" y="5522614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3.2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440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target</a:t>
            </a: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attribute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617" y="4880112"/>
            <a:ext cx="10386391" cy="41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</a:rPr>
              <a:t>Activity 3.2: Opening the linked web page in a new window 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1600202" y="1858617"/>
            <a:ext cx="10237302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GB" sz="2200"/>
              <a:t>The default name for the home or start page of a website is 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index.html</a:t>
            </a:r>
            <a:r>
              <a:rPr lang="en-GB" sz="22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GB" sz="2200"/>
              <a:t>Other pages are usually given a name that is the same as, or very similar to, the title of the page. Page names must: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/>
              <a:t>only use lower case letters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/>
              <a:t>contain no spaces, punctuation or symbols (although dashes may be used for spaces)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/>
              <a:t>be as short as possible, using keywords that make it clear what the page is about.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GB" sz="2200"/>
              <a:t>For example: 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biscuit-recipes.html </a:t>
            </a:r>
            <a:r>
              <a:rPr lang="en-GB" sz="2200"/>
              <a:t>or </a:t>
            </a:r>
            <a:r>
              <a:rPr lang="en-GB" sz="2200">
                <a:latin typeface="Courier"/>
                <a:ea typeface="Courier"/>
                <a:cs typeface="Courier"/>
                <a:sym typeface="Courier"/>
              </a:rPr>
              <a:t>footballers.html</a:t>
            </a:r>
            <a:r>
              <a:rPr lang="en-GB" sz="22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GB" sz="2200"/>
              <a:t>An internal hyperlink, a link to a page on the same website, is created in exactly the same way as an external hyperlink, but the file name of the page is used instead of the full URL.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8106046" y="5589346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3.3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1600202" y="864321"/>
            <a:ext cx="105917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Naming web pages and adding internal hyperlinks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3.3: Adding an internal hyperlink 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600202" y="2117035"/>
            <a:ext cx="9146374" cy="425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To use an image as a hyperlink, replace the link text with the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&lt;img&gt; </a:t>
            </a:r>
            <a:r>
              <a:rPr lang="en-GB" sz="2400"/>
              <a:t>tag containing the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src</a:t>
            </a:r>
            <a:r>
              <a:rPr lang="en-GB" sz="2400"/>
              <a:t>,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alt</a:t>
            </a:r>
            <a:r>
              <a:rPr lang="en-GB" sz="2400"/>
              <a:t>,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width</a:t>
            </a:r>
            <a:r>
              <a:rPr lang="en-GB" sz="2400"/>
              <a:t> and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height</a:t>
            </a:r>
            <a:r>
              <a:rPr lang="en-GB" sz="2400"/>
              <a:t> attributes of the image.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For example:</a:t>
            </a:r>
            <a:endParaRPr/>
          </a:p>
        </p:txBody>
      </p:sp>
      <p:sp>
        <p:nvSpPr>
          <p:cNvPr id="149" name="Google Shape;149;p23"/>
          <p:cNvSpPr/>
          <p:nvPr/>
        </p:nvSpPr>
        <p:spPr>
          <a:xfrm>
            <a:off x="8086167" y="5522614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3.4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an image as a clickable hyperlink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3695079"/>
            <a:ext cx="9322902" cy="1502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GB" sz="4000">
                <a:solidFill>
                  <a:schemeClr val="lt1"/>
                </a:solidFill>
              </a:rPr>
              <a:t>Activity 3.4: Using an image as a clickable hyperlink </a:t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1600202" y="2117035"/>
            <a:ext cx="9146374" cy="425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GB" sz="24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navigation bar</a:t>
            </a:r>
            <a:r>
              <a:rPr lang="en-GB" sz="2400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is essentially a set of hyperlinks, but by adding formatting it is possible to make a website look much more professional.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400">
                <a:latin typeface="Courier"/>
                <a:ea typeface="Courier"/>
                <a:cs typeface="Courier"/>
                <a:sym typeface="Courier"/>
              </a:rPr>
              <a:t>&lt;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nav&gt;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 tag should be used to create a series of navigation links, with the individual hyperlinks defined in the usual way using the anchor tag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&lt;a&gt;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Creating a navigation bar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4435016"/>
            <a:ext cx="4944774" cy="155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1600202" y="2117035"/>
            <a:ext cx="9146374" cy="425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Styling is applied via the style sheet to all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&lt;a&gt;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 elements within the 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&lt;nav&gt; 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tag.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Styling a navigation bar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3297963"/>
            <a:ext cx="4495798" cy="30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6056243" y="3406744"/>
            <a:ext cx="57713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display: block;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creates a block around each hyperlink, with the whole block clickable, not just the text.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6096000" y="3929964"/>
            <a:ext cx="57713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background-color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text-align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used to control the text colour, background colour and text alignment.</a:t>
            </a:r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6056243" y="4623566"/>
            <a:ext cx="49463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text-decoration: none;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removes the underlining that is normally added to a hyperlink.</a:t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6056243" y="5055558"/>
            <a:ext cx="561229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margin: 0;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ensures that the hyperlinks are displayed starting at the left-hand edge of the page.</a:t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6056243" y="5487550"/>
            <a:ext cx="58110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padding: 16px;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adds some padding around each hyperlink so that they are spaced appropriately. The amount of padding can be adjusted.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6056243" y="5919542"/>
            <a:ext cx="70998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float: left;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ensures that the hyperlinks appear next to each other.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1600202" y="2117035"/>
            <a:ext cx="8209720" cy="425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We can also add styling to the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nav</a:t>
            </a:r>
            <a:r>
              <a:rPr lang="en-GB" sz="2000"/>
              <a:t> tag itself.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To make the links appear side-by-side in a row we use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display: flex</a:t>
            </a:r>
            <a:r>
              <a:rPr lang="en-GB" sz="2000"/>
              <a:t>. This creates a flexible container, that the hyperlinks are placed inside in a row.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Adding the same background colour for the container as you have used for the hyperlinks ensures the navigation bar fills the width of the page.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For example: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Styling a navigation bar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4244009"/>
            <a:ext cx="5231889" cy="160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1600202" y="2027583"/>
            <a:ext cx="8796128" cy="4253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To make the navigation bar look even more professional, it is possible to change the background colour and/or text colour of a hyperlink when the mouse hovers over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For example:</a:t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1600202" y="864321"/>
            <a:ext cx="95018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Styling a navigation bar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2" y="3562215"/>
            <a:ext cx="4721085" cy="15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8316141" y="5198118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3.5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GB" sz="4000">
                <a:solidFill>
                  <a:schemeClr val="lt1"/>
                </a:solidFill>
              </a:rPr>
              <a:t>Activity 3.5: Creating and styling a navigation bar </a:t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1570382" y="834888"/>
            <a:ext cx="9783417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3 </a:t>
            </a: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