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descr="Shape, rectangle&#10;&#10;Description automatically generated" id="9" name="Google Shape;9;p1"/>
          <p:cNvPicPr preferRelativeResize="0"/>
          <p:nvPr/>
        </p:nvPicPr>
        <p:blipFill rotWithShape="1">
          <a:blip r:embed="rId1">
            <a:alphaModFix/>
          </a:blip>
          <a:srcRect b="0" l="0" r="0" t="0"/>
          <a:stretch/>
        </p:blipFill>
        <p:spPr>
          <a:xfrm>
            <a:off x="0" y="0"/>
            <a:ext cx="12238036" cy="164781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1569134" y="2395813"/>
            <a:ext cx="8860459" cy="9158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GB"/>
              <a:t>Designing websites</a:t>
            </a:r>
            <a:endParaRPr/>
          </a:p>
        </p:txBody>
      </p:sp>
      <p:sp>
        <p:nvSpPr>
          <p:cNvPr id="81" name="Google Shape;81;p13"/>
          <p:cNvSpPr/>
          <p:nvPr/>
        </p:nvSpPr>
        <p:spPr>
          <a:xfrm>
            <a:off x="4024100" y="3404910"/>
            <a:ext cx="3631443"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GB" sz="2000" u="none" cap="none" strike="noStrike">
                <a:solidFill>
                  <a:srgbClr val="2197AC"/>
                </a:solidFill>
                <a:latin typeface="Calibri"/>
                <a:ea typeface="Calibri"/>
                <a:cs typeface="Calibri"/>
                <a:sym typeface="Calibri"/>
              </a:rPr>
              <a:t>Lesson 1: Basic styling using CSS </a:t>
            </a:r>
            <a:endParaRPr b="1" sz="2000">
              <a:solidFill>
                <a:srgbClr val="2197AC"/>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8198536" y="2512559"/>
            <a:ext cx="2937412" cy="2584922"/>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592719" y="874643"/>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592719" y="2135971"/>
            <a:ext cx="10285396" cy="187743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web pages are defined and displayed</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change the styling on a web page using CSS</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use classes to style specific elements.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580322" y="844826"/>
            <a:ext cx="9773478" cy="7851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Do you know what this code is used for? </a:t>
            </a:r>
            <a:endParaRPr/>
          </a:p>
        </p:txBody>
      </p:sp>
      <p:pic>
        <p:nvPicPr>
          <p:cNvPr id="94" name="Google Shape;94;p15"/>
          <p:cNvPicPr preferRelativeResize="0"/>
          <p:nvPr/>
        </p:nvPicPr>
        <p:blipFill rotWithShape="1">
          <a:blip r:embed="rId3">
            <a:alphaModFix/>
          </a:blip>
          <a:srcRect b="0" l="0" r="0" t="0"/>
          <a:stretch/>
        </p:blipFill>
        <p:spPr>
          <a:xfrm>
            <a:off x="7215809" y="2385391"/>
            <a:ext cx="3269823" cy="3001618"/>
          </a:xfrm>
          <a:prstGeom prst="rect">
            <a:avLst/>
          </a:prstGeom>
          <a:noFill/>
          <a:ln>
            <a:noFill/>
          </a:ln>
        </p:spPr>
      </p:pic>
      <p:pic>
        <p:nvPicPr>
          <p:cNvPr descr="Graphical user interface, text, application, email&#10;&#10;Description automatically generated" id="95" name="Google Shape;95;p15"/>
          <p:cNvPicPr preferRelativeResize="0"/>
          <p:nvPr/>
        </p:nvPicPr>
        <p:blipFill rotWithShape="1">
          <a:blip r:embed="rId4">
            <a:alphaModFix/>
          </a:blip>
          <a:srcRect b="0" l="0" r="0" t="0"/>
          <a:stretch/>
        </p:blipFill>
        <p:spPr>
          <a:xfrm>
            <a:off x="905958" y="1933303"/>
            <a:ext cx="5652559" cy="407987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1620078" y="755374"/>
            <a:ext cx="9733721" cy="8845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The web page displayed by the code </a:t>
            </a:r>
            <a:endParaRPr/>
          </a:p>
        </p:txBody>
      </p:sp>
      <p:pic>
        <p:nvPicPr>
          <p:cNvPr id="101" name="Google Shape;101;p16"/>
          <p:cNvPicPr preferRelativeResize="0"/>
          <p:nvPr/>
        </p:nvPicPr>
        <p:blipFill rotWithShape="1">
          <a:blip r:embed="rId3">
            <a:alphaModFix/>
          </a:blip>
          <a:srcRect b="0" l="0" r="0" t="0"/>
          <a:stretch/>
        </p:blipFill>
        <p:spPr>
          <a:xfrm>
            <a:off x="3522345" y="2048077"/>
            <a:ext cx="5147310" cy="42106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type="title"/>
          </p:nvPr>
        </p:nvSpPr>
        <p:spPr>
          <a:xfrm>
            <a:off x="1600201" y="824947"/>
            <a:ext cx="9753599" cy="80610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HTML</a:t>
            </a:r>
            <a:endParaRPr/>
          </a:p>
        </p:txBody>
      </p:sp>
      <p:sp>
        <p:nvSpPr>
          <p:cNvPr id="107" name="Google Shape;107;p17"/>
          <p:cNvSpPr txBox="1"/>
          <p:nvPr>
            <p:ph idx="1" type="body"/>
          </p:nvPr>
        </p:nvSpPr>
        <p:spPr>
          <a:xfrm>
            <a:off x="1600202" y="1858617"/>
            <a:ext cx="9571382" cy="451236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None/>
            </a:pPr>
            <a:r>
              <a:rPr b="1" lang="en-GB" sz="2400"/>
              <a:t>Hyper Text Markup Language</a:t>
            </a:r>
            <a:r>
              <a:rPr lang="en-GB" sz="2400"/>
              <a:t> </a:t>
            </a:r>
            <a:r>
              <a:rPr lang="en-GB" sz="2400">
                <a:solidFill>
                  <a:srgbClr val="2197AC"/>
                </a:solidFill>
              </a:rPr>
              <a:t>(</a:t>
            </a:r>
            <a:r>
              <a:rPr b="1" lang="en-GB" sz="2400">
                <a:solidFill>
                  <a:srgbClr val="2197AC"/>
                </a:solidFill>
              </a:rPr>
              <a:t>HTML</a:t>
            </a:r>
            <a:r>
              <a:rPr lang="en-GB" sz="2400">
                <a:solidFill>
                  <a:srgbClr val="2197AC"/>
                </a:solidFill>
              </a:rPr>
              <a:t>) </a:t>
            </a:r>
            <a:r>
              <a:rPr lang="en-GB" sz="2400"/>
              <a:t>is used to describe the structure of a web page. It consists of a series of </a:t>
            </a:r>
            <a:r>
              <a:rPr b="1" lang="en-GB" sz="2400">
                <a:solidFill>
                  <a:srgbClr val="2197AC"/>
                </a:solidFill>
              </a:rPr>
              <a:t>elements</a:t>
            </a:r>
            <a:r>
              <a:rPr lang="en-GB" sz="2400"/>
              <a:t>. These elements label their content as, for example, a heading, a paragraph, an image or a hyperlink, using </a:t>
            </a:r>
            <a:r>
              <a:rPr b="1" lang="en-GB" sz="2400">
                <a:solidFill>
                  <a:srgbClr val="2197AC"/>
                </a:solidFill>
              </a:rPr>
              <a:t>tags</a:t>
            </a:r>
            <a:r>
              <a:rPr lang="en-GB" sz="2400"/>
              <a:t>.</a:t>
            </a:r>
            <a:endParaRPr/>
          </a:p>
          <a:p>
            <a:pPr indent="0" lvl="0" marL="0" rtl="0" algn="l">
              <a:lnSpc>
                <a:spcPct val="100000"/>
              </a:lnSpc>
              <a:spcBef>
                <a:spcPts val="600"/>
              </a:spcBef>
              <a:spcAft>
                <a:spcPts val="0"/>
              </a:spcAft>
              <a:buClr>
                <a:schemeClr val="dk1"/>
              </a:buClr>
              <a:buSzPts val="2400"/>
              <a:buNone/>
            </a:pPr>
            <a:r>
              <a:rPr lang="en-GB" sz="2400"/>
              <a:t>An HTML tag is a word or letter surrounded by angle brackets: </a:t>
            </a:r>
            <a:r>
              <a:rPr b="1" lang="en-GB" sz="2400">
                <a:latin typeface="Courier"/>
                <a:ea typeface="Courier"/>
                <a:cs typeface="Courier"/>
                <a:sym typeface="Courier"/>
              </a:rPr>
              <a:t>&lt;</a:t>
            </a:r>
            <a:r>
              <a:rPr lang="en-GB" sz="2400">
                <a:latin typeface="Courier"/>
                <a:ea typeface="Courier"/>
                <a:cs typeface="Courier"/>
                <a:sym typeface="Courier"/>
              </a:rPr>
              <a:t> </a:t>
            </a:r>
            <a:r>
              <a:rPr lang="en-GB" sz="2400"/>
              <a:t>and </a:t>
            </a:r>
            <a:r>
              <a:rPr b="1" lang="en-GB" sz="2400">
                <a:latin typeface="Courier"/>
                <a:ea typeface="Courier"/>
                <a:cs typeface="Courier"/>
                <a:sym typeface="Courier"/>
              </a:rPr>
              <a:t>&gt;</a:t>
            </a:r>
            <a:r>
              <a:rPr lang="en-GB" sz="2400"/>
              <a:t>.</a:t>
            </a:r>
            <a:endParaRPr/>
          </a:p>
          <a:p>
            <a:pPr indent="0" lvl="0" marL="0" rtl="0" algn="l">
              <a:lnSpc>
                <a:spcPct val="100000"/>
              </a:lnSpc>
              <a:spcBef>
                <a:spcPts val="600"/>
              </a:spcBef>
              <a:spcAft>
                <a:spcPts val="0"/>
              </a:spcAft>
              <a:buClr>
                <a:schemeClr val="dk1"/>
              </a:buClr>
              <a:buSzPts val="2400"/>
              <a:buNone/>
            </a:pPr>
            <a:r>
              <a:rPr lang="en-GB" sz="2400"/>
              <a:t>Most elements have an opening tag and a closing tag, with the content placed between the two tags. The closing tag has a forward slash</a:t>
            </a:r>
            <a:r>
              <a:rPr lang="en-GB" sz="2400">
                <a:latin typeface="Courier"/>
                <a:ea typeface="Courier"/>
                <a:cs typeface="Courier"/>
                <a:sym typeface="Courier"/>
              </a:rPr>
              <a:t> / </a:t>
            </a:r>
            <a:r>
              <a:rPr lang="en-GB" sz="2400"/>
              <a:t>in front of the word or letter. For example, </a:t>
            </a:r>
            <a:r>
              <a:rPr lang="en-GB" sz="2400">
                <a:latin typeface="Courier"/>
                <a:ea typeface="Courier"/>
                <a:cs typeface="Courier"/>
                <a:sym typeface="Courier"/>
              </a:rPr>
              <a:t>&lt;p&gt; </a:t>
            </a:r>
            <a:r>
              <a:rPr lang="en-GB" sz="2400"/>
              <a:t>and </a:t>
            </a:r>
            <a:r>
              <a:rPr lang="en-GB" sz="2400">
                <a:latin typeface="Courier"/>
                <a:ea typeface="Courier"/>
                <a:cs typeface="Courier"/>
                <a:sym typeface="Courier"/>
              </a:rPr>
              <a:t>&lt;/p&gt;.</a:t>
            </a:r>
            <a:endParaRPr/>
          </a:p>
          <a:p>
            <a:pPr indent="0" lvl="0" marL="0" rtl="0" algn="l">
              <a:lnSpc>
                <a:spcPct val="100000"/>
              </a:lnSpc>
              <a:spcBef>
                <a:spcPts val="600"/>
              </a:spcBef>
              <a:spcAft>
                <a:spcPts val="0"/>
              </a:spcAft>
              <a:buClr>
                <a:schemeClr val="dk1"/>
              </a:buClr>
              <a:buSzPts val="2400"/>
              <a:buNone/>
            </a:pPr>
            <a:r>
              <a:rPr lang="en-GB" sz="2400"/>
              <a:t>Browsers, such as Chrome, Edge, Safari and Firefox, use this information to determine how the content should be displayed.</a:t>
            </a:r>
            <a:endParaRPr/>
          </a:p>
          <a:p>
            <a:pPr indent="0" lvl="0" marL="0" rtl="0" algn="l">
              <a:lnSpc>
                <a:spcPct val="100000"/>
              </a:lnSpc>
              <a:spcBef>
                <a:spcPts val="600"/>
              </a:spcBef>
              <a:spcAft>
                <a:spcPts val="0"/>
              </a:spcAft>
              <a:buClr>
                <a:schemeClr val="dk1"/>
              </a:buClr>
              <a:buSzPts val="2400"/>
              <a:buNone/>
            </a:pPr>
            <a:r>
              <a:rPr lang="en-GB" sz="2400"/>
              <a:t>Each page of a website is written as a separate .html document.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title"/>
          </p:nvPr>
        </p:nvSpPr>
        <p:spPr>
          <a:xfrm>
            <a:off x="1620078" y="834888"/>
            <a:ext cx="9733721"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CSS</a:t>
            </a:r>
            <a:endParaRPr/>
          </a:p>
        </p:txBody>
      </p:sp>
      <p:sp>
        <p:nvSpPr>
          <p:cNvPr id="113" name="Google Shape;113;p18"/>
          <p:cNvSpPr txBox="1"/>
          <p:nvPr>
            <p:ph idx="1" type="body"/>
          </p:nvPr>
        </p:nvSpPr>
        <p:spPr>
          <a:xfrm>
            <a:off x="1620077" y="2143677"/>
            <a:ext cx="9733722"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197AC"/>
              </a:buClr>
              <a:buSzPts val="2400"/>
              <a:buNone/>
            </a:pPr>
            <a:r>
              <a:rPr b="1" lang="en-GB" sz="2400">
                <a:solidFill>
                  <a:srgbClr val="2197AC"/>
                </a:solidFill>
              </a:rPr>
              <a:t>CSS</a:t>
            </a:r>
            <a:r>
              <a:rPr b="1" lang="en-GB" sz="2400"/>
              <a:t> </a:t>
            </a:r>
            <a:r>
              <a:rPr lang="en-GB" sz="2400"/>
              <a:t>stands for </a:t>
            </a:r>
            <a:r>
              <a:rPr b="1" lang="en-GB" sz="2400"/>
              <a:t>Cascading Style Sheet</a:t>
            </a:r>
            <a:r>
              <a:rPr lang="en-GB" sz="2400"/>
              <a:t>.</a:t>
            </a:r>
            <a:endParaRPr/>
          </a:p>
          <a:p>
            <a:pPr indent="0" lvl="0" marL="0" rtl="0" algn="l">
              <a:lnSpc>
                <a:spcPct val="90000"/>
              </a:lnSpc>
              <a:spcBef>
                <a:spcPts val="1000"/>
              </a:spcBef>
              <a:spcAft>
                <a:spcPts val="0"/>
              </a:spcAft>
              <a:buClr>
                <a:srgbClr val="2197AC"/>
              </a:buClr>
              <a:buSzPts val="2400"/>
              <a:buNone/>
            </a:pPr>
            <a:r>
              <a:rPr b="1" lang="en-GB" sz="2400">
                <a:solidFill>
                  <a:srgbClr val="2197AC"/>
                </a:solidFill>
              </a:rPr>
              <a:t>CSS</a:t>
            </a:r>
            <a:r>
              <a:rPr lang="en-GB" sz="2400">
                <a:solidFill>
                  <a:srgbClr val="2197AC"/>
                </a:solidFill>
              </a:rPr>
              <a:t> </a:t>
            </a:r>
            <a:r>
              <a:rPr b="1" lang="en-GB" sz="2400">
                <a:solidFill>
                  <a:srgbClr val="2197AC"/>
                </a:solidFill>
              </a:rPr>
              <a:t>properties </a:t>
            </a:r>
            <a:r>
              <a:rPr lang="en-GB" sz="2400"/>
              <a:t>are used to </a:t>
            </a:r>
            <a:r>
              <a:rPr b="1" lang="en-GB" sz="2400"/>
              <a:t>format</a:t>
            </a:r>
            <a:r>
              <a:rPr lang="en-GB" sz="2400"/>
              <a:t> the layout of a web page, including:</a:t>
            </a:r>
            <a:endParaRPr/>
          </a:p>
          <a:p>
            <a:pPr indent="-228600" lvl="0" marL="228600" rtl="0" algn="l">
              <a:lnSpc>
                <a:spcPct val="90000"/>
              </a:lnSpc>
              <a:spcBef>
                <a:spcPts val="1000"/>
              </a:spcBef>
              <a:spcAft>
                <a:spcPts val="0"/>
              </a:spcAft>
              <a:buClr>
                <a:schemeClr val="dk1"/>
              </a:buClr>
              <a:buSzPts val="2400"/>
              <a:buChar char="•"/>
            </a:pPr>
            <a:r>
              <a:rPr lang="en-GB" sz="2400"/>
              <a:t>the colour of the text</a:t>
            </a:r>
            <a:endParaRPr/>
          </a:p>
          <a:p>
            <a:pPr indent="-228600" lvl="0" marL="228600" rtl="0" algn="l">
              <a:lnSpc>
                <a:spcPct val="90000"/>
              </a:lnSpc>
              <a:spcBef>
                <a:spcPts val="1000"/>
              </a:spcBef>
              <a:spcAft>
                <a:spcPts val="0"/>
              </a:spcAft>
              <a:buClr>
                <a:schemeClr val="dk1"/>
              </a:buClr>
              <a:buSzPts val="2400"/>
              <a:buChar char="•"/>
            </a:pPr>
            <a:r>
              <a:rPr lang="en-GB" sz="2400"/>
              <a:t>the size of the text</a:t>
            </a:r>
            <a:endParaRPr/>
          </a:p>
          <a:p>
            <a:pPr indent="-228600" lvl="0" marL="228600" rtl="0" algn="l">
              <a:lnSpc>
                <a:spcPct val="90000"/>
              </a:lnSpc>
              <a:spcBef>
                <a:spcPts val="1000"/>
              </a:spcBef>
              <a:spcAft>
                <a:spcPts val="0"/>
              </a:spcAft>
              <a:buClr>
                <a:schemeClr val="dk1"/>
              </a:buClr>
              <a:buSzPts val="2400"/>
              <a:buChar char="•"/>
            </a:pPr>
            <a:r>
              <a:rPr lang="en-GB" sz="2400"/>
              <a:t>the font used</a:t>
            </a:r>
            <a:endParaRPr/>
          </a:p>
          <a:p>
            <a:pPr indent="-228600" lvl="0" marL="228600" rtl="0" algn="l">
              <a:lnSpc>
                <a:spcPct val="90000"/>
              </a:lnSpc>
              <a:spcBef>
                <a:spcPts val="1000"/>
              </a:spcBef>
              <a:spcAft>
                <a:spcPts val="0"/>
              </a:spcAft>
              <a:buClr>
                <a:schemeClr val="dk1"/>
              </a:buClr>
              <a:buSzPts val="2400"/>
              <a:buChar char="•"/>
            </a:pPr>
            <a:r>
              <a:rPr lang="en-GB" sz="2400"/>
              <a:t>the background colours and images</a:t>
            </a:r>
            <a:endParaRPr/>
          </a:p>
          <a:p>
            <a:pPr indent="-228600" lvl="0" marL="228600" rtl="0" algn="l">
              <a:lnSpc>
                <a:spcPct val="90000"/>
              </a:lnSpc>
              <a:spcBef>
                <a:spcPts val="1000"/>
              </a:spcBef>
              <a:spcAft>
                <a:spcPts val="0"/>
              </a:spcAft>
              <a:buClr>
                <a:schemeClr val="dk1"/>
              </a:buClr>
              <a:buSzPts val="2400"/>
              <a:buChar char="•"/>
            </a:pPr>
            <a:r>
              <a:rPr lang="en-GB" sz="2400"/>
              <a:t>how elements are positioned</a:t>
            </a:r>
            <a:endParaRPr/>
          </a:p>
          <a:p>
            <a:pPr indent="-228600" lvl="0" marL="228600" rtl="0" algn="l">
              <a:lnSpc>
                <a:spcPct val="90000"/>
              </a:lnSpc>
              <a:spcBef>
                <a:spcPts val="1000"/>
              </a:spcBef>
              <a:spcAft>
                <a:spcPts val="0"/>
              </a:spcAft>
              <a:buClr>
                <a:schemeClr val="dk1"/>
              </a:buClr>
              <a:buSzPts val="2400"/>
              <a:buChar char="•"/>
            </a:pPr>
            <a:r>
              <a:rPr lang="en-GB" sz="2400"/>
              <a:t>the spacing between elements.</a:t>
            </a:r>
            <a:endParaRPr/>
          </a:p>
          <a:p>
            <a:pPr indent="0" lvl="0" marL="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1600200" y="815010"/>
            <a:ext cx="9753600" cy="8150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External CSS</a:t>
            </a:r>
            <a:endParaRPr/>
          </a:p>
        </p:txBody>
      </p:sp>
      <p:sp>
        <p:nvSpPr>
          <p:cNvPr id="119" name="Google Shape;119;p19"/>
          <p:cNvSpPr txBox="1"/>
          <p:nvPr>
            <p:ph idx="1" type="body"/>
          </p:nvPr>
        </p:nvSpPr>
        <p:spPr>
          <a:xfrm>
            <a:off x="1600200" y="2143677"/>
            <a:ext cx="9753600" cy="4351338"/>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Clr>
                <a:schemeClr val="dk1"/>
              </a:buClr>
              <a:buSzPts val="2400"/>
              <a:buNone/>
            </a:pPr>
            <a:r>
              <a:rPr lang="en-GB" sz="2400"/>
              <a:t>An </a:t>
            </a:r>
            <a:r>
              <a:rPr b="1" lang="en-GB" sz="2400">
                <a:solidFill>
                  <a:srgbClr val="2197AC"/>
                </a:solidFill>
              </a:rPr>
              <a:t>external style sheet</a:t>
            </a:r>
            <a:r>
              <a:rPr lang="en-GB" sz="2400">
                <a:solidFill>
                  <a:srgbClr val="2197AC"/>
                </a:solidFill>
              </a:rPr>
              <a:t> </a:t>
            </a:r>
            <a:r>
              <a:rPr lang="en-GB" sz="2400"/>
              <a:t>is a single document, saved with a .css extension, that sets out the styling to be used for all the main elements on every page of a website.</a:t>
            </a:r>
            <a:endParaRPr/>
          </a:p>
          <a:p>
            <a:pPr indent="0" lvl="0" marL="0" rtl="0" algn="l">
              <a:lnSpc>
                <a:spcPct val="114000"/>
              </a:lnSpc>
              <a:spcBef>
                <a:spcPts val="1200"/>
              </a:spcBef>
              <a:spcAft>
                <a:spcPts val="0"/>
              </a:spcAft>
              <a:buClr>
                <a:schemeClr val="dk1"/>
              </a:buClr>
              <a:buSzPts val="2400"/>
              <a:buNone/>
            </a:pPr>
            <a:r>
              <a:rPr lang="en-GB" sz="2400"/>
              <a:t>Each HTML page includes a link to the external style sheet that it needs to use. For example:</a:t>
            </a:r>
            <a:endParaRPr/>
          </a:p>
          <a:p>
            <a:pPr indent="0" lvl="0" marL="0" rtl="0" algn="l">
              <a:lnSpc>
                <a:spcPct val="114000"/>
              </a:lnSpc>
              <a:spcBef>
                <a:spcPts val="1200"/>
              </a:spcBef>
              <a:spcAft>
                <a:spcPts val="0"/>
              </a:spcAft>
              <a:buClr>
                <a:schemeClr val="dk1"/>
              </a:buClr>
              <a:buSzPts val="2400"/>
              <a:buNone/>
            </a:pPr>
            <a:r>
              <a:rPr lang="en-GB" sz="2400">
                <a:latin typeface="Courier"/>
                <a:ea typeface="Courier"/>
                <a:cs typeface="Courier"/>
                <a:sym typeface="Courier"/>
              </a:rPr>
              <a:t>&lt;link rel="stylesheet" href="styles.css"&gt;</a:t>
            </a:r>
            <a:endParaRPr/>
          </a:p>
          <a:p>
            <a:pPr indent="0" lvl="0" marL="0" rtl="0" algn="l">
              <a:lnSpc>
                <a:spcPct val="114000"/>
              </a:lnSpc>
              <a:spcBef>
                <a:spcPts val="1200"/>
              </a:spcBef>
              <a:spcAft>
                <a:spcPts val="0"/>
              </a:spcAft>
              <a:buClr>
                <a:schemeClr val="dk1"/>
              </a:buClr>
              <a:buSzPts val="2400"/>
              <a:buNone/>
            </a:pPr>
            <a:r>
              <a:rPr lang="en-GB" sz="2400"/>
              <a:t>External style sheets allow you to change the styling of an entire website by editing just one file.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1570382" y="824948"/>
            <a:ext cx="9783417" cy="8249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The syntax for CSS rules </a:t>
            </a:r>
            <a:endParaRPr/>
          </a:p>
        </p:txBody>
      </p:sp>
      <p:sp>
        <p:nvSpPr>
          <p:cNvPr id="125" name="Google Shape;125;p20"/>
          <p:cNvSpPr/>
          <p:nvPr/>
        </p:nvSpPr>
        <p:spPr>
          <a:xfrm>
            <a:off x="1570382" y="1984874"/>
            <a:ext cx="9783416" cy="23083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rPr b="0" i="0" lang="en-GB" sz="1800" u="none" cap="none" strike="noStrike">
                <a:solidFill>
                  <a:schemeClr val="dk1"/>
                </a:solidFill>
                <a:latin typeface="Calibri"/>
                <a:ea typeface="Calibri"/>
                <a:cs typeface="Calibri"/>
                <a:sym typeface="Calibri"/>
              </a:rPr>
              <a:t>A CSS style rule consists of a</a:t>
            </a:r>
            <a:r>
              <a:rPr b="0" i="0" lang="en-GB" sz="1800" u="none" cap="none" strike="noStrike">
                <a:solidFill>
                  <a:srgbClr val="2197AC"/>
                </a:solidFill>
                <a:latin typeface="Calibri"/>
                <a:ea typeface="Calibri"/>
                <a:cs typeface="Calibri"/>
                <a:sym typeface="Calibri"/>
              </a:rPr>
              <a:t> </a:t>
            </a:r>
            <a:r>
              <a:rPr b="1" i="0" lang="en-GB" sz="1800" u="none" cap="none" strike="noStrike">
                <a:solidFill>
                  <a:srgbClr val="2197AC"/>
                </a:solidFill>
                <a:latin typeface="Calibri"/>
                <a:ea typeface="Calibri"/>
                <a:cs typeface="Calibri"/>
                <a:sym typeface="Calibri"/>
              </a:rPr>
              <a:t>selector</a:t>
            </a:r>
            <a:r>
              <a:rPr b="0" i="0" lang="en-GB" sz="1800" u="none" cap="none" strike="noStrike">
                <a:solidFill>
                  <a:srgbClr val="2197AC"/>
                </a:solidFill>
                <a:latin typeface="Calibri"/>
                <a:ea typeface="Calibri"/>
                <a:cs typeface="Calibri"/>
                <a:sym typeface="Calibri"/>
              </a:rPr>
              <a:t> </a:t>
            </a:r>
            <a:r>
              <a:rPr b="0" i="0" lang="en-GB" sz="1800" u="none" cap="none" strike="noStrike">
                <a:solidFill>
                  <a:schemeClr val="dk1"/>
                </a:solidFill>
                <a:latin typeface="Calibri"/>
                <a:ea typeface="Calibri"/>
                <a:cs typeface="Calibri"/>
                <a:sym typeface="Calibri"/>
              </a:rPr>
              <a:t>and a </a:t>
            </a:r>
            <a:r>
              <a:rPr b="1" i="0" lang="en-GB" sz="1800" u="none" cap="none" strike="noStrike">
                <a:solidFill>
                  <a:srgbClr val="2197AC"/>
                </a:solidFill>
                <a:latin typeface="Calibri"/>
                <a:ea typeface="Calibri"/>
                <a:cs typeface="Calibri"/>
                <a:sym typeface="Calibri"/>
              </a:rPr>
              <a:t>declaration</a:t>
            </a:r>
            <a:r>
              <a:rPr b="1" i="0" lang="en-GB" sz="1800" u="none" cap="none" strike="noStrike">
                <a:solidFill>
                  <a:schemeClr val="dk1"/>
                </a:solidFill>
                <a:latin typeface="Calibri"/>
                <a:ea typeface="Calibri"/>
                <a:cs typeface="Calibri"/>
                <a:sym typeface="Calibri"/>
              </a:rPr>
              <a:t> </a:t>
            </a:r>
            <a:r>
              <a:rPr b="0" i="0" lang="en-GB" sz="1800" u="none" cap="none" strike="noStrike">
                <a:solidFill>
                  <a:schemeClr val="dk1"/>
                </a:solidFill>
                <a:latin typeface="Calibri"/>
                <a:ea typeface="Calibri"/>
                <a:cs typeface="Calibri"/>
                <a:sym typeface="Calibri"/>
              </a:rPr>
              <a:t>block.</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Calibri"/>
              <a:buNone/>
            </a:pPr>
            <a:r>
              <a:rPr b="0" i="0" lang="en-GB" sz="1800" u="none" cap="none" strike="noStrike">
                <a:solidFill>
                  <a:schemeClr val="dk1"/>
                </a:solidFill>
                <a:latin typeface="Calibri"/>
                <a:ea typeface="Calibri"/>
                <a:cs typeface="Calibri"/>
                <a:sym typeface="Calibri"/>
              </a:rPr>
              <a:t>The selector indicates which HTML element the styling refers to.</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Calibri"/>
              <a:buNone/>
            </a:pPr>
            <a:r>
              <a:rPr b="0" i="0" lang="en-GB" sz="1800" u="none" cap="none" strike="noStrike">
                <a:solidFill>
                  <a:schemeClr val="dk1"/>
                </a:solidFill>
                <a:latin typeface="Calibri"/>
                <a:ea typeface="Calibri"/>
                <a:cs typeface="Calibri"/>
                <a:sym typeface="Calibri"/>
              </a:rPr>
              <a:t>The declaration includes the CSS </a:t>
            </a:r>
            <a:r>
              <a:rPr b="1" i="0" lang="en-GB" sz="1800" u="none" cap="none" strike="noStrike">
                <a:solidFill>
                  <a:srgbClr val="2197AC"/>
                </a:solidFill>
                <a:latin typeface="Calibri"/>
                <a:ea typeface="Calibri"/>
                <a:cs typeface="Calibri"/>
                <a:sym typeface="Calibri"/>
              </a:rPr>
              <a:t>property name</a:t>
            </a:r>
            <a:r>
              <a:rPr b="0" i="0" lang="en-GB" sz="1800" u="none" cap="none" strike="noStrike">
                <a:solidFill>
                  <a:srgbClr val="2197AC"/>
                </a:solidFill>
                <a:latin typeface="Calibri"/>
                <a:ea typeface="Calibri"/>
                <a:cs typeface="Calibri"/>
                <a:sym typeface="Calibri"/>
              </a:rPr>
              <a:t> </a:t>
            </a:r>
            <a:r>
              <a:rPr b="0" i="0" lang="en-GB" sz="1800" u="none" cap="none" strike="noStrike">
                <a:solidFill>
                  <a:schemeClr val="dk1"/>
                </a:solidFill>
                <a:latin typeface="Calibri"/>
                <a:ea typeface="Calibri"/>
                <a:cs typeface="Calibri"/>
                <a:sym typeface="Calibri"/>
              </a:rPr>
              <a:t>and a</a:t>
            </a:r>
            <a:r>
              <a:rPr b="0" i="0" lang="en-GB" sz="1800" u="none" cap="none" strike="noStrike">
                <a:solidFill>
                  <a:srgbClr val="2197AC"/>
                </a:solidFill>
                <a:latin typeface="Calibri"/>
                <a:ea typeface="Calibri"/>
                <a:cs typeface="Calibri"/>
                <a:sym typeface="Calibri"/>
              </a:rPr>
              <a:t> </a:t>
            </a:r>
            <a:r>
              <a:rPr b="1" i="0" lang="en-GB" sz="1800" u="none" cap="none" strike="noStrike">
                <a:solidFill>
                  <a:srgbClr val="2197AC"/>
                </a:solidFill>
                <a:latin typeface="Calibri"/>
                <a:ea typeface="Calibri"/>
                <a:cs typeface="Calibri"/>
                <a:sym typeface="Calibri"/>
              </a:rPr>
              <a:t>value</a:t>
            </a:r>
            <a:r>
              <a:rPr b="0" i="0" lang="en-GB" sz="1800" u="none" cap="none" strike="noStrike">
                <a:solidFill>
                  <a:schemeClr val="dk1"/>
                </a:solidFill>
                <a:latin typeface="Calibri"/>
                <a:ea typeface="Calibri"/>
                <a:cs typeface="Calibri"/>
                <a:sym typeface="Calibri"/>
              </a:rPr>
              <a:t>, separated by a colon.</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Calibri"/>
              <a:buNone/>
            </a:pPr>
            <a:r>
              <a:rPr b="0" i="0" lang="en-GB" sz="1800" u="none" cap="none" strike="noStrike">
                <a:solidFill>
                  <a:schemeClr val="dk1"/>
                </a:solidFill>
                <a:latin typeface="Calibri"/>
                <a:ea typeface="Calibri"/>
                <a:cs typeface="Calibri"/>
                <a:sym typeface="Calibri"/>
              </a:rPr>
              <a:t>It is possible to have more than one declaration in a block, in which case each declaration is separated using a semicolon. It is usual to put each declaration on a separate line so that it is easy to see which properties have been styled.</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Calibri"/>
              <a:buNone/>
            </a:pPr>
            <a:r>
              <a:rPr b="0" i="0" lang="en-GB" sz="1800" u="none" cap="none" strike="noStrike">
                <a:solidFill>
                  <a:schemeClr val="dk1"/>
                </a:solidFill>
                <a:latin typeface="Calibri"/>
                <a:ea typeface="Calibri"/>
                <a:cs typeface="Calibri"/>
                <a:sym typeface="Calibri"/>
              </a:rPr>
              <a:t>The declaration block is surrounded by curly brackets.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pic>
        <p:nvPicPr>
          <p:cNvPr id="126" name="Google Shape;126;p20"/>
          <p:cNvPicPr preferRelativeResize="0"/>
          <p:nvPr/>
        </p:nvPicPr>
        <p:blipFill rotWithShape="1">
          <a:blip r:embed="rId3">
            <a:alphaModFix/>
          </a:blip>
          <a:srcRect b="0" l="0" r="0" t="0"/>
          <a:stretch/>
        </p:blipFill>
        <p:spPr>
          <a:xfrm>
            <a:off x="3859127" y="4293198"/>
            <a:ext cx="4473745" cy="20898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1610139" y="761642"/>
            <a:ext cx="9743661" cy="87831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Changing the styling </a:t>
            </a:r>
            <a:endParaRPr/>
          </a:p>
        </p:txBody>
      </p:sp>
      <p:sp>
        <p:nvSpPr>
          <p:cNvPr id="132" name="Google Shape;132;p21"/>
          <p:cNvSpPr txBox="1"/>
          <p:nvPr>
            <p:ph idx="1" type="body"/>
          </p:nvPr>
        </p:nvSpPr>
        <p:spPr>
          <a:xfrm>
            <a:off x="1610139" y="1835564"/>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GB" sz="2400"/>
              <a:t>This shows a style sheet with styling for several different aspects of a web page:</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id="133" name="Google Shape;133;p21"/>
          <p:cNvPicPr preferRelativeResize="0"/>
          <p:nvPr/>
        </p:nvPicPr>
        <p:blipFill rotWithShape="1">
          <a:blip r:embed="rId3">
            <a:alphaModFix/>
          </a:blip>
          <a:srcRect b="0" l="0" r="0" t="0"/>
          <a:stretch/>
        </p:blipFill>
        <p:spPr>
          <a:xfrm>
            <a:off x="4049221" y="2510195"/>
            <a:ext cx="3544653" cy="2440628"/>
          </a:xfrm>
          <a:prstGeom prst="rect">
            <a:avLst/>
          </a:prstGeom>
          <a:noFill/>
          <a:ln>
            <a:noFill/>
          </a:ln>
        </p:spPr>
      </p:pic>
      <p:sp>
        <p:nvSpPr>
          <p:cNvPr id="134" name="Google Shape;134;p21"/>
          <p:cNvSpPr/>
          <p:nvPr/>
        </p:nvSpPr>
        <p:spPr>
          <a:xfrm>
            <a:off x="1610138" y="4950823"/>
            <a:ext cx="8971723"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Any styling added to the </a:t>
            </a:r>
            <a:r>
              <a:rPr lang="en-GB" sz="2400">
                <a:solidFill>
                  <a:schemeClr val="dk1"/>
                </a:solidFill>
                <a:latin typeface="Courier"/>
                <a:ea typeface="Courier"/>
                <a:cs typeface="Courier"/>
                <a:sym typeface="Courier"/>
              </a:rPr>
              <a:t>body</a:t>
            </a:r>
            <a:r>
              <a:rPr lang="en-GB" sz="2400">
                <a:solidFill>
                  <a:schemeClr val="dk1"/>
                </a:solidFill>
                <a:latin typeface="Calibri"/>
                <a:ea typeface="Calibri"/>
                <a:cs typeface="Calibri"/>
                <a:sym typeface="Calibri"/>
              </a:rPr>
              <a:t> selector will be applied to the whole web page.</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The main heading is defined using the </a:t>
            </a:r>
            <a:r>
              <a:rPr lang="en-GB" sz="2400">
                <a:solidFill>
                  <a:schemeClr val="dk1"/>
                </a:solidFill>
                <a:latin typeface="Courier"/>
                <a:ea typeface="Courier"/>
                <a:cs typeface="Courier"/>
                <a:sym typeface="Courier"/>
              </a:rPr>
              <a:t>h1</a:t>
            </a:r>
            <a:r>
              <a:rPr lang="en-GB" sz="2400">
                <a:solidFill>
                  <a:schemeClr val="dk1"/>
                </a:solidFill>
                <a:latin typeface="Calibri"/>
                <a:ea typeface="Calibri"/>
                <a:cs typeface="Calibri"/>
                <a:sym typeface="Calibri"/>
              </a:rPr>
              <a:t> selector, and paragraphs are defined using the </a:t>
            </a:r>
            <a:r>
              <a:rPr lang="en-GB" sz="2400">
                <a:solidFill>
                  <a:schemeClr val="dk1"/>
                </a:solidFill>
                <a:latin typeface="Courier"/>
                <a:ea typeface="Courier"/>
                <a:cs typeface="Courier"/>
                <a:sym typeface="Courier"/>
              </a:rPr>
              <a:t>p</a:t>
            </a:r>
            <a:r>
              <a:rPr lang="en-GB" sz="2400">
                <a:solidFill>
                  <a:schemeClr val="dk1"/>
                </a:solidFill>
                <a:latin typeface="Calibri"/>
                <a:ea typeface="Calibri"/>
                <a:cs typeface="Calibri"/>
                <a:sym typeface="Calibri"/>
              </a:rPr>
              <a:t> selector.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1590261" y="834887"/>
            <a:ext cx="9763539" cy="806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CSS property names </a:t>
            </a:r>
            <a:endParaRPr/>
          </a:p>
        </p:txBody>
      </p:sp>
      <p:sp>
        <p:nvSpPr>
          <p:cNvPr id="140" name="Google Shape;140;p22"/>
          <p:cNvSpPr txBox="1"/>
          <p:nvPr>
            <p:ph idx="1" type="body"/>
          </p:nvPr>
        </p:nvSpPr>
        <p:spPr>
          <a:xfrm>
            <a:off x="1590261" y="2183433"/>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1" lang="en-GB" sz="2400"/>
              <a:t>Text colour</a:t>
            </a:r>
            <a:endParaRPr sz="2400"/>
          </a:p>
          <a:p>
            <a:pPr indent="0" lvl="0" marL="0" rtl="0" algn="l">
              <a:lnSpc>
                <a:spcPct val="90000"/>
              </a:lnSpc>
              <a:spcBef>
                <a:spcPts val="1000"/>
              </a:spcBef>
              <a:spcAft>
                <a:spcPts val="0"/>
              </a:spcAft>
              <a:buClr>
                <a:schemeClr val="dk1"/>
              </a:buClr>
              <a:buSzPts val="2400"/>
              <a:buNone/>
            </a:pPr>
            <a:r>
              <a:rPr lang="en-GB" sz="2400"/>
              <a:t>To set the colour of the text we use the property </a:t>
            </a:r>
            <a:r>
              <a:rPr lang="en-GB" sz="2400">
                <a:latin typeface="Courier"/>
                <a:ea typeface="Courier"/>
                <a:cs typeface="Courier"/>
                <a:sym typeface="Courier"/>
              </a:rPr>
              <a:t>color</a:t>
            </a:r>
            <a:r>
              <a:rPr lang="en-GB" sz="2400"/>
              <a:t>. </a:t>
            </a:r>
            <a:endParaRPr/>
          </a:p>
          <a:p>
            <a:pPr indent="0" lvl="0" marL="0" rtl="0" algn="l">
              <a:lnSpc>
                <a:spcPct val="90000"/>
              </a:lnSpc>
              <a:spcBef>
                <a:spcPts val="1000"/>
              </a:spcBef>
              <a:spcAft>
                <a:spcPts val="0"/>
              </a:spcAft>
              <a:buClr>
                <a:schemeClr val="dk1"/>
              </a:buClr>
              <a:buSzPts val="2400"/>
              <a:buNone/>
            </a:pPr>
            <a:r>
              <a:rPr lang="en-GB" sz="2400"/>
              <a:t>Note that the American spelling is required.</a:t>
            </a:r>
            <a:endParaRPr/>
          </a:p>
          <a:p>
            <a:pPr indent="0" lvl="0" marL="0" rtl="0" algn="l">
              <a:lnSpc>
                <a:spcPct val="90000"/>
              </a:lnSpc>
              <a:spcBef>
                <a:spcPts val="1000"/>
              </a:spcBef>
              <a:spcAft>
                <a:spcPts val="0"/>
              </a:spcAft>
              <a:buClr>
                <a:schemeClr val="dk1"/>
              </a:buClr>
              <a:buSzPts val="2400"/>
              <a:buNone/>
            </a:pPr>
            <a:r>
              <a:rPr lang="en-GB" sz="2400"/>
              <a:t>The easiest way to specify a colour is to use its colour name. There are 140 standard colour names and a full list can be found online.</a:t>
            </a:r>
            <a:endParaRPr/>
          </a:p>
          <a:p>
            <a:pPr indent="0" lvl="0" marL="0" rtl="0" algn="l">
              <a:lnSpc>
                <a:spcPct val="90000"/>
              </a:lnSpc>
              <a:spcBef>
                <a:spcPts val="1000"/>
              </a:spcBef>
              <a:spcAft>
                <a:spcPts val="0"/>
              </a:spcAft>
              <a:buClr>
                <a:schemeClr val="dk1"/>
              </a:buClr>
              <a:buSzPts val="2400"/>
              <a:buNone/>
            </a:pPr>
            <a:r>
              <a:rPr b="1" lang="en-GB" sz="2400"/>
              <a:t>Background colour</a:t>
            </a:r>
            <a:endParaRPr sz="2400"/>
          </a:p>
          <a:p>
            <a:pPr indent="0" lvl="0" marL="0" rtl="0" algn="l">
              <a:lnSpc>
                <a:spcPct val="90000"/>
              </a:lnSpc>
              <a:spcBef>
                <a:spcPts val="1000"/>
              </a:spcBef>
              <a:spcAft>
                <a:spcPts val="0"/>
              </a:spcAft>
              <a:buClr>
                <a:schemeClr val="dk1"/>
              </a:buClr>
              <a:buSzPts val="2400"/>
              <a:buNone/>
            </a:pPr>
            <a:r>
              <a:rPr lang="en-GB" sz="2400"/>
              <a:t>To set the background colour we use the property </a:t>
            </a:r>
            <a:r>
              <a:rPr lang="en-GB" sz="2400">
                <a:latin typeface="Courier"/>
                <a:ea typeface="Courier"/>
                <a:cs typeface="Courier"/>
                <a:sym typeface="Courier"/>
              </a:rPr>
              <a:t>background-color</a:t>
            </a:r>
            <a:r>
              <a:rPr lang="en-GB" sz="2400"/>
              <a:t>.</a:t>
            </a:r>
            <a:endParaRPr/>
          </a:p>
          <a:p>
            <a:pPr indent="0" lvl="0" marL="0" rtl="0" algn="l">
              <a:lnSpc>
                <a:spcPct val="90000"/>
              </a:lnSpc>
              <a:spcBef>
                <a:spcPts val="1000"/>
              </a:spcBef>
              <a:spcAft>
                <a:spcPts val="0"/>
              </a:spcAft>
              <a:buClr>
                <a:schemeClr val="dk1"/>
              </a:buClr>
              <a:buSzPts val="2400"/>
              <a:buNone/>
            </a:pPr>
            <a:r>
              <a:rPr lang="en-GB" sz="2400"/>
              <a:t>Again, the colour name can be used for the value.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1590261" y="834887"/>
            <a:ext cx="9763539" cy="806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CSS property names </a:t>
            </a:r>
            <a:endParaRPr/>
          </a:p>
        </p:txBody>
      </p:sp>
      <p:sp>
        <p:nvSpPr>
          <p:cNvPr id="146" name="Google Shape;146;p23"/>
          <p:cNvSpPr txBox="1"/>
          <p:nvPr>
            <p:ph idx="1" type="body"/>
          </p:nvPr>
        </p:nvSpPr>
        <p:spPr>
          <a:xfrm>
            <a:off x="1590261" y="2103920"/>
            <a:ext cx="856753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400"/>
              <a:buNone/>
            </a:pPr>
            <a:r>
              <a:rPr b="1" lang="en-GB" sz="2400"/>
              <a:t>Font</a:t>
            </a:r>
            <a:endParaRPr/>
          </a:p>
          <a:p>
            <a:pPr indent="0" lvl="0" marL="0" rtl="0" algn="l">
              <a:lnSpc>
                <a:spcPct val="90000"/>
              </a:lnSpc>
              <a:spcBef>
                <a:spcPts val="1000"/>
              </a:spcBef>
              <a:spcAft>
                <a:spcPts val="0"/>
              </a:spcAft>
              <a:buClr>
                <a:schemeClr val="dk1"/>
              </a:buClr>
              <a:buSzPts val="2400"/>
              <a:buNone/>
            </a:pPr>
            <a:r>
              <a:rPr lang="en-GB" sz="2400"/>
              <a:t>To set the font we use the property </a:t>
            </a:r>
            <a:r>
              <a:rPr lang="en-GB" sz="2400">
                <a:latin typeface="Courier"/>
                <a:ea typeface="Courier"/>
                <a:cs typeface="Courier"/>
                <a:sym typeface="Courier"/>
              </a:rPr>
              <a:t>font-family</a:t>
            </a:r>
            <a:r>
              <a:rPr lang="en-GB" sz="2400"/>
              <a:t>.</a:t>
            </a:r>
            <a:endParaRPr/>
          </a:p>
          <a:p>
            <a:pPr indent="0" lvl="0" marL="0" rtl="0" algn="l">
              <a:lnSpc>
                <a:spcPct val="90000"/>
              </a:lnSpc>
              <a:spcBef>
                <a:spcPts val="1000"/>
              </a:spcBef>
              <a:spcAft>
                <a:spcPts val="0"/>
              </a:spcAft>
              <a:buClr>
                <a:schemeClr val="dk1"/>
              </a:buClr>
              <a:buSzPts val="2400"/>
              <a:buNone/>
            </a:pPr>
            <a:r>
              <a:rPr lang="en-GB" sz="2400"/>
              <a:t>The value is the name of the font that you want to use, such as Arial or Courier New. If the name of the font family has more than one word then it must be put in quotation marks; for example </a:t>
            </a:r>
            <a:r>
              <a:rPr lang="en-GB" sz="2400">
                <a:latin typeface="Courier"/>
                <a:ea typeface="Courier"/>
                <a:cs typeface="Courier"/>
                <a:sym typeface="Courier"/>
              </a:rPr>
              <a:t>"Times New Roman"</a:t>
            </a:r>
            <a:r>
              <a:rPr lang="en-GB" sz="2400"/>
              <a:t>.</a:t>
            </a:r>
            <a:endParaRPr/>
          </a:p>
          <a:p>
            <a:pPr indent="0" lvl="0" marL="0" rtl="0" algn="l">
              <a:lnSpc>
                <a:spcPct val="90000"/>
              </a:lnSpc>
              <a:spcBef>
                <a:spcPts val="1000"/>
              </a:spcBef>
              <a:spcAft>
                <a:spcPts val="0"/>
              </a:spcAft>
              <a:buClr>
                <a:schemeClr val="dk1"/>
              </a:buClr>
              <a:buSzPts val="2400"/>
              <a:buNone/>
            </a:pPr>
            <a:r>
              <a:rPr b="1" lang="en-GB" sz="2400"/>
              <a:t>Font size</a:t>
            </a:r>
            <a:endParaRPr/>
          </a:p>
          <a:p>
            <a:pPr indent="0" lvl="0" marL="0" rtl="0" algn="l">
              <a:lnSpc>
                <a:spcPct val="90000"/>
              </a:lnSpc>
              <a:spcBef>
                <a:spcPts val="1000"/>
              </a:spcBef>
              <a:spcAft>
                <a:spcPts val="0"/>
              </a:spcAft>
              <a:buClr>
                <a:schemeClr val="dk1"/>
              </a:buClr>
              <a:buSzPts val="2400"/>
              <a:buNone/>
            </a:pPr>
            <a:r>
              <a:rPr lang="en-GB" sz="2400"/>
              <a:t>HTML tags have pre-defined font sizes for six heading levels (</a:t>
            </a:r>
            <a:r>
              <a:rPr lang="en-GB" sz="2400">
                <a:latin typeface="Courier"/>
                <a:ea typeface="Courier"/>
                <a:cs typeface="Courier"/>
                <a:sym typeface="Courier"/>
              </a:rPr>
              <a:t>h1</a:t>
            </a:r>
            <a:r>
              <a:rPr lang="en-GB" sz="2400"/>
              <a:t> to </a:t>
            </a:r>
            <a:r>
              <a:rPr lang="en-GB" sz="2400">
                <a:latin typeface="Courier"/>
                <a:ea typeface="Courier"/>
                <a:cs typeface="Courier"/>
                <a:sym typeface="Courier"/>
              </a:rPr>
              <a:t>h6</a:t>
            </a:r>
            <a:r>
              <a:rPr lang="en-GB" sz="2400"/>
              <a:t>) and for the normal text in paragraphs.</a:t>
            </a:r>
            <a:endParaRPr/>
          </a:p>
          <a:p>
            <a:pPr indent="0" lvl="0" marL="0" rtl="0" algn="l">
              <a:lnSpc>
                <a:spcPct val="90000"/>
              </a:lnSpc>
              <a:spcBef>
                <a:spcPts val="1000"/>
              </a:spcBef>
              <a:spcAft>
                <a:spcPts val="0"/>
              </a:spcAft>
              <a:buClr>
                <a:schemeClr val="dk1"/>
              </a:buClr>
              <a:buSzPts val="2400"/>
              <a:buNone/>
            </a:pPr>
            <a:r>
              <a:rPr lang="en-GB" sz="2400"/>
              <a:t>To change the size of the font we use the property </a:t>
            </a:r>
            <a:r>
              <a:rPr lang="en-GB" sz="2400">
                <a:latin typeface="Courier"/>
                <a:ea typeface="Courier"/>
                <a:cs typeface="Courier"/>
                <a:sym typeface="Courier"/>
              </a:rPr>
              <a:t>font-size</a:t>
            </a:r>
            <a:r>
              <a:rPr lang="en-GB" sz="2400"/>
              <a:t>. The value is, for example, </a:t>
            </a:r>
            <a:r>
              <a:rPr lang="en-GB" sz="2400">
                <a:latin typeface="Courier"/>
                <a:ea typeface="Courier"/>
                <a:cs typeface="Courier"/>
                <a:sym typeface="Courier"/>
              </a:rPr>
              <a:t>16px</a:t>
            </a:r>
            <a:r>
              <a:rPr lang="en-GB" sz="2400"/>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1590261" y="834887"/>
            <a:ext cx="9763539" cy="806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Editing and viewing web pages </a:t>
            </a:r>
            <a:endParaRPr/>
          </a:p>
        </p:txBody>
      </p:sp>
      <p:sp>
        <p:nvSpPr>
          <p:cNvPr id="152" name="Google Shape;152;p24"/>
          <p:cNvSpPr txBox="1"/>
          <p:nvPr>
            <p:ph idx="1" type="body"/>
          </p:nvPr>
        </p:nvSpPr>
        <p:spPr>
          <a:xfrm>
            <a:off x="1590260" y="2103920"/>
            <a:ext cx="9014791"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GB" sz="2400"/>
              <a:t>All the HTML files, the CSS file and any images for a website that you are creating need to be saved to the same folder on your computer.</a:t>
            </a:r>
            <a:endParaRPr/>
          </a:p>
          <a:p>
            <a:pPr indent="0" lvl="0" marL="0" rtl="0" algn="l">
              <a:lnSpc>
                <a:spcPct val="90000"/>
              </a:lnSpc>
              <a:spcBef>
                <a:spcPts val="1000"/>
              </a:spcBef>
              <a:spcAft>
                <a:spcPts val="0"/>
              </a:spcAft>
              <a:buClr>
                <a:schemeClr val="dk1"/>
              </a:buClr>
              <a:buSzPts val="2400"/>
              <a:buNone/>
            </a:pPr>
            <a:r>
              <a:rPr lang="en-GB" sz="2400"/>
              <a:t>To edit these files, you will need to use a text editor. Open the editor and then click on 'File', 'Open' to select the file you wish to edit.</a:t>
            </a:r>
            <a:endParaRPr/>
          </a:p>
          <a:p>
            <a:pPr indent="0" lvl="0" marL="0" rtl="0" algn="l">
              <a:lnSpc>
                <a:spcPct val="90000"/>
              </a:lnSpc>
              <a:spcBef>
                <a:spcPts val="1000"/>
              </a:spcBef>
              <a:spcAft>
                <a:spcPts val="0"/>
              </a:spcAft>
              <a:buClr>
                <a:schemeClr val="dk1"/>
              </a:buClr>
              <a:buSzPts val="2400"/>
              <a:buNone/>
            </a:pPr>
            <a:r>
              <a:rPr lang="en-GB" sz="2400"/>
              <a:t>To view the web page, double click on the HTML file, or right-click on it and choose 'Open with' and select your browser.</a:t>
            </a:r>
            <a:endParaRPr/>
          </a:p>
        </p:txBody>
      </p:sp>
      <p:sp>
        <p:nvSpPr>
          <p:cNvPr id="153" name="Google Shape;153;p24"/>
          <p:cNvSpPr/>
          <p:nvPr/>
        </p:nvSpPr>
        <p:spPr>
          <a:xfrm>
            <a:off x="8246568" y="5202343"/>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1.1 </a:t>
            </a:r>
            <a:endParaRPr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Effect filter="fade" transition="in">
                                      <p:cBhvr>
                                        <p:cTn dur="500"/>
                                        <p:tgtEl>
                                          <p:spTgt spid="15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1.1: Styling using CSS </a:t>
            </a:r>
            <a:endParaRPr/>
          </a:p>
        </p:txBody>
      </p:sp>
      <p:pic>
        <p:nvPicPr>
          <p:cNvPr descr="A picture containing athletic game, basketball, sport&#10;&#10;Description automatically generated" id="159" name="Google Shape;159;p25"/>
          <p:cNvPicPr preferRelativeResize="0"/>
          <p:nvPr/>
        </p:nvPicPr>
        <p:blipFill rotWithShape="1">
          <a:blip r:embed="rId3">
            <a:alphaModFix/>
          </a:blip>
          <a:srcRect b="0" l="0" r="0" t="0"/>
          <a:stretch/>
        </p:blipFill>
        <p:spPr>
          <a:xfrm>
            <a:off x="3851364" y="1947016"/>
            <a:ext cx="4489272" cy="439853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1580322" y="824948"/>
            <a:ext cx="9773478"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CSS classes </a:t>
            </a:r>
            <a:endParaRPr/>
          </a:p>
        </p:txBody>
      </p:sp>
      <p:sp>
        <p:nvSpPr>
          <p:cNvPr id="165" name="Google Shape;165;p26"/>
          <p:cNvSpPr txBox="1"/>
          <p:nvPr>
            <p:ph idx="1" type="body"/>
          </p:nvPr>
        </p:nvSpPr>
        <p:spPr>
          <a:xfrm>
            <a:off x="1580322" y="1825625"/>
            <a:ext cx="9773478"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GB" sz="2400"/>
              <a:t>So far, we have applied the same styling to all elements on a web page that share the same tag. For example, all of the paragraphs defined by </a:t>
            </a:r>
            <a:r>
              <a:rPr lang="en-GB" sz="2400">
                <a:latin typeface="Courier"/>
                <a:ea typeface="Courier"/>
                <a:cs typeface="Courier"/>
                <a:sym typeface="Courier"/>
              </a:rPr>
              <a:t>&lt;p&gt;</a:t>
            </a:r>
            <a:r>
              <a:rPr lang="en-GB" sz="2400"/>
              <a:t> have had the same styling.</a:t>
            </a:r>
            <a:endParaRPr/>
          </a:p>
          <a:p>
            <a:pPr indent="0" lvl="0" marL="0" rtl="0" algn="l">
              <a:lnSpc>
                <a:spcPct val="90000"/>
              </a:lnSpc>
              <a:spcBef>
                <a:spcPts val="1000"/>
              </a:spcBef>
              <a:spcAft>
                <a:spcPts val="0"/>
              </a:spcAft>
              <a:buClr>
                <a:schemeClr val="dk1"/>
              </a:buClr>
              <a:buSzPts val="2400"/>
              <a:buNone/>
            </a:pPr>
            <a:r>
              <a:rPr lang="en-GB" sz="2400"/>
              <a:t>However, it is possible to apply different styling to specific HTML elements using the </a:t>
            </a:r>
            <a:r>
              <a:rPr b="1" lang="en-GB" sz="2400">
                <a:solidFill>
                  <a:srgbClr val="2197AC"/>
                </a:solidFill>
              </a:rPr>
              <a:t>CSS class </a:t>
            </a:r>
            <a:r>
              <a:rPr lang="en-GB" sz="2400"/>
              <a:t>selector.</a:t>
            </a:r>
            <a:endParaRPr/>
          </a:p>
          <a:p>
            <a:pPr indent="0" lvl="0" marL="0" rtl="0" algn="l">
              <a:lnSpc>
                <a:spcPct val="90000"/>
              </a:lnSpc>
              <a:spcBef>
                <a:spcPts val="1000"/>
              </a:spcBef>
              <a:spcAft>
                <a:spcPts val="0"/>
              </a:spcAft>
              <a:buClr>
                <a:schemeClr val="dk1"/>
              </a:buClr>
              <a:buSzPts val="2400"/>
              <a:buNone/>
            </a:pPr>
            <a:r>
              <a:rPr lang="en-GB" sz="2400"/>
              <a:t>The styling is defined in the style sheet with a full stop followed by your chosen class name. </a:t>
            </a:r>
            <a:endParaRPr/>
          </a:p>
          <a:p>
            <a:pPr indent="0" lvl="0" marL="0" rtl="0" algn="l">
              <a:lnSpc>
                <a:spcPct val="90000"/>
              </a:lnSpc>
              <a:spcBef>
                <a:spcPts val="1000"/>
              </a:spcBef>
              <a:spcAft>
                <a:spcPts val="0"/>
              </a:spcAft>
              <a:buClr>
                <a:schemeClr val="dk1"/>
              </a:buClr>
              <a:buSzPts val="2400"/>
              <a:buNone/>
            </a:pPr>
            <a:r>
              <a:rPr lang="en-GB" sz="2400"/>
              <a:t>For example:</a:t>
            </a:r>
            <a:endParaRPr/>
          </a:p>
          <a:p>
            <a:pPr indent="0" lvl="0" marL="0" rtl="0" algn="l">
              <a:lnSpc>
                <a:spcPct val="90000"/>
              </a:lnSpc>
              <a:spcBef>
                <a:spcPts val="1000"/>
              </a:spcBef>
              <a:spcAft>
                <a:spcPts val="0"/>
              </a:spcAft>
              <a:buClr>
                <a:schemeClr val="dk1"/>
              </a:buClr>
              <a:buSzPts val="2800"/>
              <a:buNone/>
            </a:pPr>
            <a:r>
              <a:t/>
            </a:r>
            <a:endParaRPr/>
          </a:p>
        </p:txBody>
      </p:sp>
      <p:pic>
        <p:nvPicPr>
          <p:cNvPr id="166" name="Google Shape;166;p26"/>
          <p:cNvPicPr preferRelativeResize="0"/>
          <p:nvPr/>
        </p:nvPicPr>
        <p:blipFill rotWithShape="1">
          <a:blip r:embed="rId3">
            <a:alphaModFix/>
          </a:blip>
          <a:srcRect b="0" l="0" r="0" t="0"/>
          <a:stretch/>
        </p:blipFill>
        <p:spPr>
          <a:xfrm>
            <a:off x="3095017" y="5094515"/>
            <a:ext cx="2609097" cy="1200329"/>
          </a:xfrm>
          <a:prstGeom prst="rect">
            <a:avLst/>
          </a:prstGeom>
          <a:noFill/>
          <a:ln>
            <a:noFill/>
          </a:ln>
        </p:spPr>
      </p:pic>
      <p:sp>
        <p:nvSpPr>
          <p:cNvPr id="167" name="Google Shape;167;p26"/>
          <p:cNvSpPr/>
          <p:nvPr/>
        </p:nvSpPr>
        <p:spPr>
          <a:xfrm>
            <a:off x="5824330" y="4976634"/>
            <a:ext cx="5529470"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This will change the text colour of all elements that have been assigned the class </a:t>
            </a:r>
            <a:r>
              <a:rPr lang="en-GB" sz="2400">
                <a:solidFill>
                  <a:schemeClr val="dk1"/>
                </a:solidFill>
                <a:latin typeface="Courier"/>
                <a:ea typeface="Courier"/>
                <a:cs typeface="Courier"/>
                <a:sym typeface="Courier"/>
              </a:rPr>
              <a:t>black-text</a:t>
            </a:r>
            <a:r>
              <a:rPr lang="en-GB" sz="2400">
                <a:solidFill>
                  <a:schemeClr val="dk1"/>
                </a:solidFill>
                <a:latin typeface="Calibri"/>
                <a:ea typeface="Calibri"/>
                <a:cs typeface="Calibri"/>
                <a:sym typeface="Calibri"/>
              </a:rPr>
              <a:t> to black.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1580322" y="824948"/>
            <a:ext cx="9773478"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Assigning the class </a:t>
            </a:r>
            <a:endParaRPr/>
          </a:p>
        </p:txBody>
      </p:sp>
      <p:sp>
        <p:nvSpPr>
          <p:cNvPr id="173" name="Google Shape;173;p27"/>
          <p:cNvSpPr txBox="1"/>
          <p:nvPr>
            <p:ph idx="1" type="body"/>
          </p:nvPr>
        </p:nvSpPr>
        <p:spPr>
          <a:xfrm>
            <a:off x="1580322" y="1825625"/>
            <a:ext cx="9773478"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GB" sz="2400"/>
              <a:t>The class is assigned in the HTML document by adding </a:t>
            </a:r>
            <a:r>
              <a:rPr lang="en-GB" sz="2400">
                <a:latin typeface="Courier"/>
                <a:ea typeface="Courier"/>
                <a:cs typeface="Courier"/>
                <a:sym typeface="Courier"/>
              </a:rPr>
              <a:t>class=</a:t>
            </a:r>
            <a:r>
              <a:rPr lang="en-GB" sz="2400"/>
              <a:t> followed by the class name inside quotation marks. For example:</a:t>
            </a:r>
            <a:endParaRPr/>
          </a:p>
          <a:p>
            <a:pPr indent="0" lvl="0" marL="0" rtl="0" algn="l">
              <a:lnSpc>
                <a:spcPct val="90000"/>
              </a:lnSpc>
              <a:spcBef>
                <a:spcPts val="1000"/>
              </a:spcBef>
              <a:spcAft>
                <a:spcPts val="0"/>
              </a:spcAft>
              <a:buClr>
                <a:schemeClr val="dk1"/>
              </a:buClr>
              <a:buSzPts val="2800"/>
              <a:buNone/>
            </a:pPr>
            <a:r>
              <a:t/>
            </a:r>
            <a:endParaRPr/>
          </a:p>
        </p:txBody>
      </p:sp>
      <p:sp>
        <p:nvSpPr>
          <p:cNvPr id="174" name="Google Shape;174;p27"/>
          <p:cNvSpPr/>
          <p:nvPr/>
        </p:nvSpPr>
        <p:spPr>
          <a:xfrm>
            <a:off x="8590721" y="5562574"/>
            <a:ext cx="2763079"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1.2  </a:t>
            </a:r>
            <a:endParaRPr/>
          </a:p>
        </p:txBody>
      </p:sp>
      <p:pic>
        <p:nvPicPr>
          <p:cNvPr id="175" name="Google Shape;175;p27"/>
          <p:cNvPicPr preferRelativeResize="0"/>
          <p:nvPr/>
        </p:nvPicPr>
        <p:blipFill rotWithShape="1">
          <a:blip r:embed="rId3">
            <a:alphaModFix/>
          </a:blip>
          <a:srcRect b="0" l="0" r="0" t="0"/>
          <a:stretch/>
        </p:blipFill>
        <p:spPr>
          <a:xfrm>
            <a:off x="3536673" y="2972808"/>
            <a:ext cx="5118653" cy="706837"/>
          </a:xfrm>
          <a:prstGeom prst="rect">
            <a:avLst/>
          </a:prstGeom>
          <a:noFill/>
          <a:ln>
            <a:noFill/>
          </a:ln>
        </p:spPr>
      </p:pic>
      <p:sp>
        <p:nvSpPr>
          <p:cNvPr id="176" name="Google Shape;176;p27"/>
          <p:cNvSpPr/>
          <p:nvPr/>
        </p:nvSpPr>
        <p:spPr>
          <a:xfrm>
            <a:off x="1580322" y="3885192"/>
            <a:ext cx="9375913"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A class can be applied to as many elements in an HTML document as required.</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It is also possible to assign more than one class to an HTML element. This is done by placing additional class names inside the quotation marks separated by spaces.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1.2: Styling using CSS classes</a:t>
            </a:r>
            <a:endParaRPr/>
          </a:p>
        </p:txBody>
      </p:sp>
      <p:pic>
        <p:nvPicPr>
          <p:cNvPr descr="A picture containing athletic game, basketball, sport&#10;&#10;Description automatically generated" id="182" name="Google Shape;182;p28"/>
          <p:cNvPicPr preferRelativeResize="0"/>
          <p:nvPr/>
        </p:nvPicPr>
        <p:blipFill rotWithShape="1">
          <a:blip r:embed="rId3">
            <a:alphaModFix/>
          </a:blip>
          <a:srcRect b="0" l="0" r="0" t="0"/>
          <a:stretch/>
        </p:blipFill>
        <p:spPr>
          <a:xfrm>
            <a:off x="3851364" y="1947016"/>
            <a:ext cx="4489272" cy="439853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1.3: Challenge exercise </a:t>
            </a:r>
            <a:endParaRPr/>
          </a:p>
        </p:txBody>
      </p:sp>
      <p:pic>
        <p:nvPicPr>
          <p:cNvPr descr="A picture containing athletic game, basketball, sport&#10;&#10;Description automatically generated" id="188" name="Google Shape;188;p29"/>
          <p:cNvPicPr preferRelativeResize="0"/>
          <p:nvPr/>
        </p:nvPicPr>
        <p:blipFill rotWithShape="1">
          <a:blip r:embed="rId3">
            <a:alphaModFix/>
          </a:blip>
          <a:srcRect b="0" l="0" r="0" t="0"/>
          <a:stretch/>
        </p:blipFill>
        <p:spPr>
          <a:xfrm>
            <a:off x="3851364" y="1947016"/>
            <a:ext cx="4489272" cy="439853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1 </a:t>
            </a:r>
            <a:endParaRPr/>
          </a:p>
        </p:txBody>
      </p:sp>
      <p:pic>
        <p:nvPicPr>
          <p:cNvPr descr="A picture containing athletic game, basketball, sport&#10;&#10;Description automatically generated" id="194" name="Google Shape;194;p30"/>
          <p:cNvPicPr preferRelativeResize="0"/>
          <p:nvPr/>
        </p:nvPicPr>
        <p:blipFill rotWithShape="1">
          <a:blip r:embed="rId3">
            <a:alphaModFix/>
          </a:blip>
          <a:srcRect b="0" l="0" r="0" t="0"/>
          <a:stretch/>
        </p:blipFill>
        <p:spPr>
          <a:xfrm>
            <a:off x="3851364" y="1947016"/>
            <a:ext cx="4489272" cy="439853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