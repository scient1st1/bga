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 name="Google Shape;116;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0" name="Shape 10"/>
        <p:cNvGrpSpPr/>
        <p:nvPr/>
      </p:nvGrpSpPr>
      <p:grpSpPr>
        <a:xfrm>
          <a:off x="0" y="0"/>
          <a:ext cx="0" cy="0"/>
          <a:chOff x="0" y="0"/>
          <a:chExt cx="0" cy="0"/>
        </a:xfrm>
      </p:grpSpPr>
      <p:sp>
        <p:nvSpPr>
          <p:cNvPr id="11" name="Google Shape;11;p2"/>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 name="Google Shape;12;p2"/>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3" name="Shape 13"/>
        <p:cNvGrpSpPr/>
        <p:nvPr/>
      </p:nvGrpSpPr>
      <p:grpSpPr>
        <a:xfrm>
          <a:off x="0" y="0"/>
          <a:ext cx="0" cy="0"/>
          <a:chOff x="0" y="0"/>
          <a:chExt cx="0" cy="0"/>
        </a:xfrm>
      </p:grpSpPr>
      <p:sp>
        <p:nvSpPr>
          <p:cNvPr id="14" name="Google Shape;14;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5" name="Google Shape;15;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16" name="Google Shape;16;p3"/>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7" name="Google Shape;17;p3"/>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8" name="Google Shape;18;p3"/>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9" name="Shape 19"/>
        <p:cNvGrpSpPr/>
        <p:nvPr/>
      </p:nvGrpSpPr>
      <p:grpSpPr>
        <a:xfrm>
          <a:off x="0" y="0"/>
          <a:ext cx="0" cy="0"/>
          <a:chOff x="0" y="0"/>
          <a:chExt cx="0" cy="0"/>
        </a:xfrm>
      </p:grpSpPr>
      <p:sp>
        <p:nvSpPr>
          <p:cNvPr id="20" name="Google Shape;20;p4"/>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1" name="Google Shape;21;p4"/>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888888"/>
              </a:buClr>
              <a:buSzPts val="2400"/>
              <a:buNone/>
              <a:defRPr sz="2400">
                <a:solidFill>
                  <a:srgbClr val="888888"/>
                </a:solidFill>
              </a:defRPr>
            </a:lvl1pPr>
            <a:lvl2pPr indent="-228600" lvl="1" marL="914400" algn="l">
              <a:lnSpc>
                <a:spcPct val="90000"/>
              </a:lnSpc>
              <a:spcBef>
                <a:spcPts val="500"/>
              </a:spcBef>
              <a:spcAft>
                <a:spcPts val="0"/>
              </a:spcAft>
              <a:buClr>
                <a:srgbClr val="888888"/>
              </a:buClr>
              <a:buSzPts val="2000"/>
              <a:buNone/>
              <a:defRPr sz="2000">
                <a:solidFill>
                  <a:srgbClr val="888888"/>
                </a:solidFill>
              </a:defRPr>
            </a:lvl2pPr>
            <a:lvl3pPr indent="-228600" lvl="2" marL="1371600" algn="l">
              <a:lnSpc>
                <a:spcPct val="90000"/>
              </a:lnSpc>
              <a:spcBef>
                <a:spcPts val="500"/>
              </a:spcBef>
              <a:spcAft>
                <a:spcPts val="0"/>
              </a:spcAft>
              <a:buClr>
                <a:srgbClr val="888888"/>
              </a:buClr>
              <a:buSzPts val="1800"/>
              <a:buNone/>
              <a:defRPr sz="1800">
                <a:solidFill>
                  <a:srgbClr val="888888"/>
                </a:solidFill>
              </a:defRPr>
            </a:lvl3pPr>
            <a:lvl4pPr indent="-228600" lvl="3" marL="1828800" algn="l">
              <a:lnSpc>
                <a:spcPct val="90000"/>
              </a:lnSpc>
              <a:spcBef>
                <a:spcPts val="500"/>
              </a:spcBef>
              <a:spcAft>
                <a:spcPts val="0"/>
              </a:spcAft>
              <a:buClr>
                <a:srgbClr val="888888"/>
              </a:buClr>
              <a:buSzPts val="1600"/>
              <a:buNone/>
              <a:defRPr sz="1600">
                <a:solidFill>
                  <a:srgbClr val="888888"/>
                </a:solidFill>
              </a:defRPr>
            </a:lvl4pPr>
            <a:lvl5pPr indent="-228600" lvl="4" marL="2286000" algn="l">
              <a:lnSpc>
                <a:spcPct val="90000"/>
              </a:lnSpc>
              <a:spcBef>
                <a:spcPts val="500"/>
              </a:spcBef>
              <a:spcAft>
                <a:spcPts val="0"/>
              </a:spcAft>
              <a:buClr>
                <a:srgbClr val="888888"/>
              </a:buClr>
              <a:buSzPts val="1600"/>
              <a:buNone/>
              <a:defRPr sz="1600">
                <a:solidFill>
                  <a:srgbClr val="888888"/>
                </a:solidFill>
              </a:defRPr>
            </a:lvl5pPr>
            <a:lvl6pPr indent="-228600" lvl="5" marL="2743200" algn="l">
              <a:lnSpc>
                <a:spcPct val="90000"/>
              </a:lnSpc>
              <a:spcBef>
                <a:spcPts val="500"/>
              </a:spcBef>
              <a:spcAft>
                <a:spcPts val="0"/>
              </a:spcAft>
              <a:buClr>
                <a:srgbClr val="888888"/>
              </a:buClr>
              <a:buSzPts val="1600"/>
              <a:buNone/>
              <a:defRPr sz="1600">
                <a:solidFill>
                  <a:srgbClr val="888888"/>
                </a:solidFill>
              </a:defRPr>
            </a:lvl6pPr>
            <a:lvl7pPr indent="-228600" lvl="6" marL="3200400" algn="l">
              <a:lnSpc>
                <a:spcPct val="90000"/>
              </a:lnSpc>
              <a:spcBef>
                <a:spcPts val="500"/>
              </a:spcBef>
              <a:spcAft>
                <a:spcPts val="0"/>
              </a:spcAft>
              <a:buClr>
                <a:srgbClr val="888888"/>
              </a:buClr>
              <a:buSzPts val="1600"/>
              <a:buNone/>
              <a:defRPr sz="1600">
                <a:solidFill>
                  <a:srgbClr val="888888"/>
                </a:solidFill>
              </a:defRPr>
            </a:lvl7pPr>
            <a:lvl8pPr indent="-228600" lvl="7" marL="3657600" algn="l">
              <a:lnSpc>
                <a:spcPct val="90000"/>
              </a:lnSpc>
              <a:spcBef>
                <a:spcPts val="500"/>
              </a:spcBef>
              <a:spcAft>
                <a:spcPts val="0"/>
              </a:spcAft>
              <a:buClr>
                <a:srgbClr val="888888"/>
              </a:buClr>
              <a:buSzPts val="1600"/>
              <a:buNone/>
              <a:defRPr sz="1600">
                <a:solidFill>
                  <a:srgbClr val="888888"/>
                </a:solidFill>
              </a:defRPr>
            </a:lvl8pPr>
            <a:lvl9pPr indent="-228600" lvl="8" marL="4114800" algn="l">
              <a:lnSpc>
                <a:spcPct val="90000"/>
              </a:lnSpc>
              <a:spcBef>
                <a:spcPts val="500"/>
              </a:spcBef>
              <a:spcAft>
                <a:spcPts val="0"/>
              </a:spcAft>
              <a:buClr>
                <a:srgbClr val="888888"/>
              </a:buClr>
              <a:buSzPts val="1600"/>
              <a:buNone/>
              <a:defRPr sz="1600">
                <a:solidFill>
                  <a:srgbClr val="888888"/>
                </a:solidFill>
              </a:defRPr>
            </a:lvl9pPr>
          </a:lstStyle>
          <a:p/>
        </p:txBody>
      </p:sp>
      <p:sp>
        <p:nvSpPr>
          <p:cNvPr id="22" name="Google Shape;22;p4"/>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3" name="Google Shape;23;p4"/>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24" name="Google Shape;24;p4"/>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25" name="Shape 25"/>
        <p:cNvGrpSpPr/>
        <p:nvPr/>
      </p:nvGrpSpPr>
      <p:grpSpPr>
        <a:xfrm>
          <a:off x="0" y="0"/>
          <a:ext cx="0" cy="0"/>
          <a:chOff x="0" y="0"/>
          <a:chExt cx="0" cy="0"/>
        </a:xfrm>
      </p:grpSpPr>
      <p:sp>
        <p:nvSpPr>
          <p:cNvPr id="26" name="Google Shape;26;p5"/>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7" name="Google Shape;27;p5"/>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8" name="Google Shape;28;p5"/>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9" name="Google Shape;29;p5"/>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0" name="Google Shape;30;p5"/>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1" name="Google Shape;31;p5"/>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32" name="Shape 32"/>
        <p:cNvGrpSpPr/>
        <p:nvPr/>
      </p:nvGrpSpPr>
      <p:grpSpPr>
        <a:xfrm>
          <a:off x="0" y="0"/>
          <a:ext cx="0" cy="0"/>
          <a:chOff x="0" y="0"/>
          <a:chExt cx="0" cy="0"/>
        </a:xfrm>
      </p:grpSpPr>
      <p:sp>
        <p:nvSpPr>
          <p:cNvPr id="33" name="Google Shape;33;p6"/>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4" name="Google Shape;34;p6"/>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5" name="Google Shape;35;p6"/>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6"/>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37" name="Google Shape;37;p6"/>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8" name="Google Shape;38;p6"/>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39" name="Google Shape;39;p6"/>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0" name="Google Shape;40;p6"/>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3" name="Google Shape;43;p7"/>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4" name="Google Shape;44;p7"/>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5" name="Google Shape;45;p7"/>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6" name="Shape 46"/>
        <p:cNvGrpSpPr/>
        <p:nvPr/>
      </p:nvGrpSpPr>
      <p:grpSpPr>
        <a:xfrm>
          <a:off x="0" y="0"/>
          <a:ext cx="0" cy="0"/>
          <a:chOff x="0" y="0"/>
          <a:chExt cx="0" cy="0"/>
        </a:xfrm>
      </p:grpSpPr>
      <p:sp>
        <p:nvSpPr>
          <p:cNvPr id="47" name="Google Shape;47;p8"/>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8" name="Google Shape;48;p8"/>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9" name="Google Shape;49;p8"/>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0" name="Shape 50"/>
        <p:cNvGrpSpPr/>
        <p:nvPr/>
      </p:nvGrpSpPr>
      <p:grpSpPr>
        <a:xfrm>
          <a:off x="0" y="0"/>
          <a:ext cx="0" cy="0"/>
          <a:chOff x="0" y="0"/>
          <a:chExt cx="0" cy="0"/>
        </a:xfrm>
      </p:grpSpPr>
      <p:sp>
        <p:nvSpPr>
          <p:cNvPr id="51" name="Google Shape;51;p9"/>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2" name="Google Shape;52;p9"/>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53" name="Google Shape;53;p9"/>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54" name="Google Shape;54;p9"/>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5" name="Google Shape;55;p9"/>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6" name="Google Shape;56;p9"/>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57" name="Shape 57"/>
        <p:cNvGrpSpPr/>
        <p:nvPr/>
      </p:nvGrpSpPr>
      <p:grpSpPr>
        <a:xfrm>
          <a:off x="0" y="0"/>
          <a:ext cx="0" cy="0"/>
          <a:chOff x="0" y="0"/>
          <a:chExt cx="0" cy="0"/>
        </a:xfrm>
      </p:grpSpPr>
      <p:sp>
        <p:nvSpPr>
          <p:cNvPr id="58" name="Google Shape;58;p10"/>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9" name="Google Shape;59;p10"/>
          <p:cNvSpPr/>
          <p:nvPr>
            <p:ph idx="2" type="pic"/>
          </p:nvPr>
        </p:nvSpPr>
        <p:spPr>
          <a:xfrm>
            <a:off x="5183188" y="987425"/>
            <a:ext cx="6172200" cy="4873625"/>
          </a:xfrm>
          <a:prstGeom prst="rect">
            <a:avLst/>
          </a:prstGeom>
          <a:noFill/>
          <a:ln>
            <a:noFill/>
          </a:ln>
        </p:spPr>
      </p:sp>
      <p:sp>
        <p:nvSpPr>
          <p:cNvPr id="60" name="Google Shape;60;p10"/>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1" name="Google Shape;61;p10"/>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2" name="Google Shape;62;p10"/>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3" name="Google Shape;63;p10"/>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6" name="Google Shape;66;p11"/>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67" name="Google Shape;67;p11"/>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8" name="Google Shape;68;p11"/>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69" name="Google Shape;69;p11"/>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0" name="Shape 70"/>
        <p:cNvGrpSpPr/>
        <p:nvPr/>
      </p:nvGrpSpPr>
      <p:grpSpPr>
        <a:xfrm>
          <a:off x="0" y="0"/>
          <a:ext cx="0" cy="0"/>
          <a:chOff x="0" y="0"/>
          <a:chExt cx="0" cy="0"/>
        </a:xfrm>
      </p:grpSpPr>
      <p:sp>
        <p:nvSpPr>
          <p:cNvPr id="71" name="Google Shape;71;p12"/>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2"/>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3" name="Google Shape;73;p12"/>
          <p:cNvSpPr txBox="1"/>
          <p:nvPr>
            <p:ph idx="10" type="dt"/>
          </p:nvPr>
        </p:nvSpPr>
        <p:spPr>
          <a:xfrm>
            <a:off x="838200" y="6356350"/>
            <a:ext cx="27432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4" name="Google Shape;74;p12"/>
          <p:cNvSpPr txBox="1"/>
          <p:nvPr>
            <p:ph idx="11" type="ftr"/>
          </p:nvPr>
        </p:nvSpPr>
        <p:spPr>
          <a:xfrm>
            <a:off x="4038600" y="6356350"/>
            <a:ext cx="4114800" cy="365125"/>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sz="1800">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75" name="Google Shape;75;p12"/>
          <p:cNvSpPr txBox="1"/>
          <p:nvPr>
            <p:ph idx="12" type="sldNum"/>
          </p:nvPr>
        </p:nvSpPr>
        <p:spPr>
          <a:xfrm>
            <a:off x="8610600" y="6356350"/>
            <a:ext cx="2743200" cy="365125"/>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sz="1800">
                <a:solidFill>
                  <a:schemeClr val="dk1"/>
                </a:solidFill>
                <a:latin typeface="Calibri"/>
                <a:ea typeface="Calibri"/>
                <a:cs typeface="Calibri"/>
                <a:sym typeface="Calibri"/>
              </a:defRPr>
            </a:lvl1pPr>
            <a:lvl2pPr indent="0" lvl="1" marL="0" marR="0" rtl="0" algn="l">
              <a:spcBef>
                <a:spcPts val="0"/>
              </a:spcBef>
              <a:buNone/>
              <a:defRPr sz="1800">
                <a:solidFill>
                  <a:schemeClr val="dk1"/>
                </a:solidFill>
                <a:latin typeface="Calibri"/>
                <a:ea typeface="Calibri"/>
                <a:cs typeface="Calibri"/>
                <a:sym typeface="Calibri"/>
              </a:defRPr>
            </a:lvl2pPr>
            <a:lvl3pPr indent="0" lvl="2" marL="0" marR="0" rtl="0" algn="l">
              <a:spcBef>
                <a:spcPts val="0"/>
              </a:spcBef>
              <a:buNone/>
              <a:defRPr sz="1800">
                <a:solidFill>
                  <a:schemeClr val="dk1"/>
                </a:solidFill>
                <a:latin typeface="Calibri"/>
                <a:ea typeface="Calibri"/>
                <a:cs typeface="Calibri"/>
                <a:sym typeface="Calibri"/>
              </a:defRPr>
            </a:lvl3pPr>
            <a:lvl4pPr indent="0" lvl="3" marL="0" marR="0" rtl="0" algn="l">
              <a:spcBef>
                <a:spcPts val="0"/>
              </a:spcBef>
              <a:buNone/>
              <a:defRPr sz="1800">
                <a:solidFill>
                  <a:schemeClr val="dk1"/>
                </a:solidFill>
                <a:latin typeface="Calibri"/>
                <a:ea typeface="Calibri"/>
                <a:cs typeface="Calibri"/>
                <a:sym typeface="Calibri"/>
              </a:defRPr>
            </a:lvl4pPr>
            <a:lvl5pPr indent="0" lvl="4" marL="0" marR="0" rtl="0" algn="l">
              <a:spcBef>
                <a:spcPts val="0"/>
              </a:spcBef>
              <a:buNone/>
              <a:defRPr sz="1800">
                <a:solidFill>
                  <a:schemeClr val="dk1"/>
                </a:solidFill>
                <a:latin typeface="Calibri"/>
                <a:ea typeface="Calibri"/>
                <a:cs typeface="Calibri"/>
                <a:sym typeface="Calibri"/>
              </a:defRPr>
            </a:lvl5pPr>
            <a:lvl6pPr indent="0" lvl="5" marL="0" marR="0" rtl="0" algn="l">
              <a:spcBef>
                <a:spcPts val="0"/>
              </a:spcBef>
              <a:buNone/>
              <a:defRPr sz="1800">
                <a:solidFill>
                  <a:schemeClr val="dk1"/>
                </a:solidFill>
                <a:latin typeface="Calibri"/>
                <a:ea typeface="Calibri"/>
                <a:cs typeface="Calibri"/>
                <a:sym typeface="Calibri"/>
              </a:defRPr>
            </a:lvl6pPr>
            <a:lvl7pPr indent="0" lvl="6" marL="0" marR="0" rtl="0" algn="l">
              <a:spcBef>
                <a:spcPts val="0"/>
              </a:spcBef>
              <a:buNone/>
              <a:defRPr sz="1800">
                <a:solidFill>
                  <a:schemeClr val="dk1"/>
                </a:solidFill>
                <a:latin typeface="Calibri"/>
                <a:ea typeface="Calibri"/>
                <a:cs typeface="Calibri"/>
                <a:sym typeface="Calibri"/>
              </a:defRPr>
            </a:lvl7pPr>
            <a:lvl8pPr indent="0" lvl="7" marL="0" marR="0" rtl="0" algn="l">
              <a:spcBef>
                <a:spcPts val="0"/>
              </a:spcBef>
              <a:buNone/>
              <a:defRPr sz="1800">
                <a:solidFill>
                  <a:schemeClr val="dk1"/>
                </a:solidFill>
                <a:latin typeface="Calibri"/>
                <a:ea typeface="Calibri"/>
                <a:cs typeface="Calibri"/>
                <a:sym typeface="Calibri"/>
              </a:defRPr>
            </a:lvl8pPr>
            <a:lvl9pPr indent="0" lvl="8" marL="0" marR="0" rtl="0" algn="l">
              <a:spcBef>
                <a:spcPts val="0"/>
              </a:spcBef>
              <a:buNone/>
              <a:defRPr sz="1800">
                <a:solidFill>
                  <a:schemeClr val="dk1"/>
                </a:solidFill>
                <a:latin typeface="Calibri"/>
                <a:ea typeface="Calibri"/>
                <a:cs typeface="Calibri"/>
                <a:sym typeface="Calibri"/>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0.xml"/><Relationship Id="rId10" Type="http://schemas.openxmlformats.org/officeDocument/2006/relationships/slideLayout" Target="../slideLayouts/slideLayout9.xml"/><Relationship Id="rId13" Type="http://schemas.openxmlformats.org/officeDocument/2006/relationships/theme" Target="../theme/theme2.xml"/><Relationship Id="rId12" Type="http://schemas.openxmlformats.org/officeDocument/2006/relationships/slideLayout" Target="../slideLayouts/slideLayout11.xml"/><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9" Type="http://schemas.openxmlformats.org/officeDocument/2006/relationships/slideLayout" Target="../slideLayouts/slideLayout8.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Calibri"/>
                <a:ea typeface="Calibri"/>
                <a:cs typeface="Calibri"/>
                <a:sym typeface="Calibri"/>
              </a:defRPr>
            </a:lvl9pPr>
          </a:lstStyle>
          <a:p/>
        </p:txBody>
      </p:sp>
      <p:sp>
        <p:nvSpPr>
          <p:cNvPr id="8" name="Google Shape;8;p1"/>
          <p:cNvSpPr txBox="1"/>
          <p:nvPr/>
        </p:nvSpPr>
        <p:spPr>
          <a:xfrm>
            <a:off x="7547114" y="6380197"/>
            <a:ext cx="4114800" cy="365125"/>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b="0" i="0" lang="en-GB" sz="1200" u="none" cap="none" strike="noStrike">
                <a:solidFill>
                  <a:schemeClr val="dk1"/>
                </a:solidFill>
                <a:latin typeface="Calibri"/>
                <a:ea typeface="Calibri"/>
                <a:cs typeface="Calibri"/>
                <a:sym typeface="Calibri"/>
              </a:rPr>
              <a:t>© Hodder &amp; Stoughton Limited 2021</a:t>
            </a:r>
            <a:endParaRPr/>
          </a:p>
        </p:txBody>
      </p:sp>
      <p:pic>
        <p:nvPicPr>
          <p:cNvPr descr="Shape, rectangle&#10;&#10;Description automatically generated" id="9" name="Google Shape;9;p1"/>
          <p:cNvPicPr preferRelativeResize="0"/>
          <p:nvPr/>
        </p:nvPicPr>
        <p:blipFill rotWithShape="1">
          <a:blip r:embed="rId1">
            <a:alphaModFix/>
          </a:blip>
          <a:srcRect b="0" l="0" r="0" t="0"/>
          <a:stretch/>
        </p:blipFill>
        <p:spPr>
          <a:xfrm>
            <a:off x="0" y="0"/>
            <a:ext cx="12238036" cy="1647814"/>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0.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3"/>
          <p:cNvSpPr txBox="1"/>
          <p:nvPr>
            <p:ph type="ctrTitle"/>
          </p:nvPr>
        </p:nvSpPr>
        <p:spPr>
          <a:xfrm>
            <a:off x="1569134" y="2395813"/>
            <a:ext cx="8860459" cy="915850"/>
          </a:xfrm>
          <a:prstGeom prst="rect">
            <a:avLst/>
          </a:prstGeom>
          <a:noFill/>
          <a:ln>
            <a:noFill/>
          </a:ln>
        </p:spPr>
        <p:txBody>
          <a:bodyPr anchorCtr="0" anchor="b" bIns="45700" lIns="91425" spcFirstLastPara="1" rIns="91425" wrap="square" tIns="45700">
            <a:normAutofit/>
          </a:bodyPr>
          <a:lstStyle/>
          <a:p>
            <a:pPr indent="0" lvl="0" marL="0" rtl="0" algn="l">
              <a:lnSpc>
                <a:spcPct val="90000"/>
              </a:lnSpc>
              <a:spcBef>
                <a:spcPts val="0"/>
              </a:spcBef>
              <a:spcAft>
                <a:spcPts val="0"/>
              </a:spcAft>
              <a:buClr>
                <a:schemeClr val="dk1"/>
              </a:buClr>
              <a:buSzPts val="6000"/>
              <a:buFont typeface="Calibri"/>
              <a:buNone/>
            </a:pPr>
            <a:r>
              <a:rPr b="1" lang="en-GB"/>
              <a:t>Designing websites</a:t>
            </a:r>
            <a:endParaRPr/>
          </a:p>
        </p:txBody>
      </p:sp>
      <p:sp>
        <p:nvSpPr>
          <p:cNvPr id="81" name="Google Shape;81;p13"/>
          <p:cNvSpPr/>
          <p:nvPr/>
        </p:nvSpPr>
        <p:spPr>
          <a:xfrm>
            <a:off x="4896278" y="3311663"/>
            <a:ext cx="2595903" cy="40011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i="0" lang="en-GB" sz="2000" u="none" cap="none" strike="noStrike">
                <a:solidFill>
                  <a:srgbClr val="2197AC"/>
                </a:solidFill>
                <a:latin typeface="Calibri"/>
                <a:ea typeface="Calibri"/>
                <a:cs typeface="Calibri"/>
                <a:sym typeface="Calibri"/>
              </a:rPr>
              <a:t>Basic styling using CSS </a:t>
            </a:r>
            <a:endParaRPr b="1" sz="2000">
              <a:solidFill>
                <a:srgbClr val="2197AC"/>
              </a:solidFill>
              <a:latin typeface="Calibri"/>
              <a:ea typeface="Calibri"/>
              <a:cs typeface="Calibri"/>
              <a:sym typeface="Calibri"/>
            </a:endParaRPr>
          </a:p>
        </p:txBody>
      </p:sp>
      <p:pic>
        <p:nvPicPr>
          <p:cNvPr id="82" name="Google Shape;82;p13"/>
          <p:cNvPicPr preferRelativeResize="0"/>
          <p:nvPr/>
        </p:nvPicPr>
        <p:blipFill rotWithShape="1">
          <a:blip r:embed="rId3">
            <a:alphaModFix/>
          </a:blip>
          <a:srcRect b="0" l="0" r="0" t="0"/>
          <a:stretch/>
        </p:blipFill>
        <p:spPr>
          <a:xfrm>
            <a:off x="8198536" y="2512559"/>
            <a:ext cx="2937412" cy="2584922"/>
          </a:xfrm>
          <a:prstGeom prst="rect">
            <a:avLst/>
          </a:prstGeom>
          <a:noFill/>
          <a:ln>
            <a:noFill/>
          </a:ln>
          <a:effectLst>
            <a:outerShdw blurRad="50800" rotWithShape="0" algn="tl" dir="2700000" dist="38100">
              <a:srgbClr val="000000">
                <a:alpha val="4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sp>
        <p:nvSpPr>
          <p:cNvPr id="87" name="Google Shape;87;p14"/>
          <p:cNvSpPr txBox="1"/>
          <p:nvPr>
            <p:ph type="title"/>
          </p:nvPr>
        </p:nvSpPr>
        <p:spPr>
          <a:xfrm>
            <a:off x="1592719" y="874643"/>
            <a:ext cx="9634330" cy="766349"/>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Objectives</a:t>
            </a:r>
            <a:endParaRPr/>
          </a:p>
        </p:txBody>
      </p:sp>
      <p:sp>
        <p:nvSpPr>
          <p:cNvPr id="88" name="Google Shape;88;p14"/>
          <p:cNvSpPr/>
          <p:nvPr/>
        </p:nvSpPr>
        <p:spPr>
          <a:xfrm>
            <a:off x="1592719" y="2135971"/>
            <a:ext cx="10285396" cy="1877437"/>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3200">
                <a:solidFill>
                  <a:schemeClr val="dk1"/>
                </a:solidFill>
                <a:latin typeface="Calibri"/>
                <a:ea typeface="Calibri"/>
                <a:cs typeface="Calibri"/>
                <a:sym typeface="Calibri"/>
              </a:rPr>
              <a:t>In this lesson, you will learn:</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web pages are defined and displayed</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to change the styling on a web page using CSS</a:t>
            </a:r>
            <a:endParaRPr/>
          </a:p>
          <a:p>
            <a:pPr indent="-342900" lvl="0" marL="342900" marR="0" rtl="0" algn="l">
              <a:spcBef>
                <a:spcPts val="0"/>
              </a:spcBef>
              <a:spcAft>
                <a:spcPts val="0"/>
              </a:spcAft>
              <a:buClr>
                <a:schemeClr val="dk1"/>
              </a:buClr>
              <a:buSzPts val="2800"/>
              <a:buFont typeface="Noto Sans Symbols"/>
              <a:buChar char="∙"/>
            </a:pPr>
            <a:r>
              <a:rPr lang="en-GB" sz="2800">
                <a:solidFill>
                  <a:schemeClr val="dk1"/>
                </a:solidFill>
                <a:latin typeface="Calibri"/>
                <a:ea typeface="Calibri"/>
                <a:cs typeface="Calibri"/>
                <a:sym typeface="Calibri"/>
              </a:rPr>
              <a:t>how to use classes to style specific elements.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15"/>
          <p:cNvSpPr txBox="1"/>
          <p:nvPr>
            <p:ph type="title"/>
          </p:nvPr>
        </p:nvSpPr>
        <p:spPr>
          <a:xfrm>
            <a:off x="1580322" y="844826"/>
            <a:ext cx="9773478" cy="785191"/>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Do you know what this code is used for? </a:t>
            </a:r>
            <a:endParaRPr/>
          </a:p>
        </p:txBody>
      </p:sp>
      <p:pic>
        <p:nvPicPr>
          <p:cNvPr id="94" name="Google Shape;94;p15"/>
          <p:cNvPicPr preferRelativeResize="0"/>
          <p:nvPr/>
        </p:nvPicPr>
        <p:blipFill rotWithShape="1">
          <a:blip r:embed="rId3">
            <a:alphaModFix/>
          </a:blip>
          <a:srcRect b="0" l="0" r="0" t="0"/>
          <a:stretch/>
        </p:blipFill>
        <p:spPr>
          <a:xfrm>
            <a:off x="7215809" y="2385391"/>
            <a:ext cx="3269823" cy="3001618"/>
          </a:xfrm>
          <a:prstGeom prst="rect">
            <a:avLst/>
          </a:prstGeom>
          <a:noFill/>
          <a:ln>
            <a:noFill/>
          </a:ln>
        </p:spPr>
      </p:pic>
      <p:pic>
        <p:nvPicPr>
          <p:cNvPr descr="Graphical user interface, text, application, email&#10;&#10;Description automatically generated" id="95" name="Google Shape;95;p15"/>
          <p:cNvPicPr preferRelativeResize="0"/>
          <p:nvPr/>
        </p:nvPicPr>
        <p:blipFill rotWithShape="1">
          <a:blip r:embed="rId4">
            <a:alphaModFix/>
          </a:blip>
          <a:srcRect b="0" l="0" r="0" t="0"/>
          <a:stretch/>
        </p:blipFill>
        <p:spPr>
          <a:xfrm>
            <a:off x="905958" y="1933303"/>
            <a:ext cx="5652559" cy="4079871"/>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16"/>
          <p:cNvSpPr txBox="1"/>
          <p:nvPr>
            <p:ph type="title"/>
          </p:nvPr>
        </p:nvSpPr>
        <p:spPr>
          <a:xfrm>
            <a:off x="1620078" y="755374"/>
            <a:ext cx="9733721" cy="88458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The web page displayed by the code </a:t>
            </a:r>
            <a:endParaRPr/>
          </a:p>
        </p:txBody>
      </p:sp>
      <p:pic>
        <p:nvPicPr>
          <p:cNvPr id="101" name="Google Shape;101;p16"/>
          <p:cNvPicPr preferRelativeResize="0"/>
          <p:nvPr/>
        </p:nvPicPr>
        <p:blipFill rotWithShape="1">
          <a:blip r:embed="rId3">
            <a:alphaModFix/>
          </a:blip>
          <a:srcRect b="0" l="0" r="0" t="0"/>
          <a:stretch/>
        </p:blipFill>
        <p:spPr>
          <a:xfrm>
            <a:off x="3522345" y="2048077"/>
            <a:ext cx="5147310" cy="421068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17"/>
          <p:cNvSpPr txBox="1"/>
          <p:nvPr>
            <p:ph type="title"/>
          </p:nvPr>
        </p:nvSpPr>
        <p:spPr>
          <a:xfrm>
            <a:off x="1620078" y="834888"/>
            <a:ext cx="9733721"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CSS</a:t>
            </a:r>
            <a:endParaRPr/>
          </a:p>
        </p:txBody>
      </p:sp>
      <p:sp>
        <p:nvSpPr>
          <p:cNvPr id="107" name="Google Shape;107;p17"/>
          <p:cNvSpPr txBox="1"/>
          <p:nvPr>
            <p:ph idx="1" type="body"/>
          </p:nvPr>
        </p:nvSpPr>
        <p:spPr>
          <a:xfrm>
            <a:off x="1620077" y="2143677"/>
            <a:ext cx="9733722"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rgbClr val="2197AC"/>
              </a:buClr>
              <a:buSzPts val="2400"/>
              <a:buNone/>
            </a:pPr>
            <a:r>
              <a:rPr b="1" lang="en-GB" sz="2400">
                <a:solidFill>
                  <a:srgbClr val="2197AC"/>
                </a:solidFill>
              </a:rPr>
              <a:t>CSS</a:t>
            </a:r>
            <a:r>
              <a:rPr b="1" lang="en-GB" sz="2400"/>
              <a:t> </a:t>
            </a:r>
            <a:r>
              <a:rPr lang="en-GB" sz="2400"/>
              <a:t>stands for </a:t>
            </a:r>
            <a:r>
              <a:rPr b="1" lang="en-GB" sz="2400"/>
              <a:t>Cascading Style Sheet</a:t>
            </a:r>
            <a:r>
              <a:rPr lang="en-GB" sz="2400"/>
              <a:t>.</a:t>
            </a:r>
            <a:endParaRPr/>
          </a:p>
          <a:p>
            <a:pPr indent="0" lvl="0" marL="0" rtl="0" algn="l">
              <a:lnSpc>
                <a:spcPct val="90000"/>
              </a:lnSpc>
              <a:spcBef>
                <a:spcPts val="1000"/>
              </a:spcBef>
              <a:spcAft>
                <a:spcPts val="0"/>
              </a:spcAft>
              <a:buClr>
                <a:srgbClr val="2197AC"/>
              </a:buClr>
              <a:buSzPts val="2400"/>
              <a:buNone/>
            </a:pPr>
            <a:r>
              <a:rPr b="1" lang="en-GB" sz="2400">
                <a:solidFill>
                  <a:srgbClr val="2197AC"/>
                </a:solidFill>
              </a:rPr>
              <a:t>CSS</a:t>
            </a:r>
            <a:r>
              <a:rPr lang="en-GB" sz="2400">
                <a:solidFill>
                  <a:srgbClr val="2197AC"/>
                </a:solidFill>
              </a:rPr>
              <a:t> </a:t>
            </a:r>
            <a:r>
              <a:rPr b="1" lang="en-GB" sz="2400">
                <a:solidFill>
                  <a:srgbClr val="2197AC"/>
                </a:solidFill>
              </a:rPr>
              <a:t>properties </a:t>
            </a:r>
            <a:r>
              <a:rPr lang="en-GB" sz="2400"/>
              <a:t>are used to </a:t>
            </a:r>
            <a:r>
              <a:rPr b="1" lang="en-GB" sz="2400"/>
              <a:t>format</a:t>
            </a:r>
            <a:r>
              <a:rPr lang="en-GB" sz="2400"/>
              <a:t> the layout of a web page, including:</a:t>
            </a:r>
            <a:endParaRPr/>
          </a:p>
          <a:p>
            <a:pPr indent="-228600" lvl="0" marL="228600" rtl="0" algn="l">
              <a:lnSpc>
                <a:spcPct val="90000"/>
              </a:lnSpc>
              <a:spcBef>
                <a:spcPts val="1000"/>
              </a:spcBef>
              <a:spcAft>
                <a:spcPts val="0"/>
              </a:spcAft>
              <a:buClr>
                <a:schemeClr val="dk1"/>
              </a:buClr>
              <a:buSzPts val="2400"/>
              <a:buChar char="•"/>
            </a:pPr>
            <a:r>
              <a:rPr lang="en-GB" sz="2400"/>
              <a:t>the colour of the text</a:t>
            </a:r>
            <a:endParaRPr/>
          </a:p>
          <a:p>
            <a:pPr indent="-228600" lvl="0" marL="228600" rtl="0" algn="l">
              <a:lnSpc>
                <a:spcPct val="90000"/>
              </a:lnSpc>
              <a:spcBef>
                <a:spcPts val="1000"/>
              </a:spcBef>
              <a:spcAft>
                <a:spcPts val="0"/>
              </a:spcAft>
              <a:buClr>
                <a:schemeClr val="dk1"/>
              </a:buClr>
              <a:buSzPts val="2400"/>
              <a:buChar char="•"/>
            </a:pPr>
            <a:r>
              <a:rPr lang="en-GB" sz="2400"/>
              <a:t>the size of the text</a:t>
            </a:r>
            <a:endParaRPr/>
          </a:p>
          <a:p>
            <a:pPr indent="-228600" lvl="0" marL="228600" rtl="0" algn="l">
              <a:lnSpc>
                <a:spcPct val="90000"/>
              </a:lnSpc>
              <a:spcBef>
                <a:spcPts val="1000"/>
              </a:spcBef>
              <a:spcAft>
                <a:spcPts val="0"/>
              </a:spcAft>
              <a:buClr>
                <a:schemeClr val="dk1"/>
              </a:buClr>
              <a:buSzPts val="2400"/>
              <a:buChar char="•"/>
            </a:pPr>
            <a:r>
              <a:rPr lang="en-GB" sz="2400"/>
              <a:t>the font used</a:t>
            </a:r>
            <a:endParaRPr/>
          </a:p>
          <a:p>
            <a:pPr indent="-228600" lvl="0" marL="228600" rtl="0" algn="l">
              <a:lnSpc>
                <a:spcPct val="90000"/>
              </a:lnSpc>
              <a:spcBef>
                <a:spcPts val="1000"/>
              </a:spcBef>
              <a:spcAft>
                <a:spcPts val="0"/>
              </a:spcAft>
              <a:buClr>
                <a:schemeClr val="dk1"/>
              </a:buClr>
              <a:buSzPts val="2400"/>
              <a:buChar char="•"/>
            </a:pPr>
            <a:r>
              <a:rPr lang="en-GB" sz="2400"/>
              <a:t>the background colours and images</a:t>
            </a:r>
            <a:endParaRPr/>
          </a:p>
          <a:p>
            <a:pPr indent="-228600" lvl="0" marL="228600" rtl="0" algn="l">
              <a:lnSpc>
                <a:spcPct val="90000"/>
              </a:lnSpc>
              <a:spcBef>
                <a:spcPts val="1000"/>
              </a:spcBef>
              <a:spcAft>
                <a:spcPts val="0"/>
              </a:spcAft>
              <a:buClr>
                <a:schemeClr val="dk1"/>
              </a:buClr>
              <a:buSzPts val="2400"/>
              <a:buChar char="•"/>
            </a:pPr>
            <a:r>
              <a:rPr lang="en-GB" sz="2400"/>
              <a:t>how elements are positioned</a:t>
            </a:r>
            <a:endParaRPr/>
          </a:p>
          <a:p>
            <a:pPr indent="-228600" lvl="0" marL="228600" rtl="0" algn="l">
              <a:lnSpc>
                <a:spcPct val="90000"/>
              </a:lnSpc>
              <a:spcBef>
                <a:spcPts val="1000"/>
              </a:spcBef>
              <a:spcAft>
                <a:spcPts val="0"/>
              </a:spcAft>
              <a:buClr>
                <a:schemeClr val="dk1"/>
              </a:buClr>
              <a:buSzPts val="2400"/>
              <a:buChar char="•"/>
            </a:pPr>
            <a:r>
              <a:rPr lang="en-GB" sz="2400"/>
              <a:t>the spacing between elements.</a:t>
            </a:r>
            <a:endParaRPr/>
          </a:p>
          <a:p>
            <a:pPr indent="0" lvl="0" marL="0" rtl="0" algn="l">
              <a:lnSpc>
                <a:spcPct val="90000"/>
              </a:lnSpc>
              <a:spcBef>
                <a:spcPts val="1000"/>
              </a:spcBef>
              <a:spcAft>
                <a:spcPts val="0"/>
              </a:spcAft>
              <a:buClr>
                <a:schemeClr val="dk1"/>
              </a:buClr>
              <a:buSzPts val="2400"/>
              <a:buNone/>
            </a:pPr>
            <a:r>
              <a:t/>
            </a:r>
            <a:endParaRPr sz="24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 name="Shape 111"/>
        <p:cNvGrpSpPr/>
        <p:nvPr/>
      </p:nvGrpSpPr>
      <p:grpSpPr>
        <a:xfrm>
          <a:off x="0" y="0"/>
          <a:ext cx="0" cy="0"/>
          <a:chOff x="0" y="0"/>
          <a:chExt cx="0" cy="0"/>
        </a:xfrm>
      </p:grpSpPr>
      <p:sp>
        <p:nvSpPr>
          <p:cNvPr id="112" name="Google Shape;112;p18"/>
          <p:cNvSpPr txBox="1"/>
          <p:nvPr>
            <p:ph type="title"/>
          </p:nvPr>
        </p:nvSpPr>
        <p:spPr>
          <a:xfrm>
            <a:off x="1600200" y="815010"/>
            <a:ext cx="9753600" cy="81500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External CSS</a:t>
            </a:r>
            <a:endParaRPr/>
          </a:p>
        </p:txBody>
      </p:sp>
      <p:sp>
        <p:nvSpPr>
          <p:cNvPr id="113" name="Google Shape;113;p18"/>
          <p:cNvSpPr txBox="1"/>
          <p:nvPr>
            <p:ph idx="1" type="body"/>
          </p:nvPr>
        </p:nvSpPr>
        <p:spPr>
          <a:xfrm>
            <a:off x="1600200" y="2143677"/>
            <a:ext cx="9753600" cy="4351338"/>
          </a:xfrm>
          <a:prstGeom prst="rect">
            <a:avLst/>
          </a:prstGeom>
          <a:noFill/>
          <a:ln>
            <a:noFill/>
          </a:ln>
        </p:spPr>
        <p:txBody>
          <a:bodyPr anchorCtr="0" anchor="t" bIns="45700" lIns="91425" spcFirstLastPara="1" rIns="91425" wrap="square" tIns="45700">
            <a:normAutofit/>
          </a:bodyPr>
          <a:lstStyle/>
          <a:p>
            <a:pPr indent="0" lvl="0" marL="0" rtl="0" algn="l">
              <a:lnSpc>
                <a:spcPct val="114000"/>
              </a:lnSpc>
              <a:spcBef>
                <a:spcPts val="0"/>
              </a:spcBef>
              <a:spcAft>
                <a:spcPts val="0"/>
              </a:spcAft>
              <a:buClr>
                <a:schemeClr val="dk1"/>
              </a:buClr>
              <a:buSzPts val="2400"/>
              <a:buNone/>
            </a:pPr>
            <a:r>
              <a:rPr lang="en-GB" sz="2400"/>
              <a:t>An </a:t>
            </a:r>
            <a:r>
              <a:rPr b="1" lang="en-GB" sz="2400">
                <a:solidFill>
                  <a:srgbClr val="2197AC"/>
                </a:solidFill>
              </a:rPr>
              <a:t>external style sheet</a:t>
            </a:r>
            <a:r>
              <a:rPr lang="en-GB" sz="2400">
                <a:solidFill>
                  <a:srgbClr val="2197AC"/>
                </a:solidFill>
              </a:rPr>
              <a:t> </a:t>
            </a:r>
            <a:r>
              <a:rPr lang="en-GB" sz="2400"/>
              <a:t>is a single document, saved with a .css extension, that sets out the styling to be used for all the main elements on every page of a website.</a:t>
            </a:r>
            <a:endParaRPr/>
          </a:p>
          <a:p>
            <a:pPr indent="0" lvl="0" marL="0" rtl="0" algn="l">
              <a:lnSpc>
                <a:spcPct val="114000"/>
              </a:lnSpc>
              <a:spcBef>
                <a:spcPts val="1200"/>
              </a:spcBef>
              <a:spcAft>
                <a:spcPts val="0"/>
              </a:spcAft>
              <a:buClr>
                <a:schemeClr val="dk1"/>
              </a:buClr>
              <a:buSzPts val="2400"/>
              <a:buNone/>
            </a:pPr>
            <a:r>
              <a:rPr lang="en-GB" sz="2400"/>
              <a:t>Each HTML page includes a link to the external style sheet that it needs to use. For example:</a:t>
            </a:r>
            <a:endParaRPr/>
          </a:p>
          <a:p>
            <a:pPr indent="0" lvl="0" marL="0" rtl="0" algn="l">
              <a:lnSpc>
                <a:spcPct val="114000"/>
              </a:lnSpc>
              <a:spcBef>
                <a:spcPts val="1200"/>
              </a:spcBef>
              <a:spcAft>
                <a:spcPts val="0"/>
              </a:spcAft>
              <a:buClr>
                <a:schemeClr val="dk1"/>
              </a:buClr>
              <a:buSzPts val="2400"/>
              <a:buNone/>
            </a:pPr>
            <a:r>
              <a:rPr lang="en-GB" sz="2400">
                <a:latin typeface="Courier"/>
                <a:ea typeface="Courier"/>
                <a:cs typeface="Courier"/>
                <a:sym typeface="Courier"/>
              </a:rPr>
              <a:t>&lt;link rel="stylesheet" href="styles.css"&gt;</a:t>
            </a:r>
            <a:endParaRPr/>
          </a:p>
          <a:p>
            <a:pPr indent="0" lvl="0" marL="0" rtl="0" algn="l">
              <a:lnSpc>
                <a:spcPct val="114000"/>
              </a:lnSpc>
              <a:spcBef>
                <a:spcPts val="1200"/>
              </a:spcBef>
              <a:spcAft>
                <a:spcPts val="0"/>
              </a:spcAft>
              <a:buClr>
                <a:schemeClr val="dk1"/>
              </a:buClr>
              <a:buSzPts val="2400"/>
              <a:buNone/>
            </a:pPr>
            <a:r>
              <a:rPr lang="en-GB" sz="2400"/>
              <a:t>External style sheets allow you to change the styling of an entire website by editing just one file.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19"/>
          <p:cNvSpPr txBox="1"/>
          <p:nvPr>
            <p:ph type="title"/>
          </p:nvPr>
        </p:nvSpPr>
        <p:spPr>
          <a:xfrm>
            <a:off x="1600200" y="815010"/>
            <a:ext cx="9753600" cy="81500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Inline CSS</a:t>
            </a:r>
            <a:endParaRPr b="1">
              <a:solidFill>
                <a:schemeClr val="lt1"/>
              </a:solidFill>
            </a:endParaRPr>
          </a:p>
        </p:txBody>
      </p:sp>
      <p:sp>
        <p:nvSpPr>
          <p:cNvPr id="119" name="Google Shape;119;p19"/>
          <p:cNvSpPr txBox="1"/>
          <p:nvPr>
            <p:ph idx="1" type="body"/>
          </p:nvPr>
        </p:nvSpPr>
        <p:spPr>
          <a:xfrm>
            <a:off x="836341" y="2143677"/>
            <a:ext cx="10517459" cy="4351338"/>
          </a:xfrm>
          <a:prstGeom prst="rect">
            <a:avLst/>
          </a:prstGeom>
          <a:noFill/>
          <a:ln>
            <a:noFill/>
          </a:ln>
        </p:spPr>
        <p:txBody>
          <a:bodyPr anchorCtr="0" anchor="t" bIns="45700" lIns="91425" spcFirstLastPara="1" rIns="91425" wrap="square" tIns="45700">
            <a:normAutofit/>
          </a:bodyPr>
          <a:lstStyle/>
          <a:p>
            <a:pPr indent="0" lvl="0" marL="0" rtl="0" algn="l">
              <a:lnSpc>
                <a:spcPct val="114000"/>
              </a:lnSpc>
              <a:spcBef>
                <a:spcPts val="0"/>
              </a:spcBef>
              <a:spcAft>
                <a:spcPts val="0"/>
              </a:spcAft>
              <a:buClr>
                <a:schemeClr val="dk1"/>
              </a:buClr>
              <a:buSzPts val="2400"/>
              <a:buNone/>
            </a:pPr>
            <a:r>
              <a:rPr lang="en-GB" sz="2400"/>
              <a:t>Inline CSS is used to apply styles directly within an HTML element using the style attribute. This method is useful for quick styling changes or when only a specific element needs unique styling.</a:t>
            </a:r>
            <a:endParaRPr/>
          </a:p>
          <a:p>
            <a:pPr indent="0" lvl="0" marL="0" rtl="0" algn="l">
              <a:lnSpc>
                <a:spcPct val="114000"/>
              </a:lnSpc>
              <a:spcBef>
                <a:spcPts val="1200"/>
              </a:spcBef>
              <a:spcAft>
                <a:spcPts val="0"/>
              </a:spcAft>
              <a:buClr>
                <a:schemeClr val="dk1"/>
              </a:buClr>
              <a:buSzPts val="2400"/>
              <a:buNone/>
            </a:pPr>
            <a:r>
              <a:rPr lang="en-GB" sz="2400"/>
              <a:t>For example:</a:t>
            </a:r>
            <a:endParaRPr/>
          </a:p>
          <a:p>
            <a:pPr indent="0" lvl="0" marL="0" rtl="0" algn="l">
              <a:lnSpc>
                <a:spcPct val="114000"/>
              </a:lnSpc>
              <a:spcBef>
                <a:spcPts val="1200"/>
              </a:spcBef>
              <a:spcAft>
                <a:spcPts val="0"/>
              </a:spcAft>
              <a:buClr>
                <a:srgbClr val="FF0000"/>
              </a:buClr>
              <a:buSzPts val="2400"/>
              <a:buNone/>
            </a:pPr>
            <a:r>
              <a:rPr lang="en-GB" sz="2400">
                <a:solidFill>
                  <a:srgbClr val="FF0000"/>
                </a:solidFill>
              </a:rPr>
              <a:t>&lt;p style="color: red; font-size: 20px;"&gt;This is an inline-styled paragraph.&lt;/p&gt;</a:t>
            </a:r>
            <a:endParaRPr/>
          </a:p>
          <a:p>
            <a:pPr indent="0" lvl="0" marL="0" rtl="0" algn="l">
              <a:lnSpc>
                <a:spcPct val="114000"/>
              </a:lnSpc>
              <a:spcBef>
                <a:spcPts val="1200"/>
              </a:spcBef>
              <a:spcAft>
                <a:spcPts val="0"/>
              </a:spcAft>
              <a:buClr>
                <a:schemeClr val="dk1"/>
              </a:buClr>
              <a:buSzPts val="2400"/>
              <a:buNone/>
            </a:pPr>
            <a:r>
              <a:rPr lang="en-GB" sz="2400"/>
              <a:t>Inline CSS allows for quick styling but is not recommended for large projects because it makes the code harder to maintain and does not separate content from design effectively.</a:t>
            </a:r>
            <a:endParaRPr sz="2400"/>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20"/>
          <p:cNvSpPr txBox="1"/>
          <p:nvPr>
            <p:ph type="title"/>
          </p:nvPr>
        </p:nvSpPr>
        <p:spPr>
          <a:xfrm>
            <a:off x="1570382" y="824948"/>
            <a:ext cx="9783417" cy="824948"/>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The syntax for CSS rules </a:t>
            </a:r>
            <a:endParaRPr/>
          </a:p>
        </p:txBody>
      </p:sp>
      <p:sp>
        <p:nvSpPr>
          <p:cNvPr id="125" name="Google Shape;125;p20"/>
          <p:cNvSpPr/>
          <p:nvPr/>
        </p:nvSpPr>
        <p:spPr>
          <a:xfrm>
            <a:off x="1570382" y="1984874"/>
            <a:ext cx="9783416" cy="2308324"/>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rPr b="0" i="0" lang="en-GB" sz="1800" u="none" cap="none" strike="noStrike">
                <a:solidFill>
                  <a:schemeClr val="dk1"/>
                </a:solidFill>
                <a:latin typeface="Calibri"/>
                <a:ea typeface="Calibri"/>
                <a:cs typeface="Calibri"/>
                <a:sym typeface="Calibri"/>
              </a:rPr>
              <a:t>A CSS style rule consists of a</a:t>
            </a:r>
            <a:r>
              <a:rPr b="0" i="0" lang="en-GB" sz="1800" u="none" cap="none" strike="noStrike">
                <a:solidFill>
                  <a:srgbClr val="2197AC"/>
                </a:solidFill>
                <a:latin typeface="Calibri"/>
                <a:ea typeface="Calibri"/>
                <a:cs typeface="Calibri"/>
                <a:sym typeface="Calibri"/>
              </a:rPr>
              <a:t> </a:t>
            </a:r>
            <a:r>
              <a:rPr b="1" i="0" lang="en-GB" sz="1800" u="none" cap="none" strike="noStrike">
                <a:solidFill>
                  <a:srgbClr val="2197AC"/>
                </a:solidFill>
                <a:latin typeface="Calibri"/>
                <a:ea typeface="Calibri"/>
                <a:cs typeface="Calibri"/>
                <a:sym typeface="Calibri"/>
              </a:rPr>
              <a:t>selector</a:t>
            </a:r>
            <a:r>
              <a:rPr b="0" i="0" lang="en-GB" sz="1800" u="none" cap="none" strike="noStrike">
                <a:solidFill>
                  <a:srgbClr val="2197AC"/>
                </a:solidFill>
                <a:latin typeface="Calibri"/>
                <a:ea typeface="Calibri"/>
                <a:cs typeface="Calibri"/>
                <a:sym typeface="Calibri"/>
              </a:rPr>
              <a:t> </a:t>
            </a:r>
            <a:r>
              <a:rPr b="0" i="0" lang="en-GB" sz="1800" u="none" cap="none" strike="noStrike">
                <a:solidFill>
                  <a:schemeClr val="dk1"/>
                </a:solidFill>
                <a:latin typeface="Calibri"/>
                <a:ea typeface="Calibri"/>
                <a:cs typeface="Calibri"/>
                <a:sym typeface="Calibri"/>
              </a:rPr>
              <a:t>and a </a:t>
            </a:r>
            <a:r>
              <a:rPr b="1" i="0" lang="en-GB" sz="1800" u="none" cap="none" strike="noStrike">
                <a:solidFill>
                  <a:srgbClr val="2197AC"/>
                </a:solidFill>
                <a:latin typeface="Calibri"/>
                <a:ea typeface="Calibri"/>
                <a:cs typeface="Calibri"/>
                <a:sym typeface="Calibri"/>
              </a:rPr>
              <a:t>declaration</a:t>
            </a:r>
            <a:r>
              <a:rPr b="1" i="0" lang="en-GB" sz="1800" u="none" cap="none" strike="noStrike">
                <a:solidFill>
                  <a:schemeClr val="dk1"/>
                </a:solidFill>
                <a:latin typeface="Calibri"/>
                <a:ea typeface="Calibri"/>
                <a:cs typeface="Calibri"/>
                <a:sym typeface="Calibri"/>
              </a:rPr>
              <a:t> </a:t>
            </a:r>
            <a:r>
              <a:rPr b="0" i="0" lang="en-GB" sz="1800" u="none" cap="none" strike="noStrike">
                <a:solidFill>
                  <a:schemeClr val="dk1"/>
                </a:solidFill>
                <a:latin typeface="Calibri"/>
                <a:ea typeface="Calibri"/>
                <a:cs typeface="Calibri"/>
                <a:sym typeface="Calibri"/>
              </a:rPr>
              <a:t>block.</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800"/>
              <a:buFont typeface="Calibri"/>
              <a:buNone/>
            </a:pPr>
            <a:r>
              <a:rPr b="0" i="0" lang="en-GB" sz="1800" u="none" cap="none" strike="noStrike">
                <a:solidFill>
                  <a:schemeClr val="dk1"/>
                </a:solidFill>
                <a:latin typeface="Calibri"/>
                <a:ea typeface="Calibri"/>
                <a:cs typeface="Calibri"/>
                <a:sym typeface="Calibri"/>
              </a:rPr>
              <a:t>The selector indicates which HTML element the styling refers to.</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800"/>
              <a:buFont typeface="Calibri"/>
              <a:buNone/>
            </a:pPr>
            <a:r>
              <a:rPr b="0" i="0" lang="en-GB" sz="1800" u="none" cap="none" strike="noStrike">
                <a:solidFill>
                  <a:schemeClr val="dk1"/>
                </a:solidFill>
                <a:latin typeface="Calibri"/>
                <a:ea typeface="Calibri"/>
                <a:cs typeface="Calibri"/>
                <a:sym typeface="Calibri"/>
              </a:rPr>
              <a:t>The declaration includes the CSS </a:t>
            </a:r>
            <a:r>
              <a:rPr b="1" i="0" lang="en-GB" sz="1800" u="none" cap="none" strike="noStrike">
                <a:solidFill>
                  <a:srgbClr val="2197AC"/>
                </a:solidFill>
                <a:latin typeface="Calibri"/>
                <a:ea typeface="Calibri"/>
                <a:cs typeface="Calibri"/>
                <a:sym typeface="Calibri"/>
              </a:rPr>
              <a:t>property name</a:t>
            </a:r>
            <a:r>
              <a:rPr b="0" i="0" lang="en-GB" sz="1800" u="none" cap="none" strike="noStrike">
                <a:solidFill>
                  <a:srgbClr val="2197AC"/>
                </a:solidFill>
                <a:latin typeface="Calibri"/>
                <a:ea typeface="Calibri"/>
                <a:cs typeface="Calibri"/>
                <a:sym typeface="Calibri"/>
              </a:rPr>
              <a:t> </a:t>
            </a:r>
            <a:r>
              <a:rPr b="0" i="0" lang="en-GB" sz="1800" u="none" cap="none" strike="noStrike">
                <a:solidFill>
                  <a:schemeClr val="dk1"/>
                </a:solidFill>
                <a:latin typeface="Calibri"/>
                <a:ea typeface="Calibri"/>
                <a:cs typeface="Calibri"/>
                <a:sym typeface="Calibri"/>
              </a:rPr>
              <a:t>and a</a:t>
            </a:r>
            <a:r>
              <a:rPr b="0" i="0" lang="en-GB" sz="1800" u="none" cap="none" strike="noStrike">
                <a:solidFill>
                  <a:srgbClr val="2197AC"/>
                </a:solidFill>
                <a:latin typeface="Calibri"/>
                <a:ea typeface="Calibri"/>
                <a:cs typeface="Calibri"/>
                <a:sym typeface="Calibri"/>
              </a:rPr>
              <a:t> </a:t>
            </a:r>
            <a:r>
              <a:rPr b="1" i="0" lang="en-GB" sz="1800" u="none" cap="none" strike="noStrike">
                <a:solidFill>
                  <a:srgbClr val="2197AC"/>
                </a:solidFill>
                <a:latin typeface="Calibri"/>
                <a:ea typeface="Calibri"/>
                <a:cs typeface="Calibri"/>
                <a:sym typeface="Calibri"/>
              </a:rPr>
              <a:t>value</a:t>
            </a:r>
            <a:r>
              <a:rPr b="0" i="0" lang="en-GB" sz="1800" u="none" cap="none" strike="noStrike">
                <a:solidFill>
                  <a:schemeClr val="dk1"/>
                </a:solidFill>
                <a:latin typeface="Calibri"/>
                <a:ea typeface="Calibri"/>
                <a:cs typeface="Calibri"/>
                <a:sym typeface="Calibri"/>
              </a:rPr>
              <a:t>, separated by a colon.</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800"/>
              <a:buFont typeface="Calibri"/>
              <a:buNone/>
            </a:pPr>
            <a:r>
              <a:rPr b="0" i="0" lang="en-GB" sz="1800" u="none" cap="none" strike="noStrike">
                <a:solidFill>
                  <a:schemeClr val="dk1"/>
                </a:solidFill>
                <a:latin typeface="Calibri"/>
                <a:ea typeface="Calibri"/>
                <a:cs typeface="Calibri"/>
                <a:sym typeface="Calibri"/>
              </a:rPr>
              <a:t>It is possible to have more than one declaration in a block, in which case each declaration is separated using a semicolon. It is usual to put each declaration on a separate line so that it is easy to see which properties have been styled.</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800"/>
              <a:buFont typeface="Calibri"/>
              <a:buNone/>
            </a:pPr>
            <a:r>
              <a:rPr b="0" i="0" lang="en-GB" sz="1800" u="none" cap="none" strike="noStrike">
                <a:solidFill>
                  <a:schemeClr val="dk1"/>
                </a:solidFill>
                <a:latin typeface="Calibri"/>
                <a:ea typeface="Calibri"/>
                <a:cs typeface="Calibri"/>
                <a:sym typeface="Calibri"/>
              </a:rPr>
              <a:t>The declaration block is surrounded by curly brackets.</a:t>
            </a:r>
            <a:endParaRPr b="0" i="0" sz="18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p:txBody>
      </p:sp>
      <p:pic>
        <p:nvPicPr>
          <p:cNvPr id="126" name="Google Shape;126;p20"/>
          <p:cNvPicPr preferRelativeResize="0"/>
          <p:nvPr/>
        </p:nvPicPr>
        <p:blipFill rotWithShape="1">
          <a:blip r:embed="rId3">
            <a:alphaModFix/>
          </a:blip>
          <a:srcRect b="0" l="0" r="0" t="0"/>
          <a:stretch/>
        </p:blipFill>
        <p:spPr>
          <a:xfrm>
            <a:off x="3859127" y="4293198"/>
            <a:ext cx="4473745" cy="2089812"/>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 name="Shape 130"/>
        <p:cNvGrpSpPr/>
        <p:nvPr/>
      </p:nvGrpSpPr>
      <p:grpSpPr>
        <a:xfrm>
          <a:off x="0" y="0"/>
          <a:ext cx="0" cy="0"/>
          <a:chOff x="0" y="0"/>
          <a:chExt cx="0" cy="0"/>
        </a:xfrm>
      </p:grpSpPr>
      <p:sp>
        <p:nvSpPr>
          <p:cNvPr id="131" name="Google Shape;131;p21"/>
          <p:cNvSpPr txBox="1"/>
          <p:nvPr>
            <p:ph type="title"/>
          </p:nvPr>
        </p:nvSpPr>
        <p:spPr>
          <a:xfrm>
            <a:off x="1610139" y="761642"/>
            <a:ext cx="9743661" cy="878315"/>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Changing the styling </a:t>
            </a:r>
            <a:endParaRPr/>
          </a:p>
        </p:txBody>
      </p:sp>
      <p:sp>
        <p:nvSpPr>
          <p:cNvPr id="132" name="Google Shape;132;p21"/>
          <p:cNvSpPr txBox="1"/>
          <p:nvPr>
            <p:ph idx="1" type="body"/>
          </p:nvPr>
        </p:nvSpPr>
        <p:spPr>
          <a:xfrm>
            <a:off x="1610139" y="1835564"/>
            <a:ext cx="10515600"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This shows a style sheet with styling for several different aspects of a web page:</a:t>
            </a:r>
            <a:endParaRPr/>
          </a:p>
          <a:p>
            <a:pPr indent="0" lvl="0" marL="0" rtl="0" algn="l">
              <a:lnSpc>
                <a:spcPct val="90000"/>
              </a:lnSpc>
              <a:spcBef>
                <a:spcPts val="1000"/>
              </a:spcBef>
              <a:spcAft>
                <a:spcPts val="0"/>
              </a:spcAft>
              <a:buClr>
                <a:schemeClr val="dk1"/>
              </a:buClr>
              <a:buSzPts val="2800"/>
              <a:buNone/>
            </a:pPr>
            <a:r>
              <a:t/>
            </a:r>
            <a:endParaRPr/>
          </a:p>
          <a:p>
            <a:pPr indent="0" lvl="0" marL="0" rtl="0" algn="l">
              <a:lnSpc>
                <a:spcPct val="90000"/>
              </a:lnSpc>
              <a:spcBef>
                <a:spcPts val="1000"/>
              </a:spcBef>
              <a:spcAft>
                <a:spcPts val="0"/>
              </a:spcAft>
              <a:buClr>
                <a:schemeClr val="dk1"/>
              </a:buClr>
              <a:buSzPts val="2800"/>
              <a:buNone/>
            </a:pPr>
            <a:r>
              <a:t/>
            </a:r>
            <a:endParaRPr/>
          </a:p>
        </p:txBody>
      </p:sp>
      <p:pic>
        <p:nvPicPr>
          <p:cNvPr id="133" name="Google Shape;133;p21"/>
          <p:cNvPicPr preferRelativeResize="0"/>
          <p:nvPr/>
        </p:nvPicPr>
        <p:blipFill rotWithShape="1">
          <a:blip r:embed="rId3">
            <a:alphaModFix/>
          </a:blip>
          <a:srcRect b="0" l="0" r="0" t="0"/>
          <a:stretch/>
        </p:blipFill>
        <p:spPr>
          <a:xfrm>
            <a:off x="1752070" y="2510195"/>
            <a:ext cx="3544653" cy="2440628"/>
          </a:xfrm>
          <a:prstGeom prst="rect">
            <a:avLst/>
          </a:prstGeom>
          <a:noFill/>
          <a:ln>
            <a:noFill/>
          </a:ln>
        </p:spPr>
      </p:pic>
      <p:sp>
        <p:nvSpPr>
          <p:cNvPr id="134" name="Google Shape;134;p21"/>
          <p:cNvSpPr/>
          <p:nvPr/>
        </p:nvSpPr>
        <p:spPr>
          <a:xfrm>
            <a:off x="1610138" y="4950823"/>
            <a:ext cx="8971723" cy="156966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Any styling added to the </a:t>
            </a:r>
            <a:r>
              <a:rPr lang="en-GB" sz="2400">
                <a:solidFill>
                  <a:schemeClr val="dk1"/>
                </a:solidFill>
                <a:latin typeface="Courier"/>
                <a:ea typeface="Courier"/>
                <a:cs typeface="Courier"/>
                <a:sym typeface="Courier"/>
              </a:rPr>
              <a:t>body</a:t>
            </a:r>
            <a:r>
              <a:rPr lang="en-GB" sz="2400">
                <a:solidFill>
                  <a:schemeClr val="dk1"/>
                </a:solidFill>
                <a:latin typeface="Calibri"/>
                <a:ea typeface="Calibri"/>
                <a:cs typeface="Calibri"/>
                <a:sym typeface="Calibri"/>
              </a:rPr>
              <a:t> selector will be applied to the whole web page.</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The main heading is defined using the </a:t>
            </a:r>
            <a:r>
              <a:rPr lang="en-GB" sz="2400">
                <a:solidFill>
                  <a:schemeClr val="dk1"/>
                </a:solidFill>
                <a:latin typeface="Courier"/>
                <a:ea typeface="Courier"/>
                <a:cs typeface="Courier"/>
                <a:sym typeface="Courier"/>
              </a:rPr>
              <a:t>h1</a:t>
            </a:r>
            <a:r>
              <a:rPr lang="en-GB" sz="2400">
                <a:solidFill>
                  <a:schemeClr val="dk1"/>
                </a:solidFill>
                <a:latin typeface="Calibri"/>
                <a:ea typeface="Calibri"/>
                <a:cs typeface="Calibri"/>
                <a:sym typeface="Calibri"/>
              </a:rPr>
              <a:t> selector, and paragraphs are defined using the </a:t>
            </a:r>
            <a:r>
              <a:rPr lang="en-GB" sz="2400">
                <a:solidFill>
                  <a:schemeClr val="dk1"/>
                </a:solidFill>
                <a:latin typeface="Courier"/>
                <a:ea typeface="Courier"/>
                <a:cs typeface="Courier"/>
                <a:sym typeface="Courier"/>
              </a:rPr>
              <a:t>p</a:t>
            </a:r>
            <a:r>
              <a:rPr lang="en-GB" sz="2400">
                <a:solidFill>
                  <a:schemeClr val="dk1"/>
                </a:solidFill>
                <a:latin typeface="Calibri"/>
                <a:ea typeface="Calibri"/>
                <a:cs typeface="Calibri"/>
                <a:sym typeface="Calibri"/>
              </a:rPr>
              <a:t> selector.</a:t>
            </a:r>
            <a:endParaRPr/>
          </a:p>
        </p:txBody>
      </p:sp>
      <p:pic>
        <p:nvPicPr>
          <p:cNvPr id="135" name="Google Shape;135;p21"/>
          <p:cNvPicPr preferRelativeResize="0"/>
          <p:nvPr/>
        </p:nvPicPr>
        <p:blipFill rotWithShape="1">
          <a:blip r:embed="rId4">
            <a:alphaModFix/>
          </a:blip>
          <a:srcRect b="0" l="0" r="0" t="0"/>
          <a:stretch/>
        </p:blipFill>
        <p:spPr>
          <a:xfrm>
            <a:off x="5644513" y="2756326"/>
            <a:ext cx="5529274" cy="186091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2"/>
          <p:cNvSpPr txBox="1"/>
          <p:nvPr>
            <p:ph type="title"/>
          </p:nvPr>
        </p:nvSpPr>
        <p:spPr>
          <a:xfrm>
            <a:off x="1590261" y="834887"/>
            <a:ext cx="9763539" cy="80624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CSS property names </a:t>
            </a:r>
            <a:endParaRPr/>
          </a:p>
        </p:txBody>
      </p:sp>
      <p:sp>
        <p:nvSpPr>
          <p:cNvPr id="141" name="Google Shape;141;p22"/>
          <p:cNvSpPr txBox="1"/>
          <p:nvPr>
            <p:ph idx="1" type="body"/>
          </p:nvPr>
        </p:nvSpPr>
        <p:spPr>
          <a:xfrm>
            <a:off x="1590261" y="2183433"/>
            <a:ext cx="10515600"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b="1" lang="en-GB" sz="2400"/>
              <a:t>Text colour</a:t>
            </a:r>
            <a:endParaRPr sz="2400"/>
          </a:p>
          <a:p>
            <a:pPr indent="0" lvl="0" marL="0" rtl="0" algn="l">
              <a:lnSpc>
                <a:spcPct val="90000"/>
              </a:lnSpc>
              <a:spcBef>
                <a:spcPts val="1000"/>
              </a:spcBef>
              <a:spcAft>
                <a:spcPts val="0"/>
              </a:spcAft>
              <a:buClr>
                <a:schemeClr val="dk1"/>
              </a:buClr>
              <a:buSzPts val="2400"/>
              <a:buNone/>
            </a:pPr>
            <a:r>
              <a:rPr lang="en-GB" sz="2400"/>
              <a:t>To set the colour of the text we use the property </a:t>
            </a:r>
            <a:r>
              <a:rPr lang="en-GB" sz="2400">
                <a:latin typeface="Courier"/>
                <a:ea typeface="Courier"/>
                <a:cs typeface="Courier"/>
                <a:sym typeface="Courier"/>
              </a:rPr>
              <a:t>color</a:t>
            </a:r>
            <a:r>
              <a:rPr lang="en-GB" sz="2400"/>
              <a:t>. </a:t>
            </a:r>
            <a:endParaRPr/>
          </a:p>
          <a:p>
            <a:pPr indent="0" lvl="0" marL="0" rtl="0" algn="l">
              <a:lnSpc>
                <a:spcPct val="90000"/>
              </a:lnSpc>
              <a:spcBef>
                <a:spcPts val="1000"/>
              </a:spcBef>
              <a:spcAft>
                <a:spcPts val="0"/>
              </a:spcAft>
              <a:buClr>
                <a:schemeClr val="dk1"/>
              </a:buClr>
              <a:buSzPts val="2400"/>
              <a:buNone/>
            </a:pPr>
            <a:r>
              <a:rPr lang="en-GB" sz="2400"/>
              <a:t>Note that the American spelling is required.</a:t>
            </a:r>
            <a:endParaRPr/>
          </a:p>
          <a:p>
            <a:pPr indent="0" lvl="0" marL="0" rtl="0" algn="l">
              <a:lnSpc>
                <a:spcPct val="90000"/>
              </a:lnSpc>
              <a:spcBef>
                <a:spcPts val="1000"/>
              </a:spcBef>
              <a:spcAft>
                <a:spcPts val="0"/>
              </a:spcAft>
              <a:buClr>
                <a:schemeClr val="dk1"/>
              </a:buClr>
              <a:buSzPts val="2400"/>
              <a:buNone/>
            </a:pPr>
            <a:r>
              <a:rPr lang="en-GB" sz="2400"/>
              <a:t>The easiest way to specify a colour is to use its colour name. There are 140 standard colour names and a full list can be found online.</a:t>
            </a:r>
            <a:endParaRPr/>
          </a:p>
          <a:p>
            <a:pPr indent="0" lvl="0" marL="0" rtl="0" algn="l">
              <a:lnSpc>
                <a:spcPct val="90000"/>
              </a:lnSpc>
              <a:spcBef>
                <a:spcPts val="1000"/>
              </a:spcBef>
              <a:spcAft>
                <a:spcPts val="0"/>
              </a:spcAft>
              <a:buClr>
                <a:schemeClr val="dk1"/>
              </a:buClr>
              <a:buSzPts val="2400"/>
              <a:buNone/>
            </a:pPr>
            <a:r>
              <a:rPr b="1" lang="en-GB" sz="2400"/>
              <a:t>Background colour</a:t>
            </a:r>
            <a:endParaRPr sz="2400"/>
          </a:p>
          <a:p>
            <a:pPr indent="0" lvl="0" marL="0" rtl="0" algn="l">
              <a:lnSpc>
                <a:spcPct val="90000"/>
              </a:lnSpc>
              <a:spcBef>
                <a:spcPts val="1000"/>
              </a:spcBef>
              <a:spcAft>
                <a:spcPts val="0"/>
              </a:spcAft>
              <a:buClr>
                <a:schemeClr val="dk1"/>
              </a:buClr>
              <a:buSzPts val="2400"/>
              <a:buNone/>
            </a:pPr>
            <a:r>
              <a:rPr lang="en-GB" sz="2400"/>
              <a:t>To set the background colour we use the property </a:t>
            </a:r>
            <a:r>
              <a:rPr lang="en-GB" sz="2400">
                <a:latin typeface="Courier"/>
                <a:ea typeface="Courier"/>
                <a:cs typeface="Courier"/>
                <a:sym typeface="Courier"/>
              </a:rPr>
              <a:t>background-color</a:t>
            </a:r>
            <a:r>
              <a:rPr lang="en-GB" sz="2400"/>
              <a:t>.</a:t>
            </a:r>
            <a:endParaRPr/>
          </a:p>
          <a:p>
            <a:pPr indent="0" lvl="0" marL="0" rtl="0" algn="l">
              <a:lnSpc>
                <a:spcPct val="90000"/>
              </a:lnSpc>
              <a:spcBef>
                <a:spcPts val="1000"/>
              </a:spcBef>
              <a:spcAft>
                <a:spcPts val="0"/>
              </a:spcAft>
              <a:buClr>
                <a:schemeClr val="dk1"/>
              </a:buClr>
              <a:buSzPts val="2400"/>
              <a:buNone/>
            </a:pPr>
            <a:r>
              <a:rPr lang="en-GB" sz="2400"/>
              <a:t>Again, the colour name can be used for the value.</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3"/>
          <p:cNvSpPr txBox="1"/>
          <p:nvPr>
            <p:ph type="title"/>
          </p:nvPr>
        </p:nvSpPr>
        <p:spPr>
          <a:xfrm>
            <a:off x="1590261" y="834887"/>
            <a:ext cx="9763539" cy="806244"/>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CSS property names </a:t>
            </a:r>
            <a:endParaRPr/>
          </a:p>
        </p:txBody>
      </p:sp>
      <p:sp>
        <p:nvSpPr>
          <p:cNvPr id="147" name="Google Shape;147;p23"/>
          <p:cNvSpPr txBox="1"/>
          <p:nvPr>
            <p:ph idx="1" type="body"/>
          </p:nvPr>
        </p:nvSpPr>
        <p:spPr>
          <a:xfrm>
            <a:off x="1590261" y="2103920"/>
            <a:ext cx="8567530"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b="1" lang="en-GB" sz="2400"/>
              <a:t>Font</a:t>
            </a:r>
            <a:endParaRPr/>
          </a:p>
          <a:p>
            <a:pPr indent="0" lvl="0" marL="0" rtl="0" algn="l">
              <a:lnSpc>
                <a:spcPct val="90000"/>
              </a:lnSpc>
              <a:spcBef>
                <a:spcPts val="1000"/>
              </a:spcBef>
              <a:spcAft>
                <a:spcPts val="0"/>
              </a:spcAft>
              <a:buClr>
                <a:schemeClr val="dk1"/>
              </a:buClr>
              <a:buSzPts val="2400"/>
              <a:buNone/>
            </a:pPr>
            <a:r>
              <a:rPr lang="en-GB" sz="2400"/>
              <a:t>To set the font we use the property </a:t>
            </a:r>
            <a:r>
              <a:rPr lang="en-GB" sz="2400">
                <a:latin typeface="Courier"/>
                <a:ea typeface="Courier"/>
                <a:cs typeface="Courier"/>
                <a:sym typeface="Courier"/>
              </a:rPr>
              <a:t>font-family</a:t>
            </a:r>
            <a:r>
              <a:rPr lang="en-GB" sz="2400"/>
              <a:t>.</a:t>
            </a:r>
            <a:endParaRPr/>
          </a:p>
          <a:p>
            <a:pPr indent="0" lvl="0" marL="0" rtl="0" algn="l">
              <a:lnSpc>
                <a:spcPct val="90000"/>
              </a:lnSpc>
              <a:spcBef>
                <a:spcPts val="1000"/>
              </a:spcBef>
              <a:spcAft>
                <a:spcPts val="0"/>
              </a:spcAft>
              <a:buClr>
                <a:schemeClr val="dk1"/>
              </a:buClr>
              <a:buSzPts val="2400"/>
              <a:buNone/>
            </a:pPr>
            <a:r>
              <a:rPr lang="en-GB" sz="2400"/>
              <a:t>The value is the name of the font that you want to use, such as Arial or Courier New. If the name of the font family has more than one word then it must be put in quotation marks; for example </a:t>
            </a:r>
            <a:r>
              <a:rPr lang="en-GB" sz="2400">
                <a:latin typeface="Courier"/>
                <a:ea typeface="Courier"/>
                <a:cs typeface="Courier"/>
                <a:sym typeface="Courier"/>
              </a:rPr>
              <a:t>"Times New Roman"</a:t>
            </a:r>
            <a:r>
              <a:rPr lang="en-GB" sz="2400"/>
              <a:t>.</a:t>
            </a:r>
            <a:endParaRPr/>
          </a:p>
          <a:p>
            <a:pPr indent="0" lvl="0" marL="0" rtl="0" algn="l">
              <a:lnSpc>
                <a:spcPct val="90000"/>
              </a:lnSpc>
              <a:spcBef>
                <a:spcPts val="1000"/>
              </a:spcBef>
              <a:spcAft>
                <a:spcPts val="0"/>
              </a:spcAft>
              <a:buClr>
                <a:schemeClr val="dk1"/>
              </a:buClr>
              <a:buSzPts val="2400"/>
              <a:buNone/>
            </a:pPr>
            <a:r>
              <a:rPr b="1" lang="en-GB" sz="2400"/>
              <a:t>Font size</a:t>
            </a:r>
            <a:endParaRPr/>
          </a:p>
          <a:p>
            <a:pPr indent="0" lvl="0" marL="0" rtl="0" algn="l">
              <a:lnSpc>
                <a:spcPct val="90000"/>
              </a:lnSpc>
              <a:spcBef>
                <a:spcPts val="1000"/>
              </a:spcBef>
              <a:spcAft>
                <a:spcPts val="0"/>
              </a:spcAft>
              <a:buClr>
                <a:schemeClr val="dk1"/>
              </a:buClr>
              <a:buSzPts val="2400"/>
              <a:buNone/>
            </a:pPr>
            <a:r>
              <a:rPr lang="en-GB" sz="2400"/>
              <a:t>HTML tags have pre-defined font sizes for six heading levels (</a:t>
            </a:r>
            <a:r>
              <a:rPr lang="en-GB" sz="2400">
                <a:latin typeface="Courier"/>
                <a:ea typeface="Courier"/>
                <a:cs typeface="Courier"/>
                <a:sym typeface="Courier"/>
              </a:rPr>
              <a:t>h1</a:t>
            </a:r>
            <a:r>
              <a:rPr lang="en-GB" sz="2400"/>
              <a:t> to </a:t>
            </a:r>
            <a:r>
              <a:rPr lang="en-GB" sz="2400">
                <a:latin typeface="Courier"/>
                <a:ea typeface="Courier"/>
                <a:cs typeface="Courier"/>
                <a:sym typeface="Courier"/>
              </a:rPr>
              <a:t>h6</a:t>
            </a:r>
            <a:r>
              <a:rPr lang="en-GB" sz="2400"/>
              <a:t>) and for the normal text in paragraphs.</a:t>
            </a:r>
            <a:endParaRPr/>
          </a:p>
          <a:p>
            <a:pPr indent="0" lvl="0" marL="0" rtl="0" algn="l">
              <a:lnSpc>
                <a:spcPct val="90000"/>
              </a:lnSpc>
              <a:spcBef>
                <a:spcPts val="1000"/>
              </a:spcBef>
              <a:spcAft>
                <a:spcPts val="0"/>
              </a:spcAft>
              <a:buClr>
                <a:schemeClr val="dk1"/>
              </a:buClr>
              <a:buSzPts val="2400"/>
              <a:buNone/>
            </a:pPr>
            <a:r>
              <a:rPr lang="en-GB" sz="2400"/>
              <a:t>To change the size of the font we use the property </a:t>
            </a:r>
            <a:r>
              <a:rPr lang="en-GB" sz="2400">
                <a:latin typeface="Courier"/>
                <a:ea typeface="Courier"/>
                <a:cs typeface="Courier"/>
                <a:sym typeface="Courier"/>
              </a:rPr>
              <a:t>font-size</a:t>
            </a:r>
            <a:r>
              <a:rPr lang="en-GB" sz="2400"/>
              <a:t>. The value is, for example, </a:t>
            </a:r>
            <a:r>
              <a:rPr lang="en-GB" sz="2400">
                <a:latin typeface="Courier"/>
                <a:ea typeface="Courier"/>
                <a:cs typeface="Courier"/>
                <a:sym typeface="Courier"/>
              </a:rPr>
              <a:t>16px</a:t>
            </a:r>
            <a:r>
              <a:rPr lang="en-GB" sz="2400"/>
              <a:t>.</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4"/>
          <p:cNvSpPr txBox="1"/>
          <p:nvPr>
            <p:ph type="title"/>
          </p:nvPr>
        </p:nvSpPr>
        <p:spPr>
          <a:xfrm>
            <a:off x="1580322" y="824948"/>
            <a:ext cx="9773478"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CSS classes </a:t>
            </a:r>
            <a:endParaRPr/>
          </a:p>
        </p:txBody>
      </p:sp>
      <p:sp>
        <p:nvSpPr>
          <p:cNvPr id="153" name="Google Shape;153;p24"/>
          <p:cNvSpPr txBox="1"/>
          <p:nvPr>
            <p:ph idx="1" type="body"/>
          </p:nvPr>
        </p:nvSpPr>
        <p:spPr>
          <a:xfrm>
            <a:off x="1580322" y="1825625"/>
            <a:ext cx="9773478"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So far, we have applied the same styling to all elements on a web page that share the same tag. For example, all of the paragraphs defined by </a:t>
            </a:r>
            <a:r>
              <a:rPr lang="en-GB" sz="2400">
                <a:latin typeface="Courier"/>
                <a:ea typeface="Courier"/>
                <a:cs typeface="Courier"/>
                <a:sym typeface="Courier"/>
              </a:rPr>
              <a:t>&lt;p&gt;</a:t>
            </a:r>
            <a:r>
              <a:rPr lang="en-GB" sz="2400"/>
              <a:t> have had the same styling.</a:t>
            </a:r>
            <a:endParaRPr/>
          </a:p>
          <a:p>
            <a:pPr indent="0" lvl="0" marL="0" rtl="0" algn="l">
              <a:lnSpc>
                <a:spcPct val="90000"/>
              </a:lnSpc>
              <a:spcBef>
                <a:spcPts val="1000"/>
              </a:spcBef>
              <a:spcAft>
                <a:spcPts val="0"/>
              </a:spcAft>
              <a:buClr>
                <a:schemeClr val="dk1"/>
              </a:buClr>
              <a:buSzPts val="2400"/>
              <a:buNone/>
            </a:pPr>
            <a:r>
              <a:rPr lang="en-GB" sz="2400"/>
              <a:t>However, it is possible to apply different styling to specific HTML elements using the </a:t>
            </a:r>
            <a:r>
              <a:rPr b="1" lang="en-GB" sz="2400">
                <a:solidFill>
                  <a:srgbClr val="2197AC"/>
                </a:solidFill>
              </a:rPr>
              <a:t>CSS class </a:t>
            </a:r>
            <a:r>
              <a:rPr lang="en-GB" sz="2400"/>
              <a:t>selector.</a:t>
            </a:r>
            <a:endParaRPr/>
          </a:p>
          <a:p>
            <a:pPr indent="0" lvl="0" marL="0" rtl="0" algn="l">
              <a:lnSpc>
                <a:spcPct val="90000"/>
              </a:lnSpc>
              <a:spcBef>
                <a:spcPts val="1000"/>
              </a:spcBef>
              <a:spcAft>
                <a:spcPts val="0"/>
              </a:spcAft>
              <a:buClr>
                <a:schemeClr val="dk1"/>
              </a:buClr>
              <a:buSzPts val="2400"/>
              <a:buNone/>
            </a:pPr>
            <a:r>
              <a:rPr lang="en-GB" sz="2400"/>
              <a:t>The styling is defined in the style sheet with a full stop followed by your chosen class name. </a:t>
            </a:r>
            <a:endParaRPr/>
          </a:p>
          <a:p>
            <a:pPr indent="0" lvl="0" marL="0" rtl="0" algn="l">
              <a:lnSpc>
                <a:spcPct val="90000"/>
              </a:lnSpc>
              <a:spcBef>
                <a:spcPts val="1000"/>
              </a:spcBef>
              <a:spcAft>
                <a:spcPts val="0"/>
              </a:spcAft>
              <a:buClr>
                <a:schemeClr val="dk1"/>
              </a:buClr>
              <a:buSzPts val="2400"/>
              <a:buNone/>
            </a:pPr>
            <a:r>
              <a:rPr lang="en-GB" sz="2400"/>
              <a:t>For example:</a:t>
            </a:r>
            <a:endParaRPr/>
          </a:p>
          <a:p>
            <a:pPr indent="0" lvl="0" marL="0" rtl="0" algn="l">
              <a:lnSpc>
                <a:spcPct val="90000"/>
              </a:lnSpc>
              <a:spcBef>
                <a:spcPts val="1000"/>
              </a:spcBef>
              <a:spcAft>
                <a:spcPts val="0"/>
              </a:spcAft>
              <a:buClr>
                <a:schemeClr val="dk1"/>
              </a:buClr>
              <a:buSzPts val="2800"/>
              <a:buNone/>
            </a:pPr>
            <a:r>
              <a:t/>
            </a:r>
            <a:endParaRPr/>
          </a:p>
        </p:txBody>
      </p:sp>
      <p:pic>
        <p:nvPicPr>
          <p:cNvPr id="154" name="Google Shape;154;p24"/>
          <p:cNvPicPr preferRelativeResize="0"/>
          <p:nvPr/>
        </p:nvPicPr>
        <p:blipFill rotWithShape="1">
          <a:blip r:embed="rId3">
            <a:alphaModFix/>
          </a:blip>
          <a:srcRect b="0" l="0" r="0" t="0"/>
          <a:stretch/>
        </p:blipFill>
        <p:spPr>
          <a:xfrm>
            <a:off x="3095017" y="5094515"/>
            <a:ext cx="2609097" cy="1200329"/>
          </a:xfrm>
          <a:prstGeom prst="rect">
            <a:avLst/>
          </a:prstGeom>
          <a:noFill/>
          <a:ln>
            <a:noFill/>
          </a:ln>
        </p:spPr>
      </p:pic>
      <p:sp>
        <p:nvSpPr>
          <p:cNvPr id="155" name="Google Shape;155;p24"/>
          <p:cNvSpPr/>
          <p:nvPr/>
        </p:nvSpPr>
        <p:spPr>
          <a:xfrm>
            <a:off x="5824330" y="4976634"/>
            <a:ext cx="5529470" cy="1200329"/>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This will change the text colour of all elements that have been assigned the class </a:t>
            </a:r>
            <a:r>
              <a:rPr lang="en-GB" sz="2400">
                <a:solidFill>
                  <a:schemeClr val="dk1"/>
                </a:solidFill>
                <a:latin typeface="Courier"/>
                <a:ea typeface="Courier"/>
                <a:cs typeface="Courier"/>
                <a:sym typeface="Courier"/>
              </a:rPr>
              <a:t>black-text</a:t>
            </a:r>
            <a:r>
              <a:rPr lang="en-GB" sz="2400">
                <a:solidFill>
                  <a:schemeClr val="dk1"/>
                </a:solidFill>
                <a:latin typeface="Calibri"/>
                <a:ea typeface="Calibri"/>
                <a:cs typeface="Calibri"/>
                <a:sym typeface="Calibri"/>
              </a:rPr>
              <a:t> to black.</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5"/>
          <p:cNvSpPr txBox="1"/>
          <p:nvPr>
            <p:ph type="title"/>
          </p:nvPr>
        </p:nvSpPr>
        <p:spPr>
          <a:xfrm>
            <a:off x="1580322" y="824948"/>
            <a:ext cx="9773478" cy="79513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Assigning the class </a:t>
            </a:r>
            <a:endParaRPr/>
          </a:p>
        </p:txBody>
      </p:sp>
      <p:sp>
        <p:nvSpPr>
          <p:cNvPr id="161" name="Google Shape;161;p25"/>
          <p:cNvSpPr txBox="1"/>
          <p:nvPr>
            <p:ph idx="1" type="body"/>
          </p:nvPr>
        </p:nvSpPr>
        <p:spPr>
          <a:xfrm>
            <a:off x="1580322" y="1825625"/>
            <a:ext cx="9773478" cy="4351338"/>
          </a:xfrm>
          <a:prstGeom prst="rect">
            <a:avLst/>
          </a:prstGeom>
          <a:noFill/>
          <a:ln>
            <a:noFill/>
          </a:ln>
        </p:spPr>
        <p:txBody>
          <a:bodyPr anchorCtr="0" anchor="t" bIns="45700" lIns="91425" spcFirstLastPara="1" rIns="91425" wrap="square" tIns="45700">
            <a:normAutofit/>
          </a:bodyPr>
          <a:lstStyle/>
          <a:p>
            <a:pPr indent="0" lvl="0" marL="0" rtl="0" algn="l">
              <a:lnSpc>
                <a:spcPct val="90000"/>
              </a:lnSpc>
              <a:spcBef>
                <a:spcPts val="0"/>
              </a:spcBef>
              <a:spcAft>
                <a:spcPts val="0"/>
              </a:spcAft>
              <a:buClr>
                <a:schemeClr val="dk1"/>
              </a:buClr>
              <a:buSzPts val="2400"/>
              <a:buNone/>
            </a:pPr>
            <a:r>
              <a:rPr lang="en-GB" sz="2400"/>
              <a:t>The class is assigned in the HTML document by adding </a:t>
            </a:r>
            <a:r>
              <a:rPr lang="en-GB" sz="2400">
                <a:latin typeface="Courier"/>
                <a:ea typeface="Courier"/>
                <a:cs typeface="Courier"/>
                <a:sym typeface="Courier"/>
              </a:rPr>
              <a:t>class=</a:t>
            </a:r>
            <a:r>
              <a:rPr lang="en-GB" sz="2400"/>
              <a:t> followed by the class name inside quotation marks. For example:</a:t>
            </a:r>
            <a:endParaRPr/>
          </a:p>
          <a:p>
            <a:pPr indent="0" lvl="0" marL="0" rtl="0" algn="l">
              <a:lnSpc>
                <a:spcPct val="90000"/>
              </a:lnSpc>
              <a:spcBef>
                <a:spcPts val="1000"/>
              </a:spcBef>
              <a:spcAft>
                <a:spcPts val="0"/>
              </a:spcAft>
              <a:buClr>
                <a:schemeClr val="dk1"/>
              </a:buClr>
              <a:buSzPts val="2800"/>
              <a:buNone/>
            </a:pPr>
            <a:r>
              <a:t/>
            </a:r>
            <a:endParaRPr/>
          </a:p>
        </p:txBody>
      </p:sp>
      <p:pic>
        <p:nvPicPr>
          <p:cNvPr id="162" name="Google Shape;162;p25"/>
          <p:cNvPicPr preferRelativeResize="0"/>
          <p:nvPr/>
        </p:nvPicPr>
        <p:blipFill rotWithShape="1">
          <a:blip r:embed="rId3">
            <a:alphaModFix/>
          </a:blip>
          <a:srcRect b="0" l="0" r="0" t="0"/>
          <a:stretch/>
        </p:blipFill>
        <p:spPr>
          <a:xfrm>
            <a:off x="3536673" y="2972808"/>
            <a:ext cx="5118653" cy="706837"/>
          </a:xfrm>
          <a:prstGeom prst="rect">
            <a:avLst/>
          </a:prstGeom>
          <a:noFill/>
          <a:ln>
            <a:noFill/>
          </a:ln>
        </p:spPr>
      </p:pic>
      <p:sp>
        <p:nvSpPr>
          <p:cNvPr id="163" name="Google Shape;163;p25"/>
          <p:cNvSpPr/>
          <p:nvPr/>
        </p:nvSpPr>
        <p:spPr>
          <a:xfrm>
            <a:off x="1580322" y="3885192"/>
            <a:ext cx="9375913" cy="193899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2400">
                <a:solidFill>
                  <a:schemeClr val="dk1"/>
                </a:solidFill>
                <a:latin typeface="Calibri"/>
                <a:ea typeface="Calibri"/>
                <a:cs typeface="Calibri"/>
                <a:sym typeface="Calibri"/>
              </a:rPr>
              <a:t>A class can be applied to as many elements in an HTML document as required.</a:t>
            </a:r>
            <a:endParaRPr/>
          </a:p>
          <a:p>
            <a:pPr indent="0" lvl="0" marL="0" marR="0" rtl="0" algn="l">
              <a:spcBef>
                <a:spcPts val="0"/>
              </a:spcBef>
              <a:spcAft>
                <a:spcPts val="0"/>
              </a:spcAft>
              <a:buNone/>
            </a:pPr>
            <a:r>
              <a:rPr lang="en-GB" sz="2400">
                <a:solidFill>
                  <a:schemeClr val="dk1"/>
                </a:solidFill>
                <a:latin typeface="Calibri"/>
                <a:ea typeface="Calibri"/>
                <a:cs typeface="Calibri"/>
                <a:sym typeface="Calibri"/>
              </a:rPr>
              <a:t>It is also possible to assign more than one class to an HTML element. This is done by placing additional class names inside the quotation marks separated by spaces.</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6"/>
          <p:cNvSpPr txBox="1"/>
          <p:nvPr>
            <p:ph type="title"/>
          </p:nvPr>
        </p:nvSpPr>
        <p:spPr>
          <a:xfrm>
            <a:off x="1570382" y="834888"/>
            <a:ext cx="9783417" cy="805070"/>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Activity 1.1: Styling using CSS </a:t>
            </a:r>
            <a:endParaRPr/>
          </a:p>
        </p:txBody>
      </p:sp>
      <p:sp>
        <p:nvSpPr>
          <p:cNvPr id="169" name="Google Shape;169;p26"/>
          <p:cNvSpPr/>
          <p:nvPr/>
        </p:nvSpPr>
        <p:spPr>
          <a:xfrm>
            <a:off x="366090" y="2035735"/>
            <a:ext cx="6096000" cy="2028248"/>
          </a:xfrm>
          <a:prstGeom prst="rect">
            <a:avLst/>
          </a:prstGeom>
          <a:solidFill>
            <a:srgbClr val="EDEDED"/>
          </a:solidFill>
          <a:ln>
            <a:noFill/>
          </a:ln>
        </p:spPr>
        <p:txBody>
          <a:bodyPr anchorCtr="0" anchor="t" bIns="45700" lIns="91425" spcFirstLastPara="1" rIns="91425" wrap="square" tIns="45700">
            <a:noAutofit/>
          </a:bodyPr>
          <a:lstStyle/>
          <a:p>
            <a:pPr indent="-342900" lvl="0" marL="342900" marR="0" rtl="0" algn="l">
              <a:spcBef>
                <a:spcPts val="0"/>
              </a:spcBef>
              <a:spcAft>
                <a:spcPts val="0"/>
              </a:spcAft>
              <a:buClr>
                <a:schemeClr val="dk1"/>
              </a:buClr>
              <a:buSzPts val="1800"/>
              <a:buFont typeface="Calibri"/>
              <a:buAutoNum type="arabicPeriod"/>
            </a:pPr>
            <a:r>
              <a:rPr lang="en-GB" sz="1800">
                <a:solidFill>
                  <a:schemeClr val="dk1"/>
                </a:solidFill>
                <a:latin typeface="Calibri"/>
                <a:ea typeface="Calibri"/>
                <a:cs typeface="Calibri"/>
                <a:sym typeface="Calibri"/>
              </a:rPr>
              <a:t> </a:t>
            </a:r>
            <a:endParaRPr sz="1800">
              <a:solidFill>
                <a:schemeClr val="dk1"/>
              </a:solidFill>
              <a:latin typeface="Calibri"/>
              <a:ea typeface="Calibri"/>
              <a:cs typeface="Calibri"/>
              <a:sym typeface="Calibri"/>
            </a:endParaRPr>
          </a:p>
          <a:p>
            <a:pPr indent="-342900" lvl="0" marL="342900" marR="0" rtl="0" algn="l">
              <a:lnSpc>
                <a:spcPct val="115000"/>
              </a:lnSpc>
              <a:spcBef>
                <a:spcPts val="6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Set the background colour for the page </a:t>
            </a:r>
            <a:r>
              <a:rPr lang="en-GB" sz="1800">
                <a:solidFill>
                  <a:schemeClr val="dk1"/>
                </a:solidFill>
                <a:latin typeface="Courier New"/>
                <a:ea typeface="Courier New"/>
                <a:cs typeface="Courier New"/>
                <a:sym typeface="Courier New"/>
              </a:rPr>
              <a:t>body</a:t>
            </a:r>
            <a:r>
              <a:rPr lang="en-GB" sz="1800">
                <a:solidFill>
                  <a:schemeClr val="dk1"/>
                </a:solidFill>
                <a:latin typeface="Calibri"/>
                <a:ea typeface="Calibri"/>
                <a:cs typeface="Calibri"/>
                <a:sym typeface="Calibri"/>
              </a:rPr>
              <a:t> to </a:t>
            </a:r>
            <a:r>
              <a:rPr lang="en-GB" sz="1800">
                <a:solidFill>
                  <a:schemeClr val="dk1"/>
                </a:solidFill>
                <a:latin typeface="Courier New"/>
                <a:ea typeface="Courier New"/>
                <a:cs typeface="Courier New"/>
                <a:sym typeface="Courier New"/>
              </a:rPr>
              <a:t>Linen</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Change the text colour for the main heading </a:t>
            </a:r>
            <a:r>
              <a:rPr lang="en-GB" sz="1800">
                <a:solidFill>
                  <a:schemeClr val="dk1"/>
                </a:solidFill>
                <a:latin typeface="Courier New"/>
                <a:ea typeface="Courier New"/>
                <a:cs typeface="Courier New"/>
                <a:sym typeface="Courier New"/>
              </a:rPr>
              <a:t>h1</a:t>
            </a:r>
            <a:r>
              <a:rPr lang="en-GB" sz="1800">
                <a:solidFill>
                  <a:schemeClr val="dk1"/>
                </a:solidFill>
                <a:latin typeface="Calibri"/>
                <a:ea typeface="Calibri"/>
                <a:cs typeface="Calibri"/>
                <a:sym typeface="Calibri"/>
              </a:rPr>
              <a:t> to </a:t>
            </a:r>
            <a:r>
              <a:rPr lang="en-GB" sz="1800">
                <a:solidFill>
                  <a:schemeClr val="dk1"/>
                </a:solidFill>
                <a:latin typeface="Courier New"/>
                <a:ea typeface="Courier New"/>
                <a:cs typeface="Courier New"/>
                <a:sym typeface="Courier New"/>
              </a:rPr>
              <a:t>MediumVioletRed</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Change the font size for paragraphs </a:t>
            </a:r>
            <a:r>
              <a:rPr lang="en-GB" sz="1800">
                <a:solidFill>
                  <a:schemeClr val="dk1"/>
                </a:solidFill>
                <a:latin typeface="Courier New"/>
                <a:ea typeface="Courier New"/>
                <a:cs typeface="Courier New"/>
                <a:sym typeface="Courier New"/>
              </a:rPr>
              <a:t>p</a:t>
            </a:r>
            <a:r>
              <a:rPr lang="en-GB" sz="1800">
                <a:solidFill>
                  <a:schemeClr val="dk1"/>
                </a:solidFill>
                <a:latin typeface="Calibri"/>
                <a:ea typeface="Calibri"/>
                <a:cs typeface="Calibri"/>
                <a:sym typeface="Calibri"/>
              </a:rPr>
              <a:t> to </a:t>
            </a:r>
            <a:r>
              <a:rPr lang="en-GB" sz="1800">
                <a:solidFill>
                  <a:schemeClr val="dk1"/>
                </a:solidFill>
                <a:latin typeface="Courier New"/>
                <a:ea typeface="Courier New"/>
                <a:cs typeface="Courier New"/>
                <a:sym typeface="Courier New"/>
              </a:rPr>
              <a:t>18px</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p:txBody>
      </p:sp>
      <p:sp>
        <p:nvSpPr>
          <p:cNvPr id="170" name="Google Shape;170;p26"/>
          <p:cNvSpPr/>
          <p:nvPr/>
        </p:nvSpPr>
        <p:spPr>
          <a:xfrm>
            <a:off x="5568175" y="3481308"/>
            <a:ext cx="6096000" cy="2973122"/>
          </a:xfrm>
          <a:prstGeom prst="rect">
            <a:avLst/>
          </a:prstGeom>
          <a:solidFill>
            <a:schemeClr val="lt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GB" sz="1800">
                <a:solidFill>
                  <a:schemeClr val="dk1"/>
                </a:solidFill>
                <a:latin typeface="Calibri"/>
                <a:ea typeface="Calibri"/>
                <a:cs typeface="Calibri"/>
                <a:sym typeface="Calibri"/>
              </a:rPr>
              <a:t>2.  </a:t>
            </a:r>
            <a:endParaRPr sz="1800">
              <a:solidFill>
                <a:schemeClr val="dk1"/>
              </a:solidFill>
              <a:latin typeface="Calibri"/>
              <a:ea typeface="Calibri"/>
              <a:cs typeface="Calibri"/>
              <a:sym typeface="Calibri"/>
            </a:endParaRPr>
          </a:p>
          <a:p>
            <a:pPr indent="-342900" lvl="0" marL="342900" marR="0" rtl="0" algn="l">
              <a:lnSpc>
                <a:spcPct val="115000"/>
              </a:lnSpc>
              <a:spcBef>
                <a:spcPts val="6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Set the font family for the page to </a:t>
            </a:r>
            <a:r>
              <a:rPr lang="en-GB" sz="1800">
                <a:solidFill>
                  <a:schemeClr val="dk1"/>
                </a:solidFill>
                <a:latin typeface="Courier New"/>
                <a:ea typeface="Courier New"/>
                <a:cs typeface="Courier New"/>
                <a:sym typeface="Courier New"/>
              </a:rPr>
              <a:t>Arial</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Set the font family for the main heading to </a:t>
            </a:r>
            <a:r>
              <a:rPr lang="en-GB" sz="1800">
                <a:solidFill>
                  <a:schemeClr val="dk1"/>
                </a:solidFill>
                <a:latin typeface="Courier New"/>
                <a:ea typeface="Courier New"/>
                <a:cs typeface="Courier New"/>
                <a:sym typeface="Courier New"/>
              </a:rPr>
              <a:t>Courier New</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Remove the font family from the paragraph style rules.</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Change the background colour for the page to </a:t>
            </a:r>
            <a:r>
              <a:rPr lang="en-GB" sz="1800">
                <a:solidFill>
                  <a:schemeClr val="dk1"/>
                </a:solidFill>
                <a:latin typeface="Courier New"/>
                <a:ea typeface="Courier New"/>
                <a:cs typeface="Courier New"/>
                <a:sym typeface="Courier New"/>
              </a:rPr>
              <a:t>LightGrey</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a:p>
            <a:pPr indent="-342900" lvl="0" marL="342900" marR="0" rtl="0" algn="l">
              <a:lnSpc>
                <a:spcPct val="115000"/>
              </a:lnSpc>
              <a:spcBef>
                <a:spcPts val="1200"/>
              </a:spcBef>
              <a:spcAft>
                <a:spcPts val="0"/>
              </a:spcAft>
              <a:buClr>
                <a:schemeClr val="dk1"/>
              </a:buClr>
              <a:buSzPts val="1800"/>
              <a:buFont typeface="Calibri"/>
              <a:buAutoNum type="alphaLcPeriod"/>
            </a:pPr>
            <a:r>
              <a:rPr lang="en-GB" sz="1800">
                <a:solidFill>
                  <a:schemeClr val="dk1"/>
                </a:solidFill>
                <a:latin typeface="Calibri"/>
                <a:ea typeface="Calibri"/>
                <a:cs typeface="Calibri"/>
                <a:sym typeface="Calibri"/>
              </a:rPr>
              <a:t>Change the text colour for paragraphs to </a:t>
            </a:r>
            <a:r>
              <a:rPr lang="en-GB" sz="1800">
                <a:solidFill>
                  <a:schemeClr val="dk1"/>
                </a:solidFill>
                <a:latin typeface="Courier New"/>
                <a:ea typeface="Courier New"/>
                <a:cs typeface="Courier New"/>
                <a:sym typeface="Courier New"/>
              </a:rPr>
              <a:t>BlueViolet</a:t>
            </a:r>
            <a:r>
              <a:rPr lang="en-GB" sz="1800">
                <a:solidFill>
                  <a:schemeClr val="dk1"/>
                </a:solidFill>
                <a:latin typeface="Calibri"/>
                <a:ea typeface="Calibri"/>
                <a:cs typeface="Calibri"/>
                <a:sym typeface="Calibri"/>
              </a:rPr>
              <a:t>.</a:t>
            </a:r>
            <a:endParaRPr sz="1800">
              <a:solidFill>
                <a:schemeClr val="dk1"/>
              </a:solidFill>
              <a:latin typeface="Calibri"/>
              <a:ea typeface="Calibri"/>
              <a:cs typeface="Calibri"/>
              <a:sym typeface="Calibri"/>
            </a:endParaRPr>
          </a:p>
        </p:txBody>
      </p:sp>
      <p:sp>
        <p:nvSpPr>
          <p:cNvPr id="171" name="Google Shape;171;p26"/>
          <p:cNvSpPr/>
          <p:nvPr/>
        </p:nvSpPr>
        <p:spPr>
          <a:xfrm>
            <a:off x="618285" y="4605454"/>
            <a:ext cx="4210193" cy="646331"/>
          </a:xfrm>
          <a:prstGeom prst="rect">
            <a:avLst/>
          </a:prstGeom>
          <a:solidFill>
            <a:srgbClr val="FFFF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1800">
                <a:solidFill>
                  <a:srgbClr val="000000"/>
                </a:solidFill>
                <a:latin typeface="Calibri"/>
                <a:ea typeface="Calibri"/>
                <a:cs typeface="Calibri"/>
                <a:sym typeface="Calibri"/>
              </a:rPr>
              <a:t>Take a screenshot of your code and website and insert on next slide</a:t>
            </a:r>
            <a:endParaRPr b="1" sz="18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7"/>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t/>
            </a:r>
            <a:endParaRPr/>
          </a:p>
        </p:txBody>
      </p:sp>
      <p:sp>
        <p:nvSpPr>
          <p:cNvPr id="177" name="Google Shape;177;p27"/>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
        <p:nvSpPr>
          <p:cNvPr id="178" name="Google Shape;178;p27"/>
          <p:cNvSpPr/>
          <p:nvPr/>
        </p:nvSpPr>
        <p:spPr>
          <a:xfrm>
            <a:off x="838200" y="788660"/>
            <a:ext cx="4210193" cy="646331"/>
          </a:xfrm>
          <a:prstGeom prst="rect">
            <a:avLst/>
          </a:prstGeom>
          <a:solidFill>
            <a:srgbClr val="FFFF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1800">
                <a:solidFill>
                  <a:srgbClr val="000000"/>
                </a:solidFill>
                <a:latin typeface="Calibri"/>
                <a:ea typeface="Calibri"/>
                <a:cs typeface="Calibri"/>
                <a:sym typeface="Calibri"/>
              </a:rPr>
              <a:t>Take a screenshot of your code and website and insert HERE</a:t>
            </a:r>
            <a:endParaRPr b="1" sz="18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28"/>
          <p:cNvSpPr txBox="1"/>
          <p:nvPr>
            <p:ph type="title"/>
          </p:nvPr>
        </p:nvSpPr>
        <p:spPr>
          <a:xfrm>
            <a:off x="1683834" y="780585"/>
            <a:ext cx="9669966" cy="91010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lt1"/>
              </a:buClr>
              <a:buSzPts val="4400"/>
              <a:buFont typeface="Calibri"/>
              <a:buNone/>
            </a:pPr>
            <a:r>
              <a:rPr b="1" lang="en-GB">
                <a:solidFill>
                  <a:schemeClr val="lt1"/>
                </a:solidFill>
              </a:rPr>
              <a:t>Challenge exercise</a:t>
            </a:r>
            <a:endParaRPr b="1">
              <a:solidFill>
                <a:schemeClr val="lt1"/>
              </a:solidFill>
            </a:endParaRPr>
          </a:p>
        </p:txBody>
      </p:sp>
      <p:pic>
        <p:nvPicPr>
          <p:cNvPr id="184" name="Google Shape;184;p28"/>
          <p:cNvPicPr preferRelativeResize="0"/>
          <p:nvPr>
            <p:ph idx="1" type="body"/>
          </p:nvPr>
        </p:nvPicPr>
        <p:blipFill rotWithShape="1">
          <a:blip r:embed="rId3">
            <a:alphaModFix/>
          </a:blip>
          <a:srcRect b="0" l="0" r="0" t="0"/>
          <a:stretch/>
        </p:blipFill>
        <p:spPr>
          <a:xfrm>
            <a:off x="2396482" y="1825625"/>
            <a:ext cx="7399036" cy="4351338"/>
          </a:xfrm>
          <a:prstGeom prst="rect">
            <a:avLst/>
          </a:prstGeom>
          <a:noFill/>
          <a:ln>
            <a:noFill/>
          </a:ln>
        </p:spPr>
      </p:pic>
      <p:sp>
        <p:nvSpPr>
          <p:cNvPr id="185" name="Google Shape;185;p28"/>
          <p:cNvSpPr/>
          <p:nvPr/>
        </p:nvSpPr>
        <p:spPr>
          <a:xfrm>
            <a:off x="7981807" y="1690688"/>
            <a:ext cx="4210193" cy="646331"/>
          </a:xfrm>
          <a:prstGeom prst="rect">
            <a:avLst/>
          </a:prstGeom>
          <a:solidFill>
            <a:srgbClr val="FFFF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1800">
                <a:solidFill>
                  <a:srgbClr val="000000"/>
                </a:solidFill>
                <a:latin typeface="Calibri"/>
                <a:ea typeface="Calibri"/>
                <a:cs typeface="Calibri"/>
                <a:sym typeface="Calibri"/>
              </a:rPr>
              <a:t>Take a screenshot of your code and website and insert on next slide</a:t>
            </a:r>
            <a:endParaRPr b="1" sz="18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2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Calibri"/>
              <a:buNone/>
            </a:pPr>
            <a:r>
              <a:t/>
            </a:r>
            <a:endParaRPr/>
          </a:p>
        </p:txBody>
      </p:sp>
      <p:sp>
        <p:nvSpPr>
          <p:cNvPr id="191" name="Google Shape;191;p29"/>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50800" lvl="0" marL="228600" rtl="0" algn="l">
              <a:lnSpc>
                <a:spcPct val="90000"/>
              </a:lnSpc>
              <a:spcBef>
                <a:spcPts val="0"/>
              </a:spcBef>
              <a:spcAft>
                <a:spcPts val="0"/>
              </a:spcAft>
              <a:buClr>
                <a:schemeClr val="dk1"/>
              </a:buClr>
              <a:buSzPts val="2800"/>
              <a:buNone/>
            </a:pPr>
            <a:r>
              <a:t/>
            </a:r>
            <a:endParaRPr/>
          </a:p>
        </p:txBody>
      </p:sp>
      <p:sp>
        <p:nvSpPr>
          <p:cNvPr id="192" name="Google Shape;192;p29"/>
          <p:cNvSpPr/>
          <p:nvPr/>
        </p:nvSpPr>
        <p:spPr>
          <a:xfrm>
            <a:off x="838200" y="788660"/>
            <a:ext cx="4210193" cy="646331"/>
          </a:xfrm>
          <a:prstGeom prst="rect">
            <a:avLst/>
          </a:prstGeom>
          <a:solidFill>
            <a:srgbClr val="FFFF0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1" lang="en-GB" sz="1800">
                <a:solidFill>
                  <a:srgbClr val="000000"/>
                </a:solidFill>
                <a:latin typeface="Calibri"/>
                <a:ea typeface="Calibri"/>
                <a:cs typeface="Calibri"/>
                <a:sym typeface="Calibri"/>
              </a:rPr>
              <a:t>Take a screenshot of your code and website and insert HERE</a:t>
            </a:r>
            <a:endParaRPr b="1"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