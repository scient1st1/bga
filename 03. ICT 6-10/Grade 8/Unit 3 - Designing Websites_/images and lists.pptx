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pic>
        <p:nvPicPr>
          <p:cNvPr descr="Shape, rectangle&#10;&#10;Description automatically generated" id="9" name="Google Shape;9;p1"/>
          <p:cNvPicPr preferRelativeResize="0"/>
          <p:nvPr/>
        </p:nvPicPr>
        <p:blipFill rotWithShape="1">
          <a:blip r:embed="rId1">
            <a:alphaModFix/>
          </a:blip>
          <a:srcRect b="0" l="0" r="0" t="0"/>
          <a:stretch/>
        </p:blipFill>
        <p:spPr>
          <a:xfrm>
            <a:off x="0" y="0"/>
            <a:ext cx="12238036" cy="164781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569134" y="2395813"/>
            <a:ext cx="8860459" cy="91585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b="1" lang="en-GB"/>
              <a:t>Designing websites</a:t>
            </a:r>
            <a:endParaRPr/>
          </a:p>
        </p:txBody>
      </p:sp>
      <p:sp>
        <p:nvSpPr>
          <p:cNvPr id="81" name="Google Shape;81;p13"/>
          <p:cNvSpPr/>
          <p:nvPr/>
        </p:nvSpPr>
        <p:spPr>
          <a:xfrm>
            <a:off x="4641531" y="3429000"/>
            <a:ext cx="2908938"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2197AC"/>
                </a:solidFill>
                <a:latin typeface="Calibri"/>
                <a:ea typeface="Calibri"/>
                <a:cs typeface="Calibri"/>
                <a:sym typeface="Calibri"/>
              </a:rPr>
              <a:t>Lesson 2: Images and lists</a:t>
            </a:r>
            <a:endParaRPr/>
          </a:p>
          <a:p>
            <a:pPr indent="0" lvl="0" marL="0" marR="0" rtl="0" algn="l">
              <a:spcBef>
                <a:spcPts val="0"/>
              </a:spcBef>
              <a:spcAft>
                <a:spcPts val="0"/>
              </a:spcAft>
              <a:buNone/>
            </a:pPr>
            <a:r>
              <a:t/>
            </a:r>
            <a:endParaRPr b="1" sz="2000">
              <a:solidFill>
                <a:srgbClr val="2197AC"/>
              </a:solidFill>
              <a:latin typeface="Calibri"/>
              <a:ea typeface="Calibri"/>
              <a:cs typeface="Calibri"/>
              <a:sym typeface="Calibri"/>
            </a:endParaRPr>
          </a:p>
        </p:txBody>
      </p:sp>
      <p:pic>
        <p:nvPicPr>
          <p:cNvPr id="82" name="Google Shape;82;p13"/>
          <p:cNvPicPr preferRelativeResize="0"/>
          <p:nvPr/>
        </p:nvPicPr>
        <p:blipFill rotWithShape="1">
          <a:blip r:embed="rId3">
            <a:alphaModFix/>
          </a:blip>
          <a:srcRect b="0" l="0" r="0" t="0"/>
          <a:stretch/>
        </p:blipFill>
        <p:spPr>
          <a:xfrm>
            <a:off x="8268109" y="2790238"/>
            <a:ext cx="2937412" cy="2584922"/>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592719" y="874643"/>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592719" y="2135971"/>
            <a:ext cx="10285396"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embed images on a web page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position elements on a web page</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add margins around elements to improve the layout</a:t>
            </a:r>
            <a:endParaRPr/>
          </a:p>
          <a:p>
            <a:pPr indent="-342900" lvl="0" marL="342900" marR="0" rtl="0" algn="l">
              <a:spcBef>
                <a:spcPts val="0"/>
              </a:spcBef>
              <a:spcAft>
                <a:spcPts val="0"/>
              </a:spcAft>
              <a:buClr>
                <a:schemeClr val="dk1"/>
              </a:buClr>
              <a:buSzPts val="2800"/>
              <a:buFont typeface="Noto Sans Symbols"/>
              <a:buChar char="∙"/>
            </a:pPr>
            <a:r>
              <a:rPr lang="en-GB" sz="2800">
                <a:solidFill>
                  <a:schemeClr val="dk1"/>
                </a:solidFill>
                <a:latin typeface="Calibri"/>
                <a:ea typeface="Calibri"/>
                <a:cs typeface="Calibri"/>
                <a:sym typeface="Calibri"/>
              </a:rPr>
              <a:t>how to create lists on a web page.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5"/>
          <p:cNvPicPr preferRelativeResize="0"/>
          <p:nvPr/>
        </p:nvPicPr>
        <p:blipFill rotWithShape="1">
          <a:blip r:embed="rId3">
            <a:alphaModFix/>
          </a:blip>
          <a:srcRect b="0" l="0" r="0" t="0"/>
          <a:stretch/>
        </p:blipFill>
        <p:spPr>
          <a:xfrm>
            <a:off x="1580321" y="2450769"/>
            <a:ext cx="6987209" cy="35027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1620078" y="755374"/>
            <a:ext cx="9733721" cy="884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Embedding an image </a:t>
            </a:r>
            <a:endParaRPr/>
          </a:p>
        </p:txBody>
      </p:sp>
      <p:sp>
        <p:nvSpPr>
          <p:cNvPr id="99" name="Google Shape;99;p16"/>
          <p:cNvSpPr/>
          <p:nvPr/>
        </p:nvSpPr>
        <p:spPr>
          <a:xfrm>
            <a:off x="1620078" y="2148871"/>
            <a:ext cx="8875644" cy="38164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200">
                <a:solidFill>
                  <a:schemeClr val="dk1"/>
                </a:solidFill>
                <a:latin typeface="Calibri"/>
                <a:ea typeface="Calibri"/>
                <a:cs typeface="Calibri"/>
                <a:sym typeface="Calibri"/>
              </a:rPr>
              <a:t>It is very important that any images you wish to use on your web pages are saved to the same folder as the HTML and CSS files for that web page.</a:t>
            </a:r>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The </a:t>
            </a:r>
            <a:r>
              <a:rPr lang="en-GB" sz="2200">
                <a:solidFill>
                  <a:schemeClr val="dk1"/>
                </a:solidFill>
                <a:latin typeface="Courier"/>
                <a:ea typeface="Courier"/>
                <a:cs typeface="Courier"/>
                <a:sym typeface="Courier"/>
              </a:rPr>
              <a:t>&lt;img&gt; </a:t>
            </a:r>
            <a:r>
              <a:rPr lang="en-GB" sz="2200">
                <a:solidFill>
                  <a:schemeClr val="dk1"/>
                </a:solidFill>
                <a:latin typeface="Calibri"/>
                <a:ea typeface="Calibri"/>
                <a:cs typeface="Calibri"/>
                <a:sym typeface="Calibri"/>
              </a:rPr>
              <a:t>tag is used to embed an image in an HTML page.</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There are two </a:t>
            </a:r>
            <a:r>
              <a:rPr b="1" lang="en-GB" sz="2200">
                <a:solidFill>
                  <a:srgbClr val="2197AC"/>
                </a:solidFill>
                <a:latin typeface="Calibri"/>
                <a:ea typeface="Calibri"/>
                <a:cs typeface="Calibri"/>
                <a:sym typeface="Calibri"/>
              </a:rPr>
              <a:t>attributes</a:t>
            </a:r>
            <a:r>
              <a:rPr lang="en-GB" sz="2200">
                <a:solidFill>
                  <a:schemeClr val="dk1"/>
                </a:solidFill>
                <a:latin typeface="Calibri"/>
                <a:ea typeface="Calibri"/>
                <a:cs typeface="Calibri"/>
                <a:sym typeface="Calibri"/>
              </a:rPr>
              <a:t> that must be included inside the tag:</a:t>
            </a:r>
            <a:endParaRPr/>
          </a:p>
          <a:p>
            <a:pPr indent="-342900" lvl="0" marL="342900" marR="0" rtl="0" algn="l">
              <a:spcBef>
                <a:spcPts val="0"/>
              </a:spcBef>
              <a:spcAft>
                <a:spcPts val="0"/>
              </a:spcAft>
              <a:buClr>
                <a:schemeClr val="dk1"/>
              </a:buClr>
              <a:buSzPts val="2200"/>
              <a:buFont typeface="Noto Sans Symbols"/>
              <a:buChar char="∙"/>
            </a:pPr>
            <a:r>
              <a:rPr lang="en-GB" sz="2200">
                <a:solidFill>
                  <a:schemeClr val="dk1"/>
                </a:solidFill>
                <a:latin typeface="Courier"/>
                <a:ea typeface="Courier"/>
                <a:cs typeface="Courier"/>
                <a:sym typeface="Courier"/>
              </a:rPr>
              <a:t>src</a:t>
            </a:r>
            <a:r>
              <a:rPr lang="en-GB" sz="2200">
                <a:solidFill>
                  <a:schemeClr val="dk1"/>
                </a:solidFill>
                <a:latin typeface="Calibri"/>
                <a:ea typeface="Calibri"/>
                <a:cs typeface="Calibri"/>
                <a:sym typeface="Calibri"/>
              </a:rPr>
              <a:t>: the link to the source image. Usually, this is the image's filename and extension.</a:t>
            </a:r>
            <a:endParaRPr/>
          </a:p>
          <a:p>
            <a:pPr indent="-342900" lvl="0" marL="342900" marR="0" rtl="0" algn="l">
              <a:spcBef>
                <a:spcPts val="0"/>
              </a:spcBef>
              <a:spcAft>
                <a:spcPts val="0"/>
              </a:spcAft>
              <a:buClr>
                <a:schemeClr val="dk1"/>
              </a:buClr>
              <a:buSzPts val="2200"/>
              <a:buFont typeface="Noto Sans Symbols"/>
              <a:buChar char="∙"/>
            </a:pPr>
            <a:r>
              <a:rPr lang="en-GB" sz="2200">
                <a:solidFill>
                  <a:schemeClr val="dk1"/>
                </a:solidFill>
                <a:latin typeface="Courier"/>
                <a:ea typeface="Courier"/>
                <a:cs typeface="Courier"/>
                <a:sym typeface="Courier"/>
              </a:rPr>
              <a:t>alt</a:t>
            </a:r>
            <a:r>
              <a:rPr lang="en-GB" sz="2200">
                <a:solidFill>
                  <a:schemeClr val="dk1"/>
                </a:solidFill>
                <a:latin typeface="Calibri"/>
                <a:ea typeface="Calibri"/>
                <a:cs typeface="Calibri"/>
                <a:sym typeface="Calibri"/>
              </a:rPr>
              <a:t>: alternative text that describes the image, to be used if the image cannot be displayed. It is also used by screen readers.</a:t>
            </a:r>
            <a:endParaRPr/>
          </a:p>
          <a:p>
            <a:pPr indent="0" lvl="0" marL="0" marR="0" rtl="0" algn="l">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spcBef>
                <a:spcPts val="0"/>
              </a:spcBef>
              <a:spcAft>
                <a:spcPts val="0"/>
              </a:spcAft>
              <a:buNone/>
            </a:pPr>
            <a:r>
              <a:rPr lang="en-GB" sz="2200">
                <a:solidFill>
                  <a:schemeClr val="dk1"/>
                </a:solidFill>
                <a:latin typeface="Calibri"/>
                <a:ea typeface="Calibri"/>
                <a:cs typeface="Calibri"/>
                <a:sym typeface="Calibri"/>
              </a:rPr>
              <a:t>It is also advisable to specify the </a:t>
            </a:r>
            <a:r>
              <a:rPr lang="en-GB" sz="2200">
                <a:solidFill>
                  <a:schemeClr val="dk1"/>
                </a:solidFill>
                <a:latin typeface="Courier"/>
                <a:ea typeface="Courier"/>
                <a:cs typeface="Courier"/>
                <a:sym typeface="Courier"/>
              </a:rPr>
              <a:t>width</a:t>
            </a:r>
            <a:r>
              <a:rPr lang="en-GB" sz="2200">
                <a:solidFill>
                  <a:schemeClr val="dk1"/>
                </a:solidFill>
                <a:latin typeface="Calibri"/>
                <a:ea typeface="Calibri"/>
                <a:cs typeface="Calibri"/>
                <a:sym typeface="Calibri"/>
              </a:rPr>
              <a:t> and the </a:t>
            </a:r>
            <a:r>
              <a:rPr lang="en-GB" sz="2200">
                <a:solidFill>
                  <a:schemeClr val="dk1"/>
                </a:solidFill>
                <a:latin typeface="Courier"/>
                <a:ea typeface="Courier"/>
                <a:cs typeface="Courier"/>
                <a:sym typeface="Courier"/>
              </a:rPr>
              <a:t>height</a:t>
            </a:r>
            <a:r>
              <a:rPr lang="en-GB" sz="2200">
                <a:solidFill>
                  <a:schemeClr val="dk1"/>
                </a:solidFill>
                <a:latin typeface="Calibri"/>
                <a:ea typeface="Calibri"/>
                <a:cs typeface="Calibri"/>
                <a:sym typeface="Calibri"/>
              </a:rPr>
              <a:t> of the image.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1600201" y="824947"/>
            <a:ext cx="9753599" cy="80610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Displaying an image </a:t>
            </a:r>
            <a:endParaRPr/>
          </a:p>
        </p:txBody>
      </p:sp>
      <p:sp>
        <p:nvSpPr>
          <p:cNvPr id="105" name="Google Shape;105;p17"/>
          <p:cNvSpPr txBox="1"/>
          <p:nvPr>
            <p:ph idx="1" type="body"/>
          </p:nvPr>
        </p:nvSpPr>
        <p:spPr>
          <a:xfrm>
            <a:off x="1600202" y="1858617"/>
            <a:ext cx="9571382" cy="45123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GB"/>
              <a:t>The following code has been used to add a picture of a red flower to a web page:</a:t>
            </a:r>
            <a:endParaRPr/>
          </a:p>
        </p:txBody>
      </p:sp>
      <p:pic>
        <p:nvPicPr>
          <p:cNvPr id="106" name="Google Shape;106;p17"/>
          <p:cNvPicPr preferRelativeResize="0"/>
          <p:nvPr/>
        </p:nvPicPr>
        <p:blipFill rotWithShape="1">
          <a:blip r:embed="rId3">
            <a:alphaModFix/>
          </a:blip>
          <a:srcRect b="0" l="0" r="0" t="0"/>
          <a:stretch/>
        </p:blipFill>
        <p:spPr>
          <a:xfrm>
            <a:off x="1600201" y="2691635"/>
            <a:ext cx="7345016" cy="324081"/>
          </a:xfrm>
          <a:prstGeom prst="rect">
            <a:avLst/>
          </a:prstGeom>
          <a:noFill/>
          <a:ln>
            <a:noFill/>
          </a:ln>
        </p:spPr>
      </p:pic>
      <p:pic>
        <p:nvPicPr>
          <p:cNvPr id="107" name="Google Shape;107;p17"/>
          <p:cNvPicPr preferRelativeResize="0"/>
          <p:nvPr/>
        </p:nvPicPr>
        <p:blipFill rotWithShape="1">
          <a:blip r:embed="rId4">
            <a:alphaModFix/>
          </a:blip>
          <a:srcRect b="0" l="0" r="0" t="0"/>
          <a:stretch/>
        </p:blipFill>
        <p:spPr>
          <a:xfrm>
            <a:off x="4184374" y="3297135"/>
            <a:ext cx="2299253" cy="1198133"/>
          </a:xfrm>
          <a:prstGeom prst="rect">
            <a:avLst/>
          </a:prstGeom>
          <a:noFill/>
          <a:ln>
            <a:noFill/>
          </a:ln>
        </p:spPr>
      </p:pic>
      <p:sp>
        <p:nvSpPr>
          <p:cNvPr id="108" name="Google Shape;108;p17"/>
          <p:cNvSpPr/>
          <p:nvPr/>
        </p:nvSpPr>
        <p:spPr>
          <a:xfrm>
            <a:off x="1259118" y="6321549"/>
            <a:ext cx="2539478" cy="2769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200">
                <a:solidFill>
                  <a:schemeClr val="dk1"/>
                </a:solidFill>
                <a:latin typeface="Calibri"/>
                <a:ea typeface="Calibri"/>
                <a:cs typeface="Calibri"/>
                <a:sym typeface="Calibri"/>
              </a:rPr>
              <a:t>The web page has displayed correctly.</a:t>
            </a:r>
            <a:endParaRPr/>
          </a:p>
        </p:txBody>
      </p:sp>
      <p:sp>
        <p:nvSpPr>
          <p:cNvPr id="109" name="Google Shape;109;p17"/>
          <p:cNvSpPr/>
          <p:nvPr/>
        </p:nvSpPr>
        <p:spPr>
          <a:xfrm>
            <a:off x="3917285" y="4644356"/>
            <a:ext cx="2920838"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200">
                <a:solidFill>
                  <a:schemeClr val="dk1"/>
                </a:solidFill>
                <a:latin typeface="Calibri"/>
                <a:ea typeface="Calibri"/>
                <a:cs typeface="Calibri"/>
                <a:sym typeface="Calibri"/>
              </a:rPr>
              <a:t>The browser could not locate the image because it was not stored in the correct folder. An icon and text are shown instead.</a:t>
            </a:r>
            <a:endParaRPr/>
          </a:p>
        </p:txBody>
      </p:sp>
      <p:sp>
        <p:nvSpPr>
          <p:cNvPr id="110" name="Google Shape;110;p17"/>
          <p:cNvSpPr/>
          <p:nvPr/>
        </p:nvSpPr>
        <p:spPr>
          <a:xfrm>
            <a:off x="7051846" y="3824727"/>
            <a:ext cx="4687957" cy="175432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If you add code to an HTML file to embed an image but the image does not display correctly, check that you have saved the image to the correct folder and that the filename and extension of the image are exactly the same as the code in the HTML document.</a:t>
            </a:r>
            <a:endParaRPr/>
          </a:p>
        </p:txBody>
      </p:sp>
      <p:sp>
        <p:nvSpPr>
          <p:cNvPr id="111" name="Google Shape;111;p17"/>
          <p:cNvSpPr/>
          <p:nvPr/>
        </p:nvSpPr>
        <p:spPr>
          <a:xfrm>
            <a:off x="7781511" y="5759613"/>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2.1 </a:t>
            </a:r>
            <a:endParaRPr sz="2800">
              <a:solidFill>
                <a:schemeClr val="dk1"/>
              </a:solidFill>
              <a:latin typeface="Calibri"/>
              <a:ea typeface="Calibri"/>
              <a:cs typeface="Calibri"/>
              <a:sym typeface="Calibri"/>
            </a:endParaRPr>
          </a:p>
        </p:txBody>
      </p:sp>
      <p:pic>
        <p:nvPicPr>
          <p:cNvPr descr="A flower in a pot&#10;&#10;Description automatically generated with medium confidence" id="112" name="Google Shape;112;p17"/>
          <p:cNvPicPr preferRelativeResize="0"/>
          <p:nvPr/>
        </p:nvPicPr>
        <p:blipFill rotWithShape="1">
          <a:blip r:embed="rId5">
            <a:alphaModFix/>
          </a:blip>
          <a:srcRect b="0" l="0" r="0" t="0"/>
          <a:stretch/>
        </p:blipFill>
        <p:spPr>
          <a:xfrm>
            <a:off x="1466540" y="3099594"/>
            <a:ext cx="1581622" cy="327138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2.1: Embedding an image</a:t>
            </a:r>
            <a:endParaRPr/>
          </a:p>
        </p:txBody>
      </p:sp>
      <p:pic>
        <p:nvPicPr>
          <p:cNvPr id="118" name="Google Shape;118;p18"/>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1620078" y="834888"/>
            <a:ext cx="9733721"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float</a:t>
            </a:r>
            <a:r>
              <a:rPr b="1" lang="en-GB">
                <a:solidFill>
                  <a:schemeClr val="lt1"/>
                </a:solidFill>
              </a:rPr>
              <a:t> to position an element</a:t>
            </a:r>
            <a:r>
              <a:rPr lang="en-GB">
                <a:solidFill>
                  <a:schemeClr val="lt1"/>
                </a:solidFill>
              </a:rPr>
              <a:t> </a:t>
            </a:r>
            <a:endParaRPr b="1">
              <a:solidFill>
                <a:schemeClr val="lt1"/>
              </a:solidFill>
            </a:endParaRPr>
          </a:p>
        </p:txBody>
      </p:sp>
      <p:sp>
        <p:nvSpPr>
          <p:cNvPr id="124" name="Google Shape;124;p19"/>
          <p:cNvSpPr txBox="1"/>
          <p:nvPr>
            <p:ph idx="1" type="body"/>
          </p:nvPr>
        </p:nvSpPr>
        <p:spPr>
          <a:xfrm>
            <a:off x="1620077" y="2112878"/>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GB" sz="2400"/>
              <a:t>The CSS </a:t>
            </a:r>
            <a:r>
              <a:rPr b="1" lang="en-GB" sz="2400">
                <a:latin typeface="Courier"/>
                <a:ea typeface="Courier"/>
                <a:cs typeface="Courier"/>
                <a:sym typeface="Courier"/>
              </a:rPr>
              <a:t>float</a:t>
            </a:r>
            <a:r>
              <a:rPr b="1" lang="en-GB" sz="2400"/>
              <a:t> </a:t>
            </a:r>
            <a:r>
              <a:rPr lang="en-GB" sz="2400"/>
              <a:t>property is used to position and format content.</a:t>
            </a:r>
            <a:endParaRPr/>
          </a:p>
          <a:p>
            <a:pPr indent="-228600" lvl="0" marL="228600" rtl="0" algn="l">
              <a:lnSpc>
                <a:spcPct val="90000"/>
              </a:lnSpc>
              <a:spcBef>
                <a:spcPts val="1000"/>
              </a:spcBef>
              <a:spcAft>
                <a:spcPts val="0"/>
              </a:spcAft>
              <a:buClr>
                <a:schemeClr val="dk1"/>
              </a:buClr>
              <a:buSzPts val="2400"/>
              <a:buChar char="•"/>
            </a:pPr>
            <a:r>
              <a:rPr lang="en-GB" sz="2400"/>
              <a:t>It can be used to position an image alongside text.</a:t>
            </a:r>
            <a:endParaRPr/>
          </a:p>
          <a:p>
            <a:pPr indent="-228600" lvl="0" marL="228600" rtl="0" algn="l">
              <a:lnSpc>
                <a:spcPct val="90000"/>
              </a:lnSpc>
              <a:spcBef>
                <a:spcPts val="1000"/>
              </a:spcBef>
              <a:spcAft>
                <a:spcPts val="0"/>
              </a:spcAft>
              <a:buClr>
                <a:schemeClr val="dk1"/>
              </a:buClr>
              <a:buSzPts val="2400"/>
              <a:buChar char="•"/>
            </a:pPr>
            <a:r>
              <a:rPr lang="en-GB" sz="2400"/>
              <a:t>Creating a class called </a:t>
            </a:r>
            <a:r>
              <a:rPr lang="en-GB" sz="2400">
                <a:latin typeface="Courier"/>
                <a:ea typeface="Courier"/>
                <a:cs typeface="Courier"/>
                <a:sym typeface="Courier"/>
              </a:rPr>
              <a:t>float-right</a:t>
            </a:r>
            <a:r>
              <a:rPr lang="en-GB" sz="2400"/>
              <a:t> means that this styling can be applied to any HTML element to position it to the right of other elements:</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165100" lvl="0" marL="228600" rtl="0" algn="l">
              <a:lnSpc>
                <a:spcPct val="90000"/>
              </a:lnSpc>
              <a:spcBef>
                <a:spcPts val="1000"/>
              </a:spcBef>
              <a:spcAft>
                <a:spcPts val="0"/>
              </a:spcAft>
              <a:buClr>
                <a:schemeClr val="dk1"/>
              </a:buClr>
              <a:buSzPts val="1000"/>
              <a:buNone/>
            </a:pPr>
            <a:r>
              <a:t/>
            </a:r>
            <a:endParaRPr sz="1000"/>
          </a:p>
          <a:p>
            <a:pPr indent="0" lvl="0" marL="0" rtl="0" algn="l">
              <a:lnSpc>
                <a:spcPct val="90000"/>
              </a:lnSpc>
              <a:spcBef>
                <a:spcPts val="1000"/>
              </a:spcBef>
              <a:spcAft>
                <a:spcPts val="0"/>
              </a:spcAft>
              <a:buClr>
                <a:schemeClr val="dk1"/>
              </a:buClr>
              <a:buSzPts val="2400"/>
              <a:buNone/>
            </a:pPr>
            <a:r>
              <a:rPr lang="en-GB" sz="2400"/>
              <a:t>It is also possible to float an element to the left of the screen or to the centre of the screen using the values </a:t>
            </a:r>
            <a:r>
              <a:rPr lang="en-GB" sz="2400">
                <a:latin typeface="Courier"/>
                <a:ea typeface="Courier"/>
                <a:cs typeface="Courier"/>
                <a:sym typeface="Courier"/>
              </a:rPr>
              <a:t>left</a:t>
            </a:r>
            <a:r>
              <a:rPr lang="en-GB" sz="2400"/>
              <a:t> and </a:t>
            </a:r>
            <a:r>
              <a:rPr lang="en-GB" sz="2400">
                <a:latin typeface="Courier"/>
                <a:ea typeface="Courier"/>
                <a:cs typeface="Courier"/>
                <a:sym typeface="Courier"/>
              </a:rPr>
              <a:t>center</a:t>
            </a:r>
            <a:r>
              <a:rPr lang="en-GB" sz="2400"/>
              <a:t>. </a:t>
            </a:r>
            <a:endParaRPr/>
          </a:p>
          <a:p>
            <a:pPr indent="0" lvl="0" marL="0" rtl="0" algn="l">
              <a:lnSpc>
                <a:spcPct val="90000"/>
              </a:lnSpc>
              <a:spcBef>
                <a:spcPts val="1000"/>
              </a:spcBef>
              <a:spcAft>
                <a:spcPts val="0"/>
              </a:spcAft>
              <a:buClr>
                <a:schemeClr val="dk1"/>
              </a:buClr>
              <a:buSzPts val="2400"/>
              <a:buNone/>
            </a:pPr>
            <a:r>
              <a:rPr lang="en-GB" sz="2400"/>
              <a:t>Note that the American spelling of ‘center’ is required.</a:t>
            </a:r>
            <a:endParaRPr/>
          </a:p>
          <a:p>
            <a:pPr indent="0" lvl="0" marL="0" rtl="0" algn="l">
              <a:lnSpc>
                <a:spcPct val="90000"/>
              </a:lnSpc>
              <a:spcBef>
                <a:spcPts val="1000"/>
              </a:spcBef>
              <a:spcAft>
                <a:spcPts val="0"/>
              </a:spcAft>
              <a:buClr>
                <a:schemeClr val="dk1"/>
              </a:buClr>
              <a:buSzPts val="2800"/>
              <a:buNone/>
            </a:pPr>
            <a:r>
              <a:t/>
            </a:r>
            <a:endParaRPr/>
          </a:p>
        </p:txBody>
      </p:sp>
      <p:pic>
        <p:nvPicPr>
          <p:cNvPr id="125" name="Google Shape;125;p19"/>
          <p:cNvPicPr preferRelativeResize="0"/>
          <p:nvPr/>
        </p:nvPicPr>
        <p:blipFill rotWithShape="1">
          <a:blip r:embed="rId3">
            <a:alphaModFix/>
          </a:blip>
          <a:srcRect b="0" l="0" r="0" t="0"/>
          <a:stretch/>
        </p:blipFill>
        <p:spPr>
          <a:xfrm>
            <a:off x="1948068" y="3793981"/>
            <a:ext cx="3359425" cy="9891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1620078" y="834888"/>
            <a:ext cx="9733721"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clear</a:t>
            </a:r>
            <a:r>
              <a:rPr b="1" lang="en-GB">
                <a:solidFill>
                  <a:schemeClr val="lt1"/>
                </a:solidFill>
              </a:rPr>
              <a:t> to prevent floating </a:t>
            </a:r>
            <a:endParaRPr/>
          </a:p>
        </p:txBody>
      </p:sp>
      <p:sp>
        <p:nvSpPr>
          <p:cNvPr id="131" name="Google Shape;131;p20"/>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GB" sz="2000"/>
              <a:t>The CSS </a:t>
            </a:r>
            <a:r>
              <a:rPr b="1" lang="en-GB" sz="2000">
                <a:latin typeface="Courier"/>
                <a:ea typeface="Courier"/>
                <a:cs typeface="Courier"/>
                <a:sym typeface="Courier"/>
              </a:rPr>
              <a:t>clear</a:t>
            </a:r>
            <a:r>
              <a:rPr lang="en-GB" sz="2000"/>
              <a:t> property is used to prevent other elements from floating to the left or right of a specific paragraph element.</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right</a:t>
            </a:r>
            <a:r>
              <a:rPr lang="en-GB" sz="2000"/>
              <a:t> will stop elements from floating on the right-hand side.</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left</a:t>
            </a:r>
            <a:r>
              <a:rPr lang="en-GB" sz="2000"/>
              <a:t> will stop elements from floating on the left-hand side.</a:t>
            </a:r>
            <a:endParaRPr/>
          </a:p>
          <a:p>
            <a:pPr indent="-228600" lvl="0" marL="228600" rtl="0" algn="l">
              <a:lnSpc>
                <a:spcPct val="90000"/>
              </a:lnSpc>
              <a:spcBef>
                <a:spcPts val="1000"/>
              </a:spcBef>
              <a:spcAft>
                <a:spcPts val="0"/>
              </a:spcAft>
              <a:buClr>
                <a:schemeClr val="dk1"/>
              </a:buClr>
              <a:buSzPts val="2000"/>
              <a:buChar char="•"/>
            </a:pPr>
            <a:r>
              <a:rPr lang="en-GB" sz="2000"/>
              <a:t>Using the value </a:t>
            </a:r>
            <a:r>
              <a:rPr lang="en-GB" sz="2000">
                <a:latin typeface="Courier"/>
                <a:ea typeface="Courier"/>
                <a:cs typeface="Courier"/>
                <a:sym typeface="Courier"/>
              </a:rPr>
              <a:t>both</a:t>
            </a:r>
            <a:r>
              <a:rPr lang="en-GB" sz="2000"/>
              <a:t> will stop elements from floating on both the right- and left-hand sides.</a:t>
            </a:r>
            <a:endParaRPr/>
          </a:p>
          <a:p>
            <a:pPr indent="-228600" lvl="0" marL="228600" rtl="0" algn="l">
              <a:lnSpc>
                <a:spcPct val="90000"/>
              </a:lnSpc>
              <a:spcBef>
                <a:spcPts val="1000"/>
              </a:spcBef>
              <a:spcAft>
                <a:spcPts val="0"/>
              </a:spcAft>
              <a:buClr>
                <a:schemeClr val="dk1"/>
              </a:buClr>
              <a:buSzPts val="2000"/>
              <a:buChar char="•"/>
            </a:pPr>
            <a:r>
              <a:rPr lang="en-GB" sz="2000"/>
              <a:t>The </a:t>
            </a:r>
            <a:r>
              <a:rPr lang="en-GB" sz="2000">
                <a:latin typeface="Courier"/>
                <a:ea typeface="Courier"/>
                <a:cs typeface="Courier"/>
                <a:sym typeface="Courier"/>
              </a:rPr>
              <a:t>clear</a:t>
            </a:r>
            <a:r>
              <a:rPr lang="en-GB" sz="2000"/>
              <a:t> property is commonly used after the </a:t>
            </a:r>
            <a:r>
              <a:rPr lang="en-GB" sz="2000">
                <a:latin typeface="Courier"/>
                <a:ea typeface="Courier"/>
                <a:cs typeface="Courier"/>
                <a:sym typeface="Courier"/>
              </a:rPr>
              <a:t>float</a:t>
            </a:r>
            <a:r>
              <a:rPr lang="en-GB" sz="2000"/>
              <a:t> property has been used, to return the layout to normal. The value used for the </a:t>
            </a:r>
            <a:r>
              <a:rPr lang="en-GB" sz="2000">
                <a:latin typeface="Courier"/>
                <a:ea typeface="Courier"/>
                <a:cs typeface="Courier"/>
                <a:sym typeface="Courier"/>
              </a:rPr>
              <a:t>clear</a:t>
            </a:r>
            <a:r>
              <a:rPr lang="en-GB" sz="2000"/>
              <a:t> property should be the same as that used for the </a:t>
            </a:r>
            <a:r>
              <a:rPr lang="en-GB" sz="2000">
                <a:latin typeface="Courier"/>
                <a:ea typeface="Courier"/>
                <a:cs typeface="Courier"/>
                <a:sym typeface="Courier"/>
              </a:rPr>
              <a:t>float</a:t>
            </a:r>
            <a:r>
              <a:rPr lang="en-GB" sz="2000"/>
              <a:t> property.</a:t>
            </a:r>
            <a:endParaRPr/>
          </a:p>
          <a:p>
            <a:pPr indent="-101600" lvl="0" marL="22860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pic>
        <p:nvPicPr>
          <p:cNvPr id="132" name="Google Shape;132;p20"/>
          <p:cNvPicPr preferRelativeResize="0"/>
          <p:nvPr/>
        </p:nvPicPr>
        <p:blipFill rotWithShape="1">
          <a:blip r:embed="rId3">
            <a:alphaModFix/>
          </a:blip>
          <a:srcRect b="0" l="0" r="0" t="0"/>
          <a:stretch/>
        </p:blipFill>
        <p:spPr>
          <a:xfrm>
            <a:off x="1858617" y="5024912"/>
            <a:ext cx="3732241" cy="1487673"/>
          </a:xfrm>
          <a:prstGeom prst="rect">
            <a:avLst/>
          </a:prstGeom>
          <a:noFill/>
          <a:ln>
            <a:noFill/>
          </a:ln>
        </p:spPr>
      </p:pic>
      <p:sp>
        <p:nvSpPr>
          <p:cNvPr id="133" name="Google Shape;133;p20"/>
          <p:cNvSpPr/>
          <p:nvPr/>
        </p:nvSpPr>
        <p:spPr>
          <a:xfrm>
            <a:off x="8232143" y="5507138"/>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2.2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500"/>
                                        <p:tgtEl>
                                          <p:spTgt spid="13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2.2: Floating an image </a:t>
            </a:r>
            <a:endParaRPr/>
          </a:p>
        </p:txBody>
      </p:sp>
      <p:pic>
        <p:nvPicPr>
          <p:cNvPr id="139" name="Google Shape;139;p21"/>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Using </a:t>
            </a:r>
            <a:r>
              <a:rPr b="1" lang="en-GB">
                <a:solidFill>
                  <a:schemeClr val="lt1"/>
                </a:solidFill>
                <a:latin typeface="Courier"/>
                <a:ea typeface="Courier"/>
                <a:cs typeface="Courier"/>
                <a:sym typeface="Courier"/>
              </a:rPr>
              <a:t>margin</a:t>
            </a:r>
            <a:r>
              <a:rPr b="1" lang="en-GB">
                <a:solidFill>
                  <a:schemeClr val="lt1"/>
                </a:solidFill>
              </a:rPr>
              <a:t> to add space around elements </a:t>
            </a:r>
            <a:endParaRPr/>
          </a:p>
        </p:txBody>
      </p:sp>
      <p:sp>
        <p:nvSpPr>
          <p:cNvPr id="145" name="Google Shape;145;p22"/>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GB" sz="2400"/>
              <a:t>The CSS </a:t>
            </a:r>
            <a:r>
              <a:rPr lang="en-GB" sz="2400">
                <a:latin typeface="Courier"/>
                <a:ea typeface="Courier"/>
                <a:cs typeface="Courier"/>
                <a:sym typeface="Courier"/>
              </a:rPr>
              <a:t>margin</a:t>
            </a:r>
            <a:r>
              <a:rPr lang="en-GB" sz="2400"/>
              <a:t> property is used to create space around elements.</a:t>
            </a:r>
            <a:endParaRPr/>
          </a:p>
          <a:p>
            <a:pPr indent="-228600" lvl="0" marL="228600" rtl="0" algn="l">
              <a:lnSpc>
                <a:spcPct val="90000"/>
              </a:lnSpc>
              <a:spcBef>
                <a:spcPts val="1000"/>
              </a:spcBef>
              <a:spcAft>
                <a:spcPts val="0"/>
              </a:spcAft>
              <a:buClr>
                <a:schemeClr val="dk1"/>
              </a:buClr>
              <a:buSzPts val="2400"/>
              <a:buChar char="•"/>
            </a:pPr>
            <a:r>
              <a:rPr lang="en-GB" sz="2400"/>
              <a:t>If you want to add the same size margin to all sides, use </a:t>
            </a:r>
            <a:r>
              <a:rPr lang="en-GB" sz="2400">
                <a:latin typeface="Courier"/>
                <a:ea typeface="Courier"/>
                <a:cs typeface="Courier"/>
                <a:sym typeface="Courier"/>
              </a:rPr>
              <a:t>margin</a:t>
            </a:r>
            <a:r>
              <a:rPr lang="en-GB" sz="2400"/>
              <a:t> and one value. For example:</a:t>
            </a:r>
            <a:endParaRPr/>
          </a:p>
          <a:p>
            <a:pPr indent="-101600" lvl="0" marL="22860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sp>
        <p:nvSpPr>
          <p:cNvPr id="146" name="Google Shape;146;p22"/>
          <p:cNvSpPr/>
          <p:nvPr/>
        </p:nvSpPr>
        <p:spPr>
          <a:xfrm>
            <a:off x="8232143" y="5507138"/>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2.3 </a:t>
            </a:r>
            <a:endParaRPr sz="2800">
              <a:solidFill>
                <a:schemeClr val="dk1"/>
              </a:solidFill>
              <a:latin typeface="Calibri"/>
              <a:ea typeface="Calibri"/>
              <a:cs typeface="Calibri"/>
              <a:sym typeface="Calibri"/>
            </a:endParaRPr>
          </a:p>
        </p:txBody>
      </p:sp>
      <p:pic>
        <p:nvPicPr>
          <p:cNvPr id="147" name="Google Shape;147;p22"/>
          <p:cNvPicPr preferRelativeResize="0"/>
          <p:nvPr/>
        </p:nvPicPr>
        <p:blipFill rotWithShape="1">
          <a:blip r:embed="rId3">
            <a:alphaModFix/>
          </a:blip>
          <a:srcRect b="0" l="0" r="0" t="0"/>
          <a:stretch/>
        </p:blipFill>
        <p:spPr>
          <a:xfrm>
            <a:off x="1865006" y="3281483"/>
            <a:ext cx="3273524" cy="1331391"/>
          </a:xfrm>
          <a:prstGeom prst="rect">
            <a:avLst/>
          </a:prstGeom>
          <a:noFill/>
          <a:ln>
            <a:noFill/>
          </a:ln>
        </p:spPr>
      </p:pic>
      <p:sp>
        <p:nvSpPr>
          <p:cNvPr id="148" name="Google Shape;148;p22"/>
          <p:cNvSpPr/>
          <p:nvPr/>
        </p:nvSpPr>
        <p:spPr>
          <a:xfrm>
            <a:off x="1674892" y="4774166"/>
            <a:ext cx="6763430" cy="1331390"/>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None/>
            </a:pPr>
            <a:r>
              <a:rPr lang="en-GB" sz="2400">
                <a:solidFill>
                  <a:schemeClr val="dk1"/>
                </a:solidFill>
                <a:latin typeface="Calibri"/>
                <a:ea typeface="Calibri"/>
                <a:cs typeface="Calibri"/>
                <a:sym typeface="Calibri"/>
              </a:rPr>
              <a:t>Use </a:t>
            </a:r>
            <a:r>
              <a:rPr lang="en-GB" sz="2400">
                <a:solidFill>
                  <a:schemeClr val="dk1"/>
                </a:solidFill>
                <a:latin typeface="Courier"/>
                <a:ea typeface="Courier"/>
                <a:cs typeface="Courier"/>
                <a:sym typeface="Courier"/>
              </a:rPr>
              <a:t>margin-top</a:t>
            </a:r>
            <a:r>
              <a:rPr lang="en-GB" sz="2400">
                <a:solidFill>
                  <a:schemeClr val="dk1"/>
                </a:solidFill>
                <a:latin typeface="Calibri"/>
                <a:ea typeface="Calibri"/>
                <a:cs typeface="Calibri"/>
                <a:sym typeface="Calibri"/>
              </a:rPr>
              <a:t>, </a:t>
            </a:r>
            <a:r>
              <a:rPr lang="en-GB" sz="2400">
                <a:solidFill>
                  <a:schemeClr val="dk1"/>
                </a:solidFill>
                <a:latin typeface="Courier"/>
                <a:ea typeface="Courier"/>
                <a:cs typeface="Courier"/>
                <a:sym typeface="Courier"/>
              </a:rPr>
              <a:t>margin-right</a:t>
            </a:r>
            <a:r>
              <a:rPr lang="en-GB" sz="2400">
                <a:solidFill>
                  <a:schemeClr val="dk1"/>
                </a:solidFill>
                <a:latin typeface="Calibri"/>
                <a:ea typeface="Calibri"/>
                <a:cs typeface="Calibri"/>
                <a:sym typeface="Calibri"/>
              </a:rPr>
              <a:t>, </a:t>
            </a:r>
            <a:r>
              <a:rPr lang="en-GB" sz="2400">
                <a:solidFill>
                  <a:schemeClr val="dk1"/>
                </a:solidFill>
                <a:latin typeface="Courier"/>
                <a:ea typeface="Courier"/>
                <a:cs typeface="Courier"/>
                <a:sym typeface="Courier"/>
              </a:rPr>
              <a:t>margin-bottom</a:t>
            </a:r>
            <a:r>
              <a:rPr lang="en-GB" sz="2400">
                <a:solidFill>
                  <a:schemeClr val="dk1"/>
                </a:solidFill>
                <a:latin typeface="Calibri"/>
                <a:ea typeface="Calibri"/>
                <a:cs typeface="Calibri"/>
                <a:sym typeface="Calibri"/>
              </a:rPr>
              <a:t> and </a:t>
            </a:r>
            <a:r>
              <a:rPr lang="en-GB" sz="2400">
                <a:solidFill>
                  <a:schemeClr val="dk1"/>
                </a:solidFill>
                <a:latin typeface="Courier"/>
                <a:ea typeface="Courier"/>
                <a:cs typeface="Courier"/>
                <a:sym typeface="Courier"/>
              </a:rPr>
              <a:t>margin-left</a:t>
            </a:r>
            <a:r>
              <a:rPr lang="en-GB" sz="2400">
                <a:solidFill>
                  <a:schemeClr val="dk1"/>
                </a:solidFill>
                <a:latin typeface="Calibri"/>
                <a:ea typeface="Calibri"/>
                <a:cs typeface="Calibri"/>
                <a:sym typeface="Calibri"/>
              </a:rPr>
              <a:t> to add a specific margin to a specific side.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2.3: Adding a margin </a:t>
            </a:r>
            <a:endParaRPr/>
          </a:p>
        </p:txBody>
      </p:sp>
      <p:pic>
        <p:nvPicPr>
          <p:cNvPr id="154" name="Google Shape;154;p23"/>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Unordered lists </a:t>
            </a:r>
            <a:endParaRPr/>
          </a:p>
        </p:txBody>
      </p:sp>
      <p:sp>
        <p:nvSpPr>
          <p:cNvPr id="160" name="Google Shape;160;p24"/>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GB" sz="2000"/>
              <a:t>Lists are used to present information in an ordered way.</a:t>
            </a:r>
            <a:endParaRPr/>
          </a:p>
          <a:p>
            <a:pPr indent="0" lvl="0" marL="0" rtl="0" algn="l">
              <a:lnSpc>
                <a:spcPct val="90000"/>
              </a:lnSpc>
              <a:spcBef>
                <a:spcPts val="1000"/>
              </a:spcBef>
              <a:spcAft>
                <a:spcPts val="0"/>
              </a:spcAft>
              <a:buClr>
                <a:srgbClr val="2197AC"/>
              </a:buClr>
              <a:buSzPts val="2000"/>
              <a:buNone/>
            </a:pPr>
            <a:r>
              <a:rPr b="1" lang="en-GB" sz="2000">
                <a:solidFill>
                  <a:srgbClr val="2197AC"/>
                </a:solidFill>
              </a:rPr>
              <a:t>Unordered lists</a:t>
            </a:r>
            <a:r>
              <a:rPr lang="en-GB" sz="2000">
                <a:solidFill>
                  <a:srgbClr val="2197AC"/>
                </a:solidFill>
              </a:rPr>
              <a:t> </a:t>
            </a:r>
            <a:r>
              <a:rPr lang="en-GB" sz="2000"/>
              <a:t>use bullet points to mark each item. They are used when the order of the items is not important.</a:t>
            </a:r>
            <a:endParaRPr/>
          </a:p>
          <a:p>
            <a:pPr indent="0" lvl="0" marL="0" rtl="0" algn="l">
              <a:lnSpc>
                <a:spcPct val="90000"/>
              </a:lnSpc>
              <a:spcBef>
                <a:spcPts val="1000"/>
              </a:spcBef>
              <a:spcAft>
                <a:spcPts val="0"/>
              </a:spcAft>
              <a:buClr>
                <a:schemeClr val="dk1"/>
              </a:buClr>
              <a:buSzPts val="2000"/>
              <a:buNone/>
            </a:pPr>
            <a:r>
              <a:rPr lang="en-GB" sz="2000"/>
              <a:t>The </a:t>
            </a:r>
            <a:r>
              <a:rPr lang="en-GB" sz="2000">
                <a:latin typeface="Courier"/>
                <a:ea typeface="Courier"/>
                <a:cs typeface="Courier"/>
                <a:sym typeface="Courier"/>
              </a:rPr>
              <a:t>&lt;ul&gt;</a:t>
            </a:r>
            <a:r>
              <a:rPr lang="en-GB" sz="2000"/>
              <a:t> tag is used to define an unordered list and each item in the list is preceded by the </a:t>
            </a:r>
            <a:r>
              <a:rPr lang="en-GB" sz="2000">
                <a:latin typeface="Courier"/>
                <a:ea typeface="Courier"/>
                <a:cs typeface="Courier"/>
                <a:sym typeface="Courier"/>
              </a:rPr>
              <a:t>&lt;li&gt;</a:t>
            </a:r>
            <a:r>
              <a:rPr lang="en-GB" sz="2000"/>
              <a:t> tag.</a:t>
            </a:r>
            <a:endParaRPr/>
          </a:p>
          <a:p>
            <a:pPr indent="0" lvl="0" marL="0" rtl="0" algn="l">
              <a:lnSpc>
                <a:spcPct val="90000"/>
              </a:lnSpc>
              <a:spcBef>
                <a:spcPts val="1000"/>
              </a:spcBef>
              <a:spcAft>
                <a:spcPts val="0"/>
              </a:spcAft>
              <a:buClr>
                <a:schemeClr val="dk1"/>
              </a:buClr>
              <a:buSzPts val="2000"/>
              <a:buNone/>
            </a:pPr>
            <a:r>
              <a:rPr lang="en-GB" sz="2000"/>
              <a:t>For example: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pic>
        <p:nvPicPr>
          <p:cNvPr id="161" name="Google Shape;161;p24"/>
          <p:cNvPicPr preferRelativeResize="0"/>
          <p:nvPr/>
        </p:nvPicPr>
        <p:blipFill rotWithShape="1">
          <a:blip r:embed="rId3">
            <a:alphaModFix/>
          </a:blip>
          <a:srcRect b="0" l="0" r="0" t="0"/>
          <a:stretch/>
        </p:blipFill>
        <p:spPr>
          <a:xfrm>
            <a:off x="1721209" y="3995530"/>
            <a:ext cx="2721582" cy="1242392"/>
          </a:xfrm>
          <a:prstGeom prst="rect">
            <a:avLst/>
          </a:prstGeom>
          <a:noFill/>
          <a:ln>
            <a:noFill/>
          </a:ln>
        </p:spPr>
      </p:pic>
      <p:pic>
        <p:nvPicPr>
          <p:cNvPr id="162" name="Google Shape;162;p24"/>
          <p:cNvPicPr preferRelativeResize="0"/>
          <p:nvPr/>
        </p:nvPicPr>
        <p:blipFill rotWithShape="1">
          <a:blip r:embed="rId4">
            <a:alphaModFix/>
          </a:blip>
          <a:srcRect b="0" l="0" r="0" t="0"/>
          <a:stretch/>
        </p:blipFill>
        <p:spPr>
          <a:xfrm>
            <a:off x="5138531" y="3995529"/>
            <a:ext cx="2435086" cy="117281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1620078" y="805143"/>
            <a:ext cx="10571922" cy="79513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Ordered lists </a:t>
            </a:r>
            <a:endParaRPr/>
          </a:p>
        </p:txBody>
      </p:sp>
      <p:sp>
        <p:nvSpPr>
          <p:cNvPr id="168" name="Google Shape;168;p25"/>
          <p:cNvSpPr txBox="1"/>
          <p:nvPr>
            <p:ph idx="1" type="body"/>
          </p:nvPr>
        </p:nvSpPr>
        <p:spPr>
          <a:xfrm>
            <a:off x="1620078" y="1895633"/>
            <a:ext cx="9733722"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GB" sz="2000"/>
              <a:t>In an ordered list, each item is marked by a number. They are used when the items need to be presented in a particular order.</a:t>
            </a:r>
            <a:endParaRPr/>
          </a:p>
          <a:p>
            <a:pPr indent="0" lvl="0" marL="0" rtl="0" algn="l">
              <a:lnSpc>
                <a:spcPct val="90000"/>
              </a:lnSpc>
              <a:spcBef>
                <a:spcPts val="1000"/>
              </a:spcBef>
              <a:spcAft>
                <a:spcPts val="0"/>
              </a:spcAft>
              <a:buClr>
                <a:schemeClr val="dk1"/>
              </a:buClr>
              <a:buSzPts val="2000"/>
              <a:buNone/>
            </a:pPr>
            <a:r>
              <a:rPr lang="en-GB" sz="2000"/>
              <a:t>The </a:t>
            </a:r>
            <a:r>
              <a:rPr lang="en-GB" sz="2000">
                <a:latin typeface="Courier"/>
                <a:ea typeface="Courier"/>
                <a:cs typeface="Courier"/>
                <a:sym typeface="Courier"/>
              </a:rPr>
              <a:t>&lt;ol&gt; </a:t>
            </a:r>
            <a:r>
              <a:rPr lang="en-GB" sz="2000"/>
              <a:t>tag is used to define an ordered list and each item in the list is preceded by the &lt;li&gt; tag.</a:t>
            </a:r>
            <a:endParaRPr/>
          </a:p>
          <a:p>
            <a:pPr indent="0" lvl="0" marL="0" rtl="0" algn="l">
              <a:lnSpc>
                <a:spcPct val="90000"/>
              </a:lnSpc>
              <a:spcBef>
                <a:spcPts val="1000"/>
              </a:spcBef>
              <a:spcAft>
                <a:spcPts val="0"/>
              </a:spcAft>
              <a:buClr>
                <a:schemeClr val="dk1"/>
              </a:buClr>
              <a:buSzPts val="2000"/>
              <a:buNone/>
            </a:pPr>
            <a:r>
              <a:rPr lang="en-GB" sz="2000"/>
              <a:t>For example:</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r>
              <a:t/>
            </a:r>
            <a:endParaRPr/>
          </a:p>
        </p:txBody>
      </p:sp>
      <p:sp>
        <p:nvSpPr>
          <p:cNvPr id="169" name="Google Shape;169;p25"/>
          <p:cNvSpPr/>
          <p:nvPr/>
        </p:nvSpPr>
        <p:spPr>
          <a:xfrm>
            <a:off x="8063177" y="5529637"/>
            <a:ext cx="266040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Watch Video 2.4 </a:t>
            </a:r>
            <a:endParaRPr sz="2800">
              <a:solidFill>
                <a:schemeClr val="dk1"/>
              </a:solidFill>
              <a:latin typeface="Calibri"/>
              <a:ea typeface="Calibri"/>
              <a:cs typeface="Calibri"/>
              <a:sym typeface="Calibri"/>
            </a:endParaRPr>
          </a:p>
        </p:txBody>
      </p:sp>
      <p:pic>
        <p:nvPicPr>
          <p:cNvPr id="170" name="Google Shape;170;p25"/>
          <p:cNvPicPr preferRelativeResize="0"/>
          <p:nvPr/>
        </p:nvPicPr>
        <p:blipFill rotWithShape="1">
          <a:blip r:embed="rId3">
            <a:alphaModFix/>
          </a:blip>
          <a:srcRect b="0" l="0" r="0" t="0"/>
          <a:stretch/>
        </p:blipFill>
        <p:spPr>
          <a:xfrm>
            <a:off x="1679302" y="3606151"/>
            <a:ext cx="2921488" cy="1373354"/>
          </a:xfrm>
          <a:prstGeom prst="rect">
            <a:avLst/>
          </a:prstGeom>
          <a:noFill/>
          <a:ln>
            <a:noFill/>
          </a:ln>
        </p:spPr>
      </p:pic>
      <p:pic>
        <p:nvPicPr>
          <p:cNvPr descr="Text&#10;&#10;Description automatically generated" id="171" name="Google Shape;171;p25"/>
          <p:cNvPicPr preferRelativeResize="0"/>
          <p:nvPr/>
        </p:nvPicPr>
        <p:blipFill rotWithShape="1">
          <a:blip r:embed="rId4">
            <a:alphaModFix/>
          </a:blip>
          <a:srcRect b="0" l="0" r="0" t="0"/>
          <a:stretch/>
        </p:blipFill>
        <p:spPr>
          <a:xfrm>
            <a:off x="5209229" y="3606151"/>
            <a:ext cx="2555420" cy="13733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500"/>
                                        <p:tgtEl>
                                          <p:spTgt spid="16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2.4: Creating lists</a:t>
            </a:r>
            <a:endParaRPr/>
          </a:p>
        </p:txBody>
      </p:sp>
      <p:pic>
        <p:nvPicPr>
          <p:cNvPr id="177" name="Google Shape;177;p26"/>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1570382" y="834888"/>
            <a:ext cx="9783417" cy="8050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2 </a:t>
            </a:r>
            <a:endParaRPr/>
          </a:p>
        </p:txBody>
      </p:sp>
      <p:pic>
        <p:nvPicPr>
          <p:cNvPr id="183" name="Google Shape;183;p27"/>
          <p:cNvPicPr preferRelativeResize="0"/>
          <p:nvPr/>
        </p:nvPicPr>
        <p:blipFill rotWithShape="1">
          <a:blip r:embed="rId3">
            <a:alphaModFix/>
          </a:blip>
          <a:srcRect b="0" l="0" r="0" t="0"/>
          <a:stretch/>
        </p:blipFill>
        <p:spPr>
          <a:xfrm>
            <a:off x="4038186" y="2009506"/>
            <a:ext cx="4115628" cy="40434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