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spcBef>
                <a:spcPts val="0"/>
              </a:spcBef>
              <a:buNone/>
              <a:def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/>
          </a:p>
        </p:txBody>
      </p:sp>
      <p:pic>
        <p:nvPicPr>
          <p:cNvPr descr="A picture containing text, tool&#10;&#10;Description automatically generated"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22928"/>
            <a:ext cx="12192000" cy="1658912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624917" y="2306361"/>
            <a:ext cx="11202648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lang="en-GB"/>
              <a:t>Programming in Python: iteration </a:t>
            </a:r>
            <a:endParaRPr b="1"/>
          </a:p>
        </p:txBody>
      </p:sp>
      <p:sp>
        <p:nvSpPr>
          <p:cNvPr id="81" name="Google Shape;81;p13"/>
          <p:cNvSpPr/>
          <p:nvPr/>
        </p:nvSpPr>
        <p:spPr>
          <a:xfrm>
            <a:off x="4566059" y="3332524"/>
            <a:ext cx="3719864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B612AD"/>
                </a:solidFill>
                <a:latin typeface="Calibri"/>
                <a:ea typeface="Calibri"/>
                <a:cs typeface="Calibri"/>
                <a:sym typeface="Calibri"/>
              </a:rPr>
              <a:t>Lesson 1: Repeating instructions </a:t>
            </a:r>
            <a:endParaRPr b="1" sz="2000">
              <a:solidFill>
                <a:srgbClr val="B612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7682" y="3332524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80322" y="834887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580322" y="1907372"/>
            <a:ext cx="8418443" cy="27392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learn: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about the concept of iteration to create a repeated sequence of instructions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write a program in Python that uses a for loop to repeat a section of code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 to use </a:t>
            </a:r>
            <a:r>
              <a:rPr lang="en-GB" sz="28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for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create a loop in Python.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80322" y="795130"/>
            <a:ext cx="9773478" cy="8458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What is iteration?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580322" y="2212610"/>
            <a:ext cx="7109791" cy="310854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rgbClr val="DE35B7"/>
                </a:solidFill>
                <a:latin typeface="Calibri"/>
                <a:ea typeface="Calibri"/>
                <a:cs typeface="Calibri"/>
                <a:sym typeface="Calibri"/>
              </a:rPr>
              <a:t>Iteration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is when a set of instructions is repeated.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used when a program needs to complete the same process multiple times.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Iteration can also be referred to as using a </a:t>
            </a:r>
            <a:r>
              <a:rPr b="1" lang="en-GB" sz="2800">
                <a:solidFill>
                  <a:srgbClr val="DE35EF"/>
                </a:solidFill>
                <a:latin typeface="Calibri"/>
                <a:ea typeface="Calibri"/>
                <a:cs typeface="Calibri"/>
                <a:sym typeface="Calibri"/>
              </a:rPr>
              <a:t>loop</a:t>
            </a:r>
            <a:r>
              <a:rPr lang="en-GB" sz="2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6"/>
          <p:cNvSpPr txBox="1"/>
          <p:nvPr>
            <p:ph type="title"/>
          </p:nvPr>
        </p:nvSpPr>
        <p:spPr>
          <a:xfrm>
            <a:off x="1570384" y="745436"/>
            <a:ext cx="9783416" cy="88458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Repeated instructions</a:t>
            </a:r>
            <a:endParaRPr/>
          </a:p>
        </p:txBody>
      </p:sp>
      <p:sp>
        <p:nvSpPr>
          <p:cNvPr id="100" name="Google Shape;100;p16"/>
          <p:cNvSpPr txBox="1"/>
          <p:nvPr>
            <p:ph idx="1" type="body"/>
          </p:nvPr>
        </p:nvSpPr>
        <p:spPr>
          <a:xfrm>
            <a:off x="1570384" y="1925016"/>
            <a:ext cx="8335617" cy="639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/>
              <a:t>To draw a square in Logo we could use this code: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6124162" y="2738498"/>
            <a:ext cx="1374913" cy="25545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rt 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rt 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rt 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fd 10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rt 90</a:t>
            </a:r>
            <a:endParaRPr/>
          </a:p>
        </p:txBody>
      </p:sp>
      <p:sp>
        <p:nvSpPr>
          <p:cNvPr id="102" name="Google Shape;102;p16"/>
          <p:cNvSpPr/>
          <p:nvPr/>
        </p:nvSpPr>
        <p:spPr>
          <a:xfrm>
            <a:off x="1570384" y="5467246"/>
            <a:ext cx="9107557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 we could create a loop that repeats the two instructions four times: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repeat 4 [fd 10 rt 90]</a:t>
            </a:r>
            <a:endParaRPr/>
          </a:p>
        </p:txBody>
      </p:sp>
      <p:sp>
        <p:nvSpPr>
          <p:cNvPr id="103" name="Google Shape;103;p16"/>
          <p:cNvSpPr/>
          <p:nvPr/>
        </p:nvSpPr>
        <p:spPr>
          <a:xfrm>
            <a:off x="3015133" y="3033202"/>
            <a:ext cx="1800000" cy="1800000"/>
          </a:xfrm>
          <a:prstGeom prst="rect">
            <a:avLst/>
          </a:prstGeom>
          <a:noFill/>
          <a:ln cap="flat" cmpd="sng" w="381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/>
          <p:nvPr>
            <p:ph type="title"/>
          </p:nvPr>
        </p:nvSpPr>
        <p:spPr>
          <a:xfrm>
            <a:off x="1570384" y="745436"/>
            <a:ext cx="9783416" cy="88458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Repeated instructions</a:t>
            </a:r>
            <a:endParaRPr/>
          </a:p>
        </p:txBody>
      </p:sp>
      <p:sp>
        <p:nvSpPr>
          <p:cNvPr id="109" name="Google Shape;109;p17"/>
          <p:cNvSpPr txBox="1"/>
          <p:nvPr>
            <p:ph idx="1" type="body"/>
          </p:nvPr>
        </p:nvSpPr>
        <p:spPr>
          <a:xfrm>
            <a:off x="1645315" y="1925016"/>
            <a:ext cx="9107557" cy="14333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GB" sz="2400"/>
              <a:t>What code would you write to draw the following shapes using a loop?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lphaLcPeriod"/>
            </a:pPr>
            <a:r>
              <a:rPr lang="en-GB" sz="2400"/>
              <a:t>an equilateral triangle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lphaLcPeriod"/>
            </a:pPr>
            <a:r>
              <a:rPr lang="en-GB" sz="2400"/>
              <a:t>a hexagon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lphaLcPeriod"/>
            </a:pPr>
            <a:r>
              <a:rPr lang="en-GB" sz="2400"/>
              <a:t>an octagon</a:t>
            </a:r>
            <a:endParaRPr/>
          </a:p>
        </p:txBody>
      </p:sp>
      <p:sp>
        <p:nvSpPr>
          <p:cNvPr id="110" name="Google Shape;110;p17"/>
          <p:cNvSpPr/>
          <p:nvPr/>
        </p:nvSpPr>
        <p:spPr>
          <a:xfrm>
            <a:off x="1570384" y="5513000"/>
            <a:ext cx="9107557" cy="7078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Hint: You can work out the internal angles of a shape by dividing 360 degrees by the number of sides the shape has.</a:t>
            </a:r>
            <a:endParaRPr/>
          </a:p>
        </p:txBody>
      </p:sp>
      <p:sp>
        <p:nvSpPr>
          <p:cNvPr id="111" name="Google Shape;111;p17"/>
          <p:cNvSpPr/>
          <p:nvPr/>
        </p:nvSpPr>
        <p:spPr>
          <a:xfrm>
            <a:off x="2347589" y="5129767"/>
            <a:ext cx="183210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triangle has three sides. </a:t>
            </a:r>
            <a:endParaRPr i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/>
          <p:nvPr/>
        </p:nvSpPr>
        <p:spPr>
          <a:xfrm>
            <a:off x="5242079" y="5129767"/>
            <a:ext cx="1707840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hexagon has six sides. </a:t>
            </a:r>
            <a:endParaRPr i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7"/>
          <p:cNvSpPr/>
          <p:nvPr/>
        </p:nvSpPr>
        <p:spPr>
          <a:xfrm>
            <a:off x="7927989" y="5129766"/>
            <a:ext cx="1916422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-GB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 octagon has eight sides. </a:t>
            </a:r>
            <a:endParaRPr i="1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7"/>
          <p:cNvSpPr/>
          <p:nvPr/>
        </p:nvSpPr>
        <p:spPr>
          <a:xfrm>
            <a:off x="2536721" y="3784692"/>
            <a:ext cx="1453842" cy="1260000"/>
          </a:xfrm>
          <a:prstGeom prst="triangle">
            <a:avLst>
              <a:gd fmla="val 50000" name="adj"/>
            </a:avLst>
          </a:prstGeom>
          <a:noFill/>
          <a:ln cap="flat" cmpd="sng" w="381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7"/>
          <p:cNvSpPr/>
          <p:nvPr/>
        </p:nvSpPr>
        <p:spPr>
          <a:xfrm>
            <a:off x="5369075" y="3784692"/>
            <a:ext cx="1453849" cy="1260000"/>
          </a:xfrm>
          <a:prstGeom prst="hexagon">
            <a:avLst>
              <a:gd fmla="val 32158" name="adj"/>
              <a:gd fmla="val 115470" name="vf"/>
            </a:avLst>
          </a:prstGeom>
          <a:noFill/>
          <a:ln cap="flat" cmpd="sng" w="381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7"/>
          <p:cNvSpPr/>
          <p:nvPr/>
        </p:nvSpPr>
        <p:spPr>
          <a:xfrm>
            <a:off x="8201436" y="3763535"/>
            <a:ext cx="1278048" cy="1260000"/>
          </a:xfrm>
          <a:prstGeom prst="octagon">
            <a:avLst>
              <a:gd fmla="val 29289" name="adj"/>
            </a:avLst>
          </a:prstGeom>
          <a:noFill/>
          <a:ln cap="flat" cmpd="sng" w="38100">
            <a:solidFill>
              <a:schemeClr val="dk1"/>
            </a:solidFill>
            <a:prstDash val="solid"/>
            <a:miter lim="8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8"/>
          <p:cNvSpPr txBox="1"/>
          <p:nvPr>
            <p:ph type="title"/>
          </p:nvPr>
        </p:nvSpPr>
        <p:spPr>
          <a:xfrm>
            <a:off x="1570382" y="834887"/>
            <a:ext cx="10621618" cy="78519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libri"/>
              <a:buNone/>
            </a:pPr>
            <a:r>
              <a:rPr b="1" lang="en-GB" sz="4000">
                <a:solidFill>
                  <a:schemeClr val="lt1"/>
                </a:solidFill>
              </a:rPr>
              <a:t>Activity 1.1: Programming in Python: iteration, Section 1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A picture containing athletic game, basketball, sport&#10;&#10;Description automatically generated" id="122" name="Google Shape;12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2042810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19"/>
          <p:cNvSpPr txBox="1"/>
          <p:nvPr>
            <p:ph type="title"/>
          </p:nvPr>
        </p:nvSpPr>
        <p:spPr>
          <a:xfrm>
            <a:off x="1580322" y="755374"/>
            <a:ext cx="9773477" cy="8547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1 </a:t>
            </a:r>
            <a:endParaRPr/>
          </a:p>
        </p:txBody>
      </p:sp>
      <p:sp>
        <p:nvSpPr>
          <p:cNvPr id="128" name="Google Shape;128;p19"/>
          <p:cNvSpPr txBox="1"/>
          <p:nvPr>
            <p:ph idx="1" type="body"/>
          </p:nvPr>
        </p:nvSpPr>
        <p:spPr>
          <a:xfrm>
            <a:off x="1580322" y="2246243"/>
            <a:ext cx="8140148" cy="3930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</a:pPr>
            <a:r>
              <a:rPr lang="en-GB" sz="3600"/>
              <a:t>How can we print the numbers 5 to 15 using a for loop?</a:t>
            </a:r>
            <a:endParaRPr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29" name="Google Shape;129;p19"/>
          <p:cNvSpPr/>
          <p:nvPr/>
        </p:nvSpPr>
        <p:spPr>
          <a:xfrm>
            <a:off x="2602396" y="3672994"/>
            <a:ext cx="6096000" cy="107721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for i in range(5, 16):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    print(i)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0"/>
          <p:cNvSpPr txBox="1"/>
          <p:nvPr>
            <p:ph type="title"/>
          </p:nvPr>
        </p:nvSpPr>
        <p:spPr>
          <a:xfrm>
            <a:off x="1580322" y="755374"/>
            <a:ext cx="9773477" cy="8547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2 </a:t>
            </a:r>
            <a:endParaRPr/>
          </a:p>
        </p:txBody>
      </p:sp>
      <p:sp>
        <p:nvSpPr>
          <p:cNvPr id="135" name="Google Shape;135;p20"/>
          <p:cNvSpPr txBox="1"/>
          <p:nvPr>
            <p:ph idx="1" type="body"/>
          </p:nvPr>
        </p:nvSpPr>
        <p:spPr>
          <a:xfrm>
            <a:off x="1580322" y="2246243"/>
            <a:ext cx="8140148" cy="3930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</a:pPr>
            <a:r>
              <a:rPr lang="en-GB" sz="3600"/>
              <a:t>What will the following code output?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>
                <a:latin typeface="Courier"/>
                <a:ea typeface="Courier"/>
                <a:cs typeface="Courier"/>
                <a:sym typeface="Courier"/>
              </a:rPr>
              <a:t>for i in range(2, 14, 3):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>
                <a:latin typeface="Courier"/>
                <a:ea typeface="Courier"/>
                <a:cs typeface="Courier"/>
                <a:sym typeface="Courier"/>
              </a:rPr>
              <a:t>    print(i)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</a:pPr>
            <a:r>
              <a:t/>
            </a:r>
            <a:endParaRPr sz="3600"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36" name="Google Shape;136;p20"/>
          <p:cNvSpPr/>
          <p:nvPr/>
        </p:nvSpPr>
        <p:spPr>
          <a:xfrm>
            <a:off x="5522843" y="4211603"/>
            <a:ext cx="1146313" cy="206210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8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11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1"/>
          <p:cNvSpPr txBox="1"/>
          <p:nvPr>
            <p:ph type="title"/>
          </p:nvPr>
        </p:nvSpPr>
        <p:spPr>
          <a:xfrm>
            <a:off x="1580322" y="755374"/>
            <a:ext cx="9773477" cy="8547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3 </a:t>
            </a:r>
            <a:endParaRPr/>
          </a:p>
        </p:txBody>
      </p:sp>
      <p:sp>
        <p:nvSpPr>
          <p:cNvPr id="142" name="Google Shape;142;p21"/>
          <p:cNvSpPr txBox="1"/>
          <p:nvPr>
            <p:ph idx="1" type="body"/>
          </p:nvPr>
        </p:nvSpPr>
        <p:spPr>
          <a:xfrm>
            <a:off x="1580322" y="2246243"/>
            <a:ext cx="8140148" cy="39307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</a:pPr>
            <a:r>
              <a:rPr lang="en-GB" sz="3600"/>
              <a:t>What will the following code output?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>
                <a:latin typeface="Courier"/>
                <a:ea typeface="Courier"/>
                <a:cs typeface="Courier"/>
                <a:sym typeface="Courier"/>
              </a:rPr>
              <a:t>for i in range(10, 0, -2):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GB">
                <a:latin typeface="Courier"/>
                <a:ea typeface="Courier"/>
                <a:cs typeface="Courier"/>
                <a:sym typeface="Courier"/>
              </a:rPr>
              <a:t>    print(i)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indent="0" lvl="0" marL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</a:pPr>
            <a:r>
              <a:t/>
            </a:r>
            <a:endParaRPr sz="3600"/>
          </a:p>
          <a:p>
            <a:pPr indent="-50800" lvl="0" marL="2286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  <p:sp>
        <p:nvSpPr>
          <p:cNvPr id="143" name="Google Shape;143;p21"/>
          <p:cNvSpPr/>
          <p:nvPr/>
        </p:nvSpPr>
        <p:spPr>
          <a:xfrm>
            <a:off x="5522843" y="4002881"/>
            <a:ext cx="1146313" cy="25545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10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8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6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4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200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2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 txBox="1"/>
          <p:nvPr>
            <p:ph type="title"/>
          </p:nvPr>
        </p:nvSpPr>
        <p:spPr>
          <a:xfrm>
            <a:off x="1590260" y="805070"/>
            <a:ext cx="9763539" cy="80506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1</a:t>
            </a:r>
            <a:endParaRPr/>
          </a:p>
        </p:txBody>
      </p:sp>
      <p:pic>
        <p:nvPicPr>
          <p:cNvPr descr="A picture containing athletic game, basketball, sport&#10;&#10;Description automatically generated" id="149" name="Google Shape;149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90553" y="2042810"/>
            <a:ext cx="4410894" cy="43217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