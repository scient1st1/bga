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hape, rectangle&#10;&#10;Description automatically generated" id="6" name="Google Shape;6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-25758"/>
            <a:ext cx="12192000" cy="165619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jpg"/><Relationship Id="rId4" Type="http://schemas.openxmlformats.org/officeDocument/2006/relationships/image" Target="../media/image4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/>
        </p:nvSpPr>
        <p:spPr>
          <a:xfrm>
            <a:off x="1613647" y="2922494"/>
            <a:ext cx="4470140" cy="179441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b="1" i="0" lang="en-GB" sz="6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End of KS3 assessments</a:t>
            </a:r>
            <a:endParaRPr b="1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3"/>
          <p:cNvSpPr/>
          <p:nvPr/>
        </p:nvSpPr>
        <p:spPr>
          <a:xfrm>
            <a:off x="3973786" y="4718391"/>
            <a:ext cx="2110001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ED8100"/>
                </a:solidFill>
                <a:latin typeface="Calibri"/>
                <a:ea typeface="Calibri"/>
                <a:cs typeface="Calibri"/>
                <a:sym typeface="Calibri"/>
              </a:rPr>
              <a:t>Projects: Project 2</a:t>
            </a:r>
            <a:endParaRPr/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33284" y="3117591"/>
            <a:ext cx="2808191" cy="19994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600200" y="815009"/>
            <a:ext cx="9753600" cy="7951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600200" y="2397948"/>
            <a:ext cx="8299174" cy="20621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demonstrate: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ability to use spreadsheet functions to build a finance system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iterative approach to development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importance of versioning.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590261" y="717663"/>
            <a:ext cx="9773478" cy="9123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The project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590261" y="2274838"/>
            <a:ext cx="8060635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 the next six weeks, you will be using your spreadsheet skills to develop a finance system for a small hotel.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finance system contains a number of different features and you should use an</a:t>
            </a:r>
            <a:r>
              <a:rPr b="1" lang="en-GB" sz="2400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 iterative approach to project development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build and test each feature to make sure it is working as it should before moving on to add the next feature.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Save a new version of the spreadsheet each time you begin to add a new feature, so you can return to a working version if something goes wrong.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1590261" y="717663"/>
            <a:ext cx="9773478" cy="9123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The finance system </a:t>
            </a:r>
            <a:endParaRPr/>
          </a:p>
        </p:txBody>
      </p:sp>
      <p:sp>
        <p:nvSpPr>
          <p:cNvPr id="100" name="Google Shape;100;p16"/>
          <p:cNvSpPr/>
          <p:nvPr/>
        </p:nvSpPr>
        <p:spPr>
          <a:xfrm>
            <a:off x="1590262" y="2274838"/>
            <a:ext cx="7971182" cy="2677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a starting point, you will be provided with a workbook containing two spreadsheets (also known as ‘tabs’).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tab contains data about guests and one tab contains data about services and how much they cost.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Among the tasks you will need to complete to build the finance system, you will need to create an invoice and a summary of the hotel’s accounts.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able&#10;&#10;Description automatically generated" id="105" name="Google Shape;10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74725" y="2212179"/>
            <a:ext cx="3527013" cy="4002959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7"/>
          <p:cNvSpPr/>
          <p:nvPr/>
        </p:nvSpPr>
        <p:spPr>
          <a:xfrm>
            <a:off x="1590261" y="1787820"/>
            <a:ext cx="4840356" cy="44012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a guest checks out of the hotel, they must be given an invoice. This sets out the goods and services they purchased and tells them how much they need to pay.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invoice must be easy to read and understand and it must contain: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∙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name of the hotel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∙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guest reference number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∙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name and address of the guest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∙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number of nights the guest stayed at the hotel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∙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goods and services purchased by the guest and how much they each cost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∙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total cost of the stay.</a:t>
            </a:r>
            <a:endParaRPr/>
          </a:p>
        </p:txBody>
      </p:sp>
      <p:sp>
        <p:nvSpPr>
          <p:cNvPr id="107" name="Google Shape;107;p17"/>
          <p:cNvSpPr txBox="1"/>
          <p:nvPr>
            <p:ph type="title"/>
          </p:nvPr>
        </p:nvSpPr>
        <p:spPr>
          <a:xfrm>
            <a:off x="1590261" y="717663"/>
            <a:ext cx="9773478" cy="9123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The invoice </a:t>
            </a:r>
            <a:endParaRPr/>
          </a:p>
        </p:txBody>
      </p:sp>
      <p:cxnSp>
        <p:nvCxnSpPr>
          <p:cNvPr id="108" name="Google Shape;108;p17"/>
          <p:cNvCxnSpPr/>
          <p:nvPr/>
        </p:nvCxnSpPr>
        <p:spPr>
          <a:xfrm flipH="1" rot="10800000">
            <a:off x="6247906" y="4848191"/>
            <a:ext cx="774569" cy="228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109" name="Google Shape;109;p17"/>
          <p:cNvCxnSpPr/>
          <p:nvPr/>
        </p:nvCxnSpPr>
        <p:spPr>
          <a:xfrm flipH="1" rot="10800000">
            <a:off x="6234843" y="5103995"/>
            <a:ext cx="774569" cy="266032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110" name="Google Shape;110;p17"/>
          <p:cNvCxnSpPr/>
          <p:nvPr/>
        </p:nvCxnSpPr>
        <p:spPr>
          <a:xfrm flipH="1" rot="10800000">
            <a:off x="4728754" y="2970187"/>
            <a:ext cx="2345971" cy="1169880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111" name="Google Shape;111;p17"/>
          <p:cNvCxnSpPr/>
          <p:nvPr/>
        </p:nvCxnSpPr>
        <p:spPr>
          <a:xfrm flipH="1" rot="10800000">
            <a:off x="4650377" y="5572308"/>
            <a:ext cx="2372098" cy="391884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112" name="Google Shape;112;p17"/>
          <p:cNvCxnSpPr/>
          <p:nvPr/>
        </p:nvCxnSpPr>
        <p:spPr>
          <a:xfrm flipH="1" rot="10800000">
            <a:off x="5634446" y="3910893"/>
            <a:ext cx="1374966" cy="499818"/>
          </a:xfrm>
          <a:prstGeom prst="straightConnector1">
            <a:avLst/>
          </a:prstGeom>
          <a:noFill/>
          <a:ln cap="flat" cmpd="sng" w="9525">
            <a:solidFill>
              <a:schemeClr val="accent2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113" name="Google Shape;113;p17"/>
          <p:cNvCxnSpPr/>
          <p:nvPr/>
        </p:nvCxnSpPr>
        <p:spPr>
          <a:xfrm flipH="1" rot="10800000">
            <a:off x="4362450" y="2388025"/>
            <a:ext cx="2712275" cy="1402100"/>
          </a:xfrm>
          <a:prstGeom prst="straightConnector1">
            <a:avLst/>
          </a:prstGeom>
          <a:noFill/>
          <a:ln cap="flat" cmpd="sng" w="9525">
            <a:solidFill>
              <a:srgbClr val="ED8100"/>
            </a:solidFill>
            <a:prstDash val="solid"/>
            <a:miter lim="8000"/>
            <a:headEnd len="sm" w="sm" type="none"/>
            <a:tailEnd len="med" w="med" type="triangl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/>
          <p:nvPr>
            <p:ph type="title"/>
          </p:nvPr>
        </p:nvSpPr>
        <p:spPr>
          <a:xfrm>
            <a:off x="1590261" y="717663"/>
            <a:ext cx="9773478" cy="9123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The accounts </a:t>
            </a:r>
            <a:endParaRPr/>
          </a:p>
        </p:txBody>
      </p:sp>
      <p:sp>
        <p:nvSpPr>
          <p:cNvPr id="119" name="Google Shape;119;p18"/>
          <p:cNvSpPr/>
          <p:nvPr/>
        </p:nvSpPr>
        <p:spPr>
          <a:xfrm>
            <a:off x="1590261" y="2261689"/>
            <a:ext cx="4683632" cy="37856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 businesses need to keep accounts. These are a record of: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income: the money received from guests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costs: the money spent on paying staff and other fixed costs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profit/loss: the money left over when costs have been paid; this can be a positive sum (profit) or a negative sum (loss).</a:t>
            </a:r>
            <a:endParaRPr/>
          </a:p>
        </p:txBody>
      </p:sp>
      <p:pic>
        <p:nvPicPr>
          <p:cNvPr descr="A picture containing text, receipt, screenshot, document&#10;&#10;Description automatically generated" id="120" name="Google Shape;12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4466" y="2168693"/>
            <a:ext cx="4683633" cy="39716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 txBox="1"/>
          <p:nvPr>
            <p:ph type="title"/>
          </p:nvPr>
        </p:nvSpPr>
        <p:spPr>
          <a:xfrm>
            <a:off x="1590261" y="717663"/>
            <a:ext cx="9773478" cy="9123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Working with multiple spreadsheets </a:t>
            </a:r>
            <a:endParaRPr/>
          </a:p>
        </p:txBody>
      </p:sp>
      <p:sp>
        <p:nvSpPr>
          <p:cNvPr id="126" name="Google Shape;126;p19"/>
          <p:cNvSpPr/>
          <p:nvPr/>
        </p:nvSpPr>
        <p:spPr>
          <a:xfrm>
            <a:off x="1573695" y="2095934"/>
            <a:ext cx="9597888" cy="41549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finance system you will be building requires you to work with multiple spreadsheets in a workbook.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spreadsheets can be accessed by clicking on the tabs at the bottom: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add a new spreadsheet, click on the plus sign. Right click on a tab and select ‘Rename’ to give the new tab an appropriate name.</a:t>
            </a:r>
            <a:endParaRPr/>
          </a:p>
        </p:txBody>
      </p:sp>
      <p:pic>
        <p:nvPicPr>
          <p:cNvPr descr="A picture containing graphical user interface&#10;&#10;Description automatically generated" id="127" name="Google Shape;12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15006" y="3632788"/>
            <a:ext cx="5761987" cy="14768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/>
          <p:nvPr>
            <p:ph type="title"/>
          </p:nvPr>
        </p:nvSpPr>
        <p:spPr>
          <a:xfrm>
            <a:off x="1590261" y="717663"/>
            <a:ext cx="9773478" cy="9123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Linking spreadsheets </a:t>
            </a:r>
            <a:endParaRPr/>
          </a:p>
        </p:txBody>
      </p:sp>
      <p:sp>
        <p:nvSpPr>
          <p:cNvPr id="133" name="Google Shape;133;p20"/>
          <p:cNvSpPr/>
          <p:nvPr/>
        </p:nvSpPr>
        <p:spPr>
          <a:xfrm>
            <a:off x="1590261" y="2038784"/>
            <a:ext cx="8770455" cy="19389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link to data on another spreadsheet in the same workbook.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the target cell (the cell in which you would like the data to appear) and type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=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Then select the spreadsheet containing the source data, select the relevant cell and press ‘Enter’.</a:t>
            </a:r>
            <a:endParaRPr/>
          </a:p>
        </p:txBody>
      </p:sp>
      <p:pic>
        <p:nvPicPr>
          <p:cNvPr descr="Table&#10;&#10;Description automatically generated" id="134" name="Google Shape;13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14192" y="4163656"/>
            <a:ext cx="4963615" cy="22942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1"/>
          <p:cNvSpPr txBox="1"/>
          <p:nvPr>
            <p:ph type="title"/>
          </p:nvPr>
        </p:nvSpPr>
        <p:spPr>
          <a:xfrm>
            <a:off x="1590260" y="717663"/>
            <a:ext cx="10601739" cy="9123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b="1" lang="en-GB" sz="3600">
                <a:solidFill>
                  <a:schemeClr val="lt1"/>
                </a:solidFill>
              </a:rPr>
              <a:t>Using the </a:t>
            </a:r>
            <a:r>
              <a:rPr b="1" lang="en-GB" sz="360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"/>
              </a:rPr>
              <a:t>VLOOKUP</a:t>
            </a:r>
            <a:r>
              <a:rPr b="1" lang="en-GB" sz="3600">
                <a:solidFill>
                  <a:schemeClr val="lt1"/>
                </a:solidFill>
              </a:rPr>
              <a:t> function with two spreadsheets </a:t>
            </a:r>
            <a:endParaRPr/>
          </a:p>
        </p:txBody>
      </p:sp>
      <p:sp>
        <p:nvSpPr>
          <p:cNvPr id="140" name="Google Shape;140;p21"/>
          <p:cNvSpPr/>
          <p:nvPr/>
        </p:nvSpPr>
        <p:spPr>
          <a:xfrm>
            <a:off x="1590260" y="1911268"/>
            <a:ext cx="9249190" cy="21852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use a </a:t>
            </a:r>
            <a:r>
              <a:rPr lang="en-GB" sz="17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VLOOKUP</a:t>
            </a:r>
            <a:r>
              <a:rPr lang="en-GB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function to look up values on another spreadsheet in the same workbook.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the target cell, type </a:t>
            </a:r>
            <a:r>
              <a:rPr lang="en-GB" sz="17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=VLOOKUP(</a:t>
            </a:r>
            <a:r>
              <a:rPr lang="en-GB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select the cell containing the look up value. In this example, it is </a:t>
            </a:r>
            <a:r>
              <a:rPr lang="en-GB" sz="17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Calculator</a:t>
            </a:r>
            <a:r>
              <a:rPr lang="en-GB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cell A7. Type a comma.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Then select the spreadsheet containing the table of values and select the area that contains the data to enter the range. In this example, the range is </a:t>
            </a:r>
            <a:r>
              <a:rPr lang="en-GB" sz="17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A2:D5</a:t>
            </a:r>
            <a:r>
              <a:rPr lang="en-GB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the ‘Stock sold’ spreadsheet. Type a comma.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example, we want to return the value in the fourth column so we type </a:t>
            </a:r>
            <a:r>
              <a:rPr lang="en-GB" sz="17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4</a:t>
            </a:r>
            <a:r>
              <a:rPr lang="en-GB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close the parentheses and press ‘Enter’.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Remember to use absolute cell references for the range if you want to replicate the function.</a:t>
            </a:r>
            <a:endParaRPr/>
          </a:p>
        </p:txBody>
      </p:sp>
      <p:pic>
        <p:nvPicPr>
          <p:cNvPr descr="Graphical user interface, application, table, Excel&#10;&#10;Description automatically generated" id="141" name="Google Shape;14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14550" y="4190344"/>
            <a:ext cx="2914650" cy="242773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able, Excel&#10;&#10;Description automatically generated" id="142" name="Google Shape;142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43931" y="4190344"/>
            <a:ext cx="5009769" cy="2128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2"/>
          <p:cNvSpPr txBox="1"/>
          <p:nvPr>
            <p:ph type="title"/>
          </p:nvPr>
        </p:nvSpPr>
        <p:spPr>
          <a:xfrm>
            <a:off x="1590260" y="717663"/>
            <a:ext cx="10601739" cy="9123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The </a:t>
            </a:r>
            <a:r>
              <a:rPr b="1" lang="en-GB">
                <a:solidFill>
                  <a:schemeClr val="lt1"/>
                </a:solidFill>
                <a:latin typeface="Courier"/>
                <a:ea typeface="Courier"/>
                <a:cs typeface="Courier"/>
                <a:sym typeface="Courier"/>
              </a:rPr>
              <a:t>CONCATENATE</a:t>
            </a:r>
            <a:r>
              <a:rPr b="1" lang="en-GB">
                <a:solidFill>
                  <a:schemeClr val="lt1"/>
                </a:solidFill>
              </a:rPr>
              <a:t> function </a:t>
            </a:r>
            <a:endParaRPr/>
          </a:p>
        </p:txBody>
      </p:sp>
      <p:sp>
        <p:nvSpPr>
          <p:cNvPr id="148" name="Google Shape;148;p22"/>
          <p:cNvSpPr/>
          <p:nvPr/>
        </p:nvSpPr>
        <p:spPr>
          <a:xfrm>
            <a:off x="1590260" y="1911268"/>
            <a:ext cx="9511651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b="1" lang="en-GB" sz="2400">
                <a:solidFill>
                  <a:srgbClr val="ED7D31"/>
                </a:solidFill>
                <a:latin typeface="Courier"/>
                <a:ea typeface="Courier"/>
                <a:cs typeface="Courier"/>
                <a:sym typeface="Courier"/>
              </a:rPr>
              <a:t>CONCATENATE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function joins together strings in multiple cells to form one longer string.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example, we are joining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3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from cell B2, a space,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Calculator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from cell A2 and an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s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form the string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3 calculators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pic>
        <p:nvPicPr>
          <p:cNvPr descr="Graphical user interface, application, table, Excel&#10;&#10;Description automatically generated" id="149" name="Google Shape;149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06015" y="3865349"/>
            <a:ext cx="7379970" cy="2132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3"/>
          <p:cNvSpPr txBox="1"/>
          <p:nvPr>
            <p:ph type="title"/>
          </p:nvPr>
        </p:nvSpPr>
        <p:spPr>
          <a:xfrm>
            <a:off x="1590260" y="717663"/>
            <a:ext cx="10601739" cy="9123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The </a:t>
            </a:r>
            <a:r>
              <a:rPr b="1" lang="en-GB">
                <a:solidFill>
                  <a:schemeClr val="lt1"/>
                </a:solidFill>
                <a:latin typeface="Courier"/>
                <a:ea typeface="Courier"/>
                <a:cs typeface="Courier"/>
                <a:sym typeface="Courier"/>
              </a:rPr>
              <a:t>ROUNDUP</a:t>
            </a:r>
            <a:r>
              <a:rPr b="1" lang="en-GB">
                <a:solidFill>
                  <a:schemeClr val="lt1"/>
                </a:solidFill>
              </a:rPr>
              <a:t> functio </a:t>
            </a:r>
            <a:endParaRPr/>
          </a:p>
        </p:txBody>
      </p:sp>
      <p:sp>
        <p:nvSpPr>
          <p:cNvPr id="155" name="Google Shape;155;p23"/>
          <p:cNvSpPr/>
          <p:nvPr/>
        </p:nvSpPr>
        <p:spPr>
          <a:xfrm>
            <a:off x="1590260" y="1911268"/>
            <a:ext cx="9511651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b="1" lang="en-GB" sz="2400">
                <a:solidFill>
                  <a:srgbClr val="ED7D31"/>
                </a:solidFill>
                <a:latin typeface="Courier"/>
                <a:ea typeface="Courier"/>
                <a:cs typeface="Courier"/>
                <a:sym typeface="Courier"/>
              </a:rPr>
              <a:t>ROUNDUP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function is used to round a value up.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example, we are rounding the result of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B2*C2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</a:t>
            </a: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decimal places.</a:t>
            </a:r>
            <a:endParaRPr/>
          </a:p>
        </p:txBody>
      </p:sp>
      <p:sp>
        <p:nvSpPr>
          <p:cNvPr id="156" name="Google Shape;156;p23"/>
          <p:cNvSpPr/>
          <p:nvPr/>
        </p:nvSpPr>
        <p:spPr>
          <a:xfrm>
            <a:off x="1590260" y="5299302"/>
            <a:ext cx="5814392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may need to adjust the cell formatting to ensure that no trailing zeros are displayed. Use the ‘Decrease Decimal’ button to do this.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23"/>
          <p:cNvSpPr/>
          <p:nvPr/>
        </p:nvSpPr>
        <p:spPr>
          <a:xfrm>
            <a:off x="8606463" y="5376246"/>
            <a:ext cx="257865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Watch Video 2.1</a:t>
            </a:r>
            <a:endParaRPr/>
          </a:p>
        </p:txBody>
      </p:sp>
      <p:pic>
        <p:nvPicPr>
          <p:cNvPr descr="Graphical user interface, table, Excel&#10;&#10;Description automatically generated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1172" y="3072077"/>
            <a:ext cx="5629656" cy="20189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5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4"/>
          <p:cNvSpPr txBox="1"/>
          <p:nvPr>
            <p:ph type="title"/>
          </p:nvPr>
        </p:nvSpPr>
        <p:spPr>
          <a:xfrm>
            <a:off x="1570382" y="725557"/>
            <a:ext cx="9783417" cy="88458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Project 2: Finance system </a:t>
            </a:r>
            <a:endParaRPr/>
          </a:p>
        </p:txBody>
      </p:sp>
      <p:pic>
        <p:nvPicPr>
          <p:cNvPr id="164" name="Google Shape;16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99261" y="1903472"/>
            <a:ext cx="4393477" cy="4304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