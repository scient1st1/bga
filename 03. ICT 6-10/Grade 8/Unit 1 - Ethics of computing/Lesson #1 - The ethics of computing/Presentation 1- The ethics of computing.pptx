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 name="Google Shape;17;p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2" name="Google Shape;22;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3" name="Google Shape;53;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4" name="Google Shape;54;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0"/>
          <p:cNvSpPr/>
          <p:nvPr>
            <p:ph idx="2" type="pic"/>
          </p:nvPr>
        </p:nvSpPr>
        <p:spPr>
          <a:xfrm>
            <a:off x="5183188" y="987425"/>
            <a:ext cx="6172200" cy="4873625"/>
          </a:xfrm>
          <a:prstGeom prst="rect">
            <a:avLst/>
          </a:prstGeom>
          <a:noFill/>
          <a:ln>
            <a:noFill/>
          </a:ln>
        </p:spPr>
      </p:sp>
      <p:sp>
        <p:nvSpPr>
          <p:cNvPr id="60" name="Google Shape;60;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 name="Google Shape;61;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0" name="Shape 70"/>
        <p:cNvGrpSpPr/>
        <p:nvPr/>
      </p:nvGrpSpPr>
      <p:grpSpPr>
        <a:xfrm>
          <a:off x="0" y="0"/>
          <a:ext cx="0" cy="0"/>
          <a:chOff x="0" y="0"/>
          <a:chExt cx="0" cy="0"/>
        </a:xfrm>
      </p:grpSpPr>
      <p:sp>
        <p:nvSpPr>
          <p:cNvPr id="71" name="Google Shape;71;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nvSpPr>
        <p:spPr>
          <a:xfrm>
            <a:off x="7547114" y="6380197"/>
            <a:ext cx="41148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GB" sz="1200" u="none" cap="none" strike="noStrike">
                <a:solidFill>
                  <a:schemeClr val="dk1"/>
                </a:solidFill>
                <a:latin typeface="Calibri"/>
                <a:ea typeface="Calibri"/>
                <a:cs typeface="Calibri"/>
                <a:sym typeface="Calibri"/>
              </a:rPr>
              <a:t>© Hodder &amp; Stoughton Limited 2021</a:t>
            </a:r>
            <a:endParaRPr/>
          </a:p>
        </p:txBody>
      </p:sp>
      <p:pic>
        <p:nvPicPr>
          <p:cNvPr id="9" name="Google Shape;9;p1"/>
          <p:cNvPicPr preferRelativeResize="0"/>
          <p:nvPr/>
        </p:nvPicPr>
        <p:blipFill rotWithShape="1">
          <a:blip r:embed="rId1">
            <a:alphaModFix/>
          </a:blip>
          <a:srcRect b="0" l="0" r="0" t="0"/>
          <a:stretch/>
        </p:blipFill>
        <p:spPr>
          <a:xfrm>
            <a:off x="0" y="0"/>
            <a:ext cx="12192000" cy="164161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www.sketch.io/sketchpad/" TargetMode="Externa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hyperlink" Target="http://www.google.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www.google.com/" TargetMode="External"/><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5.jpg"/><Relationship Id="rId7"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
          <p:cNvSpPr txBox="1"/>
          <p:nvPr>
            <p:ph type="ctrTitle"/>
          </p:nvPr>
        </p:nvSpPr>
        <p:spPr>
          <a:xfrm>
            <a:off x="2082477" y="3118978"/>
            <a:ext cx="4013523" cy="1497914"/>
          </a:xfrm>
          <a:prstGeom prst="rect">
            <a:avLst/>
          </a:prstGeom>
          <a:noFill/>
          <a:ln>
            <a:noFill/>
          </a:ln>
        </p:spPr>
        <p:txBody>
          <a:bodyPr anchorCtr="0" anchor="b" bIns="45700" lIns="91425" spcFirstLastPara="1" rIns="91425" wrap="square" tIns="45700">
            <a:normAutofit fontScale="90000"/>
          </a:bodyPr>
          <a:lstStyle/>
          <a:p>
            <a:pPr indent="0" lvl="0" marL="0" rtl="0" algn="r">
              <a:lnSpc>
                <a:spcPct val="90000"/>
              </a:lnSpc>
              <a:spcBef>
                <a:spcPts val="0"/>
              </a:spcBef>
              <a:spcAft>
                <a:spcPts val="0"/>
              </a:spcAft>
              <a:buClr>
                <a:schemeClr val="dk1"/>
              </a:buClr>
              <a:buSzPct val="100000"/>
              <a:buFont typeface="Calibri"/>
              <a:buNone/>
            </a:pPr>
            <a:r>
              <a:rPr b="1" lang="en-GB"/>
              <a:t>The ethics</a:t>
            </a:r>
            <a:br>
              <a:rPr b="1" lang="en-GB"/>
            </a:br>
            <a:r>
              <a:rPr b="1" lang="en-GB"/>
              <a:t>of computing</a:t>
            </a:r>
            <a:endParaRPr/>
          </a:p>
        </p:txBody>
      </p:sp>
      <p:sp>
        <p:nvSpPr>
          <p:cNvPr id="81" name="Google Shape;81;p13"/>
          <p:cNvSpPr/>
          <p:nvPr/>
        </p:nvSpPr>
        <p:spPr>
          <a:xfrm>
            <a:off x="1748015" y="4616892"/>
            <a:ext cx="4347985" cy="40011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GB" sz="2000" u="none" cap="none" strike="noStrike">
                <a:solidFill>
                  <a:srgbClr val="00B0F0"/>
                </a:solidFill>
                <a:latin typeface="Calibri"/>
                <a:ea typeface="Calibri"/>
                <a:cs typeface="Calibri"/>
                <a:sym typeface="Calibri"/>
              </a:rPr>
              <a:t>Lesson 1: Sourcing content responsibly </a:t>
            </a:r>
            <a:endParaRPr b="1" i="0" sz="2000" u="none" cap="none" strike="noStrike">
              <a:solidFill>
                <a:srgbClr val="00B0F0"/>
              </a:solidFill>
              <a:latin typeface="Calibri"/>
              <a:ea typeface="Calibri"/>
              <a:cs typeface="Calibri"/>
              <a:sym typeface="Calibri"/>
            </a:endParaRPr>
          </a:p>
        </p:txBody>
      </p:sp>
      <p:pic>
        <p:nvPicPr>
          <p:cNvPr id="82" name="Google Shape;82;p13"/>
          <p:cNvPicPr preferRelativeResize="0"/>
          <p:nvPr/>
        </p:nvPicPr>
        <p:blipFill rotWithShape="1">
          <a:blip r:embed="rId3">
            <a:alphaModFix/>
          </a:blip>
          <a:srcRect b="0" l="0" r="0" t="0"/>
          <a:stretch/>
        </p:blipFill>
        <p:spPr>
          <a:xfrm>
            <a:off x="6430462" y="2852165"/>
            <a:ext cx="3626103" cy="2164837"/>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4"/>
          <p:cNvSpPr txBox="1"/>
          <p:nvPr>
            <p:ph type="title"/>
          </p:nvPr>
        </p:nvSpPr>
        <p:spPr>
          <a:xfrm>
            <a:off x="1600200" y="844826"/>
            <a:ext cx="9634330" cy="76634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Objectives</a:t>
            </a:r>
            <a:endParaRPr/>
          </a:p>
        </p:txBody>
      </p:sp>
      <p:sp>
        <p:nvSpPr>
          <p:cNvPr id="88" name="Google Shape;88;p14"/>
          <p:cNvSpPr/>
          <p:nvPr/>
        </p:nvSpPr>
        <p:spPr>
          <a:xfrm>
            <a:off x="1600200" y="2613392"/>
            <a:ext cx="9471991" cy="16312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In this lesson, you will learn:</a:t>
            </a:r>
            <a:endParaRPr sz="28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the importance of crediting content creators</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how to find out who originally created material posted online</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how to use the internet responsibly.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type="title"/>
          </p:nvPr>
        </p:nvSpPr>
        <p:spPr>
          <a:xfrm>
            <a:off x="1570382" y="834888"/>
            <a:ext cx="9783417" cy="7951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1.1: Draw a creature </a:t>
            </a:r>
            <a:endParaRPr/>
          </a:p>
        </p:txBody>
      </p:sp>
      <p:sp>
        <p:nvSpPr>
          <p:cNvPr id="94" name="Google Shape;94;p15"/>
          <p:cNvSpPr/>
          <p:nvPr/>
        </p:nvSpPr>
        <p:spPr>
          <a:xfrm>
            <a:off x="1570382" y="2004807"/>
            <a:ext cx="5422601" cy="4231736"/>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Visit </a:t>
            </a:r>
            <a:r>
              <a:rPr lang="en-GB" sz="2400" u="sng">
                <a:solidFill>
                  <a:schemeClr val="hlink"/>
                </a:solidFill>
                <a:latin typeface="Calibri"/>
                <a:ea typeface="Calibri"/>
                <a:cs typeface="Calibri"/>
                <a:sym typeface="Calibri"/>
                <a:hlinkClick r:id="rId3"/>
              </a:rPr>
              <a:t>www.sketch.io/sketchpad/</a:t>
            </a:r>
            <a:endParaRPr sz="24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GB" sz="2400">
                <a:solidFill>
                  <a:schemeClr val="dk1"/>
                </a:solidFill>
                <a:latin typeface="Calibri"/>
                <a:ea typeface="Calibri"/>
                <a:cs typeface="Calibri"/>
                <a:sym typeface="Calibri"/>
              </a:rPr>
              <a:t>You have three minutes to draw a creature with four legs, two eyes, two ears and a tail. You do not need to create a masterpiece and your art skills are not being tested!</a:t>
            </a:r>
            <a:endParaRPr sz="24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GB" sz="2400">
                <a:solidFill>
                  <a:schemeClr val="dk1"/>
                </a:solidFill>
                <a:latin typeface="Calibri"/>
                <a:ea typeface="Calibri"/>
                <a:cs typeface="Calibri"/>
                <a:sym typeface="Calibri"/>
              </a:rPr>
              <a:t>When your time is up, click on the ‘Export’ icon and download the image as a JPEG. Save it somewhere you can find it easily at the end of the lesson.</a:t>
            </a:r>
            <a:endParaRPr sz="2400">
              <a:solidFill>
                <a:schemeClr val="dk1"/>
              </a:solidFill>
              <a:latin typeface="Calibri"/>
              <a:ea typeface="Calibri"/>
              <a:cs typeface="Calibri"/>
              <a:sym typeface="Calibri"/>
            </a:endParaRPr>
          </a:p>
        </p:txBody>
      </p:sp>
      <p:pic>
        <p:nvPicPr>
          <p:cNvPr descr="A picture containing athletic game, basketball, sport&#10;&#10;Description automatically generated" id="95" name="Google Shape;95;p15"/>
          <p:cNvPicPr preferRelativeResize="0"/>
          <p:nvPr/>
        </p:nvPicPr>
        <p:blipFill rotWithShape="1">
          <a:blip r:embed="rId4">
            <a:alphaModFix/>
          </a:blip>
          <a:srcRect b="0" l="0" r="0" t="0"/>
          <a:stretch/>
        </p:blipFill>
        <p:spPr>
          <a:xfrm>
            <a:off x="7141029" y="1886056"/>
            <a:ext cx="4410894" cy="4321738"/>
          </a:xfrm>
          <a:prstGeom prst="rect">
            <a:avLst/>
          </a:prstGeom>
          <a:noFill/>
          <a:ln>
            <a:noFill/>
          </a:ln>
        </p:spPr>
      </p:pic>
      <p:sp>
        <p:nvSpPr>
          <p:cNvPr id="96" name="Google Shape;96;p15"/>
          <p:cNvSpPr txBox="1"/>
          <p:nvPr/>
        </p:nvSpPr>
        <p:spPr>
          <a:xfrm>
            <a:off x="9765793" y="962907"/>
            <a:ext cx="2255519" cy="79513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8DA9DB"/>
              </a:buClr>
              <a:buSzPts val="4400"/>
              <a:buFont typeface="Calibri"/>
              <a:buNone/>
            </a:pPr>
            <a:r>
              <a:rPr b="1" lang="en-GB" sz="4400">
                <a:solidFill>
                  <a:srgbClr val="8DA9DB"/>
                </a:solidFill>
                <a:latin typeface="Calibri"/>
                <a:ea typeface="Calibri"/>
                <a:cs typeface="Calibri"/>
                <a:sym typeface="Calibri"/>
              </a:rPr>
              <a:t>DO NOW</a:t>
            </a:r>
            <a:endParaRPr b="1" sz="4400">
              <a:solidFill>
                <a:srgbClr val="8DA9DB"/>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6"/>
          <p:cNvSpPr txBox="1"/>
          <p:nvPr>
            <p:ph type="title"/>
          </p:nvPr>
        </p:nvSpPr>
        <p:spPr>
          <a:xfrm>
            <a:off x="1580322" y="844826"/>
            <a:ext cx="9773478" cy="75537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Everything online has an owner </a:t>
            </a:r>
            <a:endParaRPr/>
          </a:p>
        </p:txBody>
      </p:sp>
      <p:sp>
        <p:nvSpPr>
          <p:cNvPr id="102" name="Google Shape;102;p16"/>
          <p:cNvSpPr/>
          <p:nvPr/>
        </p:nvSpPr>
        <p:spPr>
          <a:xfrm>
            <a:off x="1580322" y="5460248"/>
            <a:ext cx="9096387" cy="865173"/>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Because it’s so easy to copy material from the internet, it’s often very hard to tell who created it in the first place. But this is no excuse!</a:t>
            </a:r>
            <a:endParaRPr sz="2400">
              <a:solidFill>
                <a:schemeClr val="dk1"/>
              </a:solidFill>
              <a:latin typeface="Calibri"/>
              <a:ea typeface="Calibri"/>
              <a:cs typeface="Calibri"/>
              <a:sym typeface="Calibri"/>
            </a:endParaRPr>
          </a:p>
        </p:txBody>
      </p:sp>
      <p:pic>
        <p:nvPicPr>
          <p:cNvPr descr="Text, company name&#10;&#10;Description automatically generated" id="103" name="Google Shape;103;p16"/>
          <p:cNvPicPr preferRelativeResize="0"/>
          <p:nvPr/>
        </p:nvPicPr>
        <p:blipFill rotWithShape="1">
          <a:blip r:embed="rId3">
            <a:alphaModFix/>
          </a:blip>
          <a:srcRect b="0" l="0" r="0" t="0"/>
          <a:stretch/>
        </p:blipFill>
        <p:spPr>
          <a:xfrm>
            <a:off x="8207171" y="2427135"/>
            <a:ext cx="3303672" cy="2624835"/>
          </a:xfrm>
          <a:prstGeom prst="rect">
            <a:avLst/>
          </a:prstGeom>
          <a:noFill/>
          <a:ln>
            <a:noFill/>
          </a:ln>
        </p:spPr>
      </p:pic>
      <p:sp>
        <p:nvSpPr>
          <p:cNvPr id="104" name="Google Shape;104;p16"/>
          <p:cNvSpPr/>
          <p:nvPr/>
        </p:nvSpPr>
        <p:spPr>
          <a:xfrm>
            <a:off x="1580322" y="2018857"/>
            <a:ext cx="6553484" cy="3441391"/>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Every paragraph of text, image, video and sound on the internet was created by somebody.</a:t>
            </a:r>
            <a:endParaRPr/>
          </a:p>
          <a:p>
            <a:pPr indent="0" lvl="0" marL="0" marR="0" rtl="0" algn="l">
              <a:lnSpc>
                <a:spcPct val="107000"/>
              </a:lnSpc>
              <a:spcBef>
                <a:spcPts val="800"/>
              </a:spcBef>
              <a:spcAft>
                <a:spcPts val="0"/>
              </a:spcAft>
              <a:buNone/>
            </a:pPr>
            <a:r>
              <a:rPr lang="en-GB" sz="2400">
                <a:solidFill>
                  <a:schemeClr val="dk1"/>
                </a:solidFill>
                <a:latin typeface="Calibri"/>
                <a:ea typeface="Calibri"/>
                <a:cs typeface="Calibri"/>
                <a:sym typeface="Calibri"/>
              </a:rPr>
              <a:t>More often than not, you are breaking the law if you copy material from the internet without </a:t>
            </a:r>
            <a:r>
              <a:rPr b="1" lang="en-GB" sz="2400">
                <a:solidFill>
                  <a:srgbClr val="00B0F0"/>
                </a:solidFill>
                <a:latin typeface="Calibri"/>
                <a:ea typeface="Calibri"/>
                <a:cs typeface="Calibri"/>
                <a:sym typeface="Calibri"/>
              </a:rPr>
              <a:t>crediting</a:t>
            </a:r>
            <a:r>
              <a:rPr lang="en-GB" sz="2400">
                <a:solidFill>
                  <a:schemeClr val="dk1"/>
                </a:solidFill>
                <a:latin typeface="Calibri"/>
                <a:ea typeface="Calibri"/>
                <a:cs typeface="Calibri"/>
                <a:sym typeface="Calibri"/>
              </a:rPr>
              <a:t> the person who created it.</a:t>
            </a:r>
            <a:endParaRPr/>
          </a:p>
          <a:p>
            <a:pPr indent="0" lvl="0" marL="0" marR="0" rtl="0" algn="l">
              <a:lnSpc>
                <a:spcPct val="107000"/>
              </a:lnSpc>
              <a:spcBef>
                <a:spcPts val="800"/>
              </a:spcBef>
              <a:spcAft>
                <a:spcPts val="0"/>
              </a:spcAft>
              <a:buNone/>
            </a:pPr>
            <a:r>
              <a:rPr lang="en-GB" sz="2400">
                <a:solidFill>
                  <a:schemeClr val="dk1"/>
                </a:solidFill>
                <a:latin typeface="Calibri"/>
                <a:ea typeface="Calibri"/>
                <a:cs typeface="Calibri"/>
                <a:sym typeface="Calibri"/>
              </a:rPr>
              <a:t>People own the </a:t>
            </a:r>
            <a:r>
              <a:rPr b="1" lang="en-GB" sz="2400">
                <a:solidFill>
                  <a:srgbClr val="00B0F0"/>
                </a:solidFill>
                <a:latin typeface="Calibri"/>
                <a:ea typeface="Calibri"/>
                <a:cs typeface="Calibri"/>
                <a:sym typeface="Calibri"/>
              </a:rPr>
              <a:t>copyright</a:t>
            </a:r>
            <a:r>
              <a:rPr lang="en-GB" sz="2400">
                <a:solidFill>
                  <a:schemeClr val="dk1"/>
                </a:solidFill>
                <a:latin typeface="Calibri"/>
                <a:ea typeface="Calibri"/>
                <a:cs typeface="Calibri"/>
                <a:sym typeface="Calibri"/>
              </a:rPr>
              <a:t> of material they create, and you must not suggest that you created it yourself. You must say where you got it from.</a:t>
            </a:r>
            <a:endParaRPr sz="24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1580322" y="844826"/>
            <a:ext cx="9773478" cy="75537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Crediting a source </a:t>
            </a:r>
            <a:endParaRPr/>
          </a:p>
        </p:txBody>
      </p:sp>
      <p:sp>
        <p:nvSpPr>
          <p:cNvPr id="110" name="Google Shape;110;p17"/>
          <p:cNvSpPr/>
          <p:nvPr/>
        </p:nvSpPr>
        <p:spPr>
          <a:xfrm>
            <a:off x="1580321" y="1697226"/>
            <a:ext cx="9773477" cy="4575933"/>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None/>
            </a:pPr>
            <a:r>
              <a:rPr lang="en-GB" sz="2000">
                <a:solidFill>
                  <a:schemeClr val="dk1"/>
                </a:solidFill>
                <a:latin typeface="Calibri"/>
                <a:ea typeface="Calibri"/>
                <a:cs typeface="Calibri"/>
                <a:sym typeface="Calibri"/>
              </a:rPr>
              <a:t>To credit a source, you must state who created it, the title of the article or page it came from, the web address of the page you found it on and the date you accessed the web page.</a:t>
            </a:r>
            <a:endParaRPr sz="2000">
              <a:solidFill>
                <a:schemeClr val="dk1"/>
              </a:solidFill>
              <a:latin typeface="Calibri"/>
              <a:ea typeface="Calibri"/>
              <a:cs typeface="Calibri"/>
              <a:sym typeface="Calibri"/>
            </a:endParaRPr>
          </a:p>
          <a:p>
            <a:pPr indent="0" lvl="0" marL="0" marR="0" rtl="0" algn="l">
              <a:lnSpc>
                <a:spcPct val="114000"/>
              </a:lnSpc>
              <a:spcBef>
                <a:spcPts val="600"/>
              </a:spcBef>
              <a:spcAft>
                <a:spcPts val="0"/>
              </a:spcAft>
              <a:buNone/>
            </a:pPr>
            <a:r>
              <a:rPr lang="en-GB" sz="1800">
                <a:solidFill>
                  <a:schemeClr val="dk1"/>
                </a:solidFill>
                <a:latin typeface="Calibri"/>
                <a:ea typeface="Calibri"/>
                <a:cs typeface="Calibri"/>
                <a:sym typeface="Calibri"/>
              </a:rPr>
              <a:t>For example, here’s how you credit a quote from a web page:</a:t>
            </a:r>
            <a:endParaRPr sz="1800">
              <a:solidFill>
                <a:schemeClr val="dk1"/>
              </a:solidFill>
              <a:latin typeface="Calibri"/>
              <a:ea typeface="Calibri"/>
              <a:cs typeface="Calibri"/>
              <a:sym typeface="Calibri"/>
            </a:endParaRPr>
          </a:p>
          <a:p>
            <a:pPr indent="-285750" lvl="0" marL="285750" marR="0" rtl="0" algn="l">
              <a:lnSpc>
                <a:spcPct val="114000"/>
              </a:lnSpc>
              <a:spcBef>
                <a:spcPts val="600"/>
              </a:spcBef>
              <a:spcAft>
                <a:spcPts val="0"/>
              </a:spcAft>
              <a:buClr>
                <a:schemeClr val="dk1"/>
              </a:buClr>
              <a:buSzPts val="1600"/>
              <a:buFont typeface="Arial"/>
              <a:buChar char="•"/>
            </a:pPr>
            <a:r>
              <a:rPr lang="en-GB" sz="1600">
                <a:solidFill>
                  <a:schemeClr val="dk1"/>
                </a:solidFill>
                <a:latin typeface="Calibri"/>
                <a:ea typeface="Calibri"/>
                <a:cs typeface="Calibri"/>
                <a:sym typeface="Calibri"/>
              </a:rPr>
              <a:t>Source: World Animal Foundation, ‘Zebras’, 25 Apr 2021, https://www.worldanimalfoundation.com/advocate/wild-animals/params/post/1294331/zebras, (accessed 16/06/21)</a:t>
            </a:r>
            <a:endParaRPr sz="1600">
              <a:solidFill>
                <a:schemeClr val="dk1"/>
              </a:solidFill>
              <a:latin typeface="Calibri"/>
              <a:ea typeface="Calibri"/>
              <a:cs typeface="Calibri"/>
              <a:sym typeface="Calibri"/>
            </a:endParaRPr>
          </a:p>
          <a:p>
            <a:pPr indent="0" lvl="0" marL="0" marR="0" rtl="0" algn="l">
              <a:lnSpc>
                <a:spcPct val="114000"/>
              </a:lnSpc>
              <a:spcBef>
                <a:spcPts val="600"/>
              </a:spcBef>
              <a:spcAft>
                <a:spcPts val="0"/>
              </a:spcAft>
              <a:buNone/>
            </a:pPr>
            <a:r>
              <a:rPr lang="en-GB" sz="1800">
                <a:solidFill>
                  <a:schemeClr val="dk1"/>
                </a:solidFill>
                <a:latin typeface="Calibri"/>
                <a:ea typeface="Calibri"/>
                <a:cs typeface="Calibri"/>
                <a:sym typeface="Calibri"/>
              </a:rPr>
              <a:t>For example, here’s how you credit a photograph:</a:t>
            </a:r>
            <a:endParaRPr sz="1800">
              <a:solidFill>
                <a:schemeClr val="dk1"/>
              </a:solidFill>
              <a:latin typeface="Calibri"/>
              <a:ea typeface="Calibri"/>
              <a:cs typeface="Calibri"/>
              <a:sym typeface="Calibri"/>
            </a:endParaRPr>
          </a:p>
          <a:p>
            <a:pPr indent="-285750" lvl="0" marL="285750" marR="0" rtl="0" algn="l">
              <a:lnSpc>
                <a:spcPct val="114000"/>
              </a:lnSpc>
              <a:spcBef>
                <a:spcPts val="600"/>
              </a:spcBef>
              <a:spcAft>
                <a:spcPts val="0"/>
              </a:spcAft>
              <a:buClr>
                <a:schemeClr val="dk1"/>
              </a:buClr>
              <a:buSzPts val="1600"/>
              <a:buFont typeface="Arial"/>
              <a:buChar char="•"/>
            </a:pPr>
            <a:r>
              <a:rPr lang="en-GB" sz="1600">
                <a:solidFill>
                  <a:schemeClr val="dk1"/>
                </a:solidFill>
                <a:latin typeface="Calibri"/>
                <a:ea typeface="Calibri"/>
                <a:cs typeface="Calibri"/>
                <a:sym typeface="Calibri"/>
              </a:rPr>
              <a:t>Source: South African National Biodiversity Institute, ‘Burchell’s Zebra’, [picture], May 2020, https://www.sanbi.org/animal-of-the-week/burchells-zebra/, (accessed 16/06/2021)</a:t>
            </a:r>
            <a:endParaRPr sz="1600">
              <a:solidFill>
                <a:schemeClr val="dk1"/>
              </a:solidFill>
              <a:latin typeface="Calibri"/>
              <a:ea typeface="Calibri"/>
              <a:cs typeface="Calibri"/>
              <a:sym typeface="Calibri"/>
            </a:endParaRPr>
          </a:p>
          <a:p>
            <a:pPr indent="0" lvl="0" marL="0" marR="0" rtl="0" algn="l">
              <a:lnSpc>
                <a:spcPct val="114000"/>
              </a:lnSpc>
              <a:spcBef>
                <a:spcPts val="600"/>
              </a:spcBef>
              <a:spcAft>
                <a:spcPts val="0"/>
              </a:spcAft>
              <a:buNone/>
            </a:pPr>
            <a:r>
              <a:rPr lang="en-GB" sz="1800">
                <a:solidFill>
                  <a:schemeClr val="dk1"/>
                </a:solidFill>
                <a:latin typeface="Calibri"/>
                <a:ea typeface="Calibri"/>
                <a:cs typeface="Calibri"/>
                <a:sym typeface="Calibri"/>
              </a:rPr>
              <a:t>For example, here’s how to credit a video:</a:t>
            </a:r>
            <a:endParaRPr sz="1800">
              <a:solidFill>
                <a:schemeClr val="dk1"/>
              </a:solidFill>
              <a:latin typeface="Calibri"/>
              <a:ea typeface="Calibri"/>
              <a:cs typeface="Calibri"/>
              <a:sym typeface="Calibri"/>
            </a:endParaRPr>
          </a:p>
          <a:p>
            <a:pPr indent="-285750" lvl="0" marL="285750" marR="0" rtl="0" algn="l">
              <a:lnSpc>
                <a:spcPct val="114000"/>
              </a:lnSpc>
              <a:spcBef>
                <a:spcPts val="600"/>
              </a:spcBef>
              <a:spcAft>
                <a:spcPts val="0"/>
              </a:spcAft>
              <a:buClr>
                <a:schemeClr val="dk1"/>
              </a:buClr>
              <a:buSzPts val="1600"/>
              <a:buFont typeface="Arial"/>
              <a:buChar char="•"/>
            </a:pPr>
            <a:r>
              <a:rPr lang="en-GB" sz="1600">
                <a:solidFill>
                  <a:schemeClr val="dk1"/>
                </a:solidFill>
                <a:latin typeface="Calibri"/>
                <a:ea typeface="Calibri"/>
                <a:cs typeface="Calibri"/>
                <a:sym typeface="Calibri"/>
              </a:rPr>
              <a:t>Source: Real Wild, ‘Striped Survivors: A tale of a zebra’ [wildlife documentary], 27 Jan 2018, www.youtube.com/watch?v=wmNandLRMcw, (accessed 16/06/2021)</a:t>
            </a:r>
            <a:endParaRPr/>
          </a:p>
          <a:p>
            <a:pPr indent="0" lvl="0" marL="0" marR="0" rtl="0" algn="l">
              <a:lnSpc>
                <a:spcPct val="114000"/>
              </a:lnSpc>
              <a:spcBef>
                <a:spcPts val="600"/>
              </a:spcBef>
              <a:spcAft>
                <a:spcPts val="0"/>
              </a:spcAft>
              <a:buNone/>
            </a:pPr>
            <a:r>
              <a:rPr lang="en-GB" sz="2000">
                <a:solidFill>
                  <a:schemeClr val="dk1"/>
                </a:solidFill>
                <a:latin typeface="Calibri"/>
                <a:ea typeface="Calibri"/>
                <a:cs typeface="Calibri"/>
                <a:sym typeface="Calibri"/>
              </a:rPr>
              <a:t>Credits should be placed as close as possible to the text, photograph or video.</a:t>
            </a:r>
            <a:endParaRPr sz="20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1580322" y="844826"/>
            <a:ext cx="9773478" cy="75537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Calibri"/>
              <a:buNone/>
            </a:pPr>
            <a:r>
              <a:rPr b="1" lang="en-GB">
                <a:solidFill>
                  <a:schemeClr val="lt1"/>
                </a:solidFill>
              </a:rPr>
              <a:t>Getting permission to use copyright material </a:t>
            </a:r>
            <a:endParaRPr/>
          </a:p>
        </p:txBody>
      </p:sp>
      <p:sp>
        <p:nvSpPr>
          <p:cNvPr id="116" name="Google Shape;116;p18"/>
          <p:cNvSpPr/>
          <p:nvPr/>
        </p:nvSpPr>
        <p:spPr>
          <a:xfrm>
            <a:off x="1580322" y="1995400"/>
            <a:ext cx="9144000" cy="3667286"/>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None/>
            </a:pPr>
            <a:r>
              <a:rPr lang="en-GB" sz="2400">
                <a:solidFill>
                  <a:schemeClr val="dk1"/>
                </a:solidFill>
                <a:latin typeface="Calibri"/>
                <a:ea typeface="Calibri"/>
                <a:cs typeface="Calibri"/>
                <a:sym typeface="Calibri"/>
              </a:rPr>
              <a:t>Although it is good practice to credit all sources, you cannot use a lot of copyright material without getting permission to use it from the person who created it.</a:t>
            </a:r>
            <a:endParaRPr/>
          </a:p>
          <a:p>
            <a:pPr indent="0" lvl="0" marL="0" marR="0" rtl="0" algn="l">
              <a:lnSpc>
                <a:spcPct val="114000"/>
              </a:lnSpc>
              <a:spcBef>
                <a:spcPts val="600"/>
              </a:spcBef>
              <a:spcAft>
                <a:spcPts val="0"/>
              </a:spcAft>
              <a:buNone/>
            </a:pPr>
            <a:r>
              <a:rPr lang="en-GB" sz="2400">
                <a:solidFill>
                  <a:schemeClr val="dk1"/>
                </a:solidFill>
                <a:latin typeface="Calibri"/>
                <a:ea typeface="Calibri"/>
                <a:cs typeface="Calibri"/>
                <a:sym typeface="Calibri"/>
              </a:rPr>
              <a:t>This applies particularly to photographs, artwork and videos.</a:t>
            </a:r>
            <a:endParaRPr/>
          </a:p>
          <a:p>
            <a:pPr indent="0" lvl="0" marL="0" marR="0" rtl="0" algn="l">
              <a:lnSpc>
                <a:spcPct val="114000"/>
              </a:lnSpc>
              <a:spcBef>
                <a:spcPts val="600"/>
              </a:spcBef>
              <a:spcAft>
                <a:spcPts val="0"/>
              </a:spcAft>
              <a:buNone/>
            </a:pPr>
            <a:r>
              <a:rPr lang="en-GB" sz="2400">
                <a:solidFill>
                  <a:schemeClr val="dk1"/>
                </a:solidFill>
                <a:latin typeface="Calibri"/>
                <a:ea typeface="Calibri"/>
                <a:cs typeface="Calibri"/>
                <a:sym typeface="Calibri"/>
              </a:rPr>
              <a:t>You need to identify the person who created the material in the first place and contact them to ask permission.</a:t>
            </a:r>
            <a:endParaRPr/>
          </a:p>
          <a:p>
            <a:pPr indent="0" lvl="0" marL="0" marR="0" rtl="0" algn="l">
              <a:lnSpc>
                <a:spcPct val="114000"/>
              </a:lnSpc>
              <a:spcBef>
                <a:spcPts val="600"/>
              </a:spcBef>
              <a:spcAft>
                <a:spcPts val="0"/>
              </a:spcAft>
              <a:buNone/>
            </a:pPr>
            <a:r>
              <a:rPr lang="en-GB" sz="2400">
                <a:solidFill>
                  <a:schemeClr val="dk1"/>
                </a:solidFill>
                <a:latin typeface="Calibri"/>
                <a:ea typeface="Calibri"/>
                <a:cs typeface="Calibri"/>
                <a:sym typeface="Calibri"/>
              </a:rPr>
              <a:t>Email addresses and contact forms on websites are the best way to contact people.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descr="Graphical user interface, text, application, email&#10;&#10;Description automatically generated" id="121" name="Google Shape;121;p19"/>
          <p:cNvPicPr preferRelativeResize="0"/>
          <p:nvPr/>
        </p:nvPicPr>
        <p:blipFill rotWithShape="1">
          <a:blip r:embed="rId3">
            <a:alphaModFix/>
          </a:blip>
          <a:srcRect b="0" l="0" r="0" t="0"/>
          <a:stretch/>
        </p:blipFill>
        <p:spPr>
          <a:xfrm>
            <a:off x="4528457" y="1751890"/>
            <a:ext cx="7220138" cy="4050321"/>
          </a:xfrm>
          <a:prstGeom prst="rect">
            <a:avLst/>
          </a:prstGeom>
          <a:noFill/>
          <a:ln>
            <a:noFill/>
          </a:ln>
        </p:spPr>
      </p:pic>
      <p:sp>
        <p:nvSpPr>
          <p:cNvPr id="122" name="Google Shape;122;p19"/>
          <p:cNvSpPr txBox="1"/>
          <p:nvPr>
            <p:ph type="title"/>
          </p:nvPr>
        </p:nvSpPr>
        <p:spPr>
          <a:xfrm>
            <a:off x="1580322" y="844826"/>
            <a:ext cx="9773478" cy="75537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Using Google to find copyright sources </a:t>
            </a:r>
            <a:endParaRPr/>
          </a:p>
        </p:txBody>
      </p:sp>
      <p:sp>
        <p:nvSpPr>
          <p:cNvPr id="123" name="Google Shape;123;p19"/>
          <p:cNvSpPr/>
          <p:nvPr/>
        </p:nvSpPr>
        <p:spPr>
          <a:xfrm>
            <a:off x="1580322" y="2324336"/>
            <a:ext cx="3932204" cy="3477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You can use Google to find out who wrote a specific piece of text, by going to </a:t>
            </a:r>
            <a:r>
              <a:rPr lang="en-GB" sz="2000" u="sng">
                <a:solidFill>
                  <a:schemeClr val="hlink"/>
                </a:solidFill>
                <a:latin typeface="Calibri"/>
                <a:ea typeface="Calibri"/>
                <a:cs typeface="Calibri"/>
                <a:sym typeface="Calibri"/>
                <a:hlinkClick r:id="rId4"/>
              </a:rPr>
              <a:t>www.google.com</a:t>
            </a:r>
            <a:r>
              <a:rPr lang="en-GB" sz="2000">
                <a:solidFill>
                  <a:schemeClr val="dk1"/>
                </a:solidFill>
                <a:latin typeface="Calibri"/>
                <a:ea typeface="Calibri"/>
                <a:cs typeface="Calibri"/>
                <a:sym typeface="Calibri"/>
              </a:rPr>
              <a:t> and pasting it into the search bar with speech marks around it.</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GB" sz="2000">
                <a:solidFill>
                  <a:schemeClr val="dk1"/>
                </a:solidFill>
                <a:latin typeface="Calibri"/>
                <a:ea typeface="Calibri"/>
                <a:cs typeface="Calibri"/>
                <a:sym typeface="Calibri"/>
              </a:rPr>
              <a:t>Google returns a list of links to web pages where the exact phrase is used, and you need to use your common sense to work out where it most likely originated from.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1580322" y="844826"/>
            <a:ext cx="9773478" cy="75537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Using Google to find copyright sources </a:t>
            </a:r>
            <a:endParaRPr/>
          </a:p>
        </p:txBody>
      </p:sp>
      <p:sp>
        <p:nvSpPr>
          <p:cNvPr id="129" name="Google Shape;129;p20"/>
          <p:cNvSpPr/>
          <p:nvPr/>
        </p:nvSpPr>
        <p:spPr>
          <a:xfrm>
            <a:off x="1580322" y="1995400"/>
            <a:ext cx="3984455" cy="440120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You can use Google to find out where a photo you have downloaded and saved to your computer comes from, by performing a reverse image search.</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GB" sz="2000">
                <a:solidFill>
                  <a:schemeClr val="dk1"/>
                </a:solidFill>
                <a:latin typeface="Calibri"/>
                <a:ea typeface="Calibri"/>
                <a:cs typeface="Calibri"/>
                <a:sym typeface="Calibri"/>
              </a:rPr>
              <a:t>Go to </a:t>
            </a:r>
            <a:r>
              <a:rPr lang="en-GB" sz="2000" u="sng">
                <a:solidFill>
                  <a:schemeClr val="hlink"/>
                </a:solidFill>
                <a:latin typeface="Calibri"/>
                <a:ea typeface="Calibri"/>
                <a:cs typeface="Calibri"/>
                <a:sym typeface="Calibri"/>
                <a:hlinkClick r:id="rId3"/>
              </a:rPr>
              <a:t>www.google.com</a:t>
            </a:r>
            <a:r>
              <a:rPr lang="en-GB" sz="2000">
                <a:solidFill>
                  <a:schemeClr val="dk1"/>
                </a:solidFill>
                <a:latin typeface="Calibri"/>
                <a:ea typeface="Calibri"/>
                <a:cs typeface="Calibri"/>
                <a:sym typeface="Calibri"/>
              </a:rPr>
              <a:t>, click on ‘Images’, click on the camera icon and on ‘Upload an image’, and then upload your image.</a:t>
            </a:r>
            <a:endParaRPr/>
          </a:p>
          <a:p>
            <a:pPr indent="0" lvl="0" marL="0" marR="0" rtl="0" algn="l">
              <a:spcBef>
                <a:spcPts val="0"/>
              </a:spcBef>
              <a:spcAft>
                <a:spcPts val="0"/>
              </a:spcAft>
              <a:buNone/>
            </a:pPr>
            <a:r>
              <a:rPr lang="en-GB" sz="2000">
                <a:solidFill>
                  <a:schemeClr val="dk1"/>
                </a:solidFill>
                <a:latin typeface="Calibri"/>
                <a:ea typeface="Calibri"/>
                <a:cs typeface="Calibri"/>
                <a:sym typeface="Calibri"/>
              </a:rPr>
              <a:t>As with a text search, Google returns a list of links where the image – or similar images – have been found. Click through to the websites to find the name of the photographer.</a:t>
            </a:r>
            <a:endParaRPr/>
          </a:p>
        </p:txBody>
      </p:sp>
      <p:sp>
        <p:nvSpPr>
          <p:cNvPr id="130" name="Google Shape;130;p20"/>
          <p:cNvSpPr/>
          <p:nvPr/>
        </p:nvSpPr>
        <p:spPr>
          <a:xfrm>
            <a:off x="8693392" y="5570090"/>
            <a:ext cx="2660408"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Watch Video 1.1 </a:t>
            </a:r>
            <a:endParaRPr sz="2800">
              <a:solidFill>
                <a:schemeClr val="dk1"/>
              </a:solidFill>
              <a:latin typeface="Calibri"/>
              <a:ea typeface="Calibri"/>
              <a:cs typeface="Calibri"/>
              <a:sym typeface="Calibri"/>
            </a:endParaRPr>
          </a:p>
        </p:txBody>
      </p:sp>
      <p:pic>
        <p:nvPicPr>
          <p:cNvPr descr="Graphical user interface, text, application, email&#10;&#10;Description automatically generated" id="131" name="Google Shape;131;p20"/>
          <p:cNvPicPr preferRelativeResize="0"/>
          <p:nvPr/>
        </p:nvPicPr>
        <p:blipFill rotWithShape="1">
          <a:blip r:embed="rId4">
            <a:alphaModFix/>
          </a:blip>
          <a:srcRect b="0" l="0" r="0" t="0"/>
          <a:stretch/>
        </p:blipFill>
        <p:spPr>
          <a:xfrm>
            <a:off x="6096000" y="1902173"/>
            <a:ext cx="5654925" cy="458765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xEl>
                                              <p:pRg end="0" st="0"/>
                                            </p:txEl>
                                          </p:spTgt>
                                        </p:tgtEl>
                                        <p:attrNameLst>
                                          <p:attrName>style.visibility</p:attrName>
                                        </p:attrNameLst>
                                      </p:cBhvr>
                                      <p:to>
                                        <p:strVal val="visible"/>
                                      </p:to>
                                    </p:set>
                                    <p:animEffect filter="fade" transition="in">
                                      <p:cBhvr>
                                        <p:cTn dur="500"/>
                                        <p:tgtEl>
                                          <p:spTgt spid="13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1570382" y="834888"/>
            <a:ext cx="9783417" cy="7951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1.2: Save the tigers</a:t>
            </a:r>
            <a:endParaRPr/>
          </a:p>
        </p:txBody>
      </p:sp>
      <p:pic>
        <p:nvPicPr>
          <p:cNvPr descr="A picture containing athletic game, basketball, sport&#10;&#10;Description automatically generated" id="137" name="Google Shape;137;p21"/>
          <p:cNvPicPr preferRelativeResize="0"/>
          <p:nvPr/>
        </p:nvPicPr>
        <p:blipFill rotWithShape="1">
          <a:blip r:embed="rId3">
            <a:alphaModFix/>
          </a:blip>
          <a:srcRect b="0" l="0" r="0" t="0"/>
          <a:stretch/>
        </p:blipFill>
        <p:spPr>
          <a:xfrm>
            <a:off x="3890553" y="2042810"/>
            <a:ext cx="4410894" cy="432173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type="title"/>
          </p:nvPr>
        </p:nvSpPr>
        <p:spPr>
          <a:xfrm>
            <a:off x="1580322" y="824949"/>
            <a:ext cx="9733721" cy="77525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Creative Commons</a:t>
            </a:r>
            <a:r>
              <a:rPr lang="en-GB">
                <a:solidFill>
                  <a:schemeClr val="lt1"/>
                </a:solidFill>
              </a:rPr>
              <a:t> </a:t>
            </a:r>
            <a:endParaRPr b="1">
              <a:solidFill>
                <a:schemeClr val="lt1"/>
              </a:solidFill>
            </a:endParaRPr>
          </a:p>
        </p:txBody>
      </p:sp>
      <p:sp>
        <p:nvSpPr>
          <p:cNvPr id="143" name="Google Shape;143;p22"/>
          <p:cNvSpPr txBox="1"/>
          <p:nvPr>
            <p:ph idx="1" type="body"/>
          </p:nvPr>
        </p:nvSpPr>
        <p:spPr>
          <a:xfrm>
            <a:off x="1580322" y="1855263"/>
            <a:ext cx="9412356" cy="124498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200"/>
              <a:buNone/>
            </a:pPr>
            <a:r>
              <a:rPr lang="en-GB" sz="2200"/>
              <a:t>It can be difficult to know who is happy for you to use their copyright material as long as you credit them and who wants you to ask for permission to use it.</a:t>
            </a:r>
            <a:endParaRPr/>
          </a:p>
          <a:p>
            <a:pPr indent="0" lvl="0" marL="0" rtl="0" algn="l">
              <a:lnSpc>
                <a:spcPct val="90000"/>
              </a:lnSpc>
              <a:spcBef>
                <a:spcPts val="1000"/>
              </a:spcBef>
              <a:spcAft>
                <a:spcPts val="0"/>
              </a:spcAft>
              <a:buClr>
                <a:srgbClr val="00B0F0"/>
              </a:buClr>
              <a:buSzPts val="2200"/>
              <a:buNone/>
            </a:pPr>
            <a:r>
              <a:rPr b="1" lang="en-GB" sz="2200">
                <a:solidFill>
                  <a:srgbClr val="00B0F0"/>
                </a:solidFill>
              </a:rPr>
              <a:t>Creative Commons licences </a:t>
            </a:r>
            <a:r>
              <a:rPr lang="en-GB" sz="2200"/>
              <a:t>have been created to help you work out what to do.</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44" name="Google Shape;144;p22"/>
          <p:cNvSpPr/>
          <p:nvPr/>
        </p:nvSpPr>
        <p:spPr>
          <a:xfrm>
            <a:off x="3108239" y="3050182"/>
            <a:ext cx="7884439" cy="671915"/>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1800">
                <a:solidFill>
                  <a:schemeClr val="dk1"/>
                </a:solidFill>
                <a:latin typeface="Calibri"/>
                <a:ea typeface="Calibri"/>
                <a:cs typeface="Calibri"/>
                <a:sym typeface="Calibri"/>
              </a:rPr>
              <a:t>Where you see these logos, you know that the content creator is happy for you to use their material with attribution (with a credit), even if you have adapted it.</a:t>
            </a:r>
            <a:endParaRPr sz="1600">
              <a:solidFill>
                <a:schemeClr val="dk1"/>
              </a:solidFill>
              <a:latin typeface="Calibri"/>
              <a:ea typeface="Calibri"/>
              <a:cs typeface="Calibri"/>
              <a:sym typeface="Calibri"/>
            </a:endParaRPr>
          </a:p>
        </p:txBody>
      </p:sp>
      <p:sp>
        <p:nvSpPr>
          <p:cNvPr id="145" name="Google Shape;145;p22"/>
          <p:cNvSpPr/>
          <p:nvPr/>
        </p:nvSpPr>
        <p:spPr>
          <a:xfrm>
            <a:off x="3108239" y="3799073"/>
            <a:ext cx="7884439" cy="671915"/>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1800">
                <a:solidFill>
                  <a:schemeClr val="dk1"/>
                </a:solidFill>
                <a:latin typeface="Calibri"/>
                <a:ea typeface="Calibri"/>
                <a:cs typeface="Calibri"/>
                <a:sym typeface="Calibri"/>
              </a:rPr>
              <a:t>When you also see this logo, you know the content creator is happy for you to use their material with attribution, but they do not want you to adapt it.</a:t>
            </a:r>
            <a:endParaRPr sz="1600">
              <a:solidFill>
                <a:schemeClr val="dk1"/>
              </a:solidFill>
              <a:latin typeface="Calibri"/>
              <a:ea typeface="Calibri"/>
              <a:cs typeface="Calibri"/>
              <a:sym typeface="Calibri"/>
            </a:endParaRPr>
          </a:p>
        </p:txBody>
      </p:sp>
      <p:sp>
        <p:nvSpPr>
          <p:cNvPr id="146" name="Google Shape;146;p22"/>
          <p:cNvSpPr/>
          <p:nvPr/>
        </p:nvSpPr>
        <p:spPr>
          <a:xfrm>
            <a:off x="3108239" y="4547963"/>
            <a:ext cx="7884439" cy="968278"/>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1800">
                <a:solidFill>
                  <a:schemeClr val="dk1"/>
                </a:solidFill>
                <a:latin typeface="Calibri"/>
                <a:ea typeface="Calibri"/>
                <a:cs typeface="Calibri"/>
                <a:sym typeface="Calibri"/>
              </a:rPr>
              <a:t>Where you also see this logo, you know that the content creator is happy for you to use their material with attribution, even if you have adapted it, but you must let other people use it and adapt it too.</a:t>
            </a:r>
            <a:endParaRPr sz="1600">
              <a:solidFill>
                <a:schemeClr val="dk1"/>
              </a:solidFill>
              <a:latin typeface="Calibri"/>
              <a:ea typeface="Calibri"/>
              <a:cs typeface="Calibri"/>
              <a:sym typeface="Calibri"/>
            </a:endParaRPr>
          </a:p>
        </p:txBody>
      </p:sp>
      <p:sp>
        <p:nvSpPr>
          <p:cNvPr id="147" name="Google Shape;147;p22"/>
          <p:cNvSpPr/>
          <p:nvPr/>
        </p:nvSpPr>
        <p:spPr>
          <a:xfrm>
            <a:off x="3108239" y="5593217"/>
            <a:ext cx="7884439" cy="968278"/>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1800">
                <a:solidFill>
                  <a:schemeClr val="dk1"/>
                </a:solidFill>
                <a:latin typeface="Calibri"/>
                <a:ea typeface="Calibri"/>
                <a:cs typeface="Calibri"/>
                <a:sym typeface="Calibri"/>
              </a:rPr>
              <a:t>Where you also see this logo, you know that the content creator is happy for you to use their material with attribution, but not for commercial use (you must not make money from it).</a:t>
            </a:r>
            <a:endParaRPr sz="1600">
              <a:solidFill>
                <a:schemeClr val="dk1"/>
              </a:solidFill>
              <a:latin typeface="Calibri"/>
              <a:ea typeface="Calibri"/>
              <a:cs typeface="Calibri"/>
              <a:sym typeface="Calibri"/>
            </a:endParaRPr>
          </a:p>
        </p:txBody>
      </p:sp>
      <p:pic>
        <p:nvPicPr>
          <p:cNvPr descr="Icon&#10;&#10;Description automatically generated" id="148" name="Google Shape;148;p22"/>
          <p:cNvPicPr preferRelativeResize="0"/>
          <p:nvPr/>
        </p:nvPicPr>
        <p:blipFill rotWithShape="1">
          <a:blip r:embed="rId3">
            <a:alphaModFix/>
          </a:blip>
          <a:srcRect b="0" l="0" r="0" t="0"/>
          <a:stretch/>
        </p:blipFill>
        <p:spPr>
          <a:xfrm>
            <a:off x="1668435" y="3070242"/>
            <a:ext cx="631794" cy="631794"/>
          </a:xfrm>
          <a:prstGeom prst="rect">
            <a:avLst/>
          </a:prstGeom>
          <a:noFill/>
          <a:ln>
            <a:noFill/>
          </a:ln>
        </p:spPr>
      </p:pic>
      <p:pic>
        <p:nvPicPr>
          <p:cNvPr descr="Icon&#10;&#10;Description automatically generated" id="149" name="Google Shape;149;p22"/>
          <p:cNvPicPr preferRelativeResize="0"/>
          <p:nvPr/>
        </p:nvPicPr>
        <p:blipFill rotWithShape="1">
          <a:blip r:embed="rId4">
            <a:alphaModFix/>
          </a:blip>
          <a:srcRect b="0" l="0" r="0" t="0"/>
          <a:stretch/>
        </p:blipFill>
        <p:spPr>
          <a:xfrm>
            <a:off x="2388337" y="3070242"/>
            <a:ext cx="631794" cy="631794"/>
          </a:xfrm>
          <a:prstGeom prst="rect">
            <a:avLst/>
          </a:prstGeom>
          <a:noFill/>
          <a:ln>
            <a:noFill/>
          </a:ln>
        </p:spPr>
      </p:pic>
      <p:pic>
        <p:nvPicPr>
          <p:cNvPr descr="Icon&#10;&#10;Description automatically generated" id="150" name="Google Shape;150;p22"/>
          <p:cNvPicPr preferRelativeResize="0"/>
          <p:nvPr/>
        </p:nvPicPr>
        <p:blipFill rotWithShape="1">
          <a:blip r:embed="rId5">
            <a:alphaModFix/>
          </a:blip>
          <a:srcRect b="0" l="0" r="0" t="0"/>
          <a:stretch/>
        </p:blipFill>
        <p:spPr>
          <a:xfrm>
            <a:off x="2388336" y="3819132"/>
            <a:ext cx="631795" cy="631795"/>
          </a:xfrm>
          <a:prstGeom prst="rect">
            <a:avLst/>
          </a:prstGeom>
          <a:noFill/>
          <a:ln>
            <a:noFill/>
          </a:ln>
        </p:spPr>
      </p:pic>
      <p:pic>
        <p:nvPicPr>
          <p:cNvPr descr="Icon&#10;&#10;Description automatically generated" id="151" name="Google Shape;151;p22"/>
          <p:cNvPicPr preferRelativeResize="0"/>
          <p:nvPr/>
        </p:nvPicPr>
        <p:blipFill rotWithShape="1">
          <a:blip r:embed="rId6">
            <a:alphaModFix/>
          </a:blip>
          <a:srcRect b="0" l="0" r="0" t="0"/>
          <a:stretch/>
        </p:blipFill>
        <p:spPr>
          <a:xfrm>
            <a:off x="2388337" y="4716205"/>
            <a:ext cx="631794" cy="631794"/>
          </a:xfrm>
          <a:prstGeom prst="rect">
            <a:avLst/>
          </a:prstGeom>
          <a:noFill/>
          <a:ln>
            <a:noFill/>
          </a:ln>
        </p:spPr>
      </p:pic>
      <p:pic>
        <p:nvPicPr>
          <p:cNvPr descr="Icon&#10;&#10;Description automatically generated" id="152" name="Google Shape;152;p22"/>
          <p:cNvPicPr preferRelativeResize="0"/>
          <p:nvPr/>
        </p:nvPicPr>
        <p:blipFill rotWithShape="1">
          <a:blip r:embed="rId7">
            <a:alphaModFix/>
          </a:blip>
          <a:srcRect b="0" l="0" r="0" t="0"/>
          <a:stretch/>
        </p:blipFill>
        <p:spPr>
          <a:xfrm>
            <a:off x="2388335" y="5761458"/>
            <a:ext cx="631795" cy="63179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3"/>
          <p:cNvSpPr txBox="1"/>
          <p:nvPr>
            <p:ph type="title"/>
          </p:nvPr>
        </p:nvSpPr>
        <p:spPr>
          <a:xfrm>
            <a:off x="1570382" y="834888"/>
            <a:ext cx="10621618" cy="79513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Calibri"/>
              <a:buNone/>
            </a:pPr>
            <a:r>
              <a:rPr b="1" lang="en-GB">
                <a:solidFill>
                  <a:schemeClr val="lt1"/>
                </a:solidFill>
              </a:rPr>
              <a:t>Activity 1.3: Choosing a Creative Commons licence</a:t>
            </a:r>
            <a:endParaRPr/>
          </a:p>
        </p:txBody>
      </p:sp>
      <p:pic>
        <p:nvPicPr>
          <p:cNvPr descr="A picture containing athletic game, basketball, sport&#10;&#10;Description automatically generated" id="158" name="Google Shape;158;p23"/>
          <p:cNvPicPr preferRelativeResize="0"/>
          <p:nvPr/>
        </p:nvPicPr>
        <p:blipFill rotWithShape="1">
          <a:blip r:embed="rId3">
            <a:alphaModFix/>
          </a:blip>
          <a:srcRect b="0" l="0" r="0" t="0"/>
          <a:stretch/>
        </p:blipFill>
        <p:spPr>
          <a:xfrm>
            <a:off x="3890553" y="2042810"/>
            <a:ext cx="4410894" cy="43217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4"/>
          <p:cNvSpPr txBox="1"/>
          <p:nvPr>
            <p:ph type="title"/>
          </p:nvPr>
        </p:nvSpPr>
        <p:spPr>
          <a:xfrm>
            <a:off x="1570382" y="834888"/>
            <a:ext cx="10621618" cy="7951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Quiz 1</a:t>
            </a:r>
            <a:endParaRPr/>
          </a:p>
        </p:txBody>
      </p:sp>
      <p:pic>
        <p:nvPicPr>
          <p:cNvPr descr="A picture containing athletic game, basketball, sport&#10;&#10;Description automatically generated" id="164" name="Google Shape;164;p24"/>
          <p:cNvPicPr preferRelativeResize="0"/>
          <p:nvPr/>
        </p:nvPicPr>
        <p:blipFill rotWithShape="1">
          <a:blip r:embed="rId3">
            <a:alphaModFix/>
          </a:blip>
          <a:srcRect b="0" l="0" r="0" t="0"/>
          <a:stretch/>
        </p:blipFill>
        <p:spPr>
          <a:xfrm>
            <a:off x="3890553" y="2042810"/>
            <a:ext cx="4410894" cy="432173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