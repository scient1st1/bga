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u="none" cap="none" strike="noStrike">
                <a:solidFill>
                  <a:schemeClr val="dk1"/>
                </a:solidFill>
                <a:latin typeface="Calibri"/>
                <a:ea typeface="Calibri"/>
                <a:cs typeface="Calibri"/>
                <a:sym typeface="Calibri"/>
              </a:rPr>
              <a:t>© Hodder &amp; Stoughton Limited 2021</a:t>
            </a:r>
            <a:endParaRPr/>
          </a:p>
        </p:txBody>
      </p:sp>
      <p:pic>
        <p:nvPicPr>
          <p:cNvPr id="9" name="Google Shape;9;p1"/>
          <p:cNvPicPr preferRelativeResize="0"/>
          <p:nvPr/>
        </p:nvPicPr>
        <p:blipFill rotWithShape="1">
          <a:blip r:embed="rId1">
            <a:alphaModFix/>
          </a:blip>
          <a:srcRect b="0" l="0" r="0" t="0"/>
          <a:stretch/>
        </p:blipFill>
        <p:spPr>
          <a:xfrm>
            <a:off x="0" y="0"/>
            <a:ext cx="12192000" cy="16416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2082477" y="3118978"/>
            <a:ext cx="4013523" cy="1497914"/>
          </a:xfrm>
          <a:prstGeom prst="rect">
            <a:avLst/>
          </a:prstGeom>
          <a:noFill/>
          <a:ln>
            <a:noFill/>
          </a:ln>
        </p:spPr>
        <p:txBody>
          <a:bodyPr anchorCtr="0" anchor="b" bIns="45700" lIns="91425" spcFirstLastPara="1" rIns="91425" wrap="square" tIns="45700">
            <a:normAutofit fontScale="90000"/>
          </a:bodyPr>
          <a:lstStyle/>
          <a:p>
            <a:pPr indent="0" lvl="0" marL="0" rtl="0" algn="r">
              <a:lnSpc>
                <a:spcPct val="90000"/>
              </a:lnSpc>
              <a:spcBef>
                <a:spcPts val="0"/>
              </a:spcBef>
              <a:spcAft>
                <a:spcPts val="0"/>
              </a:spcAft>
              <a:buClr>
                <a:schemeClr val="dk1"/>
              </a:buClr>
              <a:buSzPct val="100000"/>
              <a:buFont typeface="Calibri"/>
              <a:buNone/>
            </a:pPr>
            <a:r>
              <a:rPr b="1" lang="en-US"/>
              <a:t>The ethics</a:t>
            </a:r>
            <a:br>
              <a:rPr b="1" lang="en-US"/>
            </a:br>
            <a:r>
              <a:rPr b="1" lang="en-US"/>
              <a:t>of computing</a:t>
            </a:r>
            <a:endParaRPr/>
          </a:p>
        </p:txBody>
      </p:sp>
      <p:sp>
        <p:nvSpPr>
          <p:cNvPr id="81" name="Google Shape;81;p13"/>
          <p:cNvSpPr/>
          <p:nvPr/>
        </p:nvSpPr>
        <p:spPr>
          <a:xfrm>
            <a:off x="2367222" y="4616892"/>
            <a:ext cx="3728778" cy="40011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2000" u="none" cap="none" strike="noStrike">
                <a:solidFill>
                  <a:srgbClr val="00B0F0"/>
                </a:solidFill>
                <a:latin typeface="Calibri"/>
                <a:ea typeface="Calibri"/>
                <a:cs typeface="Calibri"/>
                <a:sym typeface="Calibri"/>
              </a:rPr>
              <a:t>Lesson 4: Technology and the law</a:t>
            </a:r>
            <a:endParaRPr b="1" i="0" sz="2000" u="none" cap="none" strike="noStrike">
              <a:solidFill>
                <a:srgbClr val="00B0F0"/>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6430462" y="2852165"/>
            <a:ext cx="3626103" cy="2164837"/>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600200" y="844826"/>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Objectives</a:t>
            </a:r>
            <a:endParaRPr/>
          </a:p>
        </p:txBody>
      </p:sp>
      <p:sp>
        <p:nvSpPr>
          <p:cNvPr id="88" name="Google Shape;88;p14"/>
          <p:cNvSpPr/>
          <p:nvPr/>
        </p:nvSpPr>
        <p:spPr>
          <a:xfrm>
            <a:off x="1600200" y="2613392"/>
            <a:ext cx="8743013" cy="16312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In this lesson, you will learn:</a:t>
            </a:r>
            <a:endParaRPr sz="2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about the main laws that govern data protection in the UK</a:t>
            </a:r>
            <a:endParaRPr/>
          </a:p>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how to apply your understanding of the main data protection laws to a case study.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570382" y="834888"/>
            <a:ext cx="10621618"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b="1" lang="en-US" sz="3600">
                <a:solidFill>
                  <a:schemeClr val="lt1"/>
                </a:solidFill>
              </a:rPr>
              <a:t>What is the difference between ‘illegal’ and ‘immoral’? </a:t>
            </a:r>
            <a:endParaRPr/>
          </a:p>
        </p:txBody>
      </p:sp>
      <p:sp>
        <p:nvSpPr>
          <p:cNvPr id="94" name="Google Shape;94;p15"/>
          <p:cNvSpPr/>
          <p:nvPr/>
        </p:nvSpPr>
        <p:spPr>
          <a:xfrm>
            <a:off x="1570382" y="2747531"/>
            <a:ext cx="8607939" cy="1362937"/>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US" sz="2400">
                <a:solidFill>
                  <a:schemeClr val="dk1"/>
                </a:solidFill>
                <a:latin typeface="Calibri"/>
                <a:ea typeface="Calibri"/>
                <a:cs typeface="Calibri"/>
                <a:sym typeface="Calibri"/>
              </a:rPr>
              <a:t>When something is </a:t>
            </a:r>
            <a:r>
              <a:rPr b="1" lang="en-US" sz="2400">
                <a:solidFill>
                  <a:srgbClr val="00B0F0"/>
                </a:solidFill>
                <a:latin typeface="Calibri"/>
                <a:ea typeface="Calibri"/>
                <a:cs typeface="Calibri"/>
                <a:sym typeface="Calibri"/>
              </a:rPr>
              <a:t>illegal</a:t>
            </a:r>
            <a:r>
              <a:rPr lang="en-US" sz="2400">
                <a:solidFill>
                  <a:schemeClr val="dk1"/>
                </a:solidFill>
                <a:latin typeface="Calibri"/>
                <a:ea typeface="Calibri"/>
                <a:cs typeface="Calibri"/>
                <a:sym typeface="Calibri"/>
              </a:rPr>
              <a:t>, it is against the law.</a:t>
            </a:r>
            <a:endParaRPr/>
          </a:p>
          <a:p>
            <a:pPr indent="0" lvl="0" marL="0" marR="0" rtl="0" algn="l">
              <a:lnSpc>
                <a:spcPct val="107000"/>
              </a:lnSpc>
              <a:spcBef>
                <a:spcPts val="800"/>
              </a:spcBef>
              <a:spcAft>
                <a:spcPts val="0"/>
              </a:spcAft>
              <a:buNone/>
            </a:pPr>
            <a:r>
              <a:rPr lang="en-US" sz="2400">
                <a:solidFill>
                  <a:schemeClr val="dk1"/>
                </a:solidFill>
                <a:latin typeface="Calibri"/>
                <a:ea typeface="Calibri"/>
                <a:cs typeface="Calibri"/>
                <a:sym typeface="Calibri"/>
              </a:rPr>
              <a:t>When something is </a:t>
            </a:r>
            <a:r>
              <a:rPr b="1" lang="en-US" sz="2400">
                <a:solidFill>
                  <a:srgbClr val="00B0F0"/>
                </a:solidFill>
                <a:latin typeface="Calibri"/>
                <a:ea typeface="Calibri"/>
                <a:cs typeface="Calibri"/>
                <a:sym typeface="Calibri"/>
              </a:rPr>
              <a:t>immoral</a:t>
            </a:r>
            <a:r>
              <a:rPr lang="en-US" sz="2400">
                <a:solidFill>
                  <a:schemeClr val="dk1"/>
                </a:solidFill>
                <a:latin typeface="Calibri"/>
                <a:ea typeface="Calibri"/>
                <a:cs typeface="Calibri"/>
                <a:sym typeface="Calibri"/>
              </a:rPr>
              <a:t>, it is not necessarily against the law, but it is against acceptable standards of behaviour.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1580322" y="874806"/>
            <a:ext cx="9163878" cy="75537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US" sz="3200">
                <a:solidFill>
                  <a:schemeClr val="lt1"/>
                </a:solidFill>
              </a:rPr>
              <a:t>The main laws that protect personal data from exploitation in the UK </a:t>
            </a:r>
            <a:endParaRPr/>
          </a:p>
        </p:txBody>
      </p:sp>
      <p:sp>
        <p:nvSpPr>
          <p:cNvPr id="100" name="Google Shape;100;p16"/>
          <p:cNvSpPr/>
          <p:nvPr/>
        </p:nvSpPr>
        <p:spPr>
          <a:xfrm>
            <a:off x="1580322" y="2045096"/>
            <a:ext cx="9163878" cy="41549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Companies collect information about you, including your name, address, data of birth, mobile phone number, email address and bank details. This data is usually stored electronically.</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There are two main laws that protect your personal data from exploitation in the UK.</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General Data Protection Regulation (EU) 2016/679, which is commonly referred to as ‘</a:t>
            </a:r>
            <a:r>
              <a:rPr b="1" lang="en-US" sz="2400">
                <a:solidFill>
                  <a:srgbClr val="00B0F0"/>
                </a:solidFill>
                <a:latin typeface="Calibri"/>
                <a:ea typeface="Calibri"/>
                <a:cs typeface="Calibri"/>
                <a:sym typeface="Calibri"/>
              </a:rPr>
              <a:t>GDPR</a:t>
            </a:r>
            <a:r>
              <a:rPr lang="en-US" sz="2400">
                <a:solidFill>
                  <a:schemeClr val="dk1"/>
                </a:solidFill>
                <a:latin typeface="Calibri"/>
                <a:ea typeface="Calibri"/>
                <a:cs typeface="Calibri"/>
                <a:sym typeface="Calibri"/>
              </a:rPr>
              <a:t>’.</a:t>
            </a:r>
            <a:endParaRPr/>
          </a:p>
          <a:p>
            <a:pPr indent="-342900" lvl="0" marL="3429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The</a:t>
            </a:r>
            <a:r>
              <a:rPr b="1" lang="en-US" sz="2400">
                <a:solidFill>
                  <a:srgbClr val="00B0F0"/>
                </a:solidFill>
                <a:latin typeface="Calibri"/>
                <a:ea typeface="Calibri"/>
                <a:cs typeface="Calibri"/>
                <a:sym typeface="Calibri"/>
              </a:rPr>
              <a:t> Data Protection Act 2018</a:t>
            </a:r>
            <a:r>
              <a:rPr lang="en-US" sz="2400">
                <a:solidFill>
                  <a:schemeClr val="dk1"/>
                </a:solidFill>
                <a:latin typeface="Calibri"/>
                <a:ea typeface="Calibri"/>
                <a:cs typeface="Calibri"/>
                <a:sym typeface="Calibri"/>
              </a:rPr>
              <a:t>.</a:t>
            </a:r>
            <a:endParaRPr/>
          </a:p>
          <a:p>
            <a:pPr indent="-190500" lvl="0" marL="342900" marR="0" rtl="0" algn="l">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When companies break these laws, they are acting illegally. </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They can be prosecuted and fined.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1570382" y="834888"/>
            <a:ext cx="10621618" cy="79513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US" sz="3200">
                <a:solidFill>
                  <a:schemeClr val="lt1"/>
                </a:solidFill>
              </a:rPr>
              <a:t>Activity 4.1: The key principles of data protection law in the UK </a:t>
            </a:r>
            <a:endParaRPr/>
          </a:p>
        </p:txBody>
      </p:sp>
      <p:sp>
        <p:nvSpPr>
          <p:cNvPr id="106" name="Google Shape;106;p17"/>
          <p:cNvSpPr/>
          <p:nvPr/>
        </p:nvSpPr>
        <p:spPr>
          <a:xfrm>
            <a:off x="1570382" y="2626408"/>
            <a:ext cx="4525618" cy="2841034"/>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US" sz="2400">
                <a:solidFill>
                  <a:schemeClr val="dk1"/>
                </a:solidFill>
                <a:latin typeface="Calibri"/>
                <a:ea typeface="Calibri"/>
                <a:cs typeface="Calibri"/>
                <a:sym typeface="Calibri"/>
              </a:rPr>
              <a:t>Laws can be very difficult to read and understand but, together, we’re going to look at some extracts from GDPR and work out what key principle of data protection law each extract describes.</a:t>
            </a:r>
            <a:endParaRPr sz="2400">
              <a:solidFill>
                <a:schemeClr val="dk1"/>
              </a:solidFill>
              <a:latin typeface="Calibri"/>
              <a:ea typeface="Calibri"/>
              <a:cs typeface="Calibri"/>
              <a:sym typeface="Calibri"/>
            </a:endParaRPr>
          </a:p>
        </p:txBody>
      </p:sp>
      <p:pic>
        <p:nvPicPr>
          <p:cNvPr descr="A picture containing athletic game, basketball, sport&#10;&#10;Description automatically generated" id="107" name="Google Shape;107;p17"/>
          <p:cNvPicPr preferRelativeResize="0"/>
          <p:nvPr/>
        </p:nvPicPr>
        <p:blipFill rotWithShape="1">
          <a:blip r:embed="rId3">
            <a:alphaModFix/>
          </a:blip>
          <a:srcRect b="0" l="0" r="0" t="0"/>
          <a:stretch/>
        </p:blipFill>
        <p:spPr>
          <a:xfrm>
            <a:off x="7141029" y="1886056"/>
            <a:ext cx="4410894" cy="43217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nvSpPr>
        <p:spPr>
          <a:xfrm>
            <a:off x="1927784" y="1992062"/>
            <a:ext cx="8336432" cy="3693319"/>
          </a:xfrm>
          <a:prstGeom prst="rect">
            <a:avLst/>
          </a:prstGeom>
          <a:noFill/>
          <a:ln cap="flat" cmpd="sng" w="19050">
            <a:solidFill>
              <a:srgbClr val="00B0F0"/>
            </a:solidFill>
            <a:prstDash val="solid"/>
            <a:round/>
            <a:headEnd len="sm" w="sm" type="none"/>
            <a:tailEnd len="sm" w="sm" type="none"/>
          </a:ln>
        </p:spPr>
        <p:txBody>
          <a:bodyPr anchorCtr="0" anchor="t" bIns="45700" lIns="91425" spcFirstLastPara="1" rIns="91425" wrap="square" tIns="45700">
            <a:spAutoFit/>
          </a:bodyPr>
          <a:lstStyle/>
          <a:p>
            <a:pPr indent="-514350" lvl="0" marL="514350" marR="0" rtl="0" algn="l">
              <a:spcBef>
                <a:spcPts val="0"/>
              </a:spcBef>
              <a:spcAft>
                <a:spcPts val="0"/>
              </a:spcAft>
              <a:buClr>
                <a:schemeClr val="dk1"/>
              </a:buClr>
              <a:buSzPts val="2600"/>
              <a:buFont typeface="Calibri"/>
              <a:buAutoNum type="arabicPeriod"/>
            </a:pPr>
            <a:r>
              <a:rPr lang="en-US" sz="2600">
                <a:solidFill>
                  <a:schemeClr val="dk1"/>
                </a:solidFill>
                <a:latin typeface="Calibri"/>
                <a:ea typeface="Calibri"/>
                <a:cs typeface="Calibri"/>
                <a:sym typeface="Calibri"/>
              </a:rPr>
              <a:t>Personal data shall be:</a:t>
            </a:r>
            <a:endParaRPr/>
          </a:p>
          <a:p>
            <a:pPr indent="0" lvl="1" marL="457200" marR="0" rtl="0" algn="l">
              <a:spcBef>
                <a:spcPts val="0"/>
              </a:spcBef>
              <a:spcAft>
                <a:spcPts val="0"/>
              </a:spcAft>
              <a:buNone/>
            </a:pPr>
            <a:r>
              <a:t/>
            </a:r>
            <a:endParaRPr b="0" i="0" sz="26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None/>
            </a:pPr>
            <a:r>
              <a:rPr b="0" i="0" lang="en-US" sz="2600" u="none" cap="none" strike="noStrike">
                <a:solidFill>
                  <a:schemeClr val="dk1"/>
                </a:solidFill>
                <a:latin typeface="Calibri"/>
                <a:ea typeface="Calibri"/>
                <a:cs typeface="Calibri"/>
                <a:sym typeface="Calibri"/>
              </a:rPr>
              <a:t>(b) collected for specified, explicit and legitimate purposes and not further processed in a manner that is incompatible with those purposes; further processing for archiving purposes in the public interest, scientific or historical research purposes or statistical purposes shall, in accordance with Article 89(1), not be considered to be incompatible with the initial purposes</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nvSpPr>
        <p:spPr>
          <a:xfrm>
            <a:off x="1933731" y="1993691"/>
            <a:ext cx="8334531" cy="1677782"/>
          </a:xfrm>
          <a:prstGeom prst="rect">
            <a:avLst/>
          </a:prstGeom>
          <a:noFill/>
          <a:ln cap="flat" cmpd="sng" w="19050">
            <a:solidFill>
              <a:srgbClr val="00B0F0"/>
            </a:solidFill>
            <a:prstDash val="solid"/>
            <a:round/>
            <a:headEnd len="sm" w="sm" type="none"/>
            <a:tailEnd len="sm" w="sm" type="none"/>
          </a:ln>
        </p:spPr>
        <p:txBody>
          <a:bodyPr anchorCtr="0" anchor="t" bIns="45700" lIns="91425" spcFirstLastPara="1" rIns="91425" wrap="square" tIns="45700">
            <a:spAutoFit/>
          </a:bodyPr>
          <a:lstStyle/>
          <a:p>
            <a:pPr indent="-514350" lvl="0" marL="514350" marR="0" rtl="0" algn="l">
              <a:spcBef>
                <a:spcPts val="0"/>
              </a:spcBef>
              <a:spcAft>
                <a:spcPts val="0"/>
              </a:spcAft>
              <a:buClr>
                <a:schemeClr val="dk1"/>
              </a:buClr>
              <a:buSzPts val="2600"/>
              <a:buFont typeface="Calibri"/>
              <a:buAutoNum type="arabicPeriod"/>
            </a:pPr>
            <a:r>
              <a:rPr lang="en-US" sz="2600">
                <a:solidFill>
                  <a:schemeClr val="dk1"/>
                </a:solidFill>
                <a:latin typeface="Calibri"/>
                <a:ea typeface="Calibri"/>
                <a:cs typeface="Calibri"/>
                <a:sym typeface="Calibri"/>
              </a:rPr>
              <a:t>Personal data shall be:</a:t>
            </a:r>
            <a:endParaRPr/>
          </a:p>
          <a:p>
            <a:pPr indent="0" lvl="1" marL="457200" marR="0" rtl="0" algn="l">
              <a:spcBef>
                <a:spcPts val="0"/>
              </a:spcBef>
              <a:spcAft>
                <a:spcPts val="0"/>
              </a:spcAft>
              <a:buNone/>
            </a:pPr>
            <a:r>
              <a:t/>
            </a:r>
            <a:endParaRPr b="0" i="0" sz="26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None/>
            </a:pPr>
            <a:r>
              <a:rPr b="0" i="0" lang="en-US" sz="2600" u="none" cap="none" strike="noStrike">
                <a:solidFill>
                  <a:schemeClr val="dk1"/>
                </a:solidFill>
                <a:latin typeface="Calibri"/>
                <a:ea typeface="Calibri"/>
                <a:cs typeface="Calibri"/>
                <a:sym typeface="Calibri"/>
              </a:rPr>
              <a:t>(c) adequate, relevant and limited to what is necessary in relation to the purposes for which they are processed</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nvSpPr>
        <p:spPr>
          <a:xfrm>
            <a:off x="1931829" y="1997440"/>
            <a:ext cx="8336433" cy="2893100"/>
          </a:xfrm>
          <a:prstGeom prst="rect">
            <a:avLst/>
          </a:prstGeom>
          <a:noFill/>
          <a:ln cap="flat" cmpd="sng" w="19050">
            <a:solidFill>
              <a:srgbClr val="00B0F0"/>
            </a:solidFill>
            <a:prstDash val="solid"/>
            <a:round/>
            <a:headEnd len="sm" w="sm" type="none"/>
            <a:tailEnd len="sm" w="sm" type="none"/>
          </a:ln>
        </p:spPr>
        <p:txBody>
          <a:bodyPr anchorCtr="0" anchor="t" bIns="45700" lIns="91425" spcFirstLastPara="1" rIns="91425" wrap="square" tIns="45700">
            <a:spAutoFit/>
          </a:bodyPr>
          <a:lstStyle/>
          <a:p>
            <a:pPr indent="-514350" lvl="0" marL="514350" marR="0" rtl="0" algn="l">
              <a:spcBef>
                <a:spcPts val="0"/>
              </a:spcBef>
              <a:spcAft>
                <a:spcPts val="0"/>
              </a:spcAft>
              <a:buClr>
                <a:schemeClr val="dk1"/>
              </a:buClr>
              <a:buSzPts val="2600"/>
              <a:buFont typeface="Calibri"/>
              <a:buAutoNum type="arabicPeriod"/>
            </a:pPr>
            <a:r>
              <a:rPr lang="en-US" sz="2600">
                <a:solidFill>
                  <a:schemeClr val="dk1"/>
                </a:solidFill>
                <a:latin typeface="Calibri"/>
                <a:ea typeface="Calibri"/>
                <a:cs typeface="Calibri"/>
                <a:sym typeface="Calibri"/>
              </a:rPr>
              <a:t>Personal data shall be:</a:t>
            </a:r>
            <a:endParaRPr/>
          </a:p>
          <a:p>
            <a:pPr indent="0" lvl="0" marL="0" marR="0" rtl="0" algn="l">
              <a:spcBef>
                <a:spcPts val="0"/>
              </a:spcBef>
              <a:spcAft>
                <a:spcPts val="0"/>
              </a:spcAft>
              <a:buNone/>
            </a:pPr>
            <a:r>
              <a:t/>
            </a:r>
            <a:endParaRPr sz="26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n-US" sz="2600" u="none" cap="none" strike="noStrike">
                <a:solidFill>
                  <a:schemeClr val="dk1"/>
                </a:solidFill>
                <a:latin typeface="Calibri"/>
                <a:ea typeface="Calibri"/>
                <a:cs typeface="Calibri"/>
                <a:sym typeface="Calibri"/>
              </a:rPr>
              <a:t>(d) accurate and, where necessary, kept up to date; every reasonable step must be taken to ensure that personal data that are inaccurate, having regard to the purposes for which they are processed, are erased or rectified without delay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nvSpPr>
        <p:spPr>
          <a:xfrm>
            <a:off x="1931830" y="1992063"/>
            <a:ext cx="8336432" cy="3693319"/>
          </a:xfrm>
          <a:prstGeom prst="rect">
            <a:avLst/>
          </a:prstGeom>
          <a:noFill/>
          <a:ln cap="flat" cmpd="sng" w="19050">
            <a:solidFill>
              <a:srgbClr val="00B0F0"/>
            </a:solidFill>
            <a:prstDash val="solid"/>
            <a:round/>
            <a:headEnd len="sm" w="sm" type="none"/>
            <a:tailEnd len="sm" w="sm" type="none"/>
          </a:ln>
        </p:spPr>
        <p:txBody>
          <a:bodyPr anchorCtr="0" anchor="t" bIns="45700" lIns="91425" spcFirstLastPara="1" rIns="91425" wrap="square" tIns="45700">
            <a:spAutoFit/>
          </a:bodyPr>
          <a:lstStyle/>
          <a:p>
            <a:pPr indent="-514350" lvl="0" marL="514350" marR="0" rtl="0" algn="l">
              <a:spcBef>
                <a:spcPts val="0"/>
              </a:spcBef>
              <a:spcAft>
                <a:spcPts val="0"/>
              </a:spcAft>
              <a:buClr>
                <a:schemeClr val="dk1"/>
              </a:buClr>
              <a:buSzPts val="2600"/>
              <a:buFont typeface="Calibri"/>
              <a:buAutoNum type="arabicPeriod"/>
            </a:pPr>
            <a:r>
              <a:rPr lang="en-US" sz="2600">
                <a:solidFill>
                  <a:schemeClr val="dk1"/>
                </a:solidFill>
                <a:latin typeface="Calibri"/>
                <a:ea typeface="Calibri"/>
                <a:cs typeface="Calibri"/>
                <a:sym typeface="Calibri"/>
              </a:rPr>
              <a:t>Personal data shall be:</a:t>
            </a:r>
            <a:endParaRPr/>
          </a:p>
          <a:p>
            <a:pPr indent="0" lvl="0" marL="0" marR="0" rtl="0" algn="l">
              <a:spcBef>
                <a:spcPts val="0"/>
              </a:spcBef>
              <a:spcAft>
                <a:spcPts val="0"/>
              </a:spcAft>
              <a:buNone/>
            </a:pPr>
            <a:r>
              <a:t/>
            </a:r>
            <a:endParaRPr sz="2600">
              <a:solidFill>
                <a:schemeClr val="dk1"/>
              </a:solidFill>
              <a:latin typeface="Calibri"/>
              <a:ea typeface="Calibri"/>
              <a:cs typeface="Calibri"/>
              <a:sym typeface="Calibri"/>
            </a:endParaRPr>
          </a:p>
          <a:p>
            <a:pPr indent="0" lvl="0" marL="0" marR="0" rtl="0" algn="l">
              <a:spcBef>
                <a:spcPts val="0"/>
              </a:spcBef>
              <a:spcAft>
                <a:spcPts val="0"/>
              </a:spcAft>
              <a:buNone/>
            </a:pPr>
            <a:r>
              <a:rPr lang="en-US" sz="2600">
                <a:solidFill>
                  <a:schemeClr val="dk1"/>
                </a:solidFill>
                <a:latin typeface="Calibri"/>
                <a:ea typeface="Calibri"/>
                <a:cs typeface="Calibri"/>
                <a:sym typeface="Calibri"/>
              </a:rPr>
              <a:t>(e) kept in a form which permits identification of data subjects for no longer than is necessary for the purposes for which the personal data are processed; personal data may be stored for longer periods insofar as the personal data will be processed solely for archiving purposes in the public interest, scientific or historical research purposes or statistical purposes</a:t>
            </a:r>
            <a:endParaRPr sz="26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nvSpPr>
        <p:spPr>
          <a:xfrm>
            <a:off x="1931830" y="1992062"/>
            <a:ext cx="8336432" cy="2893100"/>
          </a:xfrm>
          <a:prstGeom prst="rect">
            <a:avLst/>
          </a:prstGeom>
          <a:noFill/>
          <a:ln cap="flat" cmpd="sng" w="19050">
            <a:solidFill>
              <a:srgbClr val="00B0F0"/>
            </a:solidFill>
            <a:prstDash val="solid"/>
            <a:round/>
            <a:headEnd len="sm" w="sm" type="none"/>
            <a:tailEnd len="sm" w="sm" type="none"/>
          </a:ln>
        </p:spPr>
        <p:txBody>
          <a:bodyPr anchorCtr="0" anchor="t" bIns="45700" lIns="91425" spcFirstLastPara="1" rIns="91425" wrap="square" tIns="45700">
            <a:spAutoFit/>
          </a:bodyPr>
          <a:lstStyle/>
          <a:p>
            <a:pPr indent="-514350" lvl="0" marL="514350" marR="0" rtl="0" algn="l">
              <a:spcBef>
                <a:spcPts val="0"/>
              </a:spcBef>
              <a:spcAft>
                <a:spcPts val="0"/>
              </a:spcAft>
              <a:buClr>
                <a:schemeClr val="dk1"/>
              </a:buClr>
              <a:buSzPts val="2600"/>
              <a:buFont typeface="Calibri"/>
              <a:buAutoNum type="arabicPeriod"/>
            </a:pPr>
            <a:r>
              <a:rPr lang="en-US" sz="2600">
                <a:solidFill>
                  <a:schemeClr val="dk1"/>
                </a:solidFill>
                <a:latin typeface="Calibri"/>
                <a:ea typeface="Calibri"/>
                <a:cs typeface="Calibri"/>
                <a:sym typeface="Calibri"/>
              </a:rPr>
              <a:t>Personal data shall be:</a:t>
            </a:r>
            <a:endParaRPr/>
          </a:p>
          <a:p>
            <a:pPr indent="0" lvl="0" marL="0" marR="0" rtl="0" algn="l">
              <a:spcBef>
                <a:spcPts val="0"/>
              </a:spcBef>
              <a:spcAft>
                <a:spcPts val="0"/>
              </a:spcAft>
              <a:buNone/>
            </a:pPr>
            <a:r>
              <a:t/>
            </a:r>
            <a:endParaRPr sz="26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n-US" sz="2600" u="none" cap="none" strike="noStrike">
                <a:solidFill>
                  <a:schemeClr val="dk1"/>
                </a:solidFill>
                <a:latin typeface="Calibri"/>
                <a:ea typeface="Calibri"/>
                <a:cs typeface="Calibri"/>
                <a:sym typeface="Calibri"/>
              </a:rPr>
              <a:t>(f) processed in a manner that ensures appropriate security of the personal data, including protection against unauthorised or unlawful processing and against accidental loss, destruction or damage, using appropriate technical or organisational measures</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1570382" y="834888"/>
            <a:ext cx="9783417"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Activity 4.2: Is Google acting illegally? </a:t>
            </a:r>
            <a:endParaRPr/>
          </a:p>
        </p:txBody>
      </p:sp>
      <p:pic>
        <p:nvPicPr>
          <p:cNvPr descr="A picture containing athletic game, basketball, sport&#10;&#10;Description automatically generated" id="138" name="Google Shape;138;p23"/>
          <p:cNvPicPr preferRelativeResize="0"/>
          <p:nvPr/>
        </p:nvPicPr>
        <p:blipFill rotWithShape="1">
          <a:blip r:embed="rId3">
            <a:alphaModFix/>
          </a:blip>
          <a:srcRect b="0" l="0" r="0" t="0"/>
          <a:stretch/>
        </p:blipFill>
        <p:spPr>
          <a:xfrm>
            <a:off x="3890553" y="2042810"/>
            <a:ext cx="4410894" cy="43217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1570382" y="834888"/>
            <a:ext cx="10621618"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solidFill>
                  <a:schemeClr val="lt1"/>
                </a:solidFill>
              </a:rPr>
              <a:t>Quiz 4</a:t>
            </a:r>
            <a:endParaRPr b="1">
              <a:solidFill>
                <a:schemeClr val="lt1"/>
              </a:solidFill>
            </a:endParaRPr>
          </a:p>
        </p:txBody>
      </p:sp>
      <p:pic>
        <p:nvPicPr>
          <p:cNvPr descr="A picture containing athletic game, basketball, sport&#10;&#10;Description automatically generated" id="144" name="Google Shape;144;p24"/>
          <p:cNvPicPr preferRelativeResize="0"/>
          <p:nvPr/>
        </p:nvPicPr>
        <p:blipFill rotWithShape="1">
          <a:blip r:embed="rId3">
            <a:alphaModFix/>
          </a:blip>
          <a:srcRect b="0" l="0" r="0" t="0"/>
          <a:stretch/>
        </p:blipFill>
        <p:spPr>
          <a:xfrm>
            <a:off x="3890553" y="2042810"/>
            <a:ext cx="4410894" cy="43217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