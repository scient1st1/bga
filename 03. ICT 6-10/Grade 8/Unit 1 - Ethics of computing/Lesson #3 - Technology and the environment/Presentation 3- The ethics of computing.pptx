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id="9" name="Google Shape;9;p1"/>
          <p:cNvPicPr preferRelativeResize="0"/>
          <p:nvPr/>
        </p:nvPicPr>
        <p:blipFill rotWithShape="1">
          <a:blip r:embed="rId1">
            <a:alphaModFix/>
          </a:blip>
          <a:srcRect b="0" l="0" r="0" t="0"/>
          <a:stretch/>
        </p:blipFill>
        <p:spPr>
          <a:xfrm>
            <a:off x="0" y="0"/>
            <a:ext cx="12192000" cy="16416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hyperlink" Target="https://www.theguardian.com/environment/2020/jul/02/10bn-precious-metals-dumped-each-year-electronic-waste-un-toxic-e-waste-pollut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hyperlink" Target="https://www.bbc.co.uk/news/technology-45798523" TargetMode="External"/><Relationship Id="rId5" Type="http://schemas.openxmlformats.org/officeDocument/2006/relationships/hyperlink" Target="https://www.internetlivestat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2082477" y="3118978"/>
            <a:ext cx="4013523" cy="1497914"/>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rPr b="1" lang="en-GB"/>
              <a:t>The ethics</a:t>
            </a:r>
            <a:br>
              <a:rPr b="1" lang="en-GB"/>
            </a:br>
            <a:r>
              <a:rPr b="1" lang="en-GB"/>
              <a:t>of computing</a:t>
            </a:r>
            <a:endParaRPr/>
          </a:p>
        </p:txBody>
      </p:sp>
      <p:sp>
        <p:nvSpPr>
          <p:cNvPr id="81" name="Google Shape;81;p13"/>
          <p:cNvSpPr/>
          <p:nvPr/>
        </p:nvSpPr>
        <p:spPr>
          <a:xfrm>
            <a:off x="1370924" y="4616892"/>
            <a:ext cx="4725076"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00B0F0"/>
                </a:solidFill>
                <a:latin typeface="Calibri"/>
                <a:ea typeface="Calibri"/>
                <a:cs typeface="Calibri"/>
                <a:sym typeface="Calibri"/>
              </a:rPr>
              <a:t>Lesson 6: Technology and the environment</a:t>
            </a:r>
            <a:endParaRPr b="1" i="0" sz="2000" u="none" cap="none" strike="noStrike">
              <a:solidFill>
                <a:srgbClr val="00B0F0"/>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6430462" y="2852165"/>
            <a:ext cx="3626103" cy="2164837"/>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00200" y="844826"/>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00200" y="2059394"/>
            <a:ext cx="9471991" cy="273921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In this lesson, you will learn:</a:t>
            </a:r>
            <a:endParaRPr sz="28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that technological advancements can have negative impacts on the environment</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about the benefits and drawbacks of one environmental impact of technology in detail</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minimise the drawbacks of one environmental impact of technology.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200"/>
              <a:buFont typeface="Calibri"/>
              <a:buNone/>
            </a:pPr>
            <a:r>
              <a:rPr b="1" lang="en-GB" sz="3200">
                <a:solidFill>
                  <a:schemeClr val="lt1"/>
                </a:solidFill>
              </a:rPr>
              <a:t>Activity 3.1: How does technology damage the environment?</a:t>
            </a:r>
            <a:endParaRPr/>
          </a:p>
        </p:txBody>
      </p:sp>
      <p:pic>
        <p:nvPicPr>
          <p:cNvPr descr="A picture containing athletic game, basketball, sport&#10;&#10;Description automatically generated" id="94" name="Google Shape;94;p15"/>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
        <p:nvSpPr>
          <p:cNvPr id="95" name="Google Shape;95;p15"/>
          <p:cNvSpPr txBox="1"/>
          <p:nvPr/>
        </p:nvSpPr>
        <p:spPr>
          <a:xfrm>
            <a:off x="289367" y="5883229"/>
            <a:ext cx="3136740" cy="97477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D8E2F3"/>
              </a:buClr>
              <a:buSzPts val="4800"/>
              <a:buFont typeface="Calibri"/>
              <a:buNone/>
            </a:pPr>
            <a:r>
              <a:rPr b="1" lang="en-GB" sz="4800">
                <a:solidFill>
                  <a:srgbClr val="D8E2F3"/>
                </a:solidFill>
                <a:latin typeface="Calibri"/>
                <a:ea typeface="Calibri"/>
                <a:cs typeface="Calibri"/>
                <a:sym typeface="Calibri"/>
              </a:rPr>
              <a:t>DO NOW</a:t>
            </a:r>
            <a:endParaRPr b="1" sz="4800">
              <a:solidFill>
                <a:srgbClr val="D8E2F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E-waste</a:t>
            </a:r>
            <a:endParaRPr/>
          </a:p>
        </p:txBody>
      </p:sp>
      <p:sp>
        <p:nvSpPr>
          <p:cNvPr id="101" name="Google Shape;101;p16"/>
          <p:cNvSpPr/>
          <p:nvPr/>
        </p:nvSpPr>
        <p:spPr>
          <a:xfrm>
            <a:off x="1576333" y="1814988"/>
            <a:ext cx="5738867"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When people have finished with their digital devices, they generally end up in landfill.</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In 2019, we created 54 million tonnes of </a:t>
            </a:r>
            <a:r>
              <a:rPr b="1" lang="en-GB" sz="2400">
                <a:solidFill>
                  <a:srgbClr val="00B0F0"/>
                </a:solidFill>
                <a:latin typeface="Calibri"/>
                <a:ea typeface="Calibri"/>
                <a:cs typeface="Calibri"/>
                <a:sym typeface="Calibri"/>
              </a:rPr>
              <a:t>e-waste</a:t>
            </a:r>
            <a:r>
              <a:rPr lang="en-GB" sz="2400">
                <a:solidFill>
                  <a:schemeClr val="dk1"/>
                </a:solidFill>
                <a:latin typeface="Calibri"/>
                <a:ea typeface="Calibri"/>
                <a:cs typeface="Calibri"/>
                <a:sym typeface="Calibri"/>
              </a:rPr>
              <a:t> and only 17% of it was recycled.*</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rest probably ended up in a rubbish dump in one of the poorest countries in the world, where it was burned. This has devastating consequences for the environment and for the health of the people who live and work nearby.</a:t>
            </a:r>
            <a:endParaRPr sz="2400">
              <a:solidFill>
                <a:schemeClr val="dk1"/>
              </a:solidFill>
              <a:latin typeface="Calibri"/>
              <a:ea typeface="Calibri"/>
              <a:cs typeface="Calibri"/>
              <a:sym typeface="Calibri"/>
            </a:endParaRPr>
          </a:p>
        </p:txBody>
      </p:sp>
      <p:pic>
        <p:nvPicPr>
          <p:cNvPr descr="A picture containing satellite, automaton&#10;&#10;Description automatically generated" id="102" name="Google Shape;102;p16"/>
          <p:cNvPicPr preferRelativeResize="0"/>
          <p:nvPr/>
        </p:nvPicPr>
        <p:blipFill rotWithShape="1">
          <a:blip r:embed="rId3">
            <a:alphaModFix/>
          </a:blip>
          <a:srcRect b="0" l="0" r="0" t="0"/>
          <a:stretch/>
        </p:blipFill>
        <p:spPr>
          <a:xfrm>
            <a:off x="7315200" y="2425294"/>
            <a:ext cx="4507171" cy="3004780"/>
          </a:xfrm>
          <a:prstGeom prst="rect">
            <a:avLst/>
          </a:prstGeom>
          <a:noFill/>
          <a:ln>
            <a:noFill/>
          </a:ln>
        </p:spPr>
      </p:pic>
      <p:sp>
        <p:nvSpPr>
          <p:cNvPr id="103" name="Google Shape;103;p16"/>
          <p:cNvSpPr/>
          <p:nvPr/>
        </p:nvSpPr>
        <p:spPr>
          <a:xfrm>
            <a:off x="1580322" y="5742456"/>
            <a:ext cx="7153775" cy="73866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*Source: </a:t>
            </a:r>
            <a:r>
              <a:rPr i="1" lang="en-GB" sz="1400">
                <a:solidFill>
                  <a:schemeClr val="dk1"/>
                </a:solidFill>
                <a:latin typeface="Calibri"/>
                <a:ea typeface="Calibri"/>
                <a:cs typeface="Calibri"/>
                <a:sym typeface="Calibri"/>
              </a:rPr>
              <a:t>The Guardian</a:t>
            </a:r>
            <a:r>
              <a:rPr lang="en-GB" sz="1400">
                <a:solidFill>
                  <a:schemeClr val="dk1"/>
                </a:solidFill>
                <a:latin typeface="Calibri"/>
                <a:ea typeface="Calibri"/>
                <a:cs typeface="Calibri"/>
                <a:sym typeface="Calibri"/>
              </a:rPr>
              <a:t>, ‘$10bn of precious metals dumped each year in electronic waste, says UN’, 2/7/2020,  </a:t>
            </a:r>
            <a:r>
              <a:rPr lang="en-GB" sz="1400" u="sng">
                <a:solidFill>
                  <a:schemeClr val="hlink"/>
                </a:solidFill>
                <a:latin typeface="Calibri"/>
                <a:ea typeface="Calibri"/>
                <a:cs typeface="Calibri"/>
                <a:sym typeface="Calibri"/>
                <a:hlinkClick r:id="rId4"/>
              </a:rPr>
              <a:t>https://www.theguardian.com/environment/2020/jul/02/10bn-precious-metals-dumped-each-year-electronic-waste-un-toxic-e-waste-polluting</a:t>
            </a:r>
            <a:r>
              <a:rPr lang="en-GB" sz="1400">
                <a:solidFill>
                  <a:schemeClr val="dk1"/>
                </a:solidFill>
                <a:latin typeface="Calibri"/>
                <a:ea typeface="Calibri"/>
                <a:cs typeface="Calibri"/>
                <a:sym typeface="Calibri"/>
              </a:rPr>
              <a:t> (accessed 6/1/2021)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1580322" y="844826"/>
            <a:ext cx="10611678" cy="75537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400"/>
              <a:buFont typeface="Calibri"/>
              <a:buNone/>
            </a:pPr>
            <a:r>
              <a:rPr b="1" lang="en-GB" sz="3400">
                <a:solidFill>
                  <a:schemeClr val="lt1"/>
                </a:solidFill>
              </a:rPr>
              <a:t>Conflict, habitat destruction and poor working conditions </a:t>
            </a:r>
            <a:endParaRPr/>
          </a:p>
        </p:txBody>
      </p:sp>
      <p:sp>
        <p:nvSpPr>
          <p:cNvPr id="109" name="Google Shape;109;p17"/>
          <p:cNvSpPr/>
          <p:nvPr/>
        </p:nvSpPr>
        <p:spPr>
          <a:xfrm>
            <a:off x="1406900" y="3663639"/>
            <a:ext cx="6144782"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Coltan mining has also destroyed the habitat of the eastern lowland gorilla.</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Efforts are being made to ensure coltan traded on the international market is ‘conflict-free’, but the miners – many of them young children – work in appalling conditions.</a:t>
            </a:r>
            <a:endParaRPr sz="2000">
              <a:solidFill>
                <a:schemeClr val="dk1"/>
              </a:solidFill>
              <a:latin typeface="Calibri"/>
              <a:ea typeface="Calibri"/>
              <a:cs typeface="Calibri"/>
              <a:sym typeface="Calibri"/>
            </a:endParaRPr>
          </a:p>
        </p:txBody>
      </p:sp>
      <p:pic>
        <p:nvPicPr>
          <p:cNvPr id="110" name="Google Shape;110;p17"/>
          <p:cNvPicPr preferRelativeResize="0"/>
          <p:nvPr/>
        </p:nvPicPr>
        <p:blipFill rotWithShape="1">
          <a:blip r:embed="rId3">
            <a:alphaModFix/>
          </a:blip>
          <a:srcRect b="0" l="0" r="0" t="0"/>
          <a:stretch/>
        </p:blipFill>
        <p:spPr>
          <a:xfrm>
            <a:off x="7851228" y="3627554"/>
            <a:ext cx="3890823" cy="2579047"/>
          </a:xfrm>
          <a:prstGeom prst="rect">
            <a:avLst/>
          </a:prstGeom>
          <a:noFill/>
          <a:ln>
            <a:noFill/>
          </a:ln>
        </p:spPr>
      </p:pic>
      <p:sp>
        <p:nvSpPr>
          <p:cNvPr id="111" name="Google Shape;111;p17"/>
          <p:cNvSpPr/>
          <p:nvPr/>
        </p:nvSpPr>
        <p:spPr>
          <a:xfrm>
            <a:off x="1406900" y="1797693"/>
            <a:ext cx="9550133"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Coltan is an important mineral. It contains tantalum, which is needed to manufacture smartphones and other digital devices.</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Coltan is mined in the Democratic Republic of Congo and the huge profits gained from extracting this mineral have contributed to the devastating violence experienced in the country for decades.</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1580322" y="844826"/>
            <a:ext cx="9773478" cy="7553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a:t>
            </a:r>
            <a:r>
              <a:rPr b="1" baseline="-25000" lang="en-GB">
                <a:solidFill>
                  <a:schemeClr val="lt1"/>
                </a:solidFill>
              </a:rPr>
              <a:t>2</a:t>
            </a:r>
            <a:r>
              <a:rPr b="1" lang="en-GB">
                <a:solidFill>
                  <a:schemeClr val="lt1"/>
                </a:solidFill>
              </a:rPr>
              <a:t> emissions </a:t>
            </a:r>
            <a:endParaRPr/>
          </a:p>
        </p:txBody>
      </p:sp>
      <p:sp>
        <p:nvSpPr>
          <p:cNvPr id="117" name="Google Shape;117;p18"/>
          <p:cNvSpPr/>
          <p:nvPr/>
        </p:nvSpPr>
        <p:spPr>
          <a:xfrm>
            <a:off x="1499152" y="1843950"/>
            <a:ext cx="9773478" cy="163121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Digital devices are powered by electricity. When electricity is generated by burning fossil fuels, the CO</a:t>
            </a:r>
            <a:r>
              <a:rPr baseline="-25000" lang="en-GB" sz="2000">
                <a:solidFill>
                  <a:schemeClr val="dk1"/>
                </a:solidFill>
                <a:latin typeface="Calibri"/>
                <a:ea typeface="Calibri"/>
                <a:cs typeface="Calibri"/>
                <a:sym typeface="Calibri"/>
              </a:rPr>
              <a:t>2</a:t>
            </a:r>
            <a:r>
              <a:rPr lang="en-GB" sz="2000">
                <a:solidFill>
                  <a:schemeClr val="dk1"/>
                </a:solidFill>
                <a:latin typeface="Calibri"/>
                <a:ea typeface="Calibri"/>
                <a:cs typeface="Calibri"/>
                <a:sym typeface="Calibri"/>
              </a:rPr>
              <a:t> emissions produced contribute to climate change.</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0.3% of the world’s CO</a:t>
            </a:r>
            <a:r>
              <a:rPr baseline="-25000" lang="en-GB" sz="2000">
                <a:solidFill>
                  <a:schemeClr val="dk1"/>
                </a:solidFill>
                <a:latin typeface="Calibri"/>
                <a:ea typeface="Calibri"/>
                <a:cs typeface="Calibri"/>
                <a:sym typeface="Calibri"/>
              </a:rPr>
              <a:t>2</a:t>
            </a:r>
            <a:r>
              <a:rPr lang="en-GB" sz="2000">
                <a:solidFill>
                  <a:schemeClr val="dk1"/>
                </a:solidFill>
                <a:latin typeface="Calibri"/>
                <a:ea typeface="Calibri"/>
                <a:cs typeface="Calibri"/>
                <a:sym typeface="Calibri"/>
              </a:rPr>
              <a:t> emissions are currently produced by streaming and this is expected to rise.* Not only are you watching on a digital device, but servers around the world have to run to deliver content to you, and they use electricity too.</a:t>
            </a:r>
            <a:endParaRPr sz="2000">
              <a:solidFill>
                <a:schemeClr val="dk1"/>
              </a:solidFill>
              <a:latin typeface="Calibri"/>
              <a:ea typeface="Calibri"/>
              <a:cs typeface="Calibri"/>
              <a:sym typeface="Calibri"/>
            </a:endParaRPr>
          </a:p>
        </p:txBody>
      </p:sp>
      <p:pic>
        <p:nvPicPr>
          <p:cNvPr descr="A picture containing smoke, steam, outdoor, factory&#10;&#10;Description automatically generated" id="118" name="Google Shape;118;p18"/>
          <p:cNvPicPr preferRelativeResize="0"/>
          <p:nvPr/>
        </p:nvPicPr>
        <p:blipFill rotWithShape="1">
          <a:blip r:embed="rId3">
            <a:alphaModFix/>
          </a:blip>
          <a:srcRect b="0" l="0" r="0" t="0"/>
          <a:stretch/>
        </p:blipFill>
        <p:spPr>
          <a:xfrm>
            <a:off x="7380890" y="3718916"/>
            <a:ext cx="3972910" cy="2235046"/>
          </a:xfrm>
          <a:prstGeom prst="rect">
            <a:avLst/>
          </a:prstGeom>
          <a:noFill/>
          <a:ln>
            <a:noFill/>
          </a:ln>
        </p:spPr>
      </p:pic>
      <p:sp>
        <p:nvSpPr>
          <p:cNvPr id="119" name="Google Shape;119;p18"/>
          <p:cNvSpPr/>
          <p:nvPr/>
        </p:nvSpPr>
        <p:spPr>
          <a:xfrm>
            <a:off x="1499152" y="6023536"/>
            <a:ext cx="6840807"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*Source: BBC News ‘Climate change: Is your Netflix habit bad for the environment?’, 12/10/2018, </a:t>
            </a:r>
            <a:r>
              <a:rPr lang="en-GB" sz="1400" u="sng">
                <a:solidFill>
                  <a:schemeClr val="hlink"/>
                </a:solidFill>
                <a:latin typeface="Calibri"/>
                <a:ea typeface="Calibri"/>
                <a:cs typeface="Calibri"/>
                <a:sym typeface="Calibri"/>
                <a:hlinkClick r:id="rId4"/>
              </a:rPr>
              <a:t>https://www.bbc.co.uk/news/technology-45798523</a:t>
            </a:r>
            <a:r>
              <a:rPr lang="en-GB" sz="1400">
                <a:solidFill>
                  <a:schemeClr val="dk1"/>
                </a:solidFill>
                <a:latin typeface="Calibri"/>
                <a:ea typeface="Calibri"/>
                <a:cs typeface="Calibri"/>
                <a:sym typeface="Calibri"/>
              </a:rPr>
              <a:t> (accessed 6/1/2021)</a:t>
            </a:r>
            <a:endParaRPr sz="1400">
              <a:solidFill>
                <a:schemeClr val="dk1"/>
              </a:solidFill>
              <a:latin typeface="Calibri"/>
              <a:ea typeface="Calibri"/>
              <a:cs typeface="Calibri"/>
              <a:sym typeface="Calibri"/>
            </a:endParaRPr>
          </a:p>
        </p:txBody>
      </p:sp>
      <p:sp>
        <p:nvSpPr>
          <p:cNvPr id="120" name="Google Shape;120;p18"/>
          <p:cNvSpPr/>
          <p:nvPr/>
        </p:nvSpPr>
        <p:spPr>
          <a:xfrm>
            <a:off x="1499152" y="3429000"/>
            <a:ext cx="5689924" cy="255454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Experts calculate that the same amount of electricity was used to stream </a:t>
            </a:r>
            <a:r>
              <a:rPr i="1" lang="en-GB" sz="2000">
                <a:solidFill>
                  <a:schemeClr val="dk1"/>
                </a:solidFill>
                <a:latin typeface="Calibri"/>
                <a:ea typeface="Calibri"/>
                <a:cs typeface="Calibri"/>
                <a:sym typeface="Calibri"/>
              </a:rPr>
              <a:t>Despacito</a:t>
            </a:r>
            <a:r>
              <a:rPr lang="en-GB" sz="2000">
                <a:solidFill>
                  <a:schemeClr val="dk1"/>
                </a:solidFill>
                <a:latin typeface="Calibri"/>
                <a:ea typeface="Calibri"/>
                <a:cs typeface="Calibri"/>
                <a:sym typeface="Calibri"/>
              </a:rPr>
              <a:t>, a music video released in 2017, as was consumed by the countries of Chad, Guinea-Bissau, Somalia, Sierra Leone and the Central African Republic in one year!*</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GB" sz="2000">
                <a:solidFill>
                  <a:schemeClr val="dk1"/>
                </a:solidFill>
                <a:latin typeface="Calibri"/>
                <a:ea typeface="Calibri"/>
                <a:cs typeface="Calibri"/>
                <a:sym typeface="Calibri"/>
              </a:rPr>
              <a:t>Click </a:t>
            </a:r>
            <a:r>
              <a:rPr b="1" lang="en-GB" sz="2000" u="sng">
                <a:solidFill>
                  <a:schemeClr val="hlink"/>
                </a:solidFill>
                <a:latin typeface="Calibri"/>
                <a:ea typeface="Calibri"/>
                <a:cs typeface="Calibri"/>
                <a:sym typeface="Calibri"/>
                <a:hlinkClick r:id="rId5"/>
              </a:rPr>
              <a:t>here</a:t>
            </a:r>
            <a:r>
              <a:rPr lang="en-GB" sz="2000">
                <a:solidFill>
                  <a:schemeClr val="dk1"/>
                </a:solidFill>
                <a:latin typeface="Calibri"/>
                <a:ea typeface="Calibri"/>
                <a:cs typeface="Calibri"/>
                <a:sym typeface="Calibri"/>
              </a:rPr>
              <a:t> and scroll down to see the CO</a:t>
            </a:r>
            <a:r>
              <a:rPr baseline="-25000" lang="en-GB" sz="2000">
                <a:solidFill>
                  <a:schemeClr val="dk1"/>
                </a:solidFill>
                <a:latin typeface="Calibri"/>
                <a:ea typeface="Calibri"/>
                <a:cs typeface="Calibri"/>
                <a:sym typeface="Calibri"/>
              </a:rPr>
              <a:t>2</a:t>
            </a:r>
            <a:r>
              <a:rPr lang="en-GB" sz="2000">
                <a:solidFill>
                  <a:schemeClr val="dk1"/>
                </a:solidFill>
                <a:latin typeface="Calibri"/>
                <a:ea typeface="Calibri"/>
                <a:cs typeface="Calibri"/>
                <a:sym typeface="Calibri"/>
              </a:rPr>
              <a:t> emissions produced by people using the internet today.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1580322" y="817627"/>
            <a:ext cx="9773478" cy="8223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Looking to a brighter future</a:t>
            </a:r>
            <a:endParaRPr b="1">
              <a:solidFill>
                <a:schemeClr val="lt1"/>
              </a:solidFill>
            </a:endParaRPr>
          </a:p>
        </p:txBody>
      </p:sp>
      <p:sp>
        <p:nvSpPr>
          <p:cNvPr id="126" name="Google Shape;126;p19"/>
          <p:cNvSpPr/>
          <p:nvPr/>
        </p:nvSpPr>
        <p:spPr>
          <a:xfrm>
            <a:off x="1580322" y="2219081"/>
            <a:ext cx="5120023" cy="341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It is important to understand the negative environmental impacts of technology so that efforts can be made to minimise them.</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Educating people will help them make better decisions about the digital devices they buy, how they use them and what they do with them when they no longer want them.</a:t>
            </a:r>
            <a:endParaRPr sz="2400">
              <a:solidFill>
                <a:schemeClr val="dk1"/>
              </a:solidFill>
              <a:latin typeface="Calibri"/>
              <a:ea typeface="Calibri"/>
              <a:cs typeface="Calibri"/>
              <a:sym typeface="Calibri"/>
            </a:endParaRPr>
          </a:p>
        </p:txBody>
      </p:sp>
      <p:pic>
        <p:nvPicPr>
          <p:cNvPr descr="A picture containing nature, outdoor, wave, night sky&#10;&#10;Description automatically generated" id="127" name="Google Shape;127;p19"/>
          <p:cNvPicPr preferRelativeResize="0"/>
          <p:nvPr/>
        </p:nvPicPr>
        <p:blipFill rotWithShape="1">
          <a:blip r:embed="rId3">
            <a:alphaModFix/>
          </a:blip>
          <a:srcRect b="0" l="0" r="0" t="0"/>
          <a:stretch/>
        </p:blipFill>
        <p:spPr>
          <a:xfrm>
            <a:off x="6980355" y="2588798"/>
            <a:ext cx="4813786" cy="26768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1580322" y="844826"/>
            <a:ext cx="9773478" cy="7750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Infographic</a:t>
            </a:r>
            <a:endParaRPr/>
          </a:p>
        </p:txBody>
      </p:sp>
      <p:sp>
        <p:nvSpPr>
          <p:cNvPr id="133" name="Google Shape;133;p20"/>
          <p:cNvSpPr/>
          <p:nvPr/>
        </p:nvSpPr>
        <p:spPr>
          <a:xfrm>
            <a:off x="1580322" y="1995400"/>
            <a:ext cx="8537713"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An infographic is a visual representation of information. </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It can include:</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images</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text</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data</a:t>
            </a:r>
            <a:endParaRPr/>
          </a:p>
          <a:p>
            <a:pPr indent="-342900" lvl="0" marL="342900" marR="0" rtl="0" algn="l">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Colours.</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On the next slides are some examples of infographics.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A picture containing text&#10;&#10;Description automatically generated" id="138" name="Google Shape;138;p21"/>
          <p:cNvPicPr preferRelativeResize="0"/>
          <p:nvPr/>
        </p:nvPicPr>
        <p:blipFill rotWithShape="1">
          <a:blip r:embed="rId3">
            <a:alphaModFix/>
          </a:blip>
          <a:srcRect b="0" l="0" r="0" t="0"/>
          <a:stretch/>
        </p:blipFill>
        <p:spPr>
          <a:xfrm>
            <a:off x="3304052" y="1858446"/>
            <a:ext cx="4984102" cy="4634666"/>
          </a:xfrm>
          <a:prstGeom prst="rect">
            <a:avLst/>
          </a:prstGeom>
          <a:noFill/>
          <a:ln>
            <a:noFill/>
          </a:ln>
        </p:spPr>
      </p:pic>
      <p:sp>
        <p:nvSpPr>
          <p:cNvPr id="139" name="Google Shape;139;p21"/>
          <p:cNvSpPr/>
          <p:nvPr/>
        </p:nvSpPr>
        <p:spPr>
          <a:xfrm>
            <a:off x="0" y="0"/>
            <a:ext cx="1219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21"/>
          <p:cNvSpPr/>
          <p:nvPr/>
        </p:nvSpPr>
        <p:spPr>
          <a:xfrm>
            <a:off x="8581572" y="4448174"/>
            <a:ext cx="2199639" cy="369332"/>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images are clear.</a:t>
            </a:r>
            <a:endParaRPr sz="1800">
              <a:solidFill>
                <a:schemeClr val="dk1"/>
              </a:solidFill>
              <a:latin typeface="Times New Roman"/>
              <a:ea typeface="Times New Roman"/>
              <a:cs typeface="Times New Roman"/>
              <a:sym typeface="Times New Roman"/>
            </a:endParaRPr>
          </a:p>
        </p:txBody>
      </p:sp>
      <p:sp>
        <p:nvSpPr>
          <p:cNvPr id="141" name="Google Shape;141;p21"/>
          <p:cNvSpPr/>
          <p:nvPr/>
        </p:nvSpPr>
        <p:spPr>
          <a:xfrm>
            <a:off x="670560" y="2967335"/>
            <a:ext cx="2150596" cy="923330"/>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statements explaining are concise.</a:t>
            </a:r>
            <a:endParaRPr sz="1800">
              <a:solidFill>
                <a:schemeClr val="dk1"/>
              </a:solidFill>
              <a:latin typeface="Times New Roman"/>
              <a:ea typeface="Times New Roman"/>
              <a:cs typeface="Times New Roman"/>
              <a:sym typeface="Times New Roman"/>
            </a:endParaRPr>
          </a:p>
        </p:txBody>
      </p:sp>
      <p:sp>
        <p:nvSpPr>
          <p:cNvPr id="142" name="Google Shape;142;p21"/>
          <p:cNvSpPr/>
          <p:nvPr/>
        </p:nvSpPr>
        <p:spPr>
          <a:xfrm>
            <a:off x="9515821" y="2415404"/>
            <a:ext cx="2399760" cy="369332"/>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text is easy to read.</a:t>
            </a:r>
            <a:endParaRPr sz="1800">
              <a:solidFill>
                <a:schemeClr val="dk1"/>
              </a:solidFill>
              <a:latin typeface="Calibri"/>
              <a:ea typeface="Calibri"/>
              <a:cs typeface="Calibri"/>
              <a:sym typeface="Calibri"/>
            </a:endParaRPr>
          </a:p>
        </p:txBody>
      </p:sp>
      <p:cxnSp>
        <p:nvCxnSpPr>
          <p:cNvPr id="143" name="Google Shape;143;p21"/>
          <p:cNvCxnSpPr>
            <a:stCxn id="142" idx="1"/>
          </p:cNvCxnSpPr>
          <p:nvPr/>
        </p:nvCxnSpPr>
        <p:spPr>
          <a:xfrm rot="10800000">
            <a:off x="7968421" y="2342670"/>
            <a:ext cx="1547400" cy="257400"/>
          </a:xfrm>
          <a:prstGeom prst="straightConnector1">
            <a:avLst/>
          </a:prstGeom>
          <a:noFill/>
          <a:ln cap="flat" cmpd="sng" w="9525">
            <a:solidFill>
              <a:srgbClr val="2197AC"/>
            </a:solidFill>
            <a:prstDash val="solid"/>
            <a:miter lim="8000"/>
            <a:headEnd len="sm" w="sm" type="none"/>
            <a:tailEnd len="med" w="med" type="triangle"/>
          </a:ln>
        </p:spPr>
      </p:cxnSp>
      <p:cxnSp>
        <p:nvCxnSpPr>
          <p:cNvPr id="144" name="Google Shape;144;p21"/>
          <p:cNvCxnSpPr/>
          <p:nvPr/>
        </p:nvCxnSpPr>
        <p:spPr>
          <a:xfrm flipH="1">
            <a:off x="7489371" y="4612975"/>
            <a:ext cx="1092202" cy="620876"/>
          </a:xfrm>
          <a:prstGeom prst="straightConnector1">
            <a:avLst/>
          </a:prstGeom>
          <a:noFill/>
          <a:ln cap="flat" cmpd="sng" w="9525">
            <a:solidFill>
              <a:srgbClr val="2197AC"/>
            </a:solidFill>
            <a:prstDash val="solid"/>
            <a:miter lim="8000"/>
            <a:headEnd len="sm" w="sm" type="none"/>
            <a:tailEnd len="med" w="med" type="triangle"/>
          </a:ln>
        </p:spPr>
      </p:cxnSp>
      <p:cxnSp>
        <p:nvCxnSpPr>
          <p:cNvPr id="145" name="Google Shape;145;p21"/>
          <p:cNvCxnSpPr/>
          <p:nvPr/>
        </p:nvCxnSpPr>
        <p:spPr>
          <a:xfrm flipH="1" rot="10800000">
            <a:off x="2821156" y="2821577"/>
            <a:ext cx="705815" cy="576943"/>
          </a:xfrm>
          <a:prstGeom prst="straightConnector1">
            <a:avLst/>
          </a:prstGeom>
          <a:noFill/>
          <a:ln cap="flat" cmpd="sng" w="9525">
            <a:solidFill>
              <a:srgbClr val="2197AC"/>
            </a:solidFill>
            <a:prstDash val="solid"/>
            <a:miter lim="8000"/>
            <a:headEnd len="sm" w="sm" type="none"/>
            <a:tailEnd len="med" w="med" type="triangle"/>
          </a:ln>
        </p:spPr>
      </p:cxnSp>
      <p:sp>
        <p:nvSpPr>
          <p:cNvPr id="146" name="Google Shape;146;p21"/>
          <p:cNvSpPr txBox="1"/>
          <p:nvPr>
            <p:ph type="title"/>
          </p:nvPr>
        </p:nvSpPr>
        <p:spPr>
          <a:xfrm>
            <a:off x="1580322" y="844826"/>
            <a:ext cx="9773478" cy="7750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Infographic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Diagram&#10;&#10;Description automatically generated" id="151" name="Google Shape;151;p22"/>
          <p:cNvPicPr preferRelativeResize="0"/>
          <p:nvPr/>
        </p:nvPicPr>
        <p:blipFill rotWithShape="1">
          <a:blip r:embed="rId3">
            <a:alphaModFix/>
          </a:blip>
          <a:srcRect b="0" l="0" r="0" t="0"/>
          <a:stretch/>
        </p:blipFill>
        <p:spPr>
          <a:xfrm>
            <a:off x="3484905" y="1738052"/>
            <a:ext cx="4296116" cy="4858908"/>
          </a:xfrm>
          <a:prstGeom prst="rect">
            <a:avLst/>
          </a:prstGeom>
          <a:noFill/>
          <a:ln>
            <a:noFill/>
          </a:ln>
        </p:spPr>
      </p:pic>
      <p:sp>
        <p:nvSpPr>
          <p:cNvPr id="152" name="Google Shape;152;p22"/>
          <p:cNvSpPr/>
          <p:nvPr/>
        </p:nvSpPr>
        <p:spPr>
          <a:xfrm>
            <a:off x="284177" y="3759440"/>
            <a:ext cx="3118418" cy="369332"/>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layout is clearly structured.</a:t>
            </a:r>
            <a:endParaRPr sz="1800">
              <a:solidFill>
                <a:schemeClr val="dk1"/>
              </a:solidFill>
              <a:latin typeface="Times New Roman"/>
              <a:ea typeface="Times New Roman"/>
              <a:cs typeface="Times New Roman"/>
              <a:sym typeface="Times New Roman"/>
            </a:endParaRPr>
          </a:p>
        </p:txBody>
      </p:sp>
      <p:sp>
        <p:nvSpPr>
          <p:cNvPr id="153" name="Google Shape;153;p22"/>
          <p:cNvSpPr/>
          <p:nvPr/>
        </p:nvSpPr>
        <p:spPr>
          <a:xfrm>
            <a:off x="8380294" y="2365069"/>
            <a:ext cx="2910274" cy="646331"/>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text stands out from the background colours.</a:t>
            </a:r>
            <a:endParaRPr sz="1800">
              <a:solidFill>
                <a:schemeClr val="dk1"/>
              </a:solidFill>
              <a:latin typeface="Times New Roman"/>
              <a:ea typeface="Times New Roman"/>
              <a:cs typeface="Times New Roman"/>
              <a:sym typeface="Times New Roman"/>
            </a:endParaRPr>
          </a:p>
        </p:txBody>
      </p:sp>
      <p:sp>
        <p:nvSpPr>
          <p:cNvPr id="154" name="Google Shape;154;p22"/>
          <p:cNvSpPr/>
          <p:nvPr/>
        </p:nvSpPr>
        <p:spPr>
          <a:xfrm>
            <a:off x="8223582" y="5153435"/>
            <a:ext cx="3310826" cy="646331"/>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The image is well spaced and not intrusive.</a:t>
            </a:r>
            <a:endParaRPr sz="1800">
              <a:solidFill>
                <a:schemeClr val="dk1"/>
              </a:solidFill>
              <a:latin typeface="Calibri"/>
              <a:ea typeface="Calibri"/>
              <a:cs typeface="Calibri"/>
              <a:sym typeface="Calibri"/>
            </a:endParaRPr>
          </a:p>
        </p:txBody>
      </p:sp>
      <p:cxnSp>
        <p:nvCxnSpPr>
          <p:cNvPr id="155" name="Google Shape;155;p22"/>
          <p:cNvCxnSpPr/>
          <p:nvPr/>
        </p:nvCxnSpPr>
        <p:spPr>
          <a:xfrm flipH="1" rot="10800000">
            <a:off x="2508073" y="3011400"/>
            <a:ext cx="1280156" cy="748040"/>
          </a:xfrm>
          <a:prstGeom prst="straightConnector1">
            <a:avLst/>
          </a:prstGeom>
          <a:noFill/>
          <a:ln cap="flat" cmpd="sng" w="9525">
            <a:solidFill>
              <a:schemeClr val="accent1"/>
            </a:solidFill>
            <a:prstDash val="solid"/>
            <a:miter lim="8000"/>
            <a:headEnd len="sm" w="sm" type="none"/>
            <a:tailEnd len="med" w="med" type="triangle"/>
          </a:ln>
        </p:spPr>
      </p:cxnSp>
      <p:cxnSp>
        <p:nvCxnSpPr>
          <p:cNvPr id="156" name="Google Shape;156;p22"/>
          <p:cNvCxnSpPr>
            <a:stCxn id="154" idx="1"/>
          </p:cNvCxnSpPr>
          <p:nvPr/>
        </p:nvCxnSpPr>
        <p:spPr>
          <a:xfrm flipH="1">
            <a:off x="7158582" y="5476601"/>
            <a:ext cx="1065000" cy="70800"/>
          </a:xfrm>
          <a:prstGeom prst="straightConnector1">
            <a:avLst/>
          </a:prstGeom>
          <a:noFill/>
          <a:ln cap="flat" cmpd="sng" w="9525">
            <a:solidFill>
              <a:srgbClr val="2197AC"/>
            </a:solidFill>
            <a:prstDash val="solid"/>
            <a:miter lim="8000"/>
            <a:headEnd len="sm" w="sm" type="none"/>
            <a:tailEnd len="med" w="med" type="triangle"/>
          </a:ln>
        </p:spPr>
      </p:cxnSp>
      <p:cxnSp>
        <p:nvCxnSpPr>
          <p:cNvPr id="157" name="Google Shape;157;p22"/>
          <p:cNvCxnSpPr>
            <a:stCxn id="153" idx="1"/>
          </p:cNvCxnSpPr>
          <p:nvPr/>
        </p:nvCxnSpPr>
        <p:spPr>
          <a:xfrm rot="10800000">
            <a:off x="7332694" y="2565535"/>
            <a:ext cx="1047600" cy="122700"/>
          </a:xfrm>
          <a:prstGeom prst="straightConnector1">
            <a:avLst/>
          </a:prstGeom>
          <a:noFill/>
          <a:ln cap="flat" cmpd="sng" w="9525">
            <a:solidFill>
              <a:srgbClr val="2197AC"/>
            </a:solidFill>
            <a:prstDash val="solid"/>
            <a:miter lim="8000"/>
            <a:headEnd len="sm" w="sm" type="none"/>
            <a:tailEnd len="med" w="med" type="triangle"/>
          </a:ln>
        </p:spPr>
      </p:cxnSp>
      <p:sp>
        <p:nvSpPr>
          <p:cNvPr id="158" name="Google Shape;158;p22"/>
          <p:cNvSpPr txBox="1"/>
          <p:nvPr>
            <p:ph type="title"/>
          </p:nvPr>
        </p:nvSpPr>
        <p:spPr>
          <a:xfrm>
            <a:off x="1580322" y="844826"/>
            <a:ext cx="9773478" cy="7750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Infographic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Diagram&#10;&#10;Description automatically generated" id="163" name="Google Shape;163;p23"/>
          <p:cNvPicPr preferRelativeResize="0"/>
          <p:nvPr/>
        </p:nvPicPr>
        <p:blipFill rotWithShape="1">
          <a:blip r:embed="rId3">
            <a:alphaModFix/>
          </a:blip>
          <a:srcRect b="0" l="0" r="0" t="0"/>
          <a:stretch/>
        </p:blipFill>
        <p:spPr>
          <a:xfrm>
            <a:off x="2912430" y="1928737"/>
            <a:ext cx="5888005" cy="3532802"/>
          </a:xfrm>
          <a:prstGeom prst="rect">
            <a:avLst/>
          </a:prstGeom>
          <a:noFill/>
          <a:ln>
            <a:noFill/>
          </a:ln>
        </p:spPr>
      </p:pic>
      <p:sp>
        <p:nvSpPr>
          <p:cNvPr id="164" name="Google Shape;164;p23"/>
          <p:cNvSpPr/>
          <p:nvPr/>
        </p:nvSpPr>
        <p:spPr>
          <a:xfrm>
            <a:off x="9522742" y="3874218"/>
            <a:ext cx="2669258" cy="707886"/>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Statistics are used to support the text.</a:t>
            </a:r>
            <a:endParaRPr sz="2000">
              <a:solidFill>
                <a:schemeClr val="dk1"/>
              </a:solidFill>
              <a:latin typeface="Times New Roman"/>
              <a:ea typeface="Times New Roman"/>
              <a:cs typeface="Times New Roman"/>
              <a:sym typeface="Times New Roman"/>
            </a:endParaRPr>
          </a:p>
        </p:txBody>
      </p:sp>
      <p:sp>
        <p:nvSpPr>
          <p:cNvPr id="165" name="Google Shape;165;p23"/>
          <p:cNvSpPr/>
          <p:nvPr/>
        </p:nvSpPr>
        <p:spPr>
          <a:xfrm>
            <a:off x="457157" y="2277784"/>
            <a:ext cx="1682390" cy="1015663"/>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The images support the text.</a:t>
            </a:r>
            <a:endParaRPr sz="2000">
              <a:solidFill>
                <a:schemeClr val="dk1"/>
              </a:solidFill>
              <a:latin typeface="Times New Roman"/>
              <a:ea typeface="Times New Roman"/>
              <a:cs typeface="Times New Roman"/>
              <a:sym typeface="Times New Roman"/>
            </a:endParaRPr>
          </a:p>
        </p:txBody>
      </p:sp>
      <p:sp>
        <p:nvSpPr>
          <p:cNvPr id="166" name="Google Shape;166;p23"/>
          <p:cNvSpPr/>
          <p:nvPr/>
        </p:nvSpPr>
        <p:spPr>
          <a:xfrm>
            <a:off x="2954420" y="5948192"/>
            <a:ext cx="2821734" cy="707886"/>
          </a:xfrm>
          <a:prstGeom prst="rect">
            <a:avLst/>
          </a:prstGeom>
          <a:noFill/>
          <a:ln cap="flat" cmpd="sng" w="9525">
            <a:solidFill>
              <a:srgbClr val="008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GB" sz="2000">
                <a:solidFill>
                  <a:schemeClr val="dk1"/>
                </a:solidFill>
                <a:latin typeface="Calibri"/>
                <a:ea typeface="Calibri"/>
                <a:cs typeface="Calibri"/>
                <a:sym typeface="Calibri"/>
              </a:rPr>
              <a:t>Headings draw attention to the key points.</a:t>
            </a:r>
            <a:endParaRPr sz="2000">
              <a:solidFill>
                <a:schemeClr val="dk1"/>
              </a:solidFill>
              <a:latin typeface="Times New Roman"/>
              <a:ea typeface="Times New Roman"/>
              <a:cs typeface="Times New Roman"/>
              <a:sym typeface="Times New Roman"/>
            </a:endParaRPr>
          </a:p>
        </p:txBody>
      </p:sp>
      <p:cxnSp>
        <p:nvCxnSpPr>
          <p:cNvPr id="167" name="Google Shape;167;p23"/>
          <p:cNvCxnSpPr>
            <a:stCxn id="164" idx="1"/>
          </p:cNvCxnSpPr>
          <p:nvPr/>
        </p:nvCxnSpPr>
        <p:spPr>
          <a:xfrm rot="10800000">
            <a:off x="8334142" y="3971061"/>
            <a:ext cx="1188600" cy="257100"/>
          </a:xfrm>
          <a:prstGeom prst="straightConnector1">
            <a:avLst/>
          </a:prstGeom>
          <a:noFill/>
          <a:ln cap="flat" cmpd="sng" w="9525">
            <a:solidFill>
              <a:srgbClr val="0089A7"/>
            </a:solidFill>
            <a:prstDash val="solid"/>
            <a:miter lim="8000"/>
            <a:headEnd len="sm" w="sm" type="none"/>
            <a:tailEnd len="med" w="med" type="triangle"/>
          </a:ln>
        </p:spPr>
      </p:cxnSp>
      <p:cxnSp>
        <p:nvCxnSpPr>
          <p:cNvPr id="168" name="Google Shape;168;p23"/>
          <p:cNvCxnSpPr/>
          <p:nvPr/>
        </p:nvCxnSpPr>
        <p:spPr>
          <a:xfrm>
            <a:off x="2139547" y="3021874"/>
            <a:ext cx="910679" cy="165463"/>
          </a:xfrm>
          <a:prstGeom prst="straightConnector1">
            <a:avLst/>
          </a:prstGeom>
          <a:noFill/>
          <a:ln cap="flat" cmpd="sng" w="9525">
            <a:solidFill>
              <a:srgbClr val="0089A7"/>
            </a:solidFill>
            <a:prstDash val="solid"/>
            <a:miter lim="8000"/>
            <a:headEnd len="sm" w="sm" type="none"/>
            <a:tailEnd len="med" w="med" type="triangle"/>
          </a:ln>
        </p:spPr>
      </p:cxnSp>
      <p:cxnSp>
        <p:nvCxnSpPr>
          <p:cNvPr id="169" name="Google Shape;169;p23"/>
          <p:cNvCxnSpPr/>
          <p:nvPr/>
        </p:nvCxnSpPr>
        <p:spPr>
          <a:xfrm flipH="1" rot="10800000">
            <a:off x="5342978" y="4937760"/>
            <a:ext cx="1432291" cy="1010433"/>
          </a:xfrm>
          <a:prstGeom prst="straightConnector1">
            <a:avLst/>
          </a:prstGeom>
          <a:noFill/>
          <a:ln cap="flat" cmpd="sng" w="9525">
            <a:solidFill>
              <a:srgbClr val="0089A7"/>
            </a:solidFill>
            <a:prstDash val="solid"/>
            <a:miter lim="8000"/>
            <a:headEnd len="sm" w="sm" type="none"/>
            <a:tailEnd len="med" w="med" type="triangle"/>
          </a:ln>
        </p:spPr>
      </p:cxnSp>
      <p:sp>
        <p:nvSpPr>
          <p:cNvPr id="170" name="Google Shape;170;p23"/>
          <p:cNvSpPr txBox="1"/>
          <p:nvPr>
            <p:ph type="title"/>
          </p:nvPr>
        </p:nvSpPr>
        <p:spPr>
          <a:xfrm>
            <a:off x="1580322" y="844826"/>
            <a:ext cx="9773478" cy="7750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Infographic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Calibri"/>
              <a:buNone/>
            </a:pPr>
            <a:r>
              <a:rPr b="1" lang="en-GB" sz="2800">
                <a:solidFill>
                  <a:schemeClr val="lt1"/>
                </a:solidFill>
              </a:rPr>
              <a:t>Activity 3.2: Minimising the environmental impact of your digital devices</a:t>
            </a:r>
            <a:endParaRPr/>
          </a:p>
        </p:txBody>
      </p:sp>
      <p:sp>
        <p:nvSpPr>
          <p:cNvPr id="176" name="Google Shape;176;p24"/>
          <p:cNvSpPr/>
          <p:nvPr/>
        </p:nvSpPr>
        <p:spPr>
          <a:xfrm>
            <a:off x="1570382" y="1979688"/>
            <a:ext cx="5145728" cy="4334328"/>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Choose one environmental impact of technology and create an infographic that:</a:t>
            </a:r>
            <a:endParaRPr sz="24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outlines the environmental impact</a:t>
            </a:r>
            <a:endParaRPr sz="2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explains how the impact can be minimised.</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You will need to do some research to find out how the impact you choose can be minimised.</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Remember to credit all your sources!</a:t>
            </a:r>
            <a:endParaRPr sz="2400">
              <a:solidFill>
                <a:schemeClr val="dk1"/>
              </a:solidFill>
              <a:latin typeface="Calibri"/>
              <a:ea typeface="Calibri"/>
              <a:cs typeface="Calibri"/>
              <a:sym typeface="Calibri"/>
            </a:endParaRPr>
          </a:p>
        </p:txBody>
      </p:sp>
      <p:pic>
        <p:nvPicPr>
          <p:cNvPr descr="A picture containing athletic game, basketball, sport&#10;&#10;Description automatically generated" id="177" name="Google Shape;177;p24"/>
          <p:cNvPicPr preferRelativeResize="0"/>
          <p:nvPr/>
        </p:nvPicPr>
        <p:blipFill rotWithShape="1">
          <a:blip r:embed="rId3">
            <a:alphaModFix/>
          </a:blip>
          <a:srcRect b="0" l="0" r="0" t="0"/>
          <a:stretch/>
        </p:blipFill>
        <p:spPr>
          <a:xfrm>
            <a:off x="7141029" y="1886056"/>
            <a:ext cx="4410894" cy="43217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idx="1" type="body"/>
          </p:nvPr>
        </p:nvSpPr>
        <p:spPr>
          <a:xfrm>
            <a:off x="1543087" y="1956450"/>
            <a:ext cx="9105826" cy="78675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GB" sz="2400"/>
              <a:t>Do you think it is right for mobile phone manufacturers to launch new models every year given the environmental impact of e-waste?</a:t>
            </a:r>
            <a:endParaRPr b="1" sz="2400"/>
          </a:p>
        </p:txBody>
      </p:sp>
      <p:pic>
        <p:nvPicPr>
          <p:cNvPr id="183" name="Google Shape;183;p25"/>
          <p:cNvPicPr preferRelativeResize="0"/>
          <p:nvPr/>
        </p:nvPicPr>
        <p:blipFill rotWithShape="1">
          <a:blip r:embed="rId3">
            <a:alphaModFix/>
          </a:blip>
          <a:srcRect b="0" l="0" r="0" t="0"/>
          <a:stretch/>
        </p:blipFill>
        <p:spPr>
          <a:xfrm>
            <a:off x="914400" y="3110508"/>
            <a:ext cx="10363200" cy="30664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1570382" y="834888"/>
            <a:ext cx="10621618"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3</a:t>
            </a:r>
            <a:endParaRPr/>
          </a:p>
        </p:txBody>
      </p:sp>
      <p:pic>
        <p:nvPicPr>
          <p:cNvPr descr="A picture containing athletic game, basketball, sport&#10;&#10;Description automatically generated" id="189" name="Google Shape;189;p26"/>
          <p:cNvPicPr preferRelativeResize="0"/>
          <p:nvPr/>
        </p:nvPicPr>
        <p:blipFill rotWithShape="1">
          <a:blip r:embed="rId3">
            <a:alphaModFix/>
          </a:blip>
          <a:srcRect b="0" l="0" r="0" t="0"/>
          <a:stretch/>
        </p:blipFill>
        <p:spPr>
          <a:xfrm>
            <a:off x="3890553" y="2042810"/>
            <a:ext cx="4410894" cy="43217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