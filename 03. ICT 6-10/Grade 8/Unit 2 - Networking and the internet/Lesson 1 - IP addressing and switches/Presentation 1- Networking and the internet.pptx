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74" r:id="rId6"/>
    <p:sldId id="259" r:id="rId7"/>
    <p:sldId id="275" r:id="rId8"/>
    <p:sldId id="260" r:id="rId9"/>
    <p:sldId id="276" r:id="rId10"/>
    <p:sldId id="261" r:id="rId11"/>
    <p:sldId id="277" r:id="rId12"/>
    <p:sldId id="278" r:id="rId13"/>
    <p:sldId id="279" r:id="rId14"/>
    <p:sldId id="262" r:id="rId15"/>
    <p:sldId id="280" r:id="rId16"/>
    <p:sldId id="281" r:id="rId17"/>
    <p:sldId id="282" r:id="rId18"/>
    <p:sldId id="283" r:id="rId19"/>
    <p:sldId id="28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4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3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FEDAC554-0635-7742-969A-A6C2C4C2DD4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794"/>
            <a:ext cx="12217999" cy="162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B9C3-E44C-4313-895D-D43DD1C9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2454" y="2908951"/>
            <a:ext cx="5857711" cy="1628214"/>
          </a:xfrm>
        </p:spPr>
        <p:txBody>
          <a:bodyPr>
            <a:noAutofit/>
          </a:bodyPr>
          <a:lstStyle/>
          <a:p>
            <a:pPr algn="r"/>
            <a:r>
              <a:rPr lang="en-GB" b="1" dirty="0"/>
              <a:t>Networking and the internet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6DB13-257C-4484-9CB0-C755672B55D3}"/>
              </a:ext>
            </a:extLst>
          </p:cNvPr>
          <p:cNvSpPr/>
          <p:nvPr/>
        </p:nvSpPr>
        <p:spPr>
          <a:xfrm>
            <a:off x="2936472" y="4537165"/>
            <a:ext cx="41236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1: IP addressing and switches </a:t>
            </a:r>
            <a:endParaRPr lang="en-GB" sz="2000" b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01A13E-D4B0-0A4E-9DCA-8DA64097C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297" y="2908950"/>
            <a:ext cx="2937413" cy="22678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018" y="854765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BE0A-41D5-4110-A78D-A6ACD33DE78B}"/>
              </a:ext>
            </a:extLst>
          </p:cNvPr>
          <p:cNvSpPr/>
          <p:nvPr/>
        </p:nvSpPr>
        <p:spPr>
          <a:xfrm>
            <a:off x="1630018" y="2046520"/>
            <a:ext cx="1028539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ea typeface="Times New Roman" panose="02020603050405020304" pitchFamily="18" charset="0"/>
              </a:rPr>
              <a:t>In this lesson, you will learn: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the format for an IP address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the purpose of an IP address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the difference between public and private IP addresses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the purpose and function of a switch.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Addresses are important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0322" y="2198529"/>
            <a:ext cx="328776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Postal workers and delivery drivers need to know your address to be able to deliver post and parcels to your home.</a:t>
            </a:r>
          </a:p>
          <a:p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Other than your home address, what other ‘addresses’ do you have?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6" descr="A picture containing LEGO, toy&#10;&#10;Description automatically generated">
            <a:extLst>
              <a:ext uri="{FF2B5EF4-FFF2-40B4-BE49-F238E27FC236}">
                <a16:creationId xmlns:a16="http://schemas.microsoft.com/office/drawing/2014/main" id="{AE670897-86FA-4089-BE6A-6253C2448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559" y="1843852"/>
            <a:ext cx="6447999" cy="44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IP addresses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0322" y="2459504"/>
            <a:ext cx="500932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Each device on a network has a unique </a:t>
            </a:r>
            <a:r>
              <a:rPr lang="en-GB" sz="2400" b="1" dirty="0">
                <a:solidFill>
                  <a:srgbClr val="7049A8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IP address</a:t>
            </a: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just like each home has a unique address and each phone has a unique phone number, so that data can be sent to the correct place.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44B477-7CD3-4009-80FC-5D761AF21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409" y="1710162"/>
            <a:ext cx="3327298" cy="465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02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Rules for IP addresses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0322" y="2198529"/>
            <a:ext cx="817990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‘IP’ stands for ‘Internet Protocol’. A </a:t>
            </a:r>
            <a:r>
              <a:rPr lang="en-GB" sz="2800" b="1" dirty="0">
                <a:solidFill>
                  <a:srgbClr val="7030A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protocol</a:t>
            </a:r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is a set of rules, and the Internet Protocol is a specific set of rules for how to transmit data from one device to another.</a:t>
            </a:r>
          </a:p>
          <a:p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All IP addresses must contain four numbers between 0 and 255, separated by full stops. </a:t>
            </a:r>
          </a:p>
          <a:p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 example: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EA8F82-51B0-6746-85C4-2A39BE9901F1}"/>
              </a:ext>
            </a:extLst>
          </p:cNvPr>
          <p:cNvSpPr/>
          <p:nvPr/>
        </p:nvSpPr>
        <p:spPr>
          <a:xfrm>
            <a:off x="3768355" y="4746750"/>
            <a:ext cx="38038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217.83.0.12</a:t>
            </a:r>
            <a:endParaRPr lang="en-GB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150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775252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Invalid IP addresses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92AB-7463-4849-AFE8-C91C20C45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758" y="2223190"/>
            <a:ext cx="9824360" cy="1812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000" dirty="0"/>
              <a:t>What is the problem with these IP addresses?</a:t>
            </a:r>
          </a:p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444517-7ECD-C04B-98CA-58A23C709FB8}"/>
              </a:ext>
            </a:extLst>
          </p:cNvPr>
          <p:cNvSpPr/>
          <p:nvPr/>
        </p:nvSpPr>
        <p:spPr>
          <a:xfrm>
            <a:off x="4476005" y="2954825"/>
            <a:ext cx="3413114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GB" sz="3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83.12.217.0.162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sz="3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217.83.12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sz="3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217.83.0.256</a:t>
            </a:r>
          </a:p>
        </p:txBody>
      </p:sp>
    </p:spTree>
    <p:extLst>
      <p:ext uri="{BB962C8B-B14F-4D97-AF65-F5344CB8AC3E}">
        <p14:creationId xmlns:p14="http://schemas.microsoft.com/office/powerpoint/2010/main" val="300574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34888"/>
            <a:ext cx="9733721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1.1: IP address format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1F420D-4234-664A-80A1-F46AFD0F8258}"/>
              </a:ext>
            </a:extLst>
          </p:cNvPr>
          <p:cNvSpPr/>
          <p:nvPr/>
        </p:nvSpPr>
        <p:spPr>
          <a:xfrm>
            <a:off x="8153814" y="5361370"/>
            <a:ext cx="38445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ea typeface="Times New Roman" panose="02020603050405020304" pitchFamily="18" charset="0"/>
                <a:cs typeface="Calibri" panose="020F0502020204030204" pitchFamily="34" charset="0"/>
              </a:rPr>
              <a:t>Complete Interactive 1.1</a:t>
            </a:r>
            <a:r>
              <a:rPr lang="en-GB" sz="2800" dirty="0"/>
              <a:t> 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218107-2A88-4664-955E-7824A04A2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61" y="1894764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21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B0F3-7F56-4F5C-81F1-A743D46BD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844826"/>
            <a:ext cx="10515600" cy="775252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Finding your IP address on a Windows computer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FB485-6993-428E-81B4-749465982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084042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Press the Windows key and type </a:t>
            </a:r>
            <a:r>
              <a:rPr lang="en-GB" dirty="0" err="1">
                <a:latin typeface="Courier" pitchFamily="2" charset="0"/>
              </a:rPr>
              <a:t>cmd</a:t>
            </a:r>
            <a:r>
              <a:rPr lang="en-GB" dirty="0"/>
              <a:t> to open the Command Prompt (</a:t>
            </a:r>
            <a:r>
              <a:rPr lang="en-GB" dirty="0" err="1"/>
              <a:t>CMD</a:t>
            </a:r>
            <a:r>
              <a:rPr lang="en-GB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Type the command </a:t>
            </a:r>
            <a:r>
              <a:rPr lang="en-GB" dirty="0">
                <a:latin typeface="Courier" pitchFamily="2" charset="0"/>
              </a:rPr>
              <a:t>ipconfig</a:t>
            </a:r>
            <a:r>
              <a:rPr lang="en-GB" dirty="0"/>
              <a:t> and press the Return key.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57CC86-EF38-4DF1-89E5-775A7356C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046" y="4026147"/>
            <a:ext cx="7461907" cy="176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70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B0F3-7F56-4F5C-81F1-A743D46BD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844826"/>
            <a:ext cx="10515600" cy="775252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Finding your IP address on a Windows computer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FB485-6993-428E-81B4-749465982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08404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3.  Look for your IPv4 address.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8C832145-EDE5-43D9-A6A7-C9C5A6858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995" y="3429000"/>
            <a:ext cx="6154009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947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4BA82-FE7D-4DE6-BC00-A388E38B6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442" y="834888"/>
            <a:ext cx="10724323" cy="775252"/>
          </a:xfrm>
        </p:spPr>
        <p:txBody>
          <a:bodyPr>
            <a:noAutofit/>
          </a:bodyPr>
          <a:lstStyle/>
          <a:p>
            <a:r>
              <a:rPr lang="en-GB" sz="3000" b="1" dirty="0">
                <a:solidFill>
                  <a:schemeClr val="bg1"/>
                </a:solidFill>
              </a:rPr>
              <a:t>Finding your IP address on a MacOS computer or a Linux computer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89CB4-E14F-4A81-9700-8E0CB5DA8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695" y="2507238"/>
            <a:ext cx="9044610" cy="184352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Go to the Utilities folder inside the Applications folder and open the Terminal application.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Type the command </a:t>
            </a:r>
            <a:r>
              <a:rPr lang="en-GB" dirty="0">
                <a:latin typeface="Courier" pitchFamily="2" charset="0"/>
              </a:rPr>
              <a:t>ipconfig </a:t>
            </a:r>
            <a:r>
              <a:rPr lang="en-GB" dirty="0" err="1">
                <a:latin typeface="Courier" pitchFamily="2" charset="0"/>
              </a:rPr>
              <a:t>getifaddr</a:t>
            </a:r>
            <a:r>
              <a:rPr lang="en-GB" dirty="0">
                <a:latin typeface="Courier" pitchFamily="2" charset="0"/>
              </a:rPr>
              <a:t> en0</a:t>
            </a:r>
            <a:r>
              <a:rPr lang="en-GB" dirty="0"/>
              <a:t> and press the Return key.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5003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4BA82-FE7D-4DE6-BC00-A388E38B6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442" y="834888"/>
            <a:ext cx="10724323" cy="775252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Public and private IP addresses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89CB4-E14F-4A81-9700-8E0CB5DA8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442" y="2245982"/>
            <a:ext cx="8410872" cy="288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The IP protocol allows for a little over 4 billion possible IP addresses. This means there are not enough IP addresses for every device in the world.</a:t>
            </a:r>
          </a:p>
          <a:p>
            <a:pPr marL="0" indent="0">
              <a:buNone/>
            </a:pPr>
            <a:r>
              <a:rPr lang="en-GB" sz="2400" dirty="0"/>
              <a:t>Consequently, IP addresses are divided into public IP addresses and private IP addresses.</a:t>
            </a:r>
          </a:p>
          <a:p>
            <a:pPr marL="0" indent="0">
              <a:buNone/>
            </a:pPr>
            <a:r>
              <a:rPr lang="en-GB" sz="2400" b="1" dirty="0">
                <a:solidFill>
                  <a:srgbClr val="7049A8"/>
                </a:solidFill>
              </a:rPr>
              <a:t>Public IP addresses </a:t>
            </a:r>
            <a:r>
              <a:rPr lang="en-GB" sz="2400" dirty="0"/>
              <a:t>are unique and allow devices to access the internet directly.</a:t>
            </a:r>
          </a:p>
        </p:txBody>
      </p:sp>
    </p:spTree>
    <p:extLst>
      <p:ext uri="{BB962C8B-B14F-4D97-AF65-F5344CB8AC3E}">
        <p14:creationId xmlns:p14="http://schemas.microsoft.com/office/powerpoint/2010/main" val="2153425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4BA82-FE7D-4DE6-BC00-A388E38B6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442" y="834888"/>
            <a:ext cx="10724323" cy="775252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Public and private IP addresses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89CB4-E14F-4A81-9700-8E0CB5DA8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442" y="2084042"/>
            <a:ext cx="925560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rgbClr val="7049A8"/>
                </a:solidFill>
              </a:rPr>
              <a:t>Private IP addresses</a:t>
            </a:r>
            <a:r>
              <a:rPr lang="en-GB" sz="2400" dirty="0">
                <a:solidFill>
                  <a:srgbClr val="7049A8"/>
                </a:solidFill>
              </a:rPr>
              <a:t> </a:t>
            </a:r>
            <a:r>
              <a:rPr lang="en-GB" sz="2400" dirty="0"/>
              <a:t>allow devices to connect to the network, which then connects to the internet.</a:t>
            </a:r>
          </a:p>
          <a:p>
            <a:pPr marL="0" indent="0">
              <a:buNone/>
            </a:pPr>
            <a:r>
              <a:rPr lang="en-GB" sz="2400" dirty="0"/>
              <a:t>Private IP addresses work like an internal phone network with extension numbers. Two different networks can use the same private IP addresses, reducing the need for unique IP addresses.</a:t>
            </a:r>
          </a:p>
          <a:p>
            <a:pPr marL="0" indent="0">
              <a:buNone/>
            </a:pPr>
            <a:r>
              <a:rPr lang="en-GB" sz="2400" dirty="0"/>
              <a:t>Private IP addresses start with one of the following numbers:</a:t>
            </a:r>
          </a:p>
          <a:p>
            <a:r>
              <a:rPr lang="en-GB" sz="2400" dirty="0"/>
              <a:t>192.168.x.x (usually used for home networks)</a:t>
            </a:r>
          </a:p>
          <a:p>
            <a:r>
              <a:rPr lang="en-GB" sz="2400" dirty="0"/>
              <a:t>172.x.x.x (typically used for larger networks, like a home or school network)</a:t>
            </a:r>
          </a:p>
          <a:p>
            <a:r>
              <a:rPr lang="en-GB" sz="2400" dirty="0"/>
              <a:t>10.x.x.x (typically used for larger networks, like a home or school network).</a:t>
            </a:r>
          </a:p>
        </p:txBody>
      </p:sp>
    </p:spTree>
    <p:extLst>
      <p:ext uri="{BB962C8B-B14F-4D97-AF65-F5344CB8AC3E}">
        <p14:creationId xmlns:p14="http://schemas.microsoft.com/office/powerpoint/2010/main" val="880867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34888"/>
            <a:ext cx="9733721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1.2: Public or private?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1F420D-4234-664A-80A1-F46AFD0F8258}"/>
              </a:ext>
            </a:extLst>
          </p:cNvPr>
          <p:cNvSpPr/>
          <p:nvPr/>
        </p:nvSpPr>
        <p:spPr>
          <a:xfrm>
            <a:off x="8153814" y="5361370"/>
            <a:ext cx="38445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ea typeface="Times New Roman" panose="02020603050405020304" pitchFamily="18" charset="0"/>
                <a:cs typeface="Calibri" panose="020F0502020204030204" pitchFamily="34" charset="0"/>
              </a:rPr>
              <a:t>Complete Interactive 1.2</a:t>
            </a:r>
            <a:r>
              <a:rPr lang="en-GB" sz="2800" dirty="0"/>
              <a:t> 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52A1DF-7447-412E-9200-93A471757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61" y="1894764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48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468A-662A-4290-A763-CBC919D3C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815009"/>
            <a:ext cx="9753600" cy="80506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Network hardware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89632-8C78-45F6-A718-168D82D91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247212"/>
            <a:ext cx="5140234" cy="2363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Devices on a network need to connect to each other. But, if they connected to each other directly, we would need </a:t>
            </a:r>
            <a:r>
              <a:rPr lang="en-GB" sz="2400" i="1" dirty="0"/>
              <a:t>A LOT </a:t>
            </a:r>
            <a:r>
              <a:rPr lang="en-GB" sz="2400" dirty="0"/>
              <a:t>of cable.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2B1C88-75B0-41A6-9037-F65DAE627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8256" y="1805287"/>
            <a:ext cx="3177540" cy="440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36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468A-662A-4290-A763-CBC919D3C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815009"/>
            <a:ext cx="9753600" cy="80506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Switches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89632-8C78-45F6-A718-168D82D91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1" y="2103921"/>
            <a:ext cx="5523410" cy="3765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We use a </a:t>
            </a:r>
            <a:r>
              <a:rPr lang="en-GB" sz="2400" b="1" dirty="0">
                <a:solidFill>
                  <a:srgbClr val="7049A8"/>
                </a:solidFill>
              </a:rPr>
              <a:t>switch</a:t>
            </a:r>
            <a:r>
              <a:rPr lang="en-GB" sz="2400" dirty="0"/>
              <a:t> to connect the devices on a network.</a:t>
            </a:r>
          </a:p>
          <a:p>
            <a:pPr marL="0" indent="0">
              <a:buNone/>
            </a:pPr>
            <a:r>
              <a:rPr lang="en-GB" sz="2400" dirty="0"/>
              <a:t>Data is sent from a device to the switch. The switch reads the destination IP address of the data and sends it to the right device.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Large networks may have more than one switch and the data passes through more than one switch on its way to the destination IP address.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E491DA-F174-4B76-97BA-CB789D46C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8257" y="1813996"/>
            <a:ext cx="3177540" cy="439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505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468A-662A-4290-A763-CBC919D3C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199" y="815009"/>
            <a:ext cx="10455965" cy="805069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Routers and public and private IP addresses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89632-8C78-45F6-A718-168D82D91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199" y="2321235"/>
            <a:ext cx="8153400" cy="22155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If the destination IP address is a public IP addresses, the switch passes the data to the internet connection.</a:t>
            </a:r>
          </a:p>
          <a:p>
            <a:pPr marL="0" indent="0">
              <a:buNone/>
            </a:pPr>
            <a:r>
              <a:rPr lang="en-GB" sz="2400" dirty="0"/>
              <a:t>If the destination IP address is a private IP address, the switch passes the data directly to the device.</a:t>
            </a:r>
          </a:p>
        </p:txBody>
      </p:sp>
    </p:spTree>
    <p:extLst>
      <p:ext uri="{BB962C8B-B14F-4D97-AF65-F5344CB8AC3E}">
        <p14:creationId xmlns:p14="http://schemas.microsoft.com/office/powerpoint/2010/main" val="2718763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34888"/>
            <a:ext cx="9733721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1.3: Switch game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1F420D-4234-664A-80A1-F46AFD0F8258}"/>
              </a:ext>
            </a:extLst>
          </p:cNvPr>
          <p:cNvSpPr/>
          <p:nvPr/>
        </p:nvSpPr>
        <p:spPr>
          <a:xfrm>
            <a:off x="8153814" y="5361370"/>
            <a:ext cx="38445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ea typeface="Times New Roman" panose="02020603050405020304" pitchFamily="18" charset="0"/>
                <a:cs typeface="Calibri" panose="020F0502020204030204" pitchFamily="34" charset="0"/>
              </a:rPr>
              <a:t>Complete Interactive 1.3</a:t>
            </a:r>
            <a:r>
              <a:rPr lang="en-GB" sz="2800" dirty="0"/>
              <a:t> 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AE385-BF56-426A-BAC4-3FD2EBE78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61" y="1894764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32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34888"/>
            <a:ext cx="9733721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1.4: Toppers (Part 1)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F9D7A9-A2E4-4F75-ABA4-254D46ADC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61" y="1894764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658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34888"/>
            <a:ext cx="9733721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Quiz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1754A8-B088-46AA-B04B-5631AEA79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61" y="1894764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985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662</Words>
  <Application>Microsoft Office PowerPoint</Application>
  <PresentationFormat>Widescreen</PresentationFormat>
  <Paragraphs>59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Courier</vt:lpstr>
      <vt:lpstr>Symbol</vt:lpstr>
      <vt:lpstr>Times New Roman</vt:lpstr>
      <vt:lpstr>Office Theme</vt:lpstr>
      <vt:lpstr>Networking and the internet</vt:lpstr>
      <vt:lpstr>Objectives</vt:lpstr>
      <vt:lpstr>Addresses are important </vt:lpstr>
      <vt:lpstr>IP addresses </vt:lpstr>
      <vt:lpstr>Rules for IP addresses </vt:lpstr>
      <vt:lpstr>Invalid IP addresses </vt:lpstr>
      <vt:lpstr>Activity 1.1: IP address format </vt:lpstr>
      <vt:lpstr>Finding your IP address on a Windows computer  </vt:lpstr>
      <vt:lpstr>Finding your IP address on a Windows computer  </vt:lpstr>
      <vt:lpstr>Finding your IP address on a MacOS computer or a Linux computer </vt:lpstr>
      <vt:lpstr>Public and private IP addresses </vt:lpstr>
      <vt:lpstr>Public and private IP addresses </vt:lpstr>
      <vt:lpstr>Activity 1.2: Public or private? </vt:lpstr>
      <vt:lpstr>Network hardware </vt:lpstr>
      <vt:lpstr>Switches </vt:lpstr>
      <vt:lpstr>Routers and public and private IP addresses </vt:lpstr>
      <vt:lpstr>Activity 1.3: Switch game </vt:lpstr>
      <vt:lpstr>Activity 1.4: Toppers (Part 1)</vt:lpstr>
      <vt:lpstr>Quiz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Lea Albrechtsen</cp:lastModifiedBy>
  <cp:revision>34</cp:revision>
  <dcterms:created xsi:type="dcterms:W3CDTF">2020-11-04T15:22:46Z</dcterms:created>
  <dcterms:modified xsi:type="dcterms:W3CDTF">2021-06-04T10:00:29Z</dcterms:modified>
</cp:coreProperties>
</file>