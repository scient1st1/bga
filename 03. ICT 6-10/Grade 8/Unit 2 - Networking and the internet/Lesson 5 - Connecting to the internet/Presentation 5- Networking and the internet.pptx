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85" r:id="rId7"/>
    <p:sldId id="286" r:id="rId8"/>
    <p:sldId id="287" r:id="rId9"/>
    <p:sldId id="259" r:id="rId10"/>
    <p:sldId id="288" r:id="rId11"/>
    <p:sldId id="289" r:id="rId12"/>
    <p:sldId id="290" r:id="rId13"/>
    <p:sldId id="291" r:id="rId14"/>
    <p:sldId id="292" r:id="rId15"/>
    <p:sldId id="275" r:id="rId16"/>
    <p:sldId id="293" r:id="rId17"/>
    <p:sldId id="294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4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FEDAC554-0635-7742-969A-A6C2C4C2DD4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94"/>
            <a:ext cx="12217999" cy="162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FE4F17-21BA-4996-9377-9C7EEDC8F29E}"/>
              </a:ext>
            </a:extLst>
          </p:cNvPr>
          <p:cNvSpPr/>
          <p:nvPr/>
        </p:nvSpPr>
        <p:spPr>
          <a:xfrm>
            <a:off x="3031626" y="4537165"/>
            <a:ext cx="40285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5: Connecting to the internet</a:t>
            </a:r>
            <a:endParaRPr lang="en-GB" sz="2000" b="1" dirty="0">
              <a:solidFill>
                <a:srgbClr val="7030A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E244A21-BE91-42D7-8688-2379FD879684}"/>
              </a:ext>
            </a:extLst>
          </p:cNvPr>
          <p:cNvSpPr txBox="1">
            <a:spLocks/>
          </p:cNvSpPr>
          <p:nvPr/>
        </p:nvSpPr>
        <p:spPr>
          <a:xfrm>
            <a:off x="1202454" y="2908951"/>
            <a:ext cx="5857711" cy="16282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 dirty="0"/>
              <a:t>Networking and the internet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61A974-B76A-4484-AEC6-B723DAA72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297" y="2908950"/>
            <a:ext cx="2937413" cy="22678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8" y="854765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30018" y="2213282"/>
            <a:ext cx="9054547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the features of wired network connections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how Wi-Fi connections work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different methods of wirelessly connecting to the internet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about the security risks of using public hotspots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how to decide which method of connecting to the internet to use.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1D204D-6BC6-4C56-AB01-F7DECCEA6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006" y="3219281"/>
            <a:ext cx="4222212" cy="29555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Network connections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3" y="1815804"/>
            <a:ext cx="8179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There are two main ways to connect to a network.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6E97F5-0B61-9145-9CCD-F4C4CE646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52872"/>
              </p:ext>
            </p:extLst>
          </p:nvPr>
        </p:nvGraphicFramePr>
        <p:xfrm>
          <a:off x="1580322" y="2493940"/>
          <a:ext cx="8745365" cy="3821568"/>
        </p:xfrm>
        <a:graphic>
          <a:graphicData uri="http://schemas.openxmlformats.org/drawingml/2006/table">
            <a:tbl>
              <a:tblPr/>
              <a:tblGrid>
                <a:gridCol w="4280208">
                  <a:extLst>
                    <a:ext uri="{9D8B030D-6E8A-4147-A177-3AD203B41FA5}">
                      <a16:colId xmlns:a16="http://schemas.microsoft.com/office/drawing/2014/main" val="550913407"/>
                    </a:ext>
                  </a:extLst>
                </a:gridCol>
                <a:gridCol w="4465157">
                  <a:extLst>
                    <a:ext uri="{9D8B030D-6E8A-4147-A177-3AD203B41FA5}">
                      <a16:colId xmlns:a16="http://schemas.microsoft.com/office/drawing/2014/main" val="3177583782"/>
                    </a:ext>
                  </a:extLst>
                </a:gridCol>
              </a:tblGrid>
              <a:tr h="3821568"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Wired:</a:t>
                      </a:r>
                      <a:r>
                        <a:rPr lang="en-GB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GB" sz="1800" b="1" dirty="0">
                          <a:solidFill>
                            <a:srgbClr val="7049A8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Ethernet</a:t>
                      </a:r>
                      <a:r>
                        <a:rPr lang="en-GB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cables</a:t>
                      </a:r>
                      <a:endParaRPr lang="en-GB" sz="18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r>
                        <a:rPr lang="en-GB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Offices and classrooms usually use a cabled network connection.</a:t>
                      </a:r>
                    </a:p>
                    <a:p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59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59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59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59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Wireless:</a:t>
                      </a:r>
                      <a:r>
                        <a:rPr lang="en-GB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GB" sz="1800" b="1" dirty="0">
                          <a:solidFill>
                            <a:srgbClr val="7049A8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Wi-Fi</a:t>
                      </a:r>
                      <a:endParaRPr lang="en-GB" sz="1800" dirty="0">
                        <a:solidFill>
                          <a:srgbClr val="7049A8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  <a:p>
                      <a:r>
                        <a:rPr lang="en-GB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People usually use a wireless network connection in their homes.</a:t>
                      </a:r>
                    </a:p>
                    <a:p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759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759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759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759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000368"/>
                  </a:ext>
                </a:extLst>
              </a:tr>
            </a:tbl>
          </a:graphicData>
        </a:graphic>
      </p:graphicFrame>
      <p:pic>
        <p:nvPicPr>
          <p:cNvPr id="5" name="Picture 4" descr="A picture containing cable, connector&#10;&#10;Description automatically generated">
            <a:extLst>
              <a:ext uri="{FF2B5EF4-FFF2-40B4-BE49-F238E27FC236}">
                <a16:creationId xmlns:a16="http://schemas.microsoft.com/office/drawing/2014/main" id="{F0285CF3-BBA9-4DBB-9E55-626961328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596" y="3356961"/>
            <a:ext cx="4222213" cy="281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Wired connections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198529"/>
            <a:ext cx="558857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Advantages: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Stable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Reliable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Fast</a:t>
            </a:r>
          </a:p>
          <a:p>
            <a:r>
              <a:rPr lang="en-GB" sz="2400" dirty="0"/>
              <a:t>Disadvantages: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You need to buy cabling.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You need to install cabling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You cannot move around and stay connected to the network.</a:t>
            </a:r>
          </a:p>
        </p:txBody>
      </p:sp>
      <p:pic>
        <p:nvPicPr>
          <p:cNvPr id="6" name="Picture 5" descr="A picture containing jack&#10;&#10;Description automatically generated">
            <a:extLst>
              <a:ext uri="{FF2B5EF4-FFF2-40B4-BE49-F238E27FC236}">
                <a16:creationId xmlns:a16="http://schemas.microsoft.com/office/drawing/2014/main" id="{8752810A-C6E1-4E24-9E0E-465D82EFD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017" y="2198530"/>
            <a:ext cx="4554222" cy="34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0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device&#10;&#10;Description automatically generated">
            <a:extLst>
              <a:ext uri="{FF2B5EF4-FFF2-40B4-BE49-F238E27FC236}">
                <a16:creationId xmlns:a16="http://schemas.microsoft.com/office/drawing/2014/main" id="{DA945C7B-717C-4708-B0F5-EED4DB9C7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513" y="2359354"/>
            <a:ext cx="4753440" cy="3309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Wi-Fi</a:t>
            </a:r>
            <a:r>
              <a:rPr lang="en-GB" dirty="0">
                <a:solidFill>
                  <a:schemeClr val="bg1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359354"/>
            <a:ext cx="66393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Wi-Fi uses radio waves transmitted to and from a wireless access point to send data through the air.</a:t>
            </a:r>
          </a:p>
          <a:p>
            <a:r>
              <a:rPr lang="en-GB" sz="2400" dirty="0"/>
              <a:t>Any device that is connected to the network and in range of the wireless access point can send and receive data using Wi-Fi.</a:t>
            </a:r>
          </a:p>
          <a:p>
            <a:r>
              <a:rPr lang="en-GB" sz="2400" dirty="0"/>
              <a:t>You can turn a wired network into a wireless network by adding a wireless access point.</a:t>
            </a:r>
          </a:p>
        </p:txBody>
      </p:sp>
    </p:spTree>
    <p:extLst>
      <p:ext uri="{BB962C8B-B14F-4D97-AF65-F5344CB8AC3E}">
        <p14:creationId xmlns:p14="http://schemas.microsoft.com/office/powerpoint/2010/main" val="245415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Problems with Wi-Fi </a:t>
            </a:r>
            <a:r>
              <a:rPr lang="en-GB" dirty="0">
                <a:solidFill>
                  <a:schemeClr val="bg1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411943"/>
            <a:ext cx="865698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All devices in range can pick up a Wi-Fi signal. This means anyone nearby can eavesdrop on the data communicated over a Wi-Fi network.</a:t>
            </a:r>
          </a:p>
          <a:p>
            <a:r>
              <a:rPr lang="en-GB" sz="2400" dirty="0"/>
              <a:t>This is why you must make sure your home Wi-Fi is </a:t>
            </a:r>
            <a:r>
              <a:rPr lang="en-GB" sz="2400" b="1" dirty="0">
                <a:solidFill>
                  <a:srgbClr val="7049A8"/>
                </a:solidFill>
              </a:rPr>
              <a:t>encrypted</a:t>
            </a:r>
            <a:r>
              <a:rPr lang="en-GB" sz="2400" dirty="0"/>
              <a:t>. Encrypted data can still be intercepted, but the eavesdropper is unlikely to understand it.</a:t>
            </a:r>
          </a:p>
          <a:p>
            <a:r>
              <a:rPr lang="en-GB" sz="2400" dirty="0"/>
              <a:t>This is also why you must password-protect your home Wi-Fi network, so that only people with the password can gain access to the network.</a:t>
            </a:r>
          </a:p>
        </p:txBody>
      </p:sp>
    </p:spTree>
    <p:extLst>
      <p:ext uri="{BB962C8B-B14F-4D97-AF65-F5344CB8AC3E}">
        <p14:creationId xmlns:p14="http://schemas.microsoft.com/office/powerpoint/2010/main" val="1662146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Problems with Wi-Fi </a:t>
            </a:r>
            <a:r>
              <a:rPr lang="en-GB" dirty="0">
                <a:solidFill>
                  <a:schemeClr val="bg1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1" y="2007731"/>
            <a:ext cx="431358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Wi-Fi signals are generally less stable, less reliable and slower than wired connections.</a:t>
            </a:r>
          </a:p>
          <a:p>
            <a:r>
              <a:rPr lang="en-GB" sz="2400" dirty="0"/>
              <a:t>Wi-Fi signals are relatively short-range, so you may not get a good signal in all rooms without a Wi-Fi repeater boosting the signal.</a:t>
            </a:r>
          </a:p>
          <a:p>
            <a:r>
              <a:rPr lang="en-GB" sz="2400" dirty="0"/>
              <a:t>Thick walls and electronic devices, such as fridges and microwave ovens, can interfere with a Wi-Fi signal.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4B47A8DF-E3DB-4B8A-A6FB-6E4896D24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76755"/>
            <a:ext cx="5709215" cy="401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0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5.1: Wired vs wireless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17005-6260-4E36-92AA-1B672E53E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1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Connecting to the internet wirelessly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2183434"/>
            <a:ext cx="9824360" cy="18127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There are three main ways to connect to the internet wirelessly: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Private Wi-Fi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Public hotspot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Mobile data</a:t>
            </a:r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EA6AAF66-1587-4393-8D91-A63AC7661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150" y="2906025"/>
            <a:ext cx="5933753" cy="333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Private Wi-Fi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459504"/>
            <a:ext cx="9026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You can usually connect to private Wi-Fi at home, work or school.</a:t>
            </a:r>
          </a:p>
          <a:p>
            <a:r>
              <a:rPr lang="en-GB" sz="2400" dirty="0"/>
              <a:t>Private Wi-Fi is secure. Access to the network is password protected and the data is almost always encrypted.</a:t>
            </a:r>
          </a:p>
          <a:p>
            <a:r>
              <a:rPr lang="en-GB" sz="2400" dirty="0"/>
              <a:t>Unfortunately, as soon as you leave home, work or school, you lose the connection.</a:t>
            </a:r>
          </a:p>
        </p:txBody>
      </p:sp>
    </p:spTree>
    <p:extLst>
      <p:ext uri="{BB962C8B-B14F-4D97-AF65-F5344CB8AC3E}">
        <p14:creationId xmlns:p14="http://schemas.microsoft.com/office/powerpoint/2010/main" val="415022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Public hotspots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1956519"/>
            <a:ext cx="5759365" cy="43272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7049A8"/>
                </a:solidFill>
              </a:rPr>
              <a:t>Public hotspots</a:t>
            </a:r>
            <a:r>
              <a:rPr lang="en-GB" sz="2400" dirty="0">
                <a:solidFill>
                  <a:srgbClr val="7049A8"/>
                </a:solidFill>
              </a:rPr>
              <a:t> </a:t>
            </a:r>
            <a:r>
              <a:rPr lang="en-GB" sz="2400" dirty="0"/>
              <a:t>are found in public places like hotels, coffee shops and trains.</a:t>
            </a:r>
          </a:p>
          <a:p>
            <a:pPr marL="0" indent="0">
              <a:buNone/>
            </a:pPr>
            <a:r>
              <a:rPr lang="en-GB" sz="2400" dirty="0"/>
              <a:t>Everyone can access public hotspots. Access is usually free, although sometimes you must sign in by entering your details via a web page.</a:t>
            </a:r>
          </a:p>
          <a:p>
            <a:pPr marL="0" indent="0">
              <a:buNone/>
            </a:pPr>
            <a:r>
              <a:rPr lang="en-GB" sz="2400" dirty="0"/>
              <a:t>Connection is usually slow, although some public hotspots offer a free low-speed service and a paid-for high-speed service.</a:t>
            </a:r>
          </a:p>
          <a:p>
            <a:pPr marL="0" indent="0">
              <a:buNone/>
            </a:pPr>
            <a:r>
              <a:rPr lang="en-GB" sz="2400" dirty="0"/>
              <a:t>As with private Wi-Fi, as soon as you leave the hotel or coffee shop, you lose the connection.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05A26A-A2B1-4F33-8FBB-C91ACF66B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443" y="1955620"/>
            <a:ext cx="3791712" cy="43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6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Public hotspots: DANGER!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1956519"/>
            <a:ext cx="5076681" cy="41262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Many public hotspots are unencrypted. Anyone nearby can intercept your data and steal your passwords!</a:t>
            </a:r>
          </a:p>
          <a:p>
            <a:pPr marL="0" indent="0">
              <a:buNone/>
            </a:pPr>
            <a:r>
              <a:rPr lang="en-GB" sz="2400" dirty="0"/>
              <a:t>Cyber criminals set up public hotspots, using names like ‘</a:t>
            </a:r>
            <a:r>
              <a:rPr lang="en-GB" sz="2400" dirty="0" err="1"/>
              <a:t>CoffeeShopWifi</a:t>
            </a:r>
            <a:r>
              <a:rPr lang="en-GB" sz="2400" dirty="0"/>
              <a:t>’, to entice you to connect to them and share your personal data.</a:t>
            </a:r>
          </a:p>
          <a:p>
            <a:pPr marL="0" indent="0">
              <a:buNone/>
            </a:pPr>
            <a:r>
              <a:rPr lang="en-GB" sz="2400" dirty="0"/>
              <a:t>If your device is set to automatically connect to a hotspot, it will connect to any hotspot with that name, regardless of whether it’s genuine or not.</a:t>
            </a:r>
          </a:p>
        </p:txBody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4B95A90F-9B78-4FB2-A256-7BF07D2DA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333" y="1780294"/>
            <a:ext cx="4702361" cy="447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30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Mobile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759" y="2229310"/>
            <a:ext cx="9229230" cy="38534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rgbClr val="7049A8"/>
                </a:solidFill>
              </a:rPr>
              <a:t>Mobile data</a:t>
            </a:r>
            <a:r>
              <a:rPr lang="en-GB" sz="2400" dirty="0">
                <a:solidFill>
                  <a:srgbClr val="7049A8"/>
                </a:solidFill>
              </a:rPr>
              <a:t> </a:t>
            </a:r>
            <a:r>
              <a:rPr lang="en-GB" sz="2400" dirty="0"/>
              <a:t>is when you use a SIM card to connect to the internet using the mobile phone network of cell towers. 2G, 3G, 4G and 5G are all types of mobile data.</a:t>
            </a:r>
          </a:p>
          <a:p>
            <a:pPr marL="0" indent="0">
              <a:buNone/>
            </a:pPr>
            <a:r>
              <a:rPr lang="en-GB" sz="2400" dirty="0"/>
              <a:t>Mobile data is encrypted and very secure and most people can get a good signal in most locations.</a:t>
            </a:r>
          </a:p>
          <a:p>
            <a:pPr marL="0" indent="0">
              <a:buNone/>
            </a:pPr>
            <a:r>
              <a:rPr lang="en-GB" sz="2400" dirty="0"/>
              <a:t>However, mobile data is expensive, especially when you use more than your contracted allowance.</a:t>
            </a:r>
          </a:p>
          <a:p>
            <a:pPr marL="0" indent="0">
              <a:buNone/>
            </a:pPr>
            <a:r>
              <a:rPr lang="en-GB" sz="2400" dirty="0"/>
              <a:t>Connection speeds can also slow considerably if lots of people use mobile data in a small area, at a festival or a sporting event. It can also be impossible to get a signal underground.</a:t>
            </a:r>
          </a:p>
        </p:txBody>
      </p:sp>
    </p:spTree>
    <p:extLst>
      <p:ext uri="{BB962C8B-B14F-4D97-AF65-F5344CB8AC3E}">
        <p14:creationId xmlns:p14="http://schemas.microsoft.com/office/powerpoint/2010/main" val="142709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Top tips for using public hotspots safely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9696" y="2765624"/>
            <a:ext cx="7271051" cy="2697925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dirty="0"/>
              <a:t>Look for the padlock to see if the hotspot is encrypted before deciding whether or not to use it.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/>
              <a:t>Never use a public hotspot to make online purchases, do online banking or send personal information.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/>
              <a:t>Never set your device to automatically connect to a public hotspot.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2B8A77-4887-44FD-9C96-B84293F2E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67" y="2146919"/>
            <a:ext cx="3034906" cy="393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5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5.2: Choosing how to connect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745D81-1BD9-4C70-B63A-65BAD5C44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21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5.3: Design a poster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A56AD9-E076-8A4B-AB53-96FA336BBABF}"/>
              </a:ext>
            </a:extLst>
          </p:cNvPr>
          <p:cNvSpPr/>
          <p:nvPr/>
        </p:nvSpPr>
        <p:spPr>
          <a:xfrm>
            <a:off x="1620078" y="2932423"/>
            <a:ext cx="41156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Design a poster for your school to remind people of the key security concerns when using public hotspots.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09553-81C1-4F30-BF6B-02ABCF541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716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62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5.4: Toppers (part 5)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D7598-EE54-47D8-967F-EEAD514CE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43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>
                <a:solidFill>
                  <a:schemeClr val="bg1"/>
                </a:solidFill>
              </a:rPr>
              <a:t>Quiz 5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5E67E0-BF94-4339-9151-9CF747312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8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795</Words>
  <Application>Microsoft Office PowerPoint</Application>
  <PresentationFormat>Widescreen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Objectives</vt:lpstr>
      <vt:lpstr>Network connections</vt:lpstr>
      <vt:lpstr>Wired connections </vt:lpstr>
      <vt:lpstr>Wi-Fi </vt:lpstr>
      <vt:lpstr>Problems with Wi-Fi  </vt:lpstr>
      <vt:lpstr>Problems with Wi-Fi  </vt:lpstr>
      <vt:lpstr>Activity 5.1: Wired vs wireless</vt:lpstr>
      <vt:lpstr>Connecting to the internet wirelessly</vt:lpstr>
      <vt:lpstr>Private Wi-Fi</vt:lpstr>
      <vt:lpstr>Public hotspots </vt:lpstr>
      <vt:lpstr>Public hotspots: DANGER! </vt:lpstr>
      <vt:lpstr>Mobile data </vt:lpstr>
      <vt:lpstr>Top tips for using public hotspots safely </vt:lpstr>
      <vt:lpstr>Activity 5.2: Choosing how to connect </vt:lpstr>
      <vt:lpstr>Activity 5.3: Design a poster </vt:lpstr>
      <vt:lpstr>Activity 5.4: Toppers (part 5) </vt:lpstr>
      <vt:lpstr>Quiz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44</cp:revision>
  <dcterms:created xsi:type="dcterms:W3CDTF">2020-11-04T15:22:46Z</dcterms:created>
  <dcterms:modified xsi:type="dcterms:W3CDTF">2021-06-04T11:47:04Z</dcterms:modified>
</cp:coreProperties>
</file>