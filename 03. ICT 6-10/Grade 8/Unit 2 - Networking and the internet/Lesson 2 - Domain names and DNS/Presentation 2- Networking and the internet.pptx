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73" r:id="rId5"/>
    <p:sldId id="274" r:id="rId6"/>
    <p:sldId id="275" r:id="rId7"/>
    <p:sldId id="260" r:id="rId8"/>
    <p:sldId id="276" r:id="rId9"/>
    <p:sldId id="279" r:id="rId10"/>
    <p:sldId id="261" r:id="rId11"/>
    <p:sldId id="285" r:id="rId12"/>
    <p:sldId id="286" r:id="rId13"/>
    <p:sldId id="287" r:id="rId14"/>
    <p:sldId id="28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ea Albrechtsen" initials="LA" lastIdx="2" clrIdx="0">
    <p:extLst>
      <p:ext uri="{19B8F6BF-5375-455C-9EA6-DF929625EA0E}">
        <p15:presenceInfo xmlns:p15="http://schemas.microsoft.com/office/powerpoint/2012/main" userId="S::Lea.Albrechtsen@hoddereducation.co.uk::4df490f3-5904-4e82-a5b6-23281874b6f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7049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636" autoAdjust="0"/>
    <p:restoredTop sz="94660"/>
  </p:normalViewPr>
  <p:slideViewPr>
    <p:cSldViewPr snapToGrid="0">
      <p:cViewPr varScale="1">
        <p:scale>
          <a:sx n="110" d="100"/>
          <a:sy n="110" d="100"/>
        </p:scale>
        <p:origin x="28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7712-1F3B-4253-AEF1-0FE171523E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DC14F2F-A2B8-4861-8B33-2CF08A1C25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3137814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60902-80CF-4DD3-B59F-8E58611CF1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B756315-CBCB-4124-93B3-3DEF3C56BD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DFA47B5-60C4-46E0-B317-50F50E6D857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5" name="Footer Placeholder 4">
            <a:extLst>
              <a:ext uri="{FF2B5EF4-FFF2-40B4-BE49-F238E27FC236}">
                <a16:creationId xmlns:a16="http://schemas.microsoft.com/office/drawing/2014/main" id="{5F049A0D-7474-4882-A51A-CF35E154FD2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99F5A12C-5BED-457E-A6CE-2E58C8D0DED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323353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C2461-8DBB-43F0-A3AC-126E643979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596A727-278D-4E57-850B-78E0D727C72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41C733-75AA-40FE-8179-B58FA4EA5EE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5" name="Footer Placeholder 4">
            <a:extLst>
              <a:ext uri="{FF2B5EF4-FFF2-40B4-BE49-F238E27FC236}">
                <a16:creationId xmlns:a16="http://schemas.microsoft.com/office/drawing/2014/main" id="{FB8C4D2E-FA87-41DA-961F-7D250DD08DA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BF020F2E-2A86-4F16-B83F-E86E7319950C}"/>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61104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35B458-3AE6-4C21-BEBE-F7B76061980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2FF206-47D4-451B-80B7-578E10A3E6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D2DF79-B13E-46C5-AAA1-F49C3BABAB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F199702-3758-423C-8C91-550D5C885DF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6" name="Footer Placeholder 5">
            <a:extLst>
              <a:ext uri="{FF2B5EF4-FFF2-40B4-BE49-F238E27FC236}">
                <a16:creationId xmlns:a16="http://schemas.microsoft.com/office/drawing/2014/main" id="{4355CC31-BF31-4EB1-8B54-2DD0D6BE79BC}"/>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303EFAF2-4586-4670-8EF7-78067B1872A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41161545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05FA2-A60C-405C-A307-880C049CB03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A970388-4034-4A46-8B98-D37491E014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C39A8B-6B00-4329-AC44-AD6EBE236E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55DFF08-1C59-4E60-A964-4D4A3690072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6548497-A585-4527-B8A6-BB01B9FBC4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77C2D4B-BCC3-48CF-B358-D817886727C0}"/>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8" name="Footer Placeholder 7">
            <a:extLst>
              <a:ext uri="{FF2B5EF4-FFF2-40B4-BE49-F238E27FC236}">
                <a16:creationId xmlns:a16="http://schemas.microsoft.com/office/drawing/2014/main" id="{B393C415-FAAE-444A-BBA1-9059E1C450A3}"/>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16C512DB-E555-4910-92DC-7AB19F87F8E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477414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D8A33-5CA5-4826-9B83-0B2F6A50C2B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A17C1E61-1B5E-44DC-BC0F-2F956B04C019}"/>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4" name="Footer Placeholder 3">
            <a:extLst>
              <a:ext uri="{FF2B5EF4-FFF2-40B4-BE49-F238E27FC236}">
                <a16:creationId xmlns:a16="http://schemas.microsoft.com/office/drawing/2014/main" id="{DBA212BA-9EF0-4463-A9C0-997D5572049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E350D64F-9F3A-43FB-A563-07763EE16E2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279599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739767-A677-43FB-A13E-C6E76D21E158}"/>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3" name="Footer Placeholder 2">
            <a:extLst>
              <a:ext uri="{FF2B5EF4-FFF2-40B4-BE49-F238E27FC236}">
                <a16:creationId xmlns:a16="http://schemas.microsoft.com/office/drawing/2014/main" id="{BFA103BA-C2DE-41DE-842B-306DECB788D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5B8320D2-03FC-47A8-B437-7B7CEBDD6176}"/>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3747179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B20E6-8664-4FD7-A9B2-0B5C17E86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75017E-7CE6-4AFE-8756-092A858401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85C17A6-B2E1-42BB-9629-032C80545F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1DC4D7-18F9-4992-BB61-15FA97A5299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6" name="Footer Placeholder 5">
            <a:extLst>
              <a:ext uri="{FF2B5EF4-FFF2-40B4-BE49-F238E27FC236}">
                <a16:creationId xmlns:a16="http://schemas.microsoft.com/office/drawing/2014/main" id="{4FB52144-EB56-46FB-8C3D-7A8702354378}"/>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E7142B02-C27D-4AC0-9DE7-A653F338FB98}"/>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8955819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D8A0-DA8A-463F-AC82-9A3D896B80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B553CB-6BB8-4D69-8270-E69093C148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00E0B06-F972-42E3-B94A-6BA4824458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FCFE24-5759-425E-A7E5-6EAACD13BAA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6" name="Footer Placeholder 5">
            <a:extLst>
              <a:ext uri="{FF2B5EF4-FFF2-40B4-BE49-F238E27FC236}">
                <a16:creationId xmlns:a16="http://schemas.microsoft.com/office/drawing/2014/main" id="{EC458F3E-34B5-48AA-B148-66ED69F3067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AB133722-4E46-4BF0-841D-DC92DCB48251}"/>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21531943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A43C2-4F61-40F8-A06C-596F42B7D0A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012D4A7-8F4B-484D-90BE-4A6A303F65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BBE0C66-2DCD-4454-98BE-EE8ADD1D7982}"/>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5" name="Footer Placeholder 4">
            <a:extLst>
              <a:ext uri="{FF2B5EF4-FFF2-40B4-BE49-F238E27FC236}">
                <a16:creationId xmlns:a16="http://schemas.microsoft.com/office/drawing/2014/main" id="{B6C655C5-A5ED-4766-97E4-846A805367D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17ADFEEA-B282-4D56-A557-4193031EB4A7}"/>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9012902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1B7A8B-8DD3-4239-8EA1-87394625413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5621B91-126F-434B-86F2-89E6778E91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7BFCCA6-FBA0-4A4B-97BC-8B2465C0186D}"/>
              </a:ext>
            </a:extLst>
          </p:cNvPr>
          <p:cNvSpPr>
            <a:spLocks noGrp="1"/>
          </p:cNvSpPr>
          <p:nvPr>
            <p:ph type="dt" sz="half" idx="10"/>
          </p:nvPr>
        </p:nvSpPr>
        <p:spPr>
          <a:xfrm>
            <a:off x="838200" y="6356350"/>
            <a:ext cx="2743200" cy="365125"/>
          </a:xfrm>
          <a:prstGeom prst="rect">
            <a:avLst/>
          </a:prstGeom>
        </p:spPr>
        <p:txBody>
          <a:bodyPr/>
          <a:lstStyle/>
          <a:p>
            <a:fld id="{A39D0840-F340-4464-8C11-64AA65425DFE}" type="datetimeFigureOut">
              <a:rPr lang="en-GB" smtClean="0"/>
              <a:t>04/06/2021</a:t>
            </a:fld>
            <a:endParaRPr lang="en-GB"/>
          </a:p>
        </p:txBody>
      </p:sp>
      <p:sp>
        <p:nvSpPr>
          <p:cNvPr id="5" name="Footer Placeholder 4">
            <a:extLst>
              <a:ext uri="{FF2B5EF4-FFF2-40B4-BE49-F238E27FC236}">
                <a16:creationId xmlns:a16="http://schemas.microsoft.com/office/drawing/2014/main" id="{5A17EED6-4B0F-4C58-A54B-C4F0F72D7BAA}"/>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51249905-D4AB-4930-9B2A-6E8E550A0D1E}"/>
              </a:ext>
            </a:extLst>
          </p:cNvPr>
          <p:cNvSpPr>
            <a:spLocks noGrp="1"/>
          </p:cNvSpPr>
          <p:nvPr>
            <p:ph type="sldNum" sz="quarter" idx="12"/>
          </p:nvPr>
        </p:nvSpPr>
        <p:spPr>
          <a:xfrm>
            <a:off x="8610600" y="6356350"/>
            <a:ext cx="2743200" cy="365125"/>
          </a:xfrm>
          <a:prstGeom prst="rect">
            <a:avLst/>
          </a:prstGeom>
        </p:spPr>
        <p:txBody>
          <a:bodyPr/>
          <a:lstStyle/>
          <a:p>
            <a:fld id="{51383E49-ED47-42EE-A6B1-265FC0095DEE}" type="slidenum">
              <a:rPr lang="en-GB" smtClean="0"/>
              <a:t>‹#›</a:t>
            </a:fld>
            <a:endParaRPr lang="en-GB"/>
          </a:p>
        </p:txBody>
      </p:sp>
    </p:spTree>
    <p:extLst>
      <p:ext uri="{BB962C8B-B14F-4D97-AF65-F5344CB8AC3E}">
        <p14:creationId xmlns:p14="http://schemas.microsoft.com/office/powerpoint/2010/main" val="13081115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3B9995C-D844-455E-9E19-BF66C81EFD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D204189-41E9-4E09-B418-B033E7F14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Footer Placeholder 4">
            <a:extLst>
              <a:ext uri="{FF2B5EF4-FFF2-40B4-BE49-F238E27FC236}">
                <a16:creationId xmlns:a16="http://schemas.microsoft.com/office/drawing/2014/main" id="{4D739203-7E29-BA40-9D51-8F9968799BF3}"/>
              </a:ext>
            </a:extLst>
          </p:cNvPr>
          <p:cNvSpPr txBox="1">
            <a:spLocks/>
          </p:cNvSpPr>
          <p:nvPr userDrawn="1"/>
        </p:nvSpPr>
        <p:spPr>
          <a:xfrm>
            <a:off x="7547114" y="6380197"/>
            <a:ext cx="4114800"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200" dirty="0"/>
              <a:t>© Hodder &amp; Stoughton Limited 2021</a:t>
            </a:r>
          </a:p>
        </p:txBody>
      </p:sp>
      <p:pic>
        <p:nvPicPr>
          <p:cNvPr id="8" name="Picture 7" descr="Shape, rectangle&#10;&#10;Description automatically generated">
            <a:extLst>
              <a:ext uri="{FF2B5EF4-FFF2-40B4-BE49-F238E27FC236}">
                <a16:creationId xmlns:a16="http://schemas.microsoft.com/office/drawing/2014/main" id="{FEDAC554-0635-7742-969A-A6C2C4C2DD42}"/>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 y="-794"/>
            <a:ext cx="12217999" cy="1622390"/>
          </a:xfrm>
          <a:prstGeom prst="rect">
            <a:avLst/>
          </a:prstGeom>
        </p:spPr>
      </p:pic>
    </p:spTree>
    <p:extLst>
      <p:ext uri="{BB962C8B-B14F-4D97-AF65-F5344CB8AC3E}">
        <p14:creationId xmlns:p14="http://schemas.microsoft.com/office/powerpoint/2010/main" val="26587743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www.hoddereducation.co.uk/computin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8EEEA104-4C9F-4246-839D-278F1FAAF0DF}"/>
              </a:ext>
            </a:extLst>
          </p:cNvPr>
          <p:cNvSpPr txBox="1">
            <a:spLocks/>
          </p:cNvSpPr>
          <p:nvPr/>
        </p:nvSpPr>
        <p:spPr>
          <a:xfrm>
            <a:off x="1202454" y="2908951"/>
            <a:ext cx="5857711" cy="1628214"/>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n-GB" b="1"/>
              <a:t>Networking and the internet</a:t>
            </a:r>
            <a:endParaRPr lang="en-GB" b="1" dirty="0"/>
          </a:p>
        </p:txBody>
      </p:sp>
      <p:sp>
        <p:nvSpPr>
          <p:cNvPr id="8" name="Rectangle 7">
            <a:extLst>
              <a:ext uri="{FF2B5EF4-FFF2-40B4-BE49-F238E27FC236}">
                <a16:creationId xmlns:a16="http://schemas.microsoft.com/office/drawing/2014/main" id="{8607B949-2F75-4EF1-9753-199E3A5A1AFC}"/>
              </a:ext>
            </a:extLst>
          </p:cNvPr>
          <p:cNvSpPr/>
          <p:nvPr/>
        </p:nvSpPr>
        <p:spPr>
          <a:xfrm>
            <a:off x="3271948" y="4537165"/>
            <a:ext cx="3788217" cy="400110"/>
          </a:xfrm>
          <a:prstGeom prst="rect">
            <a:avLst/>
          </a:prstGeom>
        </p:spPr>
        <p:txBody>
          <a:bodyPr wrap="none">
            <a:spAutoFit/>
          </a:bodyPr>
          <a:lstStyle/>
          <a:p>
            <a:pPr algn="r"/>
            <a:r>
              <a:rPr lang="en-GB" sz="2000" b="1" dirty="0">
                <a:solidFill>
                  <a:srgbClr val="7030A0"/>
                </a:solidFill>
                <a:latin typeface="Calibri" panose="020F0502020204030204" pitchFamily="34" charset="0"/>
                <a:ea typeface="Times New Roman" panose="02020603050405020304" pitchFamily="18" charset="0"/>
              </a:rPr>
              <a:t>Lesson 2: Domain names and DNS</a:t>
            </a:r>
            <a:endParaRPr lang="en-GB" sz="2000" b="1" dirty="0">
              <a:solidFill>
                <a:srgbClr val="7030A0"/>
              </a:solidFill>
            </a:endParaRPr>
          </a:p>
        </p:txBody>
      </p:sp>
      <p:pic>
        <p:nvPicPr>
          <p:cNvPr id="9" name="Picture 8">
            <a:extLst>
              <a:ext uri="{FF2B5EF4-FFF2-40B4-BE49-F238E27FC236}">
                <a16:creationId xmlns:a16="http://schemas.microsoft.com/office/drawing/2014/main" id="{A04B8222-5722-4E2A-8607-2754E5AF345B}"/>
              </a:ext>
            </a:extLst>
          </p:cNvPr>
          <p:cNvPicPr>
            <a:picLocks noChangeAspect="1"/>
          </p:cNvPicPr>
          <p:nvPr/>
        </p:nvPicPr>
        <p:blipFill>
          <a:blip r:embed="rId2"/>
          <a:stretch>
            <a:fillRect/>
          </a:stretch>
        </p:blipFill>
        <p:spPr>
          <a:xfrm>
            <a:off x="7295297" y="2908950"/>
            <a:ext cx="2937413" cy="226785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0543161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C4667-2A3C-4536-9386-00402F3C6EE6}"/>
              </a:ext>
            </a:extLst>
          </p:cNvPr>
          <p:cNvSpPr>
            <a:spLocks noGrp="1"/>
          </p:cNvSpPr>
          <p:nvPr>
            <p:ph type="title"/>
          </p:nvPr>
        </p:nvSpPr>
        <p:spPr>
          <a:xfrm>
            <a:off x="1630018" y="854765"/>
            <a:ext cx="9634330" cy="766349"/>
          </a:xfrm>
        </p:spPr>
        <p:txBody>
          <a:bodyPr/>
          <a:lstStyle/>
          <a:p>
            <a:r>
              <a:rPr lang="en-GB" b="1" dirty="0">
                <a:solidFill>
                  <a:schemeClr val="bg1"/>
                </a:solidFill>
              </a:rPr>
              <a:t>Objectives</a:t>
            </a:r>
          </a:p>
        </p:txBody>
      </p:sp>
      <p:sp>
        <p:nvSpPr>
          <p:cNvPr id="5" name="Rectangle 4">
            <a:extLst>
              <a:ext uri="{FF2B5EF4-FFF2-40B4-BE49-F238E27FC236}">
                <a16:creationId xmlns:a16="http://schemas.microsoft.com/office/drawing/2014/main" id="{8430BE0A-41D5-4110-A78D-A6ACD33DE78B}"/>
              </a:ext>
            </a:extLst>
          </p:cNvPr>
          <p:cNvSpPr/>
          <p:nvPr/>
        </p:nvSpPr>
        <p:spPr>
          <a:xfrm>
            <a:off x="1630018" y="2213282"/>
            <a:ext cx="6651833" cy="2431435"/>
          </a:xfrm>
          <a:prstGeom prst="rect">
            <a:avLst/>
          </a:prstGeom>
        </p:spPr>
        <p:txBody>
          <a:bodyPr wrap="square">
            <a:spAutoFit/>
          </a:bodyPr>
          <a:lstStyle/>
          <a:p>
            <a:pPr>
              <a:spcAft>
                <a:spcPts val="0"/>
              </a:spcAft>
            </a:pPr>
            <a:r>
              <a:rPr lang="en-GB" sz="3200" dirty="0">
                <a:ea typeface="Times New Roman" panose="02020603050405020304" pitchFamily="18" charset="0"/>
              </a:rPr>
              <a:t>In this lesson, you will learn:</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what a domain name looks like</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what domain names are for</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what DNS stands for</a:t>
            </a:r>
          </a:p>
          <a:p>
            <a:pPr marL="342900" lvl="0" indent="-342900">
              <a:spcAft>
                <a:spcPts val="0"/>
              </a:spcAft>
              <a:buFont typeface="Symbol" panose="05050102010706020507" pitchFamily="18" charset="2"/>
              <a:buChar char=""/>
            </a:pPr>
            <a:r>
              <a:rPr lang="en-GB" sz="2400" dirty="0">
                <a:latin typeface="Calibri" panose="020F0502020204030204" pitchFamily="34" charset="0"/>
                <a:ea typeface="Times New Roman" panose="02020603050405020304" pitchFamily="18" charset="0"/>
              </a:rPr>
              <a:t>how DNS is used to help a web browser communicate with a website.</a:t>
            </a:r>
          </a:p>
        </p:txBody>
      </p:sp>
    </p:spTree>
    <p:extLst>
      <p:ext uri="{BB962C8B-B14F-4D97-AF65-F5344CB8AC3E}">
        <p14:creationId xmlns:p14="http://schemas.microsoft.com/office/powerpoint/2010/main" val="1699810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44826"/>
            <a:ext cx="9773478" cy="775252"/>
          </a:xfrm>
        </p:spPr>
        <p:txBody>
          <a:bodyPr/>
          <a:lstStyle/>
          <a:p>
            <a:r>
              <a:rPr lang="en-GB" b="1" dirty="0">
                <a:solidFill>
                  <a:schemeClr val="bg1"/>
                </a:solidFill>
              </a:rPr>
              <a:t>Web browsers</a:t>
            </a:r>
          </a:p>
        </p:txBody>
      </p:sp>
      <p:sp>
        <p:nvSpPr>
          <p:cNvPr id="3" name="Rectangle 2">
            <a:extLst>
              <a:ext uri="{FF2B5EF4-FFF2-40B4-BE49-F238E27FC236}">
                <a16:creationId xmlns:a16="http://schemas.microsoft.com/office/drawing/2014/main" id="{440A2FE6-5E02-704F-998C-BA733B4FB89C}"/>
              </a:ext>
            </a:extLst>
          </p:cNvPr>
          <p:cNvSpPr/>
          <p:nvPr/>
        </p:nvSpPr>
        <p:spPr>
          <a:xfrm>
            <a:off x="1580322" y="1951221"/>
            <a:ext cx="9432235" cy="461665"/>
          </a:xfrm>
          <a:prstGeom prst="rect">
            <a:avLst/>
          </a:prstGeom>
        </p:spPr>
        <p:txBody>
          <a:bodyPr wrap="square">
            <a:spAutoFit/>
          </a:bodyPr>
          <a:lstStyle/>
          <a:p>
            <a:r>
              <a:rPr lang="en-GB" sz="2400" dirty="0">
                <a:latin typeface="Calibri" panose="020F0502020204030204" pitchFamily="34" charset="0"/>
                <a:ea typeface="Times New Roman" panose="02020603050405020304" pitchFamily="18" charset="0"/>
                <a:cs typeface="Calibri" panose="020F0502020204030204" pitchFamily="34" charset="0"/>
              </a:rPr>
              <a:t>A </a:t>
            </a:r>
            <a:r>
              <a:rPr lang="en-GB" sz="2400" b="1" dirty="0">
                <a:solidFill>
                  <a:srgbClr val="7049A8"/>
                </a:solidFill>
                <a:latin typeface="Calibri" panose="020F0502020204030204" pitchFamily="34" charset="0"/>
                <a:ea typeface="Times New Roman" panose="02020603050405020304" pitchFamily="18" charset="0"/>
                <a:cs typeface="Calibri" panose="020F0502020204030204" pitchFamily="34" charset="0"/>
              </a:rPr>
              <a:t>web browser </a:t>
            </a:r>
            <a:r>
              <a:rPr lang="en-GB" sz="2400" dirty="0">
                <a:latin typeface="Calibri" panose="020F0502020204030204" pitchFamily="34" charset="0"/>
                <a:ea typeface="Times New Roman" panose="02020603050405020304" pitchFamily="18" charset="0"/>
                <a:cs typeface="Calibri" panose="020F0502020204030204" pitchFamily="34" charset="0"/>
              </a:rPr>
              <a:t>is the software used to view and interact with web pages.</a:t>
            </a:r>
          </a:p>
        </p:txBody>
      </p:sp>
      <p:pic>
        <p:nvPicPr>
          <p:cNvPr id="6" name="Picture 5" descr="Graphical user interface, website&#10;&#10;Description automatically generated">
            <a:extLst>
              <a:ext uri="{FF2B5EF4-FFF2-40B4-BE49-F238E27FC236}">
                <a16:creationId xmlns:a16="http://schemas.microsoft.com/office/drawing/2014/main" id="{75342CC7-3366-4177-927E-9D5FE1F49D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76929" y="2721232"/>
            <a:ext cx="6838141" cy="3447765"/>
          </a:xfrm>
          <a:prstGeom prst="rect">
            <a:avLst/>
          </a:prstGeom>
        </p:spPr>
      </p:pic>
    </p:spTree>
    <p:extLst>
      <p:ext uri="{BB962C8B-B14F-4D97-AF65-F5344CB8AC3E}">
        <p14:creationId xmlns:p14="http://schemas.microsoft.com/office/powerpoint/2010/main" val="1166166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44826"/>
            <a:ext cx="9773478" cy="775252"/>
          </a:xfrm>
        </p:spPr>
        <p:txBody>
          <a:bodyPr/>
          <a:lstStyle/>
          <a:p>
            <a:r>
              <a:rPr lang="en-GB" b="1" dirty="0">
                <a:solidFill>
                  <a:schemeClr val="bg1"/>
                </a:solidFill>
              </a:rPr>
              <a:t>Web addresses </a:t>
            </a:r>
          </a:p>
        </p:txBody>
      </p:sp>
      <p:sp>
        <p:nvSpPr>
          <p:cNvPr id="3" name="Rectangle 2">
            <a:extLst>
              <a:ext uri="{FF2B5EF4-FFF2-40B4-BE49-F238E27FC236}">
                <a16:creationId xmlns:a16="http://schemas.microsoft.com/office/drawing/2014/main" id="{440A2FE6-5E02-704F-998C-BA733B4FB89C}"/>
              </a:ext>
            </a:extLst>
          </p:cNvPr>
          <p:cNvSpPr/>
          <p:nvPr/>
        </p:nvSpPr>
        <p:spPr>
          <a:xfrm>
            <a:off x="1580322" y="2198529"/>
            <a:ext cx="8179904" cy="3600986"/>
          </a:xfrm>
          <a:prstGeom prst="rect">
            <a:avLst/>
          </a:prstGeom>
        </p:spPr>
        <p:txBody>
          <a:bodyPr wrap="square">
            <a:spAutoFit/>
          </a:bodyPr>
          <a:lstStyle/>
          <a:p>
            <a:r>
              <a:rPr lang="en-GB" sz="2400" dirty="0"/>
              <a:t>You can visit a website by typing its address into the web browser's address bar.</a:t>
            </a:r>
          </a:p>
          <a:p>
            <a:r>
              <a:rPr lang="en-GB" sz="2400" dirty="0"/>
              <a:t>Open a web browser and type in:</a:t>
            </a:r>
          </a:p>
          <a:p>
            <a:endParaRPr lang="en-GB" sz="2400" dirty="0"/>
          </a:p>
          <a:p>
            <a:r>
              <a:rPr lang="en-GB" sz="3600" dirty="0">
                <a:hlinkClick r:id="rId2"/>
              </a:rPr>
              <a:t>www.hoddereducation.co.uk/computing</a:t>
            </a:r>
            <a:endParaRPr lang="en-GB" sz="3600" dirty="0"/>
          </a:p>
          <a:p>
            <a:endParaRPr lang="en-GB" sz="2400" dirty="0"/>
          </a:p>
          <a:p>
            <a:r>
              <a:rPr lang="en-GB" sz="2400" dirty="0"/>
              <a:t>This is the quickest and easiest way to go to a website if you know the web address; much quicker and easier than searching for the website.</a:t>
            </a:r>
          </a:p>
        </p:txBody>
      </p:sp>
    </p:spTree>
    <p:extLst>
      <p:ext uri="{BB962C8B-B14F-4D97-AF65-F5344CB8AC3E}">
        <p14:creationId xmlns:p14="http://schemas.microsoft.com/office/powerpoint/2010/main" val="1610702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905C-00CB-4FC9-83B7-66A2E3C077C8}"/>
              </a:ext>
            </a:extLst>
          </p:cNvPr>
          <p:cNvSpPr>
            <a:spLocks noGrp="1"/>
          </p:cNvSpPr>
          <p:nvPr>
            <p:ph type="title"/>
          </p:nvPr>
        </p:nvSpPr>
        <p:spPr>
          <a:xfrm>
            <a:off x="1580322" y="844826"/>
            <a:ext cx="9773478" cy="775252"/>
          </a:xfrm>
        </p:spPr>
        <p:txBody>
          <a:bodyPr/>
          <a:lstStyle/>
          <a:p>
            <a:r>
              <a:rPr lang="en-GB" b="1" dirty="0">
                <a:solidFill>
                  <a:schemeClr val="bg1"/>
                </a:solidFill>
              </a:rPr>
              <a:t>Domain names</a:t>
            </a:r>
          </a:p>
        </p:txBody>
      </p:sp>
      <p:sp>
        <p:nvSpPr>
          <p:cNvPr id="6" name="Rectangle 5">
            <a:extLst>
              <a:ext uri="{FF2B5EF4-FFF2-40B4-BE49-F238E27FC236}">
                <a16:creationId xmlns:a16="http://schemas.microsoft.com/office/drawing/2014/main" id="{1A02A26B-43A0-C041-94BD-DC8A25CAF897}"/>
              </a:ext>
            </a:extLst>
          </p:cNvPr>
          <p:cNvSpPr/>
          <p:nvPr/>
        </p:nvSpPr>
        <p:spPr>
          <a:xfrm>
            <a:off x="1580322" y="2109782"/>
            <a:ext cx="9906944" cy="4154984"/>
          </a:xfrm>
          <a:prstGeom prst="rect">
            <a:avLst/>
          </a:prstGeom>
        </p:spPr>
        <p:txBody>
          <a:bodyPr wrap="square">
            <a:spAutoFit/>
          </a:bodyPr>
          <a:lstStyle/>
          <a:p>
            <a:r>
              <a:rPr lang="en-GB" sz="2400" dirty="0"/>
              <a:t>A web address has two parts:</a:t>
            </a:r>
          </a:p>
          <a:p>
            <a:endParaRPr lang="en-GB" sz="2400" dirty="0">
              <a:ea typeface="Times New Roman" panose="02020603050405020304" pitchFamily="18" charset="0"/>
              <a:cs typeface="Calibri" panose="020F0502020204030204" pitchFamily="34" charset="0"/>
            </a:endParaRPr>
          </a:p>
          <a:p>
            <a:endParaRPr lang="en-GB" sz="2400" dirty="0">
              <a:ea typeface="Times New Roman" panose="02020603050405020304" pitchFamily="18" charset="0"/>
              <a:cs typeface="Calibri" panose="020F0502020204030204" pitchFamily="34" charset="0"/>
            </a:endParaRPr>
          </a:p>
          <a:p>
            <a:endParaRPr lang="en-GB" sz="2400" dirty="0">
              <a:ea typeface="Times New Roman" panose="02020603050405020304" pitchFamily="18" charset="0"/>
              <a:cs typeface="Calibri" panose="020F0502020204030204" pitchFamily="34" charset="0"/>
            </a:endParaRPr>
          </a:p>
          <a:p>
            <a:endParaRPr lang="en-GB" sz="2400" dirty="0">
              <a:ea typeface="Times New Roman" panose="02020603050405020304" pitchFamily="18" charset="0"/>
              <a:cs typeface="Calibri" panose="020F0502020204030204" pitchFamily="34" charset="0"/>
            </a:endParaRPr>
          </a:p>
          <a:p>
            <a:endParaRPr lang="en-GB" sz="2400" dirty="0">
              <a:ea typeface="Times New Roman" panose="02020603050405020304" pitchFamily="18" charset="0"/>
              <a:cs typeface="Calibri" panose="020F0502020204030204" pitchFamily="34" charset="0"/>
            </a:endParaRPr>
          </a:p>
          <a:p>
            <a:r>
              <a:rPr lang="en-GB" sz="2400" dirty="0">
                <a:ea typeface="Times New Roman" panose="02020603050405020304" pitchFamily="18" charset="0"/>
                <a:cs typeface="Calibri" panose="020F0502020204030204" pitchFamily="34" charset="0"/>
              </a:rPr>
              <a:t>The </a:t>
            </a:r>
            <a:r>
              <a:rPr lang="en-GB" sz="2400" b="1" dirty="0">
                <a:solidFill>
                  <a:srgbClr val="7049A8"/>
                </a:solidFill>
                <a:ea typeface="Times New Roman" panose="02020603050405020304" pitchFamily="18" charset="0"/>
                <a:cs typeface="Calibri" panose="020F0502020204030204" pitchFamily="34" charset="0"/>
              </a:rPr>
              <a:t>domain name</a:t>
            </a:r>
            <a:r>
              <a:rPr lang="en-GB" sz="2400" dirty="0">
                <a:solidFill>
                  <a:srgbClr val="7049A8"/>
                </a:solidFill>
                <a:ea typeface="Times New Roman" panose="02020603050405020304" pitchFamily="18" charset="0"/>
                <a:cs typeface="Calibri" panose="020F0502020204030204" pitchFamily="34" charset="0"/>
              </a:rPr>
              <a:t> </a:t>
            </a:r>
            <a:r>
              <a:rPr lang="en-GB" sz="2400" dirty="0">
                <a:ea typeface="Times New Roman" panose="02020603050405020304" pitchFamily="18" charset="0"/>
                <a:cs typeface="Calibri" panose="020F0502020204030204" pitchFamily="34" charset="0"/>
              </a:rPr>
              <a:t>indicates the organisation that runs the site.</a:t>
            </a:r>
            <a:endParaRPr lang="en-GB" sz="2400" dirty="0">
              <a:ea typeface="Times New Roman" panose="02020603050405020304" pitchFamily="18" charset="0"/>
            </a:endParaRPr>
          </a:p>
          <a:p>
            <a:r>
              <a:rPr lang="en-GB" sz="2400" dirty="0">
                <a:ea typeface="Times New Roman" panose="02020603050405020304" pitchFamily="18" charset="0"/>
                <a:cs typeface="Calibri" panose="020F0502020204030204" pitchFamily="34" charset="0"/>
              </a:rPr>
              <a:t>Domain names end with </a:t>
            </a:r>
            <a:r>
              <a:rPr lang="en-GB" sz="2400" i="1" dirty="0">
                <a:ea typeface="Times New Roman" panose="02020603050405020304" pitchFamily="18" charset="0"/>
                <a:cs typeface="Calibri" panose="020F0502020204030204" pitchFamily="34" charset="0"/>
              </a:rPr>
              <a:t>.something</a:t>
            </a:r>
            <a:r>
              <a:rPr lang="en-GB" sz="2400" dirty="0">
                <a:ea typeface="Times New Roman" panose="02020603050405020304" pitchFamily="18" charset="0"/>
                <a:cs typeface="Calibri" panose="020F0502020204030204" pitchFamily="34" charset="0"/>
              </a:rPr>
              <a:t>, including .org (for an organisation), .com (for a company) and .</a:t>
            </a:r>
            <a:r>
              <a:rPr lang="en-GB" sz="2400" dirty="0" err="1">
                <a:ea typeface="Times New Roman" panose="02020603050405020304" pitchFamily="18" charset="0"/>
                <a:cs typeface="Calibri" panose="020F0502020204030204" pitchFamily="34" charset="0"/>
              </a:rPr>
              <a:t>co.uk</a:t>
            </a:r>
            <a:r>
              <a:rPr lang="en-GB" sz="2400" dirty="0">
                <a:ea typeface="Times New Roman" panose="02020603050405020304" pitchFamily="18" charset="0"/>
                <a:cs typeface="Calibri" panose="020F0502020204030204" pitchFamily="34" charset="0"/>
              </a:rPr>
              <a:t> (for a company based in the UK).</a:t>
            </a:r>
            <a:endParaRPr lang="en-GB" sz="2400" dirty="0">
              <a:ea typeface="Times New Roman" panose="02020603050405020304" pitchFamily="18" charset="0"/>
            </a:endParaRPr>
          </a:p>
          <a:p>
            <a:r>
              <a:rPr lang="en-GB" sz="2400" dirty="0">
                <a:ea typeface="Times New Roman" panose="02020603050405020304" pitchFamily="18" charset="0"/>
                <a:cs typeface="Calibri" panose="020F0502020204030204" pitchFamily="34" charset="0"/>
              </a:rPr>
              <a:t>Anything after the domain name is called the path. It indicates which part of the website the user is viewing.</a:t>
            </a:r>
            <a:endParaRPr lang="en-GB" sz="2400" dirty="0">
              <a:ea typeface="Times New Roman" panose="02020603050405020304" pitchFamily="18" charset="0"/>
            </a:endParaRPr>
          </a:p>
        </p:txBody>
      </p:sp>
      <p:pic>
        <p:nvPicPr>
          <p:cNvPr id="8" name="Picture 7">
            <a:extLst>
              <a:ext uri="{FF2B5EF4-FFF2-40B4-BE49-F238E27FC236}">
                <a16:creationId xmlns:a16="http://schemas.microsoft.com/office/drawing/2014/main" id="{0A84A58C-576C-404A-B4C3-126732D0A3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3778" y="2778088"/>
            <a:ext cx="6824443" cy="1481274"/>
          </a:xfrm>
          <a:prstGeom prst="rect">
            <a:avLst/>
          </a:prstGeom>
        </p:spPr>
      </p:pic>
    </p:spTree>
    <p:extLst>
      <p:ext uri="{BB962C8B-B14F-4D97-AF65-F5344CB8AC3E}">
        <p14:creationId xmlns:p14="http://schemas.microsoft.com/office/powerpoint/2010/main" val="24541508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34888"/>
            <a:ext cx="9733721" cy="775252"/>
          </a:xfrm>
        </p:spPr>
        <p:txBody>
          <a:bodyPr/>
          <a:lstStyle/>
          <a:p>
            <a:r>
              <a:rPr lang="en-GB" b="1" dirty="0">
                <a:solidFill>
                  <a:schemeClr val="bg1"/>
                </a:solidFill>
              </a:rPr>
              <a:t>Activity 2.1: Domain names</a:t>
            </a:r>
          </a:p>
        </p:txBody>
      </p:sp>
      <p:sp>
        <p:nvSpPr>
          <p:cNvPr id="3" name="Rectangle 2">
            <a:extLst>
              <a:ext uri="{FF2B5EF4-FFF2-40B4-BE49-F238E27FC236}">
                <a16:creationId xmlns:a16="http://schemas.microsoft.com/office/drawing/2014/main" id="{AA1F420D-4234-664A-80A1-F46AFD0F8258}"/>
              </a:ext>
            </a:extLst>
          </p:cNvPr>
          <p:cNvSpPr/>
          <p:nvPr/>
        </p:nvSpPr>
        <p:spPr>
          <a:xfrm>
            <a:off x="8153814" y="5361370"/>
            <a:ext cx="3844514" cy="523220"/>
          </a:xfrm>
          <a:prstGeom prst="rect">
            <a:avLst/>
          </a:prstGeom>
        </p:spPr>
        <p:txBody>
          <a:bodyPr wrap="none">
            <a:spAutoFit/>
          </a:bodyPr>
          <a:lstStyle/>
          <a:p>
            <a:r>
              <a:rPr lang="en-GB" sz="2800" dirty="0">
                <a:ea typeface="Times New Roman" panose="02020603050405020304" pitchFamily="18" charset="0"/>
                <a:cs typeface="Calibri" panose="020F0502020204030204" pitchFamily="34" charset="0"/>
              </a:rPr>
              <a:t>Complete Interactive 2.1</a:t>
            </a:r>
            <a:r>
              <a:rPr lang="en-GB" sz="2800" dirty="0"/>
              <a:t> </a:t>
            </a:r>
            <a:endParaRPr lang="en-US" sz="2800" dirty="0"/>
          </a:p>
        </p:txBody>
      </p:sp>
      <p:pic>
        <p:nvPicPr>
          <p:cNvPr id="5" name="Picture 4">
            <a:extLst>
              <a:ext uri="{FF2B5EF4-FFF2-40B4-BE49-F238E27FC236}">
                <a16:creationId xmlns:a16="http://schemas.microsoft.com/office/drawing/2014/main" id="{826B85AE-7EB5-4F75-8BC9-B7F93A98EA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9261" y="1903472"/>
            <a:ext cx="4393477" cy="4304673"/>
          </a:xfrm>
          <a:prstGeom prst="rect">
            <a:avLst/>
          </a:prstGeom>
        </p:spPr>
      </p:pic>
    </p:spTree>
    <p:extLst>
      <p:ext uri="{BB962C8B-B14F-4D97-AF65-F5344CB8AC3E}">
        <p14:creationId xmlns:p14="http://schemas.microsoft.com/office/powerpoint/2010/main" val="2354521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500" fill="hold"/>
                                        <p:tgtEl>
                                          <p:spTgt spid="3">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3">
                                            <p:txEl>
                                              <p:pRg st="0" end="0"/>
                                            </p:txEl>
                                          </p:spTgt>
                                        </p:tgtEl>
                                        <p:attrNameLst>
                                          <p:attrName>ppt_h</p:attrName>
                                        </p:attrNameLst>
                                      </p:cBhvr>
                                      <p:tavLst>
                                        <p:tav tm="0">
                                          <p:val>
                                            <p:fltVal val="0"/>
                                          </p:val>
                                        </p:tav>
                                        <p:tav tm="100000">
                                          <p:val>
                                            <p:strVal val="#ppt_h"/>
                                          </p:val>
                                        </p:tav>
                                      </p:tavLst>
                                    </p:anim>
                                    <p:anim calcmode="lin" valueType="num">
                                      <p:cBhvr>
                                        <p:cTn id="9" dur="500" fill="hold"/>
                                        <p:tgtEl>
                                          <p:spTgt spid="3">
                                            <p:txEl>
                                              <p:pRg st="0" end="0"/>
                                            </p:txEl>
                                          </p:spTgt>
                                        </p:tgtEl>
                                        <p:attrNameLst>
                                          <p:attrName>style.rotation</p:attrName>
                                        </p:attrNameLst>
                                      </p:cBhvr>
                                      <p:tavLst>
                                        <p:tav tm="0">
                                          <p:val>
                                            <p:fltVal val="360"/>
                                          </p:val>
                                        </p:tav>
                                        <p:tav tm="100000">
                                          <p:val>
                                            <p:fltVal val="0"/>
                                          </p:val>
                                        </p:tav>
                                      </p:tavLst>
                                    </p:anim>
                                    <p:animEffect transition="in" filter="fade">
                                      <p:cBhvr>
                                        <p:cTn id="10"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10515600" cy="775252"/>
          </a:xfrm>
        </p:spPr>
        <p:txBody>
          <a:bodyPr>
            <a:normAutofit/>
          </a:bodyPr>
          <a:lstStyle/>
          <a:p>
            <a:r>
              <a:rPr lang="en-GB" b="1" dirty="0">
                <a:solidFill>
                  <a:schemeClr val="bg1"/>
                </a:solidFill>
              </a:rPr>
              <a:t>IP addresses </a:t>
            </a: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1600200" y="2084042"/>
            <a:ext cx="8022771" cy="4351338"/>
          </a:xfrm>
        </p:spPr>
        <p:txBody>
          <a:bodyPr>
            <a:normAutofit/>
          </a:bodyPr>
          <a:lstStyle/>
          <a:p>
            <a:pPr marL="0" indent="0">
              <a:buNone/>
            </a:pPr>
            <a:r>
              <a:rPr lang="en-GB" sz="2400" dirty="0"/>
              <a:t>Open a web browser and type the following into the web browser’s address bar:</a:t>
            </a:r>
          </a:p>
          <a:p>
            <a:pPr marL="0" indent="0">
              <a:buNone/>
            </a:pPr>
            <a:endParaRPr lang="en-GB" sz="2400" dirty="0">
              <a:ea typeface="Times New Roman" panose="02020603050405020304" pitchFamily="18" charset="0"/>
              <a:cs typeface="Calibri" panose="020F0502020204030204" pitchFamily="34" charset="0"/>
            </a:endParaRPr>
          </a:p>
          <a:p>
            <a:pPr marL="0" indent="0" algn="ctr">
              <a:buNone/>
            </a:pPr>
            <a:r>
              <a:rPr lang="en-GB" sz="4000" dirty="0">
                <a:ea typeface="Times New Roman" panose="02020603050405020304" pitchFamily="18" charset="0"/>
                <a:cs typeface="Calibri" panose="020F0502020204030204" pitchFamily="34" charset="0"/>
              </a:rPr>
              <a:t>142.250.31.17</a:t>
            </a:r>
            <a:endParaRPr lang="en-GB" sz="4000" dirty="0">
              <a:ea typeface="Times New Roman" panose="02020603050405020304" pitchFamily="18" charset="0"/>
            </a:endParaRPr>
          </a:p>
          <a:p>
            <a:pPr marL="0" indent="0">
              <a:buNone/>
            </a:pPr>
            <a:endParaRPr lang="en-GB" sz="2400" dirty="0">
              <a:ea typeface="Times New Roman" panose="02020603050405020304" pitchFamily="18" charset="0"/>
              <a:cs typeface="Calibri" panose="020F0502020204030204" pitchFamily="34" charset="0"/>
            </a:endParaRPr>
          </a:p>
          <a:p>
            <a:pPr marL="0" indent="0">
              <a:buNone/>
            </a:pPr>
            <a:r>
              <a:rPr lang="en-GB" sz="2400" dirty="0">
                <a:ea typeface="Times New Roman" panose="02020603050405020304" pitchFamily="18" charset="0"/>
                <a:cs typeface="Calibri" panose="020F0502020204030204" pitchFamily="34" charset="0"/>
              </a:rPr>
              <a:t>Computers use IP addresses to send data to other computers. This is the IP address of the Google home page.</a:t>
            </a:r>
            <a:endParaRPr lang="en-GB" sz="2400" dirty="0">
              <a:ea typeface="Times New Roman" panose="02020603050405020304" pitchFamily="18" charset="0"/>
            </a:endParaRPr>
          </a:p>
        </p:txBody>
      </p:sp>
    </p:spTree>
    <p:extLst>
      <p:ext uri="{BB962C8B-B14F-4D97-AF65-F5344CB8AC3E}">
        <p14:creationId xmlns:p14="http://schemas.microsoft.com/office/powerpoint/2010/main" val="3538170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F5B0F3-7F56-4F5C-81F1-A743D46BDBD9}"/>
              </a:ext>
            </a:extLst>
          </p:cNvPr>
          <p:cNvSpPr>
            <a:spLocks noGrp="1"/>
          </p:cNvSpPr>
          <p:nvPr>
            <p:ph type="title"/>
          </p:nvPr>
        </p:nvSpPr>
        <p:spPr>
          <a:xfrm>
            <a:off x="1600200" y="844826"/>
            <a:ext cx="10515600" cy="775252"/>
          </a:xfrm>
        </p:spPr>
        <p:txBody>
          <a:bodyPr>
            <a:normAutofit/>
          </a:bodyPr>
          <a:lstStyle/>
          <a:p>
            <a:r>
              <a:rPr lang="en-GB" b="1" dirty="0">
                <a:solidFill>
                  <a:schemeClr val="bg1"/>
                </a:solidFill>
              </a:rPr>
              <a:t>Finding an IP address</a:t>
            </a:r>
            <a:r>
              <a:rPr lang="en-GB" dirty="0">
                <a:solidFill>
                  <a:schemeClr val="bg1"/>
                </a:solidFill>
              </a:rPr>
              <a:t> </a:t>
            </a:r>
            <a:endParaRPr lang="en-GB" b="1" dirty="0">
              <a:solidFill>
                <a:schemeClr val="bg1"/>
              </a:solidFill>
            </a:endParaRPr>
          </a:p>
        </p:txBody>
      </p:sp>
      <p:sp>
        <p:nvSpPr>
          <p:cNvPr id="3" name="Content Placeholder 2">
            <a:extLst>
              <a:ext uri="{FF2B5EF4-FFF2-40B4-BE49-F238E27FC236}">
                <a16:creationId xmlns:a16="http://schemas.microsoft.com/office/drawing/2014/main" id="{928FB485-6993-428E-81B4-749465982CC5}"/>
              </a:ext>
            </a:extLst>
          </p:cNvPr>
          <p:cNvSpPr>
            <a:spLocks noGrp="1"/>
          </p:cNvSpPr>
          <p:nvPr>
            <p:ph idx="1"/>
          </p:nvPr>
        </p:nvSpPr>
        <p:spPr>
          <a:xfrm>
            <a:off x="1600200" y="2153710"/>
            <a:ext cx="4582886" cy="3593947"/>
          </a:xfrm>
        </p:spPr>
        <p:txBody>
          <a:bodyPr>
            <a:normAutofit/>
          </a:bodyPr>
          <a:lstStyle/>
          <a:p>
            <a:pPr marL="0" indent="0">
              <a:buNone/>
            </a:pPr>
            <a:r>
              <a:rPr lang="en-GB" sz="2400" dirty="0"/>
              <a:t>When you type a domain name into a web browser, the web browser looks up the IP address for the website using the Domain Name System, known as </a:t>
            </a:r>
            <a:r>
              <a:rPr lang="en-GB" sz="2400" b="1" dirty="0">
                <a:solidFill>
                  <a:srgbClr val="7049A8"/>
                </a:solidFill>
              </a:rPr>
              <a:t>DNS</a:t>
            </a:r>
            <a:r>
              <a:rPr lang="en-GB" sz="2400" dirty="0"/>
              <a:t>.</a:t>
            </a:r>
          </a:p>
          <a:p>
            <a:pPr marL="0" indent="0">
              <a:buNone/>
            </a:pPr>
            <a:r>
              <a:rPr lang="en-GB" sz="2400" dirty="0"/>
              <a:t>DNS works in the same way as your contacts on your phone works: you look up the name of the person you want to call, and your phone dials their number.</a:t>
            </a:r>
          </a:p>
        </p:txBody>
      </p:sp>
      <p:pic>
        <p:nvPicPr>
          <p:cNvPr id="5" name="Picture 4" descr="A picture containing application&#10;&#10;Description automatically generated">
            <a:extLst>
              <a:ext uri="{FF2B5EF4-FFF2-40B4-BE49-F238E27FC236}">
                <a16:creationId xmlns:a16="http://schemas.microsoft.com/office/drawing/2014/main" id="{3B2D0AB0-1FC4-4DFC-85E4-0AAF9EF0EE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48845" y="2003664"/>
            <a:ext cx="5123088" cy="4122816"/>
          </a:xfrm>
          <a:prstGeom prst="rect">
            <a:avLst/>
          </a:prstGeom>
        </p:spPr>
      </p:pic>
    </p:spTree>
    <p:extLst>
      <p:ext uri="{BB962C8B-B14F-4D97-AF65-F5344CB8AC3E}">
        <p14:creationId xmlns:p14="http://schemas.microsoft.com/office/powerpoint/2010/main" val="34969474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34888"/>
            <a:ext cx="9733721" cy="775252"/>
          </a:xfrm>
        </p:spPr>
        <p:txBody>
          <a:bodyPr/>
          <a:lstStyle/>
          <a:p>
            <a:r>
              <a:rPr lang="en-GB" b="1" dirty="0">
                <a:solidFill>
                  <a:schemeClr val="bg1"/>
                </a:solidFill>
              </a:rPr>
              <a:t>Activity 2.2: DNS lookup </a:t>
            </a:r>
          </a:p>
        </p:txBody>
      </p:sp>
      <p:pic>
        <p:nvPicPr>
          <p:cNvPr id="5" name="Picture 4">
            <a:extLst>
              <a:ext uri="{FF2B5EF4-FFF2-40B4-BE49-F238E27FC236}">
                <a16:creationId xmlns:a16="http://schemas.microsoft.com/office/drawing/2014/main" id="{8BA69095-4D25-497C-9B83-1F9BEDE0CE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9261" y="1903472"/>
            <a:ext cx="4393477" cy="4304673"/>
          </a:xfrm>
          <a:prstGeom prst="rect">
            <a:avLst/>
          </a:prstGeom>
        </p:spPr>
      </p:pic>
    </p:spTree>
    <p:extLst>
      <p:ext uri="{BB962C8B-B14F-4D97-AF65-F5344CB8AC3E}">
        <p14:creationId xmlns:p14="http://schemas.microsoft.com/office/powerpoint/2010/main" val="950489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4BA82-FE7D-4DE6-BC00-A388E38B624C}"/>
              </a:ext>
            </a:extLst>
          </p:cNvPr>
          <p:cNvSpPr>
            <a:spLocks noGrp="1"/>
          </p:cNvSpPr>
          <p:nvPr>
            <p:ph type="title"/>
          </p:nvPr>
        </p:nvSpPr>
        <p:spPr>
          <a:xfrm>
            <a:off x="1560443" y="834888"/>
            <a:ext cx="9531628" cy="775252"/>
          </a:xfrm>
        </p:spPr>
        <p:txBody>
          <a:bodyPr>
            <a:noAutofit/>
          </a:bodyPr>
          <a:lstStyle/>
          <a:p>
            <a:r>
              <a:rPr lang="en-GB" b="1" dirty="0">
                <a:solidFill>
                  <a:schemeClr val="bg1"/>
                </a:solidFill>
              </a:rPr>
              <a:t>DNS servers</a:t>
            </a:r>
          </a:p>
        </p:txBody>
      </p:sp>
      <p:sp>
        <p:nvSpPr>
          <p:cNvPr id="3" name="Content Placeholder 2">
            <a:extLst>
              <a:ext uri="{FF2B5EF4-FFF2-40B4-BE49-F238E27FC236}">
                <a16:creationId xmlns:a16="http://schemas.microsoft.com/office/drawing/2014/main" id="{64D89CB4-E14F-4A81-9700-8E0CB5DA89CB}"/>
              </a:ext>
            </a:extLst>
          </p:cNvPr>
          <p:cNvSpPr>
            <a:spLocks noGrp="1"/>
          </p:cNvSpPr>
          <p:nvPr>
            <p:ph idx="1"/>
          </p:nvPr>
        </p:nvSpPr>
        <p:spPr>
          <a:xfrm>
            <a:off x="1560442" y="2084042"/>
            <a:ext cx="9044610" cy="4351338"/>
          </a:xfrm>
        </p:spPr>
        <p:txBody>
          <a:bodyPr>
            <a:normAutofit/>
          </a:bodyPr>
          <a:lstStyle/>
          <a:p>
            <a:pPr marL="0" indent="0">
              <a:buNone/>
            </a:pPr>
            <a:r>
              <a:rPr lang="en-GB" sz="2400" dirty="0"/>
              <a:t>Most internet providers, including Virgin Media, BT and TalkTalk, run their own DNS servers.</a:t>
            </a:r>
          </a:p>
          <a:p>
            <a:pPr marL="0" indent="0">
              <a:buNone/>
            </a:pPr>
            <a:r>
              <a:rPr lang="en-GB" sz="2400" dirty="0"/>
              <a:t>When a web browser wants to load a web page, it asks a DNS server for the IP address.</a:t>
            </a:r>
          </a:p>
          <a:p>
            <a:pPr marL="0" indent="0">
              <a:buNone/>
            </a:pPr>
            <a:endParaRPr lang="en-GB" sz="2400" dirty="0"/>
          </a:p>
        </p:txBody>
      </p:sp>
      <p:pic>
        <p:nvPicPr>
          <p:cNvPr id="7" name="Picture 6">
            <a:extLst>
              <a:ext uri="{FF2B5EF4-FFF2-40B4-BE49-F238E27FC236}">
                <a16:creationId xmlns:a16="http://schemas.microsoft.com/office/drawing/2014/main" id="{FBA4D81C-2D34-4E12-88C7-522E8BC5C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23313" y="3429000"/>
            <a:ext cx="4866889" cy="2758021"/>
          </a:xfrm>
          <a:prstGeom prst="rect">
            <a:avLst/>
          </a:prstGeom>
        </p:spPr>
      </p:pic>
      <p:sp>
        <p:nvSpPr>
          <p:cNvPr id="8" name="Rectangle 7">
            <a:extLst>
              <a:ext uri="{FF2B5EF4-FFF2-40B4-BE49-F238E27FC236}">
                <a16:creationId xmlns:a16="http://schemas.microsoft.com/office/drawing/2014/main" id="{2D51595E-C576-49C1-B7B7-CA144665B833}"/>
              </a:ext>
            </a:extLst>
          </p:cNvPr>
          <p:cNvSpPr/>
          <p:nvPr/>
        </p:nvSpPr>
        <p:spPr>
          <a:xfrm>
            <a:off x="1560442" y="3642390"/>
            <a:ext cx="5048984" cy="1938992"/>
          </a:xfrm>
          <a:prstGeom prst="rect">
            <a:avLst/>
          </a:prstGeom>
        </p:spPr>
        <p:txBody>
          <a:bodyPr wrap="square">
            <a:spAutoFit/>
          </a:bodyPr>
          <a:lstStyle/>
          <a:p>
            <a:r>
              <a:rPr lang="en-GB" sz="2400" dirty="0"/>
              <a:t>When a website changes its IP address, it tells the nearest DNS server, which passes the information on to other DNS servers. It can take up to 24 hours for all DNS servers to be updated.</a:t>
            </a:r>
          </a:p>
        </p:txBody>
      </p:sp>
    </p:spTree>
    <p:extLst>
      <p:ext uri="{BB962C8B-B14F-4D97-AF65-F5344CB8AC3E}">
        <p14:creationId xmlns:p14="http://schemas.microsoft.com/office/powerpoint/2010/main" val="36150031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319C5E1-3C66-4D25-941B-8994AD56DC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75284" y="2103637"/>
            <a:ext cx="7441432" cy="4185805"/>
          </a:xfrm>
          <a:prstGeom prst="rect">
            <a:avLst/>
          </a:prstGeom>
        </p:spPr>
      </p:pic>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42675"/>
            <a:ext cx="8196638" cy="775252"/>
          </a:xfrm>
        </p:spPr>
        <p:txBody>
          <a:bodyPr>
            <a:noAutofit/>
          </a:bodyPr>
          <a:lstStyle/>
          <a:p>
            <a:r>
              <a:rPr lang="en-GB" sz="3000" b="1" dirty="0">
                <a:solidFill>
                  <a:schemeClr val="bg1"/>
                </a:solidFill>
              </a:rPr>
              <a:t>What happens when a user wants to load a web page using a web address?</a:t>
            </a:r>
          </a:p>
        </p:txBody>
      </p:sp>
      <p:sp>
        <p:nvSpPr>
          <p:cNvPr id="3" name="Rectangle 2">
            <a:extLst>
              <a:ext uri="{FF2B5EF4-FFF2-40B4-BE49-F238E27FC236}">
                <a16:creationId xmlns:a16="http://schemas.microsoft.com/office/drawing/2014/main" id="{AA1F420D-4234-664A-80A1-F46AFD0F8258}"/>
              </a:ext>
            </a:extLst>
          </p:cNvPr>
          <p:cNvSpPr/>
          <p:nvPr/>
        </p:nvSpPr>
        <p:spPr>
          <a:xfrm>
            <a:off x="3204840" y="3429000"/>
            <a:ext cx="3835152" cy="600164"/>
          </a:xfrm>
          <a:prstGeom prst="rect">
            <a:avLst/>
          </a:prstGeom>
        </p:spPr>
        <p:txBody>
          <a:bodyPr wrap="square">
            <a:spAutoFit/>
          </a:bodyPr>
          <a:lstStyle/>
          <a:p>
            <a:pPr algn="ctr"/>
            <a:r>
              <a:rPr lang="en-GB" sz="3300" dirty="0">
                <a:ea typeface="Times New Roman" panose="02020603050405020304" pitchFamily="18" charset="0"/>
                <a:cs typeface="Calibri" panose="020F0502020204030204" pitchFamily="34" charset="0"/>
              </a:rPr>
              <a:t>Watch Animation 2.1</a:t>
            </a:r>
            <a:r>
              <a:rPr lang="en-GB" sz="3300" dirty="0"/>
              <a:t> </a:t>
            </a:r>
            <a:endParaRPr lang="en-US" sz="3300" dirty="0"/>
          </a:p>
        </p:txBody>
      </p:sp>
    </p:spTree>
    <p:extLst>
      <p:ext uri="{BB962C8B-B14F-4D97-AF65-F5344CB8AC3E}">
        <p14:creationId xmlns:p14="http://schemas.microsoft.com/office/powerpoint/2010/main" val="3036242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500" fill="hold"/>
                                        <p:tgtEl>
                                          <p:spTgt spid="3">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3">
                                            <p:txEl>
                                              <p:pRg st="0" end="0"/>
                                            </p:txEl>
                                          </p:spTgt>
                                        </p:tgtEl>
                                        <p:attrNameLst>
                                          <p:attrName>ppt_h</p:attrName>
                                        </p:attrNameLst>
                                      </p:cBhvr>
                                      <p:tavLst>
                                        <p:tav tm="0">
                                          <p:val>
                                            <p:fltVal val="0"/>
                                          </p:val>
                                        </p:tav>
                                        <p:tav tm="100000">
                                          <p:val>
                                            <p:strVal val="#ppt_h"/>
                                          </p:val>
                                        </p:tav>
                                      </p:tavLst>
                                    </p:anim>
                                    <p:anim calcmode="lin" valueType="num">
                                      <p:cBhvr>
                                        <p:cTn id="9" dur="500" fill="hold"/>
                                        <p:tgtEl>
                                          <p:spTgt spid="3">
                                            <p:txEl>
                                              <p:pRg st="0" end="0"/>
                                            </p:txEl>
                                          </p:spTgt>
                                        </p:tgtEl>
                                        <p:attrNameLst>
                                          <p:attrName>style.rotation</p:attrName>
                                        </p:attrNameLst>
                                      </p:cBhvr>
                                      <p:tavLst>
                                        <p:tav tm="0">
                                          <p:val>
                                            <p:fltVal val="360"/>
                                          </p:val>
                                        </p:tav>
                                        <p:tav tm="100000">
                                          <p:val>
                                            <p:fltVal val="0"/>
                                          </p:val>
                                        </p:tav>
                                      </p:tavLst>
                                    </p:anim>
                                    <p:animEffect transition="in" filter="fade">
                                      <p:cBhvr>
                                        <p:cTn id="10"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34888"/>
            <a:ext cx="9733721" cy="775252"/>
          </a:xfrm>
        </p:spPr>
        <p:txBody>
          <a:bodyPr/>
          <a:lstStyle/>
          <a:p>
            <a:r>
              <a:rPr lang="en-GB" b="1" dirty="0">
                <a:solidFill>
                  <a:schemeClr val="bg1"/>
                </a:solidFill>
              </a:rPr>
              <a:t>Activity 2.3: How DNS works</a:t>
            </a:r>
          </a:p>
        </p:txBody>
      </p:sp>
      <p:sp>
        <p:nvSpPr>
          <p:cNvPr id="3" name="Rectangle 2">
            <a:extLst>
              <a:ext uri="{FF2B5EF4-FFF2-40B4-BE49-F238E27FC236}">
                <a16:creationId xmlns:a16="http://schemas.microsoft.com/office/drawing/2014/main" id="{AA1F420D-4234-664A-80A1-F46AFD0F8258}"/>
              </a:ext>
            </a:extLst>
          </p:cNvPr>
          <p:cNvSpPr/>
          <p:nvPr/>
        </p:nvSpPr>
        <p:spPr>
          <a:xfrm>
            <a:off x="8153814" y="5361370"/>
            <a:ext cx="3844514" cy="523220"/>
          </a:xfrm>
          <a:prstGeom prst="rect">
            <a:avLst/>
          </a:prstGeom>
        </p:spPr>
        <p:txBody>
          <a:bodyPr wrap="none">
            <a:spAutoFit/>
          </a:bodyPr>
          <a:lstStyle/>
          <a:p>
            <a:r>
              <a:rPr lang="en-GB" sz="2800" dirty="0">
                <a:ea typeface="Times New Roman" panose="02020603050405020304" pitchFamily="18" charset="0"/>
                <a:cs typeface="Calibri" panose="020F0502020204030204" pitchFamily="34" charset="0"/>
              </a:rPr>
              <a:t>Complete Interactive 2.3</a:t>
            </a:r>
            <a:r>
              <a:rPr lang="en-GB" sz="2800" dirty="0"/>
              <a:t> </a:t>
            </a:r>
            <a:endParaRPr lang="en-US" sz="2800" dirty="0"/>
          </a:p>
        </p:txBody>
      </p:sp>
      <p:pic>
        <p:nvPicPr>
          <p:cNvPr id="5" name="Picture 4">
            <a:extLst>
              <a:ext uri="{FF2B5EF4-FFF2-40B4-BE49-F238E27FC236}">
                <a16:creationId xmlns:a16="http://schemas.microsoft.com/office/drawing/2014/main" id="{877F941E-E3FA-4B49-9433-1B3257B0AF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9261" y="1903472"/>
            <a:ext cx="4393477" cy="4304673"/>
          </a:xfrm>
          <a:prstGeom prst="rect">
            <a:avLst/>
          </a:prstGeom>
        </p:spPr>
      </p:pic>
    </p:spTree>
    <p:extLst>
      <p:ext uri="{BB962C8B-B14F-4D97-AF65-F5344CB8AC3E}">
        <p14:creationId xmlns:p14="http://schemas.microsoft.com/office/powerpoint/2010/main" val="3902250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500" fill="hold"/>
                                        <p:tgtEl>
                                          <p:spTgt spid="3">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3">
                                            <p:txEl>
                                              <p:pRg st="0" end="0"/>
                                            </p:txEl>
                                          </p:spTgt>
                                        </p:tgtEl>
                                        <p:attrNameLst>
                                          <p:attrName>ppt_h</p:attrName>
                                        </p:attrNameLst>
                                      </p:cBhvr>
                                      <p:tavLst>
                                        <p:tav tm="0">
                                          <p:val>
                                            <p:fltVal val="0"/>
                                          </p:val>
                                        </p:tav>
                                        <p:tav tm="100000">
                                          <p:val>
                                            <p:strVal val="#ppt_h"/>
                                          </p:val>
                                        </p:tav>
                                      </p:tavLst>
                                    </p:anim>
                                    <p:anim calcmode="lin" valueType="num">
                                      <p:cBhvr>
                                        <p:cTn id="9" dur="500" fill="hold"/>
                                        <p:tgtEl>
                                          <p:spTgt spid="3">
                                            <p:txEl>
                                              <p:pRg st="0" end="0"/>
                                            </p:txEl>
                                          </p:spTgt>
                                        </p:tgtEl>
                                        <p:attrNameLst>
                                          <p:attrName>style.rotation</p:attrName>
                                        </p:attrNameLst>
                                      </p:cBhvr>
                                      <p:tavLst>
                                        <p:tav tm="0">
                                          <p:val>
                                            <p:fltVal val="360"/>
                                          </p:val>
                                        </p:tav>
                                        <p:tav tm="100000">
                                          <p:val>
                                            <p:fltVal val="0"/>
                                          </p:val>
                                        </p:tav>
                                      </p:tavLst>
                                    </p:anim>
                                    <p:animEffect transition="in" filter="fade">
                                      <p:cBhvr>
                                        <p:cTn id="10"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34888"/>
            <a:ext cx="9733721" cy="775252"/>
          </a:xfrm>
        </p:spPr>
        <p:txBody>
          <a:bodyPr/>
          <a:lstStyle/>
          <a:p>
            <a:r>
              <a:rPr lang="en-GB" b="1" dirty="0">
                <a:solidFill>
                  <a:schemeClr val="bg1"/>
                </a:solidFill>
              </a:rPr>
              <a:t>Activity 2.4: Toppers (Part 2)</a:t>
            </a:r>
          </a:p>
        </p:txBody>
      </p:sp>
      <p:pic>
        <p:nvPicPr>
          <p:cNvPr id="4" name="Picture 3">
            <a:extLst>
              <a:ext uri="{FF2B5EF4-FFF2-40B4-BE49-F238E27FC236}">
                <a16:creationId xmlns:a16="http://schemas.microsoft.com/office/drawing/2014/main" id="{0E0CCC99-8F29-46CE-815B-936C5AA75F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9261" y="1903472"/>
            <a:ext cx="4393477" cy="4304673"/>
          </a:xfrm>
          <a:prstGeom prst="rect">
            <a:avLst/>
          </a:prstGeom>
        </p:spPr>
      </p:pic>
    </p:spTree>
    <p:extLst>
      <p:ext uri="{BB962C8B-B14F-4D97-AF65-F5344CB8AC3E}">
        <p14:creationId xmlns:p14="http://schemas.microsoft.com/office/powerpoint/2010/main" val="2998381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06696-8D12-4574-BDC3-2DC3137EF4C6}"/>
              </a:ext>
            </a:extLst>
          </p:cNvPr>
          <p:cNvSpPr>
            <a:spLocks noGrp="1"/>
          </p:cNvSpPr>
          <p:nvPr>
            <p:ph type="title"/>
          </p:nvPr>
        </p:nvSpPr>
        <p:spPr>
          <a:xfrm>
            <a:off x="1620078" y="834888"/>
            <a:ext cx="9733721" cy="775252"/>
          </a:xfrm>
        </p:spPr>
        <p:txBody>
          <a:bodyPr/>
          <a:lstStyle/>
          <a:p>
            <a:r>
              <a:rPr lang="en-GB" b="1">
                <a:solidFill>
                  <a:schemeClr val="bg1"/>
                </a:solidFill>
              </a:rPr>
              <a:t>Quiz 2</a:t>
            </a:r>
            <a:endParaRPr lang="en-GB" b="1" dirty="0">
              <a:solidFill>
                <a:schemeClr val="bg1"/>
              </a:solidFill>
            </a:endParaRPr>
          </a:p>
        </p:txBody>
      </p:sp>
      <p:pic>
        <p:nvPicPr>
          <p:cNvPr id="4" name="Picture 3">
            <a:extLst>
              <a:ext uri="{FF2B5EF4-FFF2-40B4-BE49-F238E27FC236}">
                <a16:creationId xmlns:a16="http://schemas.microsoft.com/office/drawing/2014/main" id="{9CD9F5A7-6C02-4816-B837-7781513555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99261" y="1903472"/>
            <a:ext cx="4393477" cy="4304673"/>
          </a:xfrm>
          <a:prstGeom prst="rect">
            <a:avLst/>
          </a:prstGeom>
        </p:spPr>
      </p:pic>
    </p:spTree>
    <p:extLst>
      <p:ext uri="{BB962C8B-B14F-4D97-AF65-F5344CB8AC3E}">
        <p14:creationId xmlns:p14="http://schemas.microsoft.com/office/powerpoint/2010/main" val="21819852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422</TotalTime>
  <Words>450</Words>
  <Application>Microsoft Office PowerPoint</Application>
  <PresentationFormat>Widescreen</PresentationFormat>
  <Paragraphs>49</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Symbol</vt:lpstr>
      <vt:lpstr>Office Theme</vt:lpstr>
      <vt:lpstr>PowerPoint Presentation</vt:lpstr>
      <vt:lpstr>Objectives</vt:lpstr>
      <vt:lpstr>Web browsers</vt:lpstr>
      <vt:lpstr>Web addresses </vt:lpstr>
      <vt:lpstr>Domain names</vt:lpstr>
      <vt:lpstr>Activity 2.1: Domain names</vt:lpstr>
      <vt:lpstr>IP addresses </vt:lpstr>
      <vt:lpstr>Finding an IP address </vt:lpstr>
      <vt:lpstr>Activity 2.2: DNS lookup </vt:lpstr>
      <vt:lpstr>DNS servers</vt:lpstr>
      <vt:lpstr>What happens when a user wants to load a web page using a web address?</vt:lpstr>
      <vt:lpstr>Activity 2.3: How DNS works</vt:lpstr>
      <vt:lpstr>Activity 2.4: Toppers (Part 2)</vt:lpstr>
      <vt:lpstr>Quiz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Introducing spreadsheets</dc:title>
  <dc:creator>Lea Albrechtsen</dc:creator>
  <cp:lastModifiedBy>Lea Albrechtsen</cp:lastModifiedBy>
  <cp:revision>45</cp:revision>
  <dcterms:created xsi:type="dcterms:W3CDTF">2020-11-04T15:22:46Z</dcterms:created>
  <dcterms:modified xsi:type="dcterms:W3CDTF">2021-06-04T10:18:32Z</dcterms:modified>
</cp:coreProperties>
</file>