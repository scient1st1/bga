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5" r:id="rId6"/>
    <p:sldId id="266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bigail Woodman" initials="AW" lastIdx="6" clrIdx="0">
    <p:extLst>
      <p:ext uri="{19B8F6BF-5375-455C-9EA6-DF929625EA0E}">
        <p15:presenceInfo xmlns:p15="http://schemas.microsoft.com/office/powerpoint/2012/main" userId="101d9322c09a9ebd" providerId="Windows Live"/>
      </p:ext>
    </p:extLst>
  </p:cmAuthor>
  <p:cmAuthor id="2" name="Mr M Clarkson" initials="MMC" lastIdx="3" clrIdx="1">
    <p:extLst>
      <p:ext uri="{19B8F6BF-5375-455C-9EA6-DF929625EA0E}">
        <p15:presenceInfo xmlns:p15="http://schemas.microsoft.com/office/powerpoint/2012/main" userId="S-1-5-21-945254670-3325979339-902622878-507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759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71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25544-2910-4844-AB70-D10577CB2B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2F123D-BE90-4937-9FDF-111AD9A3E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11DEC9-A71C-4EBC-A557-0261282E7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8AC6F0-7B11-4FFC-85BF-EEE5CC518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FEC85-D8E0-4835-857D-FCD18DCC8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6547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DD1A3-68AB-48BE-9411-3E4E60D3A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BE2A3-3486-42D0-A8AF-9D3776C93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317D4-DB0D-47B6-97CC-9DEADAB37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B585C-3E46-4663-95BD-CEAB6FC25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EA073-B4C5-4BBC-B5AA-DD5EEF4DA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01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63506-00D1-4D25-ABA4-AD695AE34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6CFE4-B790-41BB-A639-530210812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4494DC-A722-4E24-8CFA-AC8625270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B1342-4DFA-45B0-BD30-03FFB956D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3074E-8275-4750-9C03-4ECA54D6D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725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B9180-FBE0-4FC5-990D-D5495C4E8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66F30-CCAB-4804-90C0-CF293DAEC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F0A4E9-2E00-41AD-9398-50EE07B08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90E92-12A9-4CE1-987B-0F09F1A70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D6009-DB3E-4B28-8E55-5DB8F2528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E12F7-48E1-40CF-BE38-2BC22957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918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15CD7-4D8F-4024-9EC9-C9DCA1B98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BF56BB-C54C-426F-A127-2346BD38B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94D007-30AF-4E06-93F8-101D664CA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2D0187-6241-4186-9C58-93D385EED7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20A441-2583-4967-866C-B7308E0A42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368DD-2A79-4469-95D9-752764E67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BCEEC7-0151-4061-A9AE-0B75A7291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4AE594-1F13-4767-BA95-E0528B298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5055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D6E40-84E2-4319-9A22-3A3CA5AF0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3C3CB9-5887-4DA1-94D3-1E79D6178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B71890-BB14-4307-A74E-441AC6A2B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F4404D-28FE-42EA-BCE9-DAD4499F5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704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8EBA6E-0308-4F80-B96A-FC634AC2A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DB1180-FE2D-4577-B71E-CE79DEECA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B3E97D-E83C-4F03-9E5E-6FCBBDF2E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4439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618D-31A4-4AB0-9A2C-FCE4395EF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BE36B-3F04-4A51-9C3E-18614341D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338FE6-9821-4FC8-AB0F-9972A19DB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7FE03E-F063-445F-9C2B-8A811374F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26E8-8B8A-47DA-B7E6-CF040DCFE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1216-3BE7-4C2E-9C3A-714A38A87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1497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B3B33-2C16-485B-BD47-434B8E4D3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FDF0F9-E4B8-4C7B-B0CD-2FB57938C9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739C9-0D0D-433D-A876-0AD56DFE44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A7ECAD-8B0D-4696-B872-798F1277C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0442C-D68A-4F8D-8B16-896EAEE9F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CA65B-4EFB-42D0-8AFD-48ED151BC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571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5303A-4AD0-4A32-A51A-F506C972D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9DF74-BA92-4187-A60E-8689F0B8D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0DA99-47E9-4D36-BA8D-E877683B0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F3ABF8-43E4-48C0-B0C8-6BE5A39B6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C4F64-4B2F-477A-893D-D2118F58F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024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1B93B9-94E7-4A34-BE20-858EE79D2E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E3FF3D-477A-4E9D-8350-30055E879C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F24C0C-A4EF-4A1B-8B78-4F2FFAAB1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6E06B-F05F-4D33-ACD8-891A67549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D52B0-990F-4829-9AF2-56D7C8DD6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361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708BB4-6445-42E5-BE52-67A20D1DD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C90418-BE70-4C22-B1D5-179C67A05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4B0ED-815B-4A55-9664-3054101FC5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A607A-8249-4D9A-BC73-80F806CDE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8A264-1A1B-42C0-B4D1-A6559B5E7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Picture 6" descr="Shape, rectangle&#10;&#10;Description automatically generated">
            <a:extLst>
              <a:ext uri="{FF2B5EF4-FFF2-40B4-BE49-F238E27FC236}">
                <a16:creationId xmlns:a16="http://schemas.microsoft.com/office/drawing/2014/main" id="{1144596D-F912-406D-A1BB-79E11AC2FF19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4"/>
            <a:ext cx="12217999" cy="162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667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92D9B-38F3-4BA0-8C77-3A4828868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9011"/>
            <a:ext cx="9977438" cy="862585"/>
          </a:xfrm>
        </p:spPr>
        <p:txBody>
          <a:bodyPr>
            <a:noAutofit/>
          </a:bodyPr>
          <a:lstStyle/>
          <a:p>
            <a:pPr algn="l"/>
            <a:r>
              <a:rPr lang="en-GB" sz="4000" b="1" dirty="0">
                <a:solidFill>
                  <a:schemeClr val="bg1"/>
                </a:solidFill>
              </a:rPr>
              <a:t>Activity 6.1: Community guide to the internet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A96D1-AC0C-40D3-9280-429B69BDF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360" y="2244601"/>
            <a:ext cx="9107528" cy="3854388"/>
          </a:xfrm>
        </p:spPr>
        <p:txBody>
          <a:bodyPr>
            <a:noAutofit/>
          </a:bodyPr>
          <a:lstStyle/>
          <a:p>
            <a:pPr algn="l"/>
            <a:r>
              <a:rPr lang="en-GB" dirty="0"/>
              <a:t>Complete slides 2–5 to write answers to the FAQs.</a:t>
            </a:r>
          </a:p>
          <a:p>
            <a:pPr algn="l"/>
            <a:r>
              <a:rPr lang="en-GB" dirty="0"/>
              <a:t>This is your end-of-module assessment, so try to show off everything you have learnt.</a:t>
            </a:r>
          </a:p>
          <a:p>
            <a:pPr algn="l"/>
            <a:r>
              <a:rPr lang="en-GB" dirty="0"/>
              <a:t>But, remember, the people the answers are supposed to help are not experts, so try to explain technical terms in language that everyone can understand. </a:t>
            </a:r>
          </a:p>
          <a:p>
            <a:pPr algn="l"/>
            <a:r>
              <a:rPr lang="en-GB" dirty="0"/>
              <a:t>When you have finished writing the Community guide to the internet, complete Slide 6 to self-assess your work.</a:t>
            </a:r>
          </a:p>
          <a:p>
            <a:pPr algn="l"/>
            <a:r>
              <a:rPr lang="en-GB" dirty="0"/>
              <a:t>Your teacher will use slide 7 to mark your work.</a:t>
            </a:r>
          </a:p>
        </p:txBody>
      </p:sp>
    </p:spTree>
    <p:extLst>
      <p:ext uri="{BB962C8B-B14F-4D97-AF65-F5344CB8AC3E}">
        <p14:creationId xmlns:p14="http://schemas.microsoft.com/office/powerpoint/2010/main" val="296202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76B72-9301-4BD6-94E3-EA712A20F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871538"/>
            <a:ext cx="9753600" cy="739148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IP addresses and website addresses</a:t>
            </a:r>
            <a:br>
              <a:rPr lang="en-GB" sz="3600" b="1" dirty="0">
                <a:solidFill>
                  <a:schemeClr val="bg1"/>
                </a:solidFill>
              </a:rPr>
            </a:br>
            <a:r>
              <a:rPr lang="en-GB" sz="1400" b="1" dirty="0">
                <a:solidFill>
                  <a:schemeClr val="bg1"/>
                </a:solidFill>
              </a:rPr>
              <a:t>Try to remember what you have learnt about IP addresses, domain names and DNS.</a:t>
            </a:r>
            <a:endParaRPr lang="en-GB" sz="3600" b="1" dirty="0">
              <a:solidFill>
                <a:schemeClr val="bg1"/>
              </a:solidFill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06E9F4D1-4D8C-4EB1-8593-7C5094F8C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5156935"/>
              </p:ext>
            </p:extLst>
          </p:nvPr>
        </p:nvGraphicFramePr>
        <p:xfrm>
          <a:off x="348614" y="1842406"/>
          <a:ext cx="11512459" cy="482835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518">
                  <a:extLst>
                    <a:ext uri="{9D8B030D-6E8A-4147-A177-3AD203B41FA5}">
                      <a16:colId xmlns:a16="http://schemas.microsoft.com/office/drawing/2014/main" val="3508800977"/>
                    </a:ext>
                  </a:extLst>
                </a:gridCol>
                <a:gridCol w="8017941">
                  <a:extLst>
                    <a:ext uri="{9D8B030D-6E8A-4147-A177-3AD203B41FA5}">
                      <a16:colId xmlns:a16="http://schemas.microsoft.com/office/drawing/2014/main" val="3611869461"/>
                    </a:ext>
                  </a:extLst>
                </a:gridCol>
              </a:tblGrid>
              <a:tr h="38829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Question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Answer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230643"/>
                  </a:ext>
                </a:extLst>
              </a:tr>
              <a:tr h="1261958">
                <a:tc>
                  <a:txBody>
                    <a:bodyPr/>
                    <a:lstStyle/>
                    <a:p>
                      <a:r>
                        <a:rPr lang="en-GB" dirty="0"/>
                        <a:t>To connect to the internet I have been told I need to connect my laptop to a switch. What is a switch and what does it do?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1240402"/>
                  </a:ext>
                </a:extLst>
              </a:tr>
              <a:tr h="945410">
                <a:tc>
                  <a:txBody>
                    <a:bodyPr/>
                    <a:lstStyle/>
                    <a:p>
                      <a:r>
                        <a:rPr lang="en-GB" dirty="0"/>
                        <a:t>I have heard the term ‘IP address’. What is an IP address and what does it look like?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9238493"/>
                  </a:ext>
                </a:extLst>
              </a:tr>
              <a:tr h="1261958">
                <a:tc>
                  <a:txBody>
                    <a:bodyPr/>
                    <a:lstStyle/>
                    <a:p>
                      <a:r>
                        <a:rPr lang="en-GB" dirty="0"/>
                        <a:t>I don’t think I can remember the IP addresses for all my favourite websites. Isn’t there something easier I can use?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5307545"/>
                  </a:ext>
                </a:extLst>
              </a:tr>
              <a:tr h="970737">
                <a:tc>
                  <a:txBody>
                    <a:bodyPr/>
                    <a:lstStyle/>
                    <a:p>
                      <a:r>
                        <a:rPr lang="en-GB" dirty="0"/>
                        <a:t>How does the computer know which website to go to when I type in the website address?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585866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5814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76B72-9301-4BD6-94E3-EA712A20F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794" y="853440"/>
            <a:ext cx="9734006" cy="757646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Packets and packet switching</a:t>
            </a:r>
            <a:br>
              <a:rPr lang="en-GB" b="1" dirty="0">
                <a:solidFill>
                  <a:schemeClr val="bg1"/>
                </a:solidFill>
              </a:rPr>
            </a:br>
            <a:r>
              <a:rPr lang="en-GB" sz="1400" b="1" dirty="0">
                <a:solidFill>
                  <a:schemeClr val="bg1"/>
                </a:solidFill>
              </a:rPr>
              <a:t>This section is probably a bit complicated for your average user, so focus on showing off what you have learnt.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ED8D99C-797C-4D06-A1D3-8A8FEEF1F9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0795228"/>
              </p:ext>
            </p:extLst>
          </p:nvPr>
        </p:nvGraphicFramePr>
        <p:xfrm>
          <a:off x="348614" y="1842407"/>
          <a:ext cx="11512800" cy="482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622">
                  <a:extLst>
                    <a:ext uri="{9D8B030D-6E8A-4147-A177-3AD203B41FA5}">
                      <a16:colId xmlns:a16="http://schemas.microsoft.com/office/drawing/2014/main" val="3508800977"/>
                    </a:ext>
                  </a:extLst>
                </a:gridCol>
                <a:gridCol w="8018178">
                  <a:extLst>
                    <a:ext uri="{9D8B030D-6E8A-4147-A177-3AD203B41FA5}">
                      <a16:colId xmlns:a16="http://schemas.microsoft.com/office/drawing/2014/main" val="3611869461"/>
                    </a:ext>
                  </a:extLst>
                </a:gridCol>
              </a:tblGrid>
              <a:tr h="383100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Question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Answer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230643"/>
                  </a:ext>
                </a:extLst>
              </a:tr>
              <a:tr h="1481500">
                <a:tc>
                  <a:txBody>
                    <a:bodyPr/>
                    <a:lstStyle/>
                    <a:p>
                      <a:r>
                        <a:rPr lang="en-GB" b="0" dirty="0"/>
                        <a:t>What are packets and what are they used for?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1240402"/>
                  </a:ext>
                </a:extLst>
              </a:tr>
              <a:tr h="1481500">
                <a:tc>
                  <a:txBody>
                    <a:bodyPr/>
                    <a:lstStyle/>
                    <a:p>
                      <a:r>
                        <a:rPr lang="en-GB" b="0" dirty="0"/>
                        <a:t>What is a header, and what goes into it?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9238493"/>
                  </a:ext>
                </a:extLst>
              </a:tr>
              <a:tr h="14815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When I send my packets off, what happens if they get stuck in a traffic jam?</a:t>
                      </a:r>
                    </a:p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5307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2253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76B72-9301-4BD6-94E3-EA712A20F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794" y="862149"/>
            <a:ext cx="9751423" cy="757646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Online services</a:t>
            </a:r>
            <a:br>
              <a:rPr lang="en-GB" b="1" dirty="0">
                <a:solidFill>
                  <a:schemeClr val="bg1"/>
                </a:solidFill>
              </a:rPr>
            </a:br>
            <a:r>
              <a:rPr lang="en-GB" sz="1400" b="1" dirty="0">
                <a:solidFill>
                  <a:schemeClr val="bg1"/>
                </a:solidFill>
              </a:rPr>
              <a:t>‘I already use some online services but are there any I’m missing out on?’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BAD6330-D393-4E93-8A2C-7A347EB39F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30288655"/>
              </p:ext>
            </p:extLst>
          </p:nvPr>
        </p:nvGraphicFramePr>
        <p:xfrm>
          <a:off x="348614" y="1842407"/>
          <a:ext cx="11512800" cy="48276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622">
                  <a:extLst>
                    <a:ext uri="{9D8B030D-6E8A-4147-A177-3AD203B41FA5}">
                      <a16:colId xmlns:a16="http://schemas.microsoft.com/office/drawing/2014/main" val="3508800977"/>
                    </a:ext>
                  </a:extLst>
                </a:gridCol>
                <a:gridCol w="8018178">
                  <a:extLst>
                    <a:ext uri="{9D8B030D-6E8A-4147-A177-3AD203B41FA5}">
                      <a16:colId xmlns:a16="http://schemas.microsoft.com/office/drawing/2014/main" val="3611869461"/>
                    </a:ext>
                  </a:extLst>
                </a:gridCol>
              </a:tblGrid>
              <a:tr h="367025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Online service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230643"/>
                  </a:ext>
                </a:extLst>
              </a:tr>
              <a:tr h="111514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7576120"/>
                  </a:ext>
                </a:extLst>
              </a:tr>
              <a:tr h="111514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1240402"/>
                  </a:ext>
                </a:extLst>
              </a:tr>
              <a:tr h="111514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9238493"/>
                  </a:ext>
                </a:extLst>
              </a:tr>
              <a:tr h="111514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5307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2476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76B72-9301-4BD6-94E3-EA712A20F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794" y="862149"/>
            <a:ext cx="9751423" cy="757646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Connecting to the internet</a:t>
            </a:r>
            <a:br>
              <a:rPr lang="en-GB" b="1" dirty="0">
                <a:solidFill>
                  <a:schemeClr val="bg1"/>
                </a:solidFill>
              </a:rPr>
            </a:br>
            <a:r>
              <a:rPr lang="en-GB" sz="1400" b="1" dirty="0">
                <a:solidFill>
                  <a:schemeClr val="bg1"/>
                </a:solidFill>
              </a:rPr>
              <a:t>‘When I got my phone, they told me to keep my Wi-Fi and mobile data turned off. When should I turn them on?’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BAD6330-D393-4E93-8A2C-7A347EB39F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33729305"/>
              </p:ext>
            </p:extLst>
          </p:nvPr>
        </p:nvGraphicFramePr>
        <p:xfrm>
          <a:off x="348614" y="1842407"/>
          <a:ext cx="11512800" cy="482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622">
                  <a:extLst>
                    <a:ext uri="{9D8B030D-6E8A-4147-A177-3AD203B41FA5}">
                      <a16:colId xmlns:a16="http://schemas.microsoft.com/office/drawing/2014/main" val="3508800977"/>
                    </a:ext>
                  </a:extLst>
                </a:gridCol>
                <a:gridCol w="8018178">
                  <a:extLst>
                    <a:ext uri="{9D8B030D-6E8A-4147-A177-3AD203B41FA5}">
                      <a16:colId xmlns:a16="http://schemas.microsoft.com/office/drawing/2014/main" val="3611869461"/>
                    </a:ext>
                  </a:extLst>
                </a:gridCol>
              </a:tblGrid>
              <a:tr h="368360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Question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Answer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230643"/>
                  </a:ext>
                </a:extLst>
              </a:tr>
              <a:tr h="142113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When should I use private Wi-Fi?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7576120"/>
                  </a:ext>
                </a:extLst>
              </a:tr>
              <a:tr h="142113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When should I use a public hotspot?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1240402"/>
                  </a:ext>
                </a:extLst>
              </a:tr>
              <a:tr h="16169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When should I use mobile data?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923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1414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76B72-9301-4BD6-94E3-EA712A20F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794" y="862149"/>
            <a:ext cx="9751423" cy="757646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Self-assessment</a:t>
            </a:r>
            <a:br>
              <a:rPr lang="en-GB" b="1" dirty="0">
                <a:solidFill>
                  <a:schemeClr val="bg1"/>
                </a:solidFill>
              </a:rPr>
            </a:br>
            <a:r>
              <a:rPr lang="en-GB" sz="1400" b="1" dirty="0">
                <a:solidFill>
                  <a:schemeClr val="bg1"/>
                </a:solidFill>
              </a:rPr>
              <a:t>Now you have finished the Community guide to the internet, self-assess your work. What have you done well and what could be better?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BAD6330-D393-4E93-8A2C-7A347EB39F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20949375"/>
              </p:ext>
            </p:extLst>
          </p:nvPr>
        </p:nvGraphicFramePr>
        <p:xfrm>
          <a:off x="348614" y="1846220"/>
          <a:ext cx="11512800" cy="482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56400">
                  <a:extLst>
                    <a:ext uri="{9D8B030D-6E8A-4147-A177-3AD203B41FA5}">
                      <a16:colId xmlns:a16="http://schemas.microsoft.com/office/drawing/2014/main" val="3508800977"/>
                    </a:ext>
                  </a:extLst>
                </a:gridCol>
                <a:gridCol w="5756400">
                  <a:extLst>
                    <a:ext uri="{9D8B030D-6E8A-4147-A177-3AD203B41FA5}">
                      <a16:colId xmlns:a16="http://schemas.microsoft.com/office/drawing/2014/main" val="3611869461"/>
                    </a:ext>
                  </a:extLst>
                </a:gridCol>
              </a:tblGrid>
              <a:tr h="412660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Strengths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Areas for improvement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230643"/>
                  </a:ext>
                </a:extLst>
              </a:tr>
              <a:tr h="14070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7576120"/>
                  </a:ext>
                </a:extLst>
              </a:tr>
              <a:tr h="14070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1240402"/>
                  </a:ext>
                </a:extLst>
              </a:tr>
              <a:tr h="160091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923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2251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76B72-9301-4BD6-94E3-EA712A20F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794" y="862149"/>
            <a:ext cx="9751423" cy="757646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Teacher assessment</a:t>
            </a:r>
            <a:br>
              <a:rPr lang="en-GB" b="1" dirty="0">
                <a:solidFill>
                  <a:schemeClr val="bg1"/>
                </a:solidFill>
              </a:rPr>
            </a:br>
            <a:endParaRPr lang="en-GB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BAD6330-D393-4E93-8A2C-7A347EB39F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3284879"/>
              </p:ext>
            </p:extLst>
          </p:nvPr>
        </p:nvGraphicFramePr>
        <p:xfrm>
          <a:off x="348614" y="1846220"/>
          <a:ext cx="11512800" cy="48278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4655">
                  <a:extLst>
                    <a:ext uri="{9D8B030D-6E8A-4147-A177-3AD203B41FA5}">
                      <a16:colId xmlns:a16="http://schemas.microsoft.com/office/drawing/2014/main" val="3866006935"/>
                    </a:ext>
                  </a:extLst>
                </a:gridCol>
                <a:gridCol w="1497874">
                  <a:extLst>
                    <a:ext uri="{9D8B030D-6E8A-4147-A177-3AD203B41FA5}">
                      <a16:colId xmlns:a16="http://schemas.microsoft.com/office/drawing/2014/main" val="1378229545"/>
                    </a:ext>
                  </a:extLst>
                </a:gridCol>
                <a:gridCol w="1497874">
                  <a:extLst>
                    <a:ext uri="{9D8B030D-6E8A-4147-A177-3AD203B41FA5}">
                      <a16:colId xmlns:a16="http://schemas.microsoft.com/office/drawing/2014/main" val="2834646473"/>
                    </a:ext>
                  </a:extLst>
                </a:gridCol>
                <a:gridCol w="1497874">
                  <a:extLst>
                    <a:ext uri="{9D8B030D-6E8A-4147-A177-3AD203B41FA5}">
                      <a16:colId xmlns:a16="http://schemas.microsoft.com/office/drawing/2014/main" val="3508800977"/>
                    </a:ext>
                  </a:extLst>
                </a:gridCol>
                <a:gridCol w="5164523">
                  <a:extLst>
                    <a:ext uri="{9D8B030D-6E8A-4147-A177-3AD203B41FA5}">
                      <a16:colId xmlns:a16="http://schemas.microsoft.com/office/drawing/2014/main" val="3611869461"/>
                    </a:ext>
                  </a:extLst>
                </a:gridCol>
              </a:tblGrid>
              <a:tr h="365489"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Topic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Remembered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Understood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Applied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Comments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59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230643"/>
                  </a:ext>
                </a:extLst>
              </a:tr>
              <a:tr h="637444">
                <a:tc>
                  <a:txBody>
                    <a:bodyPr/>
                    <a:lstStyle/>
                    <a:p>
                      <a:r>
                        <a:rPr lang="en-GB" sz="1600" dirty="0"/>
                        <a:t>IP addressing and switches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64062447"/>
                  </a:ext>
                </a:extLst>
              </a:tr>
              <a:tr h="637444">
                <a:tc>
                  <a:txBody>
                    <a:bodyPr/>
                    <a:lstStyle/>
                    <a:p>
                      <a:r>
                        <a:rPr lang="en-GB" sz="1600" dirty="0"/>
                        <a:t>Domain names and DNS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8287119"/>
                  </a:ext>
                </a:extLst>
              </a:tr>
              <a:tr h="637444">
                <a:tc>
                  <a:txBody>
                    <a:bodyPr/>
                    <a:lstStyle/>
                    <a:p>
                      <a:r>
                        <a:rPr lang="en-GB" sz="1600" dirty="0"/>
                        <a:t>Packets and packet switching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78934072"/>
                  </a:ext>
                </a:extLst>
              </a:tr>
              <a:tr h="637444">
                <a:tc>
                  <a:txBody>
                    <a:bodyPr/>
                    <a:lstStyle/>
                    <a:p>
                      <a:r>
                        <a:rPr lang="en-GB" sz="1600" dirty="0"/>
                        <a:t>Online services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7576120"/>
                  </a:ext>
                </a:extLst>
              </a:tr>
              <a:tr h="637444">
                <a:tc>
                  <a:txBody>
                    <a:bodyPr/>
                    <a:lstStyle/>
                    <a:p>
                      <a:r>
                        <a:rPr lang="en-GB" sz="1600" dirty="0"/>
                        <a:t>Ways to connect to the internet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47483445"/>
                  </a:ext>
                </a:extLst>
              </a:tr>
              <a:tr h="637444">
                <a:tc>
                  <a:txBody>
                    <a:bodyPr/>
                    <a:lstStyle/>
                    <a:p>
                      <a:r>
                        <a:rPr lang="en-GB" sz="1600"/>
                        <a:t>Self-assessment</a:t>
                      </a:r>
                      <a:endParaRPr lang="en-GB" sz="1600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1240402"/>
                  </a:ext>
                </a:extLst>
              </a:tr>
              <a:tr h="637444">
                <a:tc>
                  <a:txBody>
                    <a:bodyPr/>
                    <a:lstStyle/>
                    <a:p>
                      <a:r>
                        <a:rPr lang="en-GB" sz="1600" b="1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923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2000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304</Words>
  <Application>Microsoft Office PowerPoint</Application>
  <PresentationFormat>Widescreen</PresentationFormat>
  <Paragraphs>44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Activity 6.1: Community guide to the internet</vt:lpstr>
      <vt:lpstr>IP addresses and website addresses Try to remember what you have learnt about IP addresses, domain names and DNS.</vt:lpstr>
      <vt:lpstr>Packets and packet switching This section is probably a bit complicated for your average user, so focus on showing off what you have learnt.</vt:lpstr>
      <vt:lpstr>Online services ‘I already use some online services but are there any I’m missing out on?’</vt:lpstr>
      <vt:lpstr>Connecting to the internet ‘When I got my phone, they told me to keep my Wi-Fi and mobile data turned off. When should I turn them on?’</vt:lpstr>
      <vt:lpstr>Self-assessment Now you have finished the Community guide to the internet, self-assess your work. What have you done well and what could be better?</vt:lpstr>
      <vt:lpstr>Teacher assessment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M Clarkson</dc:creator>
  <cp:lastModifiedBy>Lea Albrechtsen</cp:lastModifiedBy>
  <cp:revision>18</cp:revision>
  <dcterms:created xsi:type="dcterms:W3CDTF">2020-08-06T09:36:32Z</dcterms:created>
  <dcterms:modified xsi:type="dcterms:W3CDTF">2021-05-25T16:09:18Z</dcterms:modified>
</cp:coreProperties>
</file>