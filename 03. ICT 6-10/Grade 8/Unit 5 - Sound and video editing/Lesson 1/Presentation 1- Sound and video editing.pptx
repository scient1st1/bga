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800" u="none" cap="none" strike="noStrike">
                <a:solidFill>
                  <a:schemeClr val="dk1"/>
                </a:solidFill>
                <a:latin typeface="Calibri"/>
                <a:ea typeface="Calibri"/>
                <a:cs typeface="Calibri"/>
                <a:sym typeface="Calibri"/>
              </a:defRPr>
            </a:lvl1pPr>
            <a:lvl2pPr indent="0" lvl="1" marL="0" marR="0" rtl="0" algn="l">
              <a:spcBef>
                <a:spcPts val="0"/>
              </a:spcBef>
              <a:buNone/>
              <a:defRPr b="0" i="0" sz="1800" u="none" cap="none" strike="noStrike">
                <a:solidFill>
                  <a:schemeClr val="dk1"/>
                </a:solidFill>
                <a:latin typeface="Calibri"/>
                <a:ea typeface="Calibri"/>
                <a:cs typeface="Calibri"/>
                <a:sym typeface="Calibri"/>
              </a:defRPr>
            </a:lvl2pPr>
            <a:lvl3pPr indent="0" lvl="2" marL="0" marR="0" rtl="0" algn="l">
              <a:spcBef>
                <a:spcPts val="0"/>
              </a:spcBef>
              <a:buNone/>
              <a:defRPr b="0" i="0" sz="1800" u="none" cap="none" strike="noStrike">
                <a:solidFill>
                  <a:schemeClr val="dk1"/>
                </a:solidFill>
                <a:latin typeface="Calibri"/>
                <a:ea typeface="Calibri"/>
                <a:cs typeface="Calibri"/>
                <a:sym typeface="Calibri"/>
              </a:defRPr>
            </a:lvl3pPr>
            <a:lvl4pPr indent="0" lvl="3" marL="0" marR="0" rtl="0" algn="l">
              <a:spcBef>
                <a:spcPts val="0"/>
              </a:spcBef>
              <a:buNone/>
              <a:defRPr b="0" i="0" sz="1800" u="none" cap="none" strike="noStrike">
                <a:solidFill>
                  <a:schemeClr val="dk1"/>
                </a:solidFill>
                <a:latin typeface="Calibri"/>
                <a:ea typeface="Calibri"/>
                <a:cs typeface="Calibri"/>
                <a:sym typeface="Calibri"/>
              </a:defRPr>
            </a:lvl4pPr>
            <a:lvl5pPr indent="0" lvl="4" marL="0" marR="0" rtl="0" algn="l">
              <a:spcBef>
                <a:spcPts val="0"/>
              </a:spcBef>
              <a:buNone/>
              <a:defRPr b="0" i="0" sz="1800" u="none" cap="none" strike="noStrike">
                <a:solidFill>
                  <a:schemeClr val="dk1"/>
                </a:solidFill>
                <a:latin typeface="Calibri"/>
                <a:ea typeface="Calibri"/>
                <a:cs typeface="Calibri"/>
                <a:sym typeface="Calibri"/>
              </a:defRPr>
            </a:lvl5pPr>
            <a:lvl6pPr indent="0" lvl="5" marL="0" marR="0" rtl="0" algn="l">
              <a:spcBef>
                <a:spcPts val="0"/>
              </a:spcBef>
              <a:buNone/>
              <a:defRPr b="0" i="0" sz="1800" u="none" cap="none" strike="noStrike">
                <a:solidFill>
                  <a:schemeClr val="dk1"/>
                </a:solidFill>
                <a:latin typeface="Calibri"/>
                <a:ea typeface="Calibri"/>
                <a:cs typeface="Calibri"/>
                <a:sym typeface="Calibri"/>
              </a:defRPr>
            </a:lvl6pPr>
            <a:lvl7pPr indent="0" lvl="6" marL="0" marR="0" rtl="0" algn="l">
              <a:spcBef>
                <a:spcPts val="0"/>
              </a:spcBef>
              <a:buNone/>
              <a:defRPr b="0" i="0" sz="1800" u="none" cap="none" strike="noStrike">
                <a:solidFill>
                  <a:schemeClr val="dk1"/>
                </a:solidFill>
                <a:latin typeface="Calibri"/>
                <a:ea typeface="Calibri"/>
                <a:cs typeface="Calibri"/>
                <a:sym typeface="Calibri"/>
              </a:defRPr>
            </a:lvl7pPr>
            <a:lvl8pPr indent="0" lvl="7" marL="0" marR="0" rtl="0" algn="l">
              <a:spcBef>
                <a:spcPts val="0"/>
              </a:spcBef>
              <a:buNone/>
              <a:defRPr b="0" i="0" sz="1800" u="none" cap="none" strike="noStrike">
                <a:solidFill>
                  <a:schemeClr val="dk1"/>
                </a:solidFill>
                <a:latin typeface="Calibri"/>
                <a:ea typeface="Calibri"/>
                <a:cs typeface="Calibri"/>
                <a:sym typeface="Calibri"/>
              </a:defRPr>
            </a:lvl8pPr>
            <a:lvl9pPr indent="0" lvl="8" marL="0" marR="0" rtl="0" algn="l">
              <a:spcBef>
                <a:spcPts val="0"/>
              </a:spcBef>
              <a:buNone/>
              <a:defRPr b="0" i="0" sz="1800" u="none" cap="none" strike="noStrike">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pic>
        <p:nvPicPr>
          <p:cNvPr id="9" name="Google Shape;9;p1"/>
          <p:cNvPicPr preferRelativeResize="0"/>
          <p:nvPr/>
        </p:nvPicPr>
        <p:blipFill rotWithShape="1">
          <a:blip r:embed="rId1">
            <a:alphaModFix/>
          </a:blip>
          <a:srcRect b="0" l="0" r="0" t="0"/>
          <a:stretch/>
        </p:blipFill>
        <p:spPr>
          <a:xfrm>
            <a:off x="0" y="0"/>
            <a:ext cx="12238036" cy="1622391"/>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jp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jp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2047478" y="2498614"/>
            <a:ext cx="5516881" cy="1860771"/>
          </a:xfrm>
          <a:prstGeom prst="rect">
            <a:avLst/>
          </a:prstGeom>
          <a:noFill/>
          <a:ln>
            <a:noFill/>
          </a:ln>
        </p:spPr>
        <p:txBody>
          <a:bodyPr anchorCtr="0" anchor="b" bIns="45700" lIns="91425" spcFirstLastPara="1" rIns="91425" wrap="square" tIns="45700">
            <a:noAutofit/>
          </a:bodyPr>
          <a:lstStyle/>
          <a:p>
            <a:pPr indent="0" lvl="0" marL="0" rtl="0" algn="r">
              <a:lnSpc>
                <a:spcPct val="90000"/>
              </a:lnSpc>
              <a:spcBef>
                <a:spcPts val="0"/>
              </a:spcBef>
              <a:spcAft>
                <a:spcPts val="0"/>
              </a:spcAft>
              <a:buClr>
                <a:schemeClr val="dk1"/>
              </a:buClr>
              <a:buSzPts val="6000"/>
              <a:buFont typeface="Calibri"/>
              <a:buNone/>
            </a:pPr>
            <a:r>
              <a:rPr b="1" lang="en-GB"/>
              <a:t>Sound and video editing</a:t>
            </a:r>
            <a:endParaRPr/>
          </a:p>
        </p:txBody>
      </p:sp>
      <p:sp>
        <p:nvSpPr>
          <p:cNvPr id="81" name="Google Shape;81;p13"/>
          <p:cNvSpPr/>
          <p:nvPr/>
        </p:nvSpPr>
        <p:spPr>
          <a:xfrm>
            <a:off x="1711475" y="4359385"/>
            <a:ext cx="5852884" cy="40011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1" i="0" lang="en-GB" sz="2000" u="none" cap="none" strike="noStrike">
                <a:solidFill>
                  <a:srgbClr val="FF0000"/>
                </a:solidFill>
                <a:latin typeface="Calibri"/>
                <a:ea typeface="Calibri"/>
                <a:cs typeface="Calibri"/>
                <a:sym typeface="Calibri"/>
              </a:rPr>
              <a:t>Lesson 1: Introduction to sound editing and Audacity </a:t>
            </a:r>
            <a:endParaRPr b="1" i="0" sz="2000" u="none" cap="none" strike="noStrike">
              <a:solidFill>
                <a:srgbClr val="FF0000"/>
              </a:solidFill>
              <a:latin typeface="Calibri"/>
              <a:ea typeface="Calibri"/>
              <a:cs typeface="Calibri"/>
              <a:sym typeface="Calibri"/>
            </a:endParaRPr>
          </a:p>
        </p:txBody>
      </p:sp>
      <p:pic>
        <p:nvPicPr>
          <p:cNvPr id="82" name="Google Shape;82;p13"/>
          <p:cNvPicPr preferRelativeResize="0"/>
          <p:nvPr/>
        </p:nvPicPr>
        <p:blipFill rotWithShape="1">
          <a:blip r:embed="rId3">
            <a:alphaModFix/>
          </a:blip>
          <a:srcRect b="0" l="0" r="0" t="0"/>
          <a:stretch/>
        </p:blipFill>
        <p:spPr>
          <a:xfrm>
            <a:off x="8251906" y="2191860"/>
            <a:ext cx="2916165" cy="363573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630018" y="824948"/>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630018" y="2582614"/>
            <a:ext cx="7798462" cy="1692771"/>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In this lesson, you will learn how to:</a:t>
            </a:r>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import tracks into a digital audio workstation</a:t>
            </a:r>
            <a:endParaRPr sz="2400">
              <a:solidFill>
                <a:schemeClr val="dk1"/>
              </a:solidFill>
              <a:latin typeface="Calibri"/>
              <a:ea typeface="Calibri"/>
              <a:cs typeface="Calibri"/>
              <a:sym typeface="Calibri"/>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plan a radio advert</a:t>
            </a:r>
            <a:endParaRPr sz="2400">
              <a:solidFill>
                <a:schemeClr val="dk1"/>
              </a:solidFill>
              <a:latin typeface="Calibri"/>
              <a:ea typeface="Calibri"/>
              <a:cs typeface="Calibri"/>
              <a:sym typeface="Calibri"/>
            </a:endParaRPr>
          </a:p>
          <a:p>
            <a:pPr indent="-342900" lvl="0" marL="342900" marR="0" rtl="0" algn="l">
              <a:spcBef>
                <a:spcPts val="0"/>
              </a:spcBef>
              <a:spcAft>
                <a:spcPts val="0"/>
              </a:spcAft>
              <a:buClr>
                <a:schemeClr val="dk1"/>
              </a:buClr>
              <a:buSzPts val="2400"/>
              <a:buFont typeface="Noto Sans Symbols"/>
              <a:buChar char="∙"/>
            </a:pPr>
            <a:r>
              <a:rPr lang="en-GB" sz="2400">
                <a:solidFill>
                  <a:schemeClr val="dk1"/>
                </a:solidFill>
                <a:latin typeface="Calibri"/>
                <a:ea typeface="Calibri"/>
                <a:cs typeface="Calibri"/>
                <a:sym typeface="Calibri"/>
              </a:rPr>
              <a:t>record using a microphone.</a:t>
            </a:r>
            <a:endParaRPr sz="24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580322" y="775252"/>
            <a:ext cx="9773478" cy="83488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Radio advert </a:t>
            </a:r>
            <a:endParaRPr/>
          </a:p>
        </p:txBody>
      </p:sp>
      <p:sp>
        <p:nvSpPr>
          <p:cNvPr id="94" name="Google Shape;94;p15"/>
          <p:cNvSpPr/>
          <p:nvPr/>
        </p:nvSpPr>
        <p:spPr>
          <a:xfrm>
            <a:off x="6901877" y="2197028"/>
            <a:ext cx="3989643" cy="181588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Listen to the radio advert and try to identify as many separate sounds as possible.</a:t>
            </a:r>
            <a:endParaRPr sz="2800">
              <a:solidFill>
                <a:schemeClr val="dk1"/>
              </a:solidFill>
              <a:latin typeface="Calibri"/>
              <a:ea typeface="Calibri"/>
              <a:cs typeface="Calibri"/>
              <a:sym typeface="Calibri"/>
            </a:endParaRPr>
          </a:p>
        </p:txBody>
      </p:sp>
      <p:sp>
        <p:nvSpPr>
          <p:cNvPr id="95" name="Google Shape;95;p15"/>
          <p:cNvSpPr/>
          <p:nvPr/>
        </p:nvSpPr>
        <p:spPr>
          <a:xfrm>
            <a:off x="7647580" y="5058698"/>
            <a:ext cx="3385607" cy="58477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Listen to Audio 1.1 </a:t>
            </a:r>
            <a:endParaRPr sz="3200">
              <a:solidFill>
                <a:schemeClr val="dk1"/>
              </a:solidFill>
              <a:latin typeface="Calibri"/>
              <a:ea typeface="Calibri"/>
              <a:cs typeface="Calibri"/>
              <a:sym typeface="Calibri"/>
            </a:endParaRPr>
          </a:p>
        </p:txBody>
      </p:sp>
      <p:pic>
        <p:nvPicPr>
          <p:cNvPr descr="A picture containing indoor, camera&#10;&#10;Description automatically generated" id="96" name="Google Shape;96;p15"/>
          <p:cNvPicPr preferRelativeResize="0"/>
          <p:nvPr/>
        </p:nvPicPr>
        <p:blipFill rotWithShape="1">
          <a:blip r:embed="rId3">
            <a:alphaModFix/>
          </a:blip>
          <a:srcRect b="0" l="0" r="0" t="0"/>
          <a:stretch/>
        </p:blipFill>
        <p:spPr>
          <a:xfrm>
            <a:off x="1158813" y="2243250"/>
            <a:ext cx="5469226" cy="3646458"/>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
                                            <p:txEl>
                                              <p:pRg end="0" st="0"/>
                                            </p:txEl>
                                          </p:spTgt>
                                        </p:tgtEl>
                                        <p:attrNameLst>
                                          <p:attrName>style.visibility</p:attrName>
                                        </p:attrNameLst>
                                      </p:cBhvr>
                                      <p:to>
                                        <p:strVal val="visible"/>
                                      </p:to>
                                    </p:set>
                                    <p:animEffect filter="fade" transition="in">
                                      <p:cBhvr>
                                        <p:cTn dur="500"/>
                                        <p:tgtEl>
                                          <p:spTgt spid="95">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6"/>
          <p:cNvSpPr txBox="1"/>
          <p:nvPr>
            <p:ph type="title"/>
          </p:nvPr>
        </p:nvSpPr>
        <p:spPr>
          <a:xfrm>
            <a:off x="1620078" y="765312"/>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Sound editing software </a:t>
            </a:r>
            <a:endParaRPr/>
          </a:p>
        </p:txBody>
      </p:sp>
      <p:sp>
        <p:nvSpPr>
          <p:cNvPr id="102" name="Google Shape;102;p16"/>
          <p:cNvSpPr txBox="1"/>
          <p:nvPr>
            <p:ph idx="1" type="body"/>
          </p:nvPr>
        </p:nvSpPr>
        <p:spPr>
          <a:xfrm>
            <a:off x="1620078" y="2613397"/>
            <a:ext cx="5177329" cy="2159966"/>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None/>
            </a:pPr>
            <a:r>
              <a:rPr lang="en-GB" sz="2400"/>
              <a:t>You are going to be learning how to record and edit sound using a DAW (Digital Audio Workstation).</a:t>
            </a:r>
            <a:endParaRPr/>
          </a:p>
          <a:p>
            <a:pPr indent="0" lvl="0" marL="0" rtl="0" algn="l">
              <a:lnSpc>
                <a:spcPct val="90000"/>
              </a:lnSpc>
              <a:spcBef>
                <a:spcPts val="1000"/>
              </a:spcBef>
              <a:spcAft>
                <a:spcPts val="0"/>
              </a:spcAft>
              <a:buClr>
                <a:schemeClr val="dk1"/>
              </a:buClr>
              <a:buSzPts val="2400"/>
              <a:buNone/>
            </a:pPr>
            <a:r>
              <a:rPr lang="en-GB" sz="2400"/>
              <a:t>As it is free and powerful, you will be learning how to use </a:t>
            </a:r>
            <a:r>
              <a:rPr b="1" lang="en-GB" sz="2400">
                <a:solidFill>
                  <a:srgbClr val="FF0000"/>
                </a:solidFill>
              </a:rPr>
              <a:t>Audacity</a:t>
            </a:r>
            <a:r>
              <a:rPr lang="en-GB" sz="2400"/>
              <a:t>, but other DAWs work in a similar way.</a:t>
            </a:r>
            <a:endParaRPr/>
          </a:p>
          <a:p>
            <a:pPr indent="-50800" lvl="0" marL="228600" rtl="0" algn="l">
              <a:lnSpc>
                <a:spcPct val="90000"/>
              </a:lnSpc>
              <a:spcBef>
                <a:spcPts val="1000"/>
              </a:spcBef>
              <a:spcAft>
                <a:spcPts val="0"/>
              </a:spcAft>
              <a:buClr>
                <a:schemeClr val="dk1"/>
              </a:buClr>
              <a:buSzPts val="2800"/>
              <a:buNone/>
            </a:pPr>
            <a:r>
              <a:t/>
            </a:r>
            <a:endParaRPr/>
          </a:p>
        </p:txBody>
      </p:sp>
      <p:pic>
        <p:nvPicPr>
          <p:cNvPr descr="Logo, icon&#10;&#10;Description automatically generated" id="103" name="Google Shape;103;p16"/>
          <p:cNvPicPr preferRelativeResize="0"/>
          <p:nvPr/>
        </p:nvPicPr>
        <p:blipFill rotWithShape="1">
          <a:blip r:embed="rId3">
            <a:alphaModFix/>
          </a:blip>
          <a:srcRect b="0" l="0" r="0" t="0"/>
          <a:stretch/>
        </p:blipFill>
        <p:spPr>
          <a:xfrm>
            <a:off x="7198740" y="1937628"/>
            <a:ext cx="4155059" cy="415505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7"/>
          <p:cNvSpPr txBox="1"/>
          <p:nvPr>
            <p:ph type="title"/>
          </p:nvPr>
        </p:nvSpPr>
        <p:spPr>
          <a:xfrm>
            <a:off x="1620078" y="765312"/>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Sound editing software </a:t>
            </a:r>
            <a:endParaRPr/>
          </a:p>
        </p:txBody>
      </p:sp>
      <p:sp>
        <p:nvSpPr>
          <p:cNvPr id="109" name="Google Shape;109;p17"/>
          <p:cNvSpPr txBox="1"/>
          <p:nvPr>
            <p:ph idx="1" type="body"/>
          </p:nvPr>
        </p:nvSpPr>
        <p:spPr>
          <a:xfrm>
            <a:off x="1620078" y="2279734"/>
            <a:ext cx="9119042" cy="3369226"/>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None/>
            </a:pPr>
            <a:r>
              <a:rPr lang="en-GB" sz="2400"/>
              <a:t>One audio track is made up of lots of smaller audio tracks; more than one sound is played back to create one audio file. This is why audio is often referred to as </a:t>
            </a:r>
            <a:r>
              <a:rPr b="1" lang="en-GB" sz="2400">
                <a:solidFill>
                  <a:srgbClr val="FF0000"/>
                </a:solidFill>
              </a:rPr>
              <a:t>multi-track</a:t>
            </a:r>
            <a:r>
              <a:rPr lang="en-GB" sz="2400"/>
              <a:t>.</a:t>
            </a:r>
            <a:endParaRPr/>
          </a:p>
          <a:p>
            <a:pPr indent="0" lvl="0" marL="0" rtl="0" algn="l">
              <a:lnSpc>
                <a:spcPct val="90000"/>
              </a:lnSpc>
              <a:spcBef>
                <a:spcPts val="1000"/>
              </a:spcBef>
              <a:spcAft>
                <a:spcPts val="0"/>
              </a:spcAft>
              <a:buClr>
                <a:schemeClr val="dk1"/>
              </a:buClr>
              <a:buSzPts val="2400"/>
              <a:buNone/>
            </a:pPr>
            <a:r>
              <a:rPr lang="en-GB" sz="2400"/>
              <a:t>To ensure all the sounds come together to form something you want to listen to, sound designers work from a timeline.</a:t>
            </a:r>
            <a:endParaRPr/>
          </a:p>
          <a:p>
            <a:pPr indent="0" lvl="0" marL="0" rtl="0" algn="l">
              <a:lnSpc>
                <a:spcPct val="90000"/>
              </a:lnSpc>
              <a:spcBef>
                <a:spcPts val="1000"/>
              </a:spcBef>
              <a:spcAft>
                <a:spcPts val="0"/>
              </a:spcAft>
              <a:buClr>
                <a:schemeClr val="dk1"/>
              </a:buClr>
              <a:buSzPts val="2400"/>
              <a:buNone/>
            </a:pPr>
            <a:r>
              <a:rPr lang="en-GB" sz="2400"/>
              <a:t>On the next slide is an example of an audio </a:t>
            </a:r>
            <a:r>
              <a:rPr b="1" lang="en-GB" sz="2400">
                <a:solidFill>
                  <a:srgbClr val="FF0000"/>
                </a:solidFill>
              </a:rPr>
              <a:t>timeline</a:t>
            </a:r>
            <a:r>
              <a:rPr lang="en-GB" sz="2400"/>
              <a:t>. Listen to the radio advert again. Can you see how the audio blocks on the timeline relate to the sounds in the advert?</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8"/>
          <p:cNvSpPr txBox="1"/>
          <p:nvPr>
            <p:ph type="title"/>
          </p:nvPr>
        </p:nvSpPr>
        <p:spPr>
          <a:xfrm>
            <a:off x="1620078" y="765312"/>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Sound editing software </a:t>
            </a:r>
            <a:endParaRPr/>
          </a:p>
        </p:txBody>
      </p:sp>
      <p:sp>
        <p:nvSpPr>
          <p:cNvPr id="115" name="Google Shape;115;p18"/>
          <p:cNvSpPr txBox="1"/>
          <p:nvPr>
            <p:ph idx="1" type="body"/>
          </p:nvPr>
        </p:nvSpPr>
        <p:spPr>
          <a:xfrm>
            <a:off x="1620078" y="1964774"/>
            <a:ext cx="9820082" cy="1733849"/>
          </a:xfrm>
          <a:prstGeom prst="rect">
            <a:avLst/>
          </a:prstGeom>
          <a:noFill/>
          <a:ln>
            <a:noFill/>
          </a:ln>
        </p:spPr>
        <p:txBody>
          <a:bodyPr anchorCtr="0" anchor="t" bIns="45700" lIns="91425" spcFirstLastPara="1" rIns="91425" wrap="square" tIns="45700">
            <a:noAutofit/>
          </a:bodyPr>
          <a:lstStyle/>
          <a:p>
            <a:pPr indent="-228600" lvl="0" marL="228600" rtl="0" algn="l">
              <a:lnSpc>
                <a:spcPct val="90000"/>
              </a:lnSpc>
              <a:spcBef>
                <a:spcPts val="0"/>
              </a:spcBef>
              <a:spcAft>
                <a:spcPts val="0"/>
              </a:spcAft>
              <a:buClr>
                <a:schemeClr val="dk1"/>
              </a:buClr>
              <a:buSzPts val="2400"/>
              <a:buChar char="•"/>
            </a:pPr>
            <a:r>
              <a:rPr lang="en-GB" sz="2400"/>
              <a:t>Notice how the audio timeline moves chronologically from left to right.</a:t>
            </a:r>
            <a:endParaRPr/>
          </a:p>
          <a:p>
            <a:pPr indent="-228600" lvl="0" marL="228600" rtl="0" algn="l">
              <a:lnSpc>
                <a:spcPct val="90000"/>
              </a:lnSpc>
              <a:spcBef>
                <a:spcPts val="1000"/>
              </a:spcBef>
              <a:spcAft>
                <a:spcPts val="0"/>
              </a:spcAft>
              <a:buClr>
                <a:schemeClr val="dk1"/>
              </a:buClr>
              <a:buSzPts val="2400"/>
              <a:buChar char="•"/>
            </a:pPr>
            <a:r>
              <a:rPr lang="en-GB" sz="2400"/>
              <a:t>Notice how the audio timeline shows louder sounds at the top and quieter sounds at the bottom.</a:t>
            </a:r>
            <a:endParaRPr/>
          </a:p>
          <a:p>
            <a:pPr indent="-228600" lvl="0" marL="228600" rtl="0" algn="l">
              <a:lnSpc>
                <a:spcPct val="90000"/>
              </a:lnSpc>
              <a:spcBef>
                <a:spcPts val="1000"/>
              </a:spcBef>
              <a:spcAft>
                <a:spcPts val="0"/>
              </a:spcAft>
              <a:buClr>
                <a:schemeClr val="dk1"/>
              </a:buClr>
              <a:buSzPts val="2400"/>
              <a:buChar char="•"/>
            </a:pPr>
            <a:r>
              <a:rPr lang="en-GB" sz="2400"/>
              <a:t>Notice how specific sounds are played at specific times.</a:t>
            </a:r>
            <a:endParaRPr/>
          </a:p>
        </p:txBody>
      </p:sp>
      <p:pic>
        <p:nvPicPr>
          <p:cNvPr id="116" name="Google Shape;116;p18"/>
          <p:cNvPicPr preferRelativeResize="0"/>
          <p:nvPr/>
        </p:nvPicPr>
        <p:blipFill rotWithShape="1">
          <a:blip r:embed="rId3">
            <a:alphaModFix/>
          </a:blip>
          <a:srcRect b="0" l="0" r="0" t="0"/>
          <a:stretch/>
        </p:blipFill>
        <p:spPr>
          <a:xfrm>
            <a:off x="1057656" y="3698623"/>
            <a:ext cx="7852664" cy="2902399"/>
          </a:xfrm>
          <a:prstGeom prst="rect">
            <a:avLst/>
          </a:prstGeom>
          <a:noFill/>
          <a:ln>
            <a:noFill/>
          </a:ln>
        </p:spPr>
      </p:pic>
      <p:sp>
        <p:nvSpPr>
          <p:cNvPr id="117" name="Google Shape;117;p18"/>
          <p:cNvSpPr/>
          <p:nvPr/>
        </p:nvSpPr>
        <p:spPr>
          <a:xfrm>
            <a:off x="9384798" y="4195715"/>
            <a:ext cx="1580882" cy="954107"/>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GB" sz="2800">
                <a:solidFill>
                  <a:schemeClr val="dk1"/>
                </a:solidFill>
                <a:latin typeface="Calibri"/>
                <a:ea typeface="Calibri"/>
                <a:cs typeface="Calibri"/>
                <a:sym typeface="Calibri"/>
              </a:rPr>
              <a:t>Listen to</a:t>
            </a:r>
            <a:endParaRPr/>
          </a:p>
          <a:p>
            <a:pPr indent="0" lvl="0" marL="0" marR="0" rtl="0" algn="ctr">
              <a:spcBef>
                <a:spcPts val="0"/>
              </a:spcBef>
              <a:spcAft>
                <a:spcPts val="0"/>
              </a:spcAft>
              <a:buNone/>
            </a:pPr>
            <a:r>
              <a:rPr lang="en-GB" sz="2800">
                <a:solidFill>
                  <a:schemeClr val="dk1"/>
                </a:solidFill>
                <a:latin typeface="Calibri"/>
                <a:ea typeface="Calibri"/>
                <a:cs typeface="Calibri"/>
                <a:sym typeface="Calibri"/>
              </a:rPr>
              <a:t>Audio 1.1</a:t>
            </a:r>
            <a:endParaRPr sz="28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7"/>
                                        </p:tgtEl>
                                        <p:attrNameLst>
                                          <p:attrName>style.visibility</p:attrName>
                                        </p:attrNameLst>
                                      </p:cBhvr>
                                      <p:to>
                                        <p:strVal val="visible"/>
                                      </p:to>
                                    </p:set>
                                    <p:animEffect filter="fade" transition="in">
                                      <p:cBhvr>
                                        <p:cTn dur="500"/>
                                        <p:tgtEl>
                                          <p:spTgt spid="11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9"/>
          <p:cNvSpPr txBox="1"/>
          <p:nvPr>
            <p:ph type="title"/>
          </p:nvPr>
        </p:nvSpPr>
        <p:spPr>
          <a:xfrm>
            <a:off x="1620078" y="765312"/>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Recording a radio advert</a:t>
            </a:r>
            <a:endParaRPr/>
          </a:p>
        </p:txBody>
      </p:sp>
      <p:sp>
        <p:nvSpPr>
          <p:cNvPr id="123" name="Google Shape;123;p19"/>
          <p:cNvSpPr txBox="1"/>
          <p:nvPr>
            <p:ph idx="1" type="body"/>
          </p:nvPr>
        </p:nvSpPr>
        <p:spPr>
          <a:xfrm>
            <a:off x="1620078" y="1965920"/>
            <a:ext cx="3073842" cy="2180506"/>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None/>
            </a:pPr>
            <a:r>
              <a:rPr lang="en-GB" sz="2400"/>
              <a:t>Over the next two lessons, you will be creating a radio advert based on this timeline:</a:t>
            </a:r>
            <a:endParaRPr/>
          </a:p>
        </p:txBody>
      </p:sp>
      <p:sp>
        <p:nvSpPr>
          <p:cNvPr id="124" name="Google Shape;124;p19"/>
          <p:cNvSpPr/>
          <p:nvPr/>
        </p:nvSpPr>
        <p:spPr>
          <a:xfrm>
            <a:off x="1620079" y="4490303"/>
            <a:ext cx="9733720" cy="19389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In this lesson, you will focus on gathering and recording sounds and moving them into the correct position in Audacity.</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By the end of the lesson, your advert should sound something like Audio 1.2. </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Don’t worry if it doesn’t sound completely professional yet! You will be adding effects next lesson.</a:t>
            </a:r>
            <a:endParaRPr sz="2400">
              <a:solidFill>
                <a:schemeClr val="dk1"/>
              </a:solidFill>
              <a:latin typeface="Calibri"/>
              <a:ea typeface="Calibri"/>
              <a:cs typeface="Calibri"/>
              <a:sym typeface="Calibri"/>
            </a:endParaRPr>
          </a:p>
        </p:txBody>
      </p:sp>
      <p:pic>
        <p:nvPicPr>
          <p:cNvPr descr="Table&#10;&#10;Description automatically generated" id="125" name="Google Shape;125;p19"/>
          <p:cNvPicPr preferRelativeResize="0"/>
          <p:nvPr/>
        </p:nvPicPr>
        <p:blipFill rotWithShape="1">
          <a:blip r:embed="rId3">
            <a:alphaModFix/>
          </a:blip>
          <a:srcRect b="0" l="0" r="0" t="0"/>
          <a:stretch/>
        </p:blipFill>
        <p:spPr>
          <a:xfrm>
            <a:off x="4693920" y="1965920"/>
            <a:ext cx="6892492" cy="252438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descr="A screenshot of a computer&#10;&#10;Description automatically generated" id="130" name="Google Shape;130;p20"/>
          <p:cNvPicPr preferRelativeResize="0"/>
          <p:nvPr/>
        </p:nvPicPr>
        <p:blipFill rotWithShape="1">
          <a:blip r:embed="rId3">
            <a:alphaModFix/>
          </a:blip>
          <a:srcRect b="0" l="0" r="0" t="0"/>
          <a:stretch/>
        </p:blipFill>
        <p:spPr>
          <a:xfrm>
            <a:off x="5978828" y="2440659"/>
            <a:ext cx="6096000" cy="3281056"/>
          </a:xfrm>
          <a:prstGeom prst="rect">
            <a:avLst/>
          </a:prstGeom>
          <a:noFill/>
          <a:ln>
            <a:noFill/>
          </a:ln>
        </p:spPr>
      </p:pic>
      <p:sp>
        <p:nvSpPr>
          <p:cNvPr id="131" name="Google Shape;131;p20"/>
          <p:cNvSpPr txBox="1"/>
          <p:nvPr>
            <p:ph type="title"/>
          </p:nvPr>
        </p:nvSpPr>
        <p:spPr>
          <a:xfrm>
            <a:off x="1620078" y="765312"/>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Importing audio tracks</a:t>
            </a:r>
            <a:endParaRPr/>
          </a:p>
        </p:txBody>
      </p:sp>
      <p:sp>
        <p:nvSpPr>
          <p:cNvPr id="132" name="Google Shape;132;p20"/>
          <p:cNvSpPr txBox="1"/>
          <p:nvPr>
            <p:ph idx="1" type="body"/>
          </p:nvPr>
        </p:nvSpPr>
        <p:spPr>
          <a:xfrm>
            <a:off x="1620078" y="1964774"/>
            <a:ext cx="4100002" cy="4232826"/>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None/>
            </a:pPr>
            <a:r>
              <a:rPr lang="en-GB" sz="2400"/>
              <a:t>When you open Audacity, you are presented with a blank template.</a:t>
            </a:r>
            <a:endParaRPr/>
          </a:p>
          <a:p>
            <a:pPr indent="-228600" lvl="0" marL="228600" rtl="0" algn="l">
              <a:lnSpc>
                <a:spcPct val="90000"/>
              </a:lnSpc>
              <a:spcBef>
                <a:spcPts val="1000"/>
              </a:spcBef>
              <a:spcAft>
                <a:spcPts val="0"/>
              </a:spcAft>
              <a:buClr>
                <a:schemeClr val="dk1"/>
              </a:buClr>
              <a:buSzPts val="2400"/>
              <a:buChar char="•"/>
            </a:pPr>
            <a:r>
              <a:rPr lang="en-GB" sz="2400">
                <a:latin typeface="Calibri"/>
                <a:ea typeface="Calibri"/>
                <a:cs typeface="Calibri"/>
                <a:sym typeface="Calibri"/>
              </a:rPr>
              <a:t>Click on ‘File’, ‘Import’ and ‘Audio’ to </a:t>
            </a:r>
            <a:r>
              <a:rPr b="1" lang="en-GB" sz="2400">
                <a:solidFill>
                  <a:srgbClr val="FF0000"/>
                </a:solidFill>
                <a:latin typeface="Calibri"/>
                <a:ea typeface="Calibri"/>
                <a:cs typeface="Calibri"/>
                <a:sym typeface="Calibri"/>
              </a:rPr>
              <a:t>import</a:t>
            </a:r>
            <a:r>
              <a:rPr lang="en-GB" sz="2400">
                <a:latin typeface="Calibri"/>
                <a:ea typeface="Calibri"/>
                <a:cs typeface="Calibri"/>
                <a:sym typeface="Calibri"/>
              </a:rPr>
              <a:t> sounds into Audacity.</a:t>
            </a:r>
            <a:endParaRPr sz="2400">
              <a:latin typeface="Calibri"/>
              <a:ea typeface="Calibri"/>
              <a:cs typeface="Calibri"/>
              <a:sym typeface="Calibri"/>
            </a:endParaRPr>
          </a:p>
          <a:p>
            <a:pPr indent="-228600" lvl="0" marL="228600" rtl="0" algn="l">
              <a:lnSpc>
                <a:spcPct val="90000"/>
              </a:lnSpc>
              <a:spcBef>
                <a:spcPts val="1000"/>
              </a:spcBef>
              <a:spcAft>
                <a:spcPts val="0"/>
              </a:spcAft>
              <a:buClr>
                <a:schemeClr val="dk1"/>
              </a:buClr>
              <a:buSzPts val="2400"/>
              <a:buChar char="•"/>
            </a:pPr>
            <a:r>
              <a:rPr lang="en-GB" sz="2400">
                <a:latin typeface="Calibri"/>
                <a:ea typeface="Calibri"/>
                <a:cs typeface="Calibri"/>
                <a:sym typeface="Calibri"/>
              </a:rPr>
              <a:t>Then click on ‘View’, ‘Track size’ and ‘Fit to Height’ to resize the sounds so you can see them all on your screen at the same time.</a:t>
            </a:r>
            <a:endParaRPr sz="2400">
              <a:latin typeface="Calibri"/>
              <a:ea typeface="Calibri"/>
              <a:cs typeface="Calibri"/>
              <a:sym typeface="Calibri"/>
            </a:endParaRPr>
          </a:p>
        </p:txBody>
      </p:sp>
      <p:sp>
        <p:nvSpPr>
          <p:cNvPr id="133" name="Google Shape;133;p20"/>
          <p:cNvSpPr/>
          <p:nvPr/>
        </p:nvSpPr>
        <p:spPr>
          <a:xfrm>
            <a:off x="6893520" y="3819577"/>
            <a:ext cx="4266617" cy="646331"/>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GB" sz="3600">
                <a:solidFill>
                  <a:schemeClr val="dk1"/>
                </a:solidFill>
                <a:latin typeface="Calibri"/>
                <a:ea typeface="Calibri"/>
                <a:cs typeface="Calibri"/>
                <a:sym typeface="Calibri"/>
              </a:rPr>
              <a:t>Now watch Video 1.1 </a:t>
            </a:r>
            <a:endParaRPr sz="36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3"/>
                                        </p:tgtEl>
                                        <p:attrNameLst>
                                          <p:attrName>style.visibility</p:attrName>
                                        </p:attrNameLst>
                                      </p:cBhvr>
                                      <p:to>
                                        <p:strVal val="visible"/>
                                      </p:to>
                                    </p:set>
                                    <p:animEffect filter="fade" transition="in">
                                      <p:cBhvr>
                                        <p:cTn dur="1822"/>
                                        <p:tgtEl>
                                          <p:spTgt spid="1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1"/>
          <p:cNvSpPr txBox="1"/>
          <p:nvPr>
            <p:ph type="title"/>
          </p:nvPr>
        </p:nvSpPr>
        <p:spPr>
          <a:xfrm>
            <a:off x="1570382" y="834888"/>
            <a:ext cx="9783417"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1.1: Importing audio tracks</a:t>
            </a:r>
            <a:endParaRPr/>
          </a:p>
        </p:txBody>
      </p:sp>
      <p:sp>
        <p:nvSpPr>
          <p:cNvPr id="139" name="Google Shape;139;p21"/>
          <p:cNvSpPr/>
          <p:nvPr/>
        </p:nvSpPr>
        <p:spPr>
          <a:xfrm>
            <a:off x="1570382" y="2967335"/>
            <a:ext cx="4252574" cy="461665"/>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Import Sounds 1.1 into Audacity.</a:t>
            </a:r>
            <a:endParaRPr sz="2400">
              <a:solidFill>
                <a:schemeClr val="dk1"/>
              </a:solidFill>
              <a:latin typeface="Calibri"/>
              <a:ea typeface="Calibri"/>
              <a:cs typeface="Calibri"/>
              <a:sym typeface="Calibri"/>
            </a:endParaRPr>
          </a:p>
        </p:txBody>
      </p:sp>
      <p:pic>
        <p:nvPicPr>
          <p:cNvPr descr="A picture containing athletic game, basketball, sport&#10;&#10;Description automatically generated" id="140" name="Google Shape;140;p21"/>
          <p:cNvPicPr preferRelativeResize="0"/>
          <p:nvPr/>
        </p:nvPicPr>
        <p:blipFill rotWithShape="1">
          <a:blip r:embed="rId3">
            <a:alphaModFix/>
          </a:blip>
          <a:srcRect b="0" l="0" r="0" t="0"/>
          <a:stretch/>
        </p:blipFill>
        <p:spPr>
          <a:xfrm>
            <a:off x="6278441" y="1778673"/>
            <a:ext cx="4815843" cy="4718502"/>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2"/>
          <p:cNvSpPr txBox="1"/>
          <p:nvPr>
            <p:ph type="title"/>
          </p:nvPr>
        </p:nvSpPr>
        <p:spPr>
          <a:xfrm>
            <a:off x="1620078" y="765312"/>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Arranging the composition</a:t>
            </a:r>
            <a:endParaRPr/>
          </a:p>
        </p:txBody>
      </p:sp>
      <p:sp>
        <p:nvSpPr>
          <p:cNvPr id="146" name="Google Shape;146;p22"/>
          <p:cNvSpPr txBox="1"/>
          <p:nvPr>
            <p:ph idx="1" type="body"/>
          </p:nvPr>
        </p:nvSpPr>
        <p:spPr>
          <a:xfrm>
            <a:off x="1620077" y="1964773"/>
            <a:ext cx="9034670" cy="917574"/>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None/>
            </a:pPr>
            <a:r>
              <a:rPr lang="en-GB" sz="2400"/>
              <a:t>Now that you have imported your audio tracks, you can start to </a:t>
            </a:r>
            <a:r>
              <a:rPr b="1" lang="en-GB" sz="2400">
                <a:solidFill>
                  <a:srgbClr val="FF0000"/>
                </a:solidFill>
              </a:rPr>
              <a:t>arrange</a:t>
            </a:r>
            <a:r>
              <a:rPr lang="en-GB" sz="2400">
                <a:solidFill>
                  <a:srgbClr val="FF0000"/>
                </a:solidFill>
              </a:rPr>
              <a:t> </a:t>
            </a:r>
            <a:r>
              <a:rPr lang="en-GB" sz="2400"/>
              <a:t>them according to the audio timeline.</a:t>
            </a:r>
            <a:endParaRPr/>
          </a:p>
          <a:p>
            <a:pPr indent="0" lvl="0" marL="0" rtl="0" algn="l">
              <a:lnSpc>
                <a:spcPct val="90000"/>
              </a:lnSpc>
              <a:spcBef>
                <a:spcPts val="1000"/>
              </a:spcBef>
              <a:spcAft>
                <a:spcPts val="0"/>
              </a:spcAft>
              <a:buClr>
                <a:schemeClr val="dk1"/>
              </a:buClr>
              <a:buSzPts val="2400"/>
              <a:buNone/>
            </a:pPr>
            <a:r>
              <a:rPr lang="en-GB" sz="2400"/>
              <a:t>To do this, use the ‘Time Shift Tool’ to move the audio files around.</a:t>
            </a:r>
            <a:endParaRPr/>
          </a:p>
        </p:txBody>
      </p:sp>
      <p:sp>
        <p:nvSpPr>
          <p:cNvPr id="147" name="Google Shape;147;p22"/>
          <p:cNvSpPr/>
          <p:nvPr/>
        </p:nvSpPr>
        <p:spPr>
          <a:xfrm>
            <a:off x="1620077" y="5261691"/>
            <a:ext cx="9442175" cy="83099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GB" sz="2400">
                <a:solidFill>
                  <a:schemeClr val="dk1"/>
                </a:solidFill>
                <a:latin typeface="Calibri"/>
                <a:ea typeface="Calibri"/>
                <a:cs typeface="Calibri"/>
                <a:sym typeface="Calibri"/>
              </a:rPr>
              <a:t>Top tip:</a:t>
            </a:r>
            <a:r>
              <a:rPr lang="en-GB" sz="2400">
                <a:solidFill>
                  <a:schemeClr val="dk1"/>
                </a:solidFill>
                <a:latin typeface="Calibri"/>
                <a:ea typeface="Calibri"/>
                <a:cs typeface="Calibri"/>
                <a:sym typeface="Calibri"/>
              </a:rPr>
              <a:t> Press and hold ‘ctrl’ (or ‘cmd’ if you are using a Mac) on your keyboard and use the mouse wheel to expand or contract the tracks.</a:t>
            </a:r>
            <a:endParaRPr/>
          </a:p>
        </p:txBody>
      </p:sp>
      <p:pic>
        <p:nvPicPr>
          <p:cNvPr descr="A picture containing arrow&#10;&#10;Description automatically generated" id="148" name="Google Shape;148;p22"/>
          <p:cNvPicPr preferRelativeResize="0"/>
          <p:nvPr/>
        </p:nvPicPr>
        <p:blipFill rotWithShape="1">
          <a:blip r:embed="rId3">
            <a:alphaModFix/>
          </a:blip>
          <a:srcRect b="0" l="0" r="0" t="0"/>
          <a:stretch/>
        </p:blipFill>
        <p:spPr>
          <a:xfrm>
            <a:off x="5285812" y="3429000"/>
            <a:ext cx="1620376" cy="156544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3"/>
          <p:cNvSpPr txBox="1"/>
          <p:nvPr>
            <p:ph type="title"/>
          </p:nvPr>
        </p:nvSpPr>
        <p:spPr>
          <a:xfrm>
            <a:off x="1620078" y="765312"/>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Trimming tracks</a:t>
            </a:r>
            <a:r>
              <a:rPr lang="en-GB">
                <a:solidFill>
                  <a:schemeClr val="lt1"/>
                </a:solidFill>
              </a:rPr>
              <a:t> </a:t>
            </a:r>
            <a:endParaRPr b="1">
              <a:solidFill>
                <a:schemeClr val="lt1"/>
              </a:solidFill>
            </a:endParaRPr>
          </a:p>
        </p:txBody>
      </p:sp>
      <p:sp>
        <p:nvSpPr>
          <p:cNvPr id="154" name="Google Shape;154;p23"/>
          <p:cNvSpPr txBox="1"/>
          <p:nvPr>
            <p:ph idx="1" type="body"/>
          </p:nvPr>
        </p:nvSpPr>
        <p:spPr>
          <a:xfrm>
            <a:off x="1620077" y="2093600"/>
            <a:ext cx="9034670" cy="917574"/>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None/>
            </a:pPr>
            <a:r>
              <a:rPr lang="en-GB" sz="2400"/>
              <a:t>If you want to trim one of the audio tracks, you can use the ‘Selection Tool’ to select the audio you want to delete and then press the ‘Delete’ key on your keyboard.</a:t>
            </a:r>
            <a:endParaRPr/>
          </a:p>
        </p:txBody>
      </p:sp>
      <p:sp>
        <p:nvSpPr>
          <p:cNvPr id="155" name="Google Shape;155;p23"/>
          <p:cNvSpPr/>
          <p:nvPr/>
        </p:nvSpPr>
        <p:spPr>
          <a:xfrm>
            <a:off x="1620077" y="5045834"/>
            <a:ext cx="9442175" cy="120032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To play your soundtrack at any time, press the space bar or click on the ‘Play’ button. To stop playback, press the space bar again or click on the ‘Stop’ button.</a:t>
            </a:r>
            <a:endParaRPr/>
          </a:p>
        </p:txBody>
      </p:sp>
      <p:sp>
        <p:nvSpPr>
          <p:cNvPr id="156" name="Google Shape;156;p23"/>
          <p:cNvSpPr/>
          <p:nvPr/>
        </p:nvSpPr>
        <p:spPr>
          <a:xfrm>
            <a:off x="8250323" y="3766894"/>
            <a:ext cx="2660408" cy="5232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Watch Video 1.2 </a:t>
            </a:r>
            <a:endParaRPr sz="2800">
              <a:solidFill>
                <a:schemeClr val="dk1"/>
              </a:solidFill>
              <a:latin typeface="Calibri"/>
              <a:ea typeface="Calibri"/>
              <a:cs typeface="Calibri"/>
              <a:sym typeface="Calibri"/>
            </a:endParaRPr>
          </a:p>
        </p:txBody>
      </p:sp>
      <p:pic>
        <p:nvPicPr>
          <p:cNvPr id="157" name="Google Shape;157;p23"/>
          <p:cNvPicPr preferRelativeResize="0"/>
          <p:nvPr/>
        </p:nvPicPr>
        <p:blipFill rotWithShape="1">
          <a:blip r:embed="rId3">
            <a:alphaModFix/>
          </a:blip>
          <a:srcRect b="0" l="0" r="0" t="0"/>
          <a:stretch/>
        </p:blipFill>
        <p:spPr>
          <a:xfrm>
            <a:off x="5285812" y="3218316"/>
            <a:ext cx="1620376" cy="16203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
                                            <p:txEl>
                                              <p:pRg end="0" st="0"/>
                                            </p:txEl>
                                          </p:spTgt>
                                        </p:tgtEl>
                                        <p:attrNameLst>
                                          <p:attrName>style.visibility</p:attrName>
                                        </p:attrNameLst>
                                      </p:cBhvr>
                                      <p:to>
                                        <p:strVal val="visible"/>
                                      </p:to>
                                    </p:set>
                                    <p:animEffect filter="fade" transition="in">
                                      <p:cBhvr>
                                        <p:cTn dur="500"/>
                                        <p:tgtEl>
                                          <p:spTgt spid="156">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pic>
        <p:nvPicPr>
          <p:cNvPr descr="Table&#10;&#10;Description automatically generated" id="162" name="Google Shape;162;p24"/>
          <p:cNvPicPr preferRelativeResize="0"/>
          <p:nvPr/>
        </p:nvPicPr>
        <p:blipFill rotWithShape="1">
          <a:blip r:embed="rId3">
            <a:alphaModFix/>
          </a:blip>
          <a:srcRect b="0" l="0" r="0" t="0"/>
          <a:stretch/>
        </p:blipFill>
        <p:spPr>
          <a:xfrm>
            <a:off x="817168" y="3429000"/>
            <a:ext cx="7818252" cy="2863444"/>
          </a:xfrm>
          <a:prstGeom prst="rect">
            <a:avLst/>
          </a:prstGeom>
          <a:noFill/>
          <a:ln>
            <a:noFill/>
          </a:ln>
        </p:spPr>
      </p:pic>
      <p:sp>
        <p:nvSpPr>
          <p:cNvPr id="163" name="Google Shape;163;p24"/>
          <p:cNvSpPr txBox="1"/>
          <p:nvPr>
            <p:ph type="title"/>
          </p:nvPr>
        </p:nvSpPr>
        <p:spPr>
          <a:xfrm>
            <a:off x="1570382" y="834888"/>
            <a:ext cx="10694505"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3600"/>
              <a:buFont typeface="Calibri"/>
              <a:buNone/>
            </a:pPr>
            <a:r>
              <a:rPr b="1" lang="en-GB" sz="3600">
                <a:solidFill>
                  <a:schemeClr val="lt1"/>
                </a:solidFill>
              </a:rPr>
              <a:t>Activity 1.2: Arranging the composition and trimming </a:t>
            </a:r>
            <a:endParaRPr/>
          </a:p>
        </p:txBody>
      </p:sp>
      <p:sp>
        <p:nvSpPr>
          <p:cNvPr id="164" name="Google Shape;164;p24"/>
          <p:cNvSpPr/>
          <p:nvPr/>
        </p:nvSpPr>
        <p:spPr>
          <a:xfrm>
            <a:off x="1570382" y="2105633"/>
            <a:ext cx="5045496" cy="120032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Arrange the audio tracks you imported according to the audio timeline and trim them if necessary.</a:t>
            </a:r>
            <a:endParaRPr/>
          </a:p>
        </p:txBody>
      </p:sp>
      <p:pic>
        <p:nvPicPr>
          <p:cNvPr descr="A picture containing athletic game, basketball, sport&#10;&#10;Description automatically generated" id="165" name="Google Shape;165;p24"/>
          <p:cNvPicPr preferRelativeResize="0"/>
          <p:nvPr/>
        </p:nvPicPr>
        <p:blipFill rotWithShape="1">
          <a:blip r:embed="rId4">
            <a:alphaModFix/>
          </a:blip>
          <a:srcRect b="0" l="0" r="0" t="0"/>
          <a:stretch/>
        </p:blipFill>
        <p:spPr>
          <a:xfrm>
            <a:off x="8635420" y="1912526"/>
            <a:ext cx="2844364" cy="278687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5"/>
          <p:cNvSpPr txBox="1"/>
          <p:nvPr>
            <p:ph type="title"/>
          </p:nvPr>
        </p:nvSpPr>
        <p:spPr>
          <a:xfrm>
            <a:off x="1620078" y="765312"/>
            <a:ext cx="9733721" cy="83592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Recording the voiceover </a:t>
            </a:r>
            <a:endParaRPr/>
          </a:p>
        </p:txBody>
      </p:sp>
      <p:sp>
        <p:nvSpPr>
          <p:cNvPr id="171" name="Google Shape;171;p25"/>
          <p:cNvSpPr txBox="1"/>
          <p:nvPr>
            <p:ph idx="1" type="body"/>
          </p:nvPr>
        </p:nvSpPr>
        <p:spPr>
          <a:xfrm>
            <a:off x="1620078" y="1923594"/>
            <a:ext cx="9034670" cy="3397595"/>
          </a:xfrm>
          <a:prstGeom prst="rect">
            <a:avLst/>
          </a:prstGeom>
          <a:noFill/>
          <a:ln>
            <a:noFill/>
          </a:ln>
        </p:spPr>
        <p:txBody>
          <a:bodyPr anchorCtr="0" anchor="t" bIns="45700" lIns="91425" spcFirstLastPara="1" rIns="91425" wrap="square" tIns="45700">
            <a:noAutofit/>
          </a:bodyPr>
          <a:lstStyle/>
          <a:p>
            <a:pPr indent="0" lvl="0" marL="0" rtl="0" algn="l">
              <a:lnSpc>
                <a:spcPct val="90000"/>
              </a:lnSpc>
              <a:spcBef>
                <a:spcPts val="0"/>
              </a:spcBef>
              <a:spcAft>
                <a:spcPts val="0"/>
              </a:spcAft>
              <a:buClr>
                <a:schemeClr val="dk1"/>
              </a:buClr>
              <a:buSzPts val="2400"/>
              <a:buNone/>
            </a:pPr>
            <a:r>
              <a:rPr lang="en-GB" sz="2400"/>
              <a:t>Now that your audio tracks are roughly in the right place, you need to use the script to record a </a:t>
            </a:r>
            <a:r>
              <a:rPr b="1" lang="en-GB" sz="2400">
                <a:solidFill>
                  <a:srgbClr val="FF0000"/>
                </a:solidFill>
              </a:rPr>
              <a:t>voiceover</a:t>
            </a:r>
            <a:r>
              <a:rPr lang="en-GB" sz="2400"/>
              <a:t>.</a:t>
            </a:r>
            <a:endParaRPr/>
          </a:p>
          <a:p>
            <a:pPr indent="0" lvl="0" marL="0" rtl="0" algn="l">
              <a:lnSpc>
                <a:spcPct val="90000"/>
              </a:lnSpc>
              <a:spcBef>
                <a:spcPts val="1000"/>
              </a:spcBef>
              <a:spcAft>
                <a:spcPts val="0"/>
              </a:spcAft>
              <a:buClr>
                <a:schemeClr val="dk1"/>
              </a:buClr>
              <a:buSzPts val="2400"/>
              <a:buNone/>
            </a:pPr>
            <a:r>
              <a:rPr lang="en-GB" sz="2400"/>
              <a:t>To record a voiceover, click on ‘Tracks’, ‘Add New’ and ‘Stereo Track’.</a:t>
            </a:r>
            <a:endParaRPr/>
          </a:p>
          <a:p>
            <a:pPr indent="0" lvl="0" marL="0" rtl="0" algn="l">
              <a:lnSpc>
                <a:spcPct val="90000"/>
              </a:lnSpc>
              <a:spcBef>
                <a:spcPts val="1000"/>
              </a:spcBef>
              <a:spcAft>
                <a:spcPts val="0"/>
              </a:spcAft>
              <a:buClr>
                <a:schemeClr val="dk1"/>
              </a:buClr>
              <a:buSzPts val="2400"/>
              <a:buNone/>
            </a:pPr>
            <a:r>
              <a:rPr lang="en-GB" sz="2400"/>
              <a:t>Make sure your microphone is positioned properly and click the ‘Record’ button. When you have finished click the ‘Stop’ button.</a:t>
            </a:r>
            <a:endParaRPr/>
          </a:p>
          <a:p>
            <a:pPr indent="0" lvl="0" marL="0" rtl="0" algn="l">
              <a:lnSpc>
                <a:spcPct val="90000"/>
              </a:lnSpc>
              <a:spcBef>
                <a:spcPts val="1000"/>
              </a:spcBef>
              <a:spcAft>
                <a:spcPts val="0"/>
              </a:spcAft>
              <a:buClr>
                <a:schemeClr val="dk1"/>
              </a:buClr>
              <a:buSzPts val="2400"/>
              <a:buNone/>
            </a:pPr>
            <a:r>
              <a:rPr lang="en-GB" sz="2400"/>
              <a:t>Press the space bar to play the whole soundtrack, or mute the other tracks by clicking on the ‘Mute’ tabs, and press the space bar to play only the voiceover.</a:t>
            </a:r>
            <a:endParaRPr/>
          </a:p>
          <a:p>
            <a:pPr indent="0" lvl="0" marL="0" rtl="0" algn="l">
              <a:lnSpc>
                <a:spcPct val="90000"/>
              </a:lnSpc>
              <a:spcBef>
                <a:spcPts val="1000"/>
              </a:spcBef>
              <a:spcAft>
                <a:spcPts val="0"/>
              </a:spcAft>
              <a:buClr>
                <a:schemeClr val="dk1"/>
              </a:buClr>
              <a:buSzPts val="2400"/>
              <a:buNone/>
            </a:pPr>
            <a:r>
              <a:rPr lang="en-GB" sz="2400"/>
              <a:t>Use the ‘Selection Tool’ to trim your voiceover track and the ‘Time Shift Tool’ to move it into the right place. </a:t>
            </a:r>
            <a:endParaRPr/>
          </a:p>
        </p:txBody>
      </p:sp>
      <p:sp>
        <p:nvSpPr>
          <p:cNvPr id="172" name="Google Shape;172;p25"/>
          <p:cNvSpPr/>
          <p:nvPr/>
        </p:nvSpPr>
        <p:spPr>
          <a:xfrm>
            <a:off x="4765796" y="5967456"/>
            <a:ext cx="2660408" cy="5232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Watch Video 1.3 </a:t>
            </a:r>
            <a:endParaRPr sz="28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2">
                                            <p:txEl>
                                              <p:pRg end="0" st="0"/>
                                            </p:txEl>
                                          </p:spTgt>
                                        </p:tgtEl>
                                        <p:attrNameLst>
                                          <p:attrName>style.visibility</p:attrName>
                                        </p:attrNameLst>
                                      </p:cBhvr>
                                      <p:to>
                                        <p:strVal val="visible"/>
                                      </p:to>
                                    </p:set>
                                    <p:animEffect filter="fade" transition="in">
                                      <p:cBhvr>
                                        <p:cTn dur="500"/>
                                        <p:tgtEl>
                                          <p:spTgt spid="172">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6"/>
          <p:cNvSpPr txBox="1"/>
          <p:nvPr>
            <p:ph type="title"/>
          </p:nvPr>
        </p:nvSpPr>
        <p:spPr>
          <a:xfrm>
            <a:off x="1570382" y="834888"/>
            <a:ext cx="10694505"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1.3: Recording the voiceover </a:t>
            </a:r>
            <a:endParaRPr/>
          </a:p>
        </p:txBody>
      </p:sp>
      <p:sp>
        <p:nvSpPr>
          <p:cNvPr id="178" name="Google Shape;178;p26"/>
          <p:cNvSpPr/>
          <p:nvPr/>
        </p:nvSpPr>
        <p:spPr>
          <a:xfrm>
            <a:off x="1570382" y="2521059"/>
            <a:ext cx="3258882" cy="181588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Record your voiceover using the script provided, or import Sounds 1.2.</a:t>
            </a:r>
            <a:endParaRPr/>
          </a:p>
        </p:txBody>
      </p:sp>
      <p:pic>
        <p:nvPicPr>
          <p:cNvPr descr="A picture containing athletic game, basketball, sport&#10;&#10;Description automatically generated" id="179" name="Google Shape;179;p26"/>
          <p:cNvPicPr preferRelativeResize="0"/>
          <p:nvPr/>
        </p:nvPicPr>
        <p:blipFill rotWithShape="1">
          <a:blip r:embed="rId3">
            <a:alphaModFix/>
          </a:blip>
          <a:srcRect b="0" l="0" r="0" t="0"/>
          <a:stretch/>
        </p:blipFill>
        <p:spPr>
          <a:xfrm>
            <a:off x="6096000" y="1932846"/>
            <a:ext cx="4682744" cy="458809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7"/>
          <p:cNvSpPr txBox="1"/>
          <p:nvPr>
            <p:ph type="title"/>
          </p:nvPr>
        </p:nvSpPr>
        <p:spPr>
          <a:xfrm>
            <a:off x="1600200" y="765313"/>
            <a:ext cx="9753599" cy="834887"/>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Adjusting the levels  </a:t>
            </a:r>
            <a:endParaRPr/>
          </a:p>
        </p:txBody>
      </p:sp>
      <p:sp>
        <p:nvSpPr>
          <p:cNvPr id="185" name="Google Shape;185;p27"/>
          <p:cNvSpPr txBox="1"/>
          <p:nvPr>
            <p:ph idx="1" type="body"/>
          </p:nvPr>
        </p:nvSpPr>
        <p:spPr>
          <a:xfrm>
            <a:off x="1600200" y="2014468"/>
            <a:ext cx="9279835"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800"/>
              <a:buNone/>
            </a:pPr>
            <a:r>
              <a:rPr lang="en-GB">
                <a:latin typeface="Calibri"/>
                <a:ea typeface="Calibri"/>
                <a:cs typeface="Calibri"/>
                <a:sym typeface="Calibri"/>
              </a:rPr>
              <a:t>You may have noticed that, when you press ‘Play’, all the audio tracks are at the same volume.</a:t>
            </a:r>
            <a:endParaRPr>
              <a:latin typeface="Calibri"/>
              <a:ea typeface="Calibri"/>
              <a:cs typeface="Calibri"/>
              <a:sym typeface="Calibri"/>
            </a:endParaRPr>
          </a:p>
          <a:p>
            <a:pPr indent="0" lvl="0" marL="0" rtl="0" algn="l">
              <a:lnSpc>
                <a:spcPct val="90000"/>
              </a:lnSpc>
              <a:spcBef>
                <a:spcPts val="1000"/>
              </a:spcBef>
              <a:spcAft>
                <a:spcPts val="0"/>
              </a:spcAft>
              <a:buClr>
                <a:schemeClr val="dk1"/>
              </a:buClr>
              <a:buSzPts val="2800"/>
              <a:buNone/>
            </a:pPr>
            <a:r>
              <a:rPr lang="en-GB">
                <a:latin typeface="Calibri"/>
                <a:ea typeface="Calibri"/>
                <a:cs typeface="Calibri"/>
                <a:sym typeface="Calibri"/>
              </a:rPr>
              <a:t>You can adjust the volume – or </a:t>
            </a:r>
            <a:r>
              <a:rPr b="1" lang="en-GB">
                <a:solidFill>
                  <a:srgbClr val="FF0000"/>
                </a:solidFill>
                <a:latin typeface="Calibri"/>
                <a:ea typeface="Calibri"/>
                <a:cs typeface="Calibri"/>
                <a:sym typeface="Calibri"/>
              </a:rPr>
              <a:t>level</a:t>
            </a:r>
            <a:r>
              <a:rPr lang="en-GB">
                <a:latin typeface="Calibri"/>
                <a:ea typeface="Calibri"/>
                <a:cs typeface="Calibri"/>
                <a:sym typeface="Calibri"/>
              </a:rPr>
              <a:t> – of each track using the fader on each of the tracks.</a:t>
            </a:r>
            <a:endParaRPr>
              <a:latin typeface="Calibri"/>
              <a:ea typeface="Calibri"/>
              <a:cs typeface="Calibri"/>
              <a:sym typeface="Calibri"/>
            </a:endParaRPr>
          </a:p>
          <a:p>
            <a:pPr indent="-50800" lvl="0" marL="228600" rtl="0" algn="l">
              <a:lnSpc>
                <a:spcPct val="90000"/>
              </a:lnSpc>
              <a:spcBef>
                <a:spcPts val="1000"/>
              </a:spcBef>
              <a:spcAft>
                <a:spcPts val="0"/>
              </a:spcAft>
              <a:buClr>
                <a:schemeClr val="dk1"/>
              </a:buClr>
              <a:buSzPts val="2800"/>
              <a:buNone/>
            </a:pPr>
            <a:r>
              <a:t/>
            </a:r>
            <a:endParaRPr/>
          </a:p>
        </p:txBody>
      </p:sp>
      <p:sp>
        <p:nvSpPr>
          <p:cNvPr id="186" name="Google Shape;186;p27"/>
          <p:cNvSpPr/>
          <p:nvPr/>
        </p:nvSpPr>
        <p:spPr>
          <a:xfrm>
            <a:off x="8219627" y="4797815"/>
            <a:ext cx="2660408" cy="5232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800">
                <a:solidFill>
                  <a:schemeClr val="dk1"/>
                </a:solidFill>
                <a:latin typeface="Calibri"/>
                <a:ea typeface="Calibri"/>
                <a:cs typeface="Calibri"/>
                <a:sym typeface="Calibri"/>
              </a:rPr>
              <a:t>Watch Video 1.4 </a:t>
            </a:r>
            <a:endParaRPr sz="2800">
              <a:solidFill>
                <a:schemeClr val="dk1"/>
              </a:solidFill>
              <a:latin typeface="Calibri"/>
              <a:ea typeface="Calibri"/>
              <a:cs typeface="Calibri"/>
              <a:sym typeface="Calibri"/>
            </a:endParaRPr>
          </a:p>
        </p:txBody>
      </p:sp>
      <p:pic>
        <p:nvPicPr>
          <p:cNvPr id="187" name="Google Shape;187;p27"/>
          <p:cNvPicPr preferRelativeResize="0"/>
          <p:nvPr/>
        </p:nvPicPr>
        <p:blipFill rotWithShape="1">
          <a:blip r:embed="rId3">
            <a:alphaModFix/>
          </a:blip>
          <a:srcRect b="0" l="0" r="0" t="0"/>
          <a:stretch/>
        </p:blipFill>
        <p:spPr>
          <a:xfrm>
            <a:off x="1600200" y="4190137"/>
            <a:ext cx="5847080" cy="154775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6">
                                            <p:txEl>
                                              <p:pRg end="0" st="0"/>
                                            </p:txEl>
                                          </p:spTgt>
                                        </p:tgtEl>
                                        <p:attrNameLst>
                                          <p:attrName>style.visibility</p:attrName>
                                        </p:attrNameLst>
                                      </p:cBhvr>
                                      <p:to>
                                        <p:strVal val="visible"/>
                                      </p:to>
                                    </p:set>
                                    <p:animEffect filter="fade" transition="in">
                                      <p:cBhvr>
                                        <p:cTn dur="500"/>
                                        <p:tgtEl>
                                          <p:spTgt spid="186">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pic>
        <p:nvPicPr>
          <p:cNvPr descr="Table&#10;&#10;Description automatically generated" id="192" name="Google Shape;192;p28"/>
          <p:cNvPicPr preferRelativeResize="0"/>
          <p:nvPr/>
        </p:nvPicPr>
        <p:blipFill rotWithShape="1">
          <a:blip r:embed="rId3">
            <a:alphaModFix/>
          </a:blip>
          <a:srcRect b="0" l="0" r="0" t="0"/>
          <a:stretch/>
        </p:blipFill>
        <p:spPr>
          <a:xfrm>
            <a:off x="817168" y="3717401"/>
            <a:ext cx="7818252" cy="2863444"/>
          </a:xfrm>
          <a:prstGeom prst="rect">
            <a:avLst/>
          </a:prstGeom>
          <a:noFill/>
          <a:ln>
            <a:noFill/>
          </a:ln>
        </p:spPr>
      </p:pic>
      <p:sp>
        <p:nvSpPr>
          <p:cNvPr id="193" name="Google Shape;193;p28"/>
          <p:cNvSpPr txBox="1"/>
          <p:nvPr>
            <p:ph type="title"/>
          </p:nvPr>
        </p:nvSpPr>
        <p:spPr>
          <a:xfrm>
            <a:off x="1570382" y="834888"/>
            <a:ext cx="10694505"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1.4: Adjusting the levels</a:t>
            </a:r>
            <a:endParaRPr/>
          </a:p>
        </p:txBody>
      </p:sp>
      <p:sp>
        <p:nvSpPr>
          <p:cNvPr id="194" name="Google Shape;194;p28"/>
          <p:cNvSpPr/>
          <p:nvPr/>
        </p:nvSpPr>
        <p:spPr>
          <a:xfrm>
            <a:off x="1710683" y="2069141"/>
            <a:ext cx="6590037" cy="230832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Change the volume of each track, so that levels match the audio timeline.</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It is important to ensure the voiceover is clear and easy to hear because the voiceover is the most important part of the advert.</a:t>
            </a:r>
            <a:endParaRPr sz="24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2400">
              <a:solidFill>
                <a:schemeClr val="dk1"/>
              </a:solidFill>
              <a:latin typeface="Calibri"/>
              <a:ea typeface="Calibri"/>
              <a:cs typeface="Calibri"/>
              <a:sym typeface="Calibri"/>
            </a:endParaRPr>
          </a:p>
        </p:txBody>
      </p:sp>
      <p:pic>
        <p:nvPicPr>
          <p:cNvPr descr="A picture containing athletic game, basketball, sport&#10;&#10;Description automatically generated" id="195" name="Google Shape;195;p28"/>
          <p:cNvPicPr preferRelativeResize="0"/>
          <p:nvPr/>
        </p:nvPicPr>
        <p:blipFill rotWithShape="1">
          <a:blip r:embed="rId4">
            <a:alphaModFix/>
          </a:blip>
          <a:srcRect b="0" l="0" r="0" t="0"/>
          <a:stretch/>
        </p:blipFill>
        <p:spPr>
          <a:xfrm>
            <a:off x="8635420" y="1912526"/>
            <a:ext cx="2844364" cy="2786872"/>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29"/>
          <p:cNvSpPr txBox="1"/>
          <p:nvPr>
            <p:ph type="title"/>
          </p:nvPr>
        </p:nvSpPr>
        <p:spPr>
          <a:xfrm>
            <a:off x="1630017" y="805070"/>
            <a:ext cx="9783417" cy="775252"/>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Quiz 1</a:t>
            </a:r>
            <a:endParaRPr/>
          </a:p>
        </p:txBody>
      </p:sp>
      <p:pic>
        <p:nvPicPr>
          <p:cNvPr descr="A picture containing athletic game, basketball, sport&#10;&#10;Description automatically generated" id="201" name="Google Shape;201;p29"/>
          <p:cNvPicPr preferRelativeResize="0"/>
          <p:nvPr/>
        </p:nvPicPr>
        <p:blipFill rotWithShape="1">
          <a:blip r:embed="rId3">
            <a:alphaModFix/>
          </a:blip>
          <a:srcRect b="0" l="0" r="0" t="0"/>
          <a:stretch/>
        </p:blipFill>
        <p:spPr>
          <a:xfrm>
            <a:off x="3697950" y="1851566"/>
            <a:ext cx="4796100" cy="4699158"/>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