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Lst>
  <p:sldSz cy="6858000" cx="12192000"/>
  <p:notesSz cx="6858000" cy="9144000"/>
  <p:embeddedFontLst>
    <p:embeddedFont>
      <p:font typeface="Ubuntu"/>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font" Target="fonts/Ubuntu-regular.fntdata"/><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font" Target="fonts/Ubuntu-italic.fntdata"/><Relationship Id="rId14" Type="http://schemas.openxmlformats.org/officeDocument/2006/relationships/font" Target="fonts/Ubuntu-bold.fntdata"/><Relationship Id="rId16" Type="http://schemas.openxmlformats.org/officeDocument/2006/relationships/font" Target="fonts/Ubuntu-boldItalic.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2.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id="9" name="Google Shape;9;p1"/>
          <p:cNvPicPr preferRelativeResize="0"/>
          <p:nvPr/>
        </p:nvPicPr>
        <p:blipFill rotWithShape="1">
          <a:blip r:embed="rId1">
            <a:alphaModFix/>
          </a:blip>
          <a:srcRect b="0" l="0" r="0" t="0"/>
          <a:stretch/>
        </p:blipFill>
        <p:spPr>
          <a:xfrm>
            <a:off x="0" y="0"/>
            <a:ext cx="12238036" cy="1622391"/>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nvSpPr>
        <p:spPr>
          <a:xfrm>
            <a:off x="2047478" y="2498614"/>
            <a:ext cx="5516881" cy="1860771"/>
          </a:xfrm>
          <a:prstGeom prst="rect">
            <a:avLst/>
          </a:prstGeom>
          <a:noFill/>
          <a:ln>
            <a:noFill/>
          </a:ln>
        </p:spPr>
        <p:txBody>
          <a:bodyPr anchorCtr="0" anchor="b" bIns="45700" lIns="91425" spcFirstLastPara="1" rIns="91425" wrap="square" tIns="45700">
            <a:noAutofit/>
          </a:bodyPr>
          <a:lstStyle/>
          <a:p>
            <a:pPr indent="0" lvl="0" marL="0" marR="0" rtl="0" algn="r">
              <a:lnSpc>
                <a:spcPct val="90000"/>
              </a:lnSpc>
              <a:spcBef>
                <a:spcPts val="0"/>
              </a:spcBef>
              <a:spcAft>
                <a:spcPts val="0"/>
              </a:spcAft>
              <a:buClr>
                <a:schemeClr val="dk1"/>
              </a:buClr>
              <a:buSzPts val="6000"/>
              <a:buFont typeface="Calibri"/>
              <a:buNone/>
            </a:pPr>
            <a:r>
              <a:rPr b="1" i="0" lang="en-GB" sz="6000" u="none" cap="none" strike="noStrike">
                <a:solidFill>
                  <a:schemeClr val="dk1"/>
                </a:solidFill>
                <a:latin typeface="Calibri"/>
                <a:ea typeface="Calibri"/>
                <a:cs typeface="Calibri"/>
                <a:sym typeface="Calibri"/>
              </a:rPr>
              <a:t>Sound and video editing</a:t>
            </a:r>
            <a:endParaRPr b="1" i="0" sz="6000" u="none" cap="none" strike="noStrike">
              <a:solidFill>
                <a:schemeClr val="dk1"/>
              </a:solidFill>
              <a:latin typeface="Calibri"/>
              <a:ea typeface="Calibri"/>
              <a:cs typeface="Calibri"/>
              <a:sym typeface="Calibri"/>
            </a:endParaRPr>
          </a:p>
        </p:txBody>
      </p:sp>
      <p:sp>
        <p:nvSpPr>
          <p:cNvPr id="81" name="Google Shape;81;p13"/>
          <p:cNvSpPr/>
          <p:nvPr/>
        </p:nvSpPr>
        <p:spPr>
          <a:xfrm>
            <a:off x="2079716" y="4359385"/>
            <a:ext cx="5484643" cy="40011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FF0000"/>
                </a:solidFill>
                <a:latin typeface="Calibri"/>
                <a:ea typeface="Calibri"/>
                <a:cs typeface="Calibri"/>
                <a:sym typeface="Calibri"/>
              </a:rPr>
              <a:t>Lesson 4: Creating a soundtrack for a video advert</a:t>
            </a:r>
            <a:endParaRPr b="1" i="0" sz="2000" u="none" cap="none" strike="noStrike">
              <a:solidFill>
                <a:srgbClr val="FF0000"/>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8251906" y="2191860"/>
            <a:ext cx="2916165" cy="363573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630018" y="824948"/>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630018" y="2397948"/>
            <a:ext cx="7722704" cy="2062103"/>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apply audio editing skills to develop a soundtrack for a video advert</a:t>
            </a:r>
            <a:endParaRPr sz="2400">
              <a:solidFill>
                <a:schemeClr val="dk1"/>
              </a:solidFill>
              <a:latin typeface="Ubuntu"/>
              <a:ea typeface="Ubuntu"/>
              <a:cs typeface="Ubuntu"/>
              <a:sym typeface="Ubuntu"/>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apply audio effects appropriately to enhance a soundtrack for a video advert.</a:t>
            </a:r>
            <a:endParaRPr sz="2400">
              <a:solidFill>
                <a:schemeClr val="dk1"/>
              </a:solidFill>
              <a:latin typeface="Ubuntu"/>
              <a:ea typeface="Ubuntu"/>
              <a:cs typeface="Ubuntu"/>
              <a:sym typeface="Ubuntu"/>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580322" y="775252"/>
            <a:ext cx="9773478" cy="83488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Hachette Travel’s video advert </a:t>
            </a:r>
            <a:endParaRPr/>
          </a:p>
        </p:txBody>
      </p:sp>
      <p:sp>
        <p:nvSpPr>
          <p:cNvPr id="94" name="Google Shape;94;p15"/>
          <p:cNvSpPr/>
          <p:nvPr/>
        </p:nvSpPr>
        <p:spPr>
          <a:xfrm>
            <a:off x="1580322" y="1843900"/>
            <a:ext cx="9773477" cy="45243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Hachette Travel organises holidays for families abroad, including flights. It would like to sell more holiday packages and it thinks a video advert will help it get more customers. It plans to show the advert online.</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The advert must:</a:t>
            </a:r>
            <a:endParaRPr/>
          </a:p>
          <a:p>
            <a:pPr indent="-457200" lvl="0" marL="4572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be no longer than 30 seconds</a:t>
            </a:r>
            <a:endParaRPr/>
          </a:p>
          <a:p>
            <a:pPr indent="-457200" lvl="0" marL="4572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include a voiceover</a:t>
            </a:r>
            <a:endParaRPr/>
          </a:p>
          <a:p>
            <a:pPr indent="-457200" lvl="0" marL="4572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include background music</a:t>
            </a:r>
            <a:endParaRPr/>
          </a:p>
          <a:p>
            <a:pPr indent="-457200" lvl="0" marL="4572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include at least three audio effects</a:t>
            </a:r>
            <a:endParaRPr/>
          </a:p>
          <a:p>
            <a:pPr indent="-457200" lvl="0" marL="4572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include at least five different video clips</a:t>
            </a:r>
            <a:endParaRPr/>
          </a:p>
          <a:p>
            <a:pPr indent="-457200" lvl="0" marL="4572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include Hachette Travel’s logo, which should be on screen throughout</a:t>
            </a:r>
            <a:endParaRPr/>
          </a:p>
          <a:p>
            <a:pPr indent="-457200" lvl="0" marL="4572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include at least three visual effects.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ph type="title"/>
          </p:nvPr>
        </p:nvSpPr>
        <p:spPr>
          <a:xfrm>
            <a:off x="1570382" y="834888"/>
            <a:ext cx="10694505"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4.1: Soundtrack</a:t>
            </a:r>
            <a:endParaRPr b="1" sz="3600">
              <a:solidFill>
                <a:schemeClr val="lt1"/>
              </a:solidFill>
            </a:endParaRPr>
          </a:p>
        </p:txBody>
      </p:sp>
      <p:sp>
        <p:nvSpPr>
          <p:cNvPr id="100" name="Google Shape;100;p16"/>
          <p:cNvSpPr/>
          <p:nvPr/>
        </p:nvSpPr>
        <p:spPr>
          <a:xfrm>
            <a:off x="1570382" y="2013387"/>
            <a:ext cx="6981436" cy="4154984"/>
          </a:xfrm>
          <a:prstGeom prst="rect">
            <a:avLst/>
          </a:prstGeom>
          <a:noFill/>
          <a:ln>
            <a:noFill/>
          </a:ln>
        </p:spPr>
        <p:txBody>
          <a:bodyPr anchorCtr="0" anchor="t" bIns="45700" lIns="91425" spcFirstLastPara="1" rIns="91425" wrap="square" tIns="45700">
            <a:noAutofit/>
          </a:bodyPr>
          <a:lstStyle/>
          <a:p>
            <a:pPr indent="-285750" lvl="0" marL="28575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Use your sound editing skills to create the </a:t>
            </a:r>
            <a:r>
              <a:rPr b="1" lang="en-GB" sz="2400">
                <a:solidFill>
                  <a:srgbClr val="FF0000"/>
                </a:solidFill>
                <a:latin typeface="Calibri"/>
                <a:ea typeface="Calibri"/>
                <a:cs typeface="Calibri"/>
                <a:sym typeface="Calibri"/>
              </a:rPr>
              <a:t>soundtrack</a:t>
            </a:r>
            <a:r>
              <a:rPr lang="en-GB" sz="2400">
                <a:solidFill>
                  <a:schemeClr val="dk1"/>
                </a:solidFill>
                <a:latin typeface="Calibri"/>
                <a:ea typeface="Calibri"/>
                <a:cs typeface="Calibri"/>
                <a:sym typeface="Calibri"/>
              </a:rPr>
              <a:t> for your video advert using Audacity. The soundtrack is the collection of sounds that will accompany the visuals in your video advert.</a:t>
            </a:r>
            <a:endParaRPr/>
          </a:p>
          <a:p>
            <a:pPr indent="-285750" lvl="0" marL="28575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Use Sounds 3.2 and Visuals 3.2.</a:t>
            </a:r>
            <a:endParaRPr/>
          </a:p>
          <a:p>
            <a:pPr indent="-285750" lvl="0" marL="28575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Use your timeline to help you create your soundtrack. You can depart from your plan, but if you do something different make sure you save a new version of your timeline and change your timeline to match.</a:t>
            </a:r>
            <a:endParaRPr/>
          </a:p>
          <a:p>
            <a:pPr indent="-133350" lvl="0" marL="285750" marR="0" rtl="0" algn="l">
              <a:spcBef>
                <a:spcPts val="0"/>
              </a:spcBef>
              <a:spcAft>
                <a:spcPts val="0"/>
              </a:spcAft>
              <a:buClr>
                <a:schemeClr val="dk1"/>
              </a:buClr>
              <a:buSzPts val="2400"/>
              <a:buFont typeface="Arial"/>
              <a:buNone/>
            </a:pPr>
            <a:r>
              <a:t/>
            </a:r>
            <a:endParaRPr sz="2400">
              <a:solidFill>
                <a:schemeClr val="dk1"/>
              </a:solidFill>
              <a:latin typeface="Calibri"/>
              <a:ea typeface="Calibri"/>
              <a:cs typeface="Calibri"/>
              <a:sym typeface="Calibri"/>
            </a:endParaRPr>
          </a:p>
        </p:txBody>
      </p:sp>
      <p:pic>
        <p:nvPicPr>
          <p:cNvPr descr="A picture containing athletic game, basketball, sport&#10;&#10;Description automatically generated" id="101" name="Google Shape;101;p16"/>
          <p:cNvPicPr preferRelativeResize="0"/>
          <p:nvPr/>
        </p:nvPicPr>
        <p:blipFill rotWithShape="1">
          <a:blip r:embed="rId3">
            <a:alphaModFix/>
          </a:blip>
          <a:srcRect b="0" l="0" r="0" t="0"/>
          <a:stretch/>
        </p:blipFill>
        <p:spPr>
          <a:xfrm>
            <a:off x="8456429" y="2205812"/>
            <a:ext cx="3295790" cy="3229173"/>
          </a:xfrm>
          <a:prstGeom prst="rect">
            <a:avLst/>
          </a:prstGeom>
          <a:noFill/>
          <a:ln>
            <a:noFill/>
          </a:ln>
        </p:spPr>
      </p:pic>
      <p:sp>
        <p:nvSpPr>
          <p:cNvPr id="102" name="Google Shape;102;p16"/>
          <p:cNvSpPr/>
          <p:nvPr/>
        </p:nvSpPr>
        <p:spPr>
          <a:xfrm>
            <a:off x="1570382" y="5627410"/>
            <a:ext cx="9489504" cy="461665"/>
          </a:xfrm>
          <a:prstGeom prst="rect">
            <a:avLst/>
          </a:prstGeom>
          <a:noFill/>
          <a:ln>
            <a:noFill/>
          </a:ln>
        </p:spPr>
        <p:txBody>
          <a:bodyPr anchorCtr="0" anchor="t" bIns="45700" lIns="91425" spcFirstLastPara="1" rIns="91425" wrap="square" tIns="45700">
            <a:noAutofit/>
          </a:bodyPr>
          <a:lstStyle/>
          <a:p>
            <a:pPr indent="-285750" lvl="0" marL="28575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Record your voiceover using the script provided, or import Sounds 4.1.</a:t>
            </a:r>
            <a:endParaRPr sz="3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Exporting your soundtrack</a:t>
            </a:r>
            <a:r>
              <a:rPr lang="en-GB">
                <a:solidFill>
                  <a:schemeClr val="lt1"/>
                </a:solidFill>
              </a:rPr>
              <a:t> </a:t>
            </a:r>
            <a:endParaRPr b="1">
              <a:solidFill>
                <a:schemeClr val="lt1"/>
              </a:solidFill>
            </a:endParaRPr>
          </a:p>
        </p:txBody>
      </p:sp>
      <p:sp>
        <p:nvSpPr>
          <p:cNvPr id="108" name="Google Shape;108;p17"/>
          <p:cNvSpPr txBox="1"/>
          <p:nvPr>
            <p:ph idx="1" type="body"/>
          </p:nvPr>
        </p:nvSpPr>
        <p:spPr>
          <a:xfrm>
            <a:off x="1620078" y="2349017"/>
            <a:ext cx="9034670" cy="2159966"/>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dk1"/>
              </a:buClr>
              <a:buSzPts val="2400"/>
              <a:buChar char="•"/>
            </a:pPr>
            <a:r>
              <a:rPr lang="en-GB" sz="2400"/>
              <a:t>When you have created your soundtrack, you need to </a:t>
            </a:r>
            <a:r>
              <a:rPr b="1" lang="en-GB" sz="2400">
                <a:solidFill>
                  <a:srgbClr val="FF0000"/>
                </a:solidFill>
              </a:rPr>
              <a:t>export</a:t>
            </a:r>
            <a:r>
              <a:rPr lang="en-GB" sz="2400"/>
              <a:t> it so that you can import it into video editing software next lesson.</a:t>
            </a:r>
            <a:endParaRPr/>
          </a:p>
          <a:p>
            <a:pPr indent="-228600" lvl="0" marL="228600" rtl="0" algn="l">
              <a:lnSpc>
                <a:spcPct val="90000"/>
              </a:lnSpc>
              <a:spcBef>
                <a:spcPts val="1000"/>
              </a:spcBef>
              <a:spcAft>
                <a:spcPts val="0"/>
              </a:spcAft>
              <a:buClr>
                <a:schemeClr val="dk1"/>
              </a:buClr>
              <a:buSzPts val="2400"/>
              <a:buChar char="•"/>
            </a:pPr>
            <a:r>
              <a:rPr lang="en-GB" sz="2400"/>
              <a:t>There are a number of different options for exporting sound files, but you should click ‘File’, Export, ‘Export as WAV’ because most video editing software works well with WAV files and they are good quality.</a:t>
            </a:r>
            <a:endParaRPr/>
          </a:p>
        </p:txBody>
      </p:sp>
      <p:sp>
        <p:nvSpPr>
          <p:cNvPr id="109" name="Google Shape;109;p17"/>
          <p:cNvSpPr/>
          <p:nvPr/>
        </p:nvSpPr>
        <p:spPr>
          <a:xfrm>
            <a:off x="4765796" y="5256765"/>
            <a:ext cx="2660408" cy="5232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GB" sz="2800">
                <a:solidFill>
                  <a:schemeClr val="dk1"/>
                </a:solidFill>
                <a:latin typeface="Calibri"/>
                <a:ea typeface="Calibri"/>
                <a:cs typeface="Calibri"/>
                <a:sym typeface="Calibri"/>
              </a:rPr>
              <a:t>Watch Video 4.1 </a:t>
            </a:r>
            <a:endParaRPr sz="28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9"/>
                                        </p:tgtEl>
                                        <p:attrNameLst>
                                          <p:attrName>style.visibility</p:attrName>
                                        </p:attrNameLst>
                                      </p:cBhvr>
                                      <p:to>
                                        <p:strVal val="visible"/>
                                      </p:to>
                                    </p:set>
                                    <p:animEffect filter="fade" transition="in">
                                      <p:cBhvr>
                                        <p:cTn dur="500"/>
                                        <p:tgtEl>
                                          <p:spTgt spid="10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8"/>
          <p:cNvSpPr txBox="1"/>
          <p:nvPr>
            <p:ph type="title"/>
          </p:nvPr>
        </p:nvSpPr>
        <p:spPr>
          <a:xfrm>
            <a:off x="1570382" y="834888"/>
            <a:ext cx="9783417"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4.2: Export your soundtrack </a:t>
            </a:r>
            <a:endParaRPr/>
          </a:p>
        </p:txBody>
      </p:sp>
      <p:sp>
        <p:nvSpPr>
          <p:cNvPr id="115" name="Google Shape;115;p18"/>
          <p:cNvSpPr/>
          <p:nvPr/>
        </p:nvSpPr>
        <p:spPr>
          <a:xfrm>
            <a:off x="1570382" y="2951946"/>
            <a:ext cx="3802807" cy="95410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Now it is time to export your soundtrack.</a:t>
            </a:r>
            <a:endParaRPr/>
          </a:p>
        </p:txBody>
      </p:sp>
      <p:pic>
        <p:nvPicPr>
          <p:cNvPr descr="A picture containing athletic game, basketball, sport&#10;&#10;Description automatically generated" id="116" name="Google Shape;116;p18"/>
          <p:cNvPicPr preferRelativeResize="0"/>
          <p:nvPr/>
        </p:nvPicPr>
        <p:blipFill rotWithShape="1">
          <a:blip r:embed="rId3">
            <a:alphaModFix/>
          </a:blip>
          <a:srcRect b="0" l="0" r="0" t="0"/>
          <a:stretch/>
        </p:blipFill>
        <p:spPr>
          <a:xfrm>
            <a:off x="6369265" y="2038296"/>
            <a:ext cx="4252353" cy="41664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9"/>
          <p:cNvSpPr txBox="1"/>
          <p:nvPr>
            <p:ph type="title"/>
          </p:nvPr>
        </p:nvSpPr>
        <p:spPr>
          <a:xfrm>
            <a:off x="1570382" y="834888"/>
            <a:ext cx="10694505"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4.3: Peer assessing the soundtracks </a:t>
            </a:r>
            <a:endParaRPr b="1" sz="3600">
              <a:solidFill>
                <a:schemeClr val="lt1"/>
              </a:solidFill>
            </a:endParaRPr>
          </a:p>
        </p:txBody>
      </p:sp>
      <p:sp>
        <p:nvSpPr>
          <p:cNvPr id="122" name="Google Shape;122;p19"/>
          <p:cNvSpPr/>
          <p:nvPr/>
        </p:nvSpPr>
        <p:spPr>
          <a:xfrm>
            <a:off x="1570382" y="2030804"/>
            <a:ext cx="6528857" cy="415498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Swap computers with somebody and listen carefully to their soundtrack.</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342900" lvl="0" marL="3429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Is it 30 seconds or shorter?</a:t>
            </a:r>
            <a:endParaRPr/>
          </a:p>
          <a:p>
            <a:pPr indent="-342900" lvl="0" marL="3429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Does it include a voiceover?</a:t>
            </a:r>
            <a:endParaRPr/>
          </a:p>
          <a:p>
            <a:pPr indent="-342900" lvl="0" marL="3429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Does it include background music?</a:t>
            </a:r>
            <a:endParaRPr/>
          </a:p>
          <a:p>
            <a:pPr indent="-342900" lvl="0" marL="342900" marR="0" rtl="0" algn="l">
              <a:spcBef>
                <a:spcPts val="0"/>
              </a:spcBef>
              <a:spcAft>
                <a:spcPts val="0"/>
              </a:spcAft>
              <a:buClr>
                <a:schemeClr val="dk1"/>
              </a:buClr>
              <a:buSzPts val="2400"/>
              <a:buFont typeface="Calibri"/>
              <a:buAutoNum type="arabicPeriod"/>
            </a:pPr>
            <a:r>
              <a:rPr lang="en-GB" sz="2400">
                <a:solidFill>
                  <a:schemeClr val="dk1"/>
                </a:solidFill>
                <a:latin typeface="Calibri"/>
                <a:ea typeface="Calibri"/>
                <a:cs typeface="Calibri"/>
                <a:sym typeface="Calibri"/>
              </a:rPr>
              <a:t>Does it include at least three audio effects?</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Give your partner one point for each success criterion they meet and tell them which success criteria they have yet to meet.</a:t>
            </a:r>
            <a:endParaRPr/>
          </a:p>
        </p:txBody>
      </p:sp>
      <p:pic>
        <p:nvPicPr>
          <p:cNvPr descr="A picture containing athletic game, basketball, sport&#10;&#10;Description automatically generated" id="123" name="Google Shape;123;p19"/>
          <p:cNvPicPr preferRelativeResize="0"/>
          <p:nvPr/>
        </p:nvPicPr>
        <p:blipFill rotWithShape="1">
          <a:blip r:embed="rId3">
            <a:alphaModFix/>
          </a:blip>
          <a:srcRect b="0" l="0" r="0" t="0"/>
          <a:stretch/>
        </p:blipFill>
        <p:spPr>
          <a:xfrm>
            <a:off x="7855537" y="2253371"/>
            <a:ext cx="3786383" cy="37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0"/>
          <p:cNvSpPr txBox="1"/>
          <p:nvPr>
            <p:ph type="title"/>
          </p:nvPr>
        </p:nvSpPr>
        <p:spPr>
          <a:xfrm>
            <a:off x="1630017" y="805070"/>
            <a:ext cx="9783417"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4</a:t>
            </a:r>
            <a:endParaRPr/>
          </a:p>
        </p:txBody>
      </p:sp>
      <p:pic>
        <p:nvPicPr>
          <p:cNvPr descr="A picture containing athletic game, basketball, sport&#10;&#10;Description automatically generated" id="129" name="Google Shape;129;p20"/>
          <p:cNvPicPr preferRelativeResize="0"/>
          <p:nvPr/>
        </p:nvPicPr>
        <p:blipFill rotWithShape="1">
          <a:blip r:embed="rId3">
            <a:alphaModFix/>
          </a:blip>
          <a:srcRect b="0" l="0" r="0" t="0"/>
          <a:stretch/>
        </p:blipFill>
        <p:spPr>
          <a:xfrm>
            <a:off x="3698964" y="1877347"/>
            <a:ext cx="4794072" cy="469717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