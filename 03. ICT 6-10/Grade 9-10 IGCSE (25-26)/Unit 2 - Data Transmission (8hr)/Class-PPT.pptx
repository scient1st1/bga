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2.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12.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Lst>
  <p:sldSz cy="13716000" cx="24377650"/>
  <p:notesSz cx="6858000" cy="9144000"/>
  <p:embeddedFontLst>
    <p:embeddedFont>
      <p:font typeface="Poppins"/>
      <p:regular r:id="rId18"/>
      <p:bold r:id="rId19"/>
      <p:italic r:id="rId20"/>
      <p:boldItalic r:id="rId21"/>
    </p:embeddedFont>
    <p:embeddedFont>
      <p:font typeface="Lato Light"/>
      <p:regular r:id="rId22"/>
      <p:bold r:id="rId23"/>
      <p:italic r:id="rId24"/>
      <p:boldItalic r:id="rId25"/>
    </p:embeddedFont>
    <p:embeddedFont>
      <p:font typeface="Poppins Medium"/>
      <p:regular r:id="rId26"/>
      <p:bold r:id="rId27"/>
      <p:italic r:id="rId28"/>
      <p:boldItalic r:id="rId29"/>
    </p:embeddedFont>
    <p:embeddedFont>
      <p:font typeface="Open Sans Light"/>
      <p:regular r:id="rId30"/>
      <p:bold r:id="rId31"/>
      <p:italic r:id="rId32"/>
      <p:boldItalic r:id="rId3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pos="958">
          <p15:clr>
            <a:srgbClr val="A4A3A4"/>
          </p15:clr>
        </p15:guide>
        <p15:guide id="2" orient="horz" pos="480">
          <p15:clr>
            <a:srgbClr val="A4A3A4"/>
          </p15:clr>
        </p15:guide>
        <p15:guide id="3" pos="14398">
          <p15:clr>
            <a:srgbClr val="A4A3A4"/>
          </p15:clr>
        </p15:guide>
        <p15:guide id="4" orient="horz" pos="8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958"/>
        <p:guide pos="480" orient="horz"/>
        <p:guide pos="14398"/>
        <p:guide pos="8160"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Poppins-italic.fntdata"/><Relationship Id="rId22" Type="http://schemas.openxmlformats.org/officeDocument/2006/relationships/font" Target="fonts/LatoLight-regular.fntdata"/><Relationship Id="rId21" Type="http://schemas.openxmlformats.org/officeDocument/2006/relationships/font" Target="fonts/Poppins-boldItalic.fntdata"/><Relationship Id="rId24" Type="http://schemas.openxmlformats.org/officeDocument/2006/relationships/font" Target="fonts/LatoLight-italic.fntdata"/><Relationship Id="rId23" Type="http://schemas.openxmlformats.org/officeDocument/2006/relationships/font" Target="fonts/LatoLight-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PoppinsMedium-regular.fntdata"/><Relationship Id="rId25" Type="http://schemas.openxmlformats.org/officeDocument/2006/relationships/font" Target="fonts/LatoLight-boldItalic.fntdata"/><Relationship Id="rId28" Type="http://schemas.openxmlformats.org/officeDocument/2006/relationships/font" Target="fonts/PoppinsMedium-italic.fntdata"/><Relationship Id="rId27" Type="http://schemas.openxmlformats.org/officeDocument/2006/relationships/font" Target="fonts/PoppinsMedium-bold.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PoppinsMedium-boldItalic.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OpenSansLight-bold.fntdata"/><Relationship Id="rId30" Type="http://schemas.openxmlformats.org/officeDocument/2006/relationships/font" Target="fonts/OpenSansLight-regular.fntdata"/><Relationship Id="rId11" Type="http://schemas.openxmlformats.org/officeDocument/2006/relationships/slide" Target="slides/slide6.xml"/><Relationship Id="rId33" Type="http://schemas.openxmlformats.org/officeDocument/2006/relationships/font" Target="fonts/OpenSansLight-boldItalic.fntdata"/><Relationship Id="rId10" Type="http://schemas.openxmlformats.org/officeDocument/2006/relationships/slide" Target="slides/slide5.xml"/><Relationship Id="rId32" Type="http://schemas.openxmlformats.org/officeDocument/2006/relationships/font" Target="fonts/OpenSansLight-italic.fntdata"/><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font" Target="fonts/Poppins-bold.fntdata"/><Relationship Id="rId18" Type="http://schemas.openxmlformats.org/officeDocument/2006/relationships/font" Target="fonts/Poppins-regular.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72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Lato Light"/>
                <a:ea typeface="Lato Light"/>
                <a:cs typeface="Lato Light"/>
                <a:sym typeface="Lato Light"/>
              </a:defRPr>
            </a:lvl1pPr>
            <a:lvl2pPr lvl="1"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7200"/>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Lato Light"/>
                <a:ea typeface="Lato Light"/>
                <a:cs typeface="Lato Light"/>
                <a:sym typeface="Lato Light"/>
              </a:defRPr>
            </a:lvl1pPr>
            <a:lvl2pPr lvl="1"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2400" u="none" cap="none" strike="noStrike">
                <a:solidFill>
                  <a:schemeClr val="dk1"/>
                </a:solidFill>
                <a:latin typeface="Lato Light"/>
                <a:ea typeface="Lato Light"/>
                <a:cs typeface="Lato Light"/>
                <a:sym typeface="Lato Light"/>
              </a:defRPr>
            </a:lvl1pPr>
            <a:lvl2pPr indent="-228600" lvl="1" marL="914400" marR="0" rtl="0" algn="l">
              <a:spcBef>
                <a:spcPts val="0"/>
              </a:spcBef>
              <a:spcAft>
                <a:spcPts val="0"/>
              </a:spcAft>
              <a:buSzPts val="1400"/>
              <a:buNone/>
              <a:defRPr b="0" i="0" sz="2400" u="none" cap="none" strike="noStrike">
                <a:solidFill>
                  <a:schemeClr val="dk1"/>
                </a:solidFill>
                <a:latin typeface="Lato Light"/>
                <a:ea typeface="Lato Light"/>
                <a:cs typeface="Lato Light"/>
                <a:sym typeface="Lato Light"/>
              </a:defRPr>
            </a:lvl2pPr>
            <a:lvl3pPr indent="-228600" lvl="2" marL="1371600" marR="0" rtl="0" algn="l">
              <a:spcBef>
                <a:spcPts val="0"/>
              </a:spcBef>
              <a:spcAft>
                <a:spcPts val="0"/>
              </a:spcAft>
              <a:buSzPts val="1400"/>
              <a:buNone/>
              <a:defRPr b="0" i="0" sz="2400" u="none" cap="none" strike="noStrike">
                <a:solidFill>
                  <a:schemeClr val="dk1"/>
                </a:solidFill>
                <a:latin typeface="Lato Light"/>
                <a:ea typeface="Lato Light"/>
                <a:cs typeface="Lato Light"/>
                <a:sym typeface="Lato Light"/>
              </a:defRPr>
            </a:lvl3pPr>
            <a:lvl4pPr indent="-228600" lvl="3" marL="1828800" marR="0" rtl="0" algn="l">
              <a:spcBef>
                <a:spcPts val="0"/>
              </a:spcBef>
              <a:spcAft>
                <a:spcPts val="0"/>
              </a:spcAft>
              <a:buSzPts val="1400"/>
              <a:buNone/>
              <a:defRPr b="0" i="0" sz="2400" u="none" cap="none" strike="noStrike">
                <a:solidFill>
                  <a:schemeClr val="dk1"/>
                </a:solidFill>
                <a:latin typeface="Lato Light"/>
                <a:ea typeface="Lato Light"/>
                <a:cs typeface="Lato Light"/>
                <a:sym typeface="Lato Light"/>
              </a:defRPr>
            </a:lvl4pPr>
            <a:lvl5pPr indent="-228600" lvl="4" marL="2286000" marR="0" rtl="0" algn="l">
              <a:spcBef>
                <a:spcPts val="0"/>
              </a:spcBef>
              <a:spcAft>
                <a:spcPts val="0"/>
              </a:spcAft>
              <a:buSzPts val="1400"/>
              <a:buNone/>
              <a:defRPr b="0" i="0" sz="2400" u="none" cap="none" strike="noStrike">
                <a:solidFill>
                  <a:schemeClr val="dk1"/>
                </a:solidFill>
                <a:latin typeface="Lato Light"/>
                <a:ea typeface="Lato Light"/>
                <a:cs typeface="Lato Light"/>
                <a:sym typeface="Lato Light"/>
              </a:defRPr>
            </a:lvl5pPr>
            <a:lvl6pPr indent="-228600" lvl="5" marL="2743200" marR="0" rtl="0" algn="l">
              <a:spcBef>
                <a:spcPts val="0"/>
              </a:spcBef>
              <a:spcAft>
                <a:spcPts val="0"/>
              </a:spcAft>
              <a:buSzPts val="1400"/>
              <a:buNone/>
              <a:defRPr b="0" i="0" sz="24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24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24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24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7200"/>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Lato Light"/>
                <a:ea typeface="Lato Light"/>
                <a:cs typeface="Lato Light"/>
                <a:sym typeface="Lato Light"/>
              </a:defRPr>
            </a:lvl1pPr>
            <a:lvl2pPr lvl="1"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Lato Light"/>
                <a:ea typeface="Lato Light"/>
                <a:cs typeface="Lato Light"/>
                <a:sym typeface="Lato Light"/>
              </a:rPr>
              <a:t>‹#›</a:t>
            </a:fld>
            <a:endParaRPr b="0" i="0" sz="1200" u="none" cap="none" strike="noStrike">
              <a:solidFill>
                <a:schemeClr val="dk1"/>
              </a:solidFill>
              <a:latin typeface="Lato Light"/>
              <a:ea typeface="Lato Light"/>
              <a:cs typeface="Lato Light"/>
              <a:sym typeface="Lato Light"/>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 name="Google Shape;19;p1: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p2: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 name="Google Shape;28;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3: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6" name="Google Shape;36;p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 name="Shape 42"/>
        <p:cNvGrpSpPr/>
        <p:nvPr/>
      </p:nvGrpSpPr>
      <p:grpSpPr>
        <a:xfrm>
          <a:off x="0" y="0"/>
          <a:ext cx="0" cy="0"/>
          <a:chOff x="0" y="0"/>
          <a:chExt cx="0" cy="0"/>
        </a:xfrm>
      </p:grpSpPr>
      <p:sp>
        <p:nvSpPr>
          <p:cNvPr id="43" name="Google Shape;43;p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 name="Google Shape;44;p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5" name="Google Shape;45;p4: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 name="Shape 48"/>
        <p:cNvGrpSpPr/>
        <p:nvPr/>
      </p:nvGrpSpPr>
      <p:grpSpPr>
        <a:xfrm>
          <a:off x="0" y="0"/>
          <a:ext cx="0" cy="0"/>
          <a:chOff x="0" y="0"/>
          <a:chExt cx="0" cy="0"/>
        </a:xfrm>
      </p:grpSpPr>
      <p:sp>
        <p:nvSpPr>
          <p:cNvPr id="49" name="Google Shape;49;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 name="Google Shape;50;p5: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1" name="Google Shape;51;p5: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 name="Google Shape;63;p6: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4" name="Google Shape;64;p6: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 name="Google Shape;75;p7: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6" name="Google Shape;76;p7: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8: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2" name="Google Shape;82;p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 name="Google Shape;96;p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7" name="Google Shape;97;p9: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p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 name="Google Shape;103;p1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4" name="Google Shape;104;p10: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 name="Google Shape;123;p11: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p11: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12: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1" name="Google Shape;141;p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Slide">
  <p:cSld name="Default Slide">
    <p:spTree>
      <p:nvGrpSpPr>
        <p:cNvPr id="14" name="Shape 14"/>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9" name="Shape 9"/>
        <p:cNvGrpSpPr/>
        <p:nvPr/>
      </p:nvGrpSpPr>
      <p:grpSpPr>
        <a:xfrm>
          <a:off x="0" y="0"/>
          <a:ext cx="0" cy="0"/>
          <a:chOff x="0" y="0"/>
          <a:chExt cx="0" cy="0"/>
        </a:xfrm>
      </p:grpSpPr>
      <p:sp>
        <p:nvSpPr>
          <p:cNvPr id="10" name="Google Shape;10;p1"/>
          <p:cNvSpPr/>
          <p:nvPr/>
        </p:nvSpPr>
        <p:spPr>
          <a:xfrm>
            <a:off x="22137628" y="738460"/>
            <a:ext cx="701749" cy="701749"/>
          </a:xfrm>
          <a:prstGeom prst="ellipse">
            <a:avLst/>
          </a:prstGeom>
          <a:solidFill>
            <a:srgbClr val="FFD25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3600" u="none" cap="none" strike="noStrike">
              <a:solidFill>
                <a:schemeClr val="lt1"/>
              </a:solidFill>
              <a:latin typeface="Calibri"/>
              <a:ea typeface="Calibri"/>
              <a:cs typeface="Calibri"/>
              <a:sym typeface="Calibri"/>
            </a:endParaRPr>
          </a:p>
        </p:txBody>
      </p:sp>
      <p:sp>
        <p:nvSpPr>
          <p:cNvPr id="11" name="Google Shape;11;p1"/>
          <p:cNvSpPr txBox="1"/>
          <p:nvPr>
            <p:ph type="title"/>
          </p:nvPr>
        </p:nvSpPr>
        <p:spPr>
          <a:xfrm>
            <a:off x="1675964" y="730251"/>
            <a:ext cx="21025723" cy="2651126"/>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2"/>
              </a:buClr>
              <a:buSzPts val="8798"/>
              <a:buFont typeface="Poppins"/>
              <a:buNone/>
              <a:defRPr b="1" i="0" sz="8798" u="none" cap="none" strike="noStrike">
                <a:solidFill>
                  <a:schemeClr val="dk2"/>
                </a:solidFill>
                <a:latin typeface="Poppins"/>
                <a:ea typeface="Poppins"/>
                <a:cs typeface="Poppins"/>
                <a:sym typeface="Poppi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2" name="Google Shape;12;p1"/>
          <p:cNvSpPr txBox="1"/>
          <p:nvPr>
            <p:ph idx="1" type="body"/>
          </p:nvPr>
        </p:nvSpPr>
        <p:spPr>
          <a:xfrm>
            <a:off x="1675964" y="3651250"/>
            <a:ext cx="21025723" cy="8702676"/>
          </a:xfrm>
          <a:prstGeom prst="rect">
            <a:avLst/>
          </a:prstGeom>
          <a:noFill/>
          <a:ln>
            <a:noFill/>
          </a:ln>
        </p:spPr>
        <p:txBody>
          <a:bodyPr anchorCtr="0" anchor="t" bIns="45700" lIns="91425" spcFirstLastPara="1" rIns="91425" wrap="square" tIns="45700">
            <a:normAutofit/>
          </a:bodyPr>
          <a:lstStyle>
            <a:lvl1pPr indent="-228600" lvl="0" marL="457200" marR="0" rtl="0" algn="l">
              <a:lnSpc>
                <a:spcPct val="90000"/>
              </a:lnSpc>
              <a:spcBef>
                <a:spcPts val="2000"/>
              </a:spcBef>
              <a:spcAft>
                <a:spcPts val="0"/>
              </a:spcAft>
              <a:buClr>
                <a:schemeClr val="dk1"/>
              </a:buClr>
              <a:buSzPts val="5599"/>
              <a:buFont typeface="Arial"/>
              <a:buNone/>
              <a:defRPr b="0" i="0" sz="5599" u="none" cap="none" strike="noStrike">
                <a:solidFill>
                  <a:schemeClr val="dk1"/>
                </a:solidFill>
                <a:latin typeface="Lato Light"/>
                <a:ea typeface="Lato Light"/>
                <a:cs typeface="Lato Light"/>
                <a:sym typeface="Lato Light"/>
              </a:defRPr>
            </a:lvl1pPr>
            <a:lvl2pPr indent="-228600" lvl="1" marL="914400" marR="0" rtl="0" algn="l">
              <a:lnSpc>
                <a:spcPct val="90000"/>
              </a:lnSpc>
              <a:spcBef>
                <a:spcPts val="1000"/>
              </a:spcBef>
              <a:spcAft>
                <a:spcPts val="0"/>
              </a:spcAft>
              <a:buClr>
                <a:schemeClr val="dk1"/>
              </a:buClr>
              <a:buSzPts val="4799"/>
              <a:buFont typeface="Arial"/>
              <a:buNone/>
              <a:defRPr b="0" i="0" sz="4799" u="none" cap="none" strike="noStrike">
                <a:solidFill>
                  <a:schemeClr val="dk1"/>
                </a:solidFill>
                <a:latin typeface="Lato Light"/>
                <a:ea typeface="Lato Light"/>
                <a:cs typeface="Lato Light"/>
                <a:sym typeface="Lato Light"/>
              </a:defRPr>
            </a:lvl2pPr>
            <a:lvl3pPr indent="-228600" lvl="2" marL="1371600" marR="0" rtl="0" algn="l">
              <a:lnSpc>
                <a:spcPct val="90000"/>
              </a:lnSpc>
              <a:spcBef>
                <a:spcPts val="1000"/>
              </a:spcBef>
              <a:spcAft>
                <a:spcPts val="0"/>
              </a:spcAft>
              <a:buClr>
                <a:schemeClr val="dk1"/>
              </a:buClr>
              <a:buSzPts val="3999"/>
              <a:buFont typeface="Arial"/>
              <a:buNone/>
              <a:defRPr b="0" i="0" sz="3999" u="none" cap="none" strike="noStrike">
                <a:solidFill>
                  <a:schemeClr val="dk1"/>
                </a:solidFill>
                <a:latin typeface="Lato Light"/>
                <a:ea typeface="Lato Light"/>
                <a:cs typeface="Lato Light"/>
                <a:sym typeface="Lato Light"/>
              </a:defRPr>
            </a:lvl3pPr>
            <a:lvl4pPr indent="-228600" lvl="3" marL="1828800" marR="0" rtl="0" algn="l">
              <a:lnSpc>
                <a:spcPct val="90000"/>
              </a:lnSpc>
              <a:spcBef>
                <a:spcPts val="1000"/>
              </a:spcBef>
              <a:spcAft>
                <a:spcPts val="0"/>
              </a:spcAft>
              <a:buClr>
                <a:schemeClr val="dk1"/>
              </a:buClr>
              <a:buSzPts val="3599"/>
              <a:buFont typeface="Arial"/>
              <a:buNone/>
              <a:defRPr b="0" i="0" sz="3599" u="none" cap="none" strike="noStrike">
                <a:solidFill>
                  <a:schemeClr val="dk1"/>
                </a:solidFill>
                <a:latin typeface="Lato Light"/>
                <a:ea typeface="Lato Light"/>
                <a:cs typeface="Lato Light"/>
                <a:sym typeface="Lato Light"/>
              </a:defRPr>
            </a:lvl4pPr>
            <a:lvl5pPr indent="-228600" lvl="4" marL="2286000" marR="0" rtl="0" algn="l">
              <a:lnSpc>
                <a:spcPct val="90000"/>
              </a:lnSpc>
              <a:spcBef>
                <a:spcPts val="1000"/>
              </a:spcBef>
              <a:spcAft>
                <a:spcPts val="0"/>
              </a:spcAft>
              <a:buClr>
                <a:schemeClr val="dk1"/>
              </a:buClr>
              <a:buSzPts val="3599"/>
              <a:buFont typeface="Arial"/>
              <a:buNone/>
              <a:defRPr b="0" i="0" sz="3599" u="none" cap="none" strike="noStrike">
                <a:solidFill>
                  <a:schemeClr val="dk1"/>
                </a:solidFill>
                <a:latin typeface="Lato Light"/>
                <a:ea typeface="Lato Light"/>
                <a:cs typeface="Lato Light"/>
                <a:sym typeface="Lato Light"/>
              </a:defRPr>
            </a:lvl5pPr>
            <a:lvl6pPr indent="-457136" lvl="5" marL="2743200" marR="0" rtl="0" algn="l">
              <a:lnSpc>
                <a:spcPct val="90000"/>
              </a:lnSpc>
              <a:spcBef>
                <a:spcPts val="1000"/>
              </a:spcBef>
              <a:spcAft>
                <a:spcPts val="0"/>
              </a:spcAft>
              <a:buClr>
                <a:schemeClr val="dk1"/>
              </a:buClr>
              <a:buSzPts val="3599"/>
              <a:buFont typeface="Arial"/>
              <a:buChar char="•"/>
              <a:defRPr b="0" i="0" sz="3599" u="none" cap="none" strike="noStrike">
                <a:solidFill>
                  <a:schemeClr val="dk1"/>
                </a:solidFill>
                <a:latin typeface="Calibri"/>
                <a:ea typeface="Calibri"/>
                <a:cs typeface="Calibri"/>
                <a:sym typeface="Calibri"/>
              </a:defRPr>
            </a:lvl6pPr>
            <a:lvl7pPr indent="-457136" lvl="6" marL="3200400" marR="0" rtl="0" algn="l">
              <a:lnSpc>
                <a:spcPct val="90000"/>
              </a:lnSpc>
              <a:spcBef>
                <a:spcPts val="1000"/>
              </a:spcBef>
              <a:spcAft>
                <a:spcPts val="0"/>
              </a:spcAft>
              <a:buClr>
                <a:schemeClr val="dk1"/>
              </a:buClr>
              <a:buSzPts val="3599"/>
              <a:buFont typeface="Arial"/>
              <a:buChar char="•"/>
              <a:defRPr b="0" i="0" sz="3599" u="none" cap="none" strike="noStrike">
                <a:solidFill>
                  <a:schemeClr val="dk1"/>
                </a:solidFill>
                <a:latin typeface="Calibri"/>
                <a:ea typeface="Calibri"/>
                <a:cs typeface="Calibri"/>
                <a:sym typeface="Calibri"/>
              </a:defRPr>
            </a:lvl7pPr>
            <a:lvl8pPr indent="-457136" lvl="7" marL="3657600" marR="0" rtl="0" algn="l">
              <a:lnSpc>
                <a:spcPct val="90000"/>
              </a:lnSpc>
              <a:spcBef>
                <a:spcPts val="1000"/>
              </a:spcBef>
              <a:spcAft>
                <a:spcPts val="0"/>
              </a:spcAft>
              <a:buClr>
                <a:schemeClr val="dk1"/>
              </a:buClr>
              <a:buSzPts val="3599"/>
              <a:buFont typeface="Arial"/>
              <a:buChar char="•"/>
              <a:defRPr b="0" i="0" sz="3599" u="none" cap="none" strike="noStrike">
                <a:solidFill>
                  <a:schemeClr val="dk1"/>
                </a:solidFill>
                <a:latin typeface="Calibri"/>
                <a:ea typeface="Calibri"/>
                <a:cs typeface="Calibri"/>
                <a:sym typeface="Calibri"/>
              </a:defRPr>
            </a:lvl8pPr>
            <a:lvl9pPr indent="-457136" lvl="8" marL="4114800" marR="0" rtl="0" algn="l">
              <a:lnSpc>
                <a:spcPct val="90000"/>
              </a:lnSpc>
              <a:spcBef>
                <a:spcPts val="1000"/>
              </a:spcBef>
              <a:spcAft>
                <a:spcPts val="0"/>
              </a:spcAft>
              <a:buClr>
                <a:schemeClr val="dk1"/>
              </a:buClr>
              <a:buSzPts val="3599"/>
              <a:buFont typeface="Arial"/>
              <a:buChar char="•"/>
              <a:defRPr b="0" i="0" sz="3599" u="none" cap="none" strike="noStrike">
                <a:solidFill>
                  <a:schemeClr val="dk1"/>
                </a:solidFill>
                <a:latin typeface="Calibri"/>
                <a:ea typeface="Calibri"/>
                <a:cs typeface="Calibri"/>
                <a:sym typeface="Calibri"/>
              </a:defRPr>
            </a:lvl9pPr>
          </a:lstStyle>
          <a:p/>
        </p:txBody>
      </p:sp>
      <p:sp>
        <p:nvSpPr>
          <p:cNvPr id="13" name="Google Shape;13;p1"/>
          <p:cNvSpPr/>
          <p:nvPr/>
        </p:nvSpPr>
        <p:spPr>
          <a:xfrm>
            <a:off x="22137628" y="719470"/>
            <a:ext cx="731520" cy="731520"/>
          </a:xfrm>
          <a:prstGeom prst="ellipse">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fld id="{00000000-1234-1234-1234-123412341234}" type="slidenum">
              <a:rPr b="0" i="0" lang="en-US" sz="2400" u="none" cap="none" strike="noStrike">
                <a:solidFill>
                  <a:schemeClr val="lt1"/>
                </a:solidFill>
                <a:latin typeface="Poppins Medium"/>
                <a:ea typeface="Poppins Medium"/>
                <a:cs typeface="Poppins Medium"/>
                <a:sym typeface="Poppins Medium"/>
              </a:rPr>
              <a:t>‹#›</a:t>
            </a:fld>
            <a:endParaRPr b="0" i="0" sz="2800" u="none" cap="none" strike="noStrike">
              <a:solidFill>
                <a:schemeClr val="lt1"/>
              </a:solidFill>
              <a:latin typeface="Poppins Medium"/>
              <a:ea typeface="Poppins Medium"/>
              <a:cs typeface="Poppins Medium"/>
              <a:sym typeface="Poppins Medium"/>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480">
          <p15:clr>
            <a:srgbClr val="A4A3A4"/>
          </p15:clr>
        </p15:guide>
        <p15:guide id="2" pos="14398">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 name="Shape 20"/>
        <p:cNvGrpSpPr/>
        <p:nvPr/>
      </p:nvGrpSpPr>
      <p:grpSpPr>
        <a:xfrm>
          <a:off x="0" y="0"/>
          <a:ext cx="0" cy="0"/>
          <a:chOff x="0" y="0"/>
          <a:chExt cx="0" cy="0"/>
        </a:xfrm>
      </p:grpSpPr>
      <p:sp>
        <p:nvSpPr>
          <p:cNvPr id="21" name="Google Shape;21;p4"/>
          <p:cNvSpPr txBox="1"/>
          <p:nvPr/>
        </p:nvSpPr>
        <p:spPr>
          <a:xfrm>
            <a:off x="3412521" y="3105617"/>
            <a:ext cx="17945100" cy="2439600"/>
          </a:xfrm>
          <a:prstGeom prst="rect">
            <a:avLst/>
          </a:prstGeom>
          <a:solidFill>
            <a:srgbClr val="FFF5DC"/>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None/>
            </a:pPr>
            <a:r>
              <a:rPr b="1" i="0" lang="en-US" sz="6100" u="sng" cap="none" strike="noStrike">
                <a:solidFill>
                  <a:schemeClr val="dk2"/>
                </a:solidFill>
                <a:latin typeface="Calibri"/>
                <a:ea typeface="Calibri"/>
                <a:cs typeface="Calibri"/>
                <a:sym typeface="Calibri"/>
              </a:rPr>
              <a:t>Easy Task</a:t>
            </a:r>
            <a:endParaRPr b="0" i="0" sz="6100" u="none" cap="none" strike="noStrike">
              <a:solidFill>
                <a:schemeClr val="dk2"/>
              </a:solidFill>
              <a:latin typeface="Calibri"/>
              <a:ea typeface="Calibri"/>
              <a:cs typeface="Calibri"/>
              <a:sym typeface="Calibri"/>
            </a:endParaRPr>
          </a:p>
          <a:p>
            <a:pPr indent="0" lvl="0" marL="0" marR="0" rtl="0" algn="ctr">
              <a:lnSpc>
                <a:spcPct val="150000"/>
              </a:lnSpc>
              <a:spcBef>
                <a:spcPts val="0"/>
              </a:spcBef>
              <a:spcAft>
                <a:spcPts val="0"/>
              </a:spcAft>
              <a:buNone/>
            </a:pPr>
            <a:r>
              <a:rPr b="0" i="0" lang="en-US" sz="6100" u="sng" cap="none" strike="noStrike">
                <a:solidFill>
                  <a:schemeClr val="dk2"/>
                </a:solidFill>
                <a:latin typeface="Lato Light"/>
                <a:ea typeface="Lato Light"/>
                <a:cs typeface="Lato Light"/>
                <a:sym typeface="Lato Light"/>
              </a:rPr>
              <a:t>Predict:</a:t>
            </a:r>
            <a:r>
              <a:rPr b="0" i="0" lang="en-US" sz="6100" u="none" cap="none" strike="noStrike">
                <a:solidFill>
                  <a:schemeClr val="dk2"/>
                </a:solidFill>
                <a:latin typeface="Lato Light"/>
                <a:ea typeface="Lato Light"/>
                <a:cs typeface="Lato Light"/>
                <a:sym typeface="Lato Light"/>
              </a:rPr>
              <a:t> </a:t>
            </a:r>
            <a:r>
              <a:rPr b="1" i="0" lang="en-US" sz="6100" u="none" cap="none" strike="noStrike">
                <a:solidFill>
                  <a:schemeClr val="dk2"/>
                </a:solidFill>
                <a:latin typeface="Lato Light"/>
                <a:ea typeface="Lato Light"/>
                <a:cs typeface="Lato Light"/>
                <a:sym typeface="Lato Light"/>
              </a:rPr>
              <a:t>How </a:t>
            </a:r>
            <a:r>
              <a:rPr b="0" i="0" lang="en-US" sz="6100" u="none" cap="none" strike="noStrike">
                <a:solidFill>
                  <a:schemeClr val="dk2"/>
                </a:solidFill>
                <a:latin typeface="Lato Light"/>
                <a:ea typeface="Lato Light"/>
                <a:cs typeface="Lato Light"/>
                <a:sym typeface="Lato Light"/>
              </a:rPr>
              <a:t>do you </a:t>
            </a:r>
            <a:r>
              <a:rPr b="0" i="0" lang="en-US" sz="6100" u="none" cap="none" strike="noStrike">
                <a:solidFill>
                  <a:srgbClr val="7030A0"/>
                </a:solidFill>
                <a:latin typeface="Lato Light"/>
                <a:ea typeface="Lato Light"/>
                <a:cs typeface="Lato Light"/>
                <a:sym typeface="Lato Light"/>
              </a:rPr>
              <a:t>think</a:t>
            </a:r>
            <a:r>
              <a:rPr b="0" i="0" lang="en-US" sz="6100" u="none" cap="none" strike="noStrike">
                <a:solidFill>
                  <a:schemeClr val="dk2"/>
                </a:solidFill>
                <a:latin typeface="Lato Light"/>
                <a:ea typeface="Lato Light"/>
                <a:cs typeface="Lato Light"/>
                <a:sym typeface="Lato Light"/>
              </a:rPr>
              <a:t> we send data to each other?</a:t>
            </a:r>
            <a:endParaRPr sz="1300"/>
          </a:p>
        </p:txBody>
      </p:sp>
      <p:sp>
        <p:nvSpPr>
          <p:cNvPr id="22" name="Google Shape;22;p4"/>
          <p:cNvSpPr txBox="1"/>
          <p:nvPr/>
        </p:nvSpPr>
        <p:spPr>
          <a:xfrm>
            <a:off x="3412521" y="394344"/>
            <a:ext cx="17945195" cy="2480038"/>
          </a:xfrm>
          <a:prstGeom prst="rect">
            <a:avLst/>
          </a:prstGeom>
          <a:solidFill>
            <a:srgbClr val="D2EEF9"/>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chemeClr val="dk2"/>
              </a:buClr>
              <a:buSzPts val="5400"/>
              <a:buFont typeface="Arial"/>
              <a:buNone/>
            </a:pPr>
            <a:r>
              <a:rPr b="1" i="0" lang="en-US" sz="5400" u="sng" cap="none" strike="noStrike">
                <a:solidFill>
                  <a:schemeClr val="dk2"/>
                </a:solidFill>
                <a:latin typeface="Lato Light"/>
                <a:ea typeface="Lato Light"/>
                <a:cs typeface="Lato Light"/>
                <a:sym typeface="Lato Light"/>
              </a:rPr>
              <a:t>Starter Activity</a:t>
            </a:r>
            <a:endParaRPr b="1" i="0" sz="4400" u="sng" cap="none" strike="noStrike">
              <a:solidFill>
                <a:schemeClr val="dk2"/>
              </a:solidFill>
              <a:latin typeface="Lato Light"/>
              <a:ea typeface="Lato Light"/>
              <a:cs typeface="Lato Light"/>
              <a:sym typeface="Lato Light"/>
            </a:endParaRPr>
          </a:p>
          <a:p>
            <a:pPr indent="0" lvl="0" marL="0" marR="0" rtl="0" algn="l">
              <a:lnSpc>
                <a:spcPct val="150000"/>
              </a:lnSpc>
              <a:spcBef>
                <a:spcPts val="960"/>
              </a:spcBef>
              <a:spcAft>
                <a:spcPts val="0"/>
              </a:spcAft>
              <a:buClr>
                <a:schemeClr val="dk2"/>
              </a:buClr>
              <a:buSzPts val="4800"/>
              <a:buFont typeface="Arial"/>
              <a:buNone/>
            </a:pPr>
            <a:r>
              <a:rPr b="1" i="0" lang="en-US" sz="4800" u="sng" cap="none" strike="noStrike">
                <a:solidFill>
                  <a:schemeClr val="dk2"/>
                </a:solidFill>
                <a:latin typeface="Lato Light"/>
                <a:ea typeface="Lato Light"/>
                <a:cs typeface="Lato Light"/>
                <a:sym typeface="Lato Light"/>
              </a:rPr>
              <a:t>Instructions</a:t>
            </a:r>
            <a:r>
              <a:rPr b="1" i="0" lang="en-US" sz="4800" u="none" cap="none" strike="noStrike">
                <a:solidFill>
                  <a:schemeClr val="dk2"/>
                </a:solidFill>
                <a:latin typeface="Lato Light"/>
                <a:ea typeface="Lato Light"/>
                <a:cs typeface="Lato Light"/>
                <a:sym typeface="Lato Light"/>
              </a:rPr>
              <a:t>: Complete the tasks below one by one in TEAMS</a:t>
            </a:r>
            <a:endParaRPr b="1" i="0" sz="6000" u="none" cap="none" strike="noStrike">
              <a:solidFill>
                <a:schemeClr val="dk2"/>
              </a:solidFill>
              <a:latin typeface="Lato Light"/>
              <a:ea typeface="Lato Light"/>
              <a:cs typeface="Lato Light"/>
              <a:sym typeface="Lato Light"/>
            </a:endParaRPr>
          </a:p>
        </p:txBody>
      </p:sp>
      <p:sp>
        <p:nvSpPr>
          <p:cNvPr id="23" name="Google Shape;23;p4"/>
          <p:cNvSpPr txBox="1"/>
          <p:nvPr/>
        </p:nvSpPr>
        <p:spPr>
          <a:xfrm>
            <a:off x="3412521" y="6242726"/>
            <a:ext cx="17945195" cy="2719206"/>
          </a:xfrm>
          <a:prstGeom prst="rect">
            <a:avLst/>
          </a:prstGeom>
          <a:solidFill>
            <a:srgbClr val="DEF8ED"/>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None/>
            </a:pPr>
            <a:r>
              <a:rPr b="1" i="0" lang="en-US" sz="6000" u="sng" cap="none" strike="noStrike">
                <a:solidFill>
                  <a:schemeClr val="dk2"/>
                </a:solidFill>
                <a:latin typeface="Calibri"/>
                <a:ea typeface="Calibri"/>
                <a:cs typeface="Calibri"/>
                <a:sym typeface="Calibri"/>
              </a:rPr>
              <a:t>Average Task</a:t>
            </a:r>
            <a:endParaRPr b="0" i="0" sz="6000" u="none" cap="none" strike="noStrike">
              <a:solidFill>
                <a:schemeClr val="dk2"/>
              </a:solidFill>
              <a:latin typeface="Calibri"/>
              <a:ea typeface="Calibri"/>
              <a:cs typeface="Calibri"/>
              <a:sym typeface="Calibri"/>
            </a:endParaRPr>
          </a:p>
          <a:p>
            <a:pPr indent="0" lvl="0" marL="0" marR="0" rtl="0" algn="ctr">
              <a:lnSpc>
                <a:spcPct val="150000"/>
              </a:lnSpc>
              <a:spcBef>
                <a:spcPts val="0"/>
              </a:spcBef>
              <a:spcAft>
                <a:spcPts val="0"/>
              </a:spcAft>
              <a:buNone/>
            </a:pPr>
            <a:r>
              <a:rPr b="1" i="0" lang="en-US" sz="6000" u="none" cap="none" strike="noStrike">
                <a:solidFill>
                  <a:schemeClr val="dk2"/>
                </a:solidFill>
                <a:latin typeface="Lato Light"/>
                <a:ea typeface="Lato Light"/>
                <a:cs typeface="Lato Light"/>
                <a:sym typeface="Lato Light"/>
              </a:rPr>
              <a:t>Define</a:t>
            </a:r>
            <a:r>
              <a:rPr b="0" i="0" lang="en-US" sz="6000" u="none" cap="none" strike="noStrike">
                <a:solidFill>
                  <a:schemeClr val="dk2"/>
                </a:solidFill>
                <a:latin typeface="Lato Light"/>
                <a:ea typeface="Lato Light"/>
                <a:cs typeface="Lato Light"/>
                <a:sym typeface="Lato Light"/>
              </a:rPr>
              <a:t> </a:t>
            </a:r>
            <a:r>
              <a:rPr b="0" i="0" lang="en-US" sz="6000" u="none" cap="none" strike="noStrike">
                <a:solidFill>
                  <a:srgbClr val="7030A0"/>
                </a:solidFill>
                <a:latin typeface="Calibri"/>
                <a:ea typeface="Calibri"/>
                <a:cs typeface="Calibri"/>
                <a:sym typeface="Calibri"/>
              </a:rPr>
              <a:t>denary</a:t>
            </a:r>
            <a:r>
              <a:rPr b="0" i="0" lang="en-US" sz="6000" u="none" cap="none" strike="noStrike">
                <a:solidFill>
                  <a:schemeClr val="dk2"/>
                </a:solidFill>
                <a:latin typeface="Calibri"/>
                <a:ea typeface="Calibri"/>
                <a:cs typeface="Calibri"/>
                <a:sym typeface="Calibri"/>
              </a:rPr>
              <a:t>, </a:t>
            </a:r>
            <a:r>
              <a:rPr b="0" i="0" lang="en-US" sz="6000" u="none" cap="none" strike="noStrike">
                <a:solidFill>
                  <a:srgbClr val="7030A0"/>
                </a:solidFill>
                <a:latin typeface="Calibri"/>
                <a:ea typeface="Calibri"/>
                <a:cs typeface="Calibri"/>
                <a:sym typeface="Calibri"/>
              </a:rPr>
              <a:t>binary</a:t>
            </a:r>
            <a:r>
              <a:rPr b="0" i="0" lang="en-US" sz="6000" u="none" cap="none" strike="noStrike">
                <a:solidFill>
                  <a:schemeClr val="dk2"/>
                </a:solidFill>
                <a:latin typeface="Calibri"/>
                <a:ea typeface="Calibri"/>
                <a:cs typeface="Calibri"/>
                <a:sym typeface="Calibri"/>
              </a:rPr>
              <a:t>, and </a:t>
            </a:r>
            <a:r>
              <a:rPr b="0" i="0" lang="en-US" sz="6000" u="none" cap="none" strike="noStrike">
                <a:solidFill>
                  <a:srgbClr val="7030A0"/>
                </a:solidFill>
                <a:latin typeface="Calibri"/>
                <a:ea typeface="Calibri"/>
                <a:cs typeface="Calibri"/>
                <a:sym typeface="Calibri"/>
              </a:rPr>
              <a:t>hexadecimal</a:t>
            </a:r>
            <a:r>
              <a:rPr b="0" i="0" lang="en-US" sz="6000" u="none" cap="none" strike="noStrike">
                <a:solidFill>
                  <a:schemeClr val="dk2"/>
                </a:solidFill>
                <a:latin typeface="Calibri"/>
                <a:ea typeface="Calibri"/>
                <a:cs typeface="Calibri"/>
                <a:sym typeface="Calibri"/>
              </a:rPr>
              <a:t> number systems.</a:t>
            </a:r>
            <a:endParaRPr b="0" i="0" sz="6000" u="none" cap="none" strike="noStrike">
              <a:solidFill>
                <a:schemeClr val="dk2"/>
              </a:solidFill>
              <a:latin typeface="Lato Light"/>
              <a:ea typeface="Lato Light"/>
              <a:cs typeface="Lato Light"/>
              <a:sym typeface="Lato Light"/>
            </a:endParaRPr>
          </a:p>
        </p:txBody>
      </p:sp>
      <p:sp>
        <p:nvSpPr>
          <p:cNvPr id="24" name="Google Shape;24;p4"/>
          <p:cNvSpPr txBox="1"/>
          <p:nvPr/>
        </p:nvSpPr>
        <p:spPr>
          <a:xfrm>
            <a:off x="3412521" y="9270217"/>
            <a:ext cx="17945196" cy="4104200"/>
          </a:xfrm>
          <a:prstGeom prst="rect">
            <a:avLst/>
          </a:prstGeom>
          <a:solidFill>
            <a:srgbClr val="FFE397"/>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None/>
            </a:pPr>
            <a:r>
              <a:rPr b="1" i="0" lang="en-US" sz="6000" u="sng" cap="none" strike="noStrike">
                <a:solidFill>
                  <a:schemeClr val="dk2"/>
                </a:solidFill>
                <a:latin typeface="Calibri"/>
                <a:ea typeface="Calibri"/>
                <a:cs typeface="Calibri"/>
                <a:sym typeface="Calibri"/>
              </a:rPr>
              <a:t>Challenge Task</a:t>
            </a:r>
            <a:endParaRPr b="0" i="0" sz="6000" u="none" cap="none" strike="noStrike">
              <a:solidFill>
                <a:schemeClr val="dk2"/>
              </a:solidFill>
              <a:latin typeface="Calibri"/>
              <a:ea typeface="Calibri"/>
              <a:cs typeface="Calibri"/>
              <a:sym typeface="Calibri"/>
            </a:endParaRPr>
          </a:p>
          <a:p>
            <a:pPr indent="0" lvl="0" marL="0" marR="0" rtl="0" algn="ctr">
              <a:lnSpc>
                <a:spcPct val="150000"/>
              </a:lnSpc>
              <a:spcBef>
                <a:spcPts val="0"/>
              </a:spcBef>
              <a:spcAft>
                <a:spcPts val="0"/>
              </a:spcAft>
              <a:buNone/>
            </a:pPr>
            <a:r>
              <a:rPr b="1" i="0" lang="en-US" sz="6000" u="none" cap="none" strike="noStrike">
                <a:solidFill>
                  <a:schemeClr val="dk2"/>
                </a:solidFill>
                <a:latin typeface="Lato Light"/>
                <a:ea typeface="Lato Light"/>
                <a:cs typeface="Lato Light"/>
                <a:sym typeface="Lato Light"/>
              </a:rPr>
              <a:t>Explain</a:t>
            </a:r>
            <a:r>
              <a:rPr b="0" i="0" lang="en-US" sz="6000" u="none" cap="none" strike="noStrike">
                <a:solidFill>
                  <a:schemeClr val="dk2"/>
                </a:solidFill>
                <a:latin typeface="Lato Light"/>
                <a:ea typeface="Lato Light"/>
                <a:cs typeface="Lato Light"/>
                <a:sym typeface="Lato Light"/>
              </a:rPr>
              <a:t> the </a:t>
            </a:r>
            <a:r>
              <a:rPr b="0" i="0" lang="en-US" sz="6000" u="none" cap="none" strike="noStrike">
                <a:solidFill>
                  <a:srgbClr val="7030A0"/>
                </a:solidFill>
                <a:latin typeface="Lato Light"/>
                <a:ea typeface="Lato Light"/>
                <a:cs typeface="Lato Light"/>
                <a:sym typeface="Lato Light"/>
              </a:rPr>
              <a:t>difference</a:t>
            </a:r>
            <a:r>
              <a:rPr b="0" i="0" lang="en-US" sz="6000" u="none" cap="none" strike="noStrike">
                <a:solidFill>
                  <a:schemeClr val="dk2"/>
                </a:solidFill>
                <a:latin typeface="Lato Light"/>
                <a:ea typeface="Lato Light"/>
                <a:cs typeface="Lato Light"/>
                <a:sym typeface="Lato Light"/>
              </a:rPr>
              <a:t> between the SI and IEC unit systems for data storage.</a:t>
            </a:r>
            <a:endParaRPr/>
          </a:p>
        </p:txBody>
      </p:sp>
      <p:sp>
        <p:nvSpPr>
          <p:cNvPr id="25" name="Google Shape;25;p4"/>
          <p:cNvSpPr txBox="1"/>
          <p:nvPr/>
        </p:nvSpPr>
        <p:spPr>
          <a:xfrm>
            <a:off x="4357389" y="10449920"/>
            <a:ext cx="184731"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sz="3600">
              <a:solidFill>
                <a:schemeClr val="dk1"/>
              </a:solidFill>
              <a:latin typeface="Calibri"/>
              <a:ea typeface="Calibri"/>
              <a:cs typeface="Calibri"/>
              <a:sym typeface="Calibri"/>
            </a:endParaRPr>
          </a:p>
        </p:txBody>
      </p:sp>
    </p:spTree>
  </p:cSld>
  <p:clrMapOvr>
    <a:masterClrMapping/>
  </p:clrMapOvr>
  <p:transition spd="slow">
    <p:fade thruBlk="1"/>
  </p:transition>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4">
                                  <p:stCondLst>
                                    <p:cond delay="0"/>
                                  </p:stCondLst>
                                  <p:childTnLst>
                                    <p:set>
                                      <p:cBhvr>
                                        <p:cTn dur="1" fill="hold">
                                          <p:stCondLst>
                                            <p:cond delay="0"/>
                                          </p:stCondLst>
                                        </p:cTn>
                                        <p:tgtEl>
                                          <p:spTgt spid="21"/>
                                        </p:tgtEl>
                                        <p:attrNameLst>
                                          <p:attrName>style.visibility</p:attrName>
                                        </p:attrNameLst>
                                      </p:cBhvr>
                                      <p:to>
                                        <p:strVal val="visible"/>
                                      </p:to>
                                    </p:set>
                                    <p:anim calcmode="lin" valueType="num">
                                      <p:cBhvr additive="base">
                                        <p:cTn dur="500"/>
                                        <p:tgtEl>
                                          <p:spTgt spid="21"/>
                                        </p:tgtEl>
                                        <p:attrNameLst>
                                          <p:attrName>ppt_y</p:attrName>
                                        </p:attrNameLst>
                                      </p:cBhvr>
                                      <p:tavLst>
                                        <p:tav fmla="" tm="0">
                                          <p:val>
                                            <p:strVal val="#ppt_y+1"/>
                                          </p:val>
                                        </p:tav>
                                        <p:tav fmla="" tm="100000">
                                          <p:val>
                                            <p:strVal val="#ppt_y"/>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4">
                                  <p:stCondLst>
                                    <p:cond delay="0"/>
                                  </p:stCondLst>
                                  <p:childTnLst>
                                    <p:set>
                                      <p:cBhvr>
                                        <p:cTn dur="1" fill="hold">
                                          <p:stCondLst>
                                            <p:cond delay="0"/>
                                          </p:stCondLst>
                                        </p:cTn>
                                        <p:tgtEl>
                                          <p:spTgt spid="23"/>
                                        </p:tgtEl>
                                        <p:attrNameLst>
                                          <p:attrName>style.visibility</p:attrName>
                                        </p:attrNameLst>
                                      </p:cBhvr>
                                      <p:to>
                                        <p:strVal val="visible"/>
                                      </p:to>
                                    </p:set>
                                    <p:anim calcmode="lin" valueType="num">
                                      <p:cBhvr additive="base">
                                        <p:cTn dur="500"/>
                                        <p:tgtEl>
                                          <p:spTgt spid="23"/>
                                        </p:tgtEl>
                                        <p:attrNameLst>
                                          <p:attrName>ppt_y</p:attrName>
                                        </p:attrNameLst>
                                      </p:cBhvr>
                                      <p:tavLst>
                                        <p:tav fmla="" tm="0">
                                          <p:val>
                                            <p:strVal val="#ppt_y+1"/>
                                          </p:val>
                                        </p:tav>
                                        <p:tav fmla="" tm="100000">
                                          <p:val>
                                            <p:strVal val="#ppt_y"/>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4">
                                  <p:stCondLst>
                                    <p:cond delay="0"/>
                                  </p:stCondLst>
                                  <p:childTnLst>
                                    <p:set>
                                      <p:cBhvr>
                                        <p:cTn dur="1" fill="hold">
                                          <p:stCondLst>
                                            <p:cond delay="0"/>
                                          </p:stCondLst>
                                        </p:cTn>
                                        <p:tgtEl>
                                          <p:spTgt spid="24"/>
                                        </p:tgtEl>
                                        <p:attrNameLst>
                                          <p:attrName>style.visibility</p:attrName>
                                        </p:attrNameLst>
                                      </p:cBhvr>
                                      <p:to>
                                        <p:strVal val="visible"/>
                                      </p:to>
                                    </p:set>
                                    <p:anim calcmode="lin" valueType="num">
                                      <p:cBhvr additive="base">
                                        <p:cTn dur="500"/>
                                        <p:tgtEl>
                                          <p:spTgt spid="24"/>
                                        </p:tgtEl>
                                        <p:attrNameLst>
                                          <p:attrName>ppt_y</p:attrName>
                                        </p:attrNameLst>
                                      </p:cBhvr>
                                      <p:tavLst>
                                        <p:tav fmla="" tm="0">
                                          <p:val>
                                            <p:strVal val="#ppt_y+1"/>
                                          </p:val>
                                        </p:tav>
                                        <p:tav fmla=""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 name="Shape 29"/>
        <p:cNvGrpSpPr/>
        <p:nvPr/>
      </p:nvGrpSpPr>
      <p:grpSpPr>
        <a:xfrm>
          <a:off x="0" y="0"/>
          <a:ext cx="0" cy="0"/>
          <a:chOff x="0" y="0"/>
          <a:chExt cx="0" cy="0"/>
        </a:xfrm>
      </p:grpSpPr>
      <p:sp>
        <p:nvSpPr>
          <p:cNvPr id="30" name="Google Shape;30;p5"/>
          <p:cNvSpPr/>
          <p:nvPr/>
        </p:nvSpPr>
        <p:spPr>
          <a:xfrm>
            <a:off x="12615748" y="0"/>
            <a:ext cx="11761902" cy="13716000"/>
          </a:xfrm>
          <a:custGeom>
            <a:rect b="b" l="l" r="r" t="t"/>
            <a:pathLst>
              <a:path extrusionOk="0" h="15172" w="15172">
                <a:moveTo>
                  <a:pt x="15171" y="15171"/>
                </a:moveTo>
                <a:lnTo>
                  <a:pt x="0" y="15171"/>
                </a:lnTo>
                <a:lnTo>
                  <a:pt x="0" y="0"/>
                </a:lnTo>
                <a:lnTo>
                  <a:pt x="15171" y="0"/>
                </a:lnTo>
                <a:lnTo>
                  <a:pt x="15171" y="15171"/>
                </a:lnTo>
              </a:path>
            </a:pathLst>
          </a:custGeom>
          <a:solidFill>
            <a:srgbClr val="F2F2F2"/>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2800">
              <a:solidFill>
                <a:schemeClr val="dk1"/>
              </a:solidFill>
              <a:latin typeface="Poppins"/>
              <a:ea typeface="Poppins"/>
              <a:cs typeface="Poppins"/>
              <a:sym typeface="Poppins"/>
            </a:endParaRPr>
          </a:p>
        </p:txBody>
      </p:sp>
      <p:sp>
        <p:nvSpPr>
          <p:cNvPr id="31" name="Google Shape;31;p5"/>
          <p:cNvSpPr txBox="1"/>
          <p:nvPr/>
        </p:nvSpPr>
        <p:spPr>
          <a:xfrm>
            <a:off x="1393567" y="1103796"/>
            <a:ext cx="10566718" cy="6463308"/>
          </a:xfrm>
          <a:prstGeom prst="rect">
            <a:avLst/>
          </a:prstGeom>
          <a:noFill/>
          <a:ln>
            <a:noFill/>
          </a:ln>
        </p:spPr>
        <p:txBody>
          <a:bodyPr anchorCtr="0" anchor="b" bIns="45700" lIns="91425" spcFirstLastPara="1" rIns="91425" wrap="square" tIns="45700">
            <a:spAutoFit/>
          </a:bodyPr>
          <a:lstStyle/>
          <a:p>
            <a:pPr indent="0" lvl="0" marL="0" marR="0" rtl="0" algn="l">
              <a:spcBef>
                <a:spcPts val="0"/>
              </a:spcBef>
              <a:spcAft>
                <a:spcPts val="0"/>
              </a:spcAft>
              <a:buNone/>
            </a:pPr>
            <a:r>
              <a:rPr b="1" lang="en-US" sz="13800">
                <a:solidFill>
                  <a:schemeClr val="dk2"/>
                </a:solidFill>
                <a:latin typeface="Poppins"/>
                <a:ea typeface="Poppins"/>
                <a:cs typeface="Poppins"/>
                <a:sym typeface="Poppins"/>
              </a:rPr>
              <a:t>Year 10 GCSE:</a:t>
            </a:r>
            <a:endParaRPr/>
          </a:p>
          <a:p>
            <a:pPr indent="0" lvl="0" marL="0" marR="0" rtl="0" algn="l">
              <a:spcBef>
                <a:spcPts val="0"/>
              </a:spcBef>
              <a:spcAft>
                <a:spcPts val="0"/>
              </a:spcAft>
              <a:buNone/>
            </a:pPr>
            <a:r>
              <a:rPr b="1" lang="en-US" sz="13800">
                <a:solidFill>
                  <a:schemeClr val="dk2"/>
                </a:solidFill>
                <a:latin typeface="Poppins"/>
                <a:ea typeface="Poppins"/>
                <a:cs typeface="Poppins"/>
                <a:sym typeface="Poppins"/>
              </a:rPr>
              <a:t>Computer Science</a:t>
            </a:r>
            <a:endParaRPr b="1" sz="9600">
              <a:solidFill>
                <a:schemeClr val="dk2"/>
              </a:solidFill>
              <a:latin typeface="Poppins"/>
              <a:ea typeface="Poppins"/>
              <a:cs typeface="Poppins"/>
              <a:sym typeface="Poppins"/>
            </a:endParaRPr>
          </a:p>
        </p:txBody>
      </p:sp>
      <p:sp>
        <p:nvSpPr>
          <p:cNvPr id="32" name="Google Shape;32;p5"/>
          <p:cNvSpPr txBox="1"/>
          <p:nvPr/>
        </p:nvSpPr>
        <p:spPr>
          <a:xfrm>
            <a:off x="1393567" y="7681311"/>
            <a:ext cx="10763192" cy="4409797"/>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b="1" lang="en-US" sz="4800">
                <a:solidFill>
                  <a:srgbClr val="415D79"/>
                </a:solidFill>
                <a:latin typeface="Poppins"/>
                <a:ea typeface="Poppins"/>
                <a:cs typeface="Poppins"/>
                <a:sym typeface="Poppins"/>
              </a:rPr>
              <a:t>Unit 2 of 6: Data Transmission</a:t>
            </a:r>
            <a:endParaRPr/>
          </a:p>
          <a:p>
            <a:pPr indent="0" lvl="0" marL="0" marR="0" rtl="0" algn="l">
              <a:lnSpc>
                <a:spcPct val="150000"/>
              </a:lnSpc>
              <a:spcBef>
                <a:spcPts val="0"/>
              </a:spcBef>
              <a:spcAft>
                <a:spcPts val="0"/>
              </a:spcAft>
              <a:buNone/>
            </a:pPr>
            <a:r>
              <a:rPr lang="en-US" sz="4800">
                <a:solidFill>
                  <a:srgbClr val="415D79"/>
                </a:solidFill>
                <a:latin typeface="Poppins"/>
                <a:ea typeface="Poppins"/>
                <a:cs typeface="Poppins"/>
                <a:sym typeface="Poppins"/>
              </a:rPr>
              <a:t>Topic 1: Types and Methods of Data Transmission</a:t>
            </a:r>
            <a:endParaRPr/>
          </a:p>
          <a:p>
            <a:pPr indent="0" lvl="0" marL="0" marR="0" rtl="0" algn="l">
              <a:lnSpc>
                <a:spcPct val="150000"/>
              </a:lnSpc>
              <a:spcBef>
                <a:spcPts val="0"/>
              </a:spcBef>
              <a:spcAft>
                <a:spcPts val="0"/>
              </a:spcAft>
              <a:buNone/>
            </a:pPr>
            <a:r>
              <a:rPr lang="en-US" sz="4800">
                <a:solidFill>
                  <a:srgbClr val="415D79"/>
                </a:solidFill>
                <a:latin typeface="Poppins"/>
                <a:ea typeface="Poppins"/>
                <a:cs typeface="Poppins"/>
                <a:sym typeface="Poppins"/>
              </a:rPr>
              <a:t>Topic 2: Methods of Error Correction</a:t>
            </a:r>
            <a:endParaRPr/>
          </a:p>
        </p:txBody>
      </p:sp>
      <p:sp>
        <p:nvSpPr>
          <p:cNvPr id="33" name="Google Shape;33;p5"/>
          <p:cNvSpPr/>
          <p:nvPr/>
        </p:nvSpPr>
        <p:spPr>
          <a:xfrm>
            <a:off x="13282275" y="1103796"/>
            <a:ext cx="10428848" cy="11508407"/>
          </a:xfrm>
          <a:custGeom>
            <a:rect b="b" l="l" r="r" t="t"/>
            <a:pathLst>
              <a:path extrusionOk="0" h="9130576" w="8776827">
                <a:moveTo>
                  <a:pt x="0" y="0"/>
                </a:moveTo>
                <a:cubicBezTo>
                  <a:pt x="280911" y="13334"/>
                  <a:pt x="303180" y="-953"/>
                  <a:pt x="587372" y="0"/>
                </a:cubicBezTo>
                <a:cubicBezTo>
                  <a:pt x="871564" y="953"/>
                  <a:pt x="800350" y="6090"/>
                  <a:pt x="999208" y="0"/>
                </a:cubicBezTo>
                <a:cubicBezTo>
                  <a:pt x="1198066" y="-6090"/>
                  <a:pt x="1425755" y="36116"/>
                  <a:pt x="1849885" y="0"/>
                </a:cubicBezTo>
                <a:cubicBezTo>
                  <a:pt x="2274015" y="-36116"/>
                  <a:pt x="2222520" y="29011"/>
                  <a:pt x="2437257" y="0"/>
                </a:cubicBezTo>
                <a:cubicBezTo>
                  <a:pt x="2651994" y="-29011"/>
                  <a:pt x="2778495" y="19386"/>
                  <a:pt x="3024630" y="0"/>
                </a:cubicBezTo>
                <a:cubicBezTo>
                  <a:pt x="3270765" y="-19386"/>
                  <a:pt x="3527267" y="-7171"/>
                  <a:pt x="3875307" y="0"/>
                </a:cubicBezTo>
                <a:cubicBezTo>
                  <a:pt x="4223347" y="7171"/>
                  <a:pt x="4166503" y="-9317"/>
                  <a:pt x="4374911" y="0"/>
                </a:cubicBezTo>
                <a:cubicBezTo>
                  <a:pt x="4583319" y="9317"/>
                  <a:pt x="4879084" y="-23955"/>
                  <a:pt x="5225588" y="0"/>
                </a:cubicBezTo>
                <a:cubicBezTo>
                  <a:pt x="5572092" y="23955"/>
                  <a:pt x="5874540" y="-9521"/>
                  <a:pt x="6076265" y="0"/>
                </a:cubicBezTo>
                <a:cubicBezTo>
                  <a:pt x="6277990" y="9521"/>
                  <a:pt x="6612510" y="27926"/>
                  <a:pt x="6751405" y="0"/>
                </a:cubicBezTo>
                <a:cubicBezTo>
                  <a:pt x="6890300" y="-27926"/>
                  <a:pt x="7425688" y="19764"/>
                  <a:pt x="7602082" y="0"/>
                </a:cubicBezTo>
                <a:cubicBezTo>
                  <a:pt x="7778476" y="-19764"/>
                  <a:pt x="7970820" y="8455"/>
                  <a:pt x="8189455" y="0"/>
                </a:cubicBezTo>
                <a:cubicBezTo>
                  <a:pt x="8408090" y="-8455"/>
                  <a:pt x="8586466" y="4676"/>
                  <a:pt x="8776827" y="0"/>
                </a:cubicBezTo>
                <a:cubicBezTo>
                  <a:pt x="8770292" y="349883"/>
                  <a:pt x="8741022" y="531333"/>
                  <a:pt x="8776827" y="743490"/>
                </a:cubicBezTo>
                <a:cubicBezTo>
                  <a:pt x="8812633" y="955647"/>
                  <a:pt x="8785529" y="1124382"/>
                  <a:pt x="8776827" y="1395674"/>
                </a:cubicBezTo>
                <a:cubicBezTo>
                  <a:pt x="8768125" y="1666966"/>
                  <a:pt x="8770900" y="1819720"/>
                  <a:pt x="8776827" y="2047858"/>
                </a:cubicBezTo>
                <a:cubicBezTo>
                  <a:pt x="8782754" y="2275996"/>
                  <a:pt x="8792232" y="2610230"/>
                  <a:pt x="8776827" y="2791348"/>
                </a:cubicBezTo>
                <a:cubicBezTo>
                  <a:pt x="8761423" y="2972466"/>
                  <a:pt x="8784919" y="3337375"/>
                  <a:pt x="8776827" y="3534837"/>
                </a:cubicBezTo>
                <a:cubicBezTo>
                  <a:pt x="8768735" y="3732299"/>
                  <a:pt x="8750294" y="4025240"/>
                  <a:pt x="8776827" y="4278327"/>
                </a:cubicBezTo>
                <a:cubicBezTo>
                  <a:pt x="8803361" y="4531414"/>
                  <a:pt x="8774512" y="4573068"/>
                  <a:pt x="8776827" y="4656594"/>
                </a:cubicBezTo>
                <a:cubicBezTo>
                  <a:pt x="8779142" y="4740120"/>
                  <a:pt x="8793977" y="4968035"/>
                  <a:pt x="8776827" y="5126166"/>
                </a:cubicBezTo>
                <a:cubicBezTo>
                  <a:pt x="8759677" y="5284297"/>
                  <a:pt x="8813678" y="5720639"/>
                  <a:pt x="8776827" y="5869656"/>
                </a:cubicBezTo>
                <a:cubicBezTo>
                  <a:pt x="8739977" y="6018673"/>
                  <a:pt x="8788213" y="6293145"/>
                  <a:pt x="8776827" y="6430534"/>
                </a:cubicBezTo>
                <a:cubicBezTo>
                  <a:pt x="8765441" y="6567923"/>
                  <a:pt x="8799326" y="6711596"/>
                  <a:pt x="8776827" y="6900107"/>
                </a:cubicBezTo>
                <a:cubicBezTo>
                  <a:pt x="8754328" y="7088618"/>
                  <a:pt x="8750700" y="7486407"/>
                  <a:pt x="8776827" y="7643596"/>
                </a:cubicBezTo>
                <a:cubicBezTo>
                  <a:pt x="8802954" y="7800785"/>
                  <a:pt x="8751810" y="7976087"/>
                  <a:pt x="8776827" y="8295780"/>
                </a:cubicBezTo>
                <a:cubicBezTo>
                  <a:pt x="8801844" y="8615473"/>
                  <a:pt x="8809621" y="8855047"/>
                  <a:pt x="8776827" y="9130576"/>
                </a:cubicBezTo>
                <a:cubicBezTo>
                  <a:pt x="8371310" y="9151031"/>
                  <a:pt x="8172975" y="9091074"/>
                  <a:pt x="7926150" y="9130576"/>
                </a:cubicBezTo>
                <a:cubicBezTo>
                  <a:pt x="7679325" y="9170078"/>
                  <a:pt x="7414540" y="9145788"/>
                  <a:pt x="7163241" y="9130576"/>
                </a:cubicBezTo>
                <a:cubicBezTo>
                  <a:pt x="6911942" y="9115364"/>
                  <a:pt x="6904804" y="9154547"/>
                  <a:pt x="6663637" y="9130576"/>
                </a:cubicBezTo>
                <a:cubicBezTo>
                  <a:pt x="6422470" y="9106605"/>
                  <a:pt x="6109054" y="9163591"/>
                  <a:pt x="5900728" y="9130576"/>
                </a:cubicBezTo>
                <a:cubicBezTo>
                  <a:pt x="5692402" y="9097561"/>
                  <a:pt x="5645202" y="9150575"/>
                  <a:pt x="5488893" y="9130576"/>
                </a:cubicBezTo>
                <a:cubicBezTo>
                  <a:pt x="5332585" y="9110577"/>
                  <a:pt x="5087692" y="9149840"/>
                  <a:pt x="4725984" y="9130576"/>
                </a:cubicBezTo>
                <a:cubicBezTo>
                  <a:pt x="4364276" y="9111312"/>
                  <a:pt x="4447345" y="9110127"/>
                  <a:pt x="4226380" y="9130576"/>
                </a:cubicBezTo>
                <a:cubicBezTo>
                  <a:pt x="4005415" y="9151025"/>
                  <a:pt x="4005135" y="9143041"/>
                  <a:pt x="3814544" y="9130576"/>
                </a:cubicBezTo>
                <a:cubicBezTo>
                  <a:pt x="3623953" y="9118111"/>
                  <a:pt x="3554213" y="9111234"/>
                  <a:pt x="3314940" y="9130576"/>
                </a:cubicBezTo>
                <a:cubicBezTo>
                  <a:pt x="3075667" y="9149918"/>
                  <a:pt x="2779762" y="9106832"/>
                  <a:pt x="2552031" y="9130576"/>
                </a:cubicBezTo>
                <a:cubicBezTo>
                  <a:pt x="2324300" y="9154320"/>
                  <a:pt x="2291317" y="9132086"/>
                  <a:pt x="2052427" y="9130576"/>
                </a:cubicBezTo>
                <a:cubicBezTo>
                  <a:pt x="1813537" y="9129066"/>
                  <a:pt x="1823321" y="9130360"/>
                  <a:pt x="1640592" y="9130576"/>
                </a:cubicBezTo>
                <a:cubicBezTo>
                  <a:pt x="1457864" y="9130792"/>
                  <a:pt x="1257271" y="9116577"/>
                  <a:pt x="1140988" y="9130576"/>
                </a:cubicBezTo>
                <a:cubicBezTo>
                  <a:pt x="1024705" y="9144575"/>
                  <a:pt x="483831" y="9170044"/>
                  <a:pt x="0" y="9130576"/>
                </a:cubicBezTo>
                <a:cubicBezTo>
                  <a:pt x="7697" y="8843983"/>
                  <a:pt x="17688" y="8676523"/>
                  <a:pt x="0" y="8478392"/>
                </a:cubicBezTo>
                <a:cubicBezTo>
                  <a:pt x="-17688" y="8280261"/>
                  <a:pt x="-4389" y="8022086"/>
                  <a:pt x="0" y="7826208"/>
                </a:cubicBezTo>
                <a:cubicBezTo>
                  <a:pt x="4389" y="7630330"/>
                  <a:pt x="7080" y="7562687"/>
                  <a:pt x="0" y="7356636"/>
                </a:cubicBezTo>
                <a:cubicBezTo>
                  <a:pt x="-7080" y="7150585"/>
                  <a:pt x="-23924" y="6955363"/>
                  <a:pt x="0" y="6704452"/>
                </a:cubicBezTo>
                <a:cubicBezTo>
                  <a:pt x="23924" y="6453541"/>
                  <a:pt x="-15975" y="6229576"/>
                  <a:pt x="0" y="6052268"/>
                </a:cubicBezTo>
                <a:cubicBezTo>
                  <a:pt x="15975" y="5874960"/>
                  <a:pt x="13086" y="5602828"/>
                  <a:pt x="0" y="5400084"/>
                </a:cubicBezTo>
                <a:cubicBezTo>
                  <a:pt x="-13086" y="5197340"/>
                  <a:pt x="-28967" y="5027951"/>
                  <a:pt x="0" y="4747900"/>
                </a:cubicBezTo>
                <a:cubicBezTo>
                  <a:pt x="28967" y="4467849"/>
                  <a:pt x="25180" y="4447355"/>
                  <a:pt x="0" y="4187021"/>
                </a:cubicBezTo>
                <a:cubicBezTo>
                  <a:pt x="-25180" y="3926687"/>
                  <a:pt x="15742" y="3787139"/>
                  <a:pt x="0" y="3443532"/>
                </a:cubicBezTo>
                <a:cubicBezTo>
                  <a:pt x="-15742" y="3099925"/>
                  <a:pt x="-1242" y="3050835"/>
                  <a:pt x="0" y="2791348"/>
                </a:cubicBezTo>
                <a:cubicBezTo>
                  <a:pt x="1242" y="2531861"/>
                  <a:pt x="25035" y="2135600"/>
                  <a:pt x="0" y="1956552"/>
                </a:cubicBezTo>
                <a:cubicBezTo>
                  <a:pt x="-25035" y="1777504"/>
                  <a:pt x="-23023" y="1386343"/>
                  <a:pt x="0" y="1121756"/>
                </a:cubicBezTo>
                <a:cubicBezTo>
                  <a:pt x="23023" y="857169"/>
                  <a:pt x="-42106" y="525896"/>
                  <a:pt x="0" y="0"/>
                </a:cubicBezTo>
                <a:close/>
              </a:path>
            </a:pathLst>
          </a:custGeom>
          <a:solidFill>
            <a:schemeClr val="lt1"/>
          </a:solidFill>
          <a:ln cap="flat" cmpd="sng" w="28575">
            <a:solidFill>
              <a:schemeClr val="dk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lang="en-US" sz="6000" u="sng">
                <a:solidFill>
                  <a:schemeClr val="dk2"/>
                </a:solidFill>
                <a:latin typeface="Arial"/>
                <a:ea typeface="Arial"/>
                <a:cs typeface="Arial"/>
                <a:sym typeface="Arial"/>
              </a:rPr>
              <a:t>Starter Questions</a:t>
            </a:r>
            <a:endParaRPr/>
          </a:p>
          <a:p>
            <a:pPr indent="0" lvl="0" marL="0" marR="0" rtl="0" algn="l">
              <a:lnSpc>
                <a:spcPct val="150000"/>
              </a:lnSpc>
              <a:spcBef>
                <a:spcPts val="0"/>
              </a:spcBef>
              <a:spcAft>
                <a:spcPts val="0"/>
              </a:spcAft>
              <a:buNone/>
            </a:pPr>
            <a:r>
              <a:t/>
            </a:r>
            <a:endParaRPr sz="4400">
              <a:solidFill>
                <a:srgbClr val="868686"/>
              </a:solidFill>
              <a:latin typeface="Arial"/>
              <a:ea typeface="Arial"/>
              <a:cs typeface="Arial"/>
              <a:sym typeface="Arial"/>
            </a:endParaRPr>
          </a:p>
          <a:p>
            <a:pPr indent="0" lvl="0" marL="0" marR="0" rtl="0" algn="l">
              <a:lnSpc>
                <a:spcPct val="150000"/>
              </a:lnSpc>
              <a:spcBef>
                <a:spcPts val="0"/>
              </a:spcBef>
              <a:spcAft>
                <a:spcPts val="0"/>
              </a:spcAft>
              <a:buNone/>
            </a:pPr>
            <a:r>
              <a:rPr b="1" lang="en-US" sz="4400">
                <a:solidFill>
                  <a:schemeClr val="dk2"/>
                </a:solidFill>
                <a:latin typeface="Arial"/>
                <a:ea typeface="Arial"/>
                <a:cs typeface="Arial"/>
                <a:sym typeface="Arial"/>
              </a:rPr>
              <a:t>Instructions</a:t>
            </a:r>
            <a:endParaRPr/>
          </a:p>
          <a:p>
            <a:pPr indent="0" lvl="0" marL="0" marR="0" rtl="0" algn="l">
              <a:lnSpc>
                <a:spcPct val="150000"/>
              </a:lnSpc>
              <a:spcBef>
                <a:spcPts val="0"/>
              </a:spcBef>
              <a:spcAft>
                <a:spcPts val="0"/>
              </a:spcAft>
              <a:buNone/>
            </a:pPr>
            <a:r>
              <a:rPr lang="en-US" sz="4400">
                <a:solidFill>
                  <a:srgbClr val="0070C0"/>
                </a:solidFill>
                <a:latin typeface="Arial"/>
                <a:ea typeface="Arial"/>
                <a:cs typeface="Arial"/>
                <a:sym typeface="Arial"/>
              </a:rPr>
              <a:t>Read</a:t>
            </a:r>
            <a:r>
              <a:rPr lang="en-US" sz="4400">
                <a:solidFill>
                  <a:schemeClr val="dk2"/>
                </a:solidFill>
                <a:latin typeface="Arial"/>
                <a:ea typeface="Arial"/>
                <a:cs typeface="Arial"/>
                <a:sym typeface="Arial"/>
              </a:rPr>
              <a:t> the text to the left and </a:t>
            </a:r>
            <a:r>
              <a:rPr lang="en-US" sz="4400">
                <a:solidFill>
                  <a:srgbClr val="0070C0"/>
                </a:solidFill>
                <a:latin typeface="Arial"/>
                <a:ea typeface="Arial"/>
                <a:cs typeface="Arial"/>
                <a:sym typeface="Arial"/>
              </a:rPr>
              <a:t>answer</a:t>
            </a:r>
            <a:r>
              <a:rPr lang="en-US" sz="4400">
                <a:solidFill>
                  <a:schemeClr val="dk2"/>
                </a:solidFill>
                <a:latin typeface="Arial"/>
                <a:ea typeface="Arial"/>
                <a:cs typeface="Arial"/>
                <a:sym typeface="Arial"/>
              </a:rPr>
              <a:t> the questions below.</a:t>
            </a:r>
            <a:endParaRPr/>
          </a:p>
          <a:p>
            <a:pPr indent="0" lvl="0" marL="0" marR="0" rtl="0" algn="l">
              <a:lnSpc>
                <a:spcPct val="150000"/>
              </a:lnSpc>
              <a:spcBef>
                <a:spcPts val="0"/>
              </a:spcBef>
              <a:spcAft>
                <a:spcPts val="0"/>
              </a:spcAft>
              <a:buNone/>
            </a:pPr>
            <a:r>
              <a:t/>
            </a:r>
            <a:endParaRPr sz="4400">
              <a:solidFill>
                <a:schemeClr val="dk2"/>
              </a:solidFill>
              <a:latin typeface="Arial"/>
              <a:ea typeface="Arial"/>
              <a:cs typeface="Arial"/>
              <a:sym typeface="Arial"/>
            </a:endParaRPr>
          </a:p>
          <a:p>
            <a:pPr indent="0" lvl="0" marL="0" marR="0" rtl="0" algn="l">
              <a:lnSpc>
                <a:spcPct val="150000"/>
              </a:lnSpc>
              <a:spcBef>
                <a:spcPts val="0"/>
              </a:spcBef>
              <a:spcAft>
                <a:spcPts val="0"/>
              </a:spcAft>
              <a:buNone/>
            </a:pPr>
            <a:r>
              <a:rPr b="1" lang="en-US" sz="4400">
                <a:solidFill>
                  <a:schemeClr val="dk2"/>
                </a:solidFill>
                <a:latin typeface="Arial"/>
                <a:ea typeface="Arial"/>
                <a:cs typeface="Arial"/>
                <a:sym typeface="Arial"/>
              </a:rPr>
              <a:t>Questions</a:t>
            </a:r>
            <a:endParaRPr/>
          </a:p>
          <a:p>
            <a:pPr indent="-742950" lvl="0" marL="742950" marR="0" rtl="0" algn="l">
              <a:lnSpc>
                <a:spcPct val="150000"/>
              </a:lnSpc>
              <a:spcBef>
                <a:spcPts val="0"/>
              </a:spcBef>
              <a:spcAft>
                <a:spcPts val="0"/>
              </a:spcAft>
              <a:buClr>
                <a:schemeClr val="dk2"/>
              </a:buClr>
              <a:buSzPts val="4400"/>
              <a:buFont typeface="Arial"/>
              <a:buAutoNum type="arabicPeriod"/>
            </a:pPr>
            <a:r>
              <a:rPr lang="en-US" sz="4400">
                <a:solidFill>
                  <a:schemeClr val="dk2"/>
                </a:solidFill>
                <a:latin typeface="Arial"/>
                <a:ea typeface="Arial"/>
                <a:cs typeface="Arial"/>
                <a:sym typeface="Arial"/>
              </a:rPr>
              <a:t>What’s our second </a:t>
            </a:r>
            <a:r>
              <a:rPr lang="en-US" sz="4400">
                <a:solidFill>
                  <a:srgbClr val="0070C0"/>
                </a:solidFill>
                <a:latin typeface="Arial"/>
                <a:ea typeface="Arial"/>
                <a:cs typeface="Arial"/>
                <a:sym typeface="Arial"/>
              </a:rPr>
              <a:t>unit</a:t>
            </a:r>
            <a:r>
              <a:rPr lang="en-US" sz="4400">
                <a:solidFill>
                  <a:schemeClr val="dk2"/>
                </a:solidFill>
                <a:latin typeface="Arial"/>
                <a:ea typeface="Arial"/>
                <a:cs typeface="Arial"/>
                <a:sym typeface="Arial"/>
              </a:rPr>
              <a:t> of study?</a:t>
            </a:r>
            <a:endParaRPr/>
          </a:p>
          <a:p>
            <a:pPr indent="-742950" lvl="0" marL="742950" marR="0" rtl="0" algn="l">
              <a:lnSpc>
                <a:spcPct val="150000"/>
              </a:lnSpc>
              <a:spcBef>
                <a:spcPts val="0"/>
              </a:spcBef>
              <a:spcAft>
                <a:spcPts val="0"/>
              </a:spcAft>
              <a:buClr>
                <a:schemeClr val="dk2"/>
              </a:buClr>
              <a:buSzPts val="4400"/>
              <a:buFont typeface="Arial"/>
              <a:buAutoNum type="arabicPeriod"/>
            </a:pPr>
            <a:r>
              <a:rPr lang="en-US" sz="4400">
                <a:solidFill>
                  <a:schemeClr val="dk2"/>
                </a:solidFill>
                <a:latin typeface="Arial"/>
                <a:ea typeface="Arial"/>
                <a:cs typeface="Arial"/>
                <a:sym typeface="Arial"/>
              </a:rPr>
              <a:t>How many </a:t>
            </a:r>
            <a:r>
              <a:rPr lang="en-US" sz="4400">
                <a:solidFill>
                  <a:srgbClr val="0070C0"/>
                </a:solidFill>
                <a:latin typeface="Arial"/>
                <a:ea typeface="Arial"/>
                <a:cs typeface="Arial"/>
                <a:sym typeface="Arial"/>
              </a:rPr>
              <a:t>topics</a:t>
            </a:r>
            <a:r>
              <a:rPr lang="en-US" sz="4400">
                <a:solidFill>
                  <a:schemeClr val="dk2"/>
                </a:solidFill>
                <a:latin typeface="Arial"/>
                <a:ea typeface="Arial"/>
                <a:cs typeface="Arial"/>
                <a:sym typeface="Arial"/>
              </a:rPr>
              <a:t> are there in this unit?</a:t>
            </a:r>
            <a:endParaRPr/>
          </a:p>
          <a:p>
            <a:pPr indent="-742950" lvl="0" marL="742950" marR="0" rtl="0" algn="l">
              <a:lnSpc>
                <a:spcPct val="150000"/>
              </a:lnSpc>
              <a:spcBef>
                <a:spcPts val="0"/>
              </a:spcBef>
              <a:spcAft>
                <a:spcPts val="0"/>
              </a:spcAft>
              <a:buClr>
                <a:schemeClr val="dk2"/>
              </a:buClr>
              <a:buSzPts val="4400"/>
              <a:buFont typeface="Arial"/>
              <a:buAutoNum type="arabicPeriod"/>
            </a:pPr>
            <a:r>
              <a:rPr lang="en-US" sz="4400">
                <a:solidFill>
                  <a:schemeClr val="dk2"/>
                </a:solidFill>
                <a:latin typeface="Arial"/>
                <a:ea typeface="Arial"/>
                <a:cs typeface="Arial"/>
                <a:sym typeface="Arial"/>
              </a:rPr>
              <a:t>What’s the </a:t>
            </a:r>
            <a:r>
              <a:rPr lang="en-US" sz="4400">
                <a:solidFill>
                  <a:srgbClr val="0070C0"/>
                </a:solidFill>
                <a:latin typeface="Arial"/>
                <a:ea typeface="Arial"/>
                <a:cs typeface="Arial"/>
                <a:sym typeface="Arial"/>
              </a:rPr>
              <a:t>first</a:t>
            </a:r>
            <a:r>
              <a:rPr lang="en-US" sz="4400">
                <a:solidFill>
                  <a:schemeClr val="dk2"/>
                </a:solidFill>
                <a:latin typeface="Arial"/>
                <a:ea typeface="Arial"/>
                <a:cs typeface="Arial"/>
                <a:sym typeface="Arial"/>
              </a:rPr>
              <a:t> topic we’re studying?</a:t>
            </a:r>
            <a:endParaRPr sz="4000">
              <a:solidFill>
                <a:schemeClr val="dk2"/>
              </a:solidFill>
              <a:latin typeface="Arial"/>
              <a:ea typeface="Arial"/>
              <a:cs typeface="Arial"/>
              <a:sym typeface="Arial"/>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 name="Shape 37"/>
        <p:cNvGrpSpPr/>
        <p:nvPr/>
      </p:nvGrpSpPr>
      <p:grpSpPr>
        <a:xfrm>
          <a:off x="0" y="0"/>
          <a:ext cx="0" cy="0"/>
          <a:chOff x="0" y="0"/>
          <a:chExt cx="0" cy="0"/>
        </a:xfrm>
      </p:grpSpPr>
      <p:sp>
        <p:nvSpPr>
          <p:cNvPr id="38" name="Google Shape;38;p6"/>
          <p:cNvSpPr/>
          <p:nvPr/>
        </p:nvSpPr>
        <p:spPr>
          <a:xfrm>
            <a:off x="12615748" y="0"/>
            <a:ext cx="11761902" cy="13716000"/>
          </a:xfrm>
          <a:custGeom>
            <a:rect b="b" l="l" r="r" t="t"/>
            <a:pathLst>
              <a:path extrusionOk="0" h="15172" w="15172">
                <a:moveTo>
                  <a:pt x="15171" y="15171"/>
                </a:moveTo>
                <a:lnTo>
                  <a:pt x="0" y="15171"/>
                </a:lnTo>
                <a:lnTo>
                  <a:pt x="0" y="0"/>
                </a:lnTo>
                <a:lnTo>
                  <a:pt x="15171" y="0"/>
                </a:lnTo>
                <a:lnTo>
                  <a:pt x="15171" y="15171"/>
                </a:lnTo>
              </a:path>
            </a:pathLst>
          </a:custGeom>
          <a:solidFill>
            <a:srgbClr val="F2F2F2"/>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2800">
              <a:solidFill>
                <a:schemeClr val="dk1"/>
              </a:solidFill>
              <a:latin typeface="Poppins"/>
              <a:ea typeface="Poppins"/>
              <a:cs typeface="Poppins"/>
              <a:sym typeface="Poppins"/>
            </a:endParaRPr>
          </a:p>
        </p:txBody>
      </p:sp>
      <p:sp>
        <p:nvSpPr>
          <p:cNvPr id="39" name="Google Shape;39;p6"/>
          <p:cNvSpPr/>
          <p:nvPr/>
        </p:nvSpPr>
        <p:spPr>
          <a:xfrm>
            <a:off x="13537695" y="1374589"/>
            <a:ext cx="9918007" cy="10844828"/>
          </a:xfrm>
          <a:custGeom>
            <a:rect b="b" l="l" r="r" t="t"/>
            <a:pathLst>
              <a:path extrusionOk="0" fill="none" h="1339726" w="18044903">
                <a:moveTo>
                  <a:pt x="0" y="0"/>
                </a:moveTo>
                <a:cubicBezTo>
                  <a:pt x="72603" y="-5356"/>
                  <a:pt x="86259" y="3921"/>
                  <a:pt x="152688" y="0"/>
                </a:cubicBezTo>
                <a:cubicBezTo>
                  <a:pt x="219117" y="-3921"/>
                  <a:pt x="535621" y="22533"/>
                  <a:pt x="846722" y="0"/>
                </a:cubicBezTo>
                <a:cubicBezTo>
                  <a:pt x="1157823" y="-22533"/>
                  <a:pt x="967617" y="400"/>
                  <a:pt x="999410" y="0"/>
                </a:cubicBezTo>
                <a:cubicBezTo>
                  <a:pt x="1031203" y="-400"/>
                  <a:pt x="1083000" y="-1950"/>
                  <a:pt x="1152098" y="0"/>
                </a:cubicBezTo>
                <a:cubicBezTo>
                  <a:pt x="1221196" y="1950"/>
                  <a:pt x="1439657" y="15980"/>
                  <a:pt x="1665683" y="0"/>
                </a:cubicBezTo>
                <a:cubicBezTo>
                  <a:pt x="1891710" y="-15980"/>
                  <a:pt x="2036370" y="12197"/>
                  <a:pt x="2359718" y="0"/>
                </a:cubicBezTo>
                <a:cubicBezTo>
                  <a:pt x="2683067" y="-12197"/>
                  <a:pt x="2445758" y="-5117"/>
                  <a:pt x="2512406" y="0"/>
                </a:cubicBezTo>
                <a:cubicBezTo>
                  <a:pt x="2579054" y="5117"/>
                  <a:pt x="2962087" y="43606"/>
                  <a:pt x="3386889" y="0"/>
                </a:cubicBezTo>
                <a:cubicBezTo>
                  <a:pt x="3811691" y="-43606"/>
                  <a:pt x="4052910" y="20763"/>
                  <a:pt x="4261373" y="0"/>
                </a:cubicBezTo>
                <a:cubicBezTo>
                  <a:pt x="4469836" y="-20763"/>
                  <a:pt x="4651618" y="-22748"/>
                  <a:pt x="4774959" y="0"/>
                </a:cubicBezTo>
                <a:cubicBezTo>
                  <a:pt x="4898300" y="22748"/>
                  <a:pt x="5418961" y="30760"/>
                  <a:pt x="5829892" y="0"/>
                </a:cubicBezTo>
                <a:cubicBezTo>
                  <a:pt x="6240823" y="-30760"/>
                  <a:pt x="6266258" y="-23696"/>
                  <a:pt x="6523926" y="0"/>
                </a:cubicBezTo>
                <a:cubicBezTo>
                  <a:pt x="6781594" y="23696"/>
                  <a:pt x="6602060" y="655"/>
                  <a:pt x="6676614" y="0"/>
                </a:cubicBezTo>
                <a:cubicBezTo>
                  <a:pt x="6751168" y="-655"/>
                  <a:pt x="7195856" y="17579"/>
                  <a:pt x="7370649" y="0"/>
                </a:cubicBezTo>
                <a:cubicBezTo>
                  <a:pt x="7545442" y="-17579"/>
                  <a:pt x="7735004" y="-15166"/>
                  <a:pt x="7884235" y="0"/>
                </a:cubicBezTo>
                <a:cubicBezTo>
                  <a:pt x="8033466" y="15166"/>
                  <a:pt x="8054789" y="-1240"/>
                  <a:pt x="8217371" y="0"/>
                </a:cubicBezTo>
                <a:cubicBezTo>
                  <a:pt x="8379953" y="1240"/>
                  <a:pt x="8811071" y="19879"/>
                  <a:pt x="9091855" y="0"/>
                </a:cubicBezTo>
                <a:cubicBezTo>
                  <a:pt x="9372639" y="-19879"/>
                  <a:pt x="9697964" y="6853"/>
                  <a:pt x="9966339" y="0"/>
                </a:cubicBezTo>
                <a:cubicBezTo>
                  <a:pt x="10234714" y="-6853"/>
                  <a:pt x="10291006" y="-9999"/>
                  <a:pt x="10479924" y="0"/>
                </a:cubicBezTo>
                <a:cubicBezTo>
                  <a:pt x="10668843" y="9999"/>
                  <a:pt x="10949046" y="-41527"/>
                  <a:pt x="11354408" y="0"/>
                </a:cubicBezTo>
                <a:cubicBezTo>
                  <a:pt x="11759770" y="41527"/>
                  <a:pt x="11622159" y="9742"/>
                  <a:pt x="11867994" y="0"/>
                </a:cubicBezTo>
                <a:cubicBezTo>
                  <a:pt x="12113829" y="-9742"/>
                  <a:pt x="12322284" y="38624"/>
                  <a:pt x="12742478" y="0"/>
                </a:cubicBezTo>
                <a:cubicBezTo>
                  <a:pt x="13162672" y="-38624"/>
                  <a:pt x="12936102" y="-4255"/>
                  <a:pt x="13075614" y="0"/>
                </a:cubicBezTo>
                <a:cubicBezTo>
                  <a:pt x="13215126" y="4255"/>
                  <a:pt x="13423822" y="1838"/>
                  <a:pt x="13589200" y="0"/>
                </a:cubicBezTo>
                <a:cubicBezTo>
                  <a:pt x="13754578" y="-1838"/>
                  <a:pt x="13762600" y="6835"/>
                  <a:pt x="13922337" y="0"/>
                </a:cubicBezTo>
                <a:cubicBezTo>
                  <a:pt x="14082074" y="-6835"/>
                  <a:pt x="14560074" y="40110"/>
                  <a:pt x="14977269" y="0"/>
                </a:cubicBezTo>
                <a:cubicBezTo>
                  <a:pt x="15394464" y="-40110"/>
                  <a:pt x="15093941" y="6150"/>
                  <a:pt x="15129957" y="0"/>
                </a:cubicBezTo>
                <a:cubicBezTo>
                  <a:pt x="15165973" y="-6150"/>
                  <a:pt x="15514052" y="-14837"/>
                  <a:pt x="15643543" y="0"/>
                </a:cubicBezTo>
                <a:cubicBezTo>
                  <a:pt x="15773034" y="14837"/>
                  <a:pt x="15758376" y="6951"/>
                  <a:pt x="15796230" y="0"/>
                </a:cubicBezTo>
                <a:cubicBezTo>
                  <a:pt x="15834084" y="-6951"/>
                  <a:pt x="16394295" y="-27209"/>
                  <a:pt x="16670714" y="0"/>
                </a:cubicBezTo>
                <a:cubicBezTo>
                  <a:pt x="16947133" y="27209"/>
                  <a:pt x="17767869" y="-33735"/>
                  <a:pt x="18044903" y="0"/>
                </a:cubicBezTo>
                <a:cubicBezTo>
                  <a:pt x="18042266" y="193080"/>
                  <a:pt x="18018765" y="467008"/>
                  <a:pt x="18044903" y="629671"/>
                </a:cubicBezTo>
                <a:cubicBezTo>
                  <a:pt x="18071041" y="792334"/>
                  <a:pt x="18035407" y="1011626"/>
                  <a:pt x="18044903" y="1339726"/>
                </a:cubicBezTo>
                <a:cubicBezTo>
                  <a:pt x="17906905" y="1332592"/>
                  <a:pt x="17809864" y="1335833"/>
                  <a:pt x="17711766" y="1339726"/>
                </a:cubicBezTo>
                <a:cubicBezTo>
                  <a:pt x="17613668" y="1343619"/>
                  <a:pt x="16935700" y="1392102"/>
                  <a:pt x="16656834" y="1339726"/>
                </a:cubicBezTo>
                <a:cubicBezTo>
                  <a:pt x="16377968" y="1287350"/>
                  <a:pt x="16092282" y="1316098"/>
                  <a:pt x="15601901" y="1339726"/>
                </a:cubicBezTo>
                <a:cubicBezTo>
                  <a:pt x="15111520" y="1363354"/>
                  <a:pt x="15093790" y="1366802"/>
                  <a:pt x="14907866" y="1339726"/>
                </a:cubicBezTo>
                <a:cubicBezTo>
                  <a:pt x="14721942" y="1312650"/>
                  <a:pt x="14504814" y="1317345"/>
                  <a:pt x="14394280" y="1339726"/>
                </a:cubicBezTo>
                <a:cubicBezTo>
                  <a:pt x="14283746" y="1362107"/>
                  <a:pt x="14144545" y="1349072"/>
                  <a:pt x="14061144" y="1339726"/>
                </a:cubicBezTo>
                <a:cubicBezTo>
                  <a:pt x="13977743" y="1330380"/>
                  <a:pt x="13962406" y="1334458"/>
                  <a:pt x="13908456" y="1339726"/>
                </a:cubicBezTo>
                <a:cubicBezTo>
                  <a:pt x="13854506" y="1344994"/>
                  <a:pt x="13391142" y="1341047"/>
                  <a:pt x="13033972" y="1339726"/>
                </a:cubicBezTo>
                <a:cubicBezTo>
                  <a:pt x="12676802" y="1338405"/>
                  <a:pt x="12382410" y="1319785"/>
                  <a:pt x="12159488" y="1339726"/>
                </a:cubicBezTo>
                <a:cubicBezTo>
                  <a:pt x="11936566" y="1359667"/>
                  <a:pt x="11868375" y="1331089"/>
                  <a:pt x="11645903" y="1339726"/>
                </a:cubicBezTo>
                <a:cubicBezTo>
                  <a:pt x="11423431" y="1348363"/>
                  <a:pt x="11439083" y="1323705"/>
                  <a:pt x="11312766" y="1339726"/>
                </a:cubicBezTo>
                <a:cubicBezTo>
                  <a:pt x="11186449" y="1355747"/>
                  <a:pt x="11055495" y="1332789"/>
                  <a:pt x="10799180" y="1339726"/>
                </a:cubicBezTo>
                <a:cubicBezTo>
                  <a:pt x="10542865" y="1346663"/>
                  <a:pt x="10405311" y="1331267"/>
                  <a:pt x="10285595" y="1339726"/>
                </a:cubicBezTo>
                <a:cubicBezTo>
                  <a:pt x="10165880" y="1348185"/>
                  <a:pt x="9486418" y="1290669"/>
                  <a:pt x="9230662" y="1339726"/>
                </a:cubicBezTo>
                <a:cubicBezTo>
                  <a:pt x="8974906" y="1388783"/>
                  <a:pt x="8880392" y="1337182"/>
                  <a:pt x="8536627" y="1339726"/>
                </a:cubicBezTo>
                <a:cubicBezTo>
                  <a:pt x="8192862" y="1342270"/>
                  <a:pt x="8169175" y="1331548"/>
                  <a:pt x="8023041" y="1339726"/>
                </a:cubicBezTo>
                <a:cubicBezTo>
                  <a:pt x="7876907" y="1347904"/>
                  <a:pt x="7251750" y="1367936"/>
                  <a:pt x="6968109" y="1339726"/>
                </a:cubicBezTo>
                <a:cubicBezTo>
                  <a:pt x="6684468" y="1311516"/>
                  <a:pt x="6878641" y="1335128"/>
                  <a:pt x="6815421" y="1339726"/>
                </a:cubicBezTo>
                <a:cubicBezTo>
                  <a:pt x="6752201" y="1344324"/>
                  <a:pt x="6052797" y="1391696"/>
                  <a:pt x="5760488" y="1339726"/>
                </a:cubicBezTo>
                <a:cubicBezTo>
                  <a:pt x="5468179" y="1287756"/>
                  <a:pt x="5221026" y="1316253"/>
                  <a:pt x="5066454" y="1339726"/>
                </a:cubicBezTo>
                <a:cubicBezTo>
                  <a:pt x="4911882" y="1363199"/>
                  <a:pt x="4984701" y="1337009"/>
                  <a:pt x="4913766" y="1339726"/>
                </a:cubicBezTo>
                <a:cubicBezTo>
                  <a:pt x="4842831" y="1342443"/>
                  <a:pt x="4331835" y="1312581"/>
                  <a:pt x="3858833" y="1339726"/>
                </a:cubicBezTo>
                <a:cubicBezTo>
                  <a:pt x="3385831" y="1366871"/>
                  <a:pt x="3774702" y="1335519"/>
                  <a:pt x="3706145" y="1339726"/>
                </a:cubicBezTo>
                <a:cubicBezTo>
                  <a:pt x="3637588" y="1343933"/>
                  <a:pt x="3457477" y="1341846"/>
                  <a:pt x="3373009" y="1339726"/>
                </a:cubicBezTo>
                <a:cubicBezTo>
                  <a:pt x="3288541" y="1337606"/>
                  <a:pt x="3112846" y="1335646"/>
                  <a:pt x="2859423" y="1339726"/>
                </a:cubicBezTo>
                <a:cubicBezTo>
                  <a:pt x="2606000" y="1343806"/>
                  <a:pt x="2603404" y="1323382"/>
                  <a:pt x="2526286" y="1339726"/>
                </a:cubicBezTo>
                <a:cubicBezTo>
                  <a:pt x="2449168" y="1356070"/>
                  <a:pt x="2219922" y="1345168"/>
                  <a:pt x="2012701" y="1339726"/>
                </a:cubicBezTo>
                <a:cubicBezTo>
                  <a:pt x="1805481" y="1334284"/>
                  <a:pt x="1666918" y="1334900"/>
                  <a:pt x="1499115" y="1339726"/>
                </a:cubicBezTo>
                <a:cubicBezTo>
                  <a:pt x="1331312" y="1344552"/>
                  <a:pt x="562325" y="1338625"/>
                  <a:pt x="0" y="1339726"/>
                </a:cubicBezTo>
                <a:cubicBezTo>
                  <a:pt x="8210" y="1113699"/>
                  <a:pt x="15786" y="993228"/>
                  <a:pt x="0" y="710055"/>
                </a:cubicBezTo>
                <a:cubicBezTo>
                  <a:pt x="-15786" y="426882"/>
                  <a:pt x="-13334" y="306413"/>
                  <a:pt x="0" y="0"/>
                </a:cubicBezTo>
                <a:close/>
              </a:path>
              <a:path extrusionOk="0" h="1339726" w="18044903">
                <a:moveTo>
                  <a:pt x="0" y="0"/>
                </a:moveTo>
                <a:cubicBezTo>
                  <a:pt x="160996" y="-3503"/>
                  <a:pt x="299176" y="18913"/>
                  <a:pt x="513586" y="0"/>
                </a:cubicBezTo>
                <a:cubicBezTo>
                  <a:pt x="727996" y="-18913"/>
                  <a:pt x="954908" y="30963"/>
                  <a:pt x="1207620" y="0"/>
                </a:cubicBezTo>
                <a:cubicBezTo>
                  <a:pt x="1460332" y="-30963"/>
                  <a:pt x="1864554" y="-42667"/>
                  <a:pt x="2082104" y="0"/>
                </a:cubicBezTo>
                <a:cubicBezTo>
                  <a:pt x="2299654" y="42667"/>
                  <a:pt x="2867495" y="41553"/>
                  <a:pt x="3137037" y="0"/>
                </a:cubicBezTo>
                <a:cubicBezTo>
                  <a:pt x="3406579" y="-41553"/>
                  <a:pt x="3426095" y="22030"/>
                  <a:pt x="3650623" y="0"/>
                </a:cubicBezTo>
                <a:cubicBezTo>
                  <a:pt x="3875151" y="-22030"/>
                  <a:pt x="4023632" y="-17975"/>
                  <a:pt x="4164208" y="0"/>
                </a:cubicBezTo>
                <a:cubicBezTo>
                  <a:pt x="4304784" y="17975"/>
                  <a:pt x="4485024" y="-23395"/>
                  <a:pt x="4677794" y="0"/>
                </a:cubicBezTo>
                <a:cubicBezTo>
                  <a:pt x="4870564" y="23395"/>
                  <a:pt x="5336551" y="30474"/>
                  <a:pt x="5552278" y="0"/>
                </a:cubicBezTo>
                <a:cubicBezTo>
                  <a:pt x="5768005" y="-30474"/>
                  <a:pt x="5660269" y="-2485"/>
                  <a:pt x="5704965" y="0"/>
                </a:cubicBezTo>
                <a:cubicBezTo>
                  <a:pt x="5749661" y="2485"/>
                  <a:pt x="5813562" y="7407"/>
                  <a:pt x="5857653" y="0"/>
                </a:cubicBezTo>
                <a:cubicBezTo>
                  <a:pt x="5901744" y="-7407"/>
                  <a:pt x="6416574" y="-3365"/>
                  <a:pt x="6732137" y="0"/>
                </a:cubicBezTo>
                <a:cubicBezTo>
                  <a:pt x="7047700" y="3365"/>
                  <a:pt x="6945420" y="-8039"/>
                  <a:pt x="7065274" y="0"/>
                </a:cubicBezTo>
                <a:cubicBezTo>
                  <a:pt x="7185128" y="8039"/>
                  <a:pt x="7767550" y="37535"/>
                  <a:pt x="8120206" y="0"/>
                </a:cubicBezTo>
                <a:cubicBezTo>
                  <a:pt x="8472862" y="-37535"/>
                  <a:pt x="8630250" y="26901"/>
                  <a:pt x="8994690" y="0"/>
                </a:cubicBezTo>
                <a:cubicBezTo>
                  <a:pt x="9359130" y="-26901"/>
                  <a:pt x="9733962" y="-6357"/>
                  <a:pt x="10049623" y="0"/>
                </a:cubicBezTo>
                <a:cubicBezTo>
                  <a:pt x="10365284" y="6357"/>
                  <a:pt x="10148621" y="-7474"/>
                  <a:pt x="10202311" y="0"/>
                </a:cubicBezTo>
                <a:cubicBezTo>
                  <a:pt x="10256001" y="7474"/>
                  <a:pt x="10877148" y="1394"/>
                  <a:pt x="11076794" y="0"/>
                </a:cubicBezTo>
                <a:cubicBezTo>
                  <a:pt x="11276440" y="-1394"/>
                  <a:pt x="11611765" y="-11793"/>
                  <a:pt x="11770829" y="0"/>
                </a:cubicBezTo>
                <a:cubicBezTo>
                  <a:pt x="11929894" y="11793"/>
                  <a:pt x="12273213" y="-17585"/>
                  <a:pt x="12645313" y="0"/>
                </a:cubicBezTo>
                <a:cubicBezTo>
                  <a:pt x="13017413" y="17585"/>
                  <a:pt x="12917474" y="14415"/>
                  <a:pt x="13158898" y="0"/>
                </a:cubicBezTo>
                <a:cubicBezTo>
                  <a:pt x="13400323" y="-14415"/>
                  <a:pt x="13837051" y="-46738"/>
                  <a:pt x="14213831" y="0"/>
                </a:cubicBezTo>
                <a:cubicBezTo>
                  <a:pt x="14590611" y="46738"/>
                  <a:pt x="14422734" y="-6788"/>
                  <a:pt x="14546968" y="0"/>
                </a:cubicBezTo>
                <a:cubicBezTo>
                  <a:pt x="14671202" y="6788"/>
                  <a:pt x="14897679" y="-6844"/>
                  <a:pt x="15060554" y="0"/>
                </a:cubicBezTo>
                <a:cubicBezTo>
                  <a:pt x="15223429" y="6844"/>
                  <a:pt x="15758299" y="-4365"/>
                  <a:pt x="16115486" y="0"/>
                </a:cubicBezTo>
                <a:cubicBezTo>
                  <a:pt x="16472673" y="4365"/>
                  <a:pt x="16227338" y="-7090"/>
                  <a:pt x="16268174" y="0"/>
                </a:cubicBezTo>
                <a:cubicBezTo>
                  <a:pt x="16309010" y="7090"/>
                  <a:pt x="16947008" y="7313"/>
                  <a:pt x="17142658" y="0"/>
                </a:cubicBezTo>
                <a:cubicBezTo>
                  <a:pt x="17338308" y="-7313"/>
                  <a:pt x="17844408" y="-42994"/>
                  <a:pt x="18044903" y="0"/>
                </a:cubicBezTo>
                <a:cubicBezTo>
                  <a:pt x="18030870" y="238390"/>
                  <a:pt x="18072204" y="425121"/>
                  <a:pt x="18044903" y="669863"/>
                </a:cubicBezTo>
                <a:cubicBezTo>
                  <a:pt x="18017602" y="914605"/>
                  <a:pt x="18024155" y="1011428"/>
                  <a:pt x="18044903" y="1339726"/>
                </a:cubicBezTo>
                <a:cubicBezTo>
                  <a:pt x="17730546" y="1367720"/>
                  <a:pt x="17491476" y="1378843"/>
                  <a:pt x="17170419" y="1339726"/>
                </a:cubicBezTo>
                <a:cubicBezTo>
                  <a:pt x="16849362" y="1300609"/>
                  <a:pt x="16659742" y="1319749"/>
                  <a:pt x="16476385" y="1339726"/>
                </a:cubicBezTo>
                <a:cubicBezTo>
                  <a:pt x="16293028" y="1359703"/>
                  <a:pt x="15677965" y="1385857"/>
                  <a:pt x="15421452" y="1339726"/>
                </a:cubicBezTo>
                <a:cubicBezTo>
                  <a:pt x="15164939" y="1293595"/>
                  <a:pt x="15216974" y="1346541"/>
                  <a:pt x="15088315" y="1339726"/>
                </a:cubicBezTo>
                <a:cubicBezTo>
                  <a:pt x="14959656" y="1332911"/>
                  <a:pt x="15005506" y="1340298"/>
                  <a:pt x="14935627" y="1339726"/>
                </a:cubicBezTo>
                <a:cubicBezTo>
                  <a:pt x="14865748" y="1339154"/>
                  <a:pt x="14594812" y="1323651"/>
                  <a:pt x="14422042" y="1339726"/>
                </a:cubicBezTo>
                <a:cubicBezTo>
                  <a:pt x="14249273" y="1355801"/>
                  <a:pt x="13924136" y="1314144"/>
                  <a:pt x="13728007" y="1339726"/>
                </a:cubicBezTo>
                <a:cubicBezTo>
                  <a:pt x="13531879" y="1365308"/>
                  <a:pt x="13609441" y="1342959"/>
                  <a:pt x="13575319" y="1339726"/>
                </a:cubicBezTo>
                <a:cubicBezTo>
                  <a:pt x="13541197" y="1336493"/>
                  <a:pt x="13493334" y="1334635"/>
                  <a:pt x="13422632" y="1339726"/>
                </a:cubicBezTo>
                <a:cubicBezTo>
                  <a:pt x="13351930" y="1344817"/>
                  <a:pt x="13156389" y="1348055"/>
                  <a:pt x="13089495" y="1339726"/>
                </a:cubicBezTo>
                <a:cubicBezTo>
                  <a:pt x="13022601" y="1331397"/>
                  <a:pt x="12714618" y="1361904"/>
                  <a:pt x="12575909" y="1339726"/>
                </a:cubicBezTo>
                <a:cubicBezTo>
                  <a:pt x="12437200" y="1317548"/>
                  <a:pt x="11734237" y="1339448"/>
                  <a:pt x="11520977" y="1339726"/>
                </a:cubicBezTo>
                <a:cubicBezTo>
                  <a:pt x="11307717" y="1340004"/>
                  <a:pt x="11272522" y="1344337"/>
                  <a:pt x="11187840" y="1339726"/>
                </a:cubicBezTo>
                <a:cubicBezTo>
                  <a:pt x="11103158" y="1335115"/>
                  <a:pt x="11005474" y="1346390"/>
                  <a:pt x="10854703" y="1339726"/>
                </a:cubicBezTo>
                <a:cubicBezTo>
                  <a:pt x="10703932" y="1333062"/>
                  <a:pt x="10511556" y="1314886"/>
                  <a:pt x="10341117" y="1339726"/>
                </a:cubicBezTo>
                <a:cubicBezTo>
                  <a:pt x="10170678" y="1364566"/>
                  <a:pt x="10112101" y="1323618"/>
                  <a:pt x="10007981" y="1339726"/>
                </a:cubicBezTo>
                <a:cubicBezTo>
                  <a:pt x="9903861" y="1355834"/>
                  <a:pt x="9715062" y="1349468"/>
                  <a:pt x="9494395" y="1339726"/>
                </a:cubicBezTo>
                <a:cubicBezTo>
                  <a:pt x="9273728" y="1329984"/>
                  <a:pt x="8654347" y="1354501"/>
                  <a:pt x="8439462" y="1339726"/>
                </a:cubicBezTo>
                <a:cubicBezTo>
                  <a:pt x="8224577" y="1324951"/>
                  <a:pt x="7636560" y="1333528"/>
                  <a:pt x="7384530" y="1339726"/>
                </a:cubicBezTo>
                <a:cubicBezTo>
                  <a:pt x="7132500" y="1345924"/>
                  <a:pt x="7305019" y="1334310"/>
                  <a:pt x="7231842" y="1339726"/>
                </a:cubicBezTo>
                <a:cubicBezTo>
                  <a:pt x="7158665" y="1345142"/>
                  <a:pt x="6864653" y="1337037"/>
                  <a:pt x="6718256" y="1339726"/>
                </a:cubicBezTo>
                <a:cubicBezTo>
                  <a:pt x="6571859" y="1342415"/>
                  <a:pt x="6617146" y="1339744"/>
                  <a:pt x="6565569" y="1339726"/>
                </a:cubicBezTo>
                <a:cubicBezTo>
                  <a:pt x="6513992" y="1339708"/>
                  <a:pt x="6475702" y="1334300"/>
                  <a:pt x="6412881" y="1339726"/>
                </a:cubicBezTo>
                <a:cubicBezTo>
                  <a:pt x="6350060" y="1345152"/>
                  <a:pt x="5724301" y="1374802"/>
                  <a:pt x="5538397" y="1339726"/>
                </a:cubicBezTo>
                <a:cubicBezTo>
                  <a:pt x="5352493" y="1304650"/>
                  <a:pt x="5075240" y="1327820"/>
                  <a:pt x="4663913" y="1339726"/>
                </a:cubicBezTo>
                <a:cubicBezTo>
                  <a:pt x="4252586" y="1351632"/>
                  <a:pt x="4159682" y="1365998"/>
                  <a:pt x="3789430" y="1339726"/>
                </a:cubicBezTo>
                <a:cubicBezTo>
                  <a:pt x="3419178" y="1313454"/>
                  <a:pt x="3393313" y="1345949"/>
                  <a:pt x="3095395" y="1339726"/>
                </a:cubicBezTo>
                <a:cubicBezTo>
                  <a:pt x="2797477" y="1333503"/>
                  <a:pt x="2994312" y="1346468"/>
                  <a:pt x="2942707" y="1339726"/>
                </a:cubicBezTo>
                <a:cubicBezTo>
                  <a:pt x="2891102" y="1332984"/>
                  <a:pt x="2827455" y="1334460"/>
                  <a:pt x="2790020" y="1339726"/>
                </a:cubicBezTo>
                <a:cubicBezTo>
                  <a:pt x="2752585" y="1344992"/>
                  <a:pt x="2669243" y="1345687"/>
                  <a:pt x="2637332" y="1339726"/>
                </a:cubicBezTo>
                <a:cubicBezTo>
                  <a:pt x="2605421" y="1333765"/>
                  <a:pt x="2532313" y="1346348"/>
                  <a:pt x="2484644" y="1339726"/>
                </a:cubicBezTo>
                <a:cubicBezTo>
                  <a:pt x="2436975" y="1333104"/>
                  <a:pt x="2393474" y="1343399"/>
                  <a:pt x="2331957" y="1339726"/>
                </a:cubicBezTo>
                <a:cubicBezTo>
                  <a:pt x="2270440" y="1336053"/>
                  <a:pt x="2215651" y="1337790"/>
                  <a:pt x="2179269" y="1339726"/>
                </a:cubicBezTo>
                <a:cubicBezTo>
                  <a:pt x="2142887" y="1341662"/>
                  <a:pt x="1489736" y="1350474"/>
                  <a:pt x="1124336" y="1339726"/>
                </a:cubicBezTo>
                <a:cubicBezTo>
                  <a:pt x="758936" y="1328978"/>
                  <a:pt x="1012910" y="1332723"/>
                  <a:pt x="971649" y="1339726"/>
                </a:cubicBezTo>
                <a:cubicBezTo>
                  <a:pt x="930388" y="1346729"/>
                  <a:pt x="288504" y="1364047"/>
                  <a:pt x="0" y="1339726"/>
                </a:cubicBezTo>
                <a:cubicBezTo>
                  <a:pt x="-25589" y="1091085"/>
                  <a:pt x="6174" y="923759"/>
                  <a:pt x="0" y="710055"/>
                </a:cubicBezTo>
                <a:cubicBezTo>
                  <a:pt x="-6174" y="496351"/>
                  <a:pt x="-3030" y="254614"/>
                  <a:pt x="0" y="0"/>
                </a:cubicBezTo>
                <a:close/>
              </a:path>
            </a:pathLst>
          </a:custGeom>
          <a:solidFill>
            <a:schemeClr val="lt1"/>
          </a:solidFill>
          <a:ln cap="flat" cmpd="sng" w="38100">
            <a:solidFill>
              <a:schemeClr val="dk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200000"/>
              </a:lnSpc>
              <a:spcBef>
                <a:spcPts val="0"/>
              </a:spcBef>
              <a:spcAft>
                <a:spcPts val="0"/>
              </a:spcAft>
              <a:buClr>
                <a:schemeClr val="dk2"/>
              </a:buClr>
              <a:buSzPts val="6600"/>
              <a:buFont typeface="Arial"/>
              <a:buNone/>
            </a:pPr>
            <a:r>
              <a:rPr b="1" lang="en-US" sz="6600">
                <a:solidFill>
                  <a:schemeClr val="dk2"/>
                </a:solidFill>
                <a:latin typeface="Lato Light"/>
                <a:ea typeface="Lato Light"/>
                <a:cs typeface="Lato Light"/>
                <a:sym typeface="Lato Light"/>
              </a:rPr>
              <a:t>Learning Objectives</a:t>
            </a:r>
            <a:r>
              <a:rPr b="1" lang="en-US" sz="6600">
                <a:solidFill>
                  <a:srgbClr val="595959"/>
                </a:solidFill>
                <a:latin typeface="Lato Light"/>
                <a:ea typeface="Lato Light"/>
                <a:cs typeface="Lato Light"/>
                <a:sym typeface="Lato Light"/>
              </a:rPr>
              <a:t>: </a:t>
            </a:r>
            <a:endParaRPr/>
          </a:p>
          <a:p>
            <a:pPr indent="-857250" lvl="0" marL="857250" marR="0" rtl="0" algn="l">
              <a:lnSpc>
                <a:spcPct val="200000"/>
              </a:lnSpc>
              <a:spcBef>
                <a:spcPts val="1120"/>
              </a:spcBef>
              <a:spcAft>
                <a:spcPts val="0"/>
              </a:spcAft>
              <a:buClr>
                <a:srgbClr val="7F7F7F"/>
              </a:buClr>
              <a:buSzPts val="5600"/>
              <a:buFont typeface="Arial"/>
              <a:buChar char="•"/>
            </a:pPr>
            <a:r>
              <a:rPr lang="en-US" sz="5600">
                <a:solidFill>
                  <a:srgbClr val="7F7F7F"/>
                </a:solidFill>
                <a:latin typeface="Open Sans Light"/>
                <a:ea typeface="Open Sans Light"/>
                <a:cs typeface="Open Sans Light"/>
                <a:sym typeface="Open Sans Light"/>
              </a:rPr>
              <a:t>To </a:t>
            </a:r>
            <a:r>
              <a:rPr lang="en-US" sz="5600">
                <a:solidFill>
                  <a:schemeClr val="dk2"/>
                </a:solidFill>
                <a:latin typeface="Open Sans Light"/>
                <a:ea typeface="Open Sans Light"/>
                <a:cs typeface="Open Sans Light"/>
                <a:sym typeface="Open Sans Light"/>
              </a:rPr>
              <a:t>understand</a:t>
            </a:r>
            <a:r>
              <a:rPr lang="en-US" sz="5600">
                <a:solidFill>
                  <a:srgbClr val="7F7F7F"/>
                </a:solidFill>
                <a:latin typeface="Open Sans Light"/>
                <a:ea typeface="Open Sans Light"/>
                <a:cs typeface="Open Sans Light"/>
                <a:sym typeface="Open Sans Light"/>
              </a:rPr>
              <a:t> the concept and importance of data packets in data transmission</a:t>
            </a:r>
            <a:endParaRPr/>
          </a:p>
          <a:p>
            <a:pPr indent="-857250" lvl="0" marL="857250" marR="0" rtl="0" algn="l">
              <a:lnSpc>
                <a:spcPct val="200000"/>
              </a:lnSpc>
              <a:spcBef>
                <a:spcPts val="1120"/>
              </a:spcBef>
              <a:spcAft>
                <a:spcPts val="0"/>
              </a:spcAft>
              <a:buClr>
                <a:srgbClr val="7F7F7F"/>
              </a:buClr>
              <a:buSzPts val="5600"/>
              <a:buFont typeface="Arial"/>
              <a:buChar char="•"/>
            </a:pPr>
            <a:r>
              <a:rPr lang="en-US" sz="5600">
                <a:solidFill>
                  <a:srgbClr val="7F7F7F"/>
                </a:solidFill>
                <a:latin typeface="Open Sans Light"/>
                <a:ea typeface="Open Sans Light"/>
                <a:cs typeface="Open Sans Light"/>
                <a:sym typeface="Open Sans Light"/>
              </a:rPr>
              <a:t>To </a:t>
            </a:r>
            <a:r>
              <a:rPr lang="en-US" sz="5600">
                <a:solidFill>
                  <a:schemeClr val="dk2"/>
                </a:solidFill>
                <a:latin typeface="Open Sans Light"/>
                <a:ea typeface="Open Sans Light"/>
                <a:cs typeface="Open Sans Light"/>
                <a:sym typeface="Open Sans Light"/>
              </a:rPr>
              <a:t>analyse</a:t>
            </a:r>
            <a:r>
              <a:rPr lang="en-US" sz="5600">
                <a:solidFill>
                  <a:srgbClr val="7F7F7F"/>
                </a:solidFill>
                <a:latin typeface="Open Sans Light"/>
                <a:ea typeface="Open Sans Light"/>
                <a:cs typeface="Open Sans Light"/>
                <a:sym typeface="Open Sans Light"/>
              </a:rPr>
              <a:t> why data is divided into packets for transmission</a:t>
            </a:r>
            <a:endParaRPr/>
          </a:p>
        </p:txBody>
      </p:sp>
      <p:sp>
        <p:nvSpPr>
          <p:cNvPr id="40" name="Google Shape;40;p6"/>
          <p:cNvSpPr txBox="1"/>
          <p:nvPr/>
        </p:nvSpPr>
        <p:spPr>
          <a:xfrm>
            <a:off x="1393567" y="1103796"/>
            <a:ext cx="10566718" cy="6463308"/>
          </a:xfrm>
          <a:prstGeom prst="rect">
            <a:avLst/>
          </a:prstGeom>
          <a:noFill/>
          <a:ln>
            <a:noFill/>
          </a:ln>
        </p:spPr>
        <p:txBody>
          <a:bodyPr anchorCtr="0" anchor="b" bIns="45700" lIns="91425" spcFirstLastPara="1" rIns="91425" wrap="square" tIns="45700">
            <a:spAutoFit/>
          </a:bodyPr>
          <a:lstStyle/>
          <a:p>
            <a:pPr indent="0" lvl="0" marL="0" marR="0" rtl="0" algn="l">
              <a:spcBef>
                <a:spcPts val="0"/>
              </a:spcBef>
              <a:spcAft>
                <a:spcPts val="0"/>
              </a:spcAft>
              <a:buNone/>
            </a:pPr>
            <a:r>
              <a:rPr b="1" lang="en-US" sz="13800">
                <a:solidFill>
                  <a:schemeClr val="dk2"/>
                </a:solidFill>
                <a:latin typeface="Poppins"/>
                <a:ea typeface="Poppins"/>
                <a:cs typeface="Poppins"/>
                <a:sym typeface="Poppins"/>
              </a:rPr>
              <a:t>Year 10 GCSE:</a:t>
            </a:r>
            <a:endParaRPr/>
          </a:p>
          <a:p>
            <a:pPr indent="0" lvl="0" marL="0" marR="0" rtl="0" algn="l">
              <a:spcBef>
                <a:spcPts val="0"/>
              </a:spcBef>
              <a:spcAft>
                <a:spcPts val="0"/>
              </a:spcAft>
              <a:buNone/>
            </a:pPr>
            <a:r>
              <a:rPr b="1" lang="en-US" sz="13800">
                <a:solidFill>
                  <a:schemeClr val="dk2"/>
                </a:solidFill>
                <a:latin typeface="Poppins"/>
                <a:ea typeface="Poppins"/>
                <a:cs typeface="Poppins"/>
                <a:sym typeface="Poppins"/>
              </a:rPr>
              <a:t>Computer Science</a:t>
            </a:r>
            <a:endParaRPr b="1" sz="9600">
              <a:solidFill>
                <a:schemeClr val="dk2"/>
              </a:solidFill>
              <a:latin typeface="Poppins"/>
              <a:ea typeface="Poppins"/>
              <a:cs typeface="Poppins"/>
              <a:sym typeface="Poppins"/>
            </a:endParaRPr>
          </a:p>
        </p:txBody>
      </p:sp>
      <p:sp>
        <p:nvSpPr>
          <p:cNvPr id="41" name="Google Shape;41;p6"/>
          <p:cNvSpPr txBox="1"/>
          <p:nvPr/>
        </p:nvSpPr>
        <p:spPr>
          <a:xfrm>
            <a:off x="1393567" y="7681311"/>
            <a:ext cx="10763192" cy="4409797"/>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b="1" lang="en-US" sz="4800">
                <a:solidFill>
                  <a:srgbClr val="415D79"/>
                </a:solidFill>
                <a:latin typeface="Poppins"/>
                <a:ea typeface="Poppins"/>
                <a:cs typeface="Poppins"/>
                <a:sym typeface="Poppins"/>
              </a:rPr>
              <a:t>Unit 2 of 6: Data Transmission</a:t>
            </a:r>
            <a:endParaRPr/>
          </a:p>
          <a:p>
            <a:pPr indent="0" lvl="0" marL="0" marR="0" rtl="0" algn="l">
              <a:lnSpc>
                <a:spcPct val="150000"/>
              </a:lnSpc>
              <a:spcBef>
                <a:spcPts val="0"/>
              </a:spcBef>
              <a:spcAft>
                <a:spcPts val="0"/>
              </a:spcAft>
              <a:buNone/>
            </a:pPr>
            <a:r>
              <a:rPr lang="en-US" sz="4800" u="sng">
                <a:solidFill>
                  <a:srgbClr val="415D79"/>
                </a:solidFill>
                <a:latin typeface="Poppins"/>
                <a:ea typeface="Poppins"/>
                <a:cs typeface="Poppins"/>
                <a:sym typeface="Poppins"/>
              </a:rPr>
              <a:t>Topic 1: Types and Methods of Data Transmission</a:t>
            </a:r>
            <a:endParaRPr/>
          </a:p>
          <a:p>
            <a:pPr indent="0" lvl="0" marL="0" marR="0" rtl="0" algn="l">
              <a:lnSpc>
                <a:spcPct val="150000"/>
              </a:lnSpc>
              <a:spcBef>
                <a:spcPts val="0"/>
              </a:spcBef>
              <a:spcAft>
                <a:spcPts val="0"/>
              </a:spcAft>
              <a:buNone/>
            </a:pPr>
            <a:r>
              <a:rPr lang="en-US" sz="4800">
                <a:solidFill>
                  <a:srgbClr val="415D79"/>
                </a:solidFill>
                <a:latin typeface="Poppins"/>
                <a:ea typeface="Poppins"/>
                <a:cs typeface="Poppins"/>
                <a:sym typeface="Poppins"/>
              </a:rPr>
              <a:t>Topic 2: Methods of Error Correction</a:t>
            </a: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 name="Shape 46"/>
        <p:cNvGrpSpPr/>
        <p:nvPr/>
      </p:nvGrpSpPr>
      <p:grpSpPr>
        <a:xfrm>
          <a:off x="0" y="0"/>
          <a:ext cx="0" cy="0"/>
          <a:chOff x="0" y="0"/>
          <a:chExt cx="0" cy="0"/>
        </a:xfrm>
      </p:grpSpPr>
      <p:sp>
        <p:nvSpPr>
          <p:cNvPr id="47" name="Google Shape;47;p7"/>
          <p:cNvSpPr txBox="1"/>
          <p:nvPr/>
        </p:nvSpPr>
        <p:spPr>
          <a:xfrm>
            <a:off x="5230843" y="1973885"/>
            <a:ext cx="15544801" cy="9319603"/>
          </a:xfrm>
          <a:prstGeom prst="rect">
            <a:avLst/>
          </a:prstGeom>
          <a:solidFill>
            <a:srgbClr val="FFECBA"/>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chemeClr val="dk2"/>
              </a:buClr>
              <a:buSzPts val="13800"/>
              <a:buFont typeface="Arial"/>
              <a:buNone/>
            </a:pPr>
            <a:r>
              <a:rPr lang="en-US" sz="13800" u="sng">
                <a:solidFill>
                  <a:schemeClr val="dk2"/>
                </a:solidFill>
                <a:latin typeface="Lato Light"/>
                <a:ea typeface="Lato Light"/>
                <a:cs typeface="Lato Light"/>
                <a:sym typeface="Lato Light"/>
              </a:rPr>
              <a:t>Predict:</a:t>
            </a:r>
            <a:r>
              <a:rPr lang="en-US" sz="13800">
                <a:solidFill>
                  <a:schemeClr val="dk2"/>
                </a:solidFill>
                <a:latin typeface="Lato Light"/>
                <a:ea typeface="Lato Light"/>
                <a:cs typeface="Lato Light"/>
                <a:sym typeface="Lato Light"/>
              </a:rPr>
              <a:t> </a:t>
            </a:r>
            <a:r>
              <a:rPr b="1" lang="en-US" sz="13800">
                <a:solidFill>
                  <a:schemeClr val="dk2"/>
                </a:solidFill>
                <a:latin typeface="Lato Light"/>
                <a:ea typeface="Lato Light"/>
                <a:cs typeface="Lato Light"/>
                <a:sym typeface="Lato Light"/>
              </a:rPr>
              <a:t>How </a:t>
            </a:r>
            <a:r>
              <a:rPr lang="en-US" sz="13800">
                <a:solidFill>
                  <a:schemeClr val="dk2"/>
                </a:solidFill>
                <a:latin typeface="Lato Light"/>
                <a:ea typeface="Lato Light"/>
                <a:cs typeface="Lato Light"/>
                <a:sym typeface="Lato Light"/>
              </a:rPr>
              <a:t>do you </a:t>
            </a:r>
            <a:r>
              <a:rPr lang="en-US" sz="13800">
                <a:solidFill>
                  <a:srgbClr val="7030A0"/>
                </a:solidFill>
                <a:latin typeface="Lato Light"/>
                <a:ea typeface="Lato Light"/>
                <a:cs typeface="Lato Light"/>
                <a:sym typeface="Lato Light"/>
              </a:rPr>
              <a:t>think</a:t>
            </a:r>
            <a:r>
              <a:rPr lang="en-US" sz="13800">
                <a:solidFill>
                  <a:schemeClr val="dk2"/>
                </a:solidFill>
                <a:latin typeface="Lato Light"/>
                <a:ea typeface="Lato Light"/>
                <a:cs typeface="Lato Light"/>
                <a:sym typeface="Lato Light"/>
              </a:rPr>
              <a:t> we send data to each other?</a:t>
            </a:r>
            <a:endParaRPr/>
          </a:p>
        </p:txBody>
      </p:sp>
    </p:spTree>
  </p:cSld>
  <p:clrMapOvr>
    <a:masterClrMapping/>
  </p:clrMapOvr>
  <p:transition spd="slow">
    <p:push/>
  </p:transition>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 name="Shape 52"/>
        <p:cNvGrpSpPr/>
        <p:nvPr/>
      </p:nvGrpSpPr>
      <p:grpSpPr>
        <a:xfrm>
          <a:off x="0" y="0"/>
          <a:ext cx="0" cy="0"/>
          <a:chOff x="0" y="0"/>
          <a:chExt cx="0" cy="0"/>
        </a:xfrm>
      </p:grpSpPr>
      <p:sp>
        <p:nvSpPr>
          <p:cNvPr id="53" name="Google Shape;53;p8"/>
          <p:cNvSpPr txBox="1"/>
          <p:nvPr/>
        </p:nvSpPr>
        <p:spPr>
          <a:xfrm>
            <a:off x="390243" y="2207991"/>
            <a:ext cx="16563304" cy="2610843"/>
          </a:xfrm>
          <a:prstGeom prst="rect">
            <a:avLst/>
          </a:prstGeom>
          <a:no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lang="en-US" sz="2800">
                <a:solidFill>
                  <a:schemeClr val="dk2"/>
                </a:solidFill>
                <a:latin typeface="Calibri"/>
                <a:ea typeface="Calibri"/>
                <a:cs typeface="Calibri"/>
                <a:sym typeface="Calibri"/>
              </a:rPr>
              <a:t>When you're </a:t>
            </a:r>
            <a:r>
              <a:rPr b="1" lang="en-US" sz="2800">
                <a:solidFill>
                  <a:schemeClr val="dk2"/>
                </a:solidFill>
                <a:latin typeface="Calibri"/>
                <a:ea typeface="Calibri"/>
                <a:cs typeface="Calibri"/>
                <a:sym typeface="Calibri"/>
              </a:rPr>
              <a:t>sending</a:t>
            </a:r>
            <a:r>
              <a:rPr lang="en-US" sz="2800">
                <a:solidFill>
                  <a:schemeClr val="dk2"/>
                </a:solidFill>
                <a:latin typeface="Calibri"/>
                <a:ea typeface="Calibri"/>
                <a:cs typeface="Calibri"/>
                <a:sym typeface="Calibri"/>
              </a:rPr>
              <a:t> or </a:t>
            </a:r>
            <a:r>
              <a:rPr b="1" lang="en-US" sz="2800">
                <a:solidFill>
                  <a:schemeClr val="dk2"/>
                </a:solidFill>
                <a:latin typeface="Calibri"/>
                <a:ea typeface="Calibri"/>
                <a:cs typeface="Calibri"/>
                <a:sym typeface="Calibri"/>
              </a:rPr>
              <a:t>receiving</a:t>
            </a:r>
            <a:r>
              <a:rPr lang="en-US" sz="2800">
                <a:solidFill>
                  <a:schemeClr val="dk2"/>
                </a:solidFill>
                <a:latin typeface="Calibri"/>
                <a:ea typeface="Calibri"/>
                <a:cs typeface="Calibri"/>
                <a:sym typeface="Calibri"/>
              </a:rPr>
              <a:t> something over the internet, like an email, a video, or a webpage, that information isn't sent all at once. Instead, it's </a:t>
            </a:r>
            <a:r>
              <a:rPr lang="en-US" sz="2800" u="sng">
                <a:solidFill>
                  <a:schemeClr val="dk2"/>
                </a:solidFill>
                <a:latin typeface="Calibri"/>
                <a:ea typeface="Calibri"/>
                <a:cs typeface="Calibri"/>
                <a:sym typeface="Calibri"/>
              </a:rPr>
              <a:t>broken down into smaller pieces, known as data packets</a:t>
            </a:r>
            <a:r>
              <a:rPr lang="en-US" sz="2800">
                <a:solidFill>
                  <a:schemeClr val="dk2"/>
                </a:solidFill>
                <a:latin typeface="Calibri"/>
                <a:ea typeface="Calibri"/>
                <a:cs typeface="Calibri"/>
                <a:sym typeface="Calibri"/>
              </a:rPr>
              <a:t>. You can think of data packets like individual pieces of a jigsaw puzzle. Each piece carries a part of the picture (or data), and when all the pieces are put together at their destination, they recreate the original image (or data).</a:t>
            </a:r>
            <a:endParaRPr sz="3200">
              <a:solidFill>
                <a:schemeClr val="dk2"/>
              </a:solidFill>
              <a:latin typeface="Calibri"/>
              <a:ea typeface="Calibri"/>
              <a:cs typeface="Calibri"/>
              <a:sym typeface="Calibri"/>
            </a:endParaRPr>
          </a:p>
        </p:txBody>
      </p:sp>
      <p:sp>
        <p:nvSpPr>
          <p:cNvPr id="54" name="Google Shape;54;p8"/>
          <p:cNvSpPr txBox="1"/>
          <p:nvPr/>
        </p:nvSpPr>
        <p:spPr>
          <a:xfrm>
            <a:off x="390244" y="260338"/>
            <a:ext cx="12638520" cy="1748171"/>
          </a:xfrm>
          <a:prstGeom prst="rect">
            <a:avLst/>
          </a:prstGeom>
          <a:solidFill>
            <a:srgbClr val="E0F5F9"/>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b="1" lang="en-US" sz="8000">
                <a:solidFill>
                  <a:schemeClr val="dk2"/>
                </a:solidFill>
                <a:latin typeface="Lato Light"/>
                <a:ea typeface="Lato Light"/>
                <a:cs typeface="Lato Light"/>
                <a:sym typeface="Lato Light"/>
              </a:rPr>
              <a:t>Data Packets</a:t>
            </a:r>
            <a:endParaRPr sz="8000">
              <a:solidFill>
                <a:schemeClr val="dk2"/>
              </a:solidFill>
              <a:latin typeface="Lato Light"/>
              <a:ea typeface="Lato Light"/>
              <a:cs typeface="Lato Light"/>
              <a:sym typeface="Lato Light"/>
            </a:endParaRPr>
          </a:p>
        </p:txBody>
      </p:sp>
      <p:sp>
        <p:nvSpPr>
          <p:cNvPr id="55" name="Google Shape;55;p8"/>
          <p:cNvSpPr txBox="1"/>
          <p:nvPr/>
        </p:nvSpPr>
        <p:spPr>
          <a:xfrm>
            <a:off x="390243" y="5044196"/>
            <a:ext cx="16563304" cy="923330"/>
          </a:xfrm>
          <a:prstGeom prst="rect">
            <a:avLst/>
          </a:prstGeom>
          <a:no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5400">
                <a:solidFill>
                  <a:schemeClr val="dk2"/>
                </a:solidFill>
                <a:latin typeface="Calibri"/>
                <a:ea typeface="Calibri"/>
                <a:cs typeface="Calibri"/>
                <a:sym typeface="Calibri"/>
              </a:rPr>
              <a:t>Structure of Data Packets</a:t>
            </a:r>
            <a:endParaRPr/>
          </a:p>
        </p:txBody>
      </p:sp>
      <p:sp>
        <p:nvSpPr>
          <p:cNvPr id="56" name="Google Shape;56;p8"/>
          <p:cNvSpPr txBox="1"/>
          <p:nvPr/>
        </p:nvSpPr>
        <p:spPr>
          <a:xfrm>
            <a:off x="17246218" y="108063"/>
            <a:ext cx="6954626" cy="13674962"/>
          </a:xfrm>
          <a:prstGeom prst="rect">
            <a:avLst/>
          </a:prstGeom>
          <a:solidFill>
            <a:srgbClr val="FFF5DC"/>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None/>
            </a:pPr>
            <a:r>
              <a:rPr b="1" lang="en-US" sz="5200" u="sng">
                <a:solidFill>
                  <a:schemeClr val="dk2"/>
                </a:solidFill>
                <a:latin typeface="Calibri"/>
                <a:ea typeface="Calibri"/>
                <a:cs typeface="Calibri"/>
                <a:sym typeface="Calibri"/>
              </a:rPr>
              <a:t>Comprehension Questions</a:t>
            </a:r>
            <a:endParaRPr/>
          </a:p>
          <a:p>
            <a:pPr indent="-1028443" lvl="0" marL="1028443" marR="0" rtl="0" algn="l">
              <a:lnSpc>
                <a:spcPct val="150000"/>
              </a:lnSpc>
              <a:spcBef>
                <a:spcPts val="0"/>
              </a:spcBef>
              <a:spcAft>
                <a:spcPts val="0"/>
              </a:spcAft>
              <a:buClr>
                <a:schemeClr val="dk2"/>
              </a:buClr>
              <a:buSzPts val="5200"/>
              <a:buFont typeface="Calibri"/>
              <a:buAutoNum type="arabicPeriod"/>
            </a:pPr>
            <a:r>
              <a:rPr b="1" lang="en-US" sz="5200">
                <a:solidFill>
                  <a:schemeClr val="dk2"/>
                </a:solidFill>
                <a:latin typeface="Calibri"/>
                <a:ea typeface="Calibri"/>
                <a:cs typeface="Calibri"/>
                <a:sym typeface="Calibri"/>
              </a:rPr>
              <a:t>Define</a:t>
            </a:r>
            <a:r>
              <a:rPr lang="en-US" sz="5200">
                <a:solidFill>
                  <a:schemeClr val="dk2"/>
                </a:solidFill>
                <a:latin typeface="Calibri"/>
                <a:ea typeface="Calibri"/>
                <a:cs typeface="Calibri"/>
                <a:sym typeface="Calibri"/>
              </a:rPr>
              <a:t>, what is a </a:t>
            </a:r>
            <a:r>
              <a:rPr lang="en-US" sz="5200">
                <a:solidFill>
                  <a:srgbClr val="1C8256"/>
                </a:solidFill>
                <a:latin typeface="Calibri"/>
                <a:ea typeface="Calibri"/>
                <a:cs typeface="Calibri"/>
                <a:sym typeface="Calibri"/>
              </a:rPr>
              <a:t>data packet</a:t>
            </a:r>
            <a:r>
              <a:rPr lang="en-US" sz="5200">
                <a:solidFill>
                  <a:schemeClr val="dk2"/>
                </a:solidFill>
                <a:latin typeface="Calibri"/>
                <a:ea typeface="Calibri"/>
                <a:cs typeface="Calibri"/>
                <a:sym typeface="Calibri"/>
              </a:rPr>
              <a:t>?</a:t>
            </a:r>
            <a:endParaRPr/>
          </a:p>
          <a:p>
            <a:pPr indent="-1028443" lvl="0" marL="1028443" marR="0" rtl="0" algn="l">
              <a:lnSpc>
                <a:spcPct val="150000"/>
              </a:lnSpc>
              <a:spcBef>
                <a:spcPts val="0"/>
              </a:spcBef>
              <a:spcAft>
                <a:spcPts val="0"/>
              </a:spcAft>
              <a:buClr>
                <a:schemeClr val="dk2"/>
              </a:buClr>
              <a:buSzPts val="5200"/>
              <a:buFont typeface="Calibri"/>
              <a:buAutoNum type="arabicPeriod"/>
            </a:pPr>
            <a:r>
              <a:rPr b="1" lang="en-US" sz="5200">
                <a:solidFill>
                  <a:schemeClr val="dk2"/>
                </a:solidFill>
                <a:latin typeface="Calibri"/>
                <a:ea typeface="Calibri"/>
                <a:cs typeface="Calibri"/>
                <a:sym typeface="Calibri"/>
              </a:rPr>
              <a:t>How</a:t>
            </a:r>
            <a:r>
              <a:rPr lang="en-US" sz="5200">
                <a:solidFill>
                  <a:schemeClr val="dk2"/>
                </a:solidFill>
                <a:latin typeface="Calibri"/>
                <a:ea typeface="Calibri"/>
                <a:cs typeface="Calibri"/>
                <a:sym typeface="Calibri"/>
              </a:rPr>
              <a:t> many  </a:t>
            </a:r>
            <a:r>
              <a:rPr lang="en-US" sz="5200">
                <a:solidFill>
                  <a:srgbClr val="1C8256"/>
                </a:solidFill>
                <a:latin typeface="Calibri"/>
                <a:ea typeface="Calibri"/>
                <a:cs typeface="Calibri"/>
                <a:sym typeface="Calibri"/>
              </a:rPr>
              <a:t>parts </a:t>
            </a:r>
            <a:r>
              <a:rPr lang="en-US" sz="5200">
                <a:solidFill>
                  <a:schemeClr val="dk2"/>
                </a:solidFill>
                <a:latin typeface="Calibri"/>
                <a:ea typeface="Calibri"/>
                <a:cs typeface="Calibri"/>
                <a:sym typeface="Calibri"/>
              </a:rPr>
              <a:t>are in the structure of a data packet?</a:t>
            </a:r>
            <a:endParaRPr/>
          </a:p>
          <a:p>
            <a:pPr indent="-1028443" lvl="0" marL="1028443" marR="0" rtl="0" algn="l">
              <a:lnSpc>
                <a:spcPct val="150000"/>
              </a:lnSpc>
              <a:spcBef>
                <a:spcPts val="0"/>
              </a:spcBef>
              <a:spcAft>
                <a:spcPts val="0"/>
              </a:spcAft>
              <a:buClr>
                <a:schemeClr val="dk2"/>
              </a:buClr>
              <a:buSzPts val="5200"/>
              <a:buFont typeface="Calibri"/>
              <a:buAutoNum type="arabicPeriod"/>
            </a:pPr>
            <a:r>
              <a:rPr b="1" lang="en-US" sz="5200">
                <a:solidFill>
                  <a:schemeClr val="dk2"/>
                </a:solidFill>
                <a:latin typeface="Calibri"/>
                <a:ea typeface="Calibri"/>
                <a:cs typeface="Calibri"/>
                <a:sym typeface="Calibri"/>
              </a:rPr>
              <a:t>What’s the </a:t>
            </a:r>
            <a:r>
              <a:rPr b="1" lang="en-US" sz="5200">
                <a:solidFill>
                  <a:srgbClr val="1C8256"/>
                </a:solidFill>
                <a:latin typeface="Calibri"/>
                <a:ea typeface="Calibri"/>
                <a:cs typeface="Calibri"/>
                <a:sym typeface="Calibri"/>
              </a:rPr>
              <a:t>purpose</a:t>
            </a:r>
            <a:r>
              <a:rPr b="1" lang="en-US" sz="5200">
                <a:solidFill>
                  <a:schemeClr val="dk2"/>
                </a:solidFill>
                <a:latin typeface="Calibri"/>
                <a:ea typeface="Calibri"/>
                <a:cs typeface="Calibri"/>
                <a:sym typeface="Calibri"/>
              </a:rPr>
              <a:t> of the </a:t>
            </a:r>
            <a:r>
              <a:rPr b="1" lang="en-US" sz="5200">
                <a:solidFill>
                  <a:srgbClr val="1C8256"/>
                </a:solidFill>
                <a:latin typeface="Calibri"/>
                <a:ea typeface="Calibri"/>
                <a:cs typeface="Calibri"/>
                <a:sym typeface="Calibri"/>
              </a:rPr>
              <a:t>payload</a:t>
            </a:r>
            <a:r>
              <a:rPr b="1" lang="en-US" sz="5200">
                <a:solidFill>
                  <a:schemeClr val="dk2"/>
                </a:solidFill>
                <a:latin typeface="Calibri"/>
                <a:ea typeface="Calibri"/>
                <a:cs typeface="Calibri"/>
                <a:sym typeface="Calibri"/>
              </a:rPr>
              <a:t>?</a:t>
            </a:r>
            <a:endParaRPr/>
          </a:p>
          <a:p>
            <a:pPr indent="-1028443" lvl="0" marL="1028443" marR="0" rtl="0" algn="l">
              <a:lnSpc>
                <a:spcPct val="150000"/>
              </a:lnSpc>
              <a:spcBef>
                <a:spcPts val="0"/>
              </a:spcBef>
              <a:spcAft>
                <a:spcPts val="0"/>
              </a:spcAft>
              <a:buClr>
                <a:schemeClr val="dk2"/>
              </a:buClr>
              <a:buSzPts val="5200"/>
              <a:buFont typeface="Calibri"/>
              <a:buAutoNum type="arabicPeriod"/>
            </a:pPr>
            <a:r>
              <a:rPr b="1" lang="en-US" sz="5200">
                <a:solidFill>
                  <a:schemeClr val="dk2"/>
                </a:solidFill>
                <a:latin typeface="Calibri"/>
                <a:ea typeface="Calibri"/>
                <a:cs typeface="Calibri"/>
                <a:sym typeface="Calibri"/>
              </a:rPr>
              <a:t>What’s the </a:t>
            </a:r>
            <a:r>
              <a:rPr b="1" lang="en-US" sz="5200">
                <a:solidFill>
                  <a:srgbClr val="1C8256"/>
                </a:solidFill>
                <a:latin typeface="Calibri"/>
                <a:ea typeface="Calibri"/>
                <a:cs typeface="Calibri"/>
                <a:sym typeface="Calibri"/>
              </a:rPr>
              <a:t>purpose</a:t>
            </a:r>
            <a:r>
              <a:rPr b="1" lang="en-US" sz="5200">
                <a:solidFill>
                  <a:schemeClr val="dk2"/>
                </a:solidFill>
                <a:latin typeface="Calibri"/>
                <a:ea typeface="Calibri"/>
                <a:cs typeface="Calibri"/>
                <a:sym typeface="Calibri"/>
              </a:rPr>
              <a:t> of the </a:t>
            </a:r>
            <a:r>
              <a:rPr b="1" lang="en-US" sz="5200">
                <a:solidFill>
                  <a:srgbClr val="1C8256"/>
                </a:solidFill>
                <a:latin typeface="Calibri"/>
                <a:ea typeface="Calibri"/>
                <a:cs typeface="Calibri"/>
                <a:sym typeface="Calibri"/>
              </a:rPr>
              <a:t>header</a:t>
            </a:r>
            <a:r>
              <a:rPr b="1" lang="en-US" sz="5200">
                <a:solidFill>
                  <a:schemeClr val="dk2"/>
                </a:solidFill>
                <a:latin typeface="Calibri"/>
                <a:ea typeface="Calibri"/>
                <a:cs typeface="Calibri"/>
                <a:sym typeface="Calibri"/>
              </a:rPr>
              <a:t>?</a:t>
            </a:r>
            <a:endParaRPr/>
          </a:p>
        </p:txBody>
      </p:sp>
      <p:sp>
        <p:nvSpPr>
          <p:cNvPr id="57" name="Google Shape;57;p8"/>
          <p:cNvSpPr txBox="1"/>
          <p:nvPr/>
        </p:nvSpPr>
        <p:spPr>
          <a:xfrm>
            <a:off x="390243" y="7869382"/>
            <a:ext cx="16563304" cy="2231958"/>
          </a:xfrm>
          <a:prstGeom prst="rect">
            <a:avLst/>
          </a:prstGeom>
          <a:no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b="1" lang="en-US" sz="3200">
                <a:solidFill>
                  <a:schemeClr val="dk2"/>
                </a:solidFill>
                <a:latin typeface="Calibri"/>
                <a:ea typeface="Calibri"/>
                <a:cs typeface="Calibri"/>
                <a:sym typeface="Calibri"/>
              </a:rPr>
              <a:t>1. </a:t>
            </a:r>
            <a:r>
              <a:rPr b="1" lang="en-US" sz="3200">
                <a:solidFill>
                  <a:srgbClr val="7030A0"/>
                </a:solidFill>
                <a:latin typeface="Calibri"/>
                <a:ea typeface="Calibri"/>
                <a:cs typeface="Calibri"/>
                <a:sym typeface="Calibri"/>
              </a:rPr>
              <a:t>Header</a:t>
            </a:r>
            <a:r>
              <a:rPr lang="en-US" sz="3200">
                <a:solidFill>
                  <a:schemeClr val="dk2"/>
                </a:solidFill>
                <a:latin typeface="Calibri"/>
                <a:ea typeface="Calibri"/>
                <a:cs typeface="Calibri"/>
                <a:sym typeface="Calibri"/>
              </a:rPr>
              <a:t>: This is like the </a:t>
            </a:r>
            <a:r>
              <a:rPr lang="en-US" sz="3200">
                <a:solidFill>
                  <a:srgbClr val="7030A0"/>
                </a:solidFill>
                <a:latin typeface="Calibri"/>
                <a:ea typeface="Calibri"/>
                <a:cs typeface="Calibri"/>
                <a:sym typeface="Calibri"/>
              </a:rPr>
              <a:t>address</a:t>
            </a:r>
            <a:r>
              <a:rPr lang="en-US" sz="3200">
                <a:solidFill>
                  <a:schemeClr val="dk2"/>
                </a:solidFill>
                <a:latin typeface="Calibri"/>
                <a:ea typeface="Calibri"/>
                <a:cs typeface="Calibri"/>
                <a:sym typeface="Calibri"/>
              </a:rPr>
              <a:t> on an envelope. It tells the network where the packet came from (sender's address), where it's going (destination address), and its position in the sequence of packets.</a:t>
            </a:r>
            <a:endParaRPr/>
          </a:p>
        </p:txBody>
      </p:sp>
      <p:sp>
        <p:nvSpPr>
          <p:cNvPr id="58" name="Google Shape;58;p8"/>
          <p:cNvSpPr txBox="1"/>
          <p:nvPr/>
        </p:nvSpPr>
        <p:spPr>
          <a:xfrm>
            <a:off x="353659" y="10289094"/>
            <a:ext cx="16563304" cy="1624612"/>
          </a:xfrm>
          <a:prstGeom prst="rect">
            <a:avLst/>
          </a:prstGeom>
          <a:no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b="1" lang="en-US" sz="3500">
                <a:solidFill>
                  <a:schemeClr val="dk2"/>
                </a:solidFill>
                <a:latin typeface="Calibri"/>
                <a:ea typeface="Calibri"/>
                <a:cs typeface="Calibri"/>
                <a:sym typeface="Calibri"/>
              </a:rPr>
              <a:t>2. </a:t>
            </a:r>
            <a:r>
              <a:rPr b="1" lang="en-US" sz="3500">
                <a:solidFill>
                  <a:srgbClr val="0070C0"/>
                </a:solidFill>
                <a:latin typeface="Calibri"/>
                <a:ea typeface="Calibri"/>
                <a:cs typeface="Calibri"/>
                <a:sym typeface="Calibri"/>
              </a:rPr>
              <a:t>Payload</a:t>
            </a:r>
            <a:r>
              <a:rPr lang="en-US" sz="3500">
                <a:solidFill>
                  <a:schemeClr val="dk2"/>
                </a:solidFill>
                <a:latin typeface="Calibri"/>
                <a:ea typeface="Calibri"/>
                <a:cs typeface="Calibri"/>
                <a:sym typeface="Calibri"/>
              </a:rPr>
              <a:t>: This is like the letter inside the envelope. It </a:t>
            </a:r>
            <a:r>
              <a:rPr lang="en-US" sz="3500">
                <a:solidFill>
                  <a:srgbClr val="0070C0"/>
                </a:solidFill>
                <a:latin typeface="Calibri"/>
                <a:ea typeface="Calibri"/>
                <a:cs typeface="Calibri"/>
                <a:sym typeface="Calibri"/>
              </a:rPr>
              <a:t>carries the actual data </a:t>
            </a:r>
            <a:r>
              <a:rPr lang="en-US" sz="3500">
                <a:solidFill>
                  <a:schemeClr val="dk2"/>
                </a:solidFill>
                <a:latin typeface="Calibri"/>
                <a:ea typeface="Calibri"/>
                <a:cs typeface="Calibri"/>
                <a:sym typeface="Calibri"/>
              </a:rPr>
              <a:t>being transmitted.</a:t>
            </a:r>
            <a:endParaRPr/>
          </a:p>
        </p:txBody>
      </p:sp>
      <p:sp>
        <p:nvSpPr>
          <p:cNvPr id="59" name="Google Shape;59;p8"/>
          <p:cNvSpPr txBox="1"/>
          <p:nvPr/>
        </p:nvSpPr>
        <p:spPr>
          <a:xfrm>
            <a:off x="353659" y="12083788"/>
            <a:ext cx="16563304" cy="1405769"/>
          </a:xfrm>
          <a:prstGeom prst="rect">
            <a:avLst/>
          </a:prstGeom>
          <a:no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b="1" lang="en-US" sz="3000">
                <a:solidFill>
                  <a:schemeClr val="dk2"/>
                </a:solidFill>
                <a:latin typeface="Calibri"/>
                <a:ea typeface="Calibri"/>
                <a:cs typeface="Calibri"/>
                <a:sym typeface="Calibri"/>
              </a:rPr>
              <a:t>3. </a:t>
            </a:r>
            <a:r>
              <a:rPr b="1" lang="en-US" sz="3000">
                <a:solidFill>
                  <a:srgbClr val="1C8256"/>
                </a:solidFill>
                <a:latin typeface="Calibri"/>
                <a:ea typeface="Calibri"/>
                <a:cs typeface="Calibri"/>
                <a:sym typeface="Calibri"/>
              </a:rPr>
              <a:t>Trailer</a:t>
            </a:r>
            <a:r>
              <a:rPr lang="en-US" sz="3000">
                <a:solidFill>
                  <a:schemeClr val="dk2"/>
                </a:solidFill>
                <a:latin typeface="Calibri"/>
                <a:ea typeface="Calibri"/>
                <a:cs typeface="Calibri"/>
                <a:sym typeface="Calibri"/>
              </a:rPr>
              <a:t>: This is like the seal on an envelope. It </a:t>
            </a:r>
            <a:r>
              <a:rPr lang="en-US" sz="3000">
                <a:solidFill>
                  <a:srgbClr val="1C8256"/>
                </a:solidFill>
                <a:latin typeface="Calibri"/>
                <a:ea typeface="Calibri"/>
                <a:cs typeface="Calibri"/>
                <a:sym typeface="Calibri"/>
              </a:rPr>
              <a:t>signals the end of the packet</a:t>
            </a:r>
            <a:r>
              <a:rPr lang="en-US" sz="3000">
                <a:solidFill>
                  <a:schemeClr val="dk2"/>
                </a:solidFill>
                <a:latin typeface="Calibri"/>
                <a:ea typeface="Calibri"/>
                <a:cs typeface="Calibri"/>
                <a:sym typeface="Calibri"/>
              </a:rPr>
              <a:t> and contains information that helps detect any errors that might have occurred during transmission.</a:t>
            </a:r>
            <a:endParaRPr/>
          </a:p>
        </p:txBody>
      </p:sp>
      <p:pic>
        <p:nvPicPr>
          <p:cNvPr id="60" name="Google Shape;60;p8"/>
          <p:cNvPicPr preferRelativeResize="0"/>
          <p:nvPr/>
        </p:nvPicPr>
        <p:blipFill rotWithShape="1">
          <a:blip r:embed="rId3">
            <a:alphaModFix/>
          </a:blip>
          <a:srcRect b="24795" l="1627" r="0" t="43613"/>
          <a:stretch/>
        </p:blipFill>
        <p:spPr>
          <a:xfrm>
            <a:off x="488383" y="6067463"/>
            <a:ext cx="16293855" cy="1680974"/>
          </a:xfrm>
          <a:prstGeom prst="rect">
            <a:avLst/>
          </a:prstGeom>
          <a:noFill/>
          <a:ln>
            <a:noFill/>
          </a:ln>
        </p:spPr>
      </p:pic>
    </p:spTree>
  </p:cSld>
  <p:clrMapOvr>
    <a:masterClrMapping/>
  </p:clrMapOvr>
  <p:transition spd="slow">
    <p:push/>
  </p:transition>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3"/>
                                        </p:tgtEl>
                                        <p:attrNameLst>
                                          <p:attrName>style.visibility</p:attrName>
                                        </p:attrNameLst>
                                      </p:cBhvr>
                                      <p:to>
                                        <p:strVal val="visible"/>
                                      </p:to>
                                    </p:set>
                                    <p:animEffect filter="fade" transition="in">
                                      <p:cBhvr>
                                        <p:cTn dur="500"/>
                                        <p:tgtEl>
                                          <p:spTgt spid="5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55"/>
                                        </p:tgtEl>
                                        <p:attrNameLst>
                                          <p:attrName>style.visibility</p:attrName>
                                        </p:attrNameLst>
                                      </p:cBhvr>
                                      <p:to>
                                        <p:strVal val="visible"/>
                                      </p:to>
                                    </p:set>
                                    <p:anim calcmode="lin" valueType="num">
                                      <p:cBhvr additive="base">
                                        <p:cTn dur="500"/>
                                        <p:tgtEl>
                                          <p:spTgt spid="55"/>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2">
                                  <p:stCondLst>
                                    <p:cond delay="0"/>
                                  </p:stCondLst>
                                  <p:childTnLst>
                                    <p:set>
                                      <p:cBhvr>
                                        <p:cTn dur="1" fill="hold">
                                          <p:stCondLst>
                                            <p:cond delay="0"/>
                                          </p:stCondLst>
                                        </p:cTn>
                                        <p:tgtEl>
                                          <p:spTgt spid="60"/>
                                        </p:tgtEl>
                                        <p:attrNameLst>
                                          <p:attrName>style.visibility</p:attrName>
                                        </p:attrNameLst>
                                      </p:cBhvr>
                                      <p:to>
                                        <p:strVal val="visible"/>
                                      </p:to>
                                    </p:set>
                                    <p:anim calcmode="lin" valueType="num">
                                      <p:cBhvr additive="base">
                                        <p:cTn dur="500"/>
                                        <p:tgtEl>
                                          <p:spTgt spid="60"/>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7"/>
                                        </p:tgtEl>
                                        <p:attrNameLst>
                                          <p:attrName>style.visibility</p:attrName>
                                        </p:attrNameLst>
                                      </p:cBhvr>
                                      <p:to>
                                        <p:strVal val="visible"/>
                                      </p:to>
                                    </p:set>
                                    <p:animEffect filter="fade" transition="in">
                                      <p:cBhvr>
                                        <p:cTn dur="500"/>
                                        <p:tgtEl>
                                          <p:spTgt spid="5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8"/>
                                        </p:tgtEl>
                                        <p:attrNameLst>
                                          <p:attrName>style.visibility</p:attrName>
                                        </p:attrNameLst>
                                      </p:cBhvr>
                                      <p:to>
                                        <p:strVal val="visible"/>
                                      </p:to>
                                    </p:set>
                                    <p:animEffect filter="fade" transition="in">
                                      <p:cBhvr>
                                        <p:cTn dur="1000"/>
                                        <p:tgtEl>
                                          <p:spTgt spid="5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9"/>
                                        </p:tgtEl>
                                        <p:attrNameLst>
                                          <p:attrName>style.visibility</p:attrName>
                                        </p:attrNameLst>
                                      </p:cBhvr>
                                      <p:to>
                                        <p:strVal val="visible"/>
                                      </p:to>
                                    </p:set>
                                    <p:animEffect filter="fade" transition="in">
                                      <p:cBhvr>
                                        <p:cTn dur="1000"/>
                                        <p:tgtEl>
                                          <p:spTgt spid="5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9"/>
          <p:cNvSpPr txBox="1"/>
          <p:nvPr/>
        </p:nvSpPr>
        <p:spPr>
          <a:xfrm>
            <a:off x="7661901" y="347424"/>
            <a:ext cx="13274956" cy="1446550"/>
          </a:xfrm>
          <a:prstGeom prst="rect">
            <a:avLst/>
          </a:prstGeom>
          <a:solidFill>
            <a:srgbClr val="E0F5F9"/>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8800">
                <a:solidFill>
                  <a:schemeClr val="dk2"/>
                </a:solidFill>
                <a:latin typeface="Lato Light"/>
                <a:ea typeface="Lato Light"/>
                <a:cs typeface="Lato Light"/>
                <a:sym typeface="Lato Light"/>
              </a:rPr>
              <a:t>Importance of Data Packets</a:t>
            </a:r>
            <a:endParaRPr sz="8800">
              <a:solidFill>
                <a:schemeClr val="dk2"/>
              </a:solidFill>
              <a:latin typeface="Lato Light"/>
              <a:ea typeface="Lato Light"/>
              <a:cs typeface="Lato Light"/>
              <a:sym typeface="Lato Light"/>
            </a:endParaRPr>
          </a:p>
        </p:txBody>
      </p:sp>
      <p:sp>
        <p:nvSpPr>
          <p:cNvPr id="67" name="Google Shape;67;p9"/>
          <p:cNvSpPr txBox="1"/>
          <p:nvPr/>
        </p:nvSpPr>
        <p:spPr>
          <a:xfrm>
            <a:off x="7697797" y="1990277"/>
            <a:ext cx="10826049" cy="3330464"/>
          </a:xfrm>
          <a:prstGeom prst="rect">
            <a:avLst/>
          </a:prstGeom>
          <a:no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lang="en-US" sz="3600">
                <a:solidFill>
                  <a:schemeClr val="dk2"/>
                </a:solidFill>
                <a:latin typeface="Calibri"/>
                <a:ea typeface="Calibri"/>
                <a:cs typeface="Calibri"/>
                <a:sym typeface="Calibri"/>
              </a:rPr>
              <a:t>Data packets make data transmission more </a:t>
            </a:r>
            <a:r>
              <a:rPr lang="en-US" sz="3600">
                <a:solidFill>
                  <a:srgbClr val="0070C0"/>
                </a:solidFill>
                <a:latin typeface="Calibri"/>
                <a:ea typeface="Calibri"/>
                <a:cs typeface="Calibri"/>
                <a:sym typeface="Calibri"/>
              </a:rPr>
              <a:t>efficient</a:t>
            </a:r>
            <a:r>
              <a:rPr lang="en-US" sz="3600">
                <a:solidFill>
                  <a:schemeClr val="dk2"/>
                </a:solidFill>
                <a:latin typeface="Calibri"/>
                <a:ea typeface="Calibri"/>
                <a:cs typeface="Calibri"/>
                <a:sym typeface="Calibri"/>
              </a:rPr>
              <a:t> and </a:t>
            </a:r>
            <a:r>
              <a:rPr lang="en-US" sz="3600">
                <a:solidFill>
                  <a:srgbClr val="0070C0"/>
                </a:solidFill>
                <a:latin typeface="Calibri"/>
                <a:ea typeface="Calibri"/>
                <a:cs typeface="Calibri"/>
                <a:sym typeface="Calibri"/>
              </a:rPr>
              <a:t>manageable</a:t>
            </a:r>
            <a:r>
              <a:rPr lang="en-US" sz="3600">
                <a:solidFill>
                  <a:schemeClr val="dk2"/>
                </a:solidFill>
                <a:latin typeface="Calibri"/>
                <a:ea typeface="Calibri"/>
                <a:cs typeface="Calibri"/>
                <a:sym typeface="Calibri"/>
              </a:rPr>
              <a:t>. They allow large amounts of data to be </a:t>
            </a:r>
            <a:r>
              <a:rPr lang="en-US" sz="3600">
                <a:solidFill>
                  <a:srgbClr val="0070C0"/>
                </a:solidFill>
                <a:latin typeface="Calibri"/>
                <a:ea typeface="Calibri"/>
                <a:cs typeface="Calibri"/>
                <a:sym typeface="Calibri"/>
              </a:rPr>
              <a:t>broken up into smaller, manageable pieces</a:t>
            </a:r>
            <a:r>
              <a:rPr lang="en-US" sz="3600">
                <a:solidFill>
                  <a:schemeClr val="dk2"/>
                </a:solidFill>
                <a:latin typeface="Calibri"/>
                <a:ea typeface="Calibri"/>
                <a:cs typeface="Calibri"/>
                <a:sym typeface="Calibri"/>
              </a:rPr>
              <a:t>, which can be sent separately and reassembled at the destination.</a:t>
            </a:r>
            <a:endParaRPr sz="3200">
              <a:solidFill>
                <a:schemeClr val="dk2"/>
              </a:solidFill>
              <a:latin typeface="Calibri"/>
              <a:ea typeface="Calibri"/>
              <a:cs typeface="Calibri"/>
              <a:sym typeface="Calibri"/>
            </a:endParaRPr>
          </a:p>
        </p:txBody>
      </p:sp>
      <p:sp>
        <p:nvSpPr>
          <p:cNvPr id="68" name="Google Shape;68;p9"/>
          <p:cNvSpPr txBox="1"/>
          <p:nvPr/>
        </p:nvSpPr>
        <p:spPr>
          <a:xfrm>
            <a:off x="7646996" y="5678150"/>
            <a:ext cx="16351695" cy="2700804"/>
          </a:xfrm>
          <a:prstGeom prst="rect">
            <a:avLst/>
          </a:prstGeom>
          <a:no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b="1" lang="en-US" sz="2900">
                <a:solidFill>
                  <a:schemeClr val="dk2"/>
                </a:solidFill>
                <a:latin typeface="Calibri"/>
                <a:ea typeface="Calibri"/>
                <a:cs typeface="Calibri"/>
                <a:sym typeface="Calibri"/>
              </a:rPr>
              <a:t>Why Data is Divided into Packets for Transmission</a:t>
            </a:r>
            <a:endParaRPr sz="2900">
              <a:solidFill>
                <a:schemeClr val="dk2"/>
              </a:solidFill>
              <a:latin typeface="Calibri"/>
              <a:ea typeface="Calibri"/>
              <a:cs typeface="Calibri"/>
              <a:sym typeface="Calibri"/>
            </a:endParaRPr>
          </a:p>
          <a:p>
            <a:pPr indent="0" lvl="0" marL="0" marR="0" rtl="0" algn="l">
              <a:lnSpc>
                <a:spcPct val="150000"/>
              </a:lnSpc>
              <a:spcBef>
                <a:spcPts val="0"/>
              </a:spcBef>
              <a:spcAft>
                <a:spcPts val="0"/>
              </a:spcAft>
              <a:buNone/>
            </a:pPr>
            <a:r>
              <a:rPr lang="en-US" sz="2900">
                <a:solidFill>
                  <a:schemeClr val="dk2"/>
                </a:solidFill>
                <a:latin typeface="Calibri"/>
                <a:ea typeface="Calibri"/>
                <a:cs typeface="Calibri"/>
                <a:sym typeface="Calibri"/>
              </a:rPr>
              <a:t>Imagine you're sending a large package by mail. If you tried to send it all at once, it would be heavy and difficult to handle. But if you break it down into smaller boxes, it's easier to transport. The same principle applies to data transmission. Here's why data is divided into packets:</a:t>
            </a:r>
            <a:endParaRPr/>
          </a:p>
        </p:txBody>
      </p:sp>
      <p:pic>
        <p:nvPicPr>
          <p:cNvPr id="69" name="Google Shape;69;p9"/>
          <p:cNvPicPr preferRelativeResize="0"/>
          <p:nvPr/>
        </p:nvPicPr>
        <p:blipFill rotWithShape="1">
          <a:blip r:embed="rId3">
            <a:alphaModFix/>
          </a:blip>
          <a:srcRect b="0" l="0" r="0" t="0"/>
          <a:stretch/>
        </p:blipFill>
        <p:spPr>
          <a:xfrm>
            <a:off x="18828657" y="2039954"/>
            <a:ext cx="5170035" cy="3181560"/>
          </a:xfrm>
          <a:prstGeom prst="rect">
            <a:avLst/>
          </a:prstGeom>
          <a:noFill/>
          <a:ln>
            <a:noFill/>
          </a:ln>
        </p:spPr>
      </p:pic>
      <p:sp>
        <p:nvSpPr>
          <p:cNvPr id="70" name="Google Shape;70;p9"/>
          <p:cNvSpPr txBox="1"/>
          <p:nvPr/>
        </p:nvSpPr>
        <p:spPr>
          <a:xfrm>
            <a:off x="118935" y="4690"/>
            <a:ext cx="7141576" cy="14020313"/>
          </a:xfrm>
          <a:prstGeom prst="rect">
            <a:avLst/>
          </a:prstGeom>
          <a:solidFill>
            <a:srgbClr val="FFF5DC"/>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None/>
            </a:pPr>
            <a:r>
              <a:rPr b="1" lang="en-US" sz="3700" u="sng">
                <a:solidFill>
                  <a:schemeClr val="dk2"/>
                </a:solidFill>
                <a:latin typeface="Calibri"/>
                <a:ea typeface="Calibri"/>
                <a:cs typeface="Calibri"/>
                <a:sym typeface="Calibri"/>
              </a:rPr>
              <a:t>Read the information on the righthand side and answer the questions below in your workbook</a:t>
            </a:r>
            <a:endParaRPr/>
          </a:p>
          <a:p>
            <a:pPr indent="-742950" lvl="0" marL="742950" marR="0" rtl="0" algn="l">
              <a:lnSpc>
                <a:spcPct val="150000"/>
              </a:lnSpc>
              <a:spcBef>
                <a:spcPts val="0"/>
              </a:spcBef>
              <a:spcAft>
                <a:spcPts val="0"/>
              </a:spcAft>
              <a:buClr>
                <a:schemeClr val="dk2"/>
              </a:buClr>
              <a:buSzPts val="3450"/>
              <a:buFont typeface="Calibri"/>
              <a:buAutoNum type="arabicPeriod"/>
            </a:pPr>
            <a:r>
              <a:rPr b="1" lang="en-US" sz="3450">
                <a:solidFill>
                  <a:schemeClr val="dk2"/>
                </a:solidFill>
                <a:latin typeface="Calibri"/>
                <a:ea typeface="Calibri"/>
                <a:cs typeface="Calibri"/>
                <a:sym typeface="Calibri"/>
              </a:rPr>
              <a:t>Why</a:t>
            </a:r>
            <a:r>
              <a:rPr lang="en-US" sz="3450">
                <a:solidFill>
                  <a:schemeClr val="dk2"/>
                </a:solidFill>
                <a:latin typeface="Calibri"/>
                <a:ea typeface="Calibri"/>
                <a:cs typeface="Calibri"/>
                <a:sym typeface="Calibri"/>
              </a:rPr>
              <a:t> is data </a:t>
            </a:r>
            <a:r>
              <a:rPr lang="en-US" sz="3450">
                <a:solidFill>
                  <a:srgbClr val="1C8256"/>
                </a:solidFill>
                <a:latin typeface="Calibri"/>
                <a:ea typeface="Calibri"/>
                <a:cs typeface="Calibri"/>
                <a:sym typeface="Calibri"/>
              </a:rPr>
              <a:t>divided</a:t>
            </a:r>
            <a:r>
              <a:rPr lang="en-US" sz="3450">
                <a:solidFill>
                  <a:schemeClr val="dk2"/>
                </a:solidFill>
                <a:latin typeface="Calibri"/>
                <a:ea typeface="Calibri"/>
                <a:cs typeface="Calibri"/>
                <a:sym typeface="Calibri"/>
              </a:rPr>
              <a:t> into packets for transmission?</a:t>
            </a:r>
            <a:endParaRPr/>
          </a:p>
          <a:p>
            <a:pPr indent="-742950" lvl="0" marL="742950" marR="0" rtl="0" algn="l">
              <a:lnSpc>
                <a:spcPct val="150000"/>
              </a:lnSpc>
              <a:spcBef>
                <a:spcPts val="0"/>
              </a:spcBef>
              <a:spcAft>
                <a:spcPts val="0"/>
              </a:spcAft>
              <a:buClr>
                <a:schemeClr val="dk2"/>
              </a:buClr>
              <a:buSzPts val="3450"/>
              <a:buFont typeface="Calibri"/>
              <a:buAutoNum type="arabicPeriod"/>
            </a:pPr>
            <a:r>
              <a:rPr b="1" lang="en-US" sz="3450">
                <a:solidFill>
                  <a:schemeClr val="dk2"/>
                </a:solidFill>
                <a:latin typeface="Calibri"/>
                <a:ea typeface="Calibri"/>
                <a:cs typeface="Calibri"/>
                <a:sym typeface="Calibri"/>
              </a:rPr>
              <a:t>How</a:t>
            </a:r>
            <a:r>
              <a:rPr lang="en-US" sz="3450">
                <a:solidFill>
                  <a:schemeClr val="dk2"/>
                </a:solidFill>
                <a:latin typeface="Calibri"/>
                <a:ea typeface="Calibri"/>
                <a:cs typeface="Calibri"/>
                <a:sym typeface="Calibri"/>
              </a:rPr>
              <a:t> does dividing data into packets </a:t>
            </a:r>
            <a:r>
              <a:rPr lang="en-US" sz="3450">
                <a:solidFill>
                  <a:srgbClr val="1C8256"/>
                </a:solidFill>
                <a:latin typeface="Calibri"/>
                <a:ea typeface="Calibri"/>
                <a:cs typeface="Calibri"/>
                <a:sym typeface="Calibri"/>
              </a:rPr>
              <a:t>aid</a:t>
            </a:r>
            <a:r>
              <a:rPr lang="en-US" sz="3450">
                <a:solidFill>
                  <a:schemeClr val="dk2"/>
                </a:solidFill>
                <a:latin typeface="Calibri"/>
                <a:ea typeface="Calibri"/>
                <a:cs typeface="Calibri"/>
                <a:sym typeface="Calibri"/>
              </a:rPr>
              <a:t> in error management </a:t>
            </a:r>
            <a:r>
              <a:rPr lang="en-US" sz="3450">
                <a:solidFill>
                  <a:srgbClr val="1C8256"/>
                </a:solidFill>
                <a:latin typeface="Calibri"/>
                <a:ea typeface="Calibri"/>
                <a:cs typeface="Calibri"/>
                <a:sym typeface="Calibri"/>
              </a:rPr>
              <a:t>during</a:t>
            </a:r>
            <a:r>
              <a:rPr lang="en-US" sz="3450">
                <a:solidFill>
                  <a:schemeClr val="dk2"/>
                </a:solidFill>
                <a:latin typeface="Calibri"/>
                <a:ea typeface="Calibri"/>
                <a:cs typeface="Calibri"/>
                <a:sym typeface="Calibri"/>
              </a:rPr>
              <a:t> transmission?</a:t>
            </a:r>
            <a:endParaRPr/>
          </a:p>
          <a:p>
            <a:pPr indent="-742950" lvl="0" marL="742950" marR="0" rtl="0" algn="l">
              <a:lnSpc>
                <a:spcPct val="150000"/>
              </a:lnSpc>
              <a:spcBef>
                <a:spcPts val="0"/>
              </a:spcBef>
              <a:spcAft>
                <a:spcPts val="0"/>
              </a:spcAft>
              <a:buClr>
                <a:schemeClr val="dk2"/>
              </a:buClr>
              <a:buSzPts val="3450"/>
              <a:buFont typeface="Calibri"/>
              <a:buAutoNum type="arabicPeriod"/>
            </a:pPr>
            <a:r>
              <a:rPr b="1" lang="en-US" sz="3450">
                <a:solidFill>
                  <a:schemeClr val="dk2"/>
                </a:solidFill>
                <a:latin typeface="Calibri"/>
                <a:ea typeface="Calibri"/>
                <a:cs typeface="Calibri"/>
                <a:sym typeface="Calibri"/>
              </a:rPr>
              <a:t>What</a:t>
            </a:r>
            <a:r>
              <a:rPr lang="en-US" sz="3450">
                <a:solidFill>
                  <a:schemeClr val="dk2"/>
                </a:solidFill>
                <a:latin typeface="Calibri"/>
                <a:ea typeface="Calibri"/>
                <a:cs typeface="Calibri"/>
                <a:sym typeface="Calibri"/>
              </a:rPr>
              <a:t> is </a:t>
            </a:r>
            <a:r>
              <a:rPr lang="en-US" sz="3450">
                <a:solidFill>
                  <a:srgbClr val="1C8256"/>
                </a:solidFill>
                <a:latin typeface="Calibri"/>
                <a:ea typeface="Calibri"/>
                <a:cs typeface="Calibri"/>
                <a:sym typeface="Calibri"/>
              </a:rPr>
              <a:t>multiplexing</a:t>
            </a:r>
            <a:r>
              <a:rPr lang="en-US" sz="3450">
                <a:solidFill>
                  <a:schemeClr val="dk2"/>
                </a:solidFill>
                <a:latin typeface="Calibri"/>
                <a:ea typeface="Calibri"/>
                <a:cs typeface="Calibri"/>
                <a:sym typeface="Calibri"/>
              </a:rPr>
              <a:t>, and how does breaking data into packets </a:t>
            </a:r>
            <a:r>
              <a:rPr lang="en-US" sz="3450">
                <a:solidFill>
                  <a:srgbClr val="1C8256"/>
                </a:solidFill>
                <a:latin typeface="Calibri"/>
                <a:ea typeface="Calibri"/>
                <a:cs typeface="Calibri"/>
                <a:sym typeface="Calibri"/>
              </a:rPr>
              <a:t>enable it</a:t>
            </a:r>
            <a:r>
              <a:rPr lang="en-US" sz="3450">
                <a:solidFill>
                  <a:schemeClr val="dk2"/>
                </a:solidFill>
                <a:latin typeface="Calibri"/>
                <a:ea typeface="Calibri"/>
                <a:cs typeface="Calibri"/>
                <a:sym typeface="Calibri"/>
              </a:rPr>
              <a:t>?</a:t>
            </a:r>
            <a:endParaRPr/>
          </a:p>
          <a:p>
            <a:pPr indent="-742950" lvl="0" marL="742950" marR="0" rtl="0" algn="l">
              <a:lnSpc>
                <a:spcPct val="150000"/>
              </a:lnSpc>
              <a:spcBef>
                <a:spcPts val="0"/>
              </a:spcBef>
              <a:spcAft>
                <a:spcPts val="0"/>
              </a:spcAft>
              <a:buClr>
                <a:schemeClr val="dk2"/>
              </a:buClr>
              <a:buSzPts val="3450"/>
              <a:buFont typeface="Calibri"/>
              <a:buAutoNum type="arabicPeriod"/>
            </a:pPr>
            <a:r>
              <a:rPr b="1" lang="en-US" sz="3450">
                <a:solidFill>
                  <a:schemeClr val="dk2"/>
                </a:solidFill>
                <a:latin typeface="Calibri"/>
                <a:ea typeface="Calibri"/>
                <a:cs typeface="Calibri"/>
                <a:sym typeface="Calibri"/>
              </a:rPr>
              <a:t>How</a:t>
            </a:r>
            <a:r>
              <a:rPr lang="en-US" sz="3450">
                <a:solidFill>
                  <a:schemeClr val="dk2"/>
                </a:solidFill>
                <a:latin typeface="Calibri"/>
                <a:ea typeface="Calibri"/>
                <a:cs typeface="Calibri"/>
                <a:sym typeface="Calibri"/>
              </a:rPr>
              <a:t> does </a:t>
            </a:r>
            <a:r>
              <a:rPr lang="en-US" sz="3450">
                <a:solidFill>
                  <a:srgbClr val="1C8256"/>
                </a:solidFill>
                <a:latin typeface="Calibri"/>
                <a:ea typeface="Calibri"/>
                <a:cs typeface="Calibri"/>
                <a:sym typeface="Calibri"/>
              </a:rPr>
              <a:t>dividing</a:t>
            </a:r>
            <a:r>
              <a:rPr lang="en-US" sz="3450">
                <a:solidFill>
                  <a:schemeClr val="dk2"/>
                </a:solidFill>
                <a:latin typeface="Calibri"/>
                <a:ea typeface="Calibri"/>
                <a:cs typeface="Calibri"/>
                <a:sym typeface="Calibri"/>
              </a:rPr>
              <a:t> data into packets </a:t>
            </a:r>
            <a:r>
              <a:rPr lang="en-US" sz="3450">
                <a:solidFill>
                  <a:srgbClr val="1C8256"/>
                </a:solidFill>
                <a:latin typeface="Calibri"/>
                <a:ea typeface="Calibri"/>
                <a:cs typeface="Calibri"/>
                <a:sym typeface="Calibri"/>
              </a:rPr>
              <a:t>prevent</a:t>
            </a:r>
            <a:r>
              <a:rPr lang="en-US" sz="3450">
                <a:solidFill>
                  <a:schemeClr val="dk2"/>
                </a:solidFill>
                <a:latin typeface="Calibri"/>
                <a:ea typeface="Calibri"/>
                <a:cs typeface="Calibri"/>
                <a:sym typeface="Calibri"/>
              </a:rPr>
              <a:t> network congestion?</a:t>
            </a:r>
            <a:endParaRPr/>
          </a:p>
          <a:p>
            <a:pPr indent="-742950" lvl="0" marL="742950" marR="0" rtl="0" algn="l">
              <a:lnSpc>
                <a:spcPct val="150000"/>
              </a:lnSpc>
              <a:spcBef>
                <a:spcPts val="0"/>
              </a:spcBef>
              <a:spcAft>
                <a:spcPts val="0"/>
              </a:spcAft>
              <a:buClr>
                <a:schemeClr val="dk2"/>
              </a:buClr>
              <a:buSzPts val="3450"/>
              <a:buFont typeface="Calibri"/>
              <a:buAutoNum type="arabicPeriod"/>
            </a:pPr>
            <a:r>
              <a:rPr b="1" lang="en-US" sz="3450">
                <a:solidFill>
                  <a:schemeClr val="dk2"/>
                </a:solidFill>
                <a:latin typeface="Calibri"/>
                <a:ea typeface="Calibri"/>
                <a:cs typeface="Calibri"/>
                <a:sym typeface="Calibri"/>
              </a:rPr>
              <a:t>Provide</a:t>
            </a:r>
            <a:r>
              <a:rPr lang="en-US" sz="3450">
                <a:solidFill>
                  <a:schemeClr val="dk2"/>
                </a:solidFill>
                <a:latin typeface="Calibri"/>
                <a:ea typeface="Calibri"/>
                <a:cs typeface="Calibri"/>
                <a:sym typeface="Calibri"/>
              </a:rPr>
              <a:t> a real-world example to </a:t>
            </a:r>
            <a:r>
              <a:rPr lang="en-US" sz="3450">
                <a:solidFill>
                  <a:srgbClr val="1C8256"/>
                </a:solidFill>
                <a:latin typeface="Calibri"/>
                <a:ea typeface="Calibri"/>
                <a:cs typeface="Calibri"/>
                <a:sym typeface="Calibri"/>
              </a:rPr>
              <a:t>explain</a:t>
            </a:r>
            <a:r>
              <a:rPr lang="en-US" sz="3450">
                <a:solidFill>
                  <a:schemeClr val="dk2"/>
                </a:solidFill>
                <a:latin typeface="Calibri"/>
                <a:ea typeface="Calibri"/>
                <a:cs typeface="Calibri"/>
                <a:sym typeface="Calibri"/>
              </a:rPr>
              <a:t> the concept of data packet transmission.</a:t>
            </a:r>
            <a:endParaRPr/>
          </a:p>
        </p:txBody>
      </p:sp>
      <p:sp>
        <p:nvSpPr>
          <p:cNvPr id="71" name="Google Shape;71;p9"/>
          <p:cNvSpPr txBox="1"/>
          <p:nvPr/>
        </p:nvSpPr>
        <p:spPr>
          <a:xfrm>
            <a:off x="7661901" y="8567751"/>
            <a:ext cx="16351695" cy="4868256"/>
          </a:xfrm>
          <a:prstGeom prst="rect">
            <a:avLst/>
          </a:prstGeom>
          <a:no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742950" lvl="0" marL="742950" marR="0" rtl="0" algn="l">
              <a:lnSpc>
                <a:spcPct val="150000"/>
              </a:lnSpc>
              <a:spcBef>
                <a:spcPts val="0"/>
              </a:spcBef>
              <a:spcAft>
                <a:spcPts val="0"/>
              </a:spcAft>
              <a:buClr>
                <a:srgbClr val="0070C0"/>
              </a:buClr>
              <a:buSzPts val="3000"/>
              <a:buFont typeface="Calibri"/>
              <a:buAutoNum type="arabicPeriod"/>
            </a:pPr>
            <a:r>
              <a:rPr b="1" lang="en-US" sz="3000">
                <a:solidFill>
                  <a:srgbClr val="0070C0"/>
                </a:solidFill>
                <a:latin typeface="Calibri"/>
                <a:ea typeface="Calibri"/>
                <a:cs typeface="Calibri"/>
                <a:sym typeface="Calibri"/>
              </a:rPr>
              <a:t>Error Management</a:t>
            </a:r>
            <a:r>
              <a:rPr lang="en-US" sz="3000">
                <a:solidFill>
                  <a:schemeClr val="dk2"/>
                </a:solidFill>
                <a:latin typeface="Calibri"/>
                <a:ea typeface="Calibri"/>
                <a:cs typeface="Calibri"/>
                <a:sym typeface="Calibri"/>
              </a:rPr>
              <a:t>: If an error occurs during transmission, only the affected packet needs to be retransmitted, not the entire data stream. </a:t>
            </a:r>
            <a:r>
              <a:rPr lang="en-US" sz="3000" u="sng">
                <a:solidFill>
                  <a:schemeClr val="dk2"/>
                </a:solidFill>
                <a:latin typeface="Calibri"/>
                <a:ea typeface="Calibri"/>
                <a:cs typeface="Calibri"/>
                <a:sym typeface="Calibri"/>
              </a:rPr>
              <a:t>This saves time and resources</a:t>
            </a:r>
            <a:r>
              <a:rPr lang="en-US" sz="3000">
                <a:solidFill>
                  <a:schemeClr val="dk2"/>
                </a:solidFill>
                <a:latin typeface="Calibri"/>
                <a:ea typeface="Calibri"/>
                <a:cs typeface="Calibri"/>
                <a:sym typeface="Calibri"/>
              </a:rPr>
              <a:t>.</a:t>
            </a:r>
            <a:endParaRPr/>
          </a:p>
          <a:p>
            <a:pPr indent="-742950" lvl="0" marL="742950" marR="0" rtl="0" algn="l">
              <a:lnSpc>
                <a:spcPct val="150000"/>
              </a:lnSpc>
              <a:spcBef>
                <a:spcPts val="0"/>
              </a:spcBef>
              <a:spcAft>
                <a:spcPts val="0"/>
              </a:spcAft>
              <a:buClr>
                <a:srgbClr val="7030A0"/>
              </a:buClr>
              <a:buSzPts val="3000"/>
              <a:buFont typeface="Calibri"/>
              <a:buAutoNum type="arabicPeriod"/>
            </a:pPr>
            <a:r>
              <a:rPr b="1" lang="en-US" sz="3000">
                <a:solidFill>
                  <a:srgbClr val="7030A0"/>
                </a:solidFill>
                <a:latin typeface="Calibri"/>
                <a:ea typeface="Calibri"/>
                <a:cs typeface="Calibri"/>
                <a:sym typeface="Calibri"/>
              </a:rPr>
              <a:t>Efficient Network Use</a:t>
            </a:r>
            <a:r>
              <a:rPr lang="en-US" sz="3000">
                <a:solidFill>
                  <a:schemeClr val="dk2"/>
                </a:solidFill>
                <a:latin typeface="Calibri"/>
                <a:ea typeface="Calibri"/>
                <a:cs typeface="Calibri"/>
                <a:sym typeface="Calibri"/>
              </a:rPr>
              <a:t>: By breaking data into packets, multiple packets from different sources can be sent over the network simultaneously. </a:t>
            </a:r>
            <a:r>
              <a:rPr lang="en-US" sz="3000" u="sng">
                <a:solidFill>
                  <a:schemeClr val="dk2"/>
                </a:solidFill>
                <a:latin typeface="Calibri"/>
                <a:ea typeface="Calibri"/>
                <a:cs typeface="Calibri"/>
                <a:sym typeface="Calibri"/>
              </a:rPr>
              <a:t>This is known as </a:t>
            </a:r>
            <a:r>
              <a:rPr b="1" lang="en-US" sz="3000" u="sng">
                <a:solidFill>
                  <a:schemeClr val="dk2"/>
                </a:solidFill>
                <a:latin typeface="Calibri"/>
                <a:ea typeface="Calibri"/>
                <a:cs typeface="Calibri"/>
                <a:sym typeface="Calibri"/>
              </a:rPr>
              <a:t>multiplexing</a:t>
            </a:r>
            <a:r>
              <a:rPr lang="en-US" sz="3000" u="sng">
                <a:solidFill>
                  <a:schemeClr val="dk2"/>
                </a:solidFill>
                <a:latin typeface="Calibri"/>
                <a:ea typeface="Calibri"/>
                <a:cs typeface="Calibri"/>
                <a:sym typeface="Calibri"/>
              </a:rPr>
              <a:t> and it helps make efficient use of the network</a:t>
            </a:r>
            <a:r>
              <a:rPr lang="en-US" sz="3000">
                <a:solidFill>
                  <a:schemeClr val="dk2"/>
                </a:solidFill>
                <a:latin typeface="Calibri"/>
                <a:ea typeface="Calibri"/>
                <a:cs typeface="Calibri"/>
                <a:sym typeface="Calibri"/>
              </a:rPr>
              <a:t>.</a:t>
            </a:r>
            <a:endParaRPr/>
          </a:p>
          <a:p>
            <a:pPr indent="-742950" lvl="0" marL="742950" marR="0" rtl="0" algn="l">
              <a:lnSpc>
                <a:spcPct val="150000"/>
              </a:lnSpc>
              <a:spcBef>
                <a:spcPts val="0"/>
              </a:spcBef>
              <a:spcAft>
                <a:spcPts val="0"/>
              </a:spcAft>
              <a:buClr>
                <a:srgbClr val="1C8256"/>
              </a:buClr>
              <a:buSzPts val="3000"/>
              <a:buFont typeface="Calibri"/>
              <a:buAutoNum type="arabicPeriod"/>
            </a:pPr>
            <a:r>
              <a:rPr b="1" lang="en-US" sz="3000">
                <a:solidFill>
                  <a:srgbClr val="1C8256"/>
                </a:solidFill>
                <a:latin typeface="Calibri"/>
                <a:ea typeface="Calibri"/>
                <a:cs typeface="Calibri"/>
                <a:sym typeface="Calibri"/>
              </a:rPr>
              <a:t>Preventing Network Congestion</a:t>
            </a:r>
            <a:r>
              <a:rPr lang="en-US" sz="3000">
                <a:solidFill>
                  <a:schemeClr val="dk2"/>
                </a:solidFill>
                <a:latin typeface="Calibri"/>
                <a:ea typeface="Calibri"/>
                <a:cs typeface="Calibri"/>
                <a:sym typeface="Calibri"/>
              </a:rPr>
              <a:t>: If a large data stream were sent all at once, it could overwhelm the network. By using packets, </a:t>
            </a:r>
            <a:r>
              <a:rPr lang="en-US" sz="3000" u="sng">
                <a:solidFill>
                  <a:schemeClr val="dk2"/>
                </a:solidFill>
                <a:latin typeface="Calibri"/>
                <a:ea typeface="Calibri"/>
                <a:cs typeface="Calibri"/>
                <a:sym typeface="Calibri"/>
              </a:rPr>
              <a:t>data can be sent in manageable chunks, preventing network congestion</a:t>
            </a:r>
            <a:r>
              <a:rPr lang="en-US" sz="3000">
                <a:solidFill>
                  <a:schemeClr val="dk2"/>
                </a:solidFill>
                <a:latin typeface="Calibri"/>
                <a:ea typeface="Calibri"/>
                <a:cs typeface="Calibri"/>
                <a:sym typeface="Calibri"/>
              </a:rPr>
              <a:t>.</a:t>
            </a:r>
            <a:endParaRPr/>
          </a:p>
        </p:txBody>
      </p:sp>
      <p:sp>
        <p:nvSpPr>
          <p:cNvPr id="72" name="Google Shape;72;p9"/>
          <p:cNvSpPr txBox="1"/>
          <p:nvPr/>
        </p:nvSpPr>
        <p:spPr>
          <a:xfrm>
            <a:off x="7260511" y="1550647"/>
            <a:ext cx="16738180" cy="12283555"/>
          </a:xfrm>
          <a:prstGeom prst="rect">
            <a:avLst/>
          </a:prstGeom>
          <a:solidFill>
            <a:srgbClr val="C1E8F9"/>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None/>
            </a:pPr>
            <a:r>
              <a:rPr b="1" lang="en-US" sz="4400" u="sng">
                <a:solidFill>
                  <a:schemeClr val="dk2"/>
                </a:solidFill>
                <a:latin typeface="Calibri"/>
                <a:ea typeface="Calibri"/>
                <a:cs typeface="Calibri"/>
                <a:sym typeface="Calibri"/>
              </a:rPr>
              <a:t>Answers</a:t>
            </a:r>
            <a:endParaRPr b="1" sz="4800" u="sng">
              <a:solidFill>
                <a:schemeClr val="dk2"/>
              </a:solidFill>
              <a:latin typeface="Calibri"/>
              <a:ea typeface="Calibri"/>
              <a:cs typeface="Calibri"/>
              <a:sym typeface="Calibri"/>
            </a:endParaRPr>
          </a:p>
          <a:p>
            <a:pPr indent="-742950" lvl="0" marL="742950" marR="0" rtl="0" algn="l">
              <a:lnSpc>
                <a:spcPct val="150000"/>
              </a:lnSpc>
              <a:spcBef>
                <a:spcPts val="0"/>
              </a:spcBef>
              <a:spcAft>
                <a:spcPts val="0"/>
              </a:spcAft>
              <a:buClr>
                <a:schemeClr val="dk2"/>
              </a:buClr>
              <a:buSzPts val="3250"/>
              <a:buFont typeface="Calibri"/>
              <a:buAutoNum type="arabicPeriod"/>
            </a:pPr>
            <a:r>
              <a:rPr lang="en-US" sz="3250">
                <a:solidFill>
                  <a:schemeClr val="dk2"/>
                </a:solidFill>
                <a:latin typeface="Calibri"/>
                <a:ea typeface="Calibri"/>
                <a:cs typeface="Calibri"/>
                <a:sym typeface="Calibri"/>
              </a:rPr>
              <a:t>Data is divided into packets for transmission to </a:t>
            </a:r>
            <a:r>
              <a:rPr lang="en-US" sz="3250" u="sng">
                <a:solidFill>
                  <a:schemeClr val="dk2"/>
                </a:solidFill>
                <a:latin typeface="Calibri"/>
                <a:ea typeface="Calibri"/>
                <a:cs typeface="Calibri"/>
                <a:sym typeface="Calibri"/>
              </a:rPr>
              <a:t>facilitate error management</a:t>
            </a:r>
            <a:r>
              <a:rPr lang="en-US" sz="3250">
                <a:solidFill>
                  <a:schemeClr val="dk2"/>
                </a:solidFill>
                <a:latin typeface="Calibri"/>
                <a:ea typeface="Calibri"/>
                <a:cs typeface="Calibri"/>
                <a:sym typeface="Calibri"/>
              </a:rPr>
              <a:t>, </a:t>
            </a:r>
            <a:r>
              <a:rPr lang="en-US" sz="3250" u="sng">
                <a:solidFill>
                  <a:schemeClr val="dk2"/>
                </a:solidFill>
                <a:latin typeface="Calibri"/>
                <a:ea typeface="Calibri"/>
                <a:cs typeface="Calibri"/>
                <a:sym typeface="Calibri"/>
              </a:rPr>
              <a:t>efficient network use</a:t>
            </a:r>
            <a:r>
              <a:rPr lang="en-US" sz="3250">
                <a:solidFill>
                  <a:schemeClr val="dk2"/>
                </a:solidFill>
                <a:latin typeface="Calibri"/>
                <a:ea typeface="Calibri"/>
                <a:cs typeface="Calibri"/>
                <a:sym typeface="Calibri"/>
              </a:rPr>
              <a:t>, and to </a:t>
            </a:r>
            <a:r>
              <a:rPr lang="en-US" sz="3250" u="sng">
                <a:solidFill>
                  <a:schemeClr val="dk2"/>
                </a:solidFill>
                <a:latin typeface="Calibri"/>
                <a:ea typeface="Calibri"/>
                <a:cs typeface="Calibri"/>
                <a:sym typeface="Calibri"/>
              </a:rPr>
              <a:t>prevent network congestion</a:t>
            </a:r>
            <a:r>
              <a:rPr lang="en-US" sz="3250">
                <a:solidFill>
                  <a:schemeClr val="dk2"/>
                </a:solidFill>
                <a:latin typeface="Calibri"/>
                <a:ea typeface="Calibri"/>
                <a:cs typeface="Calibri"/>
                <a:sym typeface="Calibri"/>
              </a:rPr>
              <a:t>.</a:t>
            </a:r>
            <a:endParaRPr/>
          </a:p>
          <a:p>
            <a:pPr indent="-742950" lvl="0" marL="742950" marR="0" rtl="0" algn="l">
              <a:lnSpc>
                <a:spcPct val="150000"/>
              </a:lnSpc>
              <a:spcBef>
                <a:spcPts val="0"/>
              </a:spcBef>
              <a:spcAft>
                <a:spcPts val="0"/>
              </a:spcAft>
              <a:buClr>
                <a:schemeClr val="dk2"/>
              </a:buClr>
              <a:buSzPts val="3250"/>
              <a:buFont typeface="Calibri"/>
              <a:buAutoNum type="arabicPeriod"/>
            </a:pPr>
            <a:r>
              <a:rPr lang="en-US" sz="3250">
                <a:solidFill>
                  <a:schemeClr val="dk2"/>
                </a:solidFill>
                <a:latin typeface="Calibri"/>
                <a:ea typeface="Calibri"/>
                <a:cs typeface="Calibri"/>
                <a:sym typeface="Calibri"/>
              </a:rPr>
              <a:t>Dividing data into packets </a:t>
            </a:r>
            <a:r>
              <a:rPr lang="en-US" sz="3250" u="sng">
                <a:solidFill>
                  <a:schemeClr val="dk2"/>
                </a:solidFill>
                <a:latin typeface="Calibri"/>
                <a:ea typeface="Calibri"/>
                <a:cs typeface="Calibri"/>
                <a:sym typeface="Calibri"/>
              </a:rPr>
              <a:t>aids in error management </a:t>
            </a:r>
            <a:r>
              <a:rPr lang="en-US" sz="3250">
                <a:solidFill>
                  <a:schemeClr val="dk2"/>
                </a:solidFill>
                <a:latin typeface="Calibri"/>
                <a:ea typeface="Calibri"/>
                <a:cs typeface="Calibri"/>
                <a:sym typeface="Calibri"/>
              </a:rPr>
              <a:t>by allowing </a:t>
            </a:r>
            <a:r>
              <a:rPr lang="en-US" sz="3250" u="sng">
                <a:solidFill>
                  <a:schemeClr val="dk2"/>
                </a:solidFill>
                <a:latin typeface="Calibri"/>
                <a:ea typeface="Calibri"/>
                <a:cs typeface="Calibri"/>
                <a:sym typeface="Calibri"/>
              </a:rPr>
              <a:t>only the affected packet to be retransmitted</a:t>
            </a:r>
            <a:r>
              <a:rPr lang="en-US" sz="3250">
                <a:solidFill>
                  <a:schemeClr val="dk2"/>
                </a:solidFill>
                <a:latin typeface="Calibri"/>
                <a:ea typeface="Calibri"/>
                <a:cs typeface="Calibri"/>
                <a:sym typeface="Calibri"/>
              </a:rPr>
              <a:t> if an error occurs, instead of the entire data stream. </a:t>
            </a:r>
            <a:r>
              <a:rPr lang="en-US" sz="3250" u="sng">
                <a:solidFill>
                  <a:schemeClr val="dk2"/>
                </a:solidFill>
                <a:latin typeface="Calibri"/>
                <a:ea typeface="Calibri"/>
                <a:cs typeface="Calibri"/>
                <a:sym typeface="Calibri"/>
              </a:rPr>
              <a:t>This saves time and resources</a:t>
            </a:r>
            <a:r>
              <a:rPr lang="en-US" sz="3250">
                <a:solidFill>
                  <a:schemeClr val="dk2"/>
                </a:solidFill>
                <a:latin typeface="Calibri"/>
                <a:ea typeface="Calibri"/>
                <a:cs typeface="Calibri"/>
                <a:sym typeface="Calibri"/>
              </a:rPr>
              <a:t>.</a:t>
            </a:r>
            <a:endParaRPr/>
          </a:p>
          <a:p>
            <a:pPr indent="-742950" lvl="0" marL="742950" marR="0" rtl="0" algn="l">
              <a:lnSpc>
                <a:spcPct val="150000"/>
              </a:lnSpc>
              <a:spcBef>
                <a:spcPts val="0"/>
              </a:spcBef>
              <a:spcAft>
                <a:spcPts val="0"/>
              </a:spcAft>
              <a:buClr>
                <a:schemeClr val="dk2"/>
              </a:buClr>
              <a:buSzPts val="3250"/>
              <a:buFont typeface="Calibri"/>
              <a:buAutoNum type="arabicPeriod"/>
            </a:pPr>
            <a:r>
              <a:rPr lang="en-US" sz="3250">
                <a:solidFill>
                  <a:schemeClr val="dk2"/>
                </a:solidFill>
                <a:latin typeface="Calibri"/>
                <a:ea typeface="Calibri"/>
                <a:cs typeface="Calibri"/>
                <a:sym typeface="Calibri"/>
              </a:rPr>
              <a:t>Multiplexing is a process where </a:t>
            </a:r>
            <a:r>
              <a:rPr lang="en-US" sz="3250" u="sng">
                <a:solidFill>
                  <a:schemeClr val="dk2"/>
                </a:solidFill>
                <a:latin typeface="Calibri"/>
                <a:ea typeface="Calibri"/>
                <a:cs typeface="Calibri"/>
                <a:sym typeface="Calibri"/>
              </a:rPr>
              <a:t>multiple packets from different sources can be sent over the network simultaneously</a:t>
            </a:r>
            <a:r>
              <a:rPr lang="en-US" sz="3250">
                <a:solidFill>
                  <a:schemeClr val="dk2"/>
                </a:solidFill>
                <a:latin typeface="Calibri"/>
                <a:ea typeface="Calibri"/>
                <a:cs typeface="Calibri"/>
                <a:sym typeface="Calibri"/>
              </a:rPr>
              <a:t>. Breaking data into packets enables multiplexing, which</a:t>
            </a:r>
            <a:r>
              <a:rPr lang="en-US" sz="3250" u="sng">
                <a:solidFill>
                  <a:schemeClr val="dk2"/>
                </a:solidFill>
                <a:latin typeface="Calibri"/>
                <a:ea typeface="Calibri"/>
                <a:cs typeface="Calibri"/>
                <a:sym typeface="Calibri"/>
              </a:rPr>
              <a:t> helps make efficient use of the network</a:t>
            </a:r>
            <a:r>
              <a:rPr lang="en-US" sz="3250">
                <a:solidFill>
                  <a:schemeClr val="dk2"/>
                </a:solidFill>
                <a:latin typeface="Calibri"/>
                <a:ea typeface="Calibri"/>
                <a:cs typeface="Calibri"/>
                <a:sym typeface="Calibri"/>
              </a:rPr>
              <a:t>.</a:t>
            </a:r>
            <a:endParaRPr/>
          </a:p>
          <a:p>
            <a:pPr indent="-742950" lvl="0" marL="742950" marR="0" rtl="0" algn="l">
              <a:lnSpc>
                <a:spcPct val="150000"/>
              </a:lnSpc>
              <a:spcBef>
                <a:spcPts val="0"/>
              </a:spcBef>
              <a:spcAft>
                <a:spcPts val="0"/>
              </a:spcAft>
              <a:buClr>
                <a:schemeClr val="dk2"/>
              </a:buClr>
              <a:buSzPts val="3250"/>
              <a:buFont typeface="Calibri"/>
              <a:buAutoNum type="arabicPeriod"/>
            </a:pPr>
            <a:r>
              <a:rPr lang="en-US" sz="3250">
                <a:solidFill>
                  <a:schemeClr val="dk2"/>
                </a:solidFill>
                <a:latin typeface="Calibri"/>
                <a:ea typeface="Calibri"/>
                <a:cs typeface="Calibri"/>
                <a:sym typeface="Calibri"/>
              </a:rPr>
              <a:t>Dividing data into packets prevents network congestion by </a:t>
            </a:r>
            <a:r>
              <a:rPr lang="en-US" sz="3250" u="sng">
                <a:solidFill>
                  <a:schemeClr val="dk2"/>
                </a:solidFill>
                <a:latin typeface="Calibri"/>
                <a:ea typeface="Calibri"/>
                <a:cs typeface="Calibri"/>
                <a:sym typeface="Calibri"/>
              </a:rPr>
              <a:t>allowing data to be sent in manageable chunks</a:t>
            </a:r>
            <a:r>
              <a:rPr lang="en-US" sz="3250">
                <a:solidFill>
                  <a:schemeClr val="dk2"/>
                </a:solidFill>
                <a:latin typeface="Calibri"/>
                <a:ea typeface="Calibri"/>
                <a:cs typeface="Calibri"/>
                <a:sym typeface="Calibri"/>
              </a:rPr>
              <a:t>. If a large data stream were sent all at once, </a:t>
            </a:r>
            <a:r>
              <a:rPr lang="en-US" sz="3250" u="sng">
                <a:solidFill>
                  <a:schemeClr val="dk2"/>
                </a:solidFill>
                <a:latin typeface="Calibri"/>
                <a:ea typeface="Calibri"/>
                <a:cs typeface="Calibri"/>
                <a:sym typeface="Calibri"/>
              </a:rPr>
              <a:t>it could overwhelm the network</a:t>
            </a:r>
            <a:r>
              <a:rPr lang="en-US" sz="3250">
                <a:solidFill>
                  <a:schemeClr val="dk2"/>
                </a:solidFill>
                <a:latin typeface="Calibri"/>
                <a:ea typeface="Calibri"/>
                <a:cs typeface="Calibri"/>
                <a:sym typeface="Calibri"/>
              </a:rPr>
              <a:t>.</a:t>
            </a:r>
            <a:endParaRPr/>
          </a:p>
          <a:p>
            <a:pPr indent="-742950" lvl="0" marL="742950" marR="0" rtl="0" algn="l">
              <a:lnSpc>
                <a:spcPct val="150000"/>
              </a:lnSpc>
              <a:spcBef>
                <a:spcPts val="0"/>
              </a:spcBef>
              <a:spcAft>
                <a:spcPts val="0"/>
              </a:spcAft>
              <a:buClr>
                <a:schemeClr val="dk2"/>
              </a:buClr>
              <a:buSzPts val="3250"/>
              <a:buFont typeface="Calibri"/>
              <a:buAutoNum type="arabicPeriod"/>
            </a:pPr>
            <a:r>
              <a:rPr lang="en-US" sz="3250">
                <a:solidFill>
                  <a:schemeClr val="dk2"/>
                </a:solidFill>
                <a:latin typeface="Calibri"/>
                <a:ea typeface="Calibri"/>
                <a:cs typeface="Calibri"/>
                <a:sym typeface="Calibri"/>
              </a:rPr>
              <a:t>An example of a real-world example to explain the concept of data packet transmission is </a:t>
            </a:r>
            <a:r>
              <a:rPr lang="en-US" sz="3250" u="sng">
                <a:solidFill>
                  <a:schemeClr val="dk2"/>
                </a:solidFill>
                <a:latin typeface="Calibri"/>
                <a:ea typeface="Calibri"/>
                <a:cs typeface="Calibri"/>
                <a:sym typeface="Calibri"/>
              </a:rPr>
              <a:t>sending a large package by mail</a:t>
            </a:r>
            <a:r>
              <a:rPr lang="en-US" sz="3250">
                <a:solidFill>
                  <a:schemeClr val="dk2"/>
                </a:solidFill>
                <a:latin typeface="Calibri"/>
                <a:ea typeface="Calibri"/>
                <a:cs typeface="Calibri"/>
                <a:sym typeface="Calibri"/>
              </a:rPr>
              <a:t>. If we tried to send it all at once, it would be heavy and difficult to handle. But if we break it down into smaller boxes, </a:t>
            </a:r>
            <a:r>
              <a:rPr lang="en-US" sz="3250" u="sng">
                <a:solidFill>
                  <a:schemeClr val="dk2"/>
                </a:solidFill>
                <a:latin typeface="Calibri"/>
                <a:ea typeface="Calibri"/>
                <a:cs typeface="Calibri"/>
                <a:sym typeface="Calibri"/>
              </a:rPr>
              <a:t>it's easier to transport</a:t>
            </a:r>
            <a:r>
              <a:rPr lang="en-US" sz="3250">
                <a:solidFill>
                  <a:schemeClr val="dk2"/>
                </a:solidFill>
                <a:latin typeface="Calibri"/>
                <a:ea typeface="Calibri"/>
                <a:cs typeface="Calibri"/>
                <a:sym typeface="Calibri"/>
              </a:rPr>
              <a:t>. The same principle applies to data transmission.</a:t>
            </a:r>
            <a:endParaRPr/>
          </a:p>
        </p:txBody>
      </p:sp>
    </p:spTree>
  </p:cSld>
  <p:clrMapOvr>
    <a:masterClrMapping/>
  </p:clrMapOvr>
  <p:transition spd="slow">
    <p:push/>
  </p:transition>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7"/>
                                        </p:tgtEl>
                                        <p:attrNameLst>
                                          <p:attrName>style.visibility</p:attrName>
                                        </p:attrNameLst>
                                      </p:cBhvr>
                                      <p:to>
                                        <p:strVal val="visible"/>
                                      </p:to>
                                    </p:set>
                                    <p:animEffect filter="fade" transition="in">
                                      <p:cBhvr>
                                        <p:cTn dur="500"/>
                                        <p:tgtEl>
                                          <p:spTgt spid="67"/>
                                        </p:tgtEl>
                                      </p:cBhvr>
                                    </p:animEffect>
                                  </p:childTnLst>
                                </p:cTn>
                              </p:par>
                              <p:par>
                                <p:cTn fill="hold" nodeType="withEffect" presetClass="entr" presetID="10" presetSubtype="0">
                                  <p:stCondLst>
                                    <p:cond delay="0"/>
                                  </p:stCondLst>
                                  <p:childTnLst>
                                    <p:set>
                                      <p:cBhvr>
                                        <p:cTn dur="1" fill="hold">
                                          <p:stCondLst>
                                            <p:cond delay="0"/>
                                          </p:stCondLst>
                                        </p:cTn>
                                        <p:tgtEl>
                                          <p:spTgt spid="69"/>
                                        </p:tgtEl>
                                        <p:attrNameLst>
                                          <p:attrName>style.visibility</p:attrName>
                                        </p:attrNameLst>
                                      </p:cBhvr>
                                      <p:to>
                                        <p:strVal val="visible"/>
                                      </p:to>
                                    </p:set>
                                    <p:animEffect filter="fade" transition="in">
                                      <p:cBhvr>
                                        <p:cTn dur="500"/>
                                        <p:tgtEl>
                                          <p:spTgt spid="6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8"/>
                                        </p:tgtEl>
                                        <p:attrNameLst>
                                          <p:attrName>style.visibility</p:attrName>
                                        </p:attrNameLst>
                                      </p:cBhvr>
                                      <p:to>
                                        <p:strVal val="visible"/>
                                      </p:to>
                                    </p:set>
                                    <p:animEffect filter="fade" transition="in">
                                      <p:cBhvr>
                                        <p:cTn dur="500"/>
                                        <p:tgtEl>
                                          <p:spTgt spid="6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4">
                                  <p:stCondLst>
                                    <p:cond delay="0"/>
                                  </p:stCondLst>
                                  <p:childTnLst>
                                    <p:set>
                                      <p:cBhvr>
                                        <p:cTn dur="1" fill="hold">
                                          <p:stCondLst>
                                            <p:cond delay="0"/>
                                          </p:stCondLst>
                                        </p:cTn>
                                        <p:tgtEl>
                                          <p:spTgt spid="71"/>
                                        </p:tgtEl>
                                        <p:attrNameLst>
                                          <p:attrName>style.visibility</p:attrName>
                                        </p:attrNameLst>
                                      </p:cBhvr>
                                      <p:to>
                                        <p:strVal val="visible"/>
                                      </p:to>
                                    </p:set>
                                    <p:anim calcmode="lin" valueType="num">
                                      <p:cBhvr additive="base">
                                        <p:cTn dur="500"/>
                                        <p:tgtEl>
                                          <p:spTgt spid="71"/>
                                        </p:tgtEl>
                                        <p:attrNameLst>
                                          <p:attrName>ppt_y</p:attrName>
                                        </p:attrNameLst>
                                      </p:cBhvr>
                                      <p:tavLst>
                                        <p:tav fmla="" tm="0">
                                          <p:val>
                                            <p:strVal val="#ppt_y+1"/>
                                          </p:val>
                                        </p:tav>
                                        <p:tav fmla="" tm="100000">
                                          <p:val>
                                            <p:strVal val="#ppt_y"/>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0"/>
                                        </p:tgtEl>
                                        <p:attrNameLst>
                                          <p:attrName>style.visibility</p:attrName>
                                        </p:attrNameLst>
                                      </p:cBhvr>
                                      <p:to>
                                        <p:strVal val="visible"/>
                                      </p:to>
                                    </p:set>
                                    <p:animEffect filter="fade" transition="in">
                                      <p:cBhvr>
                                        <p:cTn dur="500"/>
                                        <p:tgtEl>
                                          <p:spTgt spid="7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4">
                                  <p:stCondLst>
                                    <p:cond delay="0"/>
                                  </p:stCondLst>
                                  <p:childTnLst>
                                    <p:set>
                                      <p:cBhvr>
                                        <p:cTn dur="1" fill="hold">
                                          <p:stCondLst>
                                            <p:cond delay="0"/>
                                          </p:stCondLst>
                                        </p:cTn>
                                        <p:tgtEl>
                                          <p:spTgt spid="72"/>
                                        </p:tgtEl>
                                        <p:attrNameLst>
                                          <p:attrName>style.visibility</p:attrName>
                                        </p:attrNameLst>
                                      </p:cBhvr>
                                      <p:to>
                                        <p:strVal val="visible"/>
                                      </p:to>
                                    </p:set>
                                    <p:anim calcmode="lin" valueType="num">
                                      <p:cBhvr additive="base">
                                        <p:cTn dur="500"/>
                                        <p:tgtEl>
                                          <p:spTgt spid="72"/>
                                        </p:tgtEl>
                                        <p:attrNameLst>
                                          <p:attrName>ppt_y</p:attrName>
                                        </p:attrNameLst>
                                      </p:cBhvr>
                                      <p:tavLst>
                                        <p:tav fmla="" tm="0">
                                          <p:val>
                                            <p:strVal val="#ppt_y+1"/>
                                          </p:val>
                                        </p:tav>
                                        <p:tav fmla="" tm="100000">
                                          <p:val>
                                            <p:strVal val="#ppt_y"/>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2">
                                            <p:txEl>
                                              <p:pRg end="0" st="0"/>
                                            </p:txEl>
                                          </p:spTgt>
                                        </p:tgtEl>
                                        <p:attrNameLst>
                                          <p:attrName>style.visibility</p:attrName>
                                        </p:attrNameLst>
                                      </p:cBhvr>
                                      <p:to>
                                        <p:strVal val="visible"/>
                                      </p:to>
                                    </p:set>
                                    <p:animEffect filter="fade" transition="in">
                                      <p:cBhvr>
                                        <p:cTn dur="500"/>
                                        <p:tgtEl>
                                          <p:spTgt spid="72">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2">
                                            <p:txEl>
                                              <p:pRg end="1" st="1"/>
                                            </p:txEl>
                                          </p:spTgt>
                                        </p:tgtEl>
                                        <p:attrNameLst>
                                          <p:attrName>style.visibility</p:attrName>
                                        </p:attrNameLst>
                                      </p:cBhvr>
                                      <p:to>
                                        <p:strVal val="visible"/>
                                      </p:to>
                                    </p:set>
                                    <p:animEffect filter="fade" transition="in">
                                      <p:cBhvr>
                                        <p:cTn dur="500"/>
                                        <p:tgtEl>
                                          <p:spTgt spid="72">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2">
                                            <p:txEl>
                                              <p:pRg end="2" st="2"/>
                                            </p:txEl>
                                          </p:spTgt>
                                        </p:tgtEl>
                                        <p:attrNameLst>
                                          <p:attrName>style.visibility</p:attrName>
                                        </p:attrNameLst>
                                      </p:cBhvr>
                                      <p:to>
                                        <p:strVal val="visible"/>
                                      </p:to>
                                    </p:set>
                                    <p:animEffect filter="fade" transition="in">
                                      <p:cBhvr>
                                        <p:cTn dur="500"/>
                                        <p:tgtEl>
                                          <p:spTgt spid="72">
                                            <p:txEl>
                                              <p:pRg end="2" st="2"/>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2">
                                            <p:txEl>
                                              <p:pRg end="3" st="3"/>
                                            </p:txEl>
                                          </p:spTgt>
                                        </p:tgtEl>
                                        <p:attrNameLst>
                                          <p:attrName>style.visibility</p:attrName>
                                        </p:attrNameLst>
                                      </p:cBhvr>
                                      <p:to>
                                        <p:strVal val="visible"/>
                                      </p:to>
                                    </p:set>
                                    <p:animEffect filter="fade" transition="in">
                                      <p:cBhvr>
                                        <p:cTn dur="500"/>
                                        <p:tgtEl>
                                          <p:spTgt spid="72">
                                            <p:txEl>
                                              <p:pRg end="3" st="3"/>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2">
                                            <p:txEl>
                                              <p:pRg end="4" st="4"/>
                                            </p:txEl>
                                          </p:spTgt>
                                        </p:tgtEl>
                                        <p:attrNameLst>
                                          <p:attrName>style.visibility</p:attrName>
                                        </p:attrNameLst>
                                      </p:cBhvr>
                                      <p:to>
                                        <p:strVal val="visible"/>
                                      </p:to>
                                    </p:set>
                                    <p:animEffect filter="fade" transition="in">
                                      <p:cBhvr>
                                        <p:cTn dur="500"/>
                                        <p:tgtEl>
                                          <p:spTgt spid="72">
                                            <p:txEl>
                                              <p:pRg end="4" st="4"/>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2">
                                            <p:txEl>
                                              <p:pRg end="5" st="5"/>
                                            </p:txEl>
                                          </p:spTgt>
                                        </p:tgtEl>
                                        <p:attrNameLst>
                                          <p:attrName>style.visibility</p:attrName>
                                        </p:attrNameLst>
                                      </p:cBhvr>
                                      <p:to>
                                        <p:strVal val="visible"/>
                                      </p:to>
                                    </p:set>
                                    <p:animEffect filter="fade" transition="in">
                                      <p:cBhvr>
                                        <p:cTn dur="500"/>
                                        <p:tgtEl>
                                          <p:spTgt spid="72">
                                            <p:txEl>
                                              <p:pRg end="5" st="5"/>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 name="Shape 77"/>
        <p:cNvGrpSpPr/>
        <p:nvPr/>
      </p:nvGrpSpPr>
      <p:grpSpPr>
        <a:xfrm>
          <a:off x="0" y="0"/>
          <a:ext cx="0" cy="0"/>
          <a:chOff x="0" y="0"/>
          <a:chExt cx="0" cy="0"/>
        </a:xfrm>
      </p:grpSpPr>
      <p:sp>
        <p:nvSpPr>
          <p:cNvPr id="78" name="Google Shape;78;p10"/>
          <p:cNvSpPr txBox="1"/>
          <p:nvPr/>
        </p:nvSpPr>
        <p:spPr>
          <a:xfrm>
            <a:off x="4570444" y="631048"/>
            <a:ext cx="15544800" cy="2646878"/>
          </a:xfrm>
          <a:prstGeom prst="rect">
            <a:avLst/>
          </a:prstGeom>
          <a:solidFill>
            <a:srgbClr val="C1E8F9"/>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dk2"/>
              </a:buClr>
              <a:buSzPts val="16600"/>
              <a:buFont typeface="Arial"/>
              <a:buNone/>
            </a:pPr>
            <a:r>
              <a:rPr b="1" lang="en-US" sz="16600">
                <a:solidFill>
                  <a:schemeClr val="dk2"/>
                </a:solidFill>
                <a:latin typeface="Open Sans Light"/>
                <a:ea typeface="Open Sans Light"/>
                <a:cs typeface="Open Sans Light"/>
                <a:sym typeface="Open Sans Light"/>
              </a:rPr>
              <a:t>Turn and Talk</a:t>
            </a:r>
            <a:endParaRPr sz="8000">
              <a:solidFill>
                <a:schemeClr val="dk2"/>
              </a:solidFill>
              <a:latin typeface="Open Sans Light"/>
              <a:ea typeface="Open Sans Light"/>
              <a:cs typeface="Open Sans Light"/>
              <a:sym typeface="Open Sans Light"/>
            </a:endParaRPr>
          </a:p>
        </p:txBody>
      </p:sp>
      <p:sp>
        <p:nvSpPr>
          <p:cNvPr id="79" name="Google Shape;79;p10"/>
          <p:cNvSpPr txBox="1"/>
          <p:nvPr/>
        </p:nvSpPr>
        <p:spPr>
          <a:xfrm>
            <a:off x="4570443" y="3624885"/>
            <a:ext cx="15544801" cy="9134745"/>
          </a:xfrm>
          <a:prstGeom prst="rect">
            <a:avLst/>
          </a:prstGeom>
          <a:solidFill>
            <a:srgbClr val="FFECBA"/>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Clr>
                <a:srgbClr val="0070C0"/>
              </a:buClr>
              <a:buSzPts val="8000"/>
              <a:buFont typeface="Arial"/>
              <a:buNone/>
            </a:pPr>
            <a:r>
              <a:rPr b="1" i="1" lang="en-US" sz="8000">
                <a:solidFill>
                  <a:srgbClr val="0070C0"/>
                </a:solidFill>
                <a:latin typeface="Open Sans Light"/>
                <a:ea typeface="Open Sans Light"/>
                <a:cs typeface="Open Sans Light"/>
                <a:sym typeface="Open Sans Light"/>
              </a:rPr>
              <a:t>Think about the package example to explain a data packet</a:t>
            </a:r>
            <a:r>
              <a:rPr b="1" lang="en-US" sz="8000">
                <a:solidFill>
                  <a:schemeClr val="dk2"/>
                </a:solidFill>
                <a:latin typeface="Open Sans Light"/>
                <a:ea typeface="Open Sans Light"/>
                <a:cs typeface="Open Sans Light"/>
                <a:sym typeface="Open Sans Light"/>
              </a:rPr>
              <a:t>.</a:t>
            </a:r>
            <a:r>
              <a:rPr lang="en-US" sz="8000">
                <a:solidFill>
                  <a:schemeClr val="dk2"/>
                </a:solidFill>
                <a:latin typeface="Open Sans Light"/>
                <a:ea typeface="Open Sans Light"/>
                <a:cs typeface="Open Sans Light"/>
                <a:sym typeface="Open Sans Light"/>
              </a:rPr>
              <a:t> What’s </a:t>
            </a:r>
            <a:r>
              <a:rPr lang="en-US" sz="8000" u="sng">
                <a:solidFill>
                  <a:schemeClr val="dk2"/>
                </a:solidFill>
                <a:latin typeface="Open Sans Light"/>
                <a:ea typeface="Open Sans Light"/>
                <a:cs typeface="Open Sans Light"/>
                <a:sym typeface="Open Sans Light"/>
              </a:rPr>
              <a:t>another</a:t>
            </a:r>
            <a:r>
              <a:rPr lang="en-US" sz="8000">
                <a:solidFill>
                  <a:schemeClr val="dk2"/>
                </a:solidFill>
                <a:latin typeface="Open Sans Light"/>
                <a:ea typeface="Open Sans Light"/>
                <a:cs typeface="Open Sans Light"/>
                <a:sym typeface="Open Sans Light"/>
              </a:rPr>
              <a:t> real-world example to </a:t>
            </a:r>
            <a:r>
              <a:rPr lang="en-US" sz="8000">
                <a:solidFill>
                  <a:srgbClr val="7030A0"/>
                </a:solidFill>
                <a:latin typeface="Open Sans Light"/>
                <a:ea typeface="Open Sans Light"/>
                <a:cs typeface="Open Sans Light"/>
                <a:sym typeface="Open Sans Light"/>
              </a:rPr>
              <a:t>explain</a:t>
            </a:r>
            <a:r>
              <a:rPr lang="en-US" sz="8000">
                <a:solidFill>
                  <a:schemeClr val="dk2"/>
                </a:solidFill>
                <a:latin typeface="Open Sans Light"/>
                <a:ea typeface="Open Sans Light"/>
                <a:cs typeface="Open Sans Light"/>
                <a:sym typeface="Open Sans Light"/>
              </a:rPr>
              <a:t> the concept of data packet transmission?</a:t>
            </a:r>
            <a:endParaRPr/>
          </a:p>
        </p:txBody>
      </p:sp>
    </p:spTree>
  </p:cSld>
  <p:clrMapOvr>
    <a:masterClrMapping/>
  </p:clrMapOvr>
  <p:transition spd="slow">
    <p:push/>
  </p:transition>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9">
                                            <p:txEl>
                                              <p:pRg end="0" st="0"/>
                                            </p:txEl>
                                          </p:spTgt>
                                        </p:tgtEl>
                                        <p:attrNameLst>
                                          <p:attrName>style.visibility</p:attrName>
                                        </p:attrNameLst>
                                      </p:cBhvr>
                                      <p:to>
                                        <p:strVal val="visible"/>
                                      </p:to>
                                    </p:set>
                                    <p:animEffect filter="fade" transition="in">
                                      <p:cBhvr>
                                        <p:cTn dur="500"/>
                                        <p:tgtEl>
                                          <p:spTgt spid="79">
                                            <p:txEl>
                                              <p:pRg end="0" st="0"/>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1"/>
          <p:cNvSpPr txBox="1"/>
          <p:nvPr/>
        </p:nvSpPr>
        <p:spPr>
          <a:xfrm>
            <a:off x="775482" y="271626"/>
            <a:ext cx="15885631" cy="132343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8000">
                <a:solidFill>
                  <a:schemeClr val="dk2"/>
                </a:solidFill>
                <a:latin typeface="Poppins"/>
                <a:ea typeface="Poppins"/>
                <a:cs typeface="Poppins"/>
                <a:sym typeface="Poppins"/>
              </a:rPr>
              <a:t>Packet Transmission Analogy Activity</a:t>
            </a:r>
            <a:endParaRPr/>
          </a:p>
        </p:txBody>
      </p:sp>
      <p:sp>
        <p:nvSpPr>
          <p:cNvPr id="85" name="Google Shape;85;p11"/>
          <p:cNvSpPr txBox="1"/>
          <p:nvPr/>
        </p:nvSpPr>
        <p:spPr>
          <a:xfrm>
            <a:off x="775482" y="1716789"/>
            <a:ext cx="6750246" cy="70788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4000">
                <a:solidFill>
                  <a:srgbClr val="BFBFBF"/>
                </a:solidFill>
                <a:latin typeface="Calibri"/>
                <a:ea typeface="Calibri"/>
                <a:cs typeface="Calibri"/>
                <a:sym typeface="Calibri"/>
              </a:rPr>
              <a:t>Year 10 GCSE Computer Science</a:t>
            </a:r>
            <a:endParaRPr/>
          </a:p>
        </p:txBody>
      </p:sp>
      <p:grpSp>
        <p:nvGrpSpPr>
          <p:cNvPr id="86" name="Google Shape;86;p11"/>
          <p:cNvGrpSpPr/>
          <p:nvPr/>
        </p:nvGrpSpPr>
        <p:grpSpPr>
          <a:xfrm>
            <a:off x="507769" y="5613694"/>
            <a:ext cx="15113231" cy="7695905"/>
            <a:chOff x="7245939" y="7953814"/>
            <a:chExt cx="13204684" cy="2384558"/>
          </a:xfrm>
        </p:grpSpPr>
        <p:sp>
          <p:nvSpPr>
            <p:cNvPr id="87" name="Google Shape;87;p11"/>
            <p:cNvSpPr/>
            <p:nvPr/>
          </p:nvSpPr>
          <p:spPr>
            <a:xfrm>
              <a:off x="8061263" y="8007402"/>
              <a:ext cx="12389360" cy="2330970"/>
            </a:xfrm>
            <a:prstGeom prst="roundRect">
              <a:avLst>
                <a:gd fmla="val 16667" name="adj"/>
              </a:avLst>
            </a:prstGeom>
            <a:solidFill>
              <a:schemeClr val="accent3"/>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6532">
                <a:solidFill>
                  <a:schemeClr val="dk1"/>
                </a:solidFill>
                <a:latin typeface="Calibri"/>
                <a:ea typeface="Calibri"/>
                <a:cs typeface="Calibri"/>
                <a:sym typeface="Calibri"/>
              </a:endParaRPr>
            </a:p>
          </p:txBody>
        </p:sp>
        <p:sp>
          <p:nvSpPr>
            <p:cNvPr id="88" name="Google Shape;88;p11"/>
            <p:cNvSpPr/>
            <p:nvPr/>
          </p:nvSpPr>
          <p:spPr>
            <a:xfrm>
              <a:off x="7698436" y="8032600"/>
              <a:ext cx="2289841" cy="2280574"/>
            </a:xfrm>
            <a:custGeom>
              <a:rect b="b" l="l" r="r" t="t"/>
              <a:pathLst>
                <a:path extrusionOk="0" h="3296" w="3506">
                  <a:moveTo>
                    <a:pt x="2923" y="0"/>
                  </a:moveTo>
                  <a:lnTo>
                    <a:pt x="594" y="0"/>
                  </a:lnTo>
                  <a:lnTo>
                    <a:pt x="594" y="0"/>
                  </a:lnTo>
                  <a:cubicBezTo>
                    <a:pt x="266" y="0"/>
                    <a:pt x="0" y="266"/>
                    <a:pt x="0" y="594"/>
                  </a:cubicBezTo>
                  <a:lnTo>
                    <a:pt x="0" y="2702"/>
                  </a:lnTo>
                  <a:lnTo>
                    <a:pt x="0" y="2702"/>
                  </a:lnTo>
                  <a:cubicBezTo>
                    <a:pt x="0" y="3029"/>
                    <a:pt x="266" y="3295"/>
                    <a:pt x="594" y="3295"/>
                  </a:cubicBezTo>
                  <a:lnTo>
                    <a:pt x="2902" y="3295"/>
                  </a:lnTo>
                  <a:lnTo>
                    <a:pt x="2902" y="3295"/>
                  </a:lnTo>
                  <a:cubicBezTo>
                    <a:pt x="3279" y="2846"/>
                    <a:pt x="3505" y="2267"/>
                    <a:pt x="3505" y="1635"/>
                  </a:cubicBezTo>
                  <a:lnTo>
                    <a:pt x="3505" y="1635"/>
                  </a:lnTo>
                  <a:cubicBezTo>
                    <a:pt x="3505" y="1015"/>
                    <a:pt x="3287" y="446"/>
                    <a:pt x="2923" y="0"/>
                  </a:cubicBezTo>
                </a:path>
              </a:pathLst>
            </a:custGeom>
            <a:solidFill>
              <a:srgbClr val="1B0E00">
                <a:alpha val="9804"/>
              </a:srgbClr>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6532">
                <a:solidFill>
                  <a:schemeClr val="dk1"/>
                </a:solidFill>
                <a:latin typeface="Calibri"/>
                <a:ea typeface="Calibri"/>
                <a:cs typeface="Calibri"/>
                <a:sym typeface="Calibri"/>
              </a:endParaRPr>
            </a:p>
          </p:txBody>
        </p:sp>
        <p:sp>
          <p:nvSpPr>
            <p:cNvPr id="89" name="Google Shape;89;p11"/>
            <p:cNvSpPr/>
            <p:nvPr/>
          </p:nvSpPr>
          <p:spPr>
            <a:xfrm>
              <a:off x="7245939" y="7953814"/>
              <a:ext cx="2543308" cy="2384558"/>
            </a:xfrm>
            <a:custGeom>
              <a:rect b="b" l="l" r="r" t="t"/>
              <a:pathLst>
                <a:path extrusionOk="0" h="3893" w="3895">
                  <a:moveTo>
                    <a:pt x="3894" y="1946"/>
                  </a:moveTo>
                  <a:lnTo>
                    <a:pt x="3894" y="1946"/>
                  </a:lnTo>
                  <a:cubicBezTo>
                    <a:pt x="3894" y="3021"/>
                    <a:pt x="3022" y="3892"/>
                    <a:pt x="1947" y="3892"/>
                  </a:cubicBezTo>
                  <a:lnTo>
                    <a:pt x="1947" y="3892"/>
                  </a:lnTo>
                  <a:cubicBezTo>
                    <a:pt x="872" y="3892"/>
                    <a:pt x="0" y="3021"/>
                    <a:pt x="0" y="1946"/>
                  </a:cubicBezTo>
                  <a:lnTo>
                    <a:pt x="0" y="1946"/>
                  </a:lnTo>
                  <a:cubicBezTo>
                    <a:pt x="0" y="871"/>
                    <a:pt x="872" y="0"/>
                    <a:pt x="1947" y="0"/>
                  </a:cubicBezTo>
                  <a:lnTo>
                    <a:pt x="1947" y="0"/>
                  </a:lnTo>
                  <a:cubicBezTo>
                    <a:pt x="3022" y="0"/>
                    <a:pt x="3894" y="871"/>
                    <a:pt x="3894" y="1946"/>
                  </a:cubicBezTo>
                </a:path>
              </a:pathLst>
            </a:custGeom>
            <a:solidFill>
              <a:schemeClr val="accent3"/>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6532">
                <a:solidFill>
                  <a:schemeClr val="dk1"/>
                </a:solidFill>
                <a:latin typeface="Calibri"/>
                <a:ea typeface="Calibri"/>
                <a:cs typeface="Calibri"/>
                <a:sym typeface="Calibri"/>
              </a:endParaRPr>
            </a:p>
          </p:txBody>
        </p:sp>
      </p:grpSp>
      <p:sp>
        <p:nvSpPr>
          <p:cNvPr id="90" name="Google Shape;90;p11"/>
          <p:cNvSpPr txBox="1"/>
          <p:nvPr/>
        </p:nvSpPr>
        <p:spPr>
          <a:xfrm>
            <a:off x="3847516" y="5851546"/>
            <a:ext cx="11613163" cy="7377148"/>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Clr>
                <a:schemeClr val="dk2"/>
              </a:buClr>
              <a:buSzPts val="3300"/>
              <a:buFont typeface="Arial"/>
              <a:buNone/>
            </a:pPr>
            <a:r>
              <a:rPr b="1" lang="en-US" sz="3300" u="sng">
                <a:solidFill>
                  <a:schemeClr val="dk2"/>
                </a:solidFill>
                <a:latin typeface="Calibri"/>
                <a:ea typeface="Calibri"/>
                <a:cs typeface="Calibri"/>
                <a:sym typeface="Calibri"/>
              </a:rPr>
              <a:t>Objective</a:t>
            </a:r>
            <a:r>
              <a:rPr b="1" lang="en-US" sz="3300">
                <a:solidFill>
                  <a:schemeClr val="dk2"/>
                </a:solidFill>
                <a:latin typeface="Calibri"/>
                <a:ea typeface="Calibri"/>
                <a:cs typeface="Calibri"/>
                <a:sym typeface="Calibri"/>
              </a:rPr>
              <a:t>: </a:t>
            </a:r>
            <a:r>
              <a:rPr lang="en-US" sz="3300">
                <a:solidFill>
                  <a:schemeClr val="dk2"/>
                </a:solidFill>
                <a:latin typeface="Calibri"/>
                <a:ea typeface="Calibri"/>
                <a:cs typeface="Calibri"/>
                <a:sym typeface="Calibri"/>
              </a:rPr>
              <a:t>To strengthen understanding of data packets and transmission through read-world examples.</a:t>
            </a:r>
            <a:endParaRPr sz="3300">
              <a:solidFill>
                <a:schemeClr val="dk2"/>
              </a:solidFill>
              <a:latin typeface="Calibri"/>
              <a:ea typeface="Calibri"/>
              <a:cs typeface="Calibri"/>
              <a:sym typeface="Calibri"/>
            </a:endParaRPr>
          </a:p>
          <a:p>
            <a:pPr indent="0" lvl="0" marL="0" marR="0" rtl="0" algn="l">
              <a:lnSpc>
                <a:spcPct val="150000"/>
              </a:lnSpc>
              <a:spcBef>
                <a:spcPts val="660"/>
              </a:spcBef>
              <a:spcAft>
                <a:spcPts val="0"/>
              </a:spcAft>
              <a:buClr>
                <a:schemeClr val="dk2"/>
              </a:buClr>
              <a:buSzPts val="3300"/>
              <a:buFont typeface="Arial"/>
              <a:buNone/>
            </a:pPr>
            <a:r>
              <a:t/>
            </a:r>
            <a:endParaRPr sz="3300">
              <a:solidFill>
                <a:schemeClr val="dk2"/>
              </a:solidFill>
              <a:latin typeface="Calibri"/>
              <a:ea typeface="Calibri"/>
              <a:cs typeface="Calibri"/>
              <a:sym typeface="Calibri"/>
            </a:endParaRPr>
          </a:p>
          <a:p>
            <a:pPr indent="0" lvl="0" marL="0" marR="0" rtl="0" algn="l">
              <a:lnSpc>
                <a:spcPct val="150000"/>
              </a:lnSpc>
              <a:spcBef>
                <a:spcPts val="660"/>
              </a:spcBef>
              <a:spcAft>
                <a:spcPts val="0"/>
              </a:spcAft>
              <a:buClr>
                <a:schemeClr val="dk2"/>
              </a:buClr>
              <a:buSzPts val="3300"/>
              <a:buFont typeface="Arial"/>
              <a:buNone/>
            </a:pPr>
            <a:r>
              <a:rPr b="1" lang="en-US" sz="3300" u="sng">
                <a:solidFill>
                  <a:schemeClr val="dk2"/>
                </a:solidFill>
                <a:latin typeface="Calibri"/>
                <a:ea typeface="Calibri"/>
                <a:cs typeface="Calibri"/>
                <a:sym typeface="Calibri"/>
              </a:rPr>
              <a:t>Instructions</a:t>
            </a:r>
            <a:endParaRPr/>
          </a:p>
          <a:p>
            <a:pPr indent="-742950" lvl="0" marL="742950" marR="0" rtl="0" algn="l">
              <a:lnSpc>
                <a:spcPct val="150000"/>
              </a:lnSpc>
              <a:spcBef>
                <a:spcPts val="660"/>
              </a:spcBef>
              <a:spcAft>
                <a:spcPts val="0"/>
              </a:spcAft>
              <a:buClr>
                <a:schemeClr val="dk2"/>
              </a:buClr>
              <a:buSzPts val="3300"/>
              <a:buFont typeface="Calibri"/>
              <a:buAutoNum type="arabicPeriod"/>
            </a:pPr>
            <a:r>
              <a:rPr b="1" lang="en-US" sz="3300">
                <a:solidFill>
                  <a:schemeClr val="dk2"/>
                </a:solidFill>
                <a:latin typeface="Calibri"/>
                <a:ea typeface="Calibri"/>
                <a:cs typeface="Calibri"/>
                <a:sym typeface="Calibri"/>
              </a:rPr>
              <a:t>The teacher </a:t>
            </a:r>
            <a:r>
              <a:rPr lang="en-US" sz="3300">
                <a:solidFill>
                  <a:schemeClr val="dk2"/>
                </a:solidFill>
                <a:latin typeface="Calibri"/>
                <a:ea typeface="Calibri"/>
                <a:cs typeface="Calibri"/>
                <a:sym typeface="Calibri"/>
              </a:rPr>
              <a:t>will put you into </a:t>
            </a:r>
            <a:r>
              <a:rPr lang="en-US" sz="3300" u="sng">
                <a:solidFill>
                  <a:srgbClr val="7030A0"/>
                </a:solidFill>
                <a:latin typeface="Calibri"/>
                <a:ea typeface="Calibri"/>
                <a:cs typeface="Calibri"/>
                <a:sym typeface="Calibri"/>
              </a:rPr>
              <a:t>groups</a:t>
            </a:r>
            <a:r>
              <a:rPr lang="en-US" sz="3300">
                <a:solidFill>
                  <a:schemeClr val="dk2"/>
                </a:solidFill>
                <a:latin typeface="Calibri"/>
                <a:ea typeface="Calibri"/>
                <a:cs typeface="Calibri"/>
                <a:sym typeface="Calibri"/>
              </a:rPr>
              <a:t>.</a:t>
            </a:r>
            <a:endParaRPr/>
          </a:p>
          <a:p>
            <a:pPr indent="-742950" lvl="0" marL="742950" marR="0" rtl="0" algn="l">
              <a:lnSpc>
                <a:spcPct val="150000"/>
              </a:lnSpc>
              <a:spcBef>
                <a:spcPts val="660"/>
              </a:spcBef>
              <a:spcAft>
                <a:spcPts val="0"/>
              </a:spcAft>
              <a:buClr>
                <a:schemeClr val="dk2"/>
              </a:buClr>
              <a:buSzPts val="3300"/>
              <a:buFont typeface="Calibri"/>
              <a:buAutoNum type="arabicPeriod"/>
            </a:pPr>
            <a:r>
              <a:rPr b="1" lang="en-US" sz="3300">
                <a:solidFill>
                  <a:schemeClr val="dk2"/>
                </a:solidFill>
                <a:latin typeface="Calibri"/>
                <a:ea typeface="Calibri"/>
                <a:cs typeface="Calibri"/>
                <a:sym typeface="Calibri"/>
              </a:rPr>
              <a:t>In groups,</a:t>
            </a:r>
            <a:r>
              <a:rPr lang="en-US" sz="3300">
                <a:solidFill>
                  <a:schemeClr val="dk2"/>
                </a:solidFill>
                <a:latin typeface="Calibri"/>
                <a:ea typeface="Calibri"/>
                <a:cs typeface="Calibri"/>
                <a:sym typeface="Calibri"/>
              </a:rPr>
              <a:t> create a </a:t>
            </a:r>
            <a:r>
              <a:rPr lang="en-US" sz="3300">
                <a:solidFill>
                  <a:srgbClr val="7030A0"/>
                </a:solidFill>
                <a:latin typeface="Calibri"/>
                <a:ea typeface="Calibri"/>
                <a:cs typeface="Calibri"/>
                <a:sym typeface="Calibri"/>
              </a:rPr>
              <a:t>60 second presentation</a:t>
            </a:r>
            <a:r>
              <a:rPr lang="en-US" sz="3300">
                <a:solidFill>
                  <a:schemeClr val="dk2"/>
                </a:solidFill>
                <a:latin typeface="Calibri"/>
                <a:ea typeface="Calibri"/>
                <a:cs typeface="Calibri"/>
                <a:sym typeface="Calibri"/>
              </a:rPr>
              <a:t> of another real-world example of a data packet and why that’s a good example.</a:t>
            </a:r>
            <a:endParaRPr/>
          </a:p>
          <a:p>
            <a:pPr indent="-742950" lvl="0" marL="742950" marR="0" rtl="0" algn="l">
              <a:lnSpc>
                <a:spcPct val="150000"/>
              </a:lnSpc>
              <a:spcBef>
                <a:spcPts val="660"/>
              </a:spcBef>
              <a:spcAft>
                <a:spcPts val="0"/>
              </a:spcAft>
              <a:buClr>
                <a:schemeClr val="dk2"/>
              </a:buClr>
              <a:buSzPts val="3300"/>
              <a:buFont typeface="Calibri"/>
              <a:buAutoNum type="arabicPeriod"/>
            </a:pPr>
            <a:r>
              <a:rPr b="1" lang="en-US" sz="3300">
                <a:solidFill>
                  <a:schemeClr val="dk2"/>
                </a:solidFill>
                <a:latin typeface="Calibri"/>
                <a:ea typeface="Calibri"/>
                <a:cs typeface="Calibri"/>
                <a:sym typeface="Calibri"/>
              </a:rPr>
              <a:t>When time’s up</a:t>
            </a:r>
            <a:r>
              <a:rPr lang="en-US" sz="3300">
                <a:solidFill>
                  <a:schemeClr val="dk2"/>
                </a:solidFill>
                <a:latin typeface="Calibri"/>
                <a:ea typeface="Calibri"/>
                <a:cs typeface="Calibri"/>
                <a:sym typeface="Calibri"/>
              </a:rPr>
              <a:t>, </a:t>
            </a:r>
            <a:r>
              <a:rPr lang="en-US" sz="3300">
                <a:solidFill>
                  <a:srgbClr val="7030A0"/>
                </a:solidFill>
                <a:latin typeface="Calibri"/>
                <a:ea typeface="Calibri"/>
                <a:cs typeface="Calibri"/>
                <a:sym typeface="Calibri"/>
              </a:rPr>
              <a:t>present</a:t>
            </a:r>
            <a:r>
              <a:rPr lang="en-US" sz="3300">
                <a:solidFill>
                  <a:schemeClr val="dk2"/>
                </a:solidFill>
                <a:latin typeface="Calibri"/>
                <a:ea typeface="Calibri"/>
                <a:cs typeface="Calibri"/>
                <a:sym typeface="Calibri"/>
              </a:rPr>
              <a:t> your example as a group to the class. </a:t>
            </a:r>
            <a:endParaRPr/>
          </a:p>
        </p:txBody>
      </p:sp>
      <p:sp>
        <p:nvSpPr>
          <p:cNvPr id="91" name="Google Shape;91;p11"/>
          <p:cNvSpPr txBox="1"/>
          <p:nvPr/>
        </p:nvSpPr>
        <p:spPr>
          <a:xfrm>
            <a:off x="775481" y="2769484"/>
            <a:ext cx="22897841" cy="2499402"/>
          </a:xfrm>
          <a:prstGeom prst="rect">
            <a:avLst/>
          </a:prstGeom>
          <a:solidFill>
            <a:srgbClr val="FFECBA"/>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Clr>
                <a:schemeClr val="dk2"/>
              </a:buClr>
              <a:buSzPts val="3600"/>
              <a:buFont typeface="Arial"/>
              <a:buNone/>
            </a:pPr>
            <a:r>
              <a:rPr b="1" lang="en-US" sz="3600">
                <a:solidFill>
                  <a:schemeClr val="dk2"/>
                </a:solidFill>
                <a:latin typeface="Open Sans Light"/>
                <a:ea typeface="Open Sans Light"/>
                <a:cs typeface="Open Sans Light"/>
                <a:sym typeface="Open Sans Light"/>
              </a:rPr>
              <a:t>Package example:</a:t>
            </a:r>
            <a:r>
              <a:rPr lang="en-US" sz="3600">
                <a:solidFill>
                  <a:schemeClr val="dk2"/>
                </a:solidFill>
                <a:latin typeface="Open Sans Light"/>
                <a:ea typeface="Open Sans Light"/>
                <a:cs typeface="Open Sans Light"/>
                <a:sym typeface="Open Sans Light"/>
              </a:rPr>
              <a:t> An example of a </a:t>
            </a:r>
            <a:r>
              <a:rPr lang="en-US" sz="3600">
                <a:solidFill>
                  <a:srgbClr val="0070C0"/>
                </a:solidFill>
                <a:latin typeface="Open Sans Light"/>
                <a:ea typeface="Open Sans Light"/>
                <a:cs typeface="Open Sans Light"/>
                <a:sym typeface="Open Sans Light"/>
              </a:rPr>
              <a:t>real-world example</a:t>
            </a:r>
            <a:r>
              <a:rPr lang="en-US" sz="3600">
                <a:solidFill>
                  <a:schemeClr val="dk2"/>
                </a:solidFill>
                <a:latin typeface="Open Sans Light"/>
                <a:ea typeface="Open Sans Light"/>
                <a:cs typeface="Open Sans Light"/>
                <a:sym typeface="Open Sans Light"/>
              </a:rPr>
              <a:t> to explain the concept of data packet transmission is </a:t>
            </a:r>
            <a:r>
              <a:rPr lang="en-US" sz="3600" u="sng">
                <a:solidFill>
                  <a:srgbClr val="0070C0"/>
                </a:solidFill>
                <a:latin typeface="Open Sans Light"/>
                <a:ea typeface="Open Sans Light"/>
                <a:cs typeface="Open Sans Light"/>
                <a:sym typeface="Open Sans Light"/>
              </a:rPr>
              <a:t>sending a large package by mail</a:t>
            </a:r>
            <a:r>
              <a:rPr lang="en-US" sz="3600">
                <a:solidFill>
                  <a:schemeClr val="dk2"/>
                </a:solidFill>
                <a:latin typeface="Open Sans Light"/>
                <a:ea typeface="Open Sans Light"/>
                <a:cs typeface="Open Sans Light"/>
                <a:sym typeface="Open Sans Light"/>
              </a:rPr>
              <a:t>. If we </a:t>
            </a:r>
            <a:r>
              <a:rPr lang="en-US" sz="3600">
                <a:solidFill>
                  <a:srgbClr val="0070C0"/>
                </a:solidFill>
                <a:latin typeface="Open Sans Light"/>
                <a:ea typeface="Open Sans Light"/>
                <a:cs typeface="Open Sans Light"/>
                <a:sym typeface="Open Sans Light"/>
              </a:rPr>
              <a:t>tried to send it all at on</a:t>
            </a:r>
            <a:r>
              <a:rPr lang="en-US" sz="3600">
                <a:solidFill>
                  <a:schemeClr val="dk2"/>
                </a:solidFill>
                <a:latin typeface="Open Sans Light"/>
                <a:ea typeface="Open Sans Light"/>
                <a:cs typeface="Open Sans Light"/>
                <a:sym typeface="Open Sans Light"/>
              </a:rPr>
              <a:t>ce, it would be </a:t>
            </a:r>
            <a:r>
              <a:rPr lang="en-US" sz="3600">
                <a:solidFill>
                  <a:srgbClr val="0070C0"/>
                </a:solidFill>
                <a:latin typeface="Open Sans Light"/>
                <a:ea typeface="Open Sans Light"/>
                <a:cs typeface="Open Sans Light"/>
                <a:sym typeface="Open Sans Light"/>
              </a:rPr>
              <a:t>heavy and difficult to handle</a:t>
            </a:r>
            <a:r>
              <a:rPr lang="en-US" sz="3600">
                <a:solidFill>
                  <a:schemeClr val="dk2"/>
                </a:solidFill>
                <a:latin typeface="Open Sans Light"/>
                <a:ea typeface="Open Sans Light"/>
                <a:cs typeface="Open Sans Light"/>
                <a:sym typeface="Open Sans Light"/>
              </a:rPr>
              <a:t>. But if </a:t>
            </a:r>
            <a:r>
              <a:rPr lang="en-US" sz="3600">
                <a:solidFill>
                  <a:srgbClr val="0070C0"/>
                </a:solidFill>
                <a:latin typeface="Open Sans Light"/>
                <a:ea typeface="Open Sans Light"/>
                <a:cs typeface="Open Sans Light"/>
                <a:sym typeface="Open Sans Light"/>
              </a:rPr>
              <a:t>we break it down into smaller boxes</a:t>
            </a:r>
            <a:r>
              <a:rPr lang="en-US" sz="3600">
                <a:solidFill>
                  <a:schemeClr val="dk2"/>
                </a:solidFill>
                <a:latin typeface="Open Sans Light"/>
                <a:ea typeface="Open Sans Light"/>
                <a:cs typeface="Open Sans Light"/>
                <a:sym typeface="Open Sans Light"/>
              </a:rPr>
              <a:t>, </a:t>
            </a:r>
            <a:r>
              <a:rPr lang="en-US" sz="3600" u="sng">
                <a:solidFill>
                  <a:srgbClr val="0070C0"/>
                </a:solidFill>
                <a:latin typeface="Open Sans Light"/>
                <a:ea typeface="Open Sans Light"/>
                <a:cs typeface="Open Sans Light"/>
                <a:sym typeface="Open Sans Light"/>
              </a:rPr>
              <a:t>it's easier to transport</a:t>
            </a:r>
            <a:r>
              <a:rPr lang="en-US" sz="3600">
                <a:solidFill>
                  <a:schemeClr val="dk2"/>
                </a:solidFill>
                <a:latin typeface="Open Sans Light"/>
                <a:ea typeface="Open Sans Light"/>
                <a:cs typeface="Open Sans Light"/>
                <a:sym typeface="Open Sans Light"/>
              </a:rPr>
              <a:t>. The same principle applies to data transmission.</a:t>
            </a:r>
            <a:endParaRPr/>
          </a:p>
        </p:txBody>
      </p:sp>
      <p:sp>
        <p:nvSpPr>
          <p:cNvPr id="92" name="Google Shape;92;p11"/>
          <p:cNvSpPr/>
          <p:nvPr/>
        </p:nvSpPr>
        <p:spPr>
          <a:xfrm>
            <a:off x="1457776" y="8367024"/>
            <a:ext cx="1044570" cy="1825419"/>
          </a:xfrm>
          <a:custGeom>
            <a:rect b="b" l="l" r="r" t="t"/>
            <a:pathLst>
              <a:path extrusionOk="0" h="283803" w="285387">
                <a:moveTo>
                  <a:pt x="273766" y="243567"/>
                </a:moveTo>
                <a:lnTo>
                  <a:pt x="242171" y="243927"/>
                </a:lnTo>
                <a:lnTo>
                  <a:pt x="258150" y="270870"/>
                </a:lnTo>
                <a:lnTo>
                  <a:pt x="273766" y="243567"/>
                </a:lnTo>
                <a:close/>
                <a:moveTo>
                  <a:pt x="84891" y="230187"/>
                </a:moveTo>
                <a:lnTo>
                  <a:pt x="147757" y="230187"/>
                </a:lnTo>
                <a:cubicBezTo>
                  <a:pt x="149900" y="230187"/>
                  <a:pt x="152043" y="232092"/>
                  <a:pt x="152043" y="234378"/>
                </a:cubicBezTo>
                <a:cubicBezTo>
                  <a:pt x="152043" y="237045"/>
                  <a:pt x="149900" y="239331"/>
                  <a:pt x="147757" y="239331"/>
                </a:cubicBezTo>
                <a:lnTo>
                  <a:pt x="84891" y="239331"/>
                </a:lnTo>
                <a:cubicBezTo>
                  <a:pt x="82748" y="239331"/>
                  <a:pt x="80962" y="237045"/>
                  <a:pt x="80962" y="234378"/>
                </a:cubicBezTo>
                <a:cubicBezTo>
                  <a:pt x="80962" y="232092"/>
                  <a:pt x="82748" y="230187"/>
                  <a:pt x="84891" y="230187"/>
                </a:cubicBezTo>
                <a:close/>
                <a:moveTo>
                  <a:pt x="47443" y="208734"/>
                </a:moveTo>
                <a:cubicBezTo>
                  <a:pt x="41638" y="208734"/>
                  <a:pt x="37283" y="213088"/>
                  <a:pt x="37283" y="218531"/>
                </a:cubicBezTo>
                <a:cubicBezTo>
                  <a:pt x="37283" y="224336"/>
                  <a:pt x="41638" y="229054"/>
                  <a:pt x="47443" y="229054"/>
                </a:cubicBezTo>
                <a:cubicBezTo>
                  <a:pt x="52886" y="229054"/>
                  <a:pt x="57603" y="224336"/>
                  <a:pt x="57603" y="218531"/>
                </a:cubicBezTo>
                <a:cubicBezTo>
                  <a:pt x="57603" y="213088"/>
                  <a:pt x="52886" y="208734"/>
                  <a:pt x="47443" y="208734"/>
                </a:cubicBezTo>
                <a:close/>
                <a:moveTo>
                  <a:pt x="131358" y="200025"/>
                </a:moveTo>
                <a:lnTo>
                  <a:pt x="177841" y="200025"/>
                </a:lnTo>
                <a:cubicBezTo>
                  <a:pt x="180020" y="200025"/>
                  <a:pt x="182199" y="201930"/>
                  <a:pt x="182199" y="204597"/>
                </a:cubicBezTo>
                <a:cubicBezTo>
                  <a:pt x="182199" y="207264"/>
                  <a:pt x="180020" y="209169"/>
                  <a:pt x="177841" y="209169"/>
                </a:cubicBezTo>
                <a:lnTo>
                  <a:pt x="131358" y="209169"/>
                </a:lnTo>
                <a:cubicBezTo>
                  <a:pt x="128816" y="209169"/>
                  <a:pt x="127000" y="207264"/>
                  <a:pt x="127000" y="204597"/>
                </a:cubicBezTo>
                <a:cubicBezTo>
                  <a:pt x="127000" y="201930"/>
                  <a:pt x="128816" y="200025"/>
                  <a:pt x="131358" y="200025"/>
                </a:cubicBezTo>
                <a:close/>
                <a:moveTo>
                  <a:pt x="84931" y="200025"/>
                </a:moveTo>
                <a:lnTo>
                  <a:pt x="108022" y="200025"/>
                </a:lnTo>
                <a:cubicBezTo>
                  <a:pt x="110547" y="200025"/>
                  <a:pt x="112351" y="201930"/>
                  <a:pt x="112351" y="204597"/>
                </a:cubicBezTo>
                <a:cubicBezTo>
                  <a:pt x="112351" y="207264"/>
                  <a:pt x="110547" y="209169"/>
                  <a:pt x="108022" y="209169"/>
                </a:cubicBezTo>
                <a:lnTo>
                  <a:pt x="84931" y="209169"/>
                </a:lnTo>
                <a:cubicBezTo>
                  <a:pt x="82766" y="209169"/>
                  <a:pt x="80962" y="207264"/>
                  <a:pt x="80962" y="204597"/>
                </a:cubicBezTo>
                <a:cubicBezTo>
                  <a:pt x="80962" y="201930"/>
                  <a:pt x="82766" y="200025"/>
                  <a:pt x="84931" y="200025"/>
                </a:cubicBezTo>
                <a:close/>
                <a:moveTo>
                  <a:pt x="47443" y="200025"/>
                </a:moveTo>
                <a:cubicBezTo>
                  <a:pt x="57603" y="200025"/>
                  <a:pt x="66312" y="208371"/>
                  <a:pt x="66312" y="218531"/>
                </a:cubicBezTo>
                <a:cubicBezTo>
                  <a:pt x="66312" y="229054"/>
                  <a:pt x="57603" y="237762"/>
                  <a:pt x="47443" y="237762"/>
                </a:cubicBezTo>
                <a:cubicBezTo>
                  <a:pt x="36920" y="237762"/>
                  <a:pt x="28575" y="229054"/>
                  <a:pt x="28575" y="218531"/>
                </a:cubicBezTo>
                <a:cubicBezTo>
                  <a:pt x="28575" y="208371"/>
                  <a:pt x="36920" y="200025"/>
                  <a:pt x="47443" y="200025"/>
                </a:cubicBezTo>
                <a:close/>
                <a:moveTo>
                  <a:pt x="153506" y="171450"/>
                </a:moveTo>
                <a:lnTo>
                  <a:pt x="176338" y="171450"/>
                </a:lnTo>
                <a:cubicBezTo>
                  <a:pt x="178478" y="171450"/>
                  <a:pt x="180619" y="173355"/>
                  <a:pt x="180619" y="176022"/>
                </a:cubicBezTo>
                <a:cubicBezTo>
                  <a:pt x="180619" y="178689"/>
                  <a:pt x="178478" y="180594"/>
                  <a:pt x="176338" y="180594"/>
                </a:cubicBezTo>
                <a:lnTo>
                  <a:pt x="153506" y="180594"/>
                </a:lnTo>
                <a:cubicBezTo>
                  <a:pt x="151009" y="180594"/>
                  <a:pt x="149225" y="178689"/>
                  <a:pt x="149225" y="176022"/>
                </a:cubicBezTo>
                <a:cubicBezTo>
                  <a:pt x="149225" y="173355"/>
                  <a:pt x="151009" y="171450"/>
                  <a:pt x="153506" y="171450"/>
                </a:cubicBezTo>
                <a:close/>
                <a:moveTo>
                  <a:pt x="84868" y="171450"/>
                </a:moveTo>
                <a:lnTo>
                  <a:pt x="130321" y="171450"/>
                </a:lnTo>
                <a:cubicBezTo>
                  <a:pt x="132807" y="171450"/>
                  <a:pt x="134582" y="173355"/>
                  <a:pt x="134582" y="176022"/>
                </a:cubicBezTo>
                <a:cubicBezTo>
                  <a:pt x="134582" y="178689"/>
                  <a:pt x="132807" y="180594"/>
                  <a:pt x="130321" y="180594"/>
                </a:cubicBezTo>
                <a:lnTo>
                  <a:pt x="84868" y="180594"/>
                </a:lnTo>
                <a:cubicBezTo>
                  <a:pt x="82738" y="180594"/>
                  <a:pt x="80962" y="178689"/>
                  <a:pt x="80962" y="176022"/>
                </a:cubicBezTo>
                <a:cubicBezTo>
                  <a:pt x="80962" y="173355"/>
                  <a:pt x="82738" y="171450"/>
                  <a:pt x="84868" y="171450"/>
                </a:cubicBezTo>
                <a:close/>
                <a:moveTo>
                  <a:pt x="47443" y="151584"/>
                </a:moveTo>
                <a:cubicBezTo>
                  <a:pt x="41638" y="151584"/>
                  <a:pt x="37283" y="155938"/>
                  <a:pt x="37283" y="161744"/>
                </a:cubicBezTo>
                <a:cubicBezTo>
                  <a:pt x="37283" y="167549"/>
                  <a:pt x="41638" y="171904"/>
                  <a:pt x="47443" y="171904"/>
                </a:cubicBezTo>
                <a:cubicBezTo>
                  <a:pt x="52886" y="171904"/>
                  <a:pt x="57603" y="167549"/>
                  <a:pt x="57603" y="161744"/>
                </a:cubicBezTo>
                <a:cubicBezTo>
                  <a:pt x="57603" y="155938"/>
                  <a:pt x="52886" y="151584"/>
                  <a:pt x="47443" y="151584"/>
                </a:cubicBezTo>
                <a:close/>
                <a:moveTo>
                  <a:pt x="131358" y="142875"/>
                </a:moveTo>
                <a:lnTo>
                  <a:pt x="177841" y="142875"/>
                </a:lnTo>
                <a:cubicBezTo>
                  <a:pt x="180020" y="142875"/>
                  <a:pt x="182199" y="145161"/>
                  <a:pt x="182199" y="147447"/>
                </a:cubicBezTo>
                <a:cubicBezTo>
                  <a:pt x="182199" y="150114"/>
                  <a:pt x="180020" y="152019"/>
                  <a:pt x="177841" y="152019"/>
                </a:cubicBezTo>
                <a:lnTo>
                  <a:pt x="131358" y="152019"/>
                </a:lnTo>
                <a:cubicBezTo>
                  <a:pt x="128816" y="152019"/>
                  <a:pt x="127000" y="150114"/>
                  <a:pt x="127000" y="147447"/>
                </a:cubicBezTo>
                <a:cubicBezTo>
                  <a:pt x="127000" y="145161"/>
                  <a:pt x="128816" y="142875"/>
                  <a:pt x="131358" y="142875"/>
                </a:cubicBezTo>
                <a:close/>
                <a:moveTo>
                  <a:pt x="84931" y="142875"/>
                </a:moveTo>
                <a:lnTo>
                  <a:pt x="108022" y="142875"/>
                </a:lnTo>
                <a:cubicBezTo>
                  <a:pt x="110547" y="142875"/>
                  <a:pt x="112351" y="145161"/>
                  <a:pt x="112351" y="147447"/>
                </a:cubicBezTo>
                <a:cubicBezTo>
                  <a:pt x="112351" y="150114"/>
                  <a:pt x="110547" y="152019"/>
                  <a:pt x="108022" y="152019"/>
                </a:cubicBezTo>
                <a:lnTo>
                  <a:pt x="84931" y="152019"/>
                </a:lnTo>
                <a:cubicBezTo>
                  <a:pt x="82766" y="152019"/>
                  <a:pt x="80962" y="150114"/>
                  <a:pt x="80962" y="147447"/>
                </a:cubicBezTo>
                <a:cubicBezTo>
                  <a:pt x="80962" y="145161"/>
                  <a:pt x="82766" y="142875"/>
                  <a:pt x="84931" y="142875"/>
                </a:cubicBezTo>
                <a:close/>
                <a:moveTo>
                  <a:pt x="47443" y="142875"/>
                </a:moveTo>
                <a:cubicBezTo>
                  <a:pt x="57603" y="142875"/>
                  <a:pt x="66312" y="151221"/>
                  <a:pt x="66312" y="161744"/>
                </a:cubicBezTo>
                <a:cubicBezTo>
                  <a:pt x="66312" y="171904"/>
                  <a:pt x="57603" y="180612"/>
                  <a:pt x="47443" y="180612"/>
                </a:cubicBezTo>
                <a:cubicBezTo>
                  <a:pt x="36920" y="180612"/>
                  <a:pt x="28575" y="171904"/>
                  <a:pt x="28575" y="161744"/>
                </a:cubicBezTo>
                <a:cubicBezTo>
                  <a:pt x="28575" y="151221"/>
                  <a:pt x="36920" y="142875"/>
                  <a:pt x="47443" y="142875"/>
                </a:cubicBezTo>
                <a:close/>
                <a:moveTo>
                  <a:pt x="84943" y="114300"/>
                </a:moveTo>
                <a:lnTo>
                  <a:pt x="125471" y="114300"/>
                </a:lnTo>
                <a:cubicBezTo>
                  <a:pt x="128004" y="114300"/>
                  <a:pt x="129813" y="115954"/>
                  <a:pt x="129813" y="117938"/>
                </a:cubicBezTo>
                <a:cubicBezTo>
                  <a:pt x="129813" y="120253"/>
                  <a:pt x="128004" y="121906"/>
                  <a:pt x="125471" y="121906"/>
                </a:cubicBezTo>
                <a:lnTo>
                  <a:pt x="84943" y="121906"/>
                </a:lnTo>
                <a:cubicBezTo>
                  <a:pt x="82772" y="121906"/>
                  <a:pt x="80962" y="120253"/>
                  <a:pt x="80962" y="117938"/>
                </a:cubicBezTo>
                <a:cubicBezTo>
                  <a:pt x="80962" y="115954"/>
                  <a:pt x="82772" y="114300"/>
                  <a:pt x="84943" y="114300"/>
                </a:cubicBezTo>
                <a:close/>
                <a:moveTo>
                  <a:pt x="47443" y="94151"/>
                </a:moveTo>
                <a:cubicBezTo>
                  <a:pt x="41638" y="94151"/>
                  <a:pt x="37283" y="98913"/>
                  <a:pt x="37283" y="104409"/>
                </a:cubicBezTo>
                <a:cubicBezTo>
                  <a:pt x="37283" y="110270"/>
                  <a:pt x="41638" y="115033"/>
                  <a:pt x="47443" y="115033"/>
                </a:cubicBezTo>
                <a:cubicBezTo>
                  <a:pt x="52886" y="115033"/>
                  <a:pt x="57603" y="110270"/>
                  <a:pt x="57603" y="104409"/>
                </a:cubicBezTo>
                <a:cubicBezTo>
                  <a:pt x="57603" y="98913"/>
                  <a:pt x="52886" y="94151"/>
                  <a:pt x="47443" y="94151"/>
                </a:cubicBezTo>
                <a:close/>
                <a:moveTo>
                  <a:pt x="160011" y="85725"/>
                </a:moveTo>
                <a:lnTo>
                  <a:pt x="177756" y="85725"/>
                </a:lnTo>
                <a:cubicBezTo>
                  <a:pt x="179974" y="85725"/>
                  <a:pt x="182193" y="87379"/>
                  <a:pt x="182193" y="89693"/>
                </a:cubicBezTo>
                <a:cubicBezTo>
                  <a:pt x="182193" y="91678"/>
                  <a:pt x="179974" y="93331"/>
                  <a:pt x="177756" y="93331"/>
                </a:cubicBezTo>
                <a:lnTo>
                  <a:pt x="160011" y="93331"/>
                </a:lnTo>
                <a:cubicBezTo>
                  <a:pt x="157424" y="93331"/>
                  <a:pt x="155575" y="91678"/>
                  <a:pt x="155575" y="89693"/>
                </a:cubicBezTo>
                <a:cubicBezTo>
                  <a:pt x="155575" y="87379"/>
                  <a:pt x="157424" y="85725"/>
                  <a:pt x="160011" y="85725"/>
                </a:cubicBezTo>
                <a:close/>
                <a:moveTo>
                  <a:pt x="84912" y="85725"/>
                </a:moveTo>
                <a:lnTo>
                  <a:pt x="136619" y="85725"/>
                </a:lnTo>
                <a:cubicBezTo>
                  <a:pt x="139133" y="85725"/>
                  <a:pt x="140928" y="87379"/>
                  <a:pt x="140928" y="89693"/>
                </a:cubicBezTo>
                <a:cubicBezTo>
                  <a:pt x="140928" y="91678"/>
                  <a:pt x="139133" y="93331"/>
                  <a:pt x="136619" y="93331"/>
                </a:cubicBezTo>
                <a:lnTo>
                  <a:pt x="84912" y="93331"/>
                </a:lnTo>
                <a:cubicBezTo>
                  <a:pt x="82758" y="93331"/>
                  <a:pt x="80962" y="91678"/>
                  <a:pt x="80962" y="89693"/>
                </a:cubicBezTo>
                <a:cubicBezTo>
                  <a:pt x="80962" y="87379"/>
                  <a:pt x="82758" y="85725"/>
                  <a:pt x="84912" y="85725"/>
                </a:cubicBezTo>
                <a:close/>
                <a:moveTo>
                  <a:pt x="47443" y="85725"/>
                </a:moveTo>
                <a:cubicBezTo>
                  <a:pt x="57603" y="85725"/>
                  <a:pt x="66312" y="94151"/>
                  <a:pt x="66312" y="104409"/>
                </a:cubicBezTo>
                <a:cubicBezTo>
                  <a:pt x="66312" y="115033"/>
                  <a:pt x="57603" y="123459"/>
                  <a:pt x="47443" y="123459"/>
                </a:cubicBezTo>
                <a:cubicBezTo>
                  <a:pt x="36920" y="123459"/>
                  <a:pt x="28575" y="115033"/>
                  <a:pt x="28575" y="104409"/>
                </a:cubicBezTo>
                <a:cubicBezTo>
                  <a:pt x="28575" y="94151"/>
                  <a:pt x="36920" y="85725"/>
                  <a:pt x="47443" y="85725"/>
                </a:cubicBezTo>
                <a:close/>
                <a:moveTo>
                  <a:pt x="32861" y="57150"/>
                </a:moveTo>
                <a:lnTo>
                  <a:pt x="95369" y="57150"/>
                </a:lnTo>
                <a:cubicBezTo>
                  <a:pt x="97869" y="57150"/>
                  <a:pt x="99655" y="59055"/>
                  <a:pt x="99655" y="61722"/>
                </a:cubicBezTo>
                <a:cubicBezTo>
                  <a:pt x="99655" y="64008"/>
                  <a:pt x="97869" y="66294"/>
                  <a:pt x="95369" y="66294"/>
                </a:cubicBezTo>
                <a:lnTo>
                  <a:pt x="32861" y="66294"/>
                </a:lnTo>
                <a:cubicBezTo>
                  <a:pt x="30361" y="66294"/>
                  <a:pt x="28575" y="64008"/>
                  <a:pt x="28575" y="61722"/>
                </a:cubicBezTo>
                <a:cubicBezTo>
                  <a:pt x="28575" y="59055"/>
                  <a:pt x="30361" y="57150"/>
                  <a:pt x="32861" y="57150"/>
                </a:cubicBezTo>
                <a:close/>
                <a:moveTo>
                  <a:pt x="262145" y="37721"/>
                </a:moveTo>
                <a:lnTo>
                  <a:pt x="262145" y="234946"/>
                </a:lnTo>
                <a:lnTo>
                  <a:pt x="276671" y="234946"/>
                </a:lnTo>
                <a:lnTo>
                  <a:pt x="276671" y="37721"/>
                </a:lnTo>
                <a:lnTo>
                  <a:pt x="262145" y="37721"/>
                </a:lnTo>
                <a:close/>
                <a:moveTo>
                  <a:pt x="238903" y="37721"/>
                </a:moveTo>
                <a:lnTo>
                  <a:pt x="238903" y="234946"/>
                </a:lnTo>
                <a:lnTo>
                  <a:pt x="253429" y="234946"/>
                </a:lnTo>
                <a:lnTo>
                  <a:pt x="253429" y="37721"/>
                </a:lnTo>
                <a:lnTo>
                  <a:pt x="238903" y="37721"/>
                </a:lnTo>
                <a:close/>
                <a:moveTo>
                  <a:pt x="83677" y="28575"/>
                </a:moveTo>
                <a:lnTo>
                  <a:pt x="119165" y="28575"/>
                </a:lnTo>
                <a:cubicBezTo>
                  <a:pt x="121674" y="28575"/>
                  <a:pt x="123467" y="30480"/>
                  <a:pt x="123467" y="33147"/>
                </a:cubicBezTo>
                <a:cubicBezTo>
                  <a:pt x="123467" y="35814"/>
                  <a:pt x="121674" y="37719"/>
                  <a:pt x="119165" y="37719"/>
                </a:cubicBezTo>
                <a:lnTo>
                  <a:pt x="83677" y="37719"/>
                </a:lnTo>
                <a:cubicBezTo>
                  <a:pt x="81168" y="37719"/>
                  <a:pt x="79375" y="35814"/>
                  <a:pt x="79375" y="33147"/>
                </a:cubicBezTo>
                <a:cubicBezTo>
                  <a:pt x="79375" y="30480"/>
                  <a:pt x="81168" y="28575"/>
                  <a:pt x="83677" y="28575"/>
                </a:cubicBezTo>
                <a:close/>
                <a:moveTo>
                  <a:pt x="32913" y="28575"/>
                </a:moveTo>
                <a:lnTo>
                  <a:pt x="60387" y="28575"/>
                </a:lnTo>
                <a:cubicBezTo>
                  <a:pt x="62918" y="28575"/>
                  <a:pt x="64725" y="30480"/>
                  <a:pt x="64725" y="33147"/>
                </a:cubicBezTo>
                <a:cubicBezTo>
                  <a:pt x="64725" y="35814"/>
                  <a:pt x="62918" y="37719"/>
                  <a:pt x="60387" y="37719"/>
                </a:cubicBezTo>
                <a:lnTo>
                  <a:pt x="32913" y="37719"/>
                </a:lnTo>
                <a:cubicBezTo>
                  <a:pt x="30382" y="37719"/>
                  <a:pt x="28575" y="35814"/>
                  <a:pt x="28575" y="33147"/>
                </a:cubicBezTo>
                <a:cubicBezTo>
                  <a:pt x="28575" y="30480"/>
                  <a:pt x="30382" y="28575"/>
                  <a:pt x="32913" y="28575"/>
                </a:cubicBezTo>
                <a:close/>
                <a:moveTo>
                  <a:pt x="152041" y="14729"/>
                </a:moveTo>
                <a:lnTo>
                  <a:pt x="152041" y="57479"/>
                </a:lnTo>
                <a:lnTo>
                  <a:pt x="194454" y="57479"/>
                </a:lnTo>
                <a:lnTo>
                  <a:pt x="152041" y="14729"/>
                </a:lnTo>
                <a:close/>
                <a:moveTo>
                  <a:pt x="246166" y="8622"/>
                </a:moveTo>
                <a:cubicBezTo>
                  <a:pt x="242171" y="8622"/>
                  <a:pt x="238903" y="11855"/>
                  <a:pt x="238903" y="15807"/>
                </a:cubicBezTo>
                <a:lnTo>
                  <a:pt x="238903" y="29099"/>
                </a:lnTo>
                <a:lnTo>
                  <a:pt x="276671" y="29099"/>
                </a:lnTo>
                <a:lnTo>
                  <a:pt x="276671" y="15807"/>
                </a:lnTo>
                <a:cubicBezTo>
                  <a:pt x="276671" y="14010"/>
                  <a:pt x="275582" y="12214"/>
                  <a:pt x="274492" y="10777"/>
                </a:cubicBezTo>
                <a:cubicBezTo>
                  <a:pt x="273040" y="9340"/>
                  <a:pt x="271224" y="8622"/>
                  <a:pt x="269408" y="8622"/>
                </a:cubicBezTo>
                <a:lnTo>
                  <a:pt x="246166" y="8622"/>
                </a:lnTo>
                <a:close/>
                <a:moveTo>
                  <a:pt x="8626" y="8622"/>
                </a:moveTo>
                <a:lnTo>
                  <a:pt x="8626" y="275181"/>
                </a:lnTo>
                <a:lnTo>
                  <a:pt x="200564" y="275181"/>
                </a:lnTo>
                <a:lnTo>
                  <a:pt x="200564" y="66101"/>
                </a:lnTo>
                <a:lnTo>
                  <a:pt x="147728" y="66101"/>
                </a:lnTo>
                <a:cubicBezTo>
                  <a:pt x="145571" y="66101"/>
                  <a:pt x="143414" y="63945"/>
                  <a:pt x="143414" y="61790"/>
                </a:cubicBezTo>
                <a:lnTo>
                  <a:pt x="143414" y="8622"/>
                </a:lnTo>
                <a:lnTo>
                  <a:pt x="8626" y="8622"/>
                </a:lnTo>
                <a:close/>
                <a:moveTo>
                  <a:pt x="246166" y="0"/>
                </a:moveTo>
                <a:lnTo>
                  <a:pt x="269408" y="0"/>
                </a:lnTo>
                <a:cubicBezTo>
                  <a:pt x="273766" y="0"/>
                  <a:pt x="277398" y="1796"/>
                  <a:pt x="280303" y="4670"/>
                </a:cubicBezTo>
                <a:cubicBezTo>
                  <a:pt x="283571" y="7544"/>
                  <a:pt x="285024" y="11855"/>
                  <a:pt x="285024" y="15807"/>
                </a:cubicBezTo>
                <a:lnTo>
                  <a:pt x="285387" y="239257"/>
                </a:lnTo>
                <a:cubicBezTo>
                  <a:pt x="285387" y="240334"/>
                  <a:pt x="285024" y="240694"/>
                  <a:pt x="284661" y="241412"/>
                </a:cubicBezTo>
                <a:lnTo>
                  <a:pt x="261782" y="281647"/>
                </a:lnTo>
                <a:cubicBezTo>
                  <a:pt x="261056" y="283084"/>
                  <a:pt x="259603" y="283803"/>
                  <a:pt x="258150" y="283803"/>
                </a:cubicBezTo>
                <a:cubicBezTo>
                  <a:pt x="256335" y="283803"/>
                  <a:pt x="254882" y="283084"/>
                  <a:pt x="254156" y="281647"/>
                </a:cubicBezTo>
                <a:lnTo>
                  <a:pt x="230914" y="241412"/>
                </a:lnTo>
                <a:cubicBezTo>
                  <a:pt x="230550" y="240694"/>
                  <a:pt x="230550" y="240334"/>
                  <a:pt x="230550" y="239257"/>
                </a:cubicBezTo>
                <a:lnTo>
                  <a:pt x="230187" y="15807"/>
                </a:lnTo>
                <a:cubicBezTo>
                  <a:pt x="230187" y="7185"/>
                  <a:pt x="237450" y="0"/>
                  <a:pt x="246166" y="0"/>
                </a:cubicBezTo>
                <a:close/>
                <a:moveTo>
                  <a:pt x="4313" y="0"/>
                </a:moveTo>
                <a:lnTo>
                  <a:pt x="147728" y="0"/>
                </a:lnTo>
                <a:cubicBezTo>
                  <a:pt x="148806" y="0"/>
                  <a:pt x="149884" y="359"/>
                  <a:pt x="150603" y="1437"/>
                </a:cubicBezTo>
                <a:lnTo>
                  <a:pt x="208113" y="58916"/>
                </a:lnTo>
                <a:cubicBezTo>
                  <a:pt x="208831" y="59634"/>
                  <a:pt x="209191" y="60712"/>
                  <a:pt x="209191" y="61790"/>
                </a:cubicBezTo>
                <a:lnTo>
                  <a:pt x="209191" y="279492"/>
                </a:lnTo>
                <a:cubicBezTo>
                  <a:pt x="209191" y="282007"/>
                  <a:pt x="207394" y="283803"/>
                  <a:pt x="205237" y="283803"/>
                </a:cubicBezTo>
                <a:lnTo>
                  <a:pt x="4313" y="283803"/>
                </a:lnTo>
                <a:cubicBezTo>
                  <a:pt x="1797" y="283803"/>
                  <a:pt x="0" y="282007"/>
                  <a:pt x="0" y="279492"/>
                </a:cubicBezTo>
                <a:lnTo>
                  <a:pt x="0" y="4670"/>
                </a:lnTo>
                <a:cubicBezTo>
                  <a:pt x="0" y="1796"/>
                  <a:pt x="1797" y="0"/>
                  <a:pt x="4313" y="0"/>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3600">
              <a:solidFill>
                <a:schemeClr val="dk1"/>
              </a:solidFill>
              <a:latin typeface="Calibri"/>
              <a:ea typeface="Calibri"/>
              <a:cs typeface="Calibri"/>
              <a:sym typeface="Calibri"/>
            </a:endParaRPr>
          </a:p>
        </p:txBody>
      </p:sp>
      <p:pic>
        <p:nvPicPr>
          <p:cNvPr id="93" name="Google Shape;93;p11"/>
          <p:cNvPicPr preferRelativeResize="0"/>
          <p:nvPr/>
        </p:nvPicPr>
        <p:blipFill rotWithShape="1">
          <a:blip r:embed="rId3">
            <a:alphaModFix/>
          </a:blip>
          <a:srcRect b="0" l="0" r="0" t="0"/>
          <a:stretch/>
        </p:blipFill>
        <p:spPr>
          <a:xfrm>
            <a:off x="15822043" y="6852444"/>
            <a:ext cx="7851279" cy="4831556"/>
          </a:xfrm>
          <a:prstGeom prst="rect">
            <a:avLst/>
          </a:prstGeom>
          <a:noFill/>
          <a:ln cap="flat" cmpd="sng" w="9525">
            <a:solidFill>
              <a:schemeClr val="dk2"/>
            </a:solidFill>
            <a:prstDash val="solid"/>
            <a:round/>
            <a:headEnd len="sm" w="sm" type="none"/>
            <a:tailEnd len="sm" w="sm" type="none"/>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0">
                                            <p:txEl>
                                              <p:pRg end="0" st="0"/>
                                            </p:txEl>
                                          </p:spTgt>
                                        </p:tgtEl>
                                        <p:attrNameLst>
                                          <p:attrName>style.visibility</p:attrName>
                                        </p:attrNameLst>
                                      </p:cBhvr>
                                      <p:to>
                                        <p:strVal val="visible"/>
                                      </p:to>
                                    </p:set>
                                    <p:animEffect filter="fade" transition="in">
                                      <p:cBhvr>
                                        <p:cTn dur="500"/>
                                        <p:tgtEl>
                                          <p:spTgt spid="90">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0">
                                            <p:txEl>
                                              <p:pRg end="1" st="1"/>
                                            </p:txEl>
                                          </p:spTgt>
                                        </p:tgtEl>
                                        <p:attrNameLst>
                                          <p:attrName>style.visibility</p:attrName>
                                        </p:attrNameLst>
                                      </p:cBhvr>
                                      <p:to>
                                        <p:strVal val="visible"/>
                                      </p:to>
                                    </p:set>
                                    <p:animEffect filter="fade" transition="in">
                                      <p:cBhvr>
                                        <p:cTn dur="500"/>
                                        <p:tgtEl>
                                          <p:spTgt spid="90">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0">
                                            <p:txEl>
                                              <p:pRg end="2" st="2"/>
                                            </p:txEl>
                                          </p:spTgt>
                                        </p:tgtEl>
                                        <p:attrNameLst>
                                          <p:attrName>style.visibility</p:attrName>
                                        </p:attrNameLst>
                                      </p:cBhvr>
                                      <p:to>
                                        <p:strVal val="visible"/>
                                      </p:to>
                                    </p:set>
                                    <p:animEffect filter="fade" transition="in">
                                      <p:cBhvr>
                                        <p:cTn dur="500"/>
                                        <p:tgtEl>
                                          <p:spTgt spid="90">
                                            <p:txEl>
                                              <p:pRg end="2" st="2"/>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0">
                                            <p:txEl>
                                              <p:pRg end="3" st="3"/>
                                            </p:txEl>
                                          </p:spTgt>
                                        </p:tgtEl>
                                        <p:attrNameLst>
                                          <p:attrName>style.visibility</p:attrName>
                                        </p:attrNameLst>
                                      </p:cBhvr>
                                      <p:to>
                                        <p:strVal val="visible"/>
                                      </p:to>
                                    </p:set>
                                    <p:animEffect filter="fade" transition="in">
                                      <p:cBhvr>
                                        <p:cTn dur="500"/>
                                        <p:tgtEl>
                                          <p:spTgt spid="90">
                                            <p:txEl>
                                              <p:pRg end="3" st="3"/>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0">
                                            <p:txEl>
                                              <p:pRg end="4" st="4"/>
                                            </p:txEl>
                                          </p:spTgt>
                                        </p:tgtEl>
                                        <p:attrNameLst>
                                          <p:attrName>style.visibility</p:attrName>
                                        </p:attrNameLst>
                                      </p:cBhvr>
                                      <p:to>
                                        <p:strVal val="visible"/>
                                      </p:to>
                                    </p:set>
                                    <p:animEffect filter="fade" transition="in">
                                      <p:cBhvr>
                                        <p:cTn dur="500"/>
                                        <p:tgtEl>
                                          <p:spTgt spid="90">
                                            <p:txEl>
                                              <p:pRg end="4" st="4"/>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0">
                                            <p:txEl>
                                              <p:pRg end="5" st="5"/>
                                            </p:txEl>
                                          </p:spTgt>
                                        </p:tgtEl>
                                        <p:attrNameLst>
                                          <p:attrName>style.visibility</p:attrName>
                                        </p:attrNameLst>
                                      </p:cBhvr>
                                      <p:to>
                                        <p:strVal val="visible"/>
                                      </p:to>
                                    </p:set>
                                    <p:animEffect filter="fade" transition="in">
                                      <p:cBhvr>
                                        <p:cTn dur="500"/>
                                        <p:tgtEl>
                                          <p:spTgt spid="90">
                                            <p:txEl>
                                              <p:pRg end="5" st="5"/>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2"/>
          <p:cNvSpPr txBox="1"/>
          <p:nvPr/>
        </p:nvSpPr>
        <p:spPr>
          <a:xfrm>
            <a:off x="1088850" y="834250"/>
            <a:ext cx="21468600" cy="2216400"/>
          </a:xfrm>
          <a:prstGeom prst="rect">
            <a:avLst/>
          </a:prstGeom>
          <a:solidFill>
            <a:srgbClr val="C1E8F9"/>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dk2"/>
              </a:buClr>
              <a:buSzPts val="13800"/>
              <a:buFont typeface="Arial"/>
              <a:buNone/>
            </a:pPr>
            <a:r>
              <a:rPr b="1" lang="en-US" sz="13800">
                <a:solidFill>
                  <a:schemeClr val="dk2"/>
                </a:solidFill>
                <a:latin typeface="Open Sans Light"/>
                <a:ea typeface="Open Sans Light"/>
                <a:cs typeface="Open Sans Light"/>
                <a:sym typeface="Open Sans Light"/>
              </a:rPr>
              <a:t>Think – Pair - Share</a:t>
            </a:r>
            <a:endParaRPr sz="7200">
              <a:solidFill>
                <a:schemeClr val="dk2"/>
              </a:solidFill>
              <a:latin typeface="Open Sans Light"/>
              <a:ea typeface="Open Sans Light"/>
              <a:cs typeface="Open Sans Light"/>
              <a:sym typeface="Open Sans Light"/>
            </a:endParaRPr>
          </a:p>
        </p:txBody>
      </p:sp>
      <p:sp>
        <p:nvSpPr>
          <p:cNvPr id="100" name="Google Shape;100;p12"/>
          <p:cNvSpPr txBox="1"/>
          <p:nvPr/>
        </p:nvSpPr>
        <p:spPr>
          <a:xfrm>
            <a:off x="4570443" y="3599485"/>
            <a:ext cx="15544801" cy="9319603"/>
          </a:xfrm>
          <a:prstGeom prst="rect">
            <a:avLst/>
          </a:prstGeom>
          <a:solidFill>
            <a:srgbClr val="FFECBA"/>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Clr>
                <a:schemeClr val="dk2"/>
              </a:buClr>
              <a:buSzPts val="13800"/>
              <a:buFont typeface="Arial"/>
              <a:buNone/>
            </a:pPr>
            <a:r>
              <a:rPr b="1" lang="en-US" sz="13800">
                <a:solidFill>
                  <a:schemeClr val="dk2"/>
                </a:solidFill>
                <a:latin typeface="Open Sans Light"/>
                <a:ea typeface="Open Sans Light"/>
                <a:cs typeface="Open Sans Light"/>
                <a:sym typeface="Open Sans Light"/>
              </a:rPr>
              <a:t>What’s</a:t>
            </a:r>
            <a:r>
              <a:rPr lang="en-US" sz="13800">
                <a:solidFill>
                  <a:schemeClr val="dk2"/>
                </a:solidFill>
                <a:latin typeface="Open Sans Light"/>
                <a:ea typeface="Open Sans Light"/>
                <a:cs typeface="Open Sans Light"/>
                <a:sym typeface="Open Sans Light"/>
              </a:rPr>
              <a:t> a </a:t>
            </a:r>
            <a:r>
              <a:rPr lang="en-US" sz="13800">
                <a:solidFill>
                  <a:srgbClr val="7030A0"/>
                </a:solidFill>
                <a:latin typeface="Open Sans Light"/>
                <a:ea typeface="Open Sans Light"/>
                <a:cs typeface="Open Sans Light"/>
                <a:sym typeface="Open Sans Light"/>
              </a:rPr>
              <a:t>data packet </a:t>
            </a:r>
            <a:r>
              <a:rPr lang="en-US" sz="13800">
                <a:solidFill>
                  <a:schemeClr val="dk2"/>
                </a:solidFill>
                <a:latin typeface="Open Sans Light"/>
                <a:ea typeface="Open Sans Light"/>
                <a:cs typeface="Open Sans Light"/>
                <a:sym typeface="Open Sans Light"/>
              </a:rPr>
              <a:t>and </a:t>
            </a:r>
            <a:r>
              <a:rPr lang="en-US" sz="13800">
                <a:solidFill>
                  <a:srgbClr val="7030A0"/>
                </a:solidFill>
                <a:latin typeface="Open Sans Light"/>
                <a:ea typeface="Open Sans Light"/>
                <a:cs typeface="Open Sans Light"/>
                <a:sym typeface="Open Sans Light"/>
              </a:rPr>
              <a:t>why</a:t>
            </a:r>
            <a:r>
              <a:rPr lang="en-US" sz="13800">
                <a:solidFill>
                  <a:schemeClr val="dk2"/>
                </a:solidFill>
                <a:latin typeface="Open Sans Light"/>
                <a:ea typeface="Open Sans Light"/>
                <a:cs typeface="Open Sans Light"/>
                <a:sym typeface="Open Sans Light"/>
              </a:rPr>
              <a:t> is it important?</a:t>
            </a:r>
            <a:endParaRPr/>
          </a:p>
        </p:txBody>
      </p:sp>
    </p:spTree>
  </p:cSld>
  <p:clrMapOvr>
    <a:masterClrMapping/>
  </p:clrMapOvr>
  <p:transition spd="slow">
    <p:push/>
  </p:transition>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0">
                                            <p:txEl>
                                              <p:pRg end="0" st="0"/>
                                            </p:txEl>
                                          </p:spTgt>
                                        </p:tgtEl>
                                        <p:attrNameLst>
                                          <p:attrName>style.visibility</p:attrName>
                                        </p:attrNameLst>
                                      </p:cBhvr>
                                      <p:to>
                                        <p:strVal val="visible"/>
                                      </p:to>
                                    </p:set>
                                    <p:animEffect filter="fade" transition="in">
                                      <p:cBhvr>
                                        <p:cTn dur="500"/>
                                        <p:tgtEl>
                                          <p:spTgt spid="100">
                                            <p:txEl>
                                              <p:pRg end="0" st="0"/>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13"/>
          <p:cNvSpPr/>
          <p:nvPr/>
        </p:nvSpPr>
        <p:spPr>
          <a:xfrm>
            <a:off x="646235" y="153309"/>
            <a:ext cx="23455239" cy="1755004"/>
          </a:xfrm>
          <a:prstGeom prst="roundRect">
            <a:avLst>
              <a:gd fmla="val 16667" name="adj"/>
            </a:avLst>
          </a:prstGeom>
          <a:solidFill>
            <a:schemeClr val="accent3"/>
          </a:solidFill>
          <a:ln cap="flat" cmpd="sng" w="9525">
            <a:solidFill>
              <a:schemeClr val="dk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5400">
              <a:solidFill>
                <a:schemeClr val="dk1"/>
              </a:solidFill>
              <a:latin typeface="Calibri"/>
              <a:ea typeface="Calibri"/>
              <a:cs typeface="Calibri"/>
              <a:sym typeface="Calibri"/>
            </a:endParaRPr>
          </a:p>
        </p:txBody>
      </p:sp>
      <p:sp>
        <p:nvSpPr>
          <p:cNvPr id="107" name="Google Shape;107;p13"/>
          <p:cNvSpPr txBox="1"/>
          <p:nvPr/>
        </p:nvSpPr>
        <p:spPr>
          <a:xfrm>
            <a:off x="1074582" y="270424"/>
            <a:ext cx="22598544" cy="1334211"/>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chemeClr val="dk2"/>
              </a:buClr>
              <a:buSzPts val="6000"/>
              <a:buFont typeface="Arial"/>
              <a:buNone/>
            </a:pPr>
            <a:r>
              <a:rPr b="1" lang="en-US" sz="6000" u="sng">
                <a:solidFill>
                  <a:schemeClr val="dk2"/>
                </a:solidFill>
                <a:latin typeface="Calibri"/>
                <a:ea typeface="Calibri"/>
                <a:cs typeface="Calibri"/>
                <a:sym typeface="Calibri"/>
              </a:rPr>
              <a:t>Target Task: Reflective Writing or Exam Practice</a:t>
            </a:r>
            <a:endParaRPr/>
          </a:p>
        </p:txBody>
      </p:sp>
      <p:cxnSp>
        <p:nvCxnSpPr>
          <p:cNvPr id="108" name="Google Shape;108;p13"/>
          <p:cNvCxnSpPr/>
          <p:nvPr/>
        </p:nvCxnSpPr>
        <p:spPr>
          <a:xfrm>
            <a:off x="10859432" y="2047026"/>
            <a:ext cx="0" cy="11389526"/>
          </a:xfrm>
          <a:prstGeom prst="straightConnector1">
            <a:avLst/>
          </a:prstGeom>
          <a:noFill/>
          <a:ln cap="flat" cmpd="sng" w="9525">
            <a:solidFill>
              <a:schemeClr val="dk2"/>
            </a:solidFill>
            <a:prstDash val="solid"/>
            <a:miter lim="800000"/>
            <a:headEnd len="sm" w="sm" type="none"/>
            <a:tailEnd len="sm" w="sm" type="none"/>
          </a:ln>
        </p:spPr>
      </p:cxnSp>
      <p:sp>
        <p:nvSpPr>
          <p:cNvPr id="109" name="Google Shape;109;p13"/>
          <p:cNvSpPr/>
          <p:nvPr/>
        </p:nvSpPr>
        <p:spPr>
          <a:xfrm>
            <a:off x="646236" y="2047026"/>
            <a:ext cx="9771394" cy="11389526"/>
          </a:xfrm>
          <a:prstGeom prst="roundRect">
            <a:avLst>
              <a:gd fmla="val 16667" name="adj"/>
            </a:avLst>
          </a:prstGeom>
          <a:solidFill>
            <a:srgbClr val="E0F5F9"/>
          </a:solidFill>
          <a:ln cap="flat" cmpd="sng" w="9525">
            <a:solidFill>
              <a:schemeClr val="dk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4400">
              <a:solidFill>
                <a:schemeClr val="dk1"/>
              </a:solidFill>
              <a:latin typeface="Calibri"/>
              <a:ea typeface="Calibri"/>
              <a:cs typeface="Calibri"/>
              <a:sym typeface="Calibri"/>
            </a:endParaRPr>
          </a:p>
        </p:txBody>
      </p:sp>
      <p:sp>
        <p:nvSpPr>
          <p:cNvPr id="110" name="Google Shape;110;p13"/>
          <p:cNvSpPr txBox="1"/>
          <p:nvPr/>
        </p:nvSpPr>
        <p:spPr>
          <a:xfrm>
            <a:off x="2475945" y="2227912"/>
            <a:ext cx="6437168" cy="923330"/>
          </a:xfrm>
          <a:prstGeom prst="rect">
            <a:avLst/>
          </a:prstGeom>
          <a:noFill/>
          <a:ln>
            <a:noFill/>
          </a:ln>
        </p:spPr>
        <p:txBody>
          <a:bodyPr anchorCtr="0" anchor="b" bIns="45700" lIns="91425" spcFirstLastPara="1" rIns="91425" wrap="square" tIns="45700">
            <a:spAutoFit/>
          </a:bodyPr>
          <a:lstStyle/>
          <a:p>
            <a:pPr indent="0" lvl="0" marL="0" marR="0" rtl="0" algn="ctr">
              <a:spcBef>
                <a:spcPts val="0"/>
              </a:spcBef>
              <a:spcAft>
                <a:spcPts val="0"/>
              </a:spcAft>
              <a:buNone/>
            </a:pPr>
            <a:r>
              <a:rPr b="1" lang="en-US" sz="5400" u="sng">
                <a:solidFill>
                  <a:schemeClr val="dk2"/>
                </a:solidFill>
                <a:latin typeface="Poppins"/>
                <a:ea typeface="Poppins"/>
                <a:cs typeface="Poppins"/>
                <a:sym typeface="Poppins"/>
              </a:rPr>
              <a:t>Option 1: Reflective</a:t>
            </a:r>
            <a:endParaRPr/>
          </a:p>
        </p:txBody>
      </p:sp>
      <p:sp>
        <p:nvSpPr>
          <p:cNvPr id="111" name="Google Shape;111;p13"/>
          <p:cNvSpPr txBox="1"/>
          <p:nvPr/>
        </p:nvSpPr>
        <p:spPr>
          <a:xfrm>
            <a:off x="1074582" y="3284709"/>
            <a:ext cx="9141741" cy="10134377"/>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chemeClr val="dk2"/>
              </a:buClr>
              <a:buSzPts val="3600"/>
              <a:buFont typeface="Arial"/>
              <a:buNone/>
            </a:pPr>
            <a:r>
              <a:rPr b="1" lang="en-US" sz="3600" u="sng">
                <a:solidFill>
                  <a:schemeClr val="dk2"/>
                </a:solidFill>
                <a:latin typeface="Open Sans Light"/>
                <a:ea typeface="Open Sans Light"/>
                <a:cs typeface="Open Sans Light"/>
                <a:sym typeface="Open Sans Light"/>
              </a:rPr>
              <a:t>Instructions </a:t>
            </a:r>
            <a:r>
              <a:rPr b="1" lang="en-US" sz="3600">
                <a:solidFill>
                  <a:schemeClr val="dk2"/>
                </a:solidFill>
                <a:latin typeface="Open Sans Light"/>
                <a:ea typeface="Open Sans Light"/>
                <a:cs typeface="Open Sans Light"/>
                <a:sym typeface="Open Sans Light"/>
              </a:rPr>
              <a:t>– </a:t>
            </a:r>
            <a:r>
              <a:rPr i="1" lang="en-US" sz="3600">
                <a:solidFill>
                  <a:schemeClr val="dk2"/>
                </a:solidFill>
                <a:latin typeface="Open Sans Light"/>
                <a:ea typeface="Open Sans Light"/>
                <a:cs typeface="Open Sans Light"/>
                <a:sym typeface="Open Sans Light"/>
              </a:rPr>
              <a:t>Write a </a:t>
            </a:r>
            <a:r>
              <a:rPr i="1" lang="en-US" sz="3600" u="sng">
                <a:solidFill>
                  <a:schemeClr val="dk2"/>
                </a:solidFill>
                <a:latin typeface="Open Sans Light"/>
                <a:ea typeface="Open Sans Light"/>
                <a:cs typeface="Open Sans Light"/>
                <a:sym typeface="Open Sans Light"/>
              </a:rPr>
              <a:t>short essay </a:t>
            </a:r>
            <a:r>
              <a:rPr i="1" lang="en-US" sz="3600">
                <a:solidFill>
                  <a:schemeClr val="dk2"/>
                </a:solidFill>
                <a:latin typeface="Open Sans Light"/>
                <a:ea typeface="Open Sans Light"/>
                <a:cs typeface="Open Sans Light"/>
                <a:sym typeface="Open Sans Light"/>
              </a:rPr>
              <a:t>reflecting on the concept of data packets and why data is broken up into packets for transmission. </a:t>
            </a:r>
            <a:endParaRPr/>
          </a:p>
          <a:p>
            <a:pPr indent="0" lvl="0" marL="0" marR="0" rtl="0" algn="ctr">
              <a:lnSpc>
                <a:spcPct val="150000"/>
              </a:lnSpc>
              <a:spcBef>
                <a:spcPts val="720"/>
              </a:spcBef>
              <a:spcAft>
                <a:spcPts val="0"/>
              </a:spcAft>
              <a:buClr>
                <a:schemeClr val="dk2"/>
              </a:buClr>
              <a:buSzPts val="3600"/>
              <a:buFont typeface="Arial"/>
              <a:buNone/>
            </a:pPr>
            <a:r>
              <a:rPr b="1" lang="en-US" sz="3600" u="sng">
                <a:solidFill>
                  <a:schemeClr val="dk2"/>
                </a:solidFill>
                <a:latin typeface="Lato Light"/>
                <a:ea typeface="Lato Light"/>
                <a:cs typeface="Lato Light"/>
                <a:sym typeface="Lato Light"/>
              </a:rPr>
              <a:t>Success Criteria</a:t>
            </a:r>
            <a:endParaRPr/>
          </a:p>
          <a:p>
            <a:pPr indent="-571500" lvl="0" marL="571500" marR="0" rtl="0" algn="l">
              <a:lnSpc>
                <a:spcPct val="150000"/>
              </a:lnSpc>
              <a:spcBef>
                <a:spcPts val="690"/>
              </a:spcBef>
              <a:spcAft>
                <a:spcPts val="0"/>
              </a:spcAft>
              <a:buClr>
                <a:schemeClr val="dk2"/>
              </a:buClr>
              <a:buSzPts val="3450"/>
              <a:buFont typeface="Arial"/>
              <a:buChar char="•"/>
            </a:pPr>
            <a:r>
              <a:rPr lang="en-US" sz="3450">
                <a:solidFill>
                  <a:schemeClr val="dk2"/>
                </a:solidFill>
                <a:latin typeface="Lato Light"/>
                <a:ea typeface="Lato Light"/>
                <a:cs typeface="Lato Light"/>
                <a:sym typeface="Lato Light"/>
              </a:rPr>
              <a:t>Explain what you </a:t>
            </a:r>
            <a:r>
              <a:rPr lang="en-US" sz="3450">
                <a:solidFill>
                  <a:srgbClr val="1C8256"/>
                </a:solidFill>
                <a:latin typeface="Lato Light"/>
                <a:ea typeface="Lato Light"/>
                <a:cs typeface="Lato Light"/>
                <a:sym typeface="Lato Light"/>
              </a:rPr>
              <a:t>learnt</a:t>
            </a:r>
            <a:r>
              <a:rPr lang="en-US" sz="3450">
                <a:solidFill>
                  <a:schemeClr val="dk2"/>
                </a:solidFill>
                <a:latin typeface="Lato Light"/>
                <a:ea typeface="Lato Light"/>
                <a:cs typeface="Lato Light"/>
                <a:sym typeface="Lato Light"/>
              </a:rPr>
              <a:t> about </a:t>
            </a:r>
            <a:r>
              <a:rPr lang="en-US" sz="3450">
                <a:solidFill>
                  <a:srgbClr val="1C8256"/>
                </a:solidFill>
                <a:latin typeface="Lato Light"/>
                <a:ea typeface="Lato Light"/>
                <a:cs typeface="Lato Light"/>
                <a:sym typeface="Lato Light"/>
              </a:rPr>
              <a:t>data packets</a:t>
            </a:r>
            <a:r>
              <a:rPr lang="en-US" sz="3450">
                <a:solidFill>
                  <a:schemeClr val="dk2"/>
                </a:solidFill>
                <a:latin typeface="Lato Light"/>
                <a:ea typeface="Lato Light"/>
                <a:cs typeface="Lato Light"/>
                <a:sym typeface="Lato Light"/>
              </a:rPr>
              <a:t> and their role in data transmission</a:t>
            </a:r>
            <a:endParaRPr i="1" sz="3450">
              <a:solidFill>
                <a:schemeClr val="dk2"/>
              </a:solidFill>
              <a:latin typeface="Lato Light"/>
              <a:ea typeface="Lato Light"/>
              <a:cs typeface="Lato Light"/>
              <a:sym typeface="Lato Light"/>
            </a:endParaRPr>
          </a:p>
          <a:p>
            <a:pPr indent="-571500" lvl="0" marL="571500" marR="0" rtl="0" algn="l">
              <a:lnSpc>
                <a:spcPct val="150000"/>
              </a:lnSpc>
              <a:spcBef>
                <a:spcPts val="690"/>
              </a:spcBef>
              <a:spcAft>
                <a:spcPts val="0"/>
              </a:spcAft>
              <a:buClr>
                <a:schemeClr val="dk2"/>
              </a:buClr>
              <a:buSzPts val="3450"/>
              <a:buFont typeface="Arial"/>
              <a:buChar char="•"/>
            </a:pPr>
            <a:r>
              <a:rPr lang="en-US" sz="3450">
                <a:solidFill>
                  <a:schemeClr val="dk2"/>
                </a:solidFill>
                <a:latin typeface="Lato Light"/>
                <a:ea typeface="Lato Light"/>
                <a:cs typeface="Lato Light"/>
                <a:sym typeface="Lato Light"/>
              </a:rPr>
              <a:t>Explain what you found </a:t>
            </a:r>
            <a:r>
              <a:rPr lang="en-US" sz="3450">
                <a:solidFill>
                  <a:srgbClr val="7030A0"/>
                </a:solidFill>
                <a:latin typeface="Lato Light"/>
                <a:ea typeface="Lato Light"/>
                <a:cs typeface="Lato Light"/>
                <a:sym typeface="Lato Light"/>
              </a:rPr>
              <a:t>challenging</a:t>
            </a:r>
            <a:r>
              <a:rPr lang="en-US" sz="3450">
                <a:solidFill>
                  <a:schemeClr val="dk2"/>
                </a:solidFill>
                <a:latin typeface="Lato Light"/>
                <a:ea typeface="Lato Light"/>
                <a:cs typeface="Lato Light"/>
                <a:sym typeface="Lato Light"/>
              </a:rPr>
              <a:t> about these concepts and </a:t>
            </a:r>
            <a:r>
              <a:rPr lang="en-US" sz="3450">
                <a:solidFill>
                  <a:srgbClr val="7030A0"/>
                </a:solidFill>
                <a:latin typeface="Lato Light"/>
                <a:ea typeface="Lato Light"/>
                <a:cs typeface="Lato Light"/>
                <a:sym typeface="Lato Light"/>
              </a:rPr>
              <a:t>why</a:t>
            </a:r>
            <a:r>
              <a:rPr lang="en-US" sz="3450">
                <a:solidFill>
                  <a:schemeClr val="dk2"/>
                </a:solidFill>
                <a:latin typeface="Lato Light"/>
                <a:ea typeface="Lato Light"/>
                <a:cs typeface="Lato Light"/>
                <a:sym typeface="Lato Light"/>
              </a:rPr>
              <a:t> they were challenging.</a:t>
            </a:r>
            <a:endParaRPr/>
          </a:p>
          <a:p>
            <a:pPr indent="-571500" lvl="0" marL="571500" marR="0" rtl="0" algn="l">
              <a:lnSpc>
                <a:spcPct val="150000"/>
              </a:lnSpc>
              <a:spcBef>
                <a:spcPts val="690"/>
              </a:spcBef>
              <a:spcAft>
                <a:spcPts val="0"/>
              </a:spcAft>
              <a:buClr>
                <a:schemeClr val="dk2"/>
              </a:buClr>
              <a:buSzPts val="3450"/>
              <a:buFont typeface="Arial"/>
              <a:buChar char="•"/>
            </a:pPr>
            <a:r>
              <a:rPr lang="en-US" sz="3450">
                <a:solidFill>
                  <a:schemeClr val="dk2"/>
                </a:solidFill>
                <a:latin typeface="Lato Light"/>
                <a:ea typeface="Lato Light"/>
                <a:cs typeface="Lato Light"/>
                <a:sym typeface="Lato Light"/>
              </a:rPr>
              <a:t>Explain how you can </a:t>
            </a:r>
            <a:r>
              <a:rPr lang="en-US" sz="3450">
                <a:solidFill>
                  <a:srgbClr val="0070C0"/>
                </a:solidFill>
                <a:latin typeface="Lato Light"/>
                <a:ea typeface="Lato Light"/>
                <a:cs typeface="Lato Light"/>
                <a:sym typeface="Lato Light"/>
              </a:rPr>
              <a:t>apply</a:t>
            </a:r>
            <a:r>
              <a:rPr lang="en-US" sz="3450">
                <a:solidFill>
                  <a:schemeClr val="dk2"/>
                </a:solidFill>
                <a:latin typeface="Lato Light"/>
                <a:ea typeface="Lato Light"/>
                <a:cs typeface="Lato Light"/>
                <a:sym typeface="Lato Light"/>
              </a:rPr>
              <a:t> this knowledge</a:t>
            </a:r>
            <a:r>
              <a:rPr i="1" lang="en-US" sz="3450">
                <a:solidFill>
                  <a:schemeClr val="dk2"/>
                </a:solidFill>
                <a:latin typeface="Lato Light"/>
                <a:ea typeface="Lato Light"/>
                <a:cs typeface="Lato Light"/>
                <a:sym typeface="Lato Light"/>
              </a:rPr>
              <a:t> (e.g., understanding how your internet connection works or troubleshooting network issues).</a:t>
            </a:r>
            <a:endParaRPr/>
          </a:p>
        </p:txBody>
      </p:sp>
      <p:sp>
        <p:nvSpPr>
          <p:cNvPr id="112" name="Google Shape;112;p13"/>
          <p:cNvSpPr/>
          <p:nvPr/>
        </p:nvSpPr>
        <p:spPr>
          <a:xfrm>
            <a:off x="11301236" y="2047025"/>
            <a:ext cx="12817700" cy="1002081"/>
          </a:xfrm>
          <a:prstGeom prst="roundRect">
            <a:avLst>
              <a:gd fmla="val 16667" name="adj"/>
            </a:avLst>
          </a:prstGeom>
          <a:solidFill>
            <a:srgbClr val="E0F5F9"/>
          </a:solidFill>
          <a:ln cap="flat" cmpd="sng" w="9525">
            <a:solidFill>
              <a:schemeClr val="dk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5400">
              <a:solidFill>
                <a:schemeClr val="dk1"/>
              </a:solidFill>
              <a:latin typeface="Calibri"/>
              <a:ea typeface="Calibri"/>
              <a:cs typeface="Calibri"/>
              <a:sym typeface="Calibri"/>
            </a:endParaRPr>
          </a:p>
        </p:txBody>
      </p:sp>
      <p:sp>
        <p:nvSpPr>
          <p:cNvPr id="113" name="Google Shape;113;p13"/>
          <p:cNvSpPr txBox="1"/>
          <p:nvPr/>
        </p:nvSpPr>
        <p:spPr>
          <a:xfrm>
            <a:off x="12962157" y="1982311"/>
            <a:ext cx="10710969" cy="1023678"/>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chemeClr val="dk2"/>
              </a:buClr>
              <a:buSzPts val="4500"/>
              <a:buFont typeface="Arial"/>
              <a:buNone/>
            </a:pPr>
            <a:r>
              <a:rPr b="1" lang="en-US" sz="4500" u="sng">
                <a:solidFill>
                  <a:schemeClr val="dk2"/>
                </a:solidFill>
                <a:latin typeface="Calibri"/>
                <a:ea typeface="Calibri"/>
                <a:cs typeface="Calibri"/>
                <a:sym typeface="Calibri"/>
              </a:rPr>
              <a:t>Option 2: Exam Practice</a:t>
            </a:r>
            <a:endParaRPr/>
          </a:p>
        </p:txBody>
      </p:sp>
      <p:sp>
        <p:nvSpPr>
          <p:cNvPr id="114" name="Google Shape;114;p13"/>
          <p:cNvSpPr/>
          <p:nvPr/>
        </p:nvSpPr>
        <p:spPr>
          <a:xfrm>
            <a:off x="11301236" y="3243639"/>
            <a:ext cx="12817700" cy="2804086"/>
          </a:xfrm>
          <a:prstGeom prst="rect">
            <a:avLst/>
          </a:prstGeom>
          <a:solidFill>
            <a:srgbClr val="FFE7CF"/>
          </a:solidFill>
          <a:ln cap="flat" cmpd="sng" w="12700">
            <a:solidFill>
              <a:srgbClr val="0B5376"/>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2800">
              <a:solidFill>
                <a:schemeClr val="lt1"/>
              </a:solidFill>
              <a:latin typeface="Calibri"/>
              <a:ea typeface="Calibri"/>
              <a:cs typeface="Calibri"/>
              <a:sym typeface="Calibri"/>
            </a:endParaRPr>
          </a:p>
        </p:txBody>
      </p:sp>
      <p:sp>
        <p:nvSpPr>
          <p:cNvPr id="115" name="Google Shape;115;p13"/>
          <p:cNvSpPr txBox="1"/>
          <p:nvPr/>
        </p:nvSpPr>
        <p:spPr>
          <a:xfrm>
            <a:off x="11301235" y="3222282"/>
            <a:ext cx="12817701" cy="2887265"/>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chemeClr val="dk2"/>
              </a:buClr>
              <a:buSzPts val="4800"/>
              <a:buFont typeface="Arial"/>
              <a:buNone/>
            </a:pPr>
            <a:r>
              <a:rPr b="1" lang="en-US" sz="4800">
                <a:solidFill>
                  <a:schemeClr val="dk2"/>
                </a:solidFill>
                <a:latin typeface="Lato Light"/>
                <a:ea typeface="Lato Light"/>
                <a:cs typeface="Lato Light"/>
                <a:sym typeface="Lato Light"/>
              </a:rPr>
              <a:t>Bronze (1 mark):</a:t>
            </a:r>
            <a:endParaRPr/>
          </a:p>
          <a:p>
            <a:pPr indent="-457200" lvl="0" marL="457200" marR="0" rtl="0" algn="l">
              <a:lnSpc>
                <a:spcPct val="150000"/>
              </a:lnSpc>
              <a:spcBef>
                <a:spcPts val="720"/>
              </a:spcBef>
              <a:spcAft>
                <a:spcPts val="0"/>
              </a:spcAft>
              <a:buClr>
                <a:srgbClr val="1C8256"/>
              </a:buClr>
              <a:buSzPts val="3600"/>
              <a:buFont typeface="Arial"/>
              <a:buChar char="•"/>
            </a:pPr>
            <a:r>
              <a:rPr lang="en-US" sz="3600">
                <a:solidFill>
                  <a:srgbClr val="1C8256"/>
                </a:solidFill>
                <a:latin typeface="Lato Light"/>
                <a:ea typeface="Lato Light"/>
                <a:cs typeface="Lato Light"/>
                <a:sym typeface="Lato Light"/>
              </a:rPr>
              <a:t>Define</a:t>
            </a:r>
            <a:r>
              <a:rPr lang="en-US" sz="3600">
                <a:solidFill>
                  <a:schemeClr val="dk2"/>
                </a:solidFill>
                <a:latin typeface="Lato Light"/>
                <a:ea typeface="Lato Light"/>
                <a:cs typeface="Lato Light"/>
                <a:sym typeface="Lato Light"/>
              </a:rPr>
              <a:t> data packets and explain their importance in data transmission</a:t>
            </a:r>
            <a:endParaRPr/>
          </a:p>
        </p:txBody>
      </p:sp>
      <p:sp>
        <p:nvSpPr>
          <p:cNvPr id="116" name="Google Shape;116;p13"/>
          <p:cNvSpPr/>
          <p:nvPr/>
        </p:nvSpPr>
        <p:spPr>
          <a:xfrm>
            <a:off x="11259958" y="6271738"/>
            <a:ext cx="12858977" cy="2964912"/>
          </a:xfrm>
          <a:prstGeom prst="rect">
            <a:avLst/>
          </a:prstGeom>
          <a:solidFill>
            <a:srgbClr val="F2F2F2"/>
          </a:solidFill>
          <a:ln cap="flat" cmpd="sng" w="12700">
            <a:solidFill>
              <a:srgbClr val="0B5376"/>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2000">
              <a:solidFill>
                <a:schemeClr val="lt1"/>
              </a:solidFill>
              <a:latin typeface="Calibri"/>
              <a:ea typeface="Calibri"/>
              <a:cs typeface="Calibri"/>
              <a:sym typeface="Calibri"/>
            </a:endParaRPr>
          </a:p>
        </p:txBody>
      </p:sp>
      <p:sp>
        <p:nvSpPr>
          <p:cNvPr id="117" name="Google Shape;117;p13"/>
          <p:cNvSpPr txBox="1"/>
          <p:nvPr/>
        </p:nvSpPr>
        <p:spPr>
          <a:xfrm>
            <a:off x="11402431" y="6065794"/>
            <a:ext cx="12699043" cy="3164264"/>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chemeClr val="dk2"/>
              </a:buClr>
              <a:buSzPts val="6000"/>
              <a:buFont typeface="Arial"/>
              <a:buNone/>
            </a:pPr>
            <a:r>
              <a:rPr b="1" lang="en-US" sz="6000">
                <a:solidFill>
                  <a:schemeClr val="dk2"/>
                </a:solidFill>
                <a:latin typeface="Lato Light"/>
                <a:ea typeface="Lato Light"/>
                <a:cs typeface="Lato Light"/>
                <a:sym typeface="Lato Light"/>
              </a:rPr>
              <a:t>Silver (2 marks): </a:t>
            </a:r>
            <a:endParaRPr/>
          </a:p>
          <a:p>
            <a:pPr indent="-457200" lvl="0" marL="457200" marR="0" rtl="0" algn="l">
              <a:lnSpc>
                <a:spcPct val="150000"/>
              </a:lnSpc>
              <a:spcBef>
                <a:spcPts val="720"/>
              </a:spcBef>
              <a:spcAft>
                <a:spcPts val="0"/>
              </a:spcAft>
              <a:buClr>
                <a:srgbClr val="7030A0"/>
              </a:buClr>
              <a:buSzPts val="3600"/>
              <a:buFont typeface="Arial"/>
              <a:buChar char="•"/>
            </a:pPr>
            <a:r>
              <a:rPr lang="en-US" sz="3600">
                <a:solidFill>
                  <a:srgbClr val="7030A0"/>
                </a:solidFill>
                <a:latin typeface="Lato Light"/>
                <a:ea typeface="Lato Light"/>
                <a:cs typeface="Lato Light"/>
                <a:sym typeface="Lato Light"/>
              </a:rPr>
              <a:t>Describe</a:t>
            </a:r>
            <a:r>
              <a:rPr lang="en-US" sz="3600">
                <a:solidFill>
                  <a:schemeClr val="dk2"/>
                </a:solidFill>
                <a:latin typeface="Lato Light"/>
                <a:ea typeface="Lato Light"/>
                <a:cs typeface="Lato Light"/>
                <a:sym typeface="Lato Light"/>
              </a:rPr>
              <a:t> the </a:t>
            </a:r>
            <a:r>
              <a:rPr lang="en-US" sz="3600">
                <a:solidFill>
                  <a:srgbClr val="7030A0"/>
                </a:solidFill>
                <a:latin typeface="Lato Light"/>
                <a:ea typeface="Lato Light"/>
                <a:cs typeface="Lato Light"/>
                <a:sym typeface="Lato Light"/>
              </a:rPr>
              <a:t>structure</a:t>
            </a:r>
            <a:r>
              <a:rPr lang="en-US" sz="3600">
                <a:solidFill>
                  <a:schemeClr val="dk2"/>
                </a:solidFill>
                <a:latin typeface="Lato Light"/>
                <a:ea typeface="Lato Light"/>
                <a:cs typeface="Lato Light"/>
                <a:sym typeface="Lato Light"/>
              </a:rPr>
              <a:t> of a data packet and why data is broken up into packets</a:t>
            </a:r>
            <a:endParaRPr/>
          </a:p>
        </p:txBody>
      </p:sp>
      <p:sp>
        <p:nvSpPr>
          <p:cNvPr id="118" name="Google Shape;118;p13"/>
          <p:cNvSpPr/>
          <p:nvPr/>
        </p:nvSpPr>
        <p:spPr>
          <a:xfrm>
            <a:off x="11281829" y="9455301"/>
            <a:ext cx="12817701" cy="3117564"/>
          </a:xfrm>
          <a:prstGeom prst="rect">
            <a:avLst/>
          </a:prstGeom>
          <a:solidFill>
            <a:srgbClr val="FFECBA"/>
          </a:solidFill>
          <a:ln cap="flat" cmpd="sng" w="12700">
            <a:solidFill>
              <a:srgbClr val="0B5376"/>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2000">
              <a:solidFill>
                <a:schemeClr val="lt1"/>
              </a:solidFill>
              <a:latin typeface="Calibri"/>
              <a:ea typeface="Calibri"/>
              <a:cs typeface="Calibri"/>
              <a:sym typeface="Calibri"/>
            </a:endParaRPr>
          </a:p>
        </p:txBody>
      </p:sp>
      <p:sp>
        <p:nvSpPr>
          <p:cNvPr id="119" name="Google Shape;119;p13"/>
          <p:cNvSpPr txBox="1"/>
          <p:nvPr/>
        </p:nvSpPr>
        <p:spPr>
          <a:xfrm>
            <a:off x="11366291" y="9429100"/>
            <a:ext cx="12625744" cy="3164264"/>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chemeClr val="dk2"/>
              </a:buClr>
              <a:buSzPts val="6000"/>
              <a:buFont typeface="Arial"/>
              <a:buNone/>
            </a:pPr>
            <a:r>
              <a:rPr b="1" lang="en-US" sz="6000">
                <a:solidFill>
                  <a:schemeClr val="dk2"/>
                </a:solidFill>
                <a:latin typeface="Lato Light"/>
                <a:ea typeface="Lato Light"/>
                <a:cs typeface="Lato Light"/>
                <a:sym typeface="Lato Light"/>
              </a:rPr>
              <a:t>Gold (3 marks): </a:t>
            </a:r>
            <a:endParaRPr/>
          </a:p>
          <a:p>
            <a:pPr indent="-457200" lvl="0" marL="457200" marR="0" rtl="0" algn="l">
              <a:lnSpc>
                <a:spcPct val="150000"/>
              </a:lnSpc>
              <a:spcBef>
                <a:spcPts val="720"/>
              </a:spcBef>
              <a:spcAft>
                <a:spcPts val="0"/>
              </a:spcAft>
              <a:buClr>
                <a:srgbClr val="0070C0"/>
              </a:buClr>
              <a:buSzPts val="3600"/>
              <a:buFont typeface="Arial"/>
              <a:buChar char="•"/>
            </a:pPr>
            <a:r>
              <a:rPr lang="en-US" sz="3600">
                <a:solidFill>
                  <a:srgbClr val="0070C0"/>
                </a:solidFill>
                <a:latin typeface="Lato Light"/>
                <a:ea typeface="Lato Light"/>
                <a:cs typeface="Lato Light"/>
                <a:sym typeface="Lato Light"/>
              </a:rPr>
              <a:t>Explain</a:t>
            </a:r>
            <a:r>
              <a:rPr lang="en-US" sz="3600">
                <a:solidFill>
                  <a:schemeClr val="dk2"/>
                </a:solidFill>
                <a:latin typeface="Lato Light"/>
                <a:ea typeface="Lato Light"/>
                <a:cs typeface="Lato Light"/>
                <a:sym typeface="Lato Light"/>
              </a:rPr>
              <a:t> the </a:t>
            </a:r>
            <a:r>
              <a:rPr lang="en-US" sz="3600">
                <a:solidFill>
                  <a:srgbClr val="0070C0"/>
                </a:solidFill>
                <a:latin typeface="Lato Light"/>
                <a:ea typeface="Lato Light"/>
                <a:cs typeface="Lato Light"/>
                <a:sym typeface="Lato Light"/>
              </a:rPr>
              <a:t>consequences</a:t>
            </a:r>
            <a:r>
              <a:rPr lang="en-US" sz="3600">
                <a:solidFill>
                  <a:schemeClr val="dk2"/>
                </a:solidFill>
                <a:latin typeface="Lato Light"/>
                <a:ea typeface="Lato Light"/>
                <a:cs typeface="Lato Light"/>
                <a:sym typeface="Lato Light"/>
              </a:rPr>
              <a:t> if data isn’t broken up into packets for transmission</a:t>
            </a:r>
            <a:endParaRPr/>
          </a:p>
        </p:txBody>
      </p:sp>
      <p:sp>
        <p:nvSpPr>
          <p:cNvPr id="120" name="Google Shape;120;p13"/>
          <p:cNvSpPr txBox="1"/>
          <p:nvPr/>
        </p:nvSpPr>
        <p:spPr>
          <a:xfrm>
            <a:off x="11338020" y="12781788"/>
            <a:ext cx="12780916" cy="775340"/>
          </a:xfrm>
          <a:prstGeom prst="rect">
            <a:avLst/>
          </a:prstGeom>
          <a:solidFill>
            <a:srgbClr val="E0F5F9"/>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Clr>
                <a:schemeClr val="dk2"/>
              </a:buClr>
              <a:buSzPts val="3300"/>
              <a:buFont typeface="Arial"/>
              <a:buNone/>
            </a:pPr>
            <a:r>
              <a:rPr b="1" lang="en-US" sz="3300" u="sng">
                <a:solidFill>
                  <a:schemeClr val="dk2"/>
                </a:solidFill>
                <a:latin typeface="Open Sans Light"/>
                <a:ea typeface="Open Sans Light"/>
                <a:cs typeface="Open Sans Light"/>
                <a:sym typeface="Open Sans Light"/>
              </a:rPr>
              <a:t>Challenge Activity</a:t>
            </a:r>
            <a:r>
              <a:rPr b="1" lang="en-US" sz="3300">
                <a:solidFill>
                  <a:schemeClr val="dk2"/>
                </a:solidFill>
                <a:latin typeface="Open Sans Light"/>
                <a:ea typeface="Open Sans Light"/>
                <a:cs typeface="Open Sans Light"/>
                <a:sym typeface="Open Sans Light"/>
              </a:rPr>
              <a:t> </a:t>
            </a:r>
            <a:r>
              <a:rPr lang="en-US" sz="3300">
                <a:solidFill>
                  <a:schemeClr val="dk2"/>
                </a:solidFill>
                <a:latin typeface="Open Sans Light"/>
                <a:ea typeface="Open Sans Light"/>
                <a:cs typeface="Open Sans Light"/>
                <a:sym typeface="Open Sans Light"/>
              </a:rPr>
              <a:t>Complete </a:t>
            </a:r>
            <a:r>
              <a:rPr lang="en-US" sz="3300" u="sng">
                <a:solidFill>
                  <a:schemeClr val="dk2"/>
                </a:solidFill>
                <a:latin typeface="Open Sans Light"/>
                <a:ea typeface="Open Sans Light"/>
                <a:cs typeface="Open Sans Light"/>
                <a:sym typeface="Open Sans Light"/>
              </a:rPr>
              <a:t>all three </a:t>
            </a:r>
            <a:r>
              <a:rPr lang="en-US" sz="3300">
                <a:solidFill>
                  <a:schemeClr val="dk2"/>
                </a:solidFill>
                <a:latin typeface="Open Sans Light"/>
                <a:ea typeface="Open Sans Light"/>
                <a:cs typeface="Open Sans Light"/>
                <a:sym typeface="Open Sans Light"/>
              </a:rPr>
              <a:t>questions for a house point.</a:t>
            </a:r>
            <a:endParaRPr sz="3300">
              <a:solidFill>
                <a:schemeClr val="dk2"/>
              </a:solidFill>
              <a:latin typeface="Open Sans Light"/>
              <a:ea typeface="Open Sans Light"/>
              <a:cs typeface="Open Sans Light"/>
              <a:sym typeface="Open Sans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2"/>
                                        </p:tgtEl>
                                        <p:attrNameLst>
                                          <p:attrName>style.visibility</p:attrName>
                                        </p:attrNameLst>
                                      </p:cBhvr>
                                      <p:to>
                                        <p:strVal val="visible"/>
                                      </p:to>
                                    </p:set>
                                    <p:animEffect filter="fade" transition="in">
                                      <p:cBhvr>
                                        <p:cTn dur="500"/>
                                        <p:tgtEl>
                                          <p:spTgt spid="112"/>
                                        </p:tgtEl>
                                      </p:cBhvr>
                                    </p:animEffect>
                                  </p:childTnLst>
                                </p:cTn>
                              </p:par>
                              <p:par>
                                <p:cTn fill="hold" nodeType="withEffect" presetClass="entr" presetID="10" presetSubtype="0">
                                  <p:stCondLst>
                                    <p:cond delay="0"/>
                                  </p:stCondLst>
                                  <p:childTnLst>
                                    <p:set>
                                      <p:cBhvr>
                                        <p:cTn dur="1" fill="hold">
                                          <p:stCondLst>
                                            <p:cond delay="0"/>
                                          </p:stCondLst>
                                        </p:cTn>
                                        <p:tgtEl>
                                          <p:spTgt spid="113"/>
                                        </p:tgtEl>
                                        <p:attrNameLst>
                                          <p:attrName>style.visibility</p:attrName>
                                        </p:attrNameLst>
                                      </p:cBhvr>
                                      <p:to>
                                        <p:strVal val="visible"/>
                                      </p:to>
                                    </p:set>
                                    <p:animEffect filter="fade" transition="in">
                                      <p:cBhvr>
                                        <p:cTn dur="500"/>
                                        <p:tgtEl>
                                          <p:spTgt spid="11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4">
                                  <p:stCondLst>
                                    <p:cond delay="0"/>
                                  </p:stCondLst>
                                  <p:childTnLst>
                                    <p:set>
                                      <p:cBhvr>
                                        <p:cTn dur="1" fill="hold">
                                          <p:stCondLst>
                                            <p:cond delay="0"/>
                                          </p:stCondLst>
                                        </p:cTn>
                                        <p:tgtEl>
                                          <p:spTgt spid="114"/>
                                        </p:tgtEl>
                                        <p:attrNameLst>
                                          <p:attrName>style.visibility</p:attrName>
                                        </p:attrNameLst>
                                      </p:cBhvr>
                                      <p:to>
                                        <p:strVal val="visible"/>
                                      </p:to>
                                    </p:set>
                                    <p:anim calcmode="lin" valueType="num">
                                      <p:cBhvr additive="base">
                                        <p:cTn dur="500"/>
                                        <p:tgtEl>
                                          <p:spTgt spid="114"/>
                                        </p:tgtEl>
                                        <p:attrNameLst>
                                          <p:attrName>ppt_y</p:attrName>
                                        </p:attrNameLst>
                                      </p:cBhvr>
                                      <p:tavLst>
                                        <p:tav fmla="" tm="0">
                                          <p:val>
                                            <p:strVal val="#ppt_y+1"/>
                                          </p:val>
                                        </p:tav>
                                        <p:tav fmla="" tm="100000">
                                          <p:val>
                                            <p:strVal val="#ppt_y"/>
                                          </p:val>
                                        </p:tav>
                                      </p:tavLst>
                                    </p:anim>
                                  </p:childTnLst>
                                </p:cTn>
                              </p:par>
                              <p:par>
                                <p:cTn fill="hold" nodeType="withEffect" presetClass="entr" presetID="2" presetSubtype="4">
                                  <p:stCondLst>
                                    <p:cond delay="0"/>
                                  </p:stCondLst>
                                  <p:childTnLst>
                                    <p:set>
                                      <p:cBhvr>
                                        <p:cTn dur="1" fill="hold">
                                          <p:stCondLst>
                                            <p:cond delay="0"/>
                                          </p:stCondLst>
                                        </p:cTn>
                                        <p:tgtEl>
                                          <p:spTgt spid="115"/>
                                        </p:tgtEl>
                                        <p:attrNameLst>
                                          <p:attrName>style.visibility</p:attrName>
                                        </p:attrNameLst>
                                      </p:cBhvr>
                                      <p:to>
                                        <p:strVal val="visible"/>
                                      </p:to>
                                    </p:set>
                                    <p:anim calcmode="lin" valueType="num">
                                      <p:cBhvr additive="base">
                                        <p:cTn dur="500"/>
                                        <p:tgtEl>
                                          <p:spTgt spid="115"/>
                                        </p:tgtEl>
                                        <p:attrNameLst>
                                          <p:attrName>ppt_y</p:attrName>
                                        </p:attrNameLst>
                                      </p:cBhvr>
                                      <p:tavLst>
                                        <p:tav fmla="" tm="0">
                                          <p:val>
                                            <p:strVal val="#ppt_y+1"/>
                                          </p:val>
                                        </p:tav>
                                        <p:tav fmla="" tm="100000">
                                          <p:val>
                                            <p:strVal val="#ppt_y"/>
                                          </p:val>
                                        </p:tav>
                                      </p:tavLst>
                                    </p:anim>
                                  </p:childTnLst>
                                </p:cTn>
                              </p:par>
                              <p:par>
                                <p:cTn fill="hold" nodeType="withEffect" presetClass="entr" presetID="2" presetSubtype="4">
                                  <p:stCondLst>
                                    <p:cond delay="0"/>
                                  </p:stCondLst>
                                  <p:childTnLst>
                                    <p:set>
                                      <p:cBhvr>
                                        <p:cTn dur="1" fill="hold">
                                          <p:stCondLst>
                                            <p:cond delay="0"/>
                                          </p:stCondLst>
                                        </p:cTn>
                                        <p:tgtEl>
                                          <p:spTgt spid="116"/>
                                        </p:tgtEl>
                                        <p:attrNameLst>
                                          <p:attrName>style.visibility</p:attrName>
                                        </p:attrNameLst>
                                      </p:cBhvr>
                                      <p:to>
                                        <p:strVal val="visible"/>
                                      </p:to>
                                    </p:set>
                                    <p:anim calcmode="lin" valueType="num">
                                      <p:cBhvr additive="base">
                                        <p:cTn dur="500"/>
                                        <p:tgtEl>
                                          <p:spTgt spid="116"/>
                                        </p:tgtEl>
                                        <p:attrNameLst>
                                          <p:attrName>ppt_y</p:attrName>
                                        </p:attrNameLst>
                                      </p:cBhvr>
                                      <p:tavLst>
                                        <p:tav fmla="" tm="0">
                                          <p:val>
                                            <p:strVal val="#ppt_y+1"/>
                                          </p:val>
                                        </p:tav>
                                        <p:tav fmla="" tm="100000">
                                          <p:val>
                                            <p:strVal val="#ppt_y"/>
                                          </p:val>
                                        </p:tav>
                                      </p:tavLst>
                                    </p:anim>
                                  </p:childTnLst>
                                </p:cTn>
                              </p:par>
                              <p:par>
                                <p:cTn fill="hold" nodeType="withEffect" presetClass="entr" presetID="2" presetSubtype="4">
                                  <p:stCondLst>
                                    <p:cond delay="0"/>
                                  </p:stCondLst>
                                  <p:childTnLst>
                                    <p:set>
                                      <p:cBhvr>
                                        <p:cTn dur="1" fill="hold">
                                          <p:stCondLst>
                                            <p:cond delay="0"/>
                                          </p:stCondLst>
                                        </p:cTn>
                                        <p:tgtEl>
                                          <p:spTgt spid="117"/>
                                        </p:tgtEl>
                                        <p:attrNameLst>
                                          <p:attrName>style.visibility</p:attrName>
                                        </p:attrNameLst>
                                      </p:cBhvr>
                                      <p:to>
                                        <p:strVal val="visible"/>
                                      </p:to>
                                    </p:set>
                                    <p:anim calcmode="lin" valueType="num">
                                      <p:cBhvr additive="base">
                                        <p:cTn dur="500"/>
                                        <p:tgtEl>
                                          <p:spTgt spid="117"/>
                                        </p:tgtEl>
                                        <p:attrNameLst>
                                          <p:attrName>ppt_y</p:attrName>
                                        </p:attrNameLst>
                                      </p:cBhvr>
                                      <p:tavLst>
                                        <p:tav fmla="" tm="0">
                                          <p:val>
                                            <p:strVal val="#ppt_y+1"/>
                                          </p:val>
                                        </p:tav>
                                        <p:tav fmla="" tm="100000">
                                          <p:val>
                                            <p:strVal val="#ppt_y"/>
                                          </p:val>
                                        </p:tav>
                                      </p:tavLst>
                                    </p:anim>
                                  </p:childTnLst>
                                </p:cTn>
                              </p:par>
                              <p:par>
                                <p:cTn fill="hold" nodeType="withEffect" presetClass="entr" presetID="2" presetSubtype="4">
                                  <p:stCondLst>
                                    <p:cond delay="0"/>
                                  </p:stCondLst>
                                  <p:childTnLst>
                                    <p:set>
                                      <p:cBhvr>
                                        <p:cTn dur="1" fill="hold">
                                          <p:stCondLst>
                                            <p:cond delay="0"/>
                                          </p:stCondLst>
                                        </p:cTn>
                                        <p:tgtEl>
                                          <p:spTgt spid="118"/>
                                        </p:tgtEl>
                                        <p:attrNameLst>
                                          <p:attrName>style.visibility</p:attrName>
                                        </p:attrNameLst>
                                      </p:cBhvr>
                                      <p:to>
                                        <p:strVal val="visible"/>
                                      </p:to>
                                    </p:set>
                                    <p:anim calcmode="lin" valueType="num">
                                      <p:cBhvr additive="base">
                                        <p:cTn dur="500"/>
                                        <p:tgtEl>
                                          <p:spTgt spid="118"/>
                                        </p:tgtEl>
                                        <p:attrNameLst>
                                          <p:attrName>ppt_y</p:attrName>
                                        </p:attrNameLst>
                                      </p:cBhvr>
                                      <p:tavLst>
                                        <p:tav fmla="" tm="0">
                                          <p:val>
                                            <p:strVal val="#ppt_y+1"/>
                                          </p:val>
                                        </p:tav>
                                        <p:tav fmla="" tm="100000">
                                          <p:val>
                                            <p:strVal val="#ppt_y"/>
                                          </p:val>
                                        </p:tav>
                                      </p:tavLst>
                                    </p:anim>
                                  </p:childTnLst>
                                </p:cTn>
                              </p:par>
                              <p:par>
                                <p:cTn fill="hold" nodeType="withEffect" presetClass="entr" presetID="2" presetSubtype="4">
                                  <p:stCondLst>
                                    <p:cond delay="0"/>
                                  </p:stCondLst>
                                  <p:childTnLst>
                                    <p:set>
                                      <p:cBhvr>
                                        <p:cTn dur="1" fill="hold">
                                          <p:stCondLst>
                                            <p:cond delay="0"/>
                                          </p:stCondLst>
                                        </p:cTn>
                                        <p:tgtEl>
                                          <p:spTgt spid="119"/>
                                        </p:tgtEl>
                                        <p:attrNameLst>
                                          <p:attrName>style.visibility</p:attrName>
                                        </p:attrNameLst>
                                      </p:cBhvr>
                                      <p:to>
                                        <p:strVal val="visible"/>
                                      </p:to>
                                    </p:set>
                                    <p:anim calcmode="lin" valueType="num">
                                      <p:cBhvr additive="base">
                                        <p:cTn dur="500"/>
                                        <p:tgtEl>
                                          <p:spTgt spid="119"/>
                                        </p:tgtEl>
                                        <p:attrNameLst>
                                          <p:attrName>ppt_y</p:attrName>
                                        </p:attrNameLst>
                                      </p:cBhvr>
                                      <p:tavLst>
                                        <p:tav fmla="" tm="0">
                                          <p:val>
                                            <p:strVal val="#ppt_y+1"/>
                                          </p:val>
                                        </p:tav>
                                        <p:tav fmla="" tm="100000">
                                          <p:val>
                                            <p:strVal val="#ppt_y"/>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0"/>
                                        </p:tgtEl>
                                        <p:attrNameLst>
                                          <p:attrName>style.visibility</p:attrName>
                                        </p:attrNameLst>
                                      </p:cBhvr>
                                      <p:to>
                                        <p:strVal val="visible"/>
                                      </p:to>
                                    </p:set>
                                    <p:animEffect filter="fade" transition="in">
                                      <p:cBhvr>
                                        <p:cTn dur="500"/>
                                        <p:tgtEl>
                                          <p:spTgt spid="12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9"/>
                                        </p:tgtEl>
                                        <p:attrNameLst>
                                          <p:attrName>style.visibility</p:attrName>
                                        </p:attrNameLst>
                                      </p:cBhvr>
                                      <p:to>
                                        <p:strVal val="visible"/>
                                      </p:to>
                                    </p:set>
                                    <p:animEffect filter="fade" transition="in">
                                      <p:cBhvr>
                                        <p:cTn dur="500"/>
                                        <p:tgtEl>
                                          <p:spTgt spid="109"/>
                                        </p:tgtEl>
                                      </p:cBhvr>
                                    </p:animEffect>
                                  </p:childTnLst>
                                </p:cTn>
                              </p:par>
                              <p:par>
                                <p:cTn fill="hold" nodeType="withEffect" presetClass="entr" presetID="10" presetSubtype="0">
                                  <p:stCondLst>
                                    <p:cond delay="0"/>
                                  </p:stCondLst>
                                  <p:childTnLst>
                                    <p:set>
                                      <p:cBhvr>
                                        <p:cTn dur="1" fill="hold">
                                          <p:stCondLst>
                                            <p:cond delay="0"/>
                                          </p:stCondLst>
                                        </p:cTn>
                                        <p:tgtEl>
                                          <p:spTgt spid="110"/>
                                        </p:tgtEl>
                                        <p:attrNameLst>
                                          <p:attrName>style.visibility</p:attrName>
                                        </p:attrNameLst>
                                      </p:cBhvr>
                                      <p:to>
                                        <p:strVal val="visible"/>
                                      </p:to>
                                    </p:set>
                                    <p:animEffect filter="fade" transition="in">
                                      <p:cBhvr>
                                        <p:cTn dur="500"/>
                                        <p:tgtEl>
                                          <p:spTgt spid="11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animEffect filter="fade" transition="in">
                                      <p:cBhvr>
                                        <p:cTn dur="500"/>
                                        <p:tgtEl>
                                          <p:spTgt spid="111">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animEffect filter="fade" transition="in">
                                      <p:cBhvr>
                                        <p:cTn dur="500"/>
                                        <p:tgtEl>
                                          <p:spTgt spid="111">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1">
                                            <p:txEl>
                                              <p:pRg end="2" st="2"/>
                                            </p:txEl>
                                          </p:spTgt>
                                        </p:tgtEl>
                                        <p:attrNameLst>
                                          <p:attrName>style.visibility</p:attrName>
                                        </p:attrNameLst>
                                      </p:cBhvr>
                                      <p:to>
                                        <p:strVal val="visible"/>
                                      </p:to>
                                    </p:set>
                                    <p:animEffect filter="fade" transition="in">
                                      <p:cBhvr>
                                        <p:cTn dur="500"/>
                                        <p:tgtEl>
                                          <p:spTgt spid="111">
                                            <p:txEl>
                                              <p:pRg end="2" st="2"/>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1">
                                            <p:txEl>
                                              <p:pRg end="3" st="3"/>
                                            </p:txEl>
                                          </p:spTgt>
                                        </p:tgtEl>
                                        <p:attrNameLst>
                                          <p:attrName>style.visibility</p:attrName>
                                        </p:attrNameLst>
                                      </p:cBhvr>
                                      <p:to>
                                        <p:strVal val="visible"/>
                                      </p:to>
                                    </p:set>
                                    <p:animEffect filter="fade" transition="in">
                                      <p:cBhvr>
                                        <p:cTn dur="500"/>
                                        <p:tgtEl>
                                          <p:spTgt spid="111">
                                            <p:txEl>
                                              <p:pRg end="3" st="3"/>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1">
                                            <p:txEl>
                                              <p:pRg end="4" st="4"/>
                                            </p:txEl>
                                          </p:spTgt>
                                        </p:tgtEl>
                                        <p:attrNameLst>
                                          <p:attrName>style.visibility</p:attrName>
                                        </p:attrNameLst>
                                      </p:cBhvr>
                                      <p:to>
                                        <p:strVal val="visible"/>
                                      </p:to>
                                    </p:set>
                                    <p:animEffect filter="fade" transition="in">
                                      <p:cBhvr>
                                        <p:cTn dur="500"/>
                                        <p:tgtEl>
                                          <p:spTgt spid="111">
                                            <p:txEl>
                                              <p:pRg end="4" st="4"/>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14"/>
          <p:cNvSpPr/>
          <p:nvPr/>
        </p:nvSpPr>
        <p:spPr>
          <a:xfrm>
            <a:off x="294044" y="1365354"/>
            <a:ext cx="7808556" cy="3943643"/>
          </a:xfrm>
          <a:prstGeom prst="rect">
            <a:avLst/>
          </a:prstGeom>
          <a:solidFill>
            <a:srgbClr val="FFE7CF"/>
          </a:solidFill>
          <a:ln cap="flat" cmpd="sng" w="12700">
            <a:solidFill>
              <a:srgbClr val="0B5376"/>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4400">
              <a:solidFill>
                <a:schemeClr val="lt1"/>
              </a:solidFill>
              <a:latin typeface="Calibri"/>
              <a:ea typeface="Calibri"/>
              <a:cs typeface="Calibri"/>
              <a:sym typeface="Calibri"/>
            </a:endParaRPr>
          </a:p>
        </p:txBody>
      </p:sp>
      <p:sp>
        <p:nvSpPr>
          <p:cNvPr id="127" name="Google Shape;127;p14"/>
          <p:cNvSpPr txBox="1"/>
          <p:nvPr/>
        </p:nvSpPr>
        <p:spPr>
          <a:xfrm>
            <a:off x="294043" y="1409313"/>
            <a:ext cx="7808557" cy="3973524"/>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chemeClr val="dk2"/>
              </a:buClr>
              <a:buSzPts val="5200"/>
              <a:buFont typeface="Arial"/>
              <a:buNone/>
            </a:pPr>
            <a:r>
              <a:rPr b="1" lang="en-US" sz="5200">
                <a:solidFill>
                  <a:schemeClr val="dk2"/>
                </a:solidFill>
                <a:latin typeface="Lato Light"/>
                <a:ea typeface="Lato Light"/>
                <a:cs typeface="Lato Light"/>
                <a:sym typeface="Lato Light"/>
              </a:rPr>
              <a:t>Bronze (1 mark):</a:t>
            </a:r>
            <a:endParaRPr/>
          </a:p>
          <a:p>
            <a:pPr indent="-457200" lvl="0" marL="457200" marR="0" rtl="0" algn="l">
              <a:lnSpc>
                <a:spcPct val="150000"/>
              </a:lnSpc>
              <a:spcBef>
                <a:spcPts val="760"/>
              </a:spcBef>
              <a:spcAft>
                <a:spcPts val="0"/>
              </a:spcAft>
              <a:buClr>
                <a:srgbClr val="1C8256"/>
              </a:buClr>
              <a:buSzPts val="3800"/>
              <a:buFont typeface="Arial"/>
              <a:buChar char="•"/>
            </a:pPr>
            <a:r>
              <a:rPr lang="en-US" sz="3800">
                <a:solidFill>
                  <a:srgbClr val="1C8256"/>
                </a:solidFill>
                <a:latin typeface="Lato Light"/>
                <a:ea typeface="Lato Light"/>
                <a:cs typeface="Lato Light"/>
                <a:sym typeface="Lato Light"/>
              </a:rPr>
              <a:t>Define</a:t>
            </a:r>
            <a:r>
              <a:rPr lang="en-US" sz="3800">
                <a:solidFill>
                  <a:schemeClr val="dk2"/>
                </a:solidFill>
                <a:latin typeface="Lato Light"/>
                <a:ea typeface="Lato Light"/>
                <a:cs typeface="Lato Light"/>
                <a:sym typeface="Lato Light"/>
              </a:rPr>
              <a:t> data packets and explain their importance in data transmission</a:t>
            </a:r>
            <a:endParaRPr/>
          </a:p>
        </p:txBody>
      </p:sp>
      <p:sp>
        <p:nvSpPr>
          <p:cNvPr id="128" name="Google Shape;128;p14"/>
          <p:cNvSpPr/>
          <p:nvPr/>
        </p:nvSpPr>
        <p:spPr>
          <a:xfrm>
            <a:off x="8230012" y="1365354"/>
            <a:ext cx="7761661" cy="3943643"/>
          </a:xfrm>
          <a:prstGeom prst="rect">
            <a:avLst/>
          </a:prstGeom>
          <a:solidFill>
            <a:srgbClr val="F2F2F2"/>
          </a:solidFill>
          <a:ln cap="flat" cmpd="sng" w="12700">
            <a:solidFill>
              <a:srgbClr val="0B5376"/>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3600">
              <a:solidFill>
                <a:schemeClr val="lt1"/>
              </a:solidFill>
              <a:latin typeface="Calibri"/>
              <a:ea typeface="Calibri"/>
              <a:cs typeface="Calibri"/>
              <a:sym typeface="Calibri"/>
            </a:endParaRPr>
          </a:p>
        </p:txBody>
      </p:sp>
      <p:sp>
        <p:nvSpPr>
          <p:cNvPr id="129" name="Google Shape;129;p14"/>
          <p:cNvSpPr txBox="1"/>
          <p:nvPr/>
        </p:nvSpPr>
        <p:spPr>
          <a:xfrm>
            <a:off x="8334672" y="1464210"/>
            <a:ext cx="7732358" cy="3856761"/>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chemeClr val="dk2"/>
              </a:buClr>
              <a:buSzPts val="5400"/>
              <a:buFont typeface="Arial"/>
              <a:buNone/>
            </a:pPr>
            <a:r>
              <a:rPr b="1" lang="en-US" sz="5400">
                <a:solidFill>
                  <a:schemeClr val="dk2"/>
                </a:solidFill>
                <a:latin typeface="Lato Light"/>
                <a:ea typeface="Lato Light"/>
                <a:cs typeface="Lato Light"/>
                <a:sym typeface="Lato Light"/>
              </a:rPr>
              <a:t>Silver (2 marks): </a:t>
            </a:r>
            <a:endParaRPr/>
          </a:p>
          <a:p>
            <a:pPr indent="-457200" lvl="0" marL="457200" marR="0" rtl="0" algn="l">
              <a:lnSpc>
                <a:spcPct val="150000"/>
              </a:lnSpc>
              <a:spcBef>
                <a:spcPts val="720"/>
              </a:spcBef>
              <a:spcAft>
                <a:spcPts val="0"/>
              </a:spcAft>
              <a:buClr>
                <a:srgbClr val="7030A0"/>
              </a:buClr>
              <a:buSzPts val="3600"/>
              <a:buFont typeface="Arial"/>
              <a:buChar char="•"/>
            </a:pPr>
            <a:r>
              <a:rPr lang="en-US" sz="3600">
                <a:solidFill>
                  <a:srgbClr val="7030A0"/>
                </a:solidFill>
                <a:latin typeface="Lato Light"/>
                <a:ea typeface="Lato Light"/>
                <a:cs typeface="Lato Light"/>
                <a:sym typeface="Lato Light"/>
              </a:rPr>
              <a:t>Describe</a:t>
            </a:r>
            <a:r>
              <a:rPr lang="en-US" sz="3600">
                <a:solidFill>
                  <a:schemeClr val="dk2"/>
                </a:solidFill>
                <a:latin typeface="Lato Light"/>
                <a:ea typeface="Lato Light"/>
                <a:cs typeface="Lato Light"/>
                <a:sym typeface="Lato Light"/>
              </a:rPr>
              <a:t> the </a:t>
            </a:r>
            <a:r>
              <a:rPr lang="en-US" sz="3600">
                <a:solidFill>
                  <a:srgbClr val="7030A0"/>
                </a:solidFill>
                <a:latin typeface="Lato Light"/>
                <a:ea typeface="Lato Light"/>
                <a:cs typeface="Lato Light"/>
                <a:sym typeface="Lato Light"/>
              </a:rPr>
              <a:t>structure</a:t>
            </a:r>
            <a:r>
              <a:rPr lang="en-US" sz="3600">
                <a:solidFill>
                  <a:schemeClr val="dk2"/>
                </a:solidFill>
                <a:latin typeface="Lato Light"/>
                <a:ea typeface="Lato Light"/>
                <a:cs typeface="Lato Light"/>
                <a:sym typeface="Lato Light"/>
              </a:rPr>
              <a:t> of a data packet and why data is broken up into packets</a:t>
            </a:r>
            <a:endParaRPr/>
          </a:p>
        </p:txBody>
      </p:sp>
      <p:sp>
        <p:nvSpPr>
          <p:cNvPr id="130" name="Google Shape;130;p14"/>
          <p:cNvSpPr/>
          <p:nvPr/>
        </p:nvSpPr>
        <p:spPr>
          <a:xfrm>
            <a:off x="16194442" y="1377667"/>
            <a:ext cx="7808558" cy="3896678"/>
          </a:xfrm>
          <a:prstGeom prst="rect">
            <a:avLst/>
          </a:prstGeom>
          <a:solidFill>
            <a:srgbClr val="FFECBA"/>
          </a:solidFill>
          <a:ln cap="flat" cmpd="sng" w="12700">
            <a:solidFill>
              <a:srgbClr val="0B5376"/>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600">
              <a:solidFill>
                <a:schemeClr val="lt1"/>
              </a:solidFill>
              <a:latin typeface="Calibri"/>
              <a:ea typeface="Calibri"/>
              <a:cs typeface="Calibri"/>
              <a:sym typeface="Calibri"/>
            </a:endParaRPr>
          </a:p>
        </p:txBody>
      </p:sp>
      <p:sp>
        <p:nvSpPr>
          <p:cNvPr id="131" name="Google Shape;131;p14"/>
          <p:cNvSpPr txBox="1"/>
          <p:nvPr/>
        </p:nvSpPr>
        <p:spPr>
          <a:xfrm>
            <a:off x="16269799" y="1307713"/>
            <a:ext cx="7691618" cy="3995261"/>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chemeClr val="dk2"/>
              </a:buClr>
              <a:buSzPts val="6000"/>
              <a:buFont typeface="Arial"/>
              <a:buNone/>
            </a:pPr>
            <a:r>
              <a:rPr b="1" lang="en-US" sz="6000">
                <a:solidFill>
                  <a:schemeClr val="dk2"/>
                </a:solidFill>
                <a:latin typeface="Lato Light"/>
                <a:ea typeface="Lato Light"/>
                <a:cs typeface="Lato Light"/>
                <a:sym typeface="Lato Light"/>
              </a:rPr>
              <a:t>Gold (3 marks): </a:t>
            </a:r>
            <a:endParaRPr/>
          </a:p>
          <a:p>
            <a:pPr indent="-457200" lvl="0" marL="457200" marR="0" rtl="0" algn="l">
              <a:lnSpc>
                <a:spcPct val="150000"/>
              </a:lnSpc>
              <a:spcBef>
                <a:spcPts val="720"/>
              </a:spcBef>
              <a:spcAft>
                <a:spcPts val="0"/>
              </a:spcAft>
              <a:buClr>
                <a:srgbClr val="0070C0"/>
              </a:buClr>
              <a:buSzPts val="3600"/>
              <a:buFont typeface="Arial"/>
              <a:buChar char="•"/>
            </a:pPr>
            <a:r>
              <a:rPr lang="en-US" sz="3600">
                <a:solidFill>
                  <a:srgbClr val="0070C0"/>
                </a:solidFill>
                <a:latin typeface="Lato Light"/>
                <a:ea typeface="Lato Light"/>
                <a:cs typeface="Lato Light"/>
                <a:sym typeface="Lato Light"/>
              </a:rPr>
              <a:t>Explain</a:t>
            </a:r>
            <a:r>
              <a:rPr lang="en-US" sz="3600">
                <a:solidFill>
                  <a:schemeClr val="dk2"/>
                </a:solidFill>
                <a:latin typeface="Lato Light"/>
                <a:ea typeface="Lato Light"/>
                <a:cs typeface="Lato Light"/>
                <a:sym typeface="Lato Light"/>
              </a:rPr>
              <a:t> the </a:t>
            </a:r>
            <a:r>
              <a:rPr lang="en-US" sz="3600">
                <a:solidFill>
                  <a:srgbClr val="0070C0"/>
                </a:solidFill>
                <a:latin typeface="Lato Light"/>
                <a:ea typeface="Lato Light"/>
                <a:cs typeface="Lato Light"/>
                <a:sym typeface="Lato Light"/>
              </a:rPr>
              <a:t>consequences</a:t>
            </a:r>
            <a:r>
              <a:rPr lang="en-US" sz="3600">
                <a:solidFill>
                  <a:schemeClr val="dk2"/>
                </a:solidFill>
                <a:latin typeface="Lato Light"/>
                <a:ea typeface="Lato Light"/>
                <a:cs typeface="Lato Light"/>
                <a:sym typeface="Lato Light"/>
              </a:rPr>
              <a:t> if data isn’t broken up into packets for transmission</a:t>
            </a:r>
            <a:endParaRPr/>
          </a:p>
        </p:txBody>
      </p:sp>
      <p:sp>
        <p:nvSpPr>
          <p:cNvPr id="132" name="Google Shape;132;p14"/>
          <p:cNvSpPr txBox="1"/>
          <p:nvPr/>
        </p:nvSpPr>
        <p:spPr>
          <a:xfrm>
            <a:off x="8102600" y="-127711"/>
            <a:ext cx="7808557" cy="1458413"/>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chemeClr val="dk2"/>
              </a:buClr>
              <a:buSzPts val="6600"/>
              <a:buFont typeface="Arial"/>
              <a:buNone/>
            </a:pPr>
            <a:r>
              <a:rPr b="1" lang="en-US" sz="6600" u="sng">
                <a:solidFill>
                  <a:schemeClr val="dk2"/>
                </a:solidFill>
                <a:latin typeface="Lato Light"/>
                <a:ea typeface="Lato Light"/>
                <a:cs typeface="Lato Light"/>
                <a:sym typeface="Lato Light"/>
              </a:rPr>
              <a:t>Answers</a:t>
            </a:r>
            <a:endParaRPr sz="4800" u="sng">
              <a:solidFill>
                <a:schemeClr val="dk2"/>
              </a:solidFill>
              <a:latin typeface="Lato Light"/>
              <a:ea typeface="Lato Light"/>
              <a:cs typeface="Lato Light"/>
              <a:sym typeface="Lato Light"/>
            </a:endParaRPr>
          </a:p>
        </p:txBody>
      </p:sp>
      <p:sp>
        <p:nvSpPr>
          <p:cNvPr id="133" name="Google Shape;133;p14"/>
          <p:cNvSpPr/>
          <p:nvPr/>
        </p:nvSpPr>
        <p:spPr>
          <a:xfrm>
            <a:off x="294044" y="5404574"/>
            <a:ext cx="7808556" cy="8032026"/>
          </a:xfrm>
          <a:prstGeom prst="rect">
            <a:avLst/>
          </a:prstGeom>
          <a:solidFill>
            <a:srgbClr val="FFE7CF"/>
          </a:solidFill>
          <a:ln cap="flat" cmpd="sng" w="12700">
            <a:solidFill>
              <a:srgbClr val="0B5376"/>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4400">
              <a:solidFill>
                <a:schemeClr val="lt1"/>
              </a:solidFill>
              <a:latin typeface="Calibri"/>
              <a:ea typeface="Calibri"/>
              <a:cs typeface="Calibri"/>
              <a:sym typeface="Calibri"/>
            </a:endParaRPr>
          </a:p>
        </p:txBody>
      </p:sp>
      <p:sp>
        <p:nvSpPr>
          <p:cNvPr id="134" name="Google Shape;134;p14"/>
          <p:cNvSpPr txBox="1"/>
          <p:nvPr/>
        </p:nvSpPr>
        <p:spPr>
          <a:xfrm>
            <a:off x="295298" y="5482756"/>
            <a:ext cx="7808557" cy="7485382"/>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Clr>
                <a:schemeClr val="dk2"/>
              </a:buClr>
              <a:buSzPts val="3600"/>
              <a:buFont typeface="Arial"/>
              <a:buNone/>
            </a:pPr>
            <a:r>
              <a:rPr lang="en-US" sz="3600">
                <a:solidFill>
                  <a:schemeClr val="dk2"/>
                </a:solidFill>
                <a:latin typeface="Open Sans Light"/>
                <a:ea typeface="Open Sans Light"/>
                <a:cs typeface="Open Sans Light"/>
                <a:sym typeface="Open Sans Light"/>
              </a:rPr>
              <a:t>Data packets are </a:t>
            </a:r>
            <a:r>
              <a:rPr lang="en-US" sz="3600" u="sng">
                <a:solidFill>
                  <a:schemeClr val="dk2"/>
                </a:solidFill>
                <a:latin typeface="Open Sans Light"/>
                <a:ea typeface="Open Sans Light"/>
                <a:cs typeface="Open Sans Light"/>
                <a:sym typeface="Open Sans Light"/>
              </a:rPr>
              <a:t>small units of data that are transmitted over networks</a:t>
            </a:r>
            <a:r>
              <a:rPr lang="en-US" sz="3600">
                <a:solidFill>
                  <a:schemeClr val="dk2"/>
                </a:solidFill>
                <a:latin typeface="Open Sans Light"/>
                <a:ea typeface="Open Sans Light"/>
                <a:cs typeface="Open Sans Light"/>
                <a:sym typeface="Open Sans Light"/>
              </a:rPr>
              <a:t>. They are essential in data transmission as </a:t>
            </a:r>
            <a:r>
              <a:rPr lang="en-US" sz="3600" u="sng">
                <a:solidFill>
                  <a:schemeClr val="dk2"/>
                </a:solidFill>
                <a:latin typeface="Open Sans Light"/>
                <a:ea typeface="Open Sans Light"/>
                <a:cs typeface="Open Sans Light"/>
                <a:sym typeface="Open Sans Light"/>
              </a:rPr>
              <a:t>they allow large amounts of data to be broken up into manageable pieces</a:t>
            </a:r>
            <a:r>
              <a:rPr lang="en-US" sz="3600">
                <a:solidFill>
                  <a:schemeClr val="dk2"/>
                </a:solidFill>
                <a:latin typeface="Open Sans Light"/>
                <a:ea typeface="Open Sans Light"/>
                <a:cs typeface="Open Sans Light"/>
                <a:sym typeface="Open Sans Light"/>
              </a:rPr>
              <a:t>, which can then be sent separately, and reassembled at the destination. This method makes data transmission more efficient and manageable.</a:t>
            </a:r>
            <a:endParaRPr sz="4000">
              <a:solidFill>
                <a:schemeClr val="dk2"/>
              </a:solidFill>
              <a:latin typeface="Open Sans Light"/>
              <a:ea typeface="Open Sans Light"/>
              <a:cs typeface="Open Sans Light"/>
              <a:sym typeface="Open Sans Light"/>
            </a:endParaRPr>
          </a:p>
        </p:txBody>
      </p:sp>
      <p:sp>
        <p:nvSpPr>
          <p:cNvPr id="135" name="Google Shape;135;p14"/>
          <p:cNvSpPr/>
          <p:nvPr/>
        </p:nvSpPr>
        <p:spPr>
          <a:xfrm>
            <a:off x="8320297" y="5404574"/>
            <a:ext cx="7671376" cy="8032026"/>
          </a:xfrm>
          <a:prstGeom prst="rect">
            <a:avLst/>
          </a:prstGeom>
          <a:solidFill>
            <a:srgbClr val="F2F2F2"/>
          </a:solidFill>
          <a:ln cap="flat" cmpd="sng" w="12700">
            <a:solidFill>
              <a:srgbClr val="0B5376"/>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4400">
              <a:solidFill>
                <a:schemeClr val="lt1"/>
              </a:solidFill>
              <a:latin typeface="Calibri"/>
              <a:ea typeface="Calibri"/>
              <a:cs typeface="Calibri"/>
              <a:sym typeface="Calibri"/>
            </a:endParaRPr>
          </a:p>
        </p:txBody>
      </p:sp>
      <p:sp>
        <p:nvSpPr>
          <p:cNvPr id="136" name="Google Shape;136;p14"/>
          <p:cNvSpPr txBox="1"/>
          <p:nvPr/>
        </p:nvSpPr>
        <p:spPr>
          <a:xfrm>
            <a:off x="8321552" y="5408538"/>
            <a:ext cx="7670121" cy="7781489"/>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Clr>
                <a:schemeClr val="dk2"/>
              </a:buClr>
              <a:buSzPts val="2800"/>
              <a:buFont typeface="Arial"/>
              <a:buNone/>
            </a:pPr>
            <a:r>
              <a:rPr lang="en-US" sz="2800">
                <a:solidFill>
                  <a:schemeClr val="dk2"/>
                </a:solidFill>
                <a:latin typeface="Open Sans Light"/>
                <a:ea typeface="Open Sans Light"/>
                <a:cs typeface="Open Sans Light"/>
                <a:sym typeface="Open Sans Light"/>
              </a:rPr>
              <a:t>A data packet consists of </a:t>
            </a:r>
            <a:r>
              <a:rPr lang="en-US" sz="2800" u="sng">
                <a:solidFill>
                  <a:schemeClr val="dk2"/>
                </a:solidFill>
                <a:latin typeface="Open Sans Light"/>
                <a:ea typeface="Open Sans Light"/>
                <a:cs typeface="Open Sans Light"/>
                <a:sym typeface="Open Sans Light"/>
              </a:rPr>
              <a:t>a header, payload, and trailer</a:t>
            </a:r>
            <a:r>
              <a:rPr lang="en-US" sz="2800">
                <a:solidFill>
                  <a:schemeClr val="dk2"/>
                </a:solidFill>
                <a:latin typeface="Open Sans Light"/>
                <a:ea typeface="Open Sans Light"/>
                <a:cs typeface="Open Sans Light"/>
                <a:sym typeface="Open Sans Light"/>
              </a:rPr>
              <a:t>. The header contains information about the packet's origin, destination, and sequence number. The payload contains the actual data being transmitted, and the trailer signifies the end of the packet and contains error checking and correction bits. </a:t>
            </a:r>
            <a:r>
              <a:rPr lang="en-US" sz="2800" u="sng">
                <a:solidFill>
                  <a:schemeClr val="dk2"/>
                </a:solidFill>
                <a:latin typeface="Open Sans Light"/>
                <a:ea typeface="Open Sans Light"/>
                <a:cs typeface="Open Sans Light"/>
                <a:sym typeface="Open Sans Light"/>
              </a:rPr>
              <a:t>Data is broken up into packets for a number of reasons, including efficient use of the network, better management of errors (since error correction can be applied at the packet level), and enabling multiplexing</a:t>
            </a:r>
            <a:r>
              <a:rPr lang="en-US" sz="2800">
                <a:solidFill>
                  <a:schemeClr val="dk2"/>
                </a:solidFill>
                <a:latin typeface="Open Sans Light"/>
                <a:ea typeface="Open Sans Light"/>
                <a:cs typeface="Open Sans Light"/>
                <a:sym typeface="Open Sans Light"/>
              </a:rPr>
              <a:t> (multiple packets can be sent over the network at the same time).</a:t>
            </a:r>
            <a:endParaRPr sz="4000">
              <a:solidFill>
                <a:schemeClr val="dk2"/>
              </a:solidFill>
              <a:latin typeface="Open Sans Light"/>
              <a:ea typeface="Open Sans Light"/>
              <a:cs typeface="Open Sans Light"/>
              <a:sym typeface="Open Sans Light"/>
            </a:endParaRPr>
          </a:p>
        </p:txBody>
      </p:sp>
      <p:sp>
        <p:nvSpPr>
          <p:cNvPr id="137" name="Google Shape;137;p14"/>
          <p:cNvSpPr/>
          <p:nvPr/>
        </p:nvSpPr>
        <p:spPr>
          <a:xfrm>
            <a:off x="16236730" y="5429974"/>
            <a:ext cx="7724687" cy="8032026"/>
          </a:xfrm>
          <a:prstGeom prst="rect">
            <a:avLst/>
          </a:prstGeom>
          <a:solidFill>
            <a:srgbClr val="FFECBA"/>
          </a:solidFill>
          <a:ln cap="flat" cmpd="sng" w="12700">
            <a:solidFill>
              <a:srgbClr val="0B5376"/>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4400">
              <a:solidFill>
                <a:schemeClr val="lt1"/>
              </a:solidFill>
              <a:latin typeface="Calibri"/>
              <a:ea typeface="Calibri"/>
              <a:cs typeface="Calibri"/>
              <a:sym typeface="Calibri"/>
            </a:endParaRPr>
          </a:p>
        </p:txBody>
      </p:sp>
      <p:sp>
        <p:nvSpPr>
          <p:cNvPr id="138" name="Google Shape;138;p14"/>
          <p:cNvSpPr txBox="1"/>
          <p:nvPr/>
        </p:nvSpPr>
        <p:spPr>
          <a:xfrm>
            <a:off x="16350315" y="5506571"/>
            <a:ext cx="7611102" cy="7832401"/>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Clr>
                <a:schemeClr val="dk2"/>
              </a:buClr>
              <a:buSzPts val="2600"/>
              <a:buFont typeface="Arial"/>
              <a:buNone/>
            </a:pPr>
            <a:r>
              <a:rPr lang="en-US" sz="2600">
                <a:solidFill>
                  <a:schemeClr val="dk2"/>
                </a:solidFill>
                <a:latin typeface="Open Sans Light"/>
                <a:ea typeface="Open Sans Light"/>
                <a:cs typeface="Open Sans Light"/>
                <a:sym typeface="Open Sans Light"/>
              </a:rPr>
              <a:t>If data wasn't broken up into packets, </a:t>
            </a:r>
            <a:r>
              <a:rPr lang="en-US" sz="2600" u="sng">
                <a:solidFill>
                  <a:schemeClr val="dk2"/>
                </a:solidFill>
                <a:latin typeface="Open Sans Light"/>
                <a:ea typeface="Open Sans Light"/>
                <a:cs typeface="Open Sans Light"/>
                <a:sym typeface="Open Sans Light"/>
              </a:rPr>
              <a:t>the entire data stream would need to be sent in one continuous sequence</a:t>
            </a:r>
            <a:r>
              <a:rPr lang="en-US" sz="2600">
                <a:solidFill>
                  <a:schemeClr val="dk2"/>
                </a:solidFill>
                <a:latin typeface="Open Sans Light"/>
                <a:ea typeface="Open Sans Light"/>
                <a:cs typeface="Open Sans Light"/>
                <a:sym typeface="Open Sans Light"/>
              </a:rPr>
              <a:t>. This could lead to significant issues. </a:t>
            </a:r>
            <a:r>
              <a:rPr lang="en-US" sz="2600" u="sng">
                <a:solidFill>
                  <a:schemeClr val="dk2"/>
                </a:solidFill>
                <a:latin typeface="Open Sans Light"/>
                <a:ea typeface="Open Sans Light"/>
                <a:cs typeface="Open Sans Light"/>
                <a:sym typeface="Open Sans Light"/>
              </a:rPr>
              <a:t>If there was an error in the transmission, the entire data stream would need to be retransmitted</a:t>
            </a:r>
            <a:r>
              <a:rPr lang="en-US" sz="2600">
                <a:solidFill>
                  <a:schemeClr val="dk2"/>
                </a:solidFill>
                <a:latin typeface="Open Sans Light"/>
                <a:ea typeface="Open Sans Light"/>
                <a:cs typeface="Open Sans Light"/>
                <a:sym typeface="Open Sans Light"/>
              </a:rPr>
              <a:t>, which could be very time-consuming and inefficient. Also, without packets, </a:t>
            </a:r>
            <a:r>
              <a:rPr lang="en-US" sz="2600" u="sng">
                <a:solidFill>
                  <a:schemeClr val="dk2"/>
                </a:solidFill>
                <a:latin typeface="Open Sans Light"/>
                <a:ea typeface="Open Sans Light"/>
                <a:cs typeface="Open Sans Light"/>
                <a:sym typeface="Open Sans Light"/>
              </a:rPr>
              <a:t>the data stream could monopolize the network, leading to congestion</a:t>
            </a:r>
            <a:r>
              <a:rPr lang="en-US" sz="2600">
                <a:solidFill>
                  <a:schemeClr val="dk2"/>
                </a:solidFill>
                <a:latin typeface="Open Sans Light"/>
                <a:ea typeface="Open Sans Light"/>
                <a:cs typeface="Open Sans Light"/>
                <a:sym typeface="Open Sans Light"/>
              </a:rPr>
              <a:t>. In terms of latency, if a large data stream had to wait for a smaller one to finish before being transmitted, </a:t>
            </a:r>
            <a:r>
              <a:rPr lang="en-US" sz="2600" u="sng">
                <a:solidFill>
                  <a:schemeClr val="dk2"/>
                </a:solidFill>
                <a:latin typeface="Open Sans Light"/>
                <a:ea typeface="Open Sans Light"/>
                <a:cs typeface="Open Sans Light"/>
                <a:sym typeface="Open Sans Light"/>
              </a:rPr>
              <a:t>it could significantly increase the delay</a:t>
            </a:r>
            <a:r>
              <a:rPr lang="en-US" sz="2600">
                <a:solidFill>
                  <a:schemeClr val="dk2"/>
                </a:solidFill>
                <a:latin typeface="Open Sans Light"/>
                <a:ea typeface="Open Sans Light"/>
                <a:cs typeface="Open Sans Light"/>
                <a:sym typeface="Open Sans Light"/>
              </a:rPr>
              <a:t>. By breaking data into packets, it allows for simultaneous transmission and more efficient network utilization.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3"/>
                                        </p:tgtEl>
                                        <p:attrNameLst>
                                          <p:attrName>style.visibility</p:attrName>
                                        </p:attrNameLst>
                                      </p:cBhvr>
                                      <p:to>
                                        <p:strVal val="visible"/>
                                      </p:to>
                                    </p:set>
                                    <p:animEffect filter="fade" transition="in">
                                      <p:cBhvr>
                                        <p:cTn dur="500"/>
                                        <p:tgtEl>
                                          <p:spTgt spid="133"/>
                                        </p:tgtEl>
                                      </p:cBhvr>
                                    </p:animEffect>
                                  </p:childTnLst>
                                </p:cTn>
                              </p:par>
                              <p:par>
                                <p:cTn fill="hold" nodeType="withEffect" presetClass="entr" presetID="10" presetSubtype="0">
                                  <p:stCondLst>
                                    <p:cond delay="0"/>
                                  </p:stCondLst>
                                  <p:childTnLst>
                                    <p:set>
                                      <p:cBhvr>
                                        <p:cTn dur="1" fill="hold">
                                          <p:stCondLst>
                                            <p:cond delay="0"/>
                                          </p:stCondLst>
                                        </p:cTn>
                                        <p:tgtEl>
                                          <p:spTgt spid="134"/>
                                        </p:tgtEl>
                                        <p:attrNameLst>
                                          <p:attrName>style.visibility</p:attrName>
                                        </p:attrNameLst>
                                      </p:cBhvr>
                                      <p:to>
                                        <p:strVal val="visible"/>
                                      </p:to>
                                    </p:set>
                                    <p:animEffect filter="fade" transition="in">
                                      <p:cBhvr>
                                        <p:cTn dur="500"/>
                                        <p:tgtEl>
                                          <p:spTgt spid="13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5"/>
                                        </p:tgtEl>
                                        <p:attrNameLst>
                                          <p:attrName>style.visibility</p:attrName>
                                        </p:attrNameLst>
                                      </p:cBhvr>
                                      <p:to>
                                        <p:strVal val="visible"/>
                                      </p:to>
                                    </p:set>
                                    <p:animEffect filter="fade" transition="in">
                                      <p:cBhvr>
                                        <p:cTn dur="500"/>
                                        <p:tgtEl>
                                          <p:spTgt spid="135"/>
                                        </p:tgtEl>
                                      </p:cBhvr>
                                    </p:animEffect>
                                  </p:childTnLst>
                                </p:cTn>
                              </p:par>
                              <p:par>
                                <p:cTn fill="hold" nodeType="withEffect" presetClass="entr" presetID="10" presetSubtype="0">
                                  <p:stCondLst>
                                    <p:cond delay="0"/>
                                  </p:stCondLst>
                                  <p:childTnLst>
                                    <p:set>
                                      <p:cBhvr>
                                        <p:cTn dur="1" fill="hold">
                                          <p:stCondLst>
                                            <p:cond delay="0"/>
                                          </p:stCondLst>
                                        </p:cTn>
                                        <p:tgtEl>
                                          <p:spTgt spid="136"/>
                                        </p:tgtEl>
                                        <p:attrNameLst>
                                          <p:attrName>style.visibility</p:attrName>
                                        </p:attrNameLst>
                                      </p:cBhvr>
                                      <p:to>
                                        <p:strVal val="visible"/>
                                      </p:to>
                                    </p:set>
                                    <p:animEffect filter="fade" transition="in">
                                      <p:cBhvr>
                                        <p:cTn dur="500"/>
                                        <p:tgtEl>
                                          <p:spTgt spid="13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500"/>
                                        <p:tgtEl>
                                          <p:spTgt spid="137"/>
                                        </p:tgtEl>
                                      </p:cBhvr>
                                    </p:animEffect>
                                  </p:childTnLst>
                                </p:cTn>
                              </p:par>
                              <p:par>
                                <p:cTn fill="hold" nodeType="withEffect" presetClass="entr" presetID="10" presetSubtype="0">
                                  <p:stCondLst>
                                    <p:cond delay="0"/>
                                  </p:stCondLst>
                                  <p:childTnLst>
                                    <p:set>
                                      <p:cBhvr>
                                        <p:cTn dur="1" fill="hold">
                                          <p:stCondLst>
                                            <p:cond delay="0"/>
                                          </p:stCondLst>
                                        </p:cTn>
                                        <p:tgtEl>
                                          <p:spTgt spid="138"/>
                                        </p:tgtEl>
                                        <p:attrNameLst>
                                          <p:attrName>style.visibility</p:attrName>
                                        </p:attrNameLst>
                                      </p:cBhvr>
                                      <p:to>
                                        <p:strVal val="visible"/>
                                      </p:to>
                                    </p:set>
                                    <p:animEffect filter="fade" transition="in">
                                      <p:cBhvr>
                                        <p:cTn dur="500"/>
                                        <p:tgtEl>
                                          <p:spTgt spid="13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15"/>
          <p:cNvSpPr/>
          <p:nvPr/>
        </p:nvSpPr>
        <p:spPr>
          <a:xfrm>
            <a:off x="12615748" y="0"/>
            <a:ext cx="11761902" cy="13716000"/>
          </a:xfrm>
          <a:custGeom>
            <a:rect b="b" l="l" r="r" t="t"/>
            <a:pathLst>
              <a:path extrusionOk="0" h="15172" w="15172">
                <a:moveTo>
                  <a:pt x="15171" y="15171"/>
                </a:moveTo>
                <a:lnTo>
                  <a:pt x="0" y="15171"/>
                </a:lnTo>
                <a:lnTo>
                  <a:pt x="0" y="0"/>
                </a:lnTo>
                <a:lnTo>
                  <a:pt x="15171" y="0"/>
                </a:lnTo>
                <a:lnTo>
                  <a:pt x="15171" y="15171"/>
                </a:lnTo>
              </a:path>
            </a:pathLst>
          </a:custGeom>
          <a:solidFill>
            <a:srgbClr val="F2F2F2"/>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2800">
              <a:solidFill>
                <a:schemeClr val="dk1"/>
              </a:solidFill>
              <a:latin typeface="Poppins"/>
              <a:ea typeface="Poppins"/>
              <a:cs typeface="Poppins"/>
              <a:sym typeface="Poppins"/>
            </a:endParaRPr>
          </a:p>
        </p:txBody>
      </p:sp>
      <p:sp>
        <p:nvSpPr>
          <p:cNvPr id="144" name="Google Shape;144;p15"/>
          <p:cNvSpPr/>
          <p:nvPr/>
        </p:nvSpPr>
        <p:spPr>
          <a:xfrm>
            <a:off x="13537695" y="1374589"/>
            <a:ext cx="9918007" cy="10844828"/>
          </a:xfrm>
          <a:custGeom>
            <a:rect b="b" l="l" r="r" t="t"/>
            <a:pathLst>
              <a:path extrusionOk="0" fill="none" h="1339726" w="18044903">
                <a:moveTo>
                  <a:pt x="0" y="0"/>
                </a:moveTo>
                <a:cubicBezTo>
                  <a:pt x="72603" y="-5356"/>
                  <a:pt x="86259" y="3921"/>
                  <a:pt x="152688" y="0"/>
                </a:cubicBezTo>
                <a:cubicBezTo>
                  <a:pt x="219117" y="-3921"/>
                  <a:pt x="535621" y="22533"/>
                  <a:pt x="846722" y="0"/>
                </a:cubicBezTo>
                <a:cubicBezTo>
                  <a:pt x="1157823" y="-22533"/>
                  <a:pt x="967617" y="400"/>
                  <a:pt x="999410" y="0"/>
                </a:cubicBezTo>
                <a:cubicBezTo>
                  <a:pt x="1031203" y="-400"/>
                  <a:pt x="1083000" y="-1950"/>
                  <a:pt x="1152098" y="0"/>
                </a:cubicBezTo>
                <a:cubicBezTo>
                  <a:pt x="1221196" y="1950"/>
                  <a:pt x="1439657" y="15980"/>
                  <a:pt x="1665683" y="0"/>
                </a:cubicBezTo>
                <a:cubicBezTo>
                  <a:pt x="1891710" y="-15980"/>
                  <a:pt x="2036370" y="12197"/>
                  <a:pt x="2359718" y="0"/>
                </a:cubicBezTo>
                <a:cubicBezTo>
                  <a:pt x="2683067" y="-12197"/>
                  <a:pt x="2445758" y="-5117"/>
                  <a:pt x="2512406" y="0"/>
                </a:cubicBezTo>
                <a:cubicBezTo>
                  <a:pt x="2579054" y="5117"/>
                  <a:pt x="2962087" y="43606"/>
                  <a:pt x="3386889" y="0"/>
                </a:cubicBezTo>
                <a:cubicBezTo>
                  <a:pt x="3811691" y="-43606"/>
                  <a:pt x="4052910" y="20763"/>
                  <a:pt x="4261373" y="0"/>
                </a:cubicBezTo>
                <a:cubicBezTo>
                  <a:pt x="4469836" y="-20763"/>
                  <a:pt x="4651618" y="-22748"/>
                  <a:pt x="4774959" y="0"/>
                </a:cubicBezTo>
                <a:cubicBezTo>
                  <a:pt x="4898300" y="22748"/>
                  <a:pt x="5418961" y="30760"/>
                  <a:pt x="5829892" y="0"/>
                </a:cubicBezTo>
                <a:cubicBezTo>
                  <a:pt x="6240823" y="-30760"/>
                  <a:pt x="6266258" y="-23696"/>
                  <a:pt x="6523926" y="0"/>
                </a:cubicBezTo>
                <a:cubicBezTo>
                  <a:pt x="6781594" y="23696"/>
                  <a:pt x="6602060" y="655"/>
                  <a:pt x="6676614" y="0"/>
                </a:cubicBezTo>
                <a:cubicBezTo>
                  <a:pt x="6751168" y="-655"/>
                  <a:pt x="7195856" y="17579"/>
                  <a:pt x="7370649" y="0"/>
                </a:cubicBezTo>
                <a:cubicBezTo>
                  <a:pt x="7545442" y="-17579"/>
                  <a:pt x="7735004" y="-15166"/>
                  <a:pt x="7884235" y="0"/>
                </a:cubicBezTo>
                <a:cubicBezTo>
                  <a:pt x="8033466" y="15166"/>
                  <a:pt x="8054789" y="-1240"/>
                  <a:pt x="8217371" y="0"/>
                </a:cubicBezTo>
                <a:cubicBezTo>
                  <a:pt x="8379953" y="1240"/>
                  <a:pt x="8811071" y="19879"/>
                  <a:pt x="9091855" y="0"/>
                </a:cubicBezTo>
                <a:cubicBezTo>
                  <a:pt x="9372639" y="-19879"/>
                  <a:pt x="9697964" y="6853"/>
                  <a:pt x="9966339" y="0"/>
                </a:cubicBezTo>
                <a:cubicBezTo>
                  <a:pt x="10234714" y="-6853"/>
                  <a:pt x="10291006" y="-9999"/>
                  <a:pt x="10479924" y="0"/>
                </a:cubicBezTo>
                <a:cubicBezTo>
                  <a:pt x="10668843" y="9999"/>
                  <a:pt x="10949046" y="-41527"/>
                  <a:pt x="11354408" y="0"/>
                </a:cubicBezTo>
                <a:cubicBezTo>
                  <a:pt x="11759770" y="41527"/>
                  <a:pt x="11622159" y="9742"/>
                  <a:pt x="11867994" y="0"/>
                </a:cubicBezTo>
                <a:cubicBezTo>
                  <a:pt x="12113829" y="-9742"/>
                  <a:pt x="12322284" y="38624"/>
                  <a:pt x="12742478" y="0"/>
                </a:cubicBezTo>
                <a:cubicBezTo>
                  <a:pt x="13162672" y="-38624"/>
                  <a:pt x="12936102" y="-4255"/>
                  <a:pt x="13075614" y="0"/>
                </a:cubicBezTo>
                <a:cubicBezTo>
                  <a:pt x="13215126" y="4255"/>
                  <a:pt x="13423822" y="1838"/>
                  <a:pt x="13589200" y="0"/>
                </a:cubicBezTo>
                <a:cubicBezTo>
                  <a:pt x="13754578" y="-1838"/>
                  <a:pt x="13762600" y="6835"/>
                  <a:pt x="13922337" y="0"/>
                </a:cubicBezTo>
                <a:cubicBezTo>
                  <a:pt x="14082074" y="-6835"/>
                  <a:pt x="14560074" y="40110"/>
                  <a:pt x="14977269" y="0"/>
                </a:cubicBezTo>
                <a:cubicBezTo>
                  <a:pt x="15394464" y="-40110"/>
                  <a:pt x="15093941" y="6150"/>
                  <a:pt x="15129957" y="0"/>
                </a:cubicBezTo>
                <a:cubicBezTo>
                  <a:pt x="15165973" y="-6150"/>
                  <a:pt x="15514052" y="-14837"/>
                  <a:pt x="15643543" y="0"/>
                </a:cubicBezTo>
                <a:cubicBezTo>
                  <a:pt x="15773034" y="14837"/>
                  <a:pt x="15758376" y="6951"/>
                  <a:pt x="15796230" y="0"/>
                </a:cubicBezTo>
                <a:cubicBezTo>
                  <a:pt x="15834084" y="-6951"/>
                  <a:pt x="16394295" y="-27209"/>
                  <a:pt x="16670714" y="0"/>
                </a:cubicBezTo>
                <a:cubicBezTo>
                  <a:pt x="16947133" y="27209"/>
                  <a:pt x="17767869" y="-33735"/>
                  <a:pt x="18044903" y="0"/>
                </a:cubicBezTo>
                <a:cubicBezTo>
                  <a:pt x="18042266" y="193080"/>
                  <a:pt x="18018765" y="467008"/>
                  <a:pt x="18044903" y="629671"/>
                </a:cubicBezTo>
                <a:cubicBezTo>
                  <a:pt x="18071041" y="792334"/>
                  <a:pt x="18035407" y="1011626"/>
                  <a:pt x="18044903" y="1339726"/>
                </a:cubicBezTo>
                <a:cubicBezTo>
                  <a:pt x="17906905" y="1332592"/>
                  <a:pt x="17809864" y="1335833"/>
                  <a:pt x="17711766" y="1339726"/>
                </a:cubicBezTo>
                <a:cubicBezTo>
                  <a:pt x="17613668" y="1343619"/>
                  <a:pt x="16935700" y="1392102"/>
                  <a:pt x="16656834" y="1339726"/>
                </a:cubicBezTo>
                <a:cubicBezTo>
                  <a:pt x="16377968" y="1287350"/>
                  <a:pt x="16092282" y="1316098"/>
                  <a:pt x="15601901" y="1339726"/>
                </a:cubicBezTo>
                <a:cubicBezTo>
                  <a:pt x="15111520" y="1363354"/>
                  <a:pt x="15093790" y="1366802"/>
                  <a:pt x="14907866" y="1339726"/>
                </a:cubicBezTo>
                <a:cubicBezTo>
                  <a:pt x="14721942" y="1312650"/>
                  <a:pt x="14504814" y="1317345"/>
                  <a:pt x="14394280" y="1339726"/>
                </a:cubicBezTo>
                <a:cubicBezTo>
                  <a:pt x="14283746" y="1362107"/>
                  <a:pt x="14144545" y="1349072"/>
                  <a:pt x="14061144" y="1339726"/>
                </a:cubicBezTo>
                <a:cubicBezTo>
                  <a:pt x="13977743" y="1330380"/>
                  <a:pt x="13962406" y="1334458"/>
                  <a:pt x="13908456" y="1339726"/>
                </a:cubicBezTo>
                <a:cubicBezTo>
                  <a:pt x="13854506" y="1344994"/>
                  <a:pt x="13391142" y="1341047"/>
                  <a:pt x="13033972" y="1339726"/>
                </a:cubicBezTo>
                <a:cubicBezTo>
                  <a:pt x="12676802" y="1338405"/>
                  <a:pt x="12382410" y="1319785"/>
                  <a:pt x="12159488" y="1339726"/>
                </a:cubicBezTo>
                <a:cubicBezTo>
                  <a:pt x="11936566" y="1359667"/>
                  <a:pt x="11868375" y="1331089"/>
                  <a:pt x="11645903" y="1339726"/>
                </a:cubicBezTo>
                <a:cubicBezTo>
                  <a:pt x="11423431" y="1348363"/>
                  <a:pt x="11439083" y="1323705"/>
                  <a:pt x="11312766" y="1339726"/>
                </a:cubicBezTo>
                <a:cubicBezTo>
                  <a:pt x="11186449" y="1355747"/>
                  <a:pt x="11055495" y="1332789"/>
                  <a:pt x="10799180" y="1339726"/>
                </a:cubicBezTo>
                <a:cubicBezTo>
                  <a:pt x="10542865" y="1346663"/>
                  <a:pt x="10405311" y="1331267"/>
                  <a:pt x="10285595" y="1339726"/>
                </a:cubicBezTo>
                <a:cubicBezTo>
                  <a:pt x="10165880" y="1348185"/>
                  <a:pt x="9486418" y="1290669"/>
                  <a:pt x="9230662" y="1339726"/>
                </a:cubicBezTo>
                <a:cubicBezTo>
                  <a:pt x="8974906" y="1388783"/>
                  <a:pt x="8880392" y="1337182"/>
                  <a:pt x="8536627" y="1339726"/>
                </a:cubicBezTo>
                <a:cubicBezTo>
                  <a:pt x="8192862" y="1342270"/>
                  <a:pt x="8169175" y="1331548"/>
                  <a:pt x="8023041" y="1339726"/>
                </a:cubicBezTo>
                <a:cubicBezTo>
                  <a:pt x="7876907" y="1347904"/>
                  <a:pt x="7251750" y="1367936"/>
                  <a:pt x="6968109" y="1339726"/>
                </a:cubicBezTo>
                <a:cubicBezTo>
                  <a:pt x="6684468" y="1311516"/>
                  <a:pt x="6878641" y="1335128"/>
                  <a:pt x="6815421" y="1339726"/>
                </a:cubicBezTo>
                <a:cubicBezTo>
                  <a:pt x="6752201" y="1344324"/>
                  <a:pt x="6052797" y="1391696"/>
                  <a:pt x="5760488" y="1339726"/>
                </a:cubicBezTo>
                <a:cubicBezTo>
                  <a:pt x="5468179" y="1287756"/>
                  <a:pt x="5221026" y="1316253"/>
                  <a:pt x="5066454" y="1339726"/>
                </a:cubicBezTo>
                <a:cubicBezTo>
                  <a:pt x="4911882" y="1363199"/>
                  <a:pt x="4984701" y="1337009"/>
                  <a:pt x="4913766" y="1339726"/>
                </a:cubicBezTo>
                <a:cubicBezTo>
                  <a:pt x="4842831" y="1342443"/>
                  <a:pt x="4331835" y="1312581"/>
                  <a:pt x="3858833" y="1339726"/>
                </a:cubicBezTo>
                <a:cubicBezTo>
                  <a:pt x="3385831" y="1366871"/>
                  <a:pt x="3774702" y="1335519"/>
                  <a:pt x="3706145" y="1339726"/>
                </a:cubicBezTo>
                <a:cubicBezTo>
                  <a:pt x="3637588" y="1343933"/>
                  <a:pt x="3457477" y="1341846"/>
                  <a:pt x="3373009" y="1339726"/>
                </a:cubicBezTo>
                <a:cubicBezTo>
                  <a:pt x="3288541" y="1337606"/>
                  <a:pt x="3112846" y="1335646"/>
                  <a:pt x="2859423" y="1339726"/>
                </a:cubicBezTo>
                <a:cubicBezTo>
                  <a:pt x="2606000" y="1343806"/>
                  <a:pt x="2603404" y="1323382"/>
                  <a:pt x="2526286" y="1339726"/>
                </a:cubicBezTo>
                <a:cubicBezTo>
                  <a:pt x="2449168" y="1356070"/>
                  <a:pt x="2219922" y="1345168"/>
                  <a:pt x="2012701" y="1339726"/>
                </a:cubicBezTo>
                <a:cubicBezTo>
                  <a:pt x="1805481" y="1334284"/>
                  <a:pt x="1666918" y="1334900"/>
                  <a:pt x="1499115" y="1339726"/>
                </a:cubicBezTo>
                <a:cubicBezTo>
                  <a:pt x="1331312" y="1344552"/>
                  <a:pt x="562325" y="1338625"/>
                  <a:pt x="0" y="1339726"/>
                </a:cubicBezTo>
                <a:cubicBezTo>
                  <a:pt x="8210" y="1113699"/>
                  <a:pt x="15786" y="993228"/>
                  <a:pt x="0" y="710055"/>
                </a:cubicBezTo>
                <a:cubicBezTo>
                  <a:pt x="-15786" y="426882"/>
                  <a:pt x="-13334" y="306413"/>
                  <a:pt x="0" y="0"/>
                </a:cubicBezTo>
                <a:close/>
              </a:path>
              <a:path extrusionOk="0" h="1339726" w="18044903">
                <a:moveTo>
                  <a:pt x="0" y="0"/>
                </a:moveTo>
                <a:cubicBezTo>
                  <a:pt x="160996" y="-3503"/>
                  <a:pt x="299176" y="18913"/>
                  <a:pt x="513586" y="0"/>
                </a:cubicBezTo>
                <a:cubicBezTo>
                  <a:pt x="727996" y="-18913"/>
                  <a:pt x="954908" y="30963"/>
                  <a:pt x="1207620" y="0"/>
                </a:cubicBezTo>
                <a:cubicBezTo>
                  <a:pt x="1460332" y="-30963"/>
                  <a:pt x="1864554" y="-42667"/>
                  <a:pt x="2082104" y="0"/>
                </a:cubicBezTo>
                <a:cubicBezTo>
                  <a:pt x="2299654" y="42667"/>
                  <a:pt x="2867495" y="41553"/>
                  <a:pt x="3137037" y="0"/>
                </a:cubicBezTo>
                <a:cubicBezTo>
                  <a:pt x="3406579" y="-41553"/>
                  <a:pt x="3426095" y="22030"/>
                  <a:pt x="3650623" y="0"/>
                </a:cubicBezTo>
                <a:cubicBezTo>
                  <a:pt x="3875151" y="-22030"/>
                  <a:pt x="4023632" y="-17975"/>
                  <a:pt x="4164208" y="0"/>
                </a:cubicBezTo>
                <a:cubicBezTo>
                  <a:pt x="4304784" y="17975"/>
                  <a:pt x="4485024" y="-23395"/>
                  <a:pt x="4677794" y="0"/>
                </a:cubicBezTo>
                <a:cubicBezTo>
                  <a:pt x="4870564" y="23395"/>
                  <a:pt x="5336551" y="30474"/>
                  <a:pt x="5552278" y="0"/>
                </a:cubicBezTo>
                <a:cubicBezTo>
                  <a:pt x="5768005" y="-30474"/>
                  <a:pt x="5660269" y="-2485"/>
                  <a:pt x="5704965" y="0"/>
                </a:cubicBezTo>
                <a:cubicBezTo>
                  <a:pt x="5749661" y="2485"/>
                  <a:pt x="5813562" y="7407"/>
                  <a:pt x="5857653" y="0"/>
                </a:cubicBezTo>
                <a:cubicBezTo>
                  <a:pt x="5901744" y="-7407"/>
                  <a:pt x="6416574" y="-3365"/>
                  <a:pt x="6732137" y="0"/>
                </a:cubicBezTo>
                <a:cubicBezTo>
                  <a:pt x="7047700" y="3365"/>
                  <a:pt x="6945420" y="-8039"/>
                  <a:pt x="7065274" y="0"/>
                </a:cubicBezTo>
                <a:cubicBezTo>
                  <a:pt x="7185128" y="8039"/>
                  <a:pt x="7767550" y="37535"/>
                  <a:pt x="8120206" y="0"/>
                </a:cubicBezTo>
                <a:cubicBezTo>
                  <a:pt x="8472862" y="-37535"/>
                  <a:pt x="8630250" y="26901"/>
                  <a:pt x="8994690" y="0"/>
                </a:cubicBezTo>
                <a:cubicBezTo>
                  <a:pt x="9359130" y="-26901"/>
                  <a:pt x="9733962" y="-6357"/>
                  <a:pt x="10049623" y="0"/>
                </a:cubicBezTo>
                <a:cubicBezTo>
                  <a:pt x="10365284" y="6357"/>
                  <a:pt x="10148621" y="-7474"/>
                  <a:pt x="10202311" y="0"/>
                </a:cubicBezTo>
                <a:cubicBezTo>
                  <a:pt x="10256001" y="7474"/>
                  <a:pt x="10877148" y="1394"/>
                  <a:pt x="11076794" y="0"/>
                </a:cubicBezTo>
                <a:cubicBezTo>
                  <a:pt x="11276440" y="-1394"/>
                  <a:pt x="11611765" y="-11793"/>
                  <a:pt x="11770829" y="0"/>
                </a:cubicBezTo>
                <a:cubicBezTo>
                  <a:pt x="11929894" y="11793"/>
                  <a:pt x="12273213" y="-17585"/>
                  <a:pt x="12645313" y="0"/>
                </a:cubicBezTo>
                <a:cubicBezTo>
                  <a:pt x="13017413" y="17585"/>
                  <a:pt x="12917474" y="14415"/>
                  <a:pt x="13158898" y="0"/>
                </a:cubicBezTo>
                <a:cubicBezTo>
                  <a:pt x="13400323" y="-14415"/>
                  <a:pt x="13837051" y="-46738"/>
                  <a:pt x="14213831" y="0"/>
                </a:cubicBezTo>
                <a:cubicBezTo>
                  <a:pt x="14590611" y="46738"/>
                  <a:pt x="14422734" y="-6788"/>
                  <a:pt x="14546968" y="0"/>
                </a:cubicBezTo>
                <a:cubicBezTo>
                  <a:pt x="14671202" y="6788"/>
                  <a:pt x="14897679" y="-6844"/>
                  <a:pt x="15060554" y="0"/>
                </a:cubicBezTo>
                <a:cubicBezTo>
                  <a:pt x="15223429" y="6844"/>
                  <a:pt x="15758299" y="-4365"/>
                  <a:pt x="16115486" y="0"/>
                </a:cubicBezTo>
                <a:cubicBezTo>
                  <a:pt x="16472673" y="4365"/>
                  <a:pt x="16227338" y="-7090"/>
                  <a:pt x="16268174" y="0"/>
                </a:cubicBezTo>
                <a:cubicBezTo>
                  <a:pt x="16309010" y="7090"/>
                  <a:pt x="16947008" y="7313"/>
                  <a:pt x="17142658" y="0"/>
                </a:cubicBezTo>
                <a:cubicBezTo>
                  <a:pt x="17338308" y="-7313"/>
                  <a:pt x="17844408" y="-42994"/>
                  <a:pt x="18044903" y="0"/>
                </a:cubicBezTo>
                <a:cubicBezTo>
                  <a:pt x="18030870" y="238390"/>
                  <a:pt x="18072204" y="425121"/>
                  <a:pt x="18044903" y="669863"/>
                </a:cubicBezTo>
                <a:cubicBezTo>
                  <a:pt x="18017602" y="914605"/>
                  <a:pt x="18024155" y="1011428"/>
                  <a:pt x="18044903" y="1339726"/>
                </a:cubicBezTo>
                <a:cubicBezTo>
                  <a:pt x="17730546" y="1367720"/>
                  <a:pt x="17491476" y="1378843"/>
                  <a:pt x="17170419" y="1339726"/>
                </a:cubicBezTo>
                <a:cubicBezTo>
                  <a:pt x="16849362" y="1300609"/>
                  <a:pt x="16659742" y="1319749"/>
                  <a:pt x="16476385" y="1339726"/>
                </a:cubicBezTo>
                <a:cubicBezTo>
                  <a:pt x="16293028" y="1359703"/>
                  <a:pt x="15677965" y="1385857"/>
                  <a:pt x="15421452" y="1339726"/>
                </a:cubicBezTo>
                <a:cubicBezTo>
                  <a:pt x="15164939" y="1293595"/>
                  <a:pt x="15216974" y="1346541"/>
                  <a:pt x="15088315" y="1339726"/>
                </a:cubicBezTo>
                <a:cubicBezTo>
                  <a:pt x="14959656" y="1332911"/>
                  <a:pt x="15005506" y="1340298"/>
                  <a:pt x="14935627" y="1339726"/>
                </a:cubicBezTo>
                <a:cubicBezTo>
                  <a:pt x="14865748" y="1339154"/>
                  <a:pt x="14594812" y="1323651"/>
                  <a:pt x="14422042" y="1339726"/>
                </a:cubicBezTo>
                <a:cubicBezTo>
                  <a:pt x="14249273" y="1355801"/>
                  <a:pt x="13924136" y="1314144"/>
                  <a:pt x="13728007" y="1339726"/>
                </a:cubicBezTo>
                <a:cubicBezTo>
                  <a:pt x="13531879" y="1365308"/>
                  <a:pt x="13609441" y="1342959"/>
                  <a:pt x="13575319" y="1339726"/>
                </a:cubicBezTo>
                <a:cubicBezTo>
                  <a:pt x="13541197" y="1336493"/>
                  <a:pt x="13493334" y="1334635"/>
                  <a:pt x="13422632" y="1339726"/>
                </a:cubicBezTo>
                <a:cubicBezTo>
                  <a:pt x="13351930" y="1344817"/>
                  <a:pt x="13156389" y="1348055"/>
                  <a:pt x="13089495" y="1339726"/>
                </a:cubicBezTo>
                <a:cubicBezTo>
                  <a:pt x="13022601" y="1331397"/>
                  <a:pt x="12714618" y="1361904"/>
                  <a:pt x="12575909" y="1339726"/>
                </a:cubicBezTo>
                <a:cubicBezTo>
                  <a:pt x="12437200" y="1317548"/>
                  <a:pt x="11734237" y="1339448"/>
                  <a:pt x="11520977" y="1339726"/>
                </a:cubicBezTo>
                <a:cubicBezTo>
                  <a:pt x="11307717" y="1340004"/>
                  <a:pt x="11272522" y="1344337"/>
                  <a:pt x="11187840" y="1339726"/>
                </a:cubicBezTo>
                <a:cubicBezTo>
                  <a:pt x="11103158" y="1335115"/>
                  <a:pt x="11005474" y="1346390"/>
                  <a:pt x="10854703" y="1339726"/>
                </a:cubicBezTo>
                <a:cubicBezTo>
                  <a:pt x="10703932" y="1333062"/>
                  <a:pt x="10511556" y="1314886"/>
                  <a:pt x="10341117" y="1339726"/>
                </a:cubicBezTo>
                <a:cubicBezTo>
                  <a:pt x="10170678" y="1364566"/>
                  <a:pt x="10112101" y="1323618"/>
                  <a:pt x="10007981" y="1339726"/>
                </a:cubicBezTo>
                <a:cubicBezTo>
                  <a:pt x="9903861" y="1355834"/>
                  <a:pt x="9715062" y="1349468"/>
                  <a:pt x="9494395" y="1339726"/>
                </a:cubicBezTo>
                <a:cubicBezTo>
                  <a:pt x="9273728" y="1329984"/>
                  <a:pt x="8654347" y="1354501"/>
                  <a:pt x="8439462" y="1339726"/>
                </a:cubicBezTo>
                <a:cubicBezTo>
                  <a:pt x="8224577" y="1324951"/>
                  <a:pt x="7636560" y="1333528"/>
                  <a:pt x="7384530" y="1339726"/>
                </a:cubicBezTo>
                <a:cubicBezTo>
                  <a:pt x="7132500" y="1345924"/>
                  <a:pt x="7305019" y="1334310"/>
                  <a:pt x="7231842" y="1339726"/>
                </a:cubicBezTo>
                <a:cubicBezTo>
                  <a:pt x="7158665" y="1345142"/>
                  <a:pt x="6864653" y="1337037"/>
                  <a:pt x="6718256" y="1339726"/>
                </a:cubicBezTo>
                <a:cubicBezTo>
                  <a:pt x="6571859" y="1342415"/>
                  <a:pt x="6617146" y="1339744"/>
                  <a:pt x="6565569" y="1339726"/>
                </a:cubicBezTo>
                <a:cubicBezTo>
                  <a:pt x="6513992" y="1339708"/>
                  <a:pt x="6475702" y="1334300"/>
                  <a:pt x="6412881" y="1339726"/>
                </a:cubicBezTo>
                <a:cubicBezTo>
                  <a:pt x="6350060" y="1345152"/>
                  <a:pt x="5724301" y="1374802"/>
                  <a:pt x="5538397" y="1339726"/>
                </a:cubicBezTo>
                <a:cubicBezTo>
                  <a:pt x="5352493" y="1304650"/>
                  <a:pt x="5075240" y="1327820"/>
                  <a:pt x="4663913" y="1339726"/>
                </a:cubicBezTo>
                <a:cubicBezTo>
                  <a:pt x="4252586" y="1351632"/>
                  <a:pt x="4159682" y="1365998"/>
                  <a:pt x="3789430" y="1339726"/>
                </a:cubicBezTo>
                <a:cubicBezTo>
                  <a:pt x="3419178" y="1313454"/>
                  <a:pt x="3393313" y="1345949"/>
                  <a:pt x="3095395" y="1339726"/>
                </a:cubicBezTo>
                <a:cubicBezTo>
                  <a:pt x="2797477" y="1333503"/>
                  <a:pt x="2994312" y="1346468"/>
                  <a:pt x="2942707" y="1339726"/>
                </a:cubicBezTo>
                <a:cubicBezTo>
                  <a:pt x="2891102" y="1332984"/>
                  <a:pt x="2827455" y="1334460"/>
                  <a:pt x="2790020" y="1339726"/>
                </a:cubicBezTo>
                <a:cubicBezTo>
                  <a:pt x="2752585" y="1344992"/>
                  <a:pt x="2669243" y="1345687"/>
                  <a:pt x="2637332" y="1339726"/>
                </a:cubicBezTo>
                <a:cubicBezTo>
                  <a:pt x="2605421" y="1333765"/>
                  <a:pt x="2532313" y="1346348"/>
                  <a:pt x="2484644" y="1339726"/>
                </a:cubicBezTo>
                <a:cubicBezTo>
                  <a:pt x="2436975" y="1333104"/>
                  <a:pt x="2393474" y="1343399"/>
                  <a:pt x="2331957" y="1339726"/>
                </a:cubicBezTo>
                <a:cubicBezTo>
                  <a:pt x="2270440" y="1336053"/>
                  <a:pt x="2215651" y="1337790"/>
                  <a:pt x="2179269" y="1339726"/>
                </a:cubicBezTo>
                <a:cubicBezTo>
                  <a:pt x="2142887" y="1341662"/>
                  <a:pt x="1489736" y="1350474"/>
                  <a:pt x="1124336" y="1339726"/>
                </a:cubicBezTo>
                <a:cubicBezTo>
                  <a:pt x="758936" y="1328978"/>
                  <a:pt x="1012910" y="1332723"/>
                  <a:pt x="971649" y="1339726"/>
                </a:cubicBezTo>
                <a:cubicBezTo>
                  <a:pt x="930388" y="1346729"/>
                  <a:pt x="288504" y="1364047"/>
                  <a:pt x="0" y="1339726"/>
                </a:cubicBezTo>
                <a:cubicBezTo>
                  <a:pt x="-25589" y="1091085"/>
                  <a:pt x="6174" y="923759"/>
                  <a:pt x="0" y="710055"/>
                </a:cubicBezTo>
                <a:cubicBezTo>
                  <a:pt x="-6174" y="496351"/>
                  <a:pt x="-3030" y="254614"/>
                  <a:pt x="0" y="0"/>
                </a:cubicBezTo>
                <a:close/>
              </a:path>
            </a:pathLst>
          </a:custGeom>
          <a:solidFill>
            <a:schemeClr val="lt1"/>
          </a:solidFill>
          <a:ln cap="flat" cmpd="sng" w="38100">
            <a:solidFill>
              <a:schemeClr val="dk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200000"/>
              </a:lnSpc>
              <a:spcBef>
                <a:spcPts val="0"/>
              </a:spcBef>
              <a:spcAft>
                <a:spcPts val="0"/>
              </a:spcAft>
              <a:buClr>
                <a:schemeClr val="dk2"/>
              </a:buClr>
              <a:buSzPts val="6600"/>
              <a:buFont typeface="Arial"/>
              <a:buNone/>
            </a:pPr>
            <a:r>
              <a:rPr b="1" lang="en-US" sz="6600">
                <a:solidFill>
                  <a:schemeClr val="dk2"/>
                </a:solidFill>
                <a:latin typeface="Lato Light"/>
                <a:ea typeface="Lato Light"/>
                <a:cs typeface="Lato Light"/>
                <a:sym typeface="Lato Light"/>
              </a:rPr>
              <a:t>Learning Objectives</a:t>
            </a:r>
            <a:r>
              <a:rPr b="1" lang="en-US" sz="6600">
                <a:solidFill>
                  <a:srgbClr val="595959"/>
                </a:solidFill>
                <a:latin typeface="Lato Light"/>
                <a:ea typeface="Lato Light"/>
                <a:cs typeface="Lato Light"/>
                <a:sym typeface="Lato Light"/>
              </a:rPr>
              <a:t>: </a:t>
            </a:r>
            <a:endParaRPr/>
          </a:p>
          <a:p>
            <a:pPr indent="-857250" lvl="0" marL="857250" marR="0" rtl="0" algn="l">
              <a:lnSpc>
                <a:spcPct val="200000"/>
              </a:lnSpc>
              <a:spcBef>
                <a:spcPts val="1120"/>
              </a:spcBef>
              <a:spcAft>
                <a:spcPts val="0"/>
              </a:spcAft>
              <a:buClr>
                <a:srgbClr val="7F7F7F"/>
              </a:buClr>
              <a:buSzPts val="5600"/>
              <a:buFont typeface="Arial"/>
              <a:buChar char="•"/>
            </a:pPr>
            <a:r>
              <a:rPr lang="en-US" sz="5600">
                <a:solidFill>
                  <a:srgbClr val="7F7F7F"/>
                </a:solidFill>
                <a:latin typeface="Open Sans Light"/>
                <a:ea typeface="Open Sans Light"/>
                <a:cs typeface="Open Sans Light"/>
                <a:sym typeface="Open Sans Light"/>
              </a:rPr>
              <a:t>To </a:t>
            </a:r>
            <a:r>
              <a:rPr lang="en-US" sz="5600">
                <a:solidFill>
                  <a:schemeClr val="dk2"/>
                </a:solidFill>
                <a:latin typeface="Open Sans Light"/>
                <a:ea typeface="Open Sans Light"/>
                <a:cs typeface="Open Sans Light"/>
                <a:sym typeface="Open Sans Light"/>
              </a:rPr>
              <a:t>understand</a:t>
            </a:r>
            <a:r>
              <a:rPr lang="en-US" sz="5600">
                <a:solidFill>
                  <a:srgbClr val="7F7F7F"/>
                </a:solidFill>
                <a:latin typeface="Open Sans Light"/>
                <a:ea typeface="Open Sans Light"/>
                <a:cs typeface="Open Sans Light"/>
                <a:sym typeface="Open Sans Light"/>
              </a:rPr>
              <a:t> the concept and importance of data packets in data transmission</a:t>
            </a:r>
            <a:endParaRPr/>
          </a:p>
          <a:p>
            <a:pPr indent="-857250" lvl="0" marL="857250" marR="0" rtl="0" algn="l">
              <a:lnSpc>
                <a:spcPct val="200000"/>
              </a:lnSpc>
              <a:spcBef>
                <a:spcPts val="1120"/>
              </a:spcBef>
              <a:spcAft>
                <a:spcPts val="0"/>
              </a:spcAft>
              <a:buClr>
                <a:srgbClr val="7F7F7F"/>
              </a:buClr>
              <a:buSzPts val="5600"/>
              <a:buFont typeface="Arial"/>
              <a:buChar char="•"/>
            </a:pPr>
            <a:r>
              <a:rPr lang="en-US" sz="5600">
                <a:solidFill>
                  <a:srgbClr val="7F7F7F"/>
                </a:solidFill>
                <a:latin typeface="Open Sans Light"/>
                <a:ea typeface="Open Sans Light"/>
                <a:cs typeface="Open Sans Light"/>
                <a:sym typeface="Open Sans Light"/>
              </a:rPr>
              <a:t>To </a:t>
            </a:r>
            <a:r>
              <a:rPr lang="en-US" sz="5600">
                <a:solidFill>
                  <a:schemeClr val="dk2"/>
                </a:solidFill>
                <a:latin typeface="Open Sans Light"/>
                <a:ea typeface="Open Sans Light"/>
                <a:cs typeface="Open Sans Light"/>
                <a:sym typeface="Open Sans Light"/>
              </a:rPr>
              <a:t>analyse</a:t>
            </a:r>
            <a:r>
              <a:rPr lang="en-US" sz="5600">
                <a:solidFill>
                  <a:srgbClr val="7F7F7F"/>
                </a:solidFill>
                <a:latin typeface="Open Sans Light"/>
                <a:ea typeface="Open Sans Light"/>
                <a:cs typeface="Open Sans Light"/>
                <a:sym typeface="Open Sans Light"/>
              </a:rPr>
              <a:t> why data is divided into packets for transmission</a:t>
            </a:r>
            <a:endParaRPr/>
          </a:p>
        </p:txBody>
      </p:sp>
      <p:sp>
        <p:nvSpPr>
          <p:cNvPr id="145" name="Google Shape;145;p15"/>
          <p:cNvSpPr/>
          <p:nvPr/>
        </p:nvSpPr>
        <p:spPr>
          <a:xfrm>
            <a:off x="1894114" y="1186910"/>
            <a:ext cx="8360229" cy="8480153"/>
          </a:xfrm>
          <a:custGeom>
            <a:rect b="b" l="l" r="r" t="t"/>
            <a:pathLst>
              <a:path extrusionOk="0" h="3888" w="3889">
                <a:moveTo>
                  <a:pt x="3888" y="1945"/>
                </a:moveTo>
                <a:lnTo>
                  <a:pt x="3888" y="1945"/>
                </a:lnTo>
                <a:cubicBezTo>
                  <a:pt x="3888" y="3017"/>
                  <a:pt x="3018" y="3887"/>
                  <a:pt x="1944" y="3887"/>
                </a:cubicBezTo>
                <a:lnTo>
                  <a:pt x="1944" y="3887"/>
                </a:lnTo>
                <a:cubicBezTo>
                  <a:pt x="870" y="3887"/>
                  <a:pt x="0" y="3017"/>
                  <a:pt x="0" y="1945"/>
                </a:cubicBezTo>
                <a:lnTo>
                  <a:pt x="0" y="1945"/>
                </a:lnTo>
                <a:cubicBezTo>
                  <a:pt x="0" y="871"/>
                  <a:pt x="870" y="0"/>
                  <a:pt x="1944" y="0"/>
                </a:cubicBezTo>
                <a:lnTo>
                  <a:pt x="1944" y="0"/>
                </a:lnTo>
                <a:cubicBezTo>
                  <a:pt x="3018" y="0"/>
                  <a:pt x="3888" y="871"/>
                  <a:pt x="3888" y="1945"/>
                </a:cubicBezTo>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6530">
              <a:solidFill>
                <a:schemeClr val="dk1"/>
              </a:solidFill>
              <a:latin typeface="Lato Light"/>
              <a:ea typeface="Lato Light"/>
              <a:cs typeface="Lato Light"/>
              <a:sym typeface="Lato Light"/>
            </a:endParaRPr>
          </a:p>
        </p:txBody>
      </p:sp>
      <p:sp>
        <p:nvSpPr>
          <p:cNvPr id="146" name="Google Shape;146;p15"/>
          <p:cNvSpPr/>
          <p:nvPr/>
        </p:nvSpPr>
        <p:spPr>
          <a:xfrm>
            <a:off x="2351314" y="1502229"/>
            <a:ext cx="7543800" cy="7674774"/>
          </a:xfrm>
          <a:custGeom>
            <a:rect b="b" l="l" r="r" t="t"/>
            <a:pathLst>
              <a:path extrusionOk="0" h="3294" w="3295">
                <a:moveTo>
                  <a:pt x="3294" y="1648"/>
                </a:moveTo>
                <a:lnTo>
                  <a:pt x="3294" y="1648"/>
                </a:lnTo>
                <a:cubicBezTo>
                  <a:pt x="3294" y="2556"/>
                  <a:pt x="2557" y="3293"/>
                  <a:pt x="1647" y="3293"/>
                </a:cubicBezTo>
                <a:lnTo>
                  <a:pt x="1647" y="3293"/>
                </a:lnTo>
                <a:cubicBezTo>
                  <a:pt x="737" y="3293"/>
                  <a:pt x="0" y="2556"/>
                  <a:pt x="0" y="1648"/>
                </a:cubicBezTo>
                <a:lnTo>
                  <a:pt x="0" y="1648"/>
                </a:lnTo>
                <a:cubicBezTo>
                  <a:pt x="0" y="738"/>
                  <a:pt x="737" y="0"/>
                  <a:pt x="1647" y="0"/>
                </a:cubicBezTo>
                <a:lnTo>
                  <a:pt x="1647" y="0"/>
                </a:lnTo>
                <a:cubicBezTo>
                  <a:pt x="2557" y="0"/>
                  <a:pt x="3294" y="738"/>
                  <a:pt x="3294" y="1648"/>
                </a:cubicBezTo>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6530">
              <a:solidFill>
                <a:schemeClr val="dk1"/>
              </a:solidFill>
              <a:latin typeface="Lato Light"/>
              <a:ea typeface="Lato Light"/>
              <a:cs typeface="Lato Light"/>
              <a:sym typeface="Lato Light"/>
            </a:endParaRPr>
          </a:p>
        </p:txBody>
      </p:sp>
      <p:sp>
        <p:nvSpPr>
          <p:cNvPr id="147" name="Google Shape;147;p15"/>
          <p:cNvSpPr/>
          <p:nvPr/>
        </p:nvSpPr>
        <p:spPr>
          <a:xfrm>
            <a:off x="5639685" y="11035491"/>
            <a:ext cx="785589" cy="785586"/>
          </a:xfrm>
          <a:custGeom>
            <a:rect b="b" l="l" r="r" t="t"/>
            <a:pathLst>
              <a:path extrusionOk="0" h="630" w="631">
                <a:moveTo>
                  <a:pt x="630" y="315"/>
                </a:moveTo>
                <a:lnTo>
                  <a:pt x="630" y="315"/>
                </a:lnTo>
                <a:cubicBezTo>
                  <a:pt x="630" y="489"/>
                  <a:pt x="489" y="629"/>
                  <a:pt x="315" y="629"/>
                </a:cubicBezTo>
                <a:lnTo>
                  <a:pt x="315" y="629"/>
                </a:lnTo>
                <a:cubicBezTo>
                  <a:pt x="141" y="629"/>
                  <a:pt x="0" y="489"/>
                  <a:pt x="0" y="315"/>
                </a:cubicBezTo>
                <a:lnTo>
                  <a:pt x="0" y="315"/>
                </a:lnTo>
                <a:cubicBezTo>
                  <a:pt x="0" y="140"/>
                  <a:pt x="141" y="0"/>
                  <a:pt x="315" y="0"/>
                </a:cubicBezTo>
                <a:lnTo>
                  <a:pt x="315" y="0"/>
                </a:lnTo>
                <a:cubicBezTo>
                  <a:pt x="489" y="0"/>
                  <a:pt x="630" y="140"/>
                  <a:pt x="630" y="315"/>
                </a:cubicBezTo>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6530">
              <a:solidFill>
                <a:schemeClr val="dk1"/>
              </a:solidFill>
              <a:latin typeface="Lato Light"/>
              <a:ea typeface="Lato Light"/>
              <a:cs typeface="Lato Light"/>
              <a:sym typeface="Lato Light"/>
            </a:endParaRPr>
          </a:p>
        </p:txBody>
      </p:sp>
      <p:sp>
        <p:nvSpPr>
          <p:cNvPr id="148" name="Google Shape;148;p15"/>
          <p:cNvSpPr/>
          <p:nvPr/>
        </p:nvSpPr>
        <p:spPr>
          <a:xfrm>
            <a:off x="5884153" y="9374657"/>
            <a:ext cx="296655" cy="1801907"/>
          </a:xfrm>
          <a:custGeom>
            <a:rect b="b" l="l" r="r" t="t"/>
            <a:pathLst>
              <a:path extrusionOk="0" h="1445" w="240">
                <a:moveTo>
                  <a:pt x="239" y="1444"/>
                </a:moveTo>
                <a:lnTo>
                  <a:pt x="0" y="1444"/>
                </a:lnTo>
                <a:lnTo>
                  <a:pt x="0" y="0"/>
                </a:lnTo>
                <a:lnTo>
                  <a:pt x="239" y="0"/>
                </a:lnTo>
                <a:lnTo>
                  <a:pt x="239" y="1444"/>
                </a:lnTo>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6530">
              <a:solidFill>
                <a:schemeClr val="dk1"/>
              </a:solidFill>
              <a:latin typeface="Lato Light"/>
              <a:ea typeface="Lato Light"/>
              <a:cs typeface="Lato Light"/>
              <a:sym typeface="Lato Light"/>
            </a:endParaRPr>
          </a:p>
        </p:txBody>
      </p:sp>
      <p:grpSp>
        <p:nvGrpSpPr>
          <p:cNvPr id="149" name="Google Shape;149;p15"/>
          <p:cNvGrpSpPr/>
          <p:nvPr/>
        </p:nvGrpSpPr>
        <p:grpSpPr>
          <a:xfrm>
            <a:off x="3150992" y="1755395"/>
            <a:ext cx="6041570" cy="6660927"/>
            <a:chOff x="1581999" y="4222984"/>
            <a:chExt cx="4621531" cy="5095315"/>
          </a:xfrm>
        </p:grpSpPr>
        <p:sp>
          <p:nvSpPr>
            <p:cNvPr id="150" name="Google Shape;150;p15"/>
            <p:cNvSpPr txBox="1"/>
            <p:nvPr/>
          </p:nvSpPr>
          <p:spPr>
            <a:xfrm>
              <a:off x="1581999" y="5564966"/>
              <a:ext cx="4621531" cy="3753333"/>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rgbClr val="7F7F7F"/>
                </a:buClr>
                <a:buSzPts val="7200"/>
                <a:buFont typeface="Arial"/>
                <a:buNone/>
              </a:pPr>
              <a:r>
                <a:rPr lang="en-US" sz="7200">
                  <a:solidFill>
                    <a:srgbClr val="7F7F7F"/>
                  </a:solidFill>
                  <a:latin typeface="Open Sans Light"/>
                  <a:ea typeface="Open Sans Light"/>
                  <a:cs typeface="Open Sans Light"/>
                  <a:sym typeface="Open Sans Light"/>
                </a:rPr>
                <a:t>What’s a </a:t>
              </a:r>
              <a:r>
                <a:rPr lang="en-US" sz="7200">
                  <a:solidFill>
                    <a:srgbClr val="7030A0"/>
                  </a:solidFill>
                  <a:latin typeface="Open Sans Light"/>
                  <a:ea typeface="Open Sans Light"/>
                  <a:cs typeface="Open Sans Light"/>
                  <a:sym typeface="Open Sans Light"/>
                </a:rPr>
                <a:t>data packet </a:t>
              </a:r>
              <a:r>
                <a:rPr lang="en-US" sz="7200">
                  <a:solidFill>
                    <a:srgbClr val="7F7F7F"/>
                  </a:solidFill>
                  <a:latin typeface="Open Sans Light"/>
                  <a:ea typeface="Open Sans Light"/>
                  <a:cs typeface="Open Sans Light"/>
                  <a:sym typeface="Open Sans Light"/>
                </a:rPr>
                <a:t>and </a:t>
              </a:r>
              <a:r>
                <a:rPr lang="en-US" sz="7200">
                  <a:solidFill>
                    <a:srgbClr val="7030A0"/>
                  </a:solidFill>
                  <a:latin typeface="Open Sans Light"/>
                  <a:ea typeface="Open Sans Light"/>
                  <a:cs typeface="Open Sans Light"/>
                  <a:sym typeface="Open Sans Light"/>
                </a:rPr>
                <a:t>why</a:t>
              </a:r>
              <a:r>
                <a:rPr lang="en-US" sz="7200">
                  <a:solidFill>
                    <a:srgbClr val="7F7F7F"/>
                  </a:solidFill>
                  <a:latin typeface="Open Sans Light"/>
                  <a:ea typeface="Open Sans Light"/>
                  <a:cs typeface="Open Sans Light"/>
                  <a:sym typeface="Open Sans Light"/>
                </a:rPr>
                <a:t> is it</a:t>
              </a:r>
              <a:r>
                <a:rPr lang="en-US" sz="7200">
                  <a:solidFill>
                    <a:srgbClr val="7030A0"/>
                  </a:solidFill>
                  <a:latin typeface="Open Sans Light"/>
                  <a:ea typeface="Open Sans Light"/>
                  <a:cs typeface="Open Sans Light"/>
                  <a:sym typeface="Open Sans Light"/>
                </a:rPr>
                <a:t> useful</a:t>
              </a:r>
              <a:r>
                <a:rPr lang="en-US" sz="7200">
                  <a:solidFill>
                    <a:srgbClr val="7F7F7F"/>
                  </a:solidFill>
                  <a:latin typeface="Open Sans Light"/>
                  <a:ea typeface="Open Sans Light"/>
                  <a:cs typeface="Open Sans Light"/>
                  <a:sym typeface="Open Sans Light"/>
                </a:rPr>
                <a:t>?</a:t>
              </a:r>
              <a:endParaRPr sz="6600">
                <a:solidFill>
                  <a:srgbClr val="7F7F7F"/>
                </a:solidFill>
                <a:latin typeface="Lato Light"/>
                <a:ea typeface="Lato Light"/>
                <a:cs typeface="Lato Light"/>
                <a:sym typeface="Lato Light"/>
              </a:endParaRPr>
            </a:p>
          </p:txBody>
        </p:sp>
        <p:sp>
          <p:nvSpPr>
            <p:cNvPr id="151" name="Google Shape;151;p15"/>
            <p:cNvSpPr txBox="1"/>
            <p:nvPr/>
          </p:nvSpPr>
          <p:spPr>
            <a:xfrm>
              <a:off x="2478749" y="4222984"/>
              <a:ext cx="2608857" cy="1341982"/>
            </a:xfrm>
            <a:prstGeom prst="rect">
              <a:avLst/>
            </a:prstGeom>
            <a:noFill/>
            <a:ln>
              <a:noFill/>
            </a:ln>
          </p:spPr>
          <p:txBody>
            <a:bodyPr anchorCtr="0" anchor="b" bIns="45700" lIns="91425" spcFirstLastPara="1" rIns="91425" wrap="square" tIns="45700">
              <a:spAutoFit/>
            </a:bodyPr>
            <a:lstStyle/>
            <a:p>
              <a:pPr indent="0" lvl="0" marL="0" marR="0" rtl="0" algn="ctr">
                <a:spcBef>
                  <a:spcPts val="0"/>
                </a:spcBef>
                <a:spcAft>
                  <a:spcPts val="0"/>
                </a:spcAft>
                <a:buNone/>
              </a:pPr>
              <a:r>
                <a:rPr b="1" lang="en-US" sz="5400">
                  <a:solidFill>
                    <a:schemeClr val="dk2"/>
                  </a:solidFill>
                  <a:latin typeface="Poppins"/>
                  <a:ea typeface="Poppins"/>
                  <a:cs typeface="Poppins"/>
                  <a:sym typeface="Poppins"/>
                </a:rPr>
                <a:t>Review Question</a:t>
              </a:r>
              <a:endParaRPr/>
            </a:p>
          </p:txBody>
        </p:sp>
      </p:grpSp>
      <p:sp>
        <p:nvSpPr>
          <p:cNvPr id="152" name="Google Shape;152;p15"/>
          <p:cNvSpPr txBox="1"/>
          <p:nvPr/>
        </p:nvSpPr>
        <p:spPr>
          <a:xfrm>
            <a:off x="4041152" y="12266175"/>
            <a:ext cx="3968179" cy="923330"/>
          </a:xfrm>
          <a:prstGeom prst="rect">
            <a:avLst/>
          </a:prstGeom>
          <a:noFill/>
          <a:ln>
            <a:noFill/>
          </a:ln>
        </p:spPr>
        <p:txBody>
          <a:bodyPr anchorCtr="0" anchor="b" bIns="45700" lIns="91425" spcFirstLastPara="1" rIns="91425" wrap="square" tIns="45700">
            <a:spAutoFit/>
          </a:bodyPr>
          <a:lstStyle/>
          <a:p>
            <a:pPr indent="0" lvl="0" marL="0" marR="0" rtl="0" algn="ctr">
              <a:spcBef>
                <a:spcPts val="0"/>
              </a:spcBef>
              <a:spcAft>
                <a:spcPts val="0"/>
              </a:spcAft>
              <a:buNone/>
            </a:pPr>
            <a:r>
              <a:rPr b="1" lang="en-US" sz="5400" u="sng">
                <a:solidFill>
                  <a:schemeClr val="dk2"/>
                </a:solidFill>
                <a:latin typeface="Poppins"/>
                <a:ea typeface="Poppins"/>
                <a:cs typeface="Poppins"/>
                <a:sym typeface="Poppins"/>
              </a:rPr>
              <a:t>Reflection</a:t>
            </a: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theme/theme1.xml><?xml version="1.0" encoding="utf-8"?>
<a:theme xmlns:a="http://schemas.openxmlformats.org/drawingml/2006/main" xmlns:r="http://schemas.openxmlformats.org/officeDocument/2006/relationships" name="Office Theme">
  <a:themeElements>
    <a:clrScheme name="IGPIA - Theme 06 - Light">
      <a:dk1>
        <a:srgbClr val="B3B3B3"/>
      </a:dk1>
      <a:lt1>
        <a:srgbClr val="FFFFFF"/>
      </a:lt1>
      <a:dk2>
        <a:srgbClr val="1C2835"/>
      </a:dk2>
      <a:lt2>
        <a:srgbClr val="FFFFFF"/>
      </a:lt2>
      <a:accent1>
        <a:srgbClr val="1073A3"/>
      </a:accent1>
      <a:accent2>
        <a:srgbClr val="2DADE0"/>
      </a:accent2>
      <a:accent3>
        <a:srgbClr val="6ACEE3"/>
      </a:accent3>
      <a:accent4>
        <a:srgbClr val="61DDA8"/>
      </a:accent4>
      <a:accent5>
        <a:srgbClr val="FFD253"/>
      </a:accent5>
      <a:accent6>
        <a:srgbClr val="FF8F10"/>
      </a:accent6>
      <a:hlink>
        <a:srgbClr val="F33B48"/>
      </a:hlink>
      <a:folHlink>
        <a:srgbClr val="FFC0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