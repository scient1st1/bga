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" name="Google Shape;20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2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2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2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2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2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2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0" name="Google Shape;320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2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3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3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3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3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3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3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3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3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3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3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4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" type="body"/>
          </p:nvPr>
        </p:nvSpPr>
        <p:spPr>
          <a:xfrm>
            <a:off x="228600" y="1012466"/>
            <a:ext cx="8763000" cy="5693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>
                <a:solidFill>
                  <a:schemeClr val="dk1"/>
                </a:solidFill>
              </a:defRPr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</a:defRPr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solidFill>
                  <a:schemeClr val="dk1"/>
                </a:solidFill>
              </a:defRPr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/>
          <p:nvPr/>
        </p:nvSpPr>
        <p:spPr>
          <a:xfrm>
            <a:off x="113510" y="35849"/>
            <a:ext cx="8903839" cy="80235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25400">
            <a:solidFill>
              <a:srgbClr val="395E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4" name="Google Shape;34;p5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5" name="Google Shape;35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6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2" name="Google Shape;42;p6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9" name="Google Shape;59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0" name="Google Shape;60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" type="body"/>
          </p:nvPr>
        </p:nvSpPr>
        <p:spPr>
          <a:xfrm rot="5400000">
            <a:off x="1763533" y="-522467"/>
            <a:ext cx="5693134" cy="87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113510" y="35849"/>
            <a:ext cx="8903839" cy="80235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25400">
            <a:solidFill>
              <a:srgbClr val="395E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"/>
          <p:cNvSpPr/>
          <p:nvPr/>
        </p:nvSpPr>
        <p:spPr>
          <a:xfrm>
            <a:off x="152400" y="959708"/>
            <a:ext cx="8839200" cy="5822092"/>
          </a:xfrm>
          <a:prstGeom prst="rect">
            <a:avLst/>
          </a:prstGeom>
          <a:solidFill>
            <a:schemeClr val="lt1"/>
          </a:solidFill>
          <a:ln cap="flat" cmpd="sng" w="444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1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1" i="0" sz="44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" name="Google Shape;13;p1"/>
          <p:cNvSpPr txBox="1"/>
          <p:nvPr>
            <p:ph idx="1" type="body"/>
          </p:nvPr>
        </p:nvSpPr>
        <p:spPr>
          <a:xfrm>
            <a:off x="228600" y="1012466"/>
            <a:ext cx="8763000" cy="5693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1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1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1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1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1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" name="Google Shape;15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" name="Google Shape;16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10.png"/><Relationship Id="rId7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1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4.png"/><Relationship Id="rId4" Type="http://schemas.openxmlformats.org/officeDocument/2006/relationships/image" Target="../media/image20.png"/><Relationship Id="rId5" Type="http://schemas.openxmlformats.org/officeDocument/2006/relationships/image" Target="../media/image36.png"/><Relationship Id="rId6" Type="http://schemas.openxmlformats.org/officeDocument/2006/relationships/image" Target="../media/image2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8.png"/><Relationship Id="rId4" Type="http://schemas.openxmlformats.org/officeDocument/2006/relationships/image" Target="../media/image32.png"/><Relationship Id="rId5" Type="http://schemas.openxmlformats.org/officeDocument/2006/relationships/image" Target="../media/image26.png"/><Relationship Id="rId6" Type="http://schemas.openxmlformats.org/officeDocument/2006/relationships/image" Target="../media/image2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0.png"/><Relationship Id="rId4" Type="http://schemas.openxmlformats.org/officeDocument/2006/relationships/image" Target="../media/image27.png"/><Relationship Id="rId5" Type="http://schemas.openxmlformats.org/officeDocument/2006/relationships/image" Target="../media/image33.png"/><Relationship Id="rId6" Type="http://schemas.openxmlformats.org/officeDocument/2006/relationships/image" Target="../media/image3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7.png"/><Relationship Id="rId4" Type="http://schemas.openxmlformats.org/officeDocument/2006/relationships/image" Target="../media/image40.png"/><Relationship Id="rId5" Type="http://schemas.openxmlformats.org/officeDocument/2006/relationships/image" Target="../media/image4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8.png"/><Relationship Id="rId4" Type="http://schemas.openxmlformats.org/officeDocument/2006/relationships/image" Target="../media/image3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2.png"/><Relationship Id="rId4" Type="http://schemas.openxmlformats.org/officeDocument/2006/relationships/image" Target="../media/image39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3.png"/><Relationship Id="rId4" Type="http://schemas.openxmlformats.org/officeDocument/2006/relationships/image" Target="../media/image48.png"/><Relationship Id="rId5" Type="http://schemas.openxmlformats.org/officeDocument/2006/relationships/image" Target="../media/image79.png"/><Relationship Id="rId6" Type="http://schemas.openxmlformats.org/officeDocument/2006/relationships/image" Target="../media/image4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3.png"/><Relationship Id="rId4" Type="http://schemas.openxmlformats.org/officeDocument/2006/relationships/image" Target="../media/image50.png"/><Relationship Id="rId5" Type="http://schemas.openxmlformats.org/officeDocument/2006/relationships/image" Target="../media/image4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7.png"/><Relationship Id="rId4" Type="http://schemas.openxmlformats.org/officeDocument/2006/relationships/image" Target="../media/image49.png"/><Relationship Id="rId5" Type="http://schemas.openxmlformats.org/officeDocument/2006/relationships/image" Target="../media/image55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53.png"/><Relationship Id="rId4" Type="http://schemas.openxmlformats.org/officeDocument/2006/relationships/image" Target="../media/image61.png"/><Relationship Id="rId5" Type="http://schemas.openxmlformats.org/officeDocument/2006/relationships/image" Target="../media/image58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6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6.png"/><Relationship Id="rId4" Type="http://schemas.openxmlformats.org/officeDocument/2006/relationships/image" Target="../media/image54.png"/><Relationship Id="rId5" Type="http://schemas.openxmlformats.org/officeDocument/2006/relationships/image" Target="../media/image68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3.png"/><Relationship Id="rId4" Type="http://schemas.openxmlformats.org/officeDocument/2006/relationships/image" Target="../media/image57.png"/><Relationship Id="rId5" Type="http://schemas.openxmlformats.org/officeDocument/2006/relationships/image" Target="../media/image7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60.png"/><Relationship Id="rId4" Type="http://schemas.openxmlformats.org/officeDocument/2006/relationships/image" Target="../media/image70.png"/><Relationship Id="rId5" Type="http://schemas.openxmlformats.org/officeDocument/2006/relationships/image" Target="../media/image65.png"/><Relationship Id="rId6" Type="http://schemas.openxmlformats.org/officeDocument/2006/relationships/image" Target="../media/image64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2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9.png"/><Relationship Id="rId4" Type="http://schemas.openxmlformats.org/officeDocument/2006/relationships/image" Target="../media/image6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9.png"/><Relationship Id="rId4" Type="http://schemas.openxmlformats.org/officeDocument/2006/relationships/image" Target="../media/image72.png"/><Relationship Id="rId5" Type="http://schemas.openxmlformats.org/officeDocument/2006/relationships/image" Target="../media/image76.png"/><Relationship Id="rId6" Type="http://schemas.openxmlformats.org/officeDocument/2006/relationships/image" Target="../media/image73.png"/><Relationship Id="rId7" Type="http://schemas.openxmlformats.org/officeDocument/2006/relationships/image" Target="../media/image7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5.png"/><Relationship Id="rId4" Type="http://schemas.openxmlformats.org/officeDocument/2006/relationships/image" Target="../media/image77.png"/><Relationship Id="rId5" Type="http://schemas.openxmlformats.org/officeDocument/2006/relationships/image" Target="../media/image74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www.cambridgeinternational.org/programmes-and-qualifications/cambridge-igcse-computer-science-0478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en-US" sz="3600"/>
              <a:t>Serial transmission</a:t>
            </a:r>
            <a:endParaRPr sz="3600"/>
          </a:p>
        </p:txBody>
      </p:sp>
      <p:sp>
        <p:nvSpPr>
          <p:cNvPr id="87" name="Google Shape;87;p13"/>
          <p:cNvSpPr txBox="1"/>
          <p:nvPr>
            <p:ph idx="1" type="body"/>
          </p:nvPr>
        </p:nvSpPr>
        <p:spPr>
          <a:xfrm>
            <a:off x="228600" y="1012466"/>
            <a:ext cx="8763000" cy="5693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When bits is transmitted 1 bit at a time.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Data is transmitted using a single wire. 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Bits arrive in order.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Transmit data over long distance with high chance of accuracy.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Application: </a:t>
            </a:r>
            <a:r>
              <a:rPr lang="en-US">
                <a:solidFill>
                  <a:srgbClr val="FF0000"/>
                </a:solidFill>
              </a:rPr>
              <a:t>USB / WIFI</a:t>
            </a:r>
            <a:endParaRPr>
              <a:solidFill>
                <a:srgbClr val="FF0000"/>
              </a:solidFill>
            </a:endParaRPr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>
              <a:solidFill>
                <a:srgbClr val="FF0000"/>
              </a:solidFill>
            </a:endParaRPr>
          </a:p>
        </p:txBody>
      </p:sp>
      <p:pic>
        <p:nvPicPr>
          <p:cNvPr id="88" name="Google Shape;8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0" y="4572000"/>
            <a:ext cx="3724275" cy="1895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en-US" sz="3600"/>
              <a:t>Parallel transmission</a:t>
            </a:r>
            <a:endParaRPr sz="3600"/>
          </a:p>
        </p:txBody>
      </p:sp>
      <p:sp>
        <p:nvSpPr>
          <p:cNvPr id="95" name="Google Shape;95;p14"/>
          <p:cNvSpPr txBox="1"/>
          <p:nvPr>
            <p:ph idx="1" type="body"/>
          </p:nvPr>
        </p:nvSpPr>
        <p:spPr>
          <a:xfrm>
            <a:off x="228600" y="1012466"/>
            <a:ext cx="8763000" cy="5693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Transmit multiple bits of data all at once.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Used when a user has a large amount of data to transmit and this need to be done as quickly as possible.</a:t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</p:txBody>
      </p:sp>
      <p:pic>
        <p:nvPicPr>
          <p:cNvPr id="96" name="Google Shape;9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24200" y="4191000"/>
            <a:ext cx="2682387" cy="19873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en-US" sz="3600"/>
              <a:t>Parallel transmission</a:t>
            </a:r>
            <a:endParaRPr sz="3600"/>
          </a:p>
        </p:txBody>
      </p:sp>
      <p:sp>
        <p:nvSpPr>
          <p:cNvPr id="103" name="Google Shape;103;p15"/>
          <p:cNvSpPr txBox="1"/>
          <p:nvPr>
            <p:ph idx="1" type="body"/>
          </p:nvPr>
        </p:nvSpPr>
        <p:spPr>
          <a:xfrm>
            <a:off x="228600" y="1012466"/>
            <a:ext cx="8763000" cy="5693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Short range transfer 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Can be used in integrated circuits, ram and connection in peripheral devices such as printers.</a:t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Data is transmitted using multiple wires. </a:t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Bits may arrive out of sequence.</a:t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</p:txBody>
      </p:sp>
      <p:pic>
        <p:nvPicPr>
          <p:cNvPr id="104" name="Google Shape;10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57400" y="5638800"/>
            <a:ext cx="4267200" cy="10173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en-US" sz="3600"/>
              <a:t>Parallel over serial</a:t>
            </a:r>
            <a:endParaRPr sz="3600"/>
          </a:p>
        </p:txBody>
      </p:sp>
      <p:sp>
        <p:nvSpPr>
          <p:cNvPr id="111" name="Google Shape;111;p16"/>
          <p:cNvSpPr txBox="1"/>
          <p:nvPr>
            <p:ph idx="1" type="body"/>
          </p:nvPr>
        </p:nvSpPr>
        <p:spPr>
          <a:xfrm>
            <a:off x="228600" y="1012466"/>
            <a:ext cx="8763000" cy="5693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/>
              <a:t>Benefits of parallel over serial: </a:t>
            </a:r>
            <a:endParaRPr/>
          </a:p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Char char="•"/>
            </a:pPr>
            <a:r>
              <a:rPr lang="en-US">
                <a:solidFill>
                  <a:srgbClr val="FF0000"/>
                </a:solidFill>
              </a:rPr>
              <a:t>Faster data transfer. </a:t>
            </a:r>
            <a:endParaRPr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/>
              <a:t>Drawback of parallel over serial: </a:t>
            </a:r>
            <a:endParaRPr/>
          </a:p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Char char="•"/>
            </a:pPr>
            <a:r>
              <a:rPr lang="en-US">
                <a:solidFill>
                  <a:srgbClr val="FF0000"/>
                </a:solidFill>
              </a:rPr>
              <a:t>More chance of data being skewed(Suddenly change direction/position) due to being sent at the same time. </a:t>
            </a:r>
            <a:endParaRPr>
              <a:solidFill>
                <a:srgbClr val="FF0000"/>
              </a:solidFill>
            </a:endParaRPr>
          </a:p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Char char="•"/>
            </a:pPr>
            <a:r>
              <a:rPr lang="en-US">
                <a:solidFill>
                  <a:srgbClr val="FF0000"/>
                </a:solidFill>
              </a:rPr>
              <a:t>More expensive as requires multiple wires.</a:t>
            </a:r>
            <a:endParaRPr/>
          </a:p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Char char="•"/>
            </a:pPr>
            <a:r>
              <a:rPr lang="en-US">
                <a:solidFill>
                  <a:srgbClr val="FF0000"/>
                </a:solidFill>
              </a:rPr>
              <a:t>More chance of interference as more wires are used.</a:t>
            </a:r>
            <a:endParaRPr>
              <a:solidFill>
                <a:srgbClr val="FF0000"/>
              </a:solidFill>
            </a:endParaRPr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7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en-US" sz="3600"/>
              <a:t>Advantages of Serial transmission</a:t>
            </a:r>
            <a:endParaRPr sz="3600"/>
          </a:p>
        </p:txBody>
      </p:sp>
      <p:sp>
        <p:nvSpPr>
          <p:cNvPr id="117" name="Google Shape;117;p17"/>
          <p:cNvSpPr txBox="1"/>
          <p:nvPr>
            <p:ph idx="1" type="body"/>
          </p:nvPr>
        </p:nvSpPr>
        <p:spPr>
          <a:xfrm>
            <a:off x="228600" y="1012466"/>
            <a:ext cx="8763000" cy="5693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It uses a single wire therefore it is cheaper to buy and less likely to have interference which mean it can be used over a longer distances.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Data is sent a bit at a time so data is received in order. 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Transmission can be synchronised. 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It can reduce rate of errors.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8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en-US" sz="3600"/>
              <a:t>What is USB?</a:t>
            </a:r>
            <a:endParaRPr sz="3600"/>
          </a:p>
        </p:txBody>
      </p:sp>
      <p:sp>
        <p:nvSpPr>
          <p:cNvPr id="124" name="Google Shape;124;p18"/>
          <p:cNvSpPr txBox="1"/>
          <p:nvPr>
            <p:ph idx="1" type="body"/>
          </p:nvPr>
        </p:nvSpPr>
        <p:spPr>
          <a:xfrm>
            <a:off x="228600" y="1012466"/>
            <a:ext cx="8763000" cy="5693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Char char="•"/>
            </a:pPr>
            <a:r>
              <a:rPr lang="en-US">
                <a:solidFill>
                  <a:srgbClr val="FF0000"/>
                </a:solidFill>
              </a:rPr>
              <a:t>Universal serial bus </a:t>
            </a:r>
            <a:r>
              <a:rPr lang="en-US"/>
              <a:t>is a data transmission method. </a:t>
            </a:r>
            <a:endParaRPr/>
          </a:p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Uses serial transmission. </a:t>
            </a:r>
            <a:endParaRPr/>
          </a:p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It uses universal standard.</a:t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9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en-US" sz="3600"/>
              <a:t>Benefits of using USB connection</a:t>
            </a:r>
            <a:endParaRPr sz="3600"/>
          </a:p>
        </p:txBody>
      </p:sp>
      <p:sp>
        <p:nvSpPr>
          <p:cNvPr id="131" name="Google Shape;131;p19"/>
          <p:cNvSpPr txBox="1"/>
          <p:nvPr>
            <p:ph idx="1" type="body"/>
          </p:nvPr>
        </p:nvSpPr>
        <p:spPr>
          <a:xfrm>
            <a:off x="228600" y="1012466"/>
            <a:ext cx="8763000" cy="5693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 is a universal standard so it is likely to be compatible with different computers. </a:t>
            </a:r>
            <a:endParaRPr/>
          </a:p>
          <a:p>
            <a:pPr indent="-342900" lvl="0" marL="342900" rtl="0" algn="l"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 can only be inserted one way so there is less chance of connecting a device incorrectly. </a:t>
            </a:r>
            <a:endParaRPr/>
          </a:p>
          <a:p>
            <a:pPr indent="-342900" lvl="0" marL="342900" rtl="0" algn="l"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 is a high-speed connection so data will be transmitted quicker. </a:t>
            </a:r>
            <a:endParaRPr/>
          </a:p>
          <a:p>
            <a:pPr indent="-342900" lvl="0" marL="342900" rtl="0" algn="l"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 uses serial transmission so it is cheaper to buy and less chance of errors. </a:t>
            </a:r>
            <a:endParaRPr/>
          </a:p>
          <a:p>
            <a:pPr indent="-342900" lvl="0" marL="342900" rtl="0" algn="l"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 doesn’t require a network so can be used if a network is down. </a:t>
            </a:r>
            <a:endParaRPr/>
          </a:p>
          <a:p>
            <a:pPr indent="-342900" lvl="0" marL="342900" rtl="0" algn="l"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 is backwards compatible so no additional technology is needed. </a:t>
            </a:r>
            <a:endParaRPr/>
          </a:p>
          <a:p>
            <a:pPr indent="-342900" lvl="0" marL="342900" rtl="0" algn="l"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 can power the device therefore no separate source of power is needed.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0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en-US" sz="3600"/>
              <a:t>Data transmission</a:t>
            </a:r>
            <a:endParaRPr sz="3600"/>
          </a:p>
        </p:txBody>
      </p:sp>
      <p:sp>
        <p:nvSpPr>
          <p:cNvPr id="137" name="Google Shape;137;p20"/>
          <p:cNvSpPr txBox="1"/>
          <p:nvPr>
            <p:ph idx="1" type="body"/>
          </p:nvPr>
        </p:nvSpPr>
        <p:spPr>
          <a:xfrm>
            <a:off x="228600" y="1012466"/>
            <a:ext cx="8763000" cy="5693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Simplex: </a:t>
            </a:r>
            <a:r>
              <a:rPr lang="en-US">
                <a:solidFill>
                  <a:srgbClr val="FF0000"/>
                </a:solidFill>
              </a:rPr>
              <a:t>Data can only be sent in one direction at a time.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For examples: 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Transfer data from a computer to a printer.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Microphone to computer. 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Sensor to computer. 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Computer to printer/speaker/monitor.</a:t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1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en-US" sz="3600"/>
              <a:t>Data transmission</a:t>
            </a:r>
            <a:endParaRPr sz="3600"/>
          </a:p>
        </p:txBody>
      </p:sp>
      <p:sp>
        <p:nvSpPr>
          <p:cNvPr id="143" name="Google Shape;143;p21"/>
          <p:cNvSpPr txBox="1"/>
          <p:nvPr>
            <p:ph idx="1" type="body"/>
          </p:nvPr>
        </p:nvSpPr>
        <p:spPr>
          <a:xfrm>
            <a:off x="228600" y="1012466"/>
            <a:ext cx="8763000" cy="5693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Half duplex: </a:t>
            </a:r>
            <a:r>
              <a:rPr lang="en-US">
                <a:solidFill>
                  <a:srgbClr val="FF0000"/>
                </a:solidFill>
              </a:rPr>
              <a:t>Data is sent in both directions but only one direction at a time.</a:t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>
              <a:solidFill>
                <a:srgbClr val="FF0000"/>
              </a:solidFill>
            </a:endParaRPr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Example: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A two-way radio (walkie-talkie) that can receive and transmit messages, but not at the same time. </a:t>
            </a:r>
            <a:endParaRPr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2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en-US" sz="3600"/>
              <a:t>Data transmission</a:t>
            </a:r>
            <a:endParaRPr sz="3600"/>
          </a:p>
        </p:txBody>
      </p:sp>
      <p:sp>
        <p:nvSpPr>
          <p:cNvPr id="149" name="Google Shape;149;p22"/>
          <p:cNvSpPr txBox="1"/>
          <p:nvPr>
            <p:ph idx="1" type="body"/>
          </p:nvPr>
        </p:nvSpPr>
        <p:spPr>
          <a:xfrm>
            <a:off x="228600" y="1012466"/>
            <a:ext cx="8763000" cy="5693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Duplex: </a:t>
            </a:r>
            <a:r>
              <a:rPr lang="en-US">
                <a:solidFill>
                  <a:srgbClr val="FF0000"/>
                </a:solidFill>
              </a:rPr>
              <a:t>Data can be sent in both directions at the same time.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Can be either serial or parallel.</a:t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/>
              <a:t>Example: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A telephone that can receive and transmit audio signals simultaneously.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Instant messaging 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broadband connection</a:t>
            </a:r>
            <a:endParaRPr/>
          </a:p>
          <a:p>
            <a:pPr indent="-3429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video conferencing.</a:t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3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156" name="Google Shape;15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" y="990600"/>
            <a:ext cx="8610600" cy="54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2362200"/>
            <a:ext cx="7019925" cy="228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4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164" name="Google Shape;16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1219200"/>
            <a:ext cx="8064610" cy="533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2286000"/>
            <a:ext cx="7972425" cy="373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5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172" name="Google Shape;17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" y="990599"/>
            <a:ext cx="8534400" cy="56740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905000"/>
            <a:ext cx="320992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600200" y="3276600"/>
            <a:ext cx="6858000" cy="34010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6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181" name="Google Shape;181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800" y="1066800"/>
            <a:ext cx="8151962" cy="533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6"/>
          <p:cNvSpPr/>
          <p:nvPr/>
        </p:nvSpPr>
        <p:spPr>
          <a:xfrm>
            <a:off x="5867400" y="3364468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6"/>
          <p:cNvSpPr/>
          <p:nvPr/>
        </p:nvSpPr>
        <p:spPr>
          <a:xfrm>
            <a:off x="6534603" y="3930134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6"/>
          <p:cNvSpPr/>
          <p:nvPr/>
        </p:nvSpPr>
        <p:spPr>
          <a:xfrm>
            <a:off x="6553200" y="4495800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6"/>
          <p:cNvSpPr/>
          <p:nvPr/>
        </p:nvSpPr>
        <p:spPr>
          <a:xfrm>
            <a:off x="5867400" y="5105400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6"/>
          <p:cNvSpPr/>
          <p:nvPr/>
        </p:nvSpPr>
        <p:spPr>
          <a:xfrm>
            <a:off x="6544537" y="5562600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193" name="Google Shape;19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1524000"/>
            <a:ext cx="7086600" cy="4972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65217" y="3429000"/>
            <a:ext cx="11430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57600" y="3810000"/>
            <a:ext cx="9144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895600" y="5257800"/>
            <a:ext cx="933450" cy="295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14800" y="4495800"/>
            <a:ext cx="11430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981200" y="5943600"/>
            <a:ext cx="876300" cy="390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8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205" name="Google Shape;205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800" y="1066800"/>
            <a:ext cx="8610600" cy="556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9634" y="2590800"/>
            <a:ext cx="8118566" cy="259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9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/>
              <a:t>1.2.1 – Data transmission</a:t>
            </a:r>
            <a:endParaRPr/>
          </a:p>
        </p:txBody>
      </p:sp>
      <p:pic>
        <p:nvPicPr>
          <p:cNvPr id="213" name="Google Shape;213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1066800"/>
            <a:ext cx="8348202" cy="533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1999" y="3048000"/>
            <a:ext cx="7783551" cy="243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0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/>
              <a:t>1.2.1 – Data transmission</a:t>
            </a:r>
            <a:endParaRPr/>
          </a:p>
        </p:txBody>
      </p:sp>
      <p:pic>
        <p:nvPicPr>
          <p:cNvPr id="221" name="Google Shape;221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3900" y="1143000"/>
            <a:ext cx="7696200" cy="542705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71600" y="2133600"/>
            <a:ext cx="4419600" cy="78393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14400" y="3856529"/>
            <a:ext cx="7505700" cy="1835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371600" y="6161700"/>
            <a:ext cx="4086225" cy="5929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1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/>
              <a:t>1.2.1 – Data transmission</a:t>
            </a:r>
            <a:endParaRPr/>
          </a:p>
        </p:txBody>
      </p:sp>
      <p:pic>
        <p:nvPicPr>
          <p:cNvPr id="231" name="Google Shape;231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966787"/>
            <a:ext cx="8458200" cy="5627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00200" y="2128838"/>
            <a:ext cx="4371975" cy="86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567543" y="3733800"/>
            <a:ext cx="6610350" cy="90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567543" y="5257800"/>
            <a:ext cx="6205008" cy="99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2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/>
              <a:t>1.2.1 – Data transmission</a:t>
            </a:r>
            <a:endParaRPr/>
          </a:p>
        </p:txBody>
      </p:sp>
      <p:pic>
        <p:nvPicPr>
          <p:cNvPr id="241" name="Google Shape;24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800" y="1066800"/>
            <a:ext cx="8610600" cy="54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45177" y="1828800"/>
            <a:ext cx="4087091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27909" y="3820205"/>
            <a:ext cx="6858000" cy="39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3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82188" y="4953000"/>
            <a:ext cx="6971212" cy="9506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3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sz="2400"/>
              <a:t>1.2.1 - Data transmission - SERIAL-DUPLEX-SIMPLEX</a:t>
            </a:r>
            <a:endParaRPr/>
          </a:p>
        </p:txBody>
      </p:sp>
      <p:pic>
        <p:nvPicPr>
          <p:cNvPr id="251" name="Google Shape;251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800" y="1143000"/>
            <a:ext cx="8406946" cy="5410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52" name="Google Shape;252;p33"/>
          <p:cNvCxnSpPr/>
          <p:nvPr/>
        </p:nvCxnSpPr>
        <p:spPr>
          <a:xfrm>
            <a:off x="2133600" y="2819400"/>
            <a:ext cx="2209800" cy="2971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253" name="Google Shape;253;p33"/>
          <p:cNvCxnSpPr/>
          <p:nvPr/>
        </p:nvCxnSpPr>
        <p:spPr>
          <a:xfrm flipH="1" rot="10800000">
            <a:off x="2095500" y="2743200"/>
            <a:ext cx="2247900" cy="1371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254" name="Google Shape;254;p33"/>
          <p:cNvCxnSpPr/>
          <p:nvPr/>
        </p:nvCxnSpPr>
        <p:spPr>
          <a:xfrm flipH="1" rot="10800000">
            <a:off x="2114550" y="4267200"/>
            <a:ext cx="2247900" cy="1371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4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260" name="Google Shape;260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800" y="1066800"/>
            <a:ext cx="8541840" cy="533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200" y="2286000"/>
            <a:ext cx="73152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19200" y="5181600"/>
            <a:ext cx="6569841" cy="99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5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269" name="Google Shape;26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295400"/>
            <a:ext cx="8477749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43000" y="2528887"/>
            <a:ext cx="7013070" cy="1890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6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sz="2400"/>
              <a:t>1.2.1 - Data transmission - SERIAL-DUPLEX-SIMPLEX</a:t>
            </a:r>
            <a:endParaRPr/>
          </a:p>
        </p:txBody>
      </p:sp>
      <p:pic>
        <p:nvPicPr>
          <p:cNvPr id="276" name="Google Shape;276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800" y="1143000"/>
            <a:ext cx="8363510" cy="52578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36"/>
          <p:cNvSpPr/>
          <p:nvPr/>
        </p:nvSpPr>
        <p:spPr>
          <a:xfrm>
            <a:off x="5867400" y="3310235"/>
            <a:ext cx="42672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24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36"/>
          <p:cNvSpPr/>
          <p:nvPr/>
        </p:nvSpPr>
        <p:spPr>
          <a:xfrm>
            <a:off x="4837612" y="4114800"/>
            <a:ext cx="42672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24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36"/>
          <p:cNvSpPr/>
          <p:nvPr/>
        </p:nvSpPr>
        <p:spPr>
          <a:xfrm>
            <a:off x="4872446" y="5181600"/>
            <a:ext cx="42672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24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7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285" name="Google Shape;285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800" y="1143000"/>
            <a:ext cx="8396748" cy="5181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37"/>
          <p:cNvSpPr/>
          <p:nvPr/>
        </p:nvSpPr>
        <p:spPr>
          <a:xfrm>
            <a:off x="6324600" y="3276600"/>
            <a:ext cx="42672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24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7"/>
          <p:cNvSpPr/>
          <p:nvPr/>
        </p:nvSpPr>
        <p:spPr>
          <a:xfrm>
            <a:off x="3962400" y="4110335"/>
            <a:ext cx="42672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24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37"/>
          <p:cNvSpPr/>
          <p:nvPr/>
        </p:nvSpPr>
        <p:spPr>
          <a:xfrm>
            <a:off x="5059680" y="5177135"/>
            <a:ext cx="42672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24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8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 sz="2800"/>
          </a:p>
        </p:txBody>
      </p:sp>
      <p:pic>
        <p:nvPicPr>
          <p:cNvPr id="294" name="Google Shape;294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800" y="1066799"/>
            <a:ext cx="8610600" cy="5553649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38"/>
          <p:cNvSpPr/>
          <p:nvPr/>
        </p:nvSpPr>
        <p:spPr>
          <a:xfrm>
            <a:off x="3962400" y="2875002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8"/>
          <p:cNvSpPr/>
          <p:nvPr/>
        </p:nvSpPr>
        <p:spPr>
          <a:xfrm>
            <a:off x="5867400" y="3352800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00200" y="4267200"/>
            <a:ext cx="6934200" cy="198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9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9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303" name="Google Shape;303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2605" y="1219200"/>
            <a:ext cx="8218790" cy="5257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39"/>
          <p:cNvSpPr/>
          <p:nvPr/>
        </p:nvSpPr>
        <p:spPr>
          <a:xfrm>
            <a:off x="7406594" y="3074124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9"/>
          <p:cNvSpPr/>
          <p:nvPr/>
        </p:nvSpPr>
        <p:spPr>
          <a:xfrm>
            <a:off x="7391400" y="3745468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39"/>
          <p:cNvSpPr/>
          <p:nvPr/>
        </p:nvSpPr>
        <p:spPr>
          <a:xfrm>
            <a:off x="7406594" y="4355068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39"/>
          <p:cNvSpPr/>
          <p:nvPr/>
        </p:nvSpPr>
        <p:spPr>
          <a:xfrm>
            <a:off x="6644594" y="4964668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39"/>
          <p:cNvSpPr/>
          <p:nvPr/>
        </p:nvSpPr>
        <p:spPr>
          <a:xfrm>
            <a:off x="7384869" y="5630875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0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314" name="Google Shape;314;p40"/>
          <p:cNvPicPr preferRelativeResize="0"/>
          <p:nvPr/>
        </p:nvPicPr>
        <p:blipFill rotWithShape="1">
          <a:blip r:embed="rId3">
            <a:alphaModFix/>
          </a:blip>
          <a:srcRect b="23302" l="0" r="0" t="0"/>
          <a:stretch/>
        </p:blipFill>
        <p:spPr>
          <a:xfrm>
            <a:off x="76200" y="914400"/>
            <a:ext cx="8713337" cy="450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04205" y="1752600"/>
            <a:ext cx="1457325" cy="8278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52800" y="3276600"/>
            <a:ext cx="2276475" cy="51431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4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505200" y="4572000"/>
            <a:ext cx="1395332" cy="63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1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324" name="Google Shape;324;p41"/>
          <p:cNvPicPr preferRelativeResize="0"/>
          <p:nvPr/>
        </p:nvPicPr>
        <p:blipFill rotWithShape="1">
          <a:blip r:embed="rId3">
            <a:alphaModFix/>
          </a:blip>
          <a:srcRect b="0" l="0" r="0" t="76030"/>
          <a:stretch/>
        </p:blipFill>
        <p:spPr>
          <a:xfrm>
            <a:off x="381000" y="1447800"/>
            <a:ext cx="8132449" cy="3657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590800" y="2399211"/>
            <a:ext cx="3810000" cy="1254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4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52440" y="3886199"/>
            <a:ext cx="3748360" cy="15309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42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332" name="Google Shape;332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800" y="1066800"/>
            <a:ext cx="8534400" cy="54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71599" y="2667000"/>
            <a:ext cx="6695607" cy="99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4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524000" y="4419600"/>
            <a:ext cx="6477000" cy="16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43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340" name="Google Shape;340;p43"/>
          <p:cNvPicPr preferRelativeResize="0"/>
          <p:nvPr/>
        </p:nvPicPr>
        <p:blipFill rotWithShape="1">
          <a:blip r:embed="rId3">
            <a:alphaModFix/>
          </a:blip>
          <a:srcRect b="4792" l="0" r="0" t="0"/>
          <a:stretch/>
        </p:blipFill>
        <p:spPr>
          <a:xfrm>
            <a:off x="381000" y="1095374"/>
            <a:ext cx="8392772" cy="43257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4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3977504"/>
            <a:ext cx="7905750" cy="1114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p4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905000" y="2743200"/>
            <a:ext cx="1066800" cy="4156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44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 sz="2800"/>
          </a:p>
        </p:txBody>
      </p:sp>
      <p:pic>
        <p:nvPicPr>
          <p:cNvPr id="348" name="Google Shape;348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" y="990600"/>
            <a:ext cx="8686800" cy="5772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49" name="Google Shape;349;p44"/>
          <p:cNvCxnSpPr/>
          <p:nvPr/>
        </p:nvCxnSpPr>
        <p:spPr>
          <a:xfrm>
            <a:off x="2438400" y="1676400"/>
            <a:ext cx="2133600" cy="2200275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350" name="Google Shape;350;p44"/>
          <p:cNvCxnSpPr/>
          <p:nvPr/>
        </p:nvCxnSpPr>
        <p:spPr>
          <a:xfrm flipH="1" rot="10800000">
            <a:off x="2438400" y="1371600"/>
            <a:ext cx="2133600" cy="1457325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351" name="Google Shape;351;p44"/>
          <p:cNvCxnSpPr/>
          <p:nvPr/>
        </p:nvCxnSpPr>
        <p:spPr>
          <a:xfrm flipH="1" rot="10800000">
            <a:off x="2438400" y="3048000"/>
            <a:ext cx="2133600" cy="828676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352" name="Google Shape;352;p44"/>
          <p:cNvCxnSpPr/>
          <p:nvPr/>
        </p:nvCxnSpPr>
        <p:spPr>
          <a:xfrm>
            <a:off x="2438400" y="5029200"/>
            <a:ext cx="2096589" cy="1303292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353" name="Google Shape;353;p44"/>
          <p:cNvCxnSpPr/>
          <p:nvPr/>
        </p:nvCxnSpPr>
        <p:spPr>
          <a:xfrm flipH="1" rot="10800000">
            <a:off x="2401389" y="5410200"/>
            <a:ext cx="2133600" cy="828676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5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359" name="Google Shape;359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1209675"/>
            <a:ext cx="8305800" cy="45965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60" name="Google Shape;360;p4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71600" y="2209800"/>
            <a:ext cx="5038725" cy="885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4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600200" y="4343400"/>
            <a:ext cx="4133850" cy="1381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46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367" name="Google Shape;367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459" y="1066800"/>
            <a:ext cx="8349082" cy="541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4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200" y="3352800"/>
            <a:ext cx="7391400" cy="2209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4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66800" y="2209800"/>
            <a:ext cx="1285875" cy="33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47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 sz="2800"/>
          </a:p>
        </p:txBody>
      </p:sp>
      <p:pic>
        <p:nvPicPr>
          <p:cNvPr id="375" name="Google Shape;375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" y="1066800"/>
            <a:ext cx="8458200" cy="550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47800" y="2057400"/>
            <a:ext cx="69532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4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905000" y="2895600"/>
            <a:ext cx="617220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4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590675" y="6210274"/>
            <a:ext cx="1104900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48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 sz="2800"/>
          </a:p>
        </p:txBody>
      </p:sp>
      <p:pic>
        <p:nvPicPr>
          <p:cNvPr id="384" name="Google Shape;384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" y="990600"/>
            <a:ext cx="8686800" cy="566970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48"/>
          <p:cNvSpPr/>
          <p:nvPr/>
        </p:nvSpPr>
        <p:spPr>
          <a:xfrm>
            <a:off x="5730194" y="2971800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48"/>
          <p:cNvSpPr/>
          <p:nvPr/>
        </p:nvSpPr>
        <p:spPr>
          <a:xfrm>
            <a:off x="8153400" y="2743200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48"/>
          <p:cNvSpPr/>
          <p:nvPr/>
        </p:nvSpPr>
        <p:spPr>
          <a:xfrm>
            <a:off x="5730194" y="3954475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48"/>
          <p:cNvSpPr/>
          <p:nvPr/>
        </p:nvSpPr>
        <p:spPr>
          <a:xfrm>
            <a:off x="8077200" y="3938448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48"/>
          <p:cNvSpPr/>
          <p:nvPr/>
        </p:nvSpPr>
        <p:spPr>
          <a:xfrm>
            <a:off x="5730194" y="5802868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48"/>
          <p:cNvSpPr/>
          <p:nvPr/>
        </p:nvSpPr>
        <p:spPr>
          <a:xfrm>
            <a:off x="8092394" y="5498068"/>
            <a:ext cx="36580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✔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9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396" name="Google Shape;396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800" y="1143000"/>
            <a:ext cx="8229600" cy="266850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4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1828800"/>
            <a:ext cx="7086600" cy="14645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50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403" name="Google Shape;403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1219198"/>
            <a:ext cx="8305800" cy="5491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5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81400" y="1752600"/>
            <a:ext cx="4619625" cy="800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5" name="Google Shape;405;p5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0" y="2790825"/>
            <a:ext cx="3200400" cy="63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6" name="Google Shape;406;p5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044201" y="4724400"/>
            <a:ext cx="3810000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5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050732" y="5791200"/>
            <a:ext cx="5119688" cy="616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51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1.2.1 - Data transmission - SERIAL-DUPLEX-SIMPLEX</a:t>
            </a:r>
            <a:endParaRPr/>
          </a:p>
        </p:txBody>
      </p:sp>
      <p:pic>
        <p:nvPicPr>
          <p:cNvPr id="413" name="Google Shape;413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800" y="1066800"/>
            <a:ext cx="8382000" cy="46771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4" name="Google Shape;414;p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42999" y="1600200"/>
            <a:ext cx="3429001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5" name="Google Shape;415;p5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524000" y="2971800"/>
            <a:ext cx="6324600" cy="236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2"/>
          <p:cNvSpPr txBox="1"/>
          <p:nvPr>
            <p:ph type="title"/>
          </p:nvPr>
        </p:nvSpPr>
        <p:spPr>
          <a:xfrm>
            <a:off x="195491" y="94124"/>
            <a:ext cx="883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/>
              <a:t>Copyright</a:t>
            </a:r>
            <a:endParaRPr sz="2800"/>
          </a:p>
        </p:txBody>
      </p:sp>
      <p:sp>
        <p:nvSpPr>
          <p:cNvPr id="421" name="Google Shape;421;p52"/>
          <p:cNvSpPr/>
          <p:nvPr/>
        </p:nvSpPr>
        <p:spPr>
          <a:xfrm>
            <a:off x="228600" y="1066800"/>
            <a:ext cx="8686800" cy="563231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resource has been created with the help of exam questions from IGCSE Computer Science CIE.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All exam questions come from: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https://www.cambridgeinternational.org/programmes-and-qualifications/cambridge-igcse-computer-science-0478/</a:t>
            </a:r>
            <a:r>
              <a:rPr b="1"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Mr Suffar</a:t>
            </a:r>
            <a:endParaRPr b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