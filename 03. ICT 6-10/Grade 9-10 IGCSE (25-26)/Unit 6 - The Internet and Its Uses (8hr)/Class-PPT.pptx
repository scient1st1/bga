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3716000" cx="2437765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Lato Light"/>
      <p:regular r:id="rId22"/>
      <p:bold r:id="rId23"/>
      <p:italic r:id="rId24"/>
      <p:boldItalic r:id="rId25"/>
    </p:embeddedFont>
    <p:embeddedFont>
      <p:font typeface="Poppins Medium"/>
      <p:regular r:id="rId26"/>
      <p:bold r:id="rId27"/>
      <p:italic r:id="rId28"/>
      <p:boldItalic r:id="rId29"/>
    </p:embeddedFont>
    <p:embeddedFont>
      <p:font typeface="Open Sans Light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958">
          <p15:clr>
            <a:srgbClr val="A4A3A4"/>
          </p15:clr>
        </p15:guide>
        <p15:guide id="2" orient="horz" pos="480">
          <p15:clr>
            <a:srgbClr val="A4A3A4"/>
          </p15:clr>
        </p15:guide>
        <p15:guide id="3" pos="14398">
          <p15:clr>
            <a:srgbClr val="A4A3A4"/>
          </p15:clr>
        </p15:guide>
        <p15:guide id="4" orient="horz" pos="8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958"/>
        <p:guide pos="480" orient="horz"/>
        <p:guide pos="14398"/>
        <p:guide pos="8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LatoLight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Light-italic.fntdata"/><Relationship Id="rId23" Type="http://schemas.openxmlformats.org/officeDocument/2006/relationships/font" Target="fonts/Lato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Medium-regular.fntdata"/><Relationship Id="rId25" Type="http://schemas.openxmlformats.org/officeDocument/2006/relationships/font" Target="fonts/LatoLight-boldItalic.fntdata"/><Relationship Id="rId28" Type="http://schemas.openxmlformats.org/officeDocument/2006/relationships/font" Target="fonts/PoppinsMedium-italic.fntdata"/><Relationship Id="rId27" Type="http://schemas.openxmlformats.org/officeDocument/2006/relationships/font" Target="fonts/Poppins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Light-bold.fntdata"/><Relationship Id="rId30" Type="http://schemas.openxmlformats.org/officeDocument/2006/relationships/font" Target="fonts/OpenSansLight-regular.fntdata"/><Relationship Id="rId11" Type="http://schemas.openxmlformats.org/officeDocument/2006/relationships/slide" Target="slides/slide6.xml"/><Relationship Id="rId33" Type="http://schemas.openxmlformats.org/officeDocument/2006/relationships/font" Target="fonts/OpenSansLight-boldItalic.fntdata"/><Relationship Id="rId10" Type="http://schemas.openxmlformats.org/officeDocument/2006/relationships/slide" Target="slides/slide5.xml"/><Relationship Id="rId32" Type="http://schemas.openxmlformats.org/officeDocument/2006/relationships/font" Target="fonts/OpenSansLigh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1675964" y="730251"/>
            <a:ext cx="21025723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Slide">
  <p:cSld name="Default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22137628" y="738460"/>
            <a:ext cx="701749" cy="701749"/>
          </a:xfrm>
          <a:prstGeom prst="ellipse">
            <a:avLst/>
          </a:prstGeom>
          <a:solidFill>
            <a:srgbClr val="FFD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1675964" y="730251"/>
            <a:ext cx="21025723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798"/>
              <a:buFont typeface="Poppins"/>
              <a:buNone/>
              <a:defRPr b="1" i="0" sz="8798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5599"/>
              <a:buFont typeface="Arial"/>
              <a:buNone/>
              <a:defRPr b="0" i="0" sz="5599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799"/>
              <a:buFont typeface="Arial"/>
              <a:buNone/>
              <a:defRPr b="0" i="0" sz="4799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999"/>
              <a:buFont typeface="Arial"/>
              <a:buNone/>
              <a:defRPr b="0" i="0" sz="3999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Arial"/>
              <a:buNone/>
              <a:defRPr b="0" i="0" sz="3599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Arial"/>
              <a:buNone/>
              <a:defRPr b="0" i="0" sz="3599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-457136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Arial"/>
              <a:buChar char="•"/>
              <a:defRPr b="0" i="0" sz="35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57136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Arial"/>
              <a:buChar char="•"/>
              <a:defRPr b="0" i="0" sz="35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57136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Arial"/>
              <a:buChar char="•"/>
              <a:defRPr b="0" i="0" sz="35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57136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Arial"/>
              <a:buChar char="•"/>
              <a:defRPr b="0" i="0" sz="35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/>
          <p:nvPr/>
        </p:nvSpPr>
        <p:spPr>
          <a:xfrm>
            <a:off x="22137628" y="719470"/>
            <a:ext cx="731520" cy="73152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‹#›</a:t>
            </a:fld>
            <a:endParaRPr b="0" i="0" sz="28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480">
          <p15:clr>
            <a:srgbClr val="A4A3A4"/>
          </p15:clr>
        </p15:guide>
        <p15:guide id="2" pos="14398">
          <p15:clr>
            <a:srgbClr val="A4A3A4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1892532" y="4523874"/>
            <a:ext cx="21025723" cy="4632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500"/>
              <a:buFont typeface="Poppins"/>
              <a:buNone/>
            </a:pPr>
            <a:r>
              <a:rPr lang="en-US" sz="23500"/>
              <a:t>1</a:t>
            </a:r>
            <a:br>
              <a:rPr lang="en-US" sz="11300"/>
            </a:br>
            <a:br>
              <a:rPr lang="en-US" sz="11300"/>
            </a:br>
            <a:r>
              <a:rPr lang="en-US" sz="11300">
                <a:solidFill>
                  <a:srgbClr val="0070C0"/>
                </a:solidFill>
              </a:rPr>
              <a:t>Kahoot link: </a:t>
            </a:r>
            <a:r>
              <a:rPr lang="en-US" sz="11300"/>
              <a:t> https://create.kahoot.it/share/y10-sol-5-learning-objective-1/d6565895-728f-4700-8fec-9d20f32aa597</a:t>
            </a:r>
            <a:endParaRPr/>
          </a:p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/>
        </p:nvSpPr>
        <p:spPr>
          <a:xfrm>
            <a:off x="3188675" y="2223914"/>
            <a:ext cx="18102885" cy="2719206"/>
          </a:xfrm>
          <a:prstGeom prst="rect">
            <a:avLst/>
          </a:prstGeom>
          <a:solidFill>
            <a:srgbClr val="FFF5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u="sng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Easy Task</a:t>
            </a:r>
            <a:endParaRPr sz="6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How</a:t>
            </a:r>
            <a:r>
              <a:rPr lang="en-US" sz="60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 does an interpreter </a:t>
            </a:r>
            <a:r>
              <a:rPr lang="en-US" sz="6000">
                <a:solidFill>
                  <a:srgbClr val="7030A0"/>
                </a:solidFill>
                <a:latin typeface="Lato Light"/>
                <a:ea typeface="Lato Light"/>
                <a:cs typeface="Lato Light"/>
                <a:sym typeface="Lato Light"/>
              </a:rPr>
              <a:t>differ</a:t>
            </a:r>
            <a:r>
              <a:rPr lang="en-US" sz="60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 from a compiler?</a:t>
            </a:r>
            <a:endParaRPr/>
          </a:p>
        </p:txBody>
      </p:sp>
      <p:sp>
        <p:nvSpPr>
          <p:cNvPr id="34" name="Google Shape;34;p6"/>
          <p:cNvSpPr txBox="1"/>
          <p:nvPr/>
        </p:nvSpPr>
        <p:spPr>
          <a:xfrm>
            <a:off x="3188676" y="182106"/>
            <a:ext cx="18102885" cy="1871603"/>
          </a:xfrm>
          <a:prstGeom prst="rect">
            <a:avLst/>
          </a:prstGeom>
          <a:solidFill>
            <a:srgbClr val="D2EEF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lang="en-US" sz="4000" u="sng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Starter Activity</a:t>
            </a:r>
            <a:endParaRPr b="1" sz="3200" u="sng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 u="sng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Instructions</a:t>
            </a:r>
            <a:r>
              <a:rPr b="1" lang="en-US" sz="3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: Complete the tasks below one by one in TEAMS</a:t>
            </a:r>
            <a:endParaRPr b="1" sz="4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5" name="Google Shape;35;p6"/>
          <p:cNvSpPr txBox="1"/>
          <p:nvPr/>
        </p:nvSpPr>
        <p:spPr>
          <a:xfrm>
            <a:off x="3188675" y="5132239"/>
            <a:ext cx="18102885" cy="3965701"/>
          </a:xfrm>
          <a:prstGeom prst="rect">
            <a:avLst/>
          </a:prstGeom>
          <a:solidFill>
            <a:srgbClr val="DEF8E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 u="sng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Average Task</a:t>
            </a:r>
            <a:endParaRPr sz="5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Compare</a:t>
            </a:r>
            <a:r>
              <a:rPr lang="en-US" sz="60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  <a:r>
              <a:rPr lang="en-US" sz="60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the</a:t>
            </a:r>
            <a:r>
              <a:rPr lang="en-US" sz="60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  <a:r>
              <a:rPr lang="en-US" sz="6000">
                <a:solidFill>
                  <a:srgbClr val="7030A0"/>
                </a:solidFill>
                <a:latin typeface="Lato Light"/>
                <a:ea typeface="Lato Light"/>
                <a:cs typeface="Lato Light"/>
                <a:sym typeface="Lato Light"/>
              </a:rPr>
              <a:t>ease of use </a:t>
            </a:r>
            <a:r>
              <a:rPr lang="en-US" sz="60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between high-level and low-level languages</a:t>
            </a:r>
            <a:endParaRPr/>
          </a:p>
        </p:txBody>
      </p:sp>
      <p:sp>
        <p:nvSpPr>
          <p:cNvPr id="36" name="Google Shape;36;p6"/>
          <p:cNvSpPr txBox="1"/>
          <p:nvPr/>
        </p:nvSpPr>
        <p:spPr>
          <a:xfrm>
            <a:off x="3188675" y="9287059"/>
            <a:ext cx="18102886" cy="4366901"/>
          </a:xfrm>
          <a:prstGeom prst="rect">
            <a:avLst/>
          </a:prstGeom>
          <a:solidFill>
            <a:srgbClr val="FFE39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u="sng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Challenge Task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Describe</a:t>
            </a:r>
            <a:r>
              <a:rPr lang="en-US" sz="66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  <a:r>
              <a:rPr lang="en-US" sz="6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the</a:t>
            </a:r>
            <a:r>
              <a:rPr lang="en-US" sz="66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  <a:r>
              <a:rPr lang="en-US" sz="6600">
                <a:solidFill>
                  <a:srgbClr val="7030A0"/>
                </a:solidFill>
                <a:latin typeface="Lato Light"/>
                <a:ea typeface="Lato Light"/>
                <a:cs typeface="Lato Light"/>
                <a:sym typeface="Lato Light"/>
              </a:rPr>
              <a:t>difference </a:t>
            </a:r>
            <a:r>
              <a:rPr lang="en-US" sz="6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between hardware and software interrupts.</a:t>
            </a:r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/>
          <p:nvPr/>
        </p:nvSpPr>
        <p:spPr>
          <a:xfrm>
            <a:off x="12615748" y="0"/>
            <a:ext cx="11761902" cy="13716000"/>
          </a:xfrm>
          <a:custGeom>
            <a:rect b="b" l="l" r="r" t="t"/>
            <a:pathLst>
              <a:path extrusionOk="0" h="15172" w="15172">
                <a:moveTo>
                  <a:pt x="15171" y="15171"/>
                </a:moveTo>
                <a:lnTo>
                  <a:pt x="0" y="15171"/>
                </a:lnTo>
                <a:lnTo>
                  <a:pt x="0" y="0"/>
                </a:lnTo>
                <a:lnTo>
                  <a:pt x="15171" y="0"/>
                </a:lnTo>
                <a:lnTo>
                  <a:pt x="15171" y="15171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" name="Google Shape;42;p7"/>
          <p:cNvSpPr txBox="1"/>
          <p:nvPr/>
        </p:nvSpPr>
        <p:spPr>
          <a:xfrm>
            <a:off x="1186029" y="1085192"/>
            <a:ext cx="10566718" cy="64633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Year 10 GCSE: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Computer Science</a:t>
            </a:r>
            <a:endParaRPr b="1" sz="9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" name="Google Shape;43;p7"/>
          <p:cNvSpPr txBox="1"/>
          <p:nvPr/>
        </p:nvSpPr>
        <p:spPr>
          <a:xfrm>
            <a:off x="1186029" y="7662707"/>
            <a:ext cx="10763192" cy="4409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415D79"/>
                </a:solidFill>
                <a:latin typeface="Poppins"/>
                <a:ea typeface="Poppins"/>
                <a:cs typeface="Poppins"/>
                <a:sym typeface="Poppins"/>
              </a:rPr>
              <a:t>Unit 5 of 6: The Internet and its Uses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415D79"/>
                </a:solidFill>
                <a:latin typeface="Poppins"/>
                <a:ea typeface="Poppins"/>
                <a:cs typeface="Poppins"/>
                <a:sym typeface="Poppins"/>
              </a:rPr>
              <a:t>Topic 1: The internet and the WWW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415D79"/>
                </a:solidFill>
                <a:latin typeface="Poppins"/>
                <a:ea typeface="Poppins"/>
                <a:cs typeface="Poppins"/>
                <a:sym typeface="Poppins"/>
              </a:rPr>
              <a:t>Topic 2: Digital Currency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415D79"/>
                </a:solidFill>
                <a:latin typeface="Poppins"/>
                <a:ea typeface="Poppins"/>
                <a:cs typeface="Poppins"/>
                <a:sym typeface="Poppins"/>
              </a:rPr>
              <a:t>Topic 3: Cyber security</a:t>
            </a:r>
            <a:endParaRPr/>
          </a:p>
        </p:txBody>
      </p:sp>
      <p:sp>
        <p:nvSpPr>
          <p:cNvPr id="44" name="Google Shape;44;p7"/>
          <p:cNvSpPr/>
          <p:nvPr/>
        </p:nvSpPr>
        <p:spPr>
          <a:xfrm>
            <a:off x="13282275" y="1103796"/>
            <a:ext cx="10428848" cy="11508407"/>
          </a:xfrm>
          <a:custGeom>
            <a:rect b="b" l="l" r="r" t="t"/>
            <a:pathLst>
              <a:path extrusionOk="0" h="9130576" w="8776827">
                <a:moveTo>
                  <a:pt x="0" y="0"/>
                </a:moveTo>
                <a:cubicBezTo>
                  <a:pt x="280911" y="13334"/>
                  <a:pt x="303180" y="-953"/>
                  <a:pt x="587372" y="0"/>
                </a:cubicBezTo>
                <a:cubicBezTo>
                  <a:pt x="871564" y="953"/>
                  <a:pt x="800350" y="6090"/>
                  <a:pt x="999208" y="0"/>
                </a:cubicBezTo>
                <a:cubicBezTo>
                  <a:pt x="1198066" y="-6090"/>
                  <a:pt x="1425755" y="36116"/>
                  <a:pt x="1849885" y="0"/>
                </a:cubicBezTo>
                <a:cubicBezTo>
                  <a:pt x="2274015" y="-36116"/>
                  <a:pt x="2222520" y="29011"/>
                  <a:pt x="2437257" y="0"/>
                </a:cubicBezTo>
                <a:cubicBezTo>
                  <a:pt x="2651994" y="-29011"/>
                  <a:pt x="2778495" y="19386"/>
                  <a:pt x="3024630" y="0"/>
                </a:cubicBezTo>
                <a:cubicBezTo>
                  <a:pt x="3270765" y="-19386"/>
                  <a:pt x="3527267" y="-7171"/>
                  <a:pt x="3875307" y="0"/>
                </a:cubicBezTo>
                <a:cubicBezTo>
                  <a:pt x="4223347" y="7171"/>
                  <a:pt x="4166503" y="-9317"/>
                  <a:pt x="4374911" y="0"/>
                </a:cubicBezTo>
                <a:cubicBezTo>
                  <a:pt x="4583319" y="9317"/>
                  <a:pt x="4879084" y="-23955"/>
                  <a:pt x="5225588" y="0"/>
                </a:cubicBezTo>
                <a:cubicBezTo>
                  <a:pt x="5572092" y="23955"/>
                  <a:pt x="5874540" y="-9521"/>
                  <a:pt x="6076265" y="0"/>
                </a:cubicBezTo>
                <a:cubicBezTo>
                  <a:pt x="6277990" y="9521"/>
                  <a:pt x="6612510" y="27926"/>
                  <a:pt x="6751405" y="0"/>
                </a:cubicBezTo>
                <a:cubicBezTo>
                  <a:pt x="6890300" y="-27926"/>
                  <a:pt x="7425688" y="19764"/>
                  <a:pt x="7602082" y="0"/>
                </a:cubicBezTo>
                <a:cubicBezTo>
                  <a:pt x="7778476" y="-19764"/>
                  <a:pt x="7970820" y="8455"/>
                  <a:pt x="8189455" y="0"/>
                </a:cubicBezTo>
                <a:cubicBezTo>
                  <a:pt x="8408090" y="-8455"/>
                  <a:pt x="8586466" y="4676"/>
                  <a:pt x="8776827" y="0"/>
                </a:cubicBezTo>
                <a:cubicBezTo>
                  <a:pt x="8770292" y="349883"/>
                  <a:pt x="8741022" y="531333"/>
                  <a:pt x="8776827" y="743490"/>
                </a:cubicBezTo>
                <a:cubicBezTo>
                  <a:pt x="8812633" y="955647"/>
                  <a:pt x="8785529" y="1124382"/>
                  <a:pt x="8776827" y="1395674"/>
                </a:cubicBezTo>
                <a:cubicBezTo>
                  <a:pt x="8768125" y="1666966"/>
                  <a:pt x="8770900" y="1819720"/>
                  <a:pt x="8776827" y="2047858"/>
                </a:cubicBezTo>
                <a:cubicBezTo>
                  <a:pt x="8782754" y="2275996"/>
                  <a:pt x="8792232" y="2610230"/>
                  <a:pt x="8776827" y="2791348"/>
                </a:cubicBezTo>
                <a:cubicBezTo>
                  <a:pt x="8761423" y="2972466"/>
                  <a:pt x="8784919" y="3337375"/>
                  <a:pt x="8776827" y="3534837"/>
                </a:cubicBezTo>
                <a:cubicBezTo>
                  <a:pt x="8768735" y="3732299"/>
                  <a:pt x="8750294" y="4025240"/>
                  <a:pt x="8776827" y="4278327"/>
                </a:cubicBezTo>
                <a:cubicBezTo>
                  <a:pt x="8803361" y="4531414"/>
                  <a:pt x="8774512" y="4573068"/>
                  <a:pt x="8776827" y="4656594"/>
                </a:cubicBezTo>
                <a:cubicBezTo>
                  <a:pt x="8779142" y="4740120"/>
                  <a:pt x="8793977" y="4968035"/>
                  <a:pt x="8776827" y="5126166"/>
                </a:cubicBezTo>
                <a:cubicBezTo>
                  <a:pt x="8759677" y="5284297"/>
                  <a:pt x="8813678" y="5720639"/>
                  <a:pt x="8776827" y="5869656"/>
                </a:cubicBezTo>
                <a:cubicBezTo>
                  <a:pt x="8739977" y="6018673"/>
                  <a:pt x="8788213" y="6293145"/>
                  <a:pt x="8776827" y="6430534"/>
                </a:cubicBezTo>
                <a:cubicBezTo>
                  <a:pt x="8765441" y="6567923"/>
                  <a:pt x="8799326" y="6711596"/>
                  <a:pt x="8776827" y="6900107"/>
                </a:cubicBezTo>
                <a:cubicBezTo>
                  <a:pt x="8754328" y="7088618"/>
                  <a:pt x="8750700" y="7486407"/>
                  <a:pt x="8776827" y="7643596"/>
                </a:cubicBezTo>
                <a:cubicBezTo>
                  <a:pt x="8802954" y="7800785"/>
                  <a:pt x="8751810" y="7976087"/>
                  <a:pt x="8776827" y="8295780"/>
                </a:cubicBezTo>
                <a:cubicBezTo>
                  <a:pt x="8801844" y="8615473"/>
                  <a:pt x="8809621" y="8855047"/>
                  <a:pt x="8776827" y="9130576"/>
                </a:cubicBezTo>
                <a:cubicBezTo>
                  <a:pt x="8371310" y="9151031"/>
                  <a:pt x="8172975" y="9091074"/>
                  <a:pt x="7926150" y="9130576"/>
                </a:cubicBezTo>
                <a:cubicBezTo>
                  <a:pt x="7679325" y="9170078"/>
                  <a:pt x="7414540" y="9145788"/>
                  <a:pt x="7163241" y="9130576"/>
                </a:cubicBezTo>
                <a:cubicBezTo>
                  <a:pt x="6911942" y="9115364"/>
                  <a:pt x="6904804" y="9154547"/>
                  <a:pt x="6663637" y="9130576"/>
                </a:cubicBezTo>
                <a:cubicBezTo>
                  <a:pt x="6422470" y="9106605"/>
                  <a:pt x="6109054" y="9163591"/>
                  <a:pt x="5900728" y="9130576"/>
                </a:cubicBezTo>
                <a:cubicBezTo>
                  <a:pt x="5692402" y="9097561"/>
                  <a:pt x="5645202" y="9150575"/>
                  <a:pt x="5488893" y="9130576"/>
                </a:cubicBezTo>
                <a:cubicBezTo>
                  <a:pt x="5332585" y="9110577"/>
                  <a:pt x="5087692" y="9149840"/>
                  <a:pt x="4725984" y="9130576"/>
                </a:cubicBezTo>
                <a:cubicBezTo>
                  <a:pt x="4364276" y="9111312"/>
                  <a:pt x="4447345" y="9110127"/>
                  <a:pt x="4226380" y="9130576"/>
                </a:cubicBezTo>
                <a:cubicBezTo>
                  <a:pt x="4005415" y="9151025"/>
                  <a:pt x="4005135" y="9143041"/>
                  <a:pt x="3814544" y="9130576"/>
                </a:cubicBezTo>
                <a:cubicBezTo>
                  <a:pt x="3623953" y="9118111"/>
                  <a:pt x="3554213" y="9111234"/>
                  <a:pt x="3314940" y="9130576"/>
                </a:cubicBezTo>
                <a:cubicBezTo>
                  <a:pt x="3075667" y="9149918"/>
                  <a:pt x="2779762" y="9106832"/>
                  <a:pt x="2552031" y="9130576"/>
                </a:cubicBezTo>
                <a:cubicBezTo>
                  <a:pt x="2324300" y="9154320"/>
                  <a:pt x="2291317" y="9132086"/>
                  <a:pt x="2052427" y="9130576"/>
                </a:cubicBezTo>
                <a:cubicBezTo>
                  <a:pt x="1813537" y="9129066"/>
                  <a:pt x="1823321" y="9130360"/>
                  <a:pt x="1640592" y="9130576"/>
                </a:cubicBezTo>
                <a:cubicBezTo>
                  <a:pt x="1457864" y="9130792"/>
                  <a:pt x="1257271" y="9116577"/>
                  <a:pt x="1140988" y="9130576"/>
                </a:cubicBezTo>
                <a:cubicBezTo>
                  <a:pt x="1024705" y="9144575"/>
                  <a:pt x="483831" y="9170044"/>
                  <a:pt x="0" y="9130576"/>
                </a:cubicBezTo>
                <a:cubicBezTo>
                  <a:pt x="7697" y="8843983"/>
                  <a:pt x="17688" y="8676523"/>
                  <a:pt x="0" y="8478392"/>
                </a:cubicBezTo>
                <a:cubicBezTo>
                  <a:pt x="-17688" y="8280261"/>
                  <a:pt x="-4389" y="8022086"/>
                  <a:pt x="0" y="7826208"/>
                </a:cubicBezTo>
                <a:cubicBezTo>
                  <a:pt x="4389" y="7630330"/>
                  <a:pt x="7080" y="7562687"/>
                  <a:pt x="0" y="7356636"/>
                </a:cubicBezTo>
                <a:cubicBezTo>
                  <a:pt x="-7080" y="7150585"/>
                  <a:pt x="-23924" y="6955363"/>
                  <a:pt x="0" y="6704452"/>
                </a:cubicBezTo>
                <a:cubicBezTo>
                  <a:pt x="23924" y="6453541"/>
                  <a:pt x="-15975" y="6229576"/>
                  <a:pt x="0" y="6052268"/>
                </a:cubicBezTo>
                <a:cubicBezTo>
                  <a:pt x="15975" y="5874960"/>
                  <a:pt x="13086" y="5602828"/>
                  <a:pt x="0" y="5400084"/>
                </a:cubicBezTo>
                <a:cubicBezTo>
                  <a:pt x="-13086" y="5197340"/>
                  <a:pt x="-28967" y="5027951"/>
                  <a:pt x="0" y="4747900"/>
                </a:cubicBezTo>
                <a:cubicBezTo>
                  <a:pt x="28967" y="4467849"/>
                  <a:pt x="25180" y="4447355"/>
                  <a:pt x="0" y="4187021"/>
                </a:cubicBezTo>
                <a:cubicBezTo>
                  <a:pt x="-25180" y="3926687"/>
                  <a:pt x="15742" y="3787139"/>
                  <a:pt x="0" y="3443532"/>
                </a:cubicBezTo>
                <a:cubicBezTo>
                  <a:pt x="-15742" y="3099925"/>
                  <a:pt x="-1242" y="3050835"/>
                  <a:pt x="0" y="2791348"/>
                </a:cubicBezTo>
                <a:cubicBezTo>
                  <a:pt x="1242" y="2531861"/>
                  <a:pt x="25035" y="2135600"/>
                  <a:pt x="0" y="1956552"/>
                </a:cubicBezTo>
                <a:cubicBezTo>
                  <a:pt x="-25035" y="1777504"/>
                  <a:pt x="-23023" y="1386343"/>
                  <a:pt x="0" y="1121756"/>
                </a:cubicBezTo>
                <a:cubicBezTo>
                  <a:pt x="23023" y="857169"/>
                  <a:pt x="-42106" y="525896"/>
                  <a:pt x="0" y="0"/>
                </a:cubicBezTo>
                <a:close/>
              </a:path>
            </a:pathLst>
          </a:cu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Starter Questions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86868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Instructions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r>
              <a:rPr lang="en-US" sz="4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the text to the left and </a:t>
            </a:r>
            <a:r>
              <a:rPr lang="en-US" sz="4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answer</a:t>
            </a:r>
            <a:r>
              <a:rPr lang="en-US" sz="4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the questions below.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Questions</a:t>
            </a:r>
            <a:endParaRPr/>
          </a:p>
          <a:p>
            <a:pPr indent="-742950" lvl="0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AutoNum type="arabicPeriod"/>
            </a:pPr>
            <a:r>
              <a:rPr lang="en-US" sz="4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What’s our fifth </a:t>
            </a:r>
            <a:r>
              <a:rPr lang="en-US" sz="4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unit</a:t>
            </a:r>
            <a:r>
              <a:rPr lang="en-US" sz="4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study?</a:t>
            </a:r>
            <a:endParaRPr/>
          </a:p>
          <a:p>
            <a:pPr indent="-742950" lvl="0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AutoNum type="arabicPeriod"/>
            </a:pPr>
            <a:r>
              <a:rPr lang="en-US" sz="4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How many </a:t>
            </a:r>
            <a:r>
              <a:rPr lang="en-US" sz="4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topics</a:t>
            </a:r>
            <a:r>
              <a:rPr lang="en-US" sz="4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are there in this unit?</a:t>
            </a:r>
            <a:endParaRPr/>
          </a:p>
          <a:p>
            <a:pPr indent="-742950" lvl="0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AutoNum type="arabicPeriod"/>
            </a:pPr>
            <a:r>
              <a:rPr lang="en-US" sz="4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What’s the </a:t>
            </a:r>
            <a:r>
              <a:rPr lang="en-US" sz="4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first</a:t>
            </a:r>
            <a:r>
              <a:rPr lang="en-US" sz="4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topic we’re studying?</a:t>
            </a:r>
            <a:endParaRPr sz="4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/>
          <p:nvPr/>
        </p:nvSpPr>
        <p:spPr>
          <a:xfrm>
            <a:off x="12615748" y="0"/>
            <a:ext cx="11761902" cy="13716000"/>
          </a:xfrm>
          <a:custGeom>
            <a:rect b="b" l="l" r="r" t="t"/>
            <a:pathLst>
              <a:path extrusionOk="0" h="15172" w="15172">
                <a:moveTo>
                  <a:pt x="15171" y="15171"/>
                </a:moveTo>
                <a:lnTo>
                  <a:pt x="0" y="15171"/>
                </a:lnTo>
                <a:lnTo>
                  <a:pt x="0" y="0"/>
                </a:lnTo>
                <a:lnTo>
                  <a:pt x="15171" y="0"/>
                </a:lnTo>
                <a:lnTo>
                  <a:pt x="15171" y="15171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" name="Google Shape;50;p8"/>
          <p:cNvSpPr txBox="1"/>
          <p:nvPr/>
        </p:nvSpPr>
        <p:spPr>
          <a:xfrm>
            <a:off x="1186029" y="1085192"/>
            <a:ext cx="10566718" cy="64633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Year 10 GCSE: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Computer Science</a:t>
            </a:r>
            <a:endParaRPr b="1" sz="9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" name="Google Shape;51;p8"/>
          <p:cNvSpPr txBox="1"/>
          <p:nvPr/>
        </p:nvSpPr>
        <p:spPr>
          <a:xfrm>
            <a:off x="1186029" y="7662707"/>
            <a:ext cx="10763192" cy="4409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415D79"/>
                </a:solidFill>
                <a:latin typeface="Poppins"/>
                <a:ea typeface="Poppins"/>
                <a:cs typeface="Poppins"/>
                <a:sym typeface="Poppins"/>
              </a:rPr>
              <a:t>Unit 5 of 6: The Internet and its Uses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415D79"/>
                </a:solidFill>
                <a:latin typeface="Poppins"/>
                <a:ea typeface="Poppins"/>
                <a:cs typeface="Poppins"/>
                <a:sym typeface="Poppins"/>
              </a:rPr>
              <a:t>Topic 1: The internet and the WWW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415D79"/>
                </a:solidFill>
                <a:latin typeface="Poppins"/>
                <a:ea typeface="Poppins"/>
                <a:cs typeface="Poppins"/>
                <a:sym typeface="Poppins"/>
              </a:rPr>
              <a:t>Topic 2: Digital Currency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415D79"/>
                </a:solidFill>
                <a:latin typeface="Poppins"/>
                <a:ea typeface="Poppins"/>
                <a:cs typeface="Poppins"/>
                <a:sym typeface="Poppins"/>
              </a:rPr>
              <a:t>Topic 3: Cyber security</a:t>
            </a:r>
            <a:endParaRPr/>
          </a:p>
        </p:txBody>
      </p:sp>
      <p:sp>
        <p:nvSpPr>
          <p:cNvPr id="52" name="Google Shape;52;p8"/>
          <p:cNvSpPr/>
          <p:nvPr/>
        </p:nvSpPr>
        <p:spPr>
          <a:xfrm>
            <a:off x="13537695" y="1372203"/>
            <a:ext cx="10204048" cy="10971593"/>
          </a:xfrm>
          <a:custGeom>
            <a:rect b="b" l="l" r="r" t="t"/>
            <a:pathLst>
              <a:path extrusionOk="0" fill="none" h="1339726" w="18044903">
                <a:moveTo>
                  <a:pt x="0" y="0"/>
                </a:moveTo>
                <a:cubicBezTo>
                  <a:pt x="72603" y="-5356"/>
                  <a:pt x="86259" y="3921"/>
                  <a:pt x="152688" y="0"/>
                </a:cubicBezTo>
                <a:cubicBezTo>
                  <a:pt x="219117" y="-3921"/>
                  <a:pt x="535621" y="22533"/>
                  <a:pt x="846722" y="0"/>
                </a:cubicBezTo>
                <a:cubicBezTo>
                  <a:pt x="1157823" y="-22533"/>
                  <a:pt x="967617" y="400"/>
                  <a:pt x="999410" y="0"/>
                </a:cubicBezTo>
                <a:cubicBezTo>
                  <a:pt x="1031203" y="-400"/>
                  <a:pt x="1083000" y="-1950"/>
                  <a:pt x="1152098" y="0"/>
                </a:cubicBezTo>
                <a:cubicBezTo>
                  <a:pt x="1221196" y="1950"/>
                  <a:pt x="1439657" y="15980"/>
                  <a:pt x="1665683" y="0"/>
                </a:cubicBezTo>
                <a:cubicBezTo>
                  <a:pt x="1891710" y="-15980"/>
                  <a:pt x="2036370" y="12197"/>
                  <a:pt x="2359718" y="0"/>
                </a:cubicBezTo>
                <a:cubicBezTo>
                  <a:pt x="2683067" y="-12197"/>
                  <a:pt x="2445758" y="-5117"/>
                  <a:pt x="2512406" y="0"/>
                </a:cubicBezTo>
                <a:cubicBezTo>
                  <a:pt x="2579054" y="5117"/>
                  <a:pt x="2962087" y="43606"/>
                  <a:pt x="3386889" y="0"/>
                </a:cubicBezTo>
                <a:cubicBezTo>
                  <a:pt x="3811691" y="-43606"/>
                  <a:pt x="4052910" y="20763"/>
                  <a:pt x="4261373" y="0"/>
                </a:cubicBezTo>
                <a:cubicBezTo>
                  <a:pt x="4469836" y="-20763"/>
                  <a:pt x="4651618" y="-22748"/>
                  <a:pt x="4774959" y="0"/>
                </a:cubicBezTo>
                <a:cubicBezTo>
                  <a:pt x="4898300" y="22748"/>
                  <a:pt x="5418961" y="30760"/>
                  <a:pt x="5829892" y="0"/>
                </a:cubicBezTo>
                <a:cubicBezTo>
                  <a:pt x="6240823" y="-30760"/>
                  <a:pt x="6266258" y="-23696"/>
                  <a:pt x="6523926" y="0"/>
                </a:cubicBezTo>
                <a:cubicBezTo>
                  <a:pt x="6781594" y="23696"/>
                  <a:pt x="6602060" y="655"/>
                  <a:pt x="6676614" y="0"/>
                </a:cubicBezTo>
                <a:cubicBezTo>
                  <a:pt x="6751168" y="-655"/>
                  <a:pt x="7195856" y="17579"/>
                  <a:pt x="7370649" y="0"/>
                </a:cubicBezTo>
                <a:cubicBezTo>
                  <a:pt x="7545442" y="-17579"/>
                  <a:pt x="7735004" y="-15166"/>
                  <a:pt x="7884235" y="0"/>
                </a:cubicBezTo>
                <a:cubicBezTo>
                  <a:pt x="8033466" y="15166"/>
                  <a:pt x="8054789" y="-1240"/>
                  <a:pt x="8217371" y="0"/>
                </a:cubicBezTo>
                <a:cubicBezTo>
                  <a:pt x="8379953" y="1240"/>
                  <a:pt x="8811071" y="19879"/>
                  <a:pt x="9091855" y="0"/>
                </a:cubicBezTo>
                <a:cubicBezTo>
                  <a:pt x="9372639" y="-19879"/>
                  <a:pt x="9697964" y="6853"/>
                  <a:pt x="9966339" y="0"/>
                </a:cubicBezTo>
                <a:cubicBezTo>
                  <a:pt x="10234714" y="-6853"/>
                  <a:pt x="10291006" y="-9999"/>
                  <a:pt x="10479924" y="0"/>
                </a:cubicBezTo>
                <a:cubicBezTo>
                  <a:pt x="10668843" y="9999"/>
                  <a:pt x="10949046" y="-41527"/>
                  <a:pt x="11354408" y="0"/>
                </a:cubicBezTo>
                <a:cubicBezTo>
                  <a:pt x="11759770" y="41527"/>
                  <a:pt x="11622159" y="9742"/>
                  <a:pt x="11867994" y="0"/>
                </a:cubicBezTo>
                <a:cubicBezTo>
                  <a:pt x="12113829" y="-9742"/>
                  <a:pt x="12322284" y="38624"/>
                  <a:pt x="12742478" y="0"/>
                </a:cubicBezTo>
                <a:cubicBezTo>
                  <a:pt x="13162672" y="-38624"/>
                  <a:pt x="12936102" y="-4255"/>
                  <a:pt x="13075614" y="0"/>
                </a:cubicBezTo>
                <a:cubicBezTo>
                  <a:pt x="13215126" y="4255"/>
                  <a:pt x="13423822" y="1838"/>
                  <a:pt x="13589200" y="0"/>
                </a:cubicBezTo>
                <a:cubicBezTo>
                  <a:pt x="13754578" y="-1838"/>
                  <a:pt x="13762600" y="6835"/>
                  <a:pt x="13922337" y="0"/>
                </a:cubicBezTo>
                <a:cubicBezTo>
                  <a:pt x="14082074" y="-6835"/>
                  <a:pt x="14560074" y="40110"/>
                  <a:pt x="14977269" y="0"/>
                </a:cubicBezTo>
                <a:cubicBezTo>
                  <a:pt x="15394464" y="-40110"/>
                  <a:pt x="15093941" y="6150"/>
                  <a:pt x="15129957" y="0"/>
                </a:cubicBezTo>
                <a:cubicBezTo>
                  <a:pt x="15165973" y="-6150"/>
                  <a:pt x="15514052" y="-14837"/>
                  <a:pt x="15643543" y="0"/>
                </a:cubicBezTo>
                <a:cubicBezTo>
                  <a:pt x="15773034" y="14837"/>
                  <a:pt x="15758376" y="6951"/>
                  <a:pt x="15796230" y="0"/>
                </a:cubicBezTo>
                <a:cubicBezTo>
                  <a:pt x="15834084" y="-6951"/>
                  <a:pt x="16394295" y="-27209"/>
                  <a:pt x="16670714" y="0"/>
                </a:cubicBezTo>
                <a:cubicBezTo>
                  <a:pt x="16947133" y="27209"/>
                  <a:pt x="17767869" y="-33735"/>
                  <a:pt x="18044903" y="0"/>
                </a:cubicBezTo>
                <a:cubicBezTo>
                  <a:pt x="18042266" y="193080"/>
                  <a:pt x="18018765" y="467008"/>
                  <a:pt x="18044903" y="629671"/>
                </a:cubicBezTo>
                <a:cubicBezTo>
                  <a:pt x="18071041" y="792334"/>
                  <a:pt x="18035407" y="1011626"/>
                  <a:pt x="18044903" y="1339726"/>
                </a:cubicBezTo>
                <a:cubicBezTo>
                  <a:pt x="17906905" y="1332592"/>
                  <a:pt x="17809864" y="1335833"/>
                  <a:pt x="17711766" y="1339726"/>
                </a:cubicBezTo>
                <a:cubicBezTo>
                  <a:pt x="17613668" y="1343619"/>
                  <a:pt x="16935700" y="1392102"/>
                  <a:pt x="16656834" y="1339726"/>
                </a:cubicBezTo>
                <a:cubicBezTo>
                  <a:pt x="16377968" y="1287350"/>
                  <a:pt x="16092282" y="1316098"/>
                  <a:pt x="15601901" y="1339726"/>
                </a:cubicBezTo>
                <a:cubicBezTo>
                  <a:pt x="15111520" y="1363354"/>
                  <a:pt x="15093790" y="1366802"/>
                  <a:pt x="14907866" y="1339726"/>
                </a:cubicBezTo>
                <a:cubicBezTo>
                  <a:pt x="14721942" y="1312650"/>
                  <a:pt x="14504814" y="1317345"/>
                  <a:pt x="14394280" y="1339726"/>
                </a:cubicBezTo>
                <a:cubicBezTo>
                  <a:pt x="14283746" y="1362107"/>
                  <a:pt x="14144545" y="1349072"/>
                  <a:pt x="14061144" y="1339726"/>
                </a:cubicBezTo>
                <a:cubicBezTo>
                  <a:pt x="13977743" y="1330380"/>
                  <a:pt x="13962406" y="1334458"/>
                  <a:pt x="13908456" y="1339726"/>
                </a:cubicBezTo>
                <a:cubicBezTo>
                  <a:pt x="13854506" y="1344994"/>
                  <a:pt x="13391142" y="1341047"/>
                  <a:pt x="13033972" y="1339726"/>
                </a:cubicBezTo>
                <a:cubicBezTo>
                  <a:pt x="12676802" y="1338405"/>
                  <a:pt x="12382410" y="1319785"/>
                  <a:pt x="12159488" y="1339726"/>
                </a:cubicBezTo>
                <a:cubicBezTo>
                  <a:pt x="11936566" y="1359667"/>
                  <a:pt x="11868375" y="1331089"/>
                  <a:pt x="11645903" y="1339726"/>
                </a:cubicBezTo>
                <a:cubicBezTo>
                  <a:pt x="11423431" y="1348363"/>
                  <a:pt x="11439083" y="1323705"/>
                  <a:pt x="11312766" y="1339726"/>
                </a:cubicBezTo>
                <a:cubicBezTo>
                  <a:pt x="11186449" y="1355747"/>
                  <a:pt x="11055495" y="1332789"/>
                  <a:pt x="10799180" y="1339726"/>
                </a:cubicBezTo>
                <a:cubicBezTo>
                  <a:pt x="10542865" y="1346663"/>
                  <a:pt x="10405311" y="1331267"/>
                  <a:pt x="10285595" y="1339726"/>
                </a:cubicBezTo>
                <a:cubicBezTo>
                  <a:pt x="10165880" y="1348185"/>
                  <a:pt x="9486418" y="1290669"/>
                  <a:pt x="9230662" y="1339726"/>
                </a:cubicBezTo>
                <a:cubicBezTo>
                  <a:pt x="8974906" y="1388783"/>
                  <a:pt x="8880392" y="1337182"/>
                  <a:pt x="8536627" y="1339726"/>
                </a:cubicBezTo>
                <a:cubicBezTo>
                  <a:pt x="8192862" y="1342270"/>
                  <a:pt x="8169175" y="1331548"/>
                  <a:pt x="8023041" y="1339726"/>
                </a:cubicBezTo>
                <a:cubicBezTo>
                  <a:pt x="7876907" y="1347904"/>
                  <a:pt x="7251750" y="1367936"/>
                  <a:pt x="6968109" y="1339726"/>
                </a:cubicBezTo>
                <a:cubicBezTo>
                  <a:pt x="6684468" y="1311516"/>
                  <a:pt x="6878641" y="1335128"/>
                  <a:pt x="6815421" y="1339726"/>
                </a:cubicBezTo>
                <a:cubicBezTo>
                  <a:pt x="6752201" y="1344324"/>
                  <a:pt x="6052797" y="1391696"/>
                  <a:pt x="5760488" y="1339726"/>
                </a:cubicBezTo>
                <a:cubicBezTo>
                  <a:pt x="5468179" y="1287756"/>
                  <a:pt x="5221026" y="1316253"/>
                  <a:pt x="5066454" y="1339726"/>
                </a:cubicBezTo>
                <a:cubicBezTo>
                  <a:pt x="4911882" y="1363199"/>
                  <a:pt x="4984701" y="1337009"/>
                  <a:pt x="4913766" y="1339726"/>
                </a:cubicBezTo>
                <a:cubicBezTo>
                  <a:pt x="4842831" y="1342443"/>
                  <a:pt x="4331835" y="1312581"/>
                  <a:pt x="3858833" y="1339726"/>
                </a:cubicBezTo>
                <a:cubicBezTo>
                  <a:pt x="3385831" y="1366871"/>
                  <a:pt x="3774702" y="1335519"/>
                  <a:pt x="3706145" y="1339726"/>
                </a:cubicBezTo>
                <a:cubicBezTo>
                  <a:pt x="3637588" y="1343933"/>
                  <a:pt x="3457477" y="1341846"/>
                  <a:pt x="3373009" y="1339726"/>
                </a:cubicBezTo>
                <a:cubicBezTo>
                  <a:pt x="3288541" y="1337606"/>
                  <a:pt x="3112846" y="1335646"/>
                  <a:pt x="2859423" y="1339726"/>
                </a:cubicBezTo>
                <a:cubicBezTo>
                  <a:pt x="2606000" y="1343806"/>
                  <a:pt x="2603404" y="1323382"/>
                  <a:pt x="2526286" y="1339726"/>
                </a:cubicBezTo>
                <a:cubicBezTo>
                  <a:pt x="2449168" y="1356070"/>
                  <a:pt x="2219922" y="1345168"/>
                  <a:pt x="2012701" y="1339726"/>
                </a:cubicBezTo>
                <a:cubicBezTo>
                  <a:pt x="1805481" y="1334284"/>
                  <a:pt x="1666918" y="1334900"/>
                  <a:pt x="1499115" y="1339726"/>
                </a:cubicBezTo>
                <a:cubicBezTo>
                  <a:pt x="1331312" y="1344552"/>
                  <a:pt x="562325" y="1338625"/>
                  <a:pt x="0" y="1339726"/>
                </a:cubicBezTo>
                <a:cubicBezTo>
                  <a:pt x="8210" y="1113699"/>
                  <a:pt x="15786" y="993228"/>
                  <a:pt x="0" y="710055"/>
                </a:cubicBezTo>
                <a:cubicBezTo>
                  <a:pt x="-15786" y="426882"/>
                  <a:pt x="-13334" y="306413"/>
                  <a:pt x="0" y="0"/>
                </a:cubicBezTo>
                <a:close/>
              </a:path>
              <a:path extrusionOk="0" h="1339726" w="18044903">
                <a:moveTo>
                  <a:pt x="0" y="0"/>
                </a:moveTo>
                <a:cubicBezTo>
                  <a:pt x="160996" y="-3503"/>
                  <a:pt x="299176" y="18913"/>
                  <a:pt x="513586" y="0"/>
                </a:cubicBezTo>
                <a:cubicBezTo>
                  <a:pt x="727996" y="-18913"/>
                  <a:pt x="954908" y="30963"/>
                  <a:pt x="1207620" y="0"/>
                </a:cubicBezTo>
                <a:cubicBezTo>
                  <a:pt x="1460332" y="-30963"/>
                  <a:pt x="1864554" y="-42667"/>
                  <a:pt x="2082104" y="0"/>
                </a:cubicBezTo>
                <a:cubicBezTo>
                  <a:pt x="2299654" y="42667"/>
                  <a:pt x="2867495" y="41553"/>
                  <a:pt x="3137037" y="0"/>
                </a:cubicBezTo>
                <a:cubicBezTo>
                  <a:pt x="3406579" y="-41553"/>
                  <a:pt x="3426095" y="22030"/>
                  <a:pt x="3650623" y="0"/>
                </a:cubicBezTo>
                <a:cubicBezTo>
                  <a:pt x="3875151" y="-22030"/>
                  <a:pt x="4023632" y="-17975"/>
                  <a:pt x="4164208" y="0"/>
                </a:cubicBezTo>
                <a:cubicBezTo>
                  <a:pt x="4304784" y="17975"/>
                  <a:pt x="4485024" y="-23395"/>
                  <a:pt x="4677794" y="0"/>
                </a:cubicBezTo>
                <a:cubicBezTo>
                  <a:pt x="4870564" y="23395"/>
                  <a:pt x="5336551" y="30474"/>
                  <a:pt x="5552278" y="0"/>
                </a:cubicBezTo>
                <a:cubicBezTo>
                  <a:pt x="5768005" y="-30474"/>
                  <a:pt x="5660269" y="-2485"/>
                  <a:pt x="5704965" y="0"/>
                </a:cubicBezTo>
                <a:cubicBezTo>
                  <a:pt x="5749661" y="2485"/>
                  <a:pt x="5813562" y="7407"/>
                  <a:pt x="5857653" y="0"/>
                </a:cubicBezTo>
                <a:cubicBezTo>
                  <a:pt x="5901744" y="-7407"/>
                  <a:pt x="6416574" y="-3365"/>
                  <a:pt x="6732137" y="0"/>
                </a:cubicBezTo>
                <a:cubicBezTo>
                  <a:pt x="7047700" y="3365"/>
                  <a:pt x="6945420" y="-8039"/>
                  <a:pt x="7065274" y="0"/>
                </a:cubicBezTo>
                <a:cubicBezTo>
                  <a:pt x="7185128" y="8039"/>
                  <a:pt x="7767550" y="37535"/>
                  <a:pt x="8120206" y="0"/>
                </a:cubicBezTo>
                <a:cubicBezTo>
                  <a:pt x="8472862" y="-37535"/>
                  <a:pt x="8630250" y="26901"/>
                  <a:pt x="8994690" y="0"/>
                </a:cubicBezTo>
                <a:cubicBezTo>
                  <a:pt x="9359130" y="-26901"/>
                  <a:pt x="9733962" y="-6357"/>
                  <a:pt x="10049623" y="0"/>
                </a:cubicBezTo>
                <a:cubicBezTo>
                  <a:pt x="10365284" y="6357"/>
                  <a:pt x="10148621" y="-7474"/>
                  <a:pt x="10202311" y="0"/>
                </a:cubicBezTo>
                <a:cubicBezTo>
                  <a:pt x="10256001" y="7474"/>
                  <a:pt x="10877148" y="1394"/>
                  <a:pt x="11076794" y="0"/>
                </a:cubicBezTo>
                <a:cubicBezTo>
                  <a:pt x="11276440" y="-1394"/>
                  <a:pt x="11611765" y="-11793"/>
                  <a:pt x="11770829" y="0"/>
                </a:cubicBezTo>
                <a:cubicBezTo>
                  <a:pt x="11929894" y="11793"/>
                  <a:pt x="12273213" y="-17585"/>
                  <a:pt x="12645313" y="0"/>
                </a:cubicBezTo>
                <a:cubicBezTo>
                  <a:pt x="13017413" y="17585"/>
                  <a:pt x="12917474" y="14415"/>
                  <a:pt x="13158898" y="0"/>
                </a:cubicBezTo>
                <a:cubicBezTo>
                  <a:pt x="13400323" y="-14415"/>
                  <a:pt x="13837051" y="-46738"/>
                  <a:pt x="14213831" y="0"/>
                </a:cubicBezTo>
                <a:cubicBezTo>
                  <a:pt x="14590611" y="46738"/>
                  <a:pt x="14422734" y="-6788"/>
                  <a:pt x="14546968" y="0"/>
                </a:cubicBezTo>
                <a:cubicBezTo>
                  <a:pt x="14671202" y="6788"/>
                  <a:pt x="14897679" y="-6844"/>
                  <a:pt x="15060554" y="0"/>
                </a:cubicBezTo>
                <a:cubicBezTo>
                  <a:pt x="15223429" y="6844"/>
                  <a:pt x="15758299" y="-4365"/>
                  <a:pt x="16115486" y="0"/>
                </a:cubicBezTo>
                <a:cubicBezTo>
                  <a:pt x="16472673" y="4365"/>
                  <a:pt x="16227338" y="-7090"/>
                  <a:pt x="16268174" y="0"/>
                </a:cubicBezTo>
                <a:cubicBezTo>
                  <a:pt x="16309010" y="7090"/>
                  <a:pt x="16947008" y="7313"/>
                  <a:pt x="17142658" y="0"/>
                </a:cubicBezTo>
                <a:cubicBezTo>
                  <a:pt x="17338308" y="-7313"/>
                  <a:pt x="17844408" y="-42994"/>
                  <a:pt x="18044903" y="0"/>
                </a:cubicBezTo>
                <a:cubicBezTo>
                  <a:pt x="18030870" y="238390"/>
                  <a:pt x="18072204" y="425121"/>
                  <a:pt x="18044903" y="669863"/>
                </a:cubicBezTo>
                <a:cubicBezTo>
                  <a:pt x="18017602" y="914605"/>
                  <a:pt x="18024155" y="1011428"/>
                  <a:pt x="18044903" y="1339726"/>
                </a:cubicBezTo>
                <a:cubicBezTo>
                  <a:pt x="17730546" y="1367720"/>
                  <a:pt x="17491476" y="1378843"/>
                  <a:pt x="17170419" y="1339726"/>
                </a:cubicBezTo>
                <a:cubicBezTo>
                  <a:pt x="16849362" y="1300609"/>
                  <a:pt x="16659742" y="1319749"/>
                  <a:pt x="16476385" y="1339726"/>
                </a:cubicBezTo>
                <a:cubicBezTo>
                  <a:pt x="16293028" y="1359703"/>
                  <a:pt x="15677965" y="1385857"/>
                  <a:pt x="15421452" y="1339726"/>
                </a:cubicBezTo>
                <a:cubicBezTo>
                  <a:pt x="15164939" y="1293595"/>
                  <a:pt x="15216974" y="1346541"/>
                  <a:pt x="15088315" y="1339726"/>
                </a:cubicBezTo>
                <a:cubicBezTo>
                  <a:pt x="14959656" y="1332911"/>
                  <a:pt x="15005506" y="1340298"/>
                  <a:pt x="14935627" y="1339726"/>
                </a:cubicBezTo>
                <a:cubicBezTo>
                  <a:pt x="14865748" y="1339154"/>
                  <a:pt x="14594812" y="1323651"/>
                  <a:pt x="14422042" y="1339726"/>
                </a:cubicBezTo>
                <a:cubicBezTo>
                  <a:pt x="14249273" y="1355801"/>
                  <a:pt x="13924136" y="1314144"/>
                  <a:pt x="13728007" y="1339726"/>
                </a:cubicBezTo>
                <a:cubicBezTo>
                  <a:pt x="13531879" y="1365308"/>
                  <a:pt x="13609441" y="1342959"/>
                  <a:pt x="13575319" y="1339726"/>
                </a:cubicBezTo>
                <a:cubicBezTo>
                  <a:pt x="13541197" y="1336493"/>
                  <a:pt x="13493334" y="1334635"/>
                  <a:pt x="13422632" y="1339726"/>
                </a:cubicBezTo>
                <a:cubicBezTo>
                  <a:pt x="13351930" y="1344817"/>
                  <a:pt x="13156389" y="1348055"/>
                  <a:pt x="13089495" y="1339726"/>
                </a:cubicBezTo>
                <a:cubicBezTo>
                  <a:pt x="13022601" y="1331397"/>
                  <a:pt x="12714618" y="1361904"/>
                  <a:pt x="12575909" y="1339726"/>
                </a:cubicBezTo>
                <a:cubicBezTo>
                  <a:pt x="12437200" y="1317548"/>
                  <a:pt x="11734237" y="1339448"/>
                  <a:pt x="11520977" y="1339726"/>
                </a:cubicBezTo>
                <a:cubicBezTo>
                  <a:pt x="11307717" y="1340004"/>
                  <a:pt x="11272522" y="1344337"/>
                  <a:pt x="11187840" y="1339726"/>
                </a:cubicBezTo>
                <a:cubicBezTo>
                  <a:pt x="11103158" y="1335115"/>
                  <a:pt x="11005474" y="1346390"/>
                  <a:pt x="10854703" y="1339726"/>
                </a:cubicBezTo>
                <a:cubicBezTo>
                  <a:pt x="10703932" y="1333062"/>
                  <a:pt x="10511556" y="1314886"/>
                  <a:pt x="10341117" y="1339726"/>
                </a:cubicBezTo>
                <a:cubicBezTo>
                  <a:pt x="10170678" y="1364566"/>
                  <a:pt x="10112101" y="1323618"/>
                  <a:pt x="10007981" y="1339726"/>
                </a:cubicBezTo>
                <a:cubicBezTo>
                  <a:pt x="9903861" y="1355834"/>
                  <a:pt x="9715062" y="1349468"/>
                  <a:pt x="9494395" y="1339726"/>
                </a:cubicBezTo>
                <a:cubicBezTo>
                  <a:pt x="9273728" y="1329984"/>
                  <a:pt x="8654347" y="1354501"/>
                  <a:pt x="8439462" y="1339726"/>
                </a:cubicBezTo>
                <a:cubicBezTo>
                  <a:pt x="8224577" y="1324951"/>
                  <a:pt x="7636560" y="1333528"/>
                  <a:pt x="7384530" y="1339726"/>
                </a:cubicBezTo>
                <a:cubicBezTo>
                  <a:pt x="7132500" y="1345924"/>
                  <a:pt x="7305019" y="1334310"/>
                  <a:pt x="7231842" y="1339726"/>
                </a:cubicBezTo>
                <a:cubicBezTo>
                  <a:pt x="7158665" y="1345142"/>
                  <a:pt x="6864653" y="1337037"/>
                  <a:pt x="6718256" y="1339726"/>
                </a:cubicBezTo>
                <a:cubicBezTo>
                  <a:pt x="6571859" y="1342415"/>
                  <a:pt x="6617146" y="1339744"/>
                  <a:pt x="6565569" y="1339726"/>
                </a:cubicBezTo>
                <a:cubicBezTo>
                  <a:pt x="6513992" y="1339708"/>
                  <a:pt x="6475702" y="1334300"/>
                  <a:pt x="6412881" y="1339726"/>
                </a:cubicBezTo>
                <a:cubicBezTo>
                  <a:pt x="6350060" y="1345152"/>
                  <a:pt x="5724301" y="1374802"/>
                  <a:pt x="5538397" y="1339726"/>
                </a:cubicBezTo>
                <a:cubicBezTo>
                  <a:pt x="5352493" y="1304650"/>
                  <a:pt x="5075240" y="1327820"/>
                  <a:pt x="4663913" y="1339726"/>
                </a:cubicBezTo>
                <a:cubicBezTo>
                  <a:pt x="4252586" y="1351632"/>
                  <a:pt x="4159682" y="1365998"/>
                  <a:pt x="3789430" y="1339726"/>
                </a:cubicBezTo>
                <a:cubicBezTo>
                  <a:pt x="3419178" y="1313454"/>
                  <a:pt x="3393313" y="1345949"/>
                  <a:pt x="3095395" y="1339726"/>
                </a:cubicBezTo>
                <a:cubicBezTo>
                  <a:pt x="2797477" y="1333503"/>
                  <a:pt x="2994312" y="1346468"/>
                  <a:pt x="2942707" y="1339726"/>
                </a:cubicBezTo>
                <a:cubicBezTo>
                  <a:pt x="2891102" y="1332984"/>
                  <a:pt x="2827455" y="1334460"/>
                  <a:pt x="2790020" y="1339726"/>
                </a:cubicBezTo>
                <a:cubicBezTo>
                  <a:pt x="2752585" y="1344992"/>
                  <a:pt x="2669243" y="1345687"/>
                  <a:pt x="2637332" y="1339726"/>
                </a:cubicBezTo>
                <a:cubicBezTo>
                  <a:pt x="2605421" y="1333765"/>
                  <a:pt x="2532313" y="1346348"/>
                  <a:pt x="2484644" y="1339726"/>
                </a:cubicBezTo>
                <a:cubicBezTo>
                  <a:pt x="2436975" y="1333104"/>
                  <a:pt x="2393474" y="1343399"/>
                  <a:pt x="2331957" y="1339726"/>
                </a:cubicBezTo>
                <a:cubicBezTo>
                  <a:pt x="2270440" y="1336053"/>
                  <a:pt x="2215651" y="1337790"/>
                  <a:pt x="2179269" y="1339726"/>
                </a:cubicBezTo>
                <a:cubicBezTo>
                  <a:pt x="2142887" y="1341662"/>
                  <a:pt x="1489736" y="1350474"/>
                  <a:pt x="1124336" y="1339726"/>
                </a:cubicBezTo>
                <a:cubicBezTo>
                  <a:pt x="758936" y="1328978"/>
                  <a:pt x="1012910" y="1332723"/>
                  <a:pt x="971649" y="1339726"/>
                </a:cubicBezTo>
                <a:cubicBezTo>
                  <a:pt x="930388" y="1346729"/>
                  <a:pt x="288504" y="1364047"/>
                  <a:pt x="0" y="1339726"/>
                </a:cubicBezTo>
                <a:cubicBezTo>
                  <a:pt x="-25589" y="1091085"/>
                  <a:pt x="6174" y="923759"/>
                  <a:pt x="0" y="710055"/>
                </a:cubicBezTo>
                <a:cubicBezTo>
                  <a:pt x="-6174" y="496351"/>
                  <a:pt x="-3030" y="254614"/>
                  <a:pt x="0" y="0"/>
                </a:cubicBezTo>
                <a:close/>
              </a:path>
            </a:pathLst>
          </a:cu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</a:pPr>
            <a:r>
              <a:rPr b="1" lang="en-US" sz="60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Learning Objectives</a:t>
            </a:r>
            <a:r>
              <a:rPr b="1" lang="en-US" sz="6000">
                <a:solidFill>
                  <a:srgbClr val="595959"/>
                </a:solidFill>
                <a:latin typeface="Lato Light"/>
                <a:ea typeface="Lato Light"/>
                <a:cs typeface="Lato Light"/>
                <a:sym typeface="Lato Light"/>
              </a:rPr>
              <a:t>: </a:t>
            </a:r>
            <a:endParaRPr/>
          </a:p>
          <a:p>
            <a:pPr indent="-857250" lvl="0" marL="857250" marR="0" rtl="0" algn="l">
              <a:lnSpc>
                <a:spcPct val="200000"/>
              </a:lnSpc>
              <a:spcBef>
                <a:spcPts val="1160"/>
              </a:spcBef>
              <a:spcAft>
                <a:spcPts val="0"/>
              </a:spcAft>
              <a:buClr>
                <a:srgbClr val="7F7F7F"/>
              </a:buClr>
              <a:buSzPts val="5800"/>
              <a:buFont typeface="Arial"/>
              <a:buChar char="•"/>
            </a:pPr>
            <a:r>
              <a:rPr lang="en-US" sz="5800">
                <a:solidFill>
                  <a:srgbClr val="7F7F7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To </a:t>
            </a:r>
            <a:r>
              <a:rPr lang="en-US" sz="58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understand</a:t>
            </a:r>
            <a:r>
              <a:rPr lang="en-US" sz="5800">
                <a:solidFill>
                  <a:srgbClr val="7F7F7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the differences between the Internet and the WWW</a:t>
            </a:r>
            <a:endParaRPr/>
          </a:p>
          <a:p>
            <a:pPr indent="-857250" lvl="0" marL="857250" marR="0" rtl="0" algn="l">
              <a:lnSpc>
                <a:spcPct val="200000"/>
              </a:lnSpc>
              <a:spcBef>
                <a:spcPts val="1160"/>
              </a:spcBef>
              <a:spcAft>
                <a:spcPts val="0"/>
              </a:spcAft>
              <a:buClr>
                <a:srgbClr val="7F7F7F"/>
              </a:buClr>
              <a:buSzPts val="5800"/>
              <a:buFont typeface="Arial"/>
              <a:buChar char="•"/>
            </a:pPr>
            <a:r>
              <a:rPr lang="en-US" sz="5800">
                <a:solidFill>
                  <a:srgbClr val="7F7F7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To </a:t>
            </a:r>
            <a:r>
              <a:rPr lang="en-US" sz="58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analyse</a:t>
            </a:r>
            <a:r>
              <a:rPr lang="en-US" sz="5800">
                <a:solidFill>
                  <a:srgbClr val="7F7F7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the function of URLs, HTTP and HTTPs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/>
        </p:nvSpPr>
        <p:spPr>
          <a:xfrm>
            <a:off x="197740" y="1581773"/>
            <a:ext cx="16838976" cy="416146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Internet vs World Wide Web?</a:t>
            </a:r>
            <a:endParaRPr sz="36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3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r>
              <a:rPr lang="en-US" sz="3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is a </a:t>
            </a:r>
            <a:r>
              <a:rPr lang="en-US" sz="3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global network of networks that connects millions of</a:t>
            </a:r>
            <a:r>
              <a:rPr lang="en-US" sz="3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private, public, academic, business, and government </a:t>
            </a:r>
            <a:r>
              <a:rPr lang="en-US" sz="3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networks</a:t>
            </a:r>
            <a:r>
              <a:rPr lang="en-US" sz="3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. In contrast, the </a:t>
            </a:r>
            <a:r>
              <a:rPr b="1" lang="en-US" sz="36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World Wide Web</a:t>
            </a:r>
            <a:r>
              <a:rPr lang="en-US" sz="36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6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WWW</a:t>
            </a:r>
            <a:r>
              <a:rPr lang="en-US" sz="3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) is a </a:t>
            </a:r>
            <a:r>
              <a:rPr lang="en-US" sz="36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service that operates on the Internet</a:t>
            </a:r>
            <a:r>
              <a:rPr lang="en-US" sz="3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, allowing the sharing and accessing of documents and resources.</a:t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9"/>
          <p:cNvSpPr txBox="1"/>
          <p:nvPr/>
        </p:nvSpPr>
        <p:spPr>
          <a:xfrm>
            <a:off x="197739" y="140023"/>
            <a:ext cx="15640975" cy="1200329"/>
          </a:xfrm>
          <a:prstGeom prst="rect">
            <a:avLst/>
          </a:prstGeom>
          <a:solidFill>
            <a:srgbClr val="E0F5F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Understanding and Securing the Internet</a:t>
            </a:r>
            <a:endParaRPr sz="72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60" name="Google Shape;60;p9"/>
          <p:cNvSpPr txBox="1"/>
          <p:nvPr/>
        </p:nvSpPr>
        <p:spPr>
          <a:xfrm>
            <a:off x="17246218" y="72289"/>
            <a:ext cx="6954626" cy="13751329"/>
          </a:xfrm>
          <a:prstGeom prst="rect">
            <a:avLst/>
          </a:prstGeom>
          <a:solidFill>
            <a:srgbClr val="FFF5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 u="sng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Comprehension Questions</a:t>
            </a:r>
            <a:endParaRPr/>
          </a:p>
          <a:p>
            <a:pPr indent="-1028443" lvl="0" marL="102844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50"/>
              <a:buFont typeface="Calibri"/>
              <a:buAutoNum type="arabicPeriod"/>
            </a:pPr>
            <a:r>
              <a:rPr b="1" lang="en-US" sz="36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lang="en-US" sz="36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is the </a:t>
            </a:r>
            <a:r>
              <a:rPr lang="en-US" sz="3650">
                <a:solidFill>
                  <a:srgbClr val="1C8256"/>
                </a:solidFill>
                <a:latin typeface="Calibri"/>
                <a:ea typeface="Calibri"/>
                <a:cs typeface="Calibri"/>
                <a:sym typeface="Calibri"/>
              </a:rPr>
              <a:t>difference </a:t>
            </a:r>
            <a:r>
              <a:rPr lang="en-US" sz="36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between the Internet and the WWW?</a:t>
            </a:r>
            <a:endParaRPr/>
          </a:p>
          <a:p>
            <a:pPr indent="-1028443" lvl="0" marL="102844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50"/>
              <a:buFont typeface="Calibri"/>
              <a:buAutoNum type="arabicPeriod"/>
            </a:pPr>
            <a:r>
              <a:rPr b="1" lang="en-US" sz="36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lang="en-US" sz="36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is a </a:t>
            </a:r>
            <a:r>
              <a:rPr lang="en-US" sz="3650">
                <a:solidFill>
                  <a:srgbClr val="1C8256"/>
                </a:solidFill>
                <a:latin typeface="Calibri"/>
                <a:ea typeface="Calibri"/>
                <a:cs typeface="Calibri"/>
                <a:sym typeface="Calibri"/>
              </a:rPr>
              <a:t>URL</a:t>
            </a:r>
            <a:r>
              <a:rPr lang="en-US" sz="36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b="1" lang="en-US" sz="36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lang="en-US" sz="36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50">
                <a:solidFill>
                  <a:srgbClr val="1C8256"/>
                </a:solidFill>
                <a:latin typeface="Calibri"/>
                <a:ea typeface="Calibri"/>
                <a:cs typeface="Calibri"/>
                <a:sym typeface="Calibri"/>
              </a:rPr>
              <a:t>types</a:t>
            </a:r>
            <a:r>
              <a:rPr lang="en-US" sz="36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of resources can it be used to access</a:t>
            </a:r>
            <a:endParaRPr/>
          </a:p>
          <a:p>
            <a:pPr indent="-1028443" lvl="0" marL="102844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50"/>
              <a:buFont typeface="Calibri"/>
              <a:buAutoNum type="arabicPeriod"/>
            </a:pPr>
            <a:r>
              <a:rPr b="1" lang="en-US" sz="36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How </a:t>
            </a:r>
            <a:r>
              <a:rPr lang="en-US" sz="36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do HTTP and HTTPS </a:t>
            </a:r>
            <a:r>
              <a:rPr lang="en-US" sz="3650">
                <a:solidFill>
                  <a:srgbClr val="1C8256"/>
                </a:solidFill>
                <a:latin typeface="Calibri"/>
                <a:ea typeface="Calibri"/>
                <a:cs typeface="Calibri"/>
                <a:sym typeface="Calibri"/>
              </a:rPr>
              <a:t>differ</a:t>
            </a:r>
            <a:r>
              <a:rPr lang="en-US" sz="36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in terms of data security?</a:t>
            </a:r>
            <a:endParaRPr/>
          </a:p>
          <a:p>
            <a:pPr indent="-1028443" lvl="0" marL="102844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50"/>
              <a:buFont typeface="Calibri"/>
              <a:buAutoNum type="arabicPeriod"/>
            </a:pPr>
            <a:r>
              <a:rPr b="1" lang="en-US" sz="36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lang="en-US" sz="3650">
                <a:solidFill>
                  <a:srgbClr val="1C8256"/>
                </a:solidFill>
                <a:latin typeface="Calibri"/>
                <a:ea typeface="Calibri"/>
                <a:cs typeface="Calibri"/>
                <a:sym typeface="Calibri"/>
              </a:rPr>
              <a:t>role</a:t>
            </a:r>
            <a:r>
              <a:rPr lang="en-US" sz="36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does DNS play when a URL is </a:t>
            </a:r>
            <a:r>
              <a:rPr lang="en-US" sz="3650">
                <a:solidFill>
                  <a:srgbClr val="1C8256"/>
                </a:solidFill>
                <a:latin typeface="Calibri"/>
                <a:ea typeface="Calibri"/>
                <a:cs typeface="Calibri"/>
                <a:sym typeface="Calibri"/>
              </a:rPr>
              <a:t>entered</a:t>
            </a:r>
            <a:r>
              <a:rPr lang="en-US" sz="36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into a web browser?</a:t>
            </a:r>
            <a:endParaRPr/>
          </a:p>
          <a:p>
            <a:pPr indent="-1028443" lvl="0" marL="102844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50"/>
              <a:buFont typeface="Calibri"/>
              <a:buAutoNum type="arabicPeriod"/>
            </a:pPr>
            <a:r>
              <a:rPr b="1" lang="en-US" sz="36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Explain </a:t>
            </a:r>
            <a:r>
              <a:rPr lang="en-US" sz="36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b="1" lang="en-US" sz="36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50">
                <a:solidFill>
                  <a:srgbClr val="1C8256"/>
                </a:solidFill>
                <a:latin typeface="Calibri"/>
                <a:ea typeface="Calibri"/>
                <a:cs typeface="Calibri"/>
                <a:sym typeface="Calibri"/>
              </a:rPr>
              <a:t>function </a:t>
            </a:r>
            <a:r>
              <a:rPr lang="en-US" sz="36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of a web browser in </a:t>
            </a:r>
            <a:r>
              <a:rPr lang="en-US" sz="3650">
                <a:solidFill>
                  <a:srgbClr val="1C8256"/>
                </a:solidFill>
                <a:latin typeface="Calibri"/>
                <a:ea typeface="Calibri"/>
                <a:cs typeface="Calibri"/>
                <a:sym typeface="Calibri"/>
              </a:rPr>
              <a:t>accessing</a:t>
            </a:r>
            <a:r>
              <a:rPr lang="en-US" sz="36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information on the WWW?</a:t>
            </a:r>
            <a:endParaRPr/>
          </a:p>
        </p:txBody>
      </p:sp>
      <p:pic>
        <p:nvPicPr>
          <p:cNvPr id="61" name="Google Shape;61;p9"/>
          <p:cNvPicPr preferRelativeResize="0"/>
          <p:nvPr/>
        </p:nvPicPr>
        <p:blipFill rotWithShape="1">
          <a:blip r:embed="rId3">
            <a:alphaModFix/>
          </a:blip>
          <a:srcRect b="10848" l="0" r="0" t="0"/>
          <a:stretch/>
        </p:blipFill>
        <p:spPr>
          <a:xfrm>
            <a:off x="165081" y="5940996"/>
            <a:ext cx="16838977" cy="748964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9"/>
          <p:cNvSpPr txBox="1"/>
          <p:nvPr/>
        </p:nvSpPr>
        <p:spPr>
          <a:xfrm>
            <a:off x="165082" y="5984654"/>
            <a:ext cx="4341604" cy="757771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Understanding </a:t>
            </a:r>
            <a:r>
              <a:rPr b="1" lang="en-US" sz="4000">
                <a:solidFill>
                  <a:srgbClr val="1C8256"/>
                </a:solidFill>
                <a:latin typeface="Calibri"/>
                <a:ea typeface="Calibri"/>
                <a:cs typeface="Calibri"/>
                <a:sym typeface="Calibri"/>
              </a:rPr>
              <a:t>URLs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URL (Uniform Resource Locator) as the </a:t>
            </a:r>
            <a:r>
              <a:rPr lang="en-US" sz="3600">
                <a:solidFill>
                  <a:srgbClr val="1C8256"/>
                </a:solidFill>
                <a:latin typeface="Calibri"/>
                <a:ea typeface="Calibri"/>
                <a:cs typeface="Calibri"/>
                <a:sym typeface="Calibri"/>
              </a:rPr>
              <a:t>address used to access specific resources</a:t>
            </a:r>
            <a:r>
              <a:rPr lang="en-US" sz="3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on the Web. A </a:t>
            </a:r>
            <a:r>
              <a:rPr b="1" lang="en-US" sz="3600">
                <a:solidFill>
                  <a:srgbClr val="1C8256"/>
                </a:solidFill>
                <a:latin typeface="Calibri"/>
                <a:ea typeface="Calibri"/>
                <a:cs typeface="Calibri"/>
                <a:sym typeface="Calibri"/>
              </a:rPr>
              <a:t>resource</a:t>
            </a:r>
            <a:r>
              <a:rPr lang="en-US" sz="3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can be a website, video or image.</a:t>
            </a:r>
            <a:endParaRPr/>
          </a:p>
        </p:txBody>
      </p:sp>
      <p:sp>
        <p:nvSpPr>
          <p:cNvPr id="63" name="Google Shape;63;p9"/>
          <p:cNvSpPr txBox="1"/>
          <p:nvPr/>
        </p:nvSpPr>
        <p:spPr>
          <a:xfrm>
            <a:off x="4748846" y="5988912"/>
            <a:ext cx="5048297" cy="748538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874800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r>
              <a:rPr b="1" lang="en-US" sz="3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US" sz="3600">
                <a:solidFill>
                  <a:srgbClr val="874800"/>
                </a:solidFill>
                <a:latin typeface="Calibri"/>
                <a:ea typeface="Calibri"/>
                <a:cs typeface="Calibri"/>
                <a:sym typeface="Calibri"/>
              </a:rPr>
              <a:t>HTTPS</a:t>
            </a:r>
            <a:r>
              <a:rPr b="1" lang="en-US" sz="3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Protocols</a:t>
            </a:r>
            <a:endParaRPr b="1" sz="36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HTTP (HyperText Transfer Protocol) and HTTPS (HyperText Transfer Protocol Secure) </a:t>
            </a:r>
            <a:r>
              <a:rPr lang="en-US" sz="3600">
                <a:solidFill>
                  <a:srgbClr val="874800"/>
                </a:solidFill>
                <a:latin typeface="Calibri"/>
                <a:ea typeface="Calibri"/>
                <a:cs typeface="Calibri"/>
                <a:sym typeface="Calibri"/>
              </a:rPr>
              <a:t>differ only in security</a:t>
            </a:r>
            <a:r>
              <a:rPr lang="en-US" sz="3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874800"/>
                </a:solidFill>
                <a:latin typeface="Calibri"/>
                <a:ea typeface="Calibri"/>
                <a:cs typeface="Calibri"/>
                <a:sym typeface="Calibri"/>
              </a:rPr>
              <a:t>HTTPS secures data</a:t>
            </a:r>
            <a:r>
              <a:rPr lang="en-US" sz="3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between users and website with encryption.</a:t>
            </a:r>
            <a:endParaRPr/>
          </a:p>
        </p:txBody>
      </p:sp>
      <p:sp>
        <p:nvSpPr>
          <p:cNvPr id="64" name="Google Shape;64;p9"/>
          <p:cNvSpPr txBox="1"/>
          <p:nvPr/>
        </p:nvSpPr>
        <p:spPr>
          <a:xfrm>
            <a:off x="10006645" y="6005730"/>
            <a:ext cx="6997413" cy="740260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Web </a:t>
            </a:r>
            <a:r>
              <a:rPr b="1" lang="en-US" sz="3200">
                <a:solidFill>
                  <a:srgbClr val="0C567A"/>
                </a:solidFill>
                <a:latin typeface="Calibri"/>
                <a:ea typeface="Calibri"/>
                <a:cs typeface="Calibri"/>
                <a:sym typeface="Calibri"/>
              </a:rPr>
              <a:t>Browsers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Web browsers (e.g., Chrome, Firefox, Safari.) are </a:t>
            </a:r>
            <a:r>
              <a:rPr b="1" lang="en-US" sz="3200">
                <a:solidFill>
                  <a:srgbClr val="0C567A"/>
                </a:solidFill>
                <a:latin typeface="Calibri"/>
                <a:ea typeface="Calibri"/>
                <a:cs typeface="Calibri"/>
                <a:sym typeface="Calibri"/>
              </a:rPr>
              <a:t>software applications used to access the internet </a:t>
            </a: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and retrieve, present, and traverse information on the WWW. A user </a:t>
            </a:r>
            <a:r>
              <a:rPr lang="en-US" sz="3200">
                <a:solidFill>
                  <a:srgbClr val="0C567A"/>
                </a:solidFill>
                <a:latin typeface="Calibri"/>
                <a:ea typeface="Calibri"/>
                <a:cs typeface="Calibri"/>
                <a:sym typeface="Calibri"/>
              </a:rPr>
              <a:t>enters a URL</a:t>
            </a: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. The URL is </a:t>
            </a:r>
            <a:r>
              <a:rPr lang="en-US" sz="3200">
                <a:solidFill>
                  <a:srgbClr val="0C567A"/>
                </a:solidFill>
                <a:latin typeface="Calibri"/>
                <a:ea typeface="Calibri"/>
                <a:cs typeface="Calibri"/>
                <a:sym typeface="Calibri"/>
              </a:rPr>
              <a:t>translated into an IP address </a:t>
            </a: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using the DNS (Domain Name System). The IP service </a:t>
            </a:r>
            <a:r>
              <a:rPr lang="en-US" sz="3200">
                <a:solidFill>
                  <a:srgbClr val="0C567A"/>
                </a:solidFill>
                <a:latin typeface="Calibri"/>
                <a:ea typeface="Calibri"/>
                <a:cs typeface="Calibri"/>
                <a:sym typeface="Calibri"/>
              </a:rPr>
              <a:t>processes the request and sends back the webpage</a:t>
            </a: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9"/>
          <p:cNvSpPr txBox="1"/>
          <p:nvPr/>
        </p:nvSpPr>
        <p:spPr>
          <a:xfrm>
            <a:off x="627340" y="1581773"/>
            <a:ext cx="16376718" cy="11857990"/>
          </a:xfrm>
          <a:prstGeom prst="rect">
            <a:avLst/>
          </a:prstGeom>
          <a:solidFill>
            <a:srgbClr val="C1E8F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sng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Answers</a:t>
            </a:r>
            <a:endParaRPr b="1" sz="4400" u="sng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80"/>
              <a:buFont typeface="Calibri"/>
              <a:buAutoNum type="arabicPeriod"/>
            </a:pPr>
            <a:r>
              <a:rPr b="1" lang="en-US" sz="338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en-US" sz="338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Internet is a </a:t>
            </a:r>
            <a:r>
              <a:rPr b="1" lang="en-US" sz="3380">
                <a:solidFill>
                  <a:srgbClr val="115875"/>
                </a:solidFill>
                <a:latin typeface="Calibri"/>
                <a:ea typeface="Calibri"/>
                <a:cs typeface="Calibri"/>
                <a:sym typeface="Calibri"/>
              </a:rPr>
              <a:t>vast network of interconnected networks </a:t>
            </a:r>
            <a:r>
              <a:rPr lang="en-US" sz="338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that includes private, public, academic, business, and government networks. The World Wide Web, however, is</a:t>
            </a:r>
            <a:r>
              <a:rPr b="1" lang="en-US" sz="3380">
                <a:solidFill>
                  <a:srgbClr val="115875"/>
                </a:solidFill>
                <a:latin typeface="Calibri"/>
                <a:ea typeface="Calibri"/>
                <a:cs typeface="Calibri"/>
                <a:sym typeface="Calibri"/>
              </a:rPr>
              <a:t> a service that operates on the Internet</a:t>
            </a:r>
            <a:r>
              <a:rPr lang="en-US" sz="338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80"/>
              <a:buFont typeface="Calibri"/>
              <a:buAutoNum type="arabicPeriod"/>
            </a:pPr>
            <a:r>
              <a:rPr b="1" lang="en-US" sz="338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338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URL (</a:t>
            </a:r>
            <a:r>
              <a:rPr b="1" lang="en-US" sz="3380">
                <a:solidFill>
                  <a:srgbClr val="115875"/>
                </a:solidFill>
                <a:latin typeface="Calibri"/>
                <a:ea typeface="Calibri"/>
                <a:cs typeface="Calibri"/>
                <a:sym typeface="Calibri"/>
              </a:rPr>
              <a:t>Uniform Resource Locator</a:t>
            </a:r>
            <a:r>
              <a:rPr lang="en-US" sz="338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) is </a:t>
            </a:r>
            <a:r>
              <a:rPr b="1" lang="en-US" sz="3380">
                <a:solidFill>
                  <a:srgbClr val="115875"/>
                </a:solidFill>
                <a:latin typeface="Calibri"/>
                <a:ea typeface="Calibri"/>
                <a:cs typeface="Calibri"/>
                <a:sym typeface="Calibri"/>
              </a:rPr>
              <a:t>the address used to access specific resources on the World Wide Web</a:t>
            </a:r>
            <a:r>
              <a:rPr lang="en-US" sz="338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, such as websites, videos, or images.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80"/>
              <a:buFont typeface="Calibri"/>
              <a:buAutoNum type="arabicPeriod"/>
            </a:pPr>
            <a:r>
              <a:rPr b="1" lang="en-US" sz="338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r>
              <a:rPr lang="en-US" sz="338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(HyperText Transfer Protocol) and HTTPS (HyperText Transfer Protocol Secure) </a:t>
            </a:r>
            <a:r>
              <a:rPr b="1" lang="en-US" sz="3380">
                <a:solidFill>
                  <a:srgbClr val="115875"/>
                </a:solidFill>
                <a:latin typeface="Calibri"/>
                <a:ea typeface="Calibri"/>
                <a:cs typeface="Calibri"/>
                <a:sym typeface="Calibri"/>
              </a:rPr>
              <a:t>differ mainly in terms of security</a:t>
            </a:r>
            <a:r>
              <a:rPr lang="en-US" sz="338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1" lang="en-US" sz="3380">
                <a:solidFill>
                  <a:srgbClr val="115875"/>
                </a:solidFill>
                <a:latin typeface="Calibri"/>
                <a:ea typeface="Calibri"/>
                <a:cs typeface="Calibri"/>
                <a:sym typeface="Calibri"/>
              </a:rPr>
              <a:t>HTTPS enhances security </a:t>
            </a:r>
            <a:r>
              <a:rPr lang="en-US" sz="338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by encrypting the data exchanged between users and websites, protecting it from interception.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80"/>
              <a:buFont typeface="Calibri"/>
              <a:buAutoNum type="arabicPeriod"/>
            </a:pPr>
            <a:r>
              <a:rPr b="1" lang="en-US" sz="338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r>
              <a:rPr lang="en-US" sz="338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(Domain Name System) </a:t>
            </a:r>
            <a:r>
              <a:rPr b="1" lang="en-US" sz="3380">
                <a:solidFill>
                  <a:srgbClr val="115875"/>
                </a:solidFill>
                <a:latin typeface="Calibri"/>
                <a:ea typeface="Calibri"/>
                <a:cs typeface="Calibri"/>
                <a:sym typeface="Calibri"/>
              </a:rPr>
              <a:t>translates the human-readable URL into an IP address that the internet can understand</a:t>
            </a:r>
            <a:r>
              <a:rPr lang="en-US" sz="338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, which is necessary for </a:t>
            </a:r>
            <a:r>
              <a:rPr b="1" lang="en-US" sz="3380">
                <a:solidFill>
                  <a:srgbClr val="115875"/>
                </a:solidFill>
                <a:latin typeface="Calibri"/>
                <a:ea typeface="Calibri"/>
                <a:cs typeface="Calibri"/>
                <a:sym typeface="Calibri"/>
              </a:rPr>
              <a:t>locating and retrieving the website's data</a:t>
            </a:r>
            <a:r>
              <a:rPr lang="en-US" sz="338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80"/>
              <a:buFont typeface="Calibri"/>
              <a:buAutoNum type="arabicPeriod"/>
            </a:pPr>
            <a:r>
              <a:rPr b="1" lang="en-US" sz="338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Web</a:t>
            </a:r>
            <a:r>
              <a:rPr lang="en-US" sz="338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browsers are </a:t>
            </a:r>
            <a:r>
              <a:rPr b="1" lang="en-US" sz="3380">
                <a:solidFill>
                  <a:srgbClr val="115875"/>
                </a:solidFill>
                <a:latin typeface="Calibri"/>
                <a:ea typeface="Calibri"/>
                <a:cs typeface="Calibri"/>
                <a:sym typeface="Calibri"/>
              </a:rPr>
              <a:t>software applications that allow users to access, retrieve, present, and navigate information on the World Wide Web</a:t>
            </a:r>
            <a:r>
              <a:rPr lang="en-US" sz="338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. They process URLs, interact with servers via HTTP or HTTPS, and display web pages.</a:t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/>
          <p:nvPr/>
        </p:nvSpPr>
        <p:spPr>
          <a:xfrm>
            <a:off x="825910" y="603231"/>
            <a:ext cx="22519528" cy="12047593"/>
          </a:xfrm>
          <a:prstGeom prst="rect">
            <a:avLst/>
          </a:prstGeom>
          <a:solidFill>
            <a:srgbClr val="E0F5F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 u="sng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Write your Answers on Teams</a:t>
            </a:r>
            <a:endParaRPr/>
          </a:p>
          <a:p>
            <a:pPr indent="-1028443" lvl="0" marL="1028443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Calibri"/>
              <a:buAutoNum type="arabicPeriod"/>
            </a:pPr>
            <a:r>
              <a:rPr b="1" lang="en-US" sz="5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lang="en-US" sz="5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is the </a:t>
            </a:r>
            <a:r>
              <a:rPr lang="en-US" sz="5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difference</a:t>
            </a:r>
            <a:r>
              <a:rPr lang="en-US" sz="5400">
                <a:solidFill>
                  <a:srgbClr val="1C825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between the Internet and the </a:t>
            </a:r>
            <a:r>
              <a:rPr lang="en-US" sz="5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WWW</a:t>
            </a:r>
            <a:r>
              <a:rPr lang="en-US" sz="5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1028443" lvl="0" marL="1028443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Calibri"/>
              <a:buAutoNum type="arabicPeriod"/>
            </a:pPr>
            <a:r>
              <a:rPr b="1" lang="en-US" sz="5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lang="en-US" sz="5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is a </a:t>
            </a:r>
            <a:r>
              <a:rPr lang="en-US" sz="5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URL</a:t>
            </a:r>
            <a:r>
              <a:rPr lang="en-US" sz="5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b="1" lang="en-US" sz="5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lang="en-US" sz="5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types</a:t>
            </a:r>
            <a:r>
              <a:rPr lang="en-US" sz="5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of resources can it be used to access</a:t>
            </a:r>
            <a:endParaRPr/>
          </a:p>
          <a:p>
            <a:pPr indent="-1028443" lvl="0" marL="1028443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Calibri"/>
              <a:buAutoNum type="arabicPeriod"/>
            </a:pPr>
            <a:r>
              <a:rPr b="1" lang="en-US" sz="5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How </a:t>
            </a:r>
            <a:r>
              <a:rPr lang="en-US" sz="5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do HTTP and HTTPS </a:t>
            </a:r>
            <a:r>
              <a:rPr lang="en-US" sz="5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differ</a:t>
            </a:r>
            <a:r>
              <a:rPr lang="en-US" sz="5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in terms of data security?</a:t>
            </a:r>
            <a:endParaRPr/>
          </a:p>
          <a:p>
            <a:pPr indent="-1028443" lvl="0" marL="1028443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Calibri"/>
              <a:buAutoNum type="arabicPeriod"/>
            </a:pPr>
            <a:r>
              <a:rPr b="1" lang="en-US" sz="5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lang="en-US" sz="5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role</a:t>
            </a:r>
            <a:r>
              <a:rPr lang="en-US" sz="5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does DNS play when a URL is </a:t>
            </a:r>
            <a:r>
              <a:rPr lang="en-US" sz="5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entered</a:t>
            </a:r>
            <a:r>
              <a:rPr lang="en-US" sz="5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into a web browser?</a:t>
            </a:r>
            <a:endParaRPr/>
          </a:p>
          <a:p>
            <a:pPr indent="-1028443" lvl="0" marL="1028443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Calibri"/>
              <a:buAutoNum type="arabicPeriod"/>
            </a:pPr>
            <a:r>
              <a:rPr b="1" lang="en-US" sz="5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Explain </a:t>
            </a:r>
            <a:r>
              <a:rPr lang="en-US" sz="5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b="1" lang="en-US" sz="5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r>
              <a:rPr lang="en-US" sz="5400">
                <a:solidFill>
                  <a:srgbClr val="1C825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of a web browser in </a:t>
            </a:r>
            <a:r>
              <a:rPr lang="en-US" sz="5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accessing</a:t>
            </a:r>
            <a:r>
              <a:rPr lang="en-US" sz="5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information on the WWW?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/>
        </p:nvSpPr>
        <p:spPr>
          <a:xfrm>
            <a:off x="892338" y="1363738"/>
            <a:ext cx="9603386" cy="2400657"/>
          </a:xfrm>
          <a:prstGeom prst="rect">
            <a:avLst/>
          </a:prstGeom>
          <a:solidFill>
            <a:srgbClr val="C1E8F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0"/>
              <a:buFont typeface="Arial"/>
              <a:buNone/>
            </a:pPr>
            <a:r>
              <a:rPr b="1" lang="en-US" sz="150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Instructions</a:t>
            </a:r>
            <a:endParaRPr sz="15000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77" name="Google Shape;77;p11"/>
          <p:cNvSpPr txBox="1"/>
          <p:nvPr/>
        </p:nvSpPr>
        <p:spPr>
          <a:xfrm>
            <a:off x="892338" y="4109452"/>
            <a:ext cx="9603386" cy="8804783"/>
          </a:xfrm>
          <a:prstGeom prst="rect">
            <a:avLst/>
          </a:prstGeom>
          <a:solidFill>
            <a:srgbClr val="DEF8E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900"/>
              <a:buFont typeface="Arial"/>
              <a:buNone/>
            </a:pPr>
            <a:r>
              <a:rPr b="1" lang="en-US" sz="19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Open</a:t>
            </a:r>
            <a:r>
              <a:rPr lang="en-US" sz="19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99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Kahoot</a:t>
            </a:r>
            <a:r>
              <a:rPr lang="en-US" sz="19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2169" y="3180522"/>
            <a:ext cx="12121323" cy="6818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/>
        </p:nvSpPr>
        <p:spPr>
          <a:xfrm>
            <a:off x="10972801" y="633508"/>
            <a:ext cx="12899570" cy="2015936"/>
          </a:xfrm>
          <a:prstGeom prst="rect">
            <a:avLst/>
          </a:prstGeom>
          <a:solidFill>
            <a:srgbClr val="C1E8F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0"/>
              <a:buFont typeface="Arial"/>
              <a:buNone/>
            </a:pPr>
            <a:r>
              <a:rPr b="1" lang="en-US" sz="125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Think – Pair - Share</a:t>
            </a:r>
            <a:endParaRPr sz="12500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85" name="Google Shape;85;p12"/>
          <p:cNvSpPr txBox="1"/>
          <p:nvPr/>
        </p:nvSpPr>
        <p:spPr>
          <a:xfrm>
            <a:off x="10972801" y="2924395"/>
            <a:ext cx="12899570" cy="3606757"/>
          </a:xfrm>
          <a:prstGeom prst="rect">
            <a:avLst/>
          </a:prstGeom>
          <a:solidFill>
            <a:srgbClr val="FFECB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0" lvl="0" marL="1143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Arial"/>
              <a:buChar char="•"/>
            </a:pPr>
            <a:r>
              <a:rPr b="1" lang="en-US" sz="75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Read</a:t>
            </a:r>
            <a:r>
              <a:rPr lang="en-US" sz="75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the </a:t>
            </a:r>
            <a:r>
              <a:rPr lang="en-US" sz="7500">
                <a:solidFill>
                  <a:srgbClr val="7030A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case study example</a:t>
            </a:r>
            <a:r>
              <a:rPr lang="en-US" sz="75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.</a:t>
            </a:r>
            <a:endParaRPr/>
          </a:p>
          <a:p>
            <a:pPr indent="-1143000" lvl="0" marL="114300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Arial"/>
              <a:buChar char="•"/>
            </a:pPr>
            <a:r>
              <a:rPr b="1" lang="en-US" sz="75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What’s</a:t>
            </a:r>
            <a:r>
              <a:rPr lang="en-US" sz="75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 your </a:t>
            </a:r>
            <a:r>
              <a:rPr lang="en-US" sz="7500">
                <a:solidFill>
                  <a:srgbClr val="7030A0"/>
                </a:solidFill>
                <a:latin typeface="Lato Light"/>
                <a:ea typeface="Lato Light"/>
                <a:cs typeface="Lato Light"/>
                <a:sym typeface="Lato Light"/>
              </a:rPr>
              <a:t>advice</a:t>
            </a:r>
            <a:r>
              <a:rPr lang="en-US" sz="75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?</a:t>
            </a:r>
            <a:endParaRPr sz="7500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86" name="Google Shape;86;p12"/>
          <p:cNvSpPr txBox="1"/>
          <p:nvPr/>
        </p:nvSpPr>
        <p:spPr>
          <a:xfrm>
            <a:off x="10972801" y="6677665"/>
            <a:ext cx="12899570" cy="6143541"/>
          </a:xfrm>
          <a:prstGeom prst="rect">
            <a:avLst/>
          </a:prstGeom>
          <a:solidFill>
            <a:srgbClr val="FFE7C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50"/>
              <a:buFont typeface="Arial"/>
              <a:buNone/>
            </a:pPr>
            <a:r>
              <a:rPr b="1" lang="en-US" sz="905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Think </a:t>
            </a:r>
            <a:r>
              <a:rPr lang="en-US" sz="905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about (1) the </a:t>
            </a:r>
            <a:r>
              <a:rPr lang="en-US" sz="9050">
                <a:solidFill>
                  <a:srgbClr val="0070C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security </a:t>
            </a:r>
            <a:r>
              <a:rPr lang="en-US" sz="905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(2) customer </a:t>
            </a:r>
            <a:r>
              <a:rPr lang="en-US" sz="9050">
                <a:solidFill>
                  <a:srgbClr val="0070C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trust</a:t>
            </a:r>
            <a:r>
              <a:rPr lang="en-US" sz="905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(3) data </a:t>
            </a:r>
            <a:r>
              <a:rPr lang="en-US" sz="9050">
                <a:solidFill>
                  <a:srgbClr val="0070C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integrity</a:t>
            </a:r>
            <a:endParaRPr/>
          </a:p>
        </p:txBody>
      </p:sp>
      <p:sp>
        <p:nvSpPr>
          <p:cNvPr id="87" name="Google Shape;87;p12"/>
          <p:cNvSpPr/>
          <p:nvPr/>
        </p:nvSpPr>
        <p:spPr>
          <a:xfrm>
            <a:off x="250229" y="366490"/>
            <a:ext cx="10457416" cy="12934938"/>
          </a:xfrm>
          <a:prstGeom prst="rect">
            <a:avLst/>
          </a:prstGeom>
          <a:solidFill>
            <a:srgbClr val="DEF8ED"/>
          </a:solidFill>
          <a:ln cap="flat" cmpd="sng" w="12700">
            <a:solidFill>
              <a:srgbClr val="0B537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 u="sng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Case Study</a:t>
            </a:r>
            <a:r>
              <a:rPr lang="en-US" sz="7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Our school’s new business, ”HarrowFashion," is launching an </a:t>
            </a:r>
            <a:r>
              <a:rPr lang="en-US" sz="7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online store </a:t>
            </a:r>
            <a:r>
              <a:rPr lang="en-US" sz="7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 sell </a:t>
            </a:r>
            <a:r>
              <a:rPr lang="en-US" sz="7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sustainable clothing</a:t>
            </a:r>
            <a:r>
              <a:rPr lang="en-US" sz="7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. The company is </a:t>
            </a:r>
            <a:r>
              <a:rPr lang="en-US" sz="7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considering</a:t>
            </a:r>
            <a:r>
              <a:rPr lang="en-US" sz="7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whether to use HTTP </a:t>
            </a:r>
            <a:r>
              <a:rPr lang="en-US" sz="7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r>
              <a:rPr lang="en-US" sz="7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HTTPS for their website.</a:t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/>
          <p:nvPr/>
        </p:nvSpPr>
        <p:spPr>
          <a:xfrm>
            <a:off x="646235" y="153309"/>
            <a:ext cx="23455239" cy="1755004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1074582" y="270424"/>
            <a:ext cx="22598544" cy="1334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</a:pPr>
            <a:r>
              <a:rPr b="1" lang="en-US" sz="6000" u="sng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Target Task: Case Study or Exam Practice</a:t>
            </a:r>
            <a:endParaRPr/>
          </a:p>
        </p:txBody>
      </p:sp>
      <p:cxnSp>
        <p:nvCxnSpPr>
          <p:cNvPr id="95" name="Google Shape;95;p13"/>
          <p:cNvCxnSpPr/>
          <p:nvPr/>
        </p:nvCxnSpPr>
        <p:spPr>
          <a:xfrm>
            <a:off x="10859432" y="2047026"/>
            <a:ext cx="0" cy="1138952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" name="Google Shape;96;p13"/>
          <p:cNvSpPr/>
          <p:nvPr/>
        </p:nvSpPr>
        <p:spPr>
          <a:xfrm>
            <a:off x="257577" y="2047025"/>
            <a:ext cx="10485237" cy="7129632"/>
          </a:xfrm>
          <a:prstGeom prst="roundRect">
            <a:avLst>
              <a:gd fmla="val 16667" name="adj"/>
            </a:avLst>
          </a:prstGeom>
          <a:solidFill>
            <a:srgbClr val="E0F5F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2060390" y="2191255"/>
            <a:ext cx="6907431" cy="7694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u="sng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Option 1: Case Study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661189" y="2899106"/>
            <a:ext cx="9809585" cy="6319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b="1" lang="en-US" sz="3200" u="sng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Instructions </a:t>
            </a:r>
            <a:r>
              <a:rPr b="1" lang="en-US" sz="32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– </a:t>
            </a:r>
            <a:r>
              <a:rPr i="1" lang="en-US" sz="32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What’s your advice for ‘HarrowFashion’ choice of protocol for their website? HTTP or HTTPS?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b="1" lang="en-US" sz="3200" u="sng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Success Criteria</a:t>
            </a:r>
            <a:endParaRPr/>
          </a:p>
          <a:p>
            <a:pPr indent="-571500" lvl="0" marL="571500" marR="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Anaylse the </a:t>
            </a:r>
            <a:r>
              <a:rPr lang="en-US" sz="3200">
                <a:solidFill>
                  <a:srgbClr val="1C8256"/>
                </a:solidFill>
                <a:latin typeface="Lato Light"/>
                <a:ea typeface="Lato Light"/>
                <a:cs typeface="Lato Light"/>
                <a:sym typeface="Lato Light"/>
              </a:rPr>
              <a:t>security </a:t>
            </a:r>
            <a:r>
              <a:rPr lang="en-US" sz="32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implications for each option.</a:t>
            </a:r>
            <a:endParaRPr i="1" sz="32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571500" lvl="0" marL="571500" marR="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Explain how </a:t>
            </a:r>
            <a:r>
              <a:rPr lang="en-US" sz="3200">
                <a:solidFill>
                  <a:srgbClr val="7030A0"/>
                </a:solidFill>
                <a:latin typeface="Lato Light"/>
                <a:ea typeface="Lato Light"/>
                <a:cs typeface="Lato Light"/>
                <a:sym typeface="Lato Light"/>
              </a:rPr>
              <a:t>customer trust</a:t>
            </a:r>
            <a:r>
              <a:rPr lang="en-US" sz="32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 would be impacted by your advice.</a:t>
            </a:r>
            <a:endParaRPr/>
          </a:p>
          <a:p>
            <a:pPr indent="-571500" lvl="0" marL="571500" marR="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Evaluate how the </a:t>
            </a:r>
            <a:r>
              <a:rPr lang="en-US" sz="3200">
                <a:solidFill>
                  <a:srgbClr val="0070C0"/>
                </a:solidFill>
                <a:latin typeface="Lato Light"/>
                <a:ea typeface="Lato Light"/>
                <a:cs typeface="Lato Light"/>
                <a:sym typeface="Lato Light"/>
              </a:rPr>
              <a:t>integrity</a:t>
            </a:r>
            <a:r>
              <a:rPr lang="en-US" sz="32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 of the </a:t>
            </a:r>
            <a:r>
              <a:rPr lang="en-US" sz="3200">
                <a:solidFill>
                  <a:srgbClr val="0070C0"/>
                </a:solidFill>
                <a:latin typeface="Lato Light"/>
                <a:ea typeface="Lato Light"/>
                <a:cs typeface="Lato Light"/>
                <a:sym typeface="Lato Light"/>
              </a:rPr>
              <a:t>data</a:t>
            </a:r>
            <a:r>
              <a:rPr lang="en-US" sz="32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 would be impacted by the choice.</a:t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11301236" y="2047025"/>
            <a:ext cx="12817700" cy="1002081"/>
          </a:xfrm>
          <a:prstGeom prst="roundRect">
            <a:avLst>
              <a:gd fmla="val 16667" name="adj"/>
            </a:avLst>
          </a:prstGeom>
          <a:solidFill>
            <a:srgbClr val="E0F5F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2962157" y="1982311"/>
            <a:ext cx="10710969" cy="1023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Arial"/>
              <a:buNone/>
            </a:pPr>
            <a:r>
              <a:rPr b="1" lang="en-US" sz="4500" u="sng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Option 2: Exam Practice</a:t>
            </a:r>
            <a:endParaRPr/>
          </a:p>
        </p:txBody>
      </p:sp>
      <p:sp>
        <p:nvSpPr>
          <p:cNvPr id="101" name="Google Shape;101;p13"/>
          <p:cNvSpPr/>
          <p:nvPr/>
        </p:nvSpPr>
        <p:spPr>
          <a:xfrm>
            <a:off x="11301236" y="3243639"/>
            <a:ext cx="12817700" cy="2267527"/>
          </a:xfrm>
          <a:prstGeom prst="rect">
            <a:avLst/>
          </a:prstGeom>
          <a:solidFill>
            <a:srgbClr val="FFE7CF"/>
          </a:solidFill>
          <a:ln cap="flat" cmpd="sng" w="12700">
            <a:solidFill>
              <a:srgbClr val="0B537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11301235" y="3222282"/>
            <a:ext cx="12817701" cy="2151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</a:pPr>
            <a:r>
              <a:rPr b="1" lang="en-US" sz="48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Bronze (1 mark):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1C8256"/>
              </a:buClr>
              <a:buSzPts val="4000"/>
              <a:buFont typeface="Arial"/>
              <a:buChar char="•"/>
            </a:pPr>
            <a:r>
              <a:rPr lang="en-US" sz="4000">
                <a:solidFill>
                  <a:srgbClr val="1C8256"/>
                </a:solidFill>
                <a:latin typeface="Lato Light"/>
                <a:ea typeface="Lato Light"/>
                <a:cs typeface="Lato Light"/>
                <a:sym typeface="Lato Light"/>
              </a:rPr>
              <a:t>What</a:t>
            </a:r>
            <a:r>
              <a:rPr lang="en-US" sz="40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 does URL </a:t>
            </a:r>
            <a:r>
              <a:rPr lang="en-US" sz="4000">
                <a:solidFill>
                  <a:srgbClr val="1C8256"/>
                </a:solidFill>
                <a:latin typeface="Lato Light"/>
                <a:ea typeface="Lato Light"/>
                <a:cs typeface="Lato Light"/>
                <a:sym typeface="Lato Light"/>
              </a:rPr>
              <a:t>stand for</a:t>
            </a:r>
            <a:r>
              <a:rPr lang="en-US" sz="40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, and what’ is its </a:t>
            </a:r>
            <a:r>
              <a:rPr lang="en-US" sz="4000">
                <a:solidFill>
                  <a:srgbClr val="1C8256"/>
                </a:solidFill>
                <a:latin typeface="Lato Light"/>
                <a:ea typeface="Lato Light"/>
                <a:cs typeface="Lato Light"/>
                <a:sym typeface="Lato Light"/>
              </a:rPr>
              <a:t>purpose</a:t>
            </a:r>
            <a:r>
              <a:rPr lang="en-US" sz="40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?</a:t>
            </a:r>
            <a:endParaRPr/>
          </a:p>
        </p:txBody>
      </p:sp>
      <p:sp>
        <p:nvSpPr>
          <p:cNvPr id="103" name="Google Shape;103;p13"/>
          <p:cNvSpPr/>
          <p:nvPr/>
        </p:nvSpPr>
        <p:spPr>
          <a:xfrm>
            <a:off x="11259959" y="5694830"/>
            <a:ext cx="12858977" cy="3286309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0B537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11360563" y="5698885"/>
            <a:ext cx="12699043" cy="3351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</a:pPr>
            <a:r>
              <a:rPr b="1" lang="en-US" sz="60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Silver (2 marks): 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7030A0"/>
              </a:buClr>
              <a:buSzPts val="4000"/>
              <a:buFont typeface="Arial"/>
              <a:buChar char="•"/>
            </a:pPr>
            <a:r>
              <a:rPr lang="en-US" sz="4000">
                <a:solidFill>
                  <a:srgbClr val="7030A0"/>
                </a:solidFill>
                <a:latin typeface="Lato Light"/>
                <a:ea typeface="Lato Light"/>
                <a:cs typeface="Lato Light"/>
                <a:sym typeface="Lato Light"/>
              </a:rPr>
              <a:t>Describe</a:t>
            </a:r>
            <a:r>
              <a:rPr lang="en-US" sz="40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 the </a:t>
            </a:r>
            <a:r>
              <a:rPr lang="en-US" sz="4000">
                <a:solidFill>
                  <a:srgbClr val="7030A0"/>
                </a:solidFill>
                <a:latin typeface="Lato Light"/>
                <a:ea typeface="Lato Light"/>
                <a:cs typeface="Lato Light"/>
                <a:sym typeface="Lato Light"/>
              </a:rPr>
              <a:t>difference</a:t>
            </a:r>
            <a:r>
              <a:rPr lang="en-US" sz="40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 between HTTP and HTTPs, Why is HTTPs preferred for secure communications?</a:t>
            </a:r>
            <a:endParaRPr/>
          </a:p>
        </p:txBody>
      </p:sp>
      <p:sp>
        <p:nvSpPr>
          <p:cNvPr id="105" name="Google Shape;105;p13"/>
          <p:cNvSpPr/>
          <p:nvPr/>
        </p:nvSpPr>
        <p:spPr>
          <a:xfrm>
            <a:off x="11281830" y="9176657"/>
            <a:ext cx="12817701" cy="3472364"/>
          </a:xfrm>
          <a:prstGeom prst="rect">
            <a:avLst/>
          </a:prstGeom>
          <a:solidFill>
            <a:srgbClr val="FFECBA"/>
          </a:solidFill>
          <a:ln cap="flat" cmpd="sng" w="12700">
            <a:solidFill>
              <a:srgbClr val="0B537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11493192" y="9117822"/>
            <a:ext cx="12625744" cy="3490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Arial"/>
              <a:buNone/>
            </a:pPr>
            <a:r>
              <a:rPr b="1" lang="en-US" sz="6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Gold (3 marks): 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Arial"/>
              <a:buChar char="•"/>
            </a:pPr>
            <a:r>
              <a:rPr lang="en-US" sz="4000">
                <a:solidFill>
                  <a:srgbClr val="0070C0"/>
                </a:solidFill>
                <a:latin typeface="Lato Light"/>
                <a:ea typeface="Lato Light"/>
                <a:cs typeface="Lato Light"/>
                <a:sym typeface="Lato Light"/>
              </a:rPr>
              <a:t>Explain </a:t>
            </a:r>
            <a:r>
              <a:rPr lang="en-US" sz="40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how a web browser </a:t>
            </a:r>
            <a:r>
              <a:rPr lang="en-US" sz="4000">
                <a:solidFill>
                  <a:srgbClr val="0070C0"/>
                </a:solidFill>
                <a:latin typeface="Lato Light"/>
                <a:ea typeface="Lato Light"/>
                <a:cs typeface="Lato Light"/>
                <a:sym typeface="Lato Light"/>
              </a:rPr>
              <a:t>interacts</a:t>
            </a:r>
            <a:r>
              <a:rPr lang="en-US" sz="40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 with a web server to retrieve and display a web page when a URL is entered.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11338020" y="12781788"/>
            <a:ext cx="12780916" cy="775340"/>
          </a:xfrm>
          <a:prstGeom prst="rect">
            <a:avLst/>
          </a:prstGeom>
          <a:solidFill>
            <a:srgbClr val="E0F5F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Arial"/>
              <a:buNone/>
            </a:pPr>
            <a:r>
              <a:rPr b="1" lang="en-US" sz="3300" u="sng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Challenge Activity</a:t>
            </a:r>
            <a:r>
              <a:rPr b="1" lang="en-US" sz="33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r>
              <a:rPr lang="en-US" sz="33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Complete </a:t>
            </a:r>
            <a:r>
              <a:rPr lang="en-US" sz="3300" u="sng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all three </a:t>
            </a:r>
            <a:r>
              <a:rPr lang="en-US" sz="33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questions for a house point.</a:t>
            </a:r>
            <a:endParaRPr sz="3300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285398" y="9339825"/>
            <a:ext cx="10457416" cy="4086675"/>
          </a:xfrm>
          <a:prstGeom prst="rect">
            <a:avLst/>
          </a:prstGeom>
          <a:solidFill>
            <a:srgbClr val="DEF8ED"/>
          </a:solidFill>
          <a:ln cap="flat" cmpd="sng" w="12700">
            <a:solidFill>
              <a:srgbClr val="0B537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 u="sng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Case Study</a:t>
            </a:r>
            <a:r>
              <a:rPr lang="en-US" sz="3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Our school’s new business, ”HarrowFashion," is launching an </a:t>
            </a:r>
            <a:r>
              <a:rPr lang="en-US" sz="3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online store </a:t>
            </a:r>
            <a:r>
              <a:rPr lang="en-US" sz="3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 sell </a:t>
            </a:r>
            <a:r>
              <a:rPr lang="en-US" sz="3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sustainable cloth</a:t>
            </a:r>
            <a:r>
              <a:rPr lang="en-US" sz="3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ing. The company is </a:t>
            </a:r>
            <a:r>
              <a:rPr lang="en-US" sz="3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considering</a:t>
            </a:r>
            <a:r>
              <a:rPr lang="en-US" sz="3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whether to use HTTP </a:t>
            </a:r>
            <a:r>
              <a:rPr lang="en-US" sz="3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r>
              <a:rPr lang="en-US" sz="3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HTTPS for their website.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/>
          <p:nvPr/>
        </p:nvSpPr>
        <p:spPr>
          <a:xfrm>
            <a:off x="294044" y="1365354"/>
            <a:ext cx="7808556" cy="3943643"/>
          </a:xfrm>
          <a:prstGeom prst="rect">
            <a:avLst/>
          </a:prstGeom>
          <a:solidFill>
            <a:srgbClr val="FFE7CF"/>
          </a:solidFill>
          <a:ln cap="flat" cmpd="sng" w="12700">
            <a:solidFill>
              <a:srgbClr val="0B537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378893" y="1307211"/>
            <a:ext cx="7808557" cy="37265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</a:pPr>
            <a:r>
              <a:rPr b="1" lang="en-US" sz="60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Bronze (1 mark):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960"/>
              </a:spcBef>
              <a:spcAft>
                <a:spcPts val="0"/>
              </a:spcAft>
              <a:buClr>
                <a:srgbClr val="1C8256"/>
              </a:buClr>
              <a:buSzPts val="4800"/>
              <a:buFont typeface="Arial"/>
              <a:buChar char="•"/>
            </a:pPr>
            <a:r>
              <a:rPr lang="en-US" sz="4800">
                <a:solidFill>
                  <a:srgbClr val="1C8256"/>
                </a:solidFill>
                <a:latin typeface="Lato Light"/>
                <a:ea typeface="Lato Light"/>
                <a:cs typeface="Lato Light"/>
                <a:sym typeface="Lato Light"/>
              </a:rPr>
              <a:t>What</a:t>
            </a:r>
            <a:r>
              <a:rPr lang="en-US" sz="48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 does URL </a:t>
            </a:r>
            <a:r>
              <a:rPr lang="en-US" sz="4800">
                <a:solidFill>
                  <a:srgbClr val="1C8256"/>
                </a:solidFill>
                <a:latin typeface="Lato Light"/>
                <a:ea typeface="Lato Light"/>
                <a:cs typeface="Lato Light"/>
                <a:sym typeface="Lato Light"/>
              </a:rPr>
              <a:t>stand for</a:t>
            </a:r>
            <a:r>
              <a:rPr lang="en-US" sz="48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, and what’ is its </a:t>
            </a:r>
            <a:r>
              <a:rPr lang="en-US" sz="4800">
                <a:solidFill>
                  <a:srgbClr val="1C8256"/>
                </a:solidFill>
                <a:latin typeface="Lato Light"/>
                <a:ea typeface="Lato Light"/>
                <a:cs typeface="Lato Light"/>
                <a:sym typeface="Lato Light"/>
              </a:rPr>
              <a:t>purpose</a:t>
            </a:r>
            <a:r>
              <a:rPr lang="en-US" sz="48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?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8230012" y="1365354"/>
            <a:ext cx="7761661" cy="3943643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0B537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8334672" y="1352700"/>
            <a:ext cx="7732358" cy="3718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</a:pPr>
            <a:r>
              <a:rPr b="1" lang="en-US" sz="48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Silver (2 marks): 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72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rgbClr val="7030A0"/>
                </a:solidFill>
                <a:latin typeface="Lato Light"/>
                <a:ea typeface="Lato Light"/>
                <a:cs typeface="Lato Light"/>
                <a:sym typeface="Lato Light"/>
              </a:rPr>
              <a:t>Describe</a:t>
            </a:r>
            <a:r>
              <a:rPr lang="en-US" sz="3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 the </a:t>
            </a:r>
            <a:r>
              <a:rPr lang="en-US" sz="3600">
                <a:solidFill>
                  <a:srgbClr val="7030A0"/>
                </a:solidFill>
                <a:latin typeface="Lato Light"/>
                <a:ea typeface="Lato Light"/>
                <a:cs typeface="Lato Light"/>
                <a:sym typeface="Lato Light"/>
              </a:rPr>
              <a:t>difference</a:t>
            </a:r>
            <a:r>
              <a:rPr lang="en-US" sz="3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 between HTTP and HTTPs, Why is HTTPs preferred for secure communications?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16194442" y="1377667"/>
            <a:ext cx="7808558" cy="3896678"/>
          </a:xfrm>
          <a:prstGeom prst="rect">
            <a:avLst/>
          </a:prstGeom>
          <a:solidFill>
            <a:srgbClr val="FFECBA"/>
          </a:solidFill>
          <a:ln cap="flat" cmpd="sng" w="12700">
            <a:solidFill>
              <a:srgbClr val="0B537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16269799" y="1307211"/>
            <a:ext cx="7691618" cy="3646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</a:pPr>
            <a:r>
              <a:rPr b="1" lang="en-US" sz="5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Gold (3 marks): 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660"/>
              </a:spcBef>
              <a:spcAft>
                <a:spcPts val="0"/>
              </a:spcAft>
              <a:buClr>
                <a:srgbClr val="0070C0"/>
              </a:buClr>
              <a:buSzPts val="3300"/>
              <a:buFont typeface="Arial"/>
              <a:buChar char="•"/>
            </a:pPr>
            <a:r>
              <a:rPr lang="en-US" sz="3300">
                <a:solidFill>
                  <a:srgbClr val="0070C0"/>
                </a:solidFill>
                <a:latin typeface="Lato Light"/>
                <a:ea typeface="Lato Light"/>
                <a:cs typeface="Lato Light"/>
                <a:sym typeface="Lato Light"/>
              </a:rPr>
              <a:t>Explain </a:t>
            </a:r>
            <a:r>
              <a:rPr lang="en-US" sz="3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how a web browser </a:t>
            </a:r>
            <a:r>
              <a:rPr lang="en-US" sz="3300">
                <a:solidFill>
                  <a:srgbClr val="0070C0"/>
                </a:solidFill>
                <a:latin typeface="Lato Light"/>
                <a:ea typeface="Lato Light"/>
                <a:cs typeface="Lato Light"/>
                <a:sym typeface="Lato Light"/>
              </a:rPr>
              <a:t>interacts</a:t>
            </a:r>
            <a:r>
              <a:rPr lang="en-US" sz="3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 with a web server to retrieve and display a web page when a URL is entered.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8102600" y="-127711"/>
            <a:ext cx="7808557" cy="1458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Arial"/>
              <a:buNone/>
            </a:pPr>
            <a:r>
              <a:rPr b="1" lang="en-US" sz="6600" u="sng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Answers</a:t>
            </a:r>
            <a:endParaRPr sz="4800" u="sng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294044" y="5404574"/>
            <a:ext cx="7808556" cy="8032026"/>
          </a:xfrm>
          <a:prstGeom prst="rect">
            <a:avLst/>
          </a:prstGeom>
          <a:solidFill>
            <a:srgbClr val="FFE7CF"/>
          </a:solidFill>
          <a:ln cap="flat" cmpd="sng" w="12700">
            <a:solidFill>
              <a:srgbClr val="0B537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295298" y="5384785"/>
            <a:ext cx="7808557" cy="734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30"/>
              <a:buFont typeface="Arial"/>
              <a:buNone/>
            </a:pPr>
            <a:r>
              <a:rPr lang="en-US" sz="353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 URL, which stands for </a:t>
            </a:r>
            <a:r>
              <a:rPr lang="en-US" sz="3530">
                <a:solidFill>
                  <a:srgbClr val="1C825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Uniform Resource Locator</a:t>
            </a:r>
            <a:r>
              <a:rPr lang="en-US" sz="353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, acts as </a:t>
            </a:r>
            <a:r>
              <a:rPr lang="en-US" sz="3530">
                <a:solidFill>
                  <a:srgbClr val="1C825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 web address that directs a browser to a specific resource on the Internet</a:t>
            </a:r>
            <a:r>
              <a:rPr lang="en-US" sz="353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, like a webpage, video, or image. It </a:t>
            </a:r>
            <a:r>
              <a:rPr b="1" lang="en-US" sz="3530">
                <a:solidFill>
                  <a:srgbClr val="1C825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provides the exact location</a:t>
            </a:r>
            <a:r>
              <a:rPr lang="en-US" sz="353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where the resource is hosted and the protocol needed to retrieve it, thereby facilitating easy navigation and access to data across the web.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8320297" y="5404574"/>
            <a:ext cx="7671376" cy="8032026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0B537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8321552" y="5408538"/>
            <a:ext cx="7670121" cy="8330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30"/>
              <a:buFont typeface="Arial"/>
              <a:buNone/>
            </a:pPr>
            <a:r>
              <a:rPr lang="en-US" sz="293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HTTP (HyperText Transfer Protocol) and HTTPS (HyperText Transfer Protocol Secure) differ mainly in terms of security; </a:t>
            </a:r>
            <a:r>
              <a:rPr lang="en-US" sz="2930">
                <a:solidFill>
                  <a:srgbClr val="7030A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HTTPS is essentially HTTP with encryption</a:t>
            </a:r>
            <a:r>
              <a:rPr lang="en-US" sz="293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. The encryption in HTTPS, provided through SSL/TLS, secures data transferred between users and websites, protecting it from interception and tampering. </a:t>
            </a:r>
            <a:r>
              <a:rPr b="1" lang="en-US" sz="2930">
                <a:solidFill>
                  <a:srgbClr val="7030A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This makes HTTPS preferred for secure communications</a:t>
            </a:r>
            <a:r>
              <a:rPr lang="en-US" sz="293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, as it ensures that sensitive information, such as credit card details and personal information, remains confidential and secure during transmission.</a:t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>
            <a:off x="16236730" y="5429974"/>
            <a:ext cx="7724687" cy="8032026"/>
          </a:xfrm>
          <a:prstGeom prst="rect">
            <a:avLst/>
          </a:prstGeom>
          <a:solidFill>
            <a:srgbClr val="FFECBA"/>
          </a:solidFill>
          <a:ln cap="flat" cmpd="sng" w="12700">
            <a:solidFill>
              <a:srgbClr val="0B537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16350315" y="5445861"/>
            <a:ext cx="7611102" cy="7512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70"/>
              <a:buFont typeface="Arial"/>
              <a:buNone/>
            </a:pPr>
            <a:r>
              <a:rPr lang="en-US" sz="297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When a URL is entered into a web browser, the browser </a:t>
            </a:r>
            <a:r>
              <a:rPr lang="en-US" sz="2970">
                <a:solidFill>
                  <a:srgbClr val="0070C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first resolves the URL into an IP address using DNS </a:t>
            </a:r>
            <a:r>
              <a:rPr lang="en-US" sz="297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(Domain Name System). It then sends an HTTP request to the web server at that IP address. The </a:t>
            </a:r>
            <a:r>
              <a:rPr lang="en-US" sz="2970">
                <a:solidFill>
                  <a:srgbClr val="0070C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server processes this request and sends back the requested web page</a:t>
            </a:r>
            <a:r>
              <a:rPr lang="en-US" sz="297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, often in HTML format, along with associated resources like CSS and JavaScript files. The</a:t>
            </a:r>
            <a:r>
              <a:rPr lang="en-US" sz="2970">
                <a:solidFill>
                  <a:srgbClr val="0070C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browser then parses and renders the page for the user to view</a:t>
            </a:r>
            <a:r>
              <a:rPr lang="en-US" sz="297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, executing any embedded scripts to produce the final visible result.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/>
          <p:nvPr/>
        </p:nvSpPr>
        <p:spPr>
          <a:xfrm>
            <a:off x="646235" y="153309"/>
            <a:ext cx="23455239" cy="1755004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1074582" y="270424"/>
            <a:ext cx="22598544" cy="1334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</a:pPr>
            <a:r>
              <a:rPr b="1" lang="en-US" sz="6000" u="sng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Target Task: Case Study or Exam Practice</a:t>
            </a:r>
            <a:endParaRPr/>
          </a:p>
        </p:txBody>
      </p:sp>
      <p:cxnSp>
        <p:nvCxnSpPr>
          <p:cNvPr id="134" name="Google Shape;134;p15"/>
          <p:cNvCxnSpPr/>
          <p:nvPr/>
        </p:nvCxnSpPr>
        <p:spPr>
          <a:xfrm>
            <a:off x="10859432" y="2047026"/>
            <a:ext cx="0" cy="1138952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" name="Google Shape;135;p15"/>
          <p:cNvSpPr/>
          <p:nvPr/>
        </p:nvSpPr>
        <p:spPr>
          <a:xfrm>
            <a:off x="257577" y="2047025"/>
            <a:ext cx="10485237" cy="7129632"/>
          </a:xfrm>
          <a:prstGeom prst="roundRect">
            <a:avLst>
              <a:gd fmla="val 16667" name="adj"/>
            </a:avLst>
          </a:prstGeom>
          <a:solidFill>
            <a:srgbClr val="E0F5F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2060390" y="2191255"/>
            <a:ext cx="6907431" cy="7694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u="sng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Option 1: Case Study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661189" y="2899106"/>
            <a:ext cx="9809585" cy="6319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b="1" lang="en-US" sz="3200" u="sng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Instructions </a:t>
            </a:r>
            <a:r>
              <a:rPr b="1" lang="en-US" sz="32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– </a:t>
            </a:r>
            <a:r>
              <a:rPr i="1" lang="en-US" sz="32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What’s your advice for ‘HarrowFashion’ choice of protocol for their website? HTTP or HTTPS?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b="1" lang="en-US" sz="3200" u="sng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Success Criteria</a:t>
            </a:r>
            <a:endParaRPr/>
          </a:p>
          <a:p>
            <a:pPr indent="-571500" lvl="0" marL="571500" marR="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Anaylse the </a:t>
            </a:r>
            <a:r>
              <a:rPr lang="en-US" sz="3200">
                <a:solidFill>
                  <a:srgbClr val="1C8256"/>
                </a:solidFill>
                <a:latin typeface="Lato Light"/>
                <a:ea typeface="Lato Light"/>
                <a:cs typeface="Lato Light"/>
                <a:sym typeface="Lato Light"/>
              </a:rPr>
              <a:t>security </a:t>
            </a:r>
            <a:r>
              <a:rPr lang="en-US" sz="32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implications for each option.</a:t>
            </a:r>
            <a:endParaRPr i="1" sz="32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571500" lvl="0" marL="571500" marR="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Explain how </a:t>
            </a:r>
            <a:r>
              <a:rPr lang="en-US" sz="3200">
                <a:solidFill>
                  <a:srgbClr val="7030A0"/>
                </a:solidFill>
                <a:latin typeface="Lato Light"/>
                <a:ea typeface="Lato Light"/>
                <a:cs typeface="Lato Light"/>
                <a:sym typeface="Lato Light"/>
              </a:rPr>
              <a:t>customer trust</a:t>
            </a:r>
            <a:r>
              <a:rPr lang="en-US" sz="32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 would be impacted by your advice.</a:t>
            </a:r>
            <a:endParaRPr/>
          </a:p>
          <a:p>
            <a:pPr indent="-571500" lvl="0" marL="571500" marR="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Evaluate how the </a:t>
            </a:r>
            <a:r>
              <a:rPr lang="en-US" sz="3200">
                <a:solidFill>
                  <a:srgbClr val="0070C0"/>
                </a:solidFill>
                <a:latin typeface="Lato Light"/>
                <a:ea typeface="Lato Light"/>
                <a:cs typeface="Lato Light"/>
                <a:sym typeface="Lato Light"/>
              </a:rPr>
              <a:t>integrity</a:t>
            </a:r>
            <a:r>
              <a:rPr lang="en-US" sz="32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 of the </a:t>
            </a:r>
            <a:r>
              <a:rPr lang="en-US" sz="3200">
                <a:solidFill>
                  <a:srgbClr val="0070C0"/>
                </a:solidFill>
                <a:latin typeface="Lato Light"/>
                <a:ea typeface="Lato Light"/>
                <a:cs typeface="Lato Light"/>
                <a:sym typeface="Lato Light"/>
              </a:rPr>
              <a:t>data</a:t>
            </a:r>
            <a:r>
              <a:rPr lang="en-US" sz="32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 would be impacted by the choice.</a:t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285398" y="9339825"/>
            <a:ext cx="10457416" cy="4086675"/>
          </a:xfrm>
          <a:prstGeom prst="rect">
            <a:avLst/>
          </a:prstGeom>
          <a:solidFill>
            <a:srgbClr val="DEF8ED"/>
          </a:solidFill>
          <a:ln cap="flat" cmpd="sng" w="12700">
            <a:solidFill>
              <a:srgbClr val="0B537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 u="sng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Case Study</a:t>
            </a:r>
            <a:r>
              <a:rPr lang="en-US" sz="3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Our school’s new business, ”HarrowFashion," is launching an </a:t>
            </a:r>
            <a:r>
              <a:rPr lang="en-US" sz="3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online store </a:t>
            </a:r>
            <a:r>
              <a:rPr lang="en-US" sz="3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 sell </a:t>
            </a:r>
            <a:r>
              <a:rPr lang="en-US" sz="3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sustainable cloth</a:t>
            </a:r>
            <a:r>
              <a:rPr lang="en-US" sz="3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ing. The company is </a:t>
            </a:r>
            <a:r>
              <a:rPr lang="en-US" sz="3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considering</a:t>
            </a:r>
            <a:r>
              <a:rPr lang="en-US" sz="3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whether to use HTTP </a:t>
            </a:r>
            <a:r>
              <a:rPr lang="en-US" sz="3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r>
              <a:rPr lang="en-US" sz="3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HTTPS for their website.</a:t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11110726" y="2047026"/>
            <a:ext cx="12989491" cy="11389526"/>
          </a:xfrm>
          <a:prstGeom prst="rect">
            <a:avLst/>
          </a:prstGeom>
          <a:solidFill>
            <a:srgbClr val="E0F5F9"/>
          </a:solidFill>
          <a:ln cap="flat" cmpd="sng" w="12700">
            <a:solidFill>
              <a:srgbClr val="0B537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11111981" y="2125208"/>
            <a:ext cx="12989493" cy="11103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Arial"/>
              <a:buNone/>
            </a:pPr>
            <a:r>
              <a:rPr lang="en-US" sz="34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Using HTTP, data between the user's browser and the website is transmitted in plain text, which can be intercepted by cybercriminals. </a:t>
            </a:r>
            <a:r>
              <a:rPr lang="en-US" sz="3400">
                <a:solidFill>
                  <a:srgbClr val="1C825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This poses a significant security risk</a:t>
            </a:r>
            <a:r>
              <a:rPr lang="en-US" sz="34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, especially when handling sensitive customer data such as payment details and personal information. In contrast, </a:t>
            </a:r>
            <a:r>
              <a:rPr b="1" lang="en-US" sz="3400">
                <a:solidFill>
                  <a:srgbClr val="1C825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HTTPS encrypts the data exchange</a:t>
            </a:r>
            <a:r>
              <a:rPr lang="en-US" sz="34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, making it </a:t>
            </a:r>
            <a:r>
              <a:rPr lang="en-US" sz="3400">
                <a:solidFill>
                  <a:srgbClr val="1C825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nearly impossible for unauthorized parties to intercept or tamper with the information</a:t>
            </a:r>
            <a:r>
              <a:rPr lang="en-US" sz="34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68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Arial"/>
              <a:buNone/>
            </a:pPr>
            <a:r>
              <a:rPr lang="en-US" sz="34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HTTPS displays a padlock icon in the address bar, </a:t>
            </a:r>
            <a:r>
              <a:rPr b="1" lang="en-US" sz="3400">
                <a:solidFill>
                  <a:srgbClr val="7030A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signaling to customers that the site is secure and their data is protected</a:t>
            </a:r>
            <a:r>
              <a:rPr lang="en-US" sz="34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. This can </a:t>
            </a:r>
            <a:r>
              <a:rPr lang="en-US" sz="3400">
                <a:solidFill>
                  <a:srgbClr val="7030A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enhance customer confidence and potentially increase sales</a:t>
            </a:r>
            <a:r>
              <a:rPr lang="en-US" sz="34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, as shoppers are more likely to transact on a website they perceive as safe. HTTPS </a:t>
            </a:r>
            <a:r>
              <a:rPr lang="en-US" sz="3400">
                <a:solidFill>
                  <a:srgbClr val="0070C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ensures the integrity of data being transferred between the web server and the browser</a:t>
            </a:r>
            <a:r>
              <a:rPr lang="en-US" sz="34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. It </a:t>
            </a:r>
            <a:r>
              <a:rPr b="1" lang="en-US" sz="3400">
                <a:solidFill>
                  <a:srgbClr val="0070C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prevents "man-in-the-middle" attacks, where hackers could intercept or alter data</a:t>
            </a:r>
            <a:r>
              <a:rPr lang="en-US" sz="34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. By using HTTPS, HarrowFashion ensures that the content customers see and interact with is exactly what was intended.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12615748" y="0"/>
            <a:ext cx="11761902" cy="13716000"/>
          </a:xfrm>
          <a:custGeom>
            <a:rect b="b" l="l" r="r" t="t"/>
            <a:pathLst>
              <a:path extrusionOk="0" h="15172" w="15172">
                <a:moveTo>
                  <a:pt x="15171" y="15171"/>
                </a:moveTo>
                <a:lnTo>
                  <a:pt x="0" y="15171"/>
                </a:lnTo>
                <a:lnTo>
                  <a:pt x="0" y="0"/>
                </a:lnTo>
                <a:lnTo>
                  <a:pt x="15171" y="0"/>
                </a:lnTo>
                <a:lnTo>
                  <a:pt x="15171" y="15171"/>
                </a:ln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13537695" y="1372203"/>
            <a:ext cx="10204048" cy="10971593"/>
          </a:xfrm>
          <a:custGeom>
            <a:rect b="b" l="l" r="r" t="t"/>
            <a:pathLst>
              <a:path extrusionOk="0" fill="none" h="1339726" w="18044903">
                <a:moveTo>
                  <a:pt x="0" y="0"/>
                </a:moveTo>
                <a:cubicBezTo>
                  <a:pt x="72603" y="-5356"/>
                  <a:pt x="86259" y="3921"/>
                  <a:pt x="152688" y="0"/>
                </a:cubicBezTo>
                <a:cubicBezTo>
                  <a:pt x="219117" y="-3921"/>
                  <a:pt x="535621" y="22533"/>
                  <a:pt x="846722" y="0"/>
                </a:cubicBezTo>
                <a:cubicBezTo>
                  <a:pt x="1157823" y="-22533"/>
                  <a:pt x="967617" y="400"/>
                  <a:pt x="999410" y="0"/>
                </a:cubicBezTo>
                <a:cubicBezTo>
                  <a:pt x="1031203" y="-400"/>
                  <a:pt x="1083000" y="-1950"/>
                  <a:pt x="1152098" y="0"/>
                </a:cubicBezTo>
                <a:cubicBezTo>
                  <a:pt x="1221196" y="1950"/>
                  <a:pt x="1439657" y="15980"/>
                  <a:pt x="1665683" y="0"/>
                </a:cubicBezTo>
                <a:cubicBezTo>
                  <a:pt x="1891710" y="-15980"/>
                  <a:pt x="2036370" y="12197"/>
                  <a:pt x="2359718" y="0"/>
                </a:cubicBezTo>
                <a:cubicBezTo>
                  <a:pt x="2683067" y="-12197"/>
                  <a:pt x="2445758" y="-5117"/>
                  <a:pt x="2512406" y="0"/>
                </a:cubicBezTo>
                <a:cubicBezTo>
                  <a:pt x="2579054" y="5117"/>
                  <a:pt x="2962087" y="43606"/>
                  <a:pt x="3386889" y="0"/>
                </a:cubicBezTo>
                <a:cubicBezTo>
                  <a:pt x="3811691" y="-43606"/>
                  <a:pt x="4052910" y="20763"/>
                  <a:pt x="4261373" y="0"/>
                </a:cubicBezTo>
                <a:cubicBezTo>
                  <a:pt x="4469836" y="-20763"/>
                  <a:pt x="4651618" y="-22748"/>
                  <a:pt x="4774959" y="0"/>
                </a:cubicBezTo>
                <a:cubicBezTo>
                  <a:pt x="4898300" y="22748"/>
                  <a:pt x="5418961" y="30760"/>
                  <a:pt x="5829892" y="0"/>
                </a:cubicBezTo>
                <a:cubicBezTo>
                  <a:pt x="6240823" y="-30760"/>
                  <a:pt x="6266258" y="-23696"/>
                  <a:pt x="6523926" y="0"/>
                </a:cubicBezTo>
                <a:cubicBezTo>
                  <a:pt x="6781594" y="23696"/>
                  <a:pt x="6602060" y="655"/>
                  <a:pt x="6676614" y="0"/>
                </a:cubicBezTo>
                <a:cubicBezTo>
                  <a:pt x="6751168" y="-655"/>
                  <a:pt x="7195856" y="17579"/>
                  <a:pt x="7370649" y="0"/>
                </a:cubicBezTo>
                <a:cubicBezTo>
                  <a:pt x="7545442" y="-17579"/>
                  <a:pt x="7735004" y="-15166"/>
                  <a:pt x="7884235" y="0"/>
                </a:cubicBezTo>
                <a:cubicBezTo>
                  <a:pt x="8033466" y="15166"/>
                  <a:pt x="8054789" y="-1240"/>
                  <a:pt x="8217371" y="0"/>
                </a:cubicBezTo>
                <a:cubicBezTo>
                  <a:pt x="8379953" y="1240"/>
                  <a:pt x="8811071" y="19879"/>
                  <a:pt x="9091855" y="0"/>
                </a:cubicBezTo>
                <a:cubicBezTo>
                  <a:pt x="9372639" y="-19879"/>
                  <a:pt x="9697964" y="6853"/>
                  <a:pt x="9966339" y="0"/>
                </a:cubicBezTo>
                <a:cubicBezTo>
                  <a:pt x="10234714" y="-6853"/>
                  <a:pt x="10291006" y="-9999"/>
                  <a:pt x="10479924" y="0"/>
                </a:cubicBezTo>
                <a:cubicBezTo>
                  <a:pt x="10668843" y="9999"/>
                  <a:pt x="10949046" y="-41527"/>
                  <a:pt x="11354408" y="0"/>
                </a:cubicBezTo>
                <a:cubicBezTo>
                  <a:pt x="11759770" y="41527"/>
                  <a:pt x="11622159" y="9742"/>
                  <a:pt x="11867994" y="0"/>
                </a:cubicBezTo>
                <a:cubicBezTo>
                  <a:pt x="12113829" y="-9742"/>
                  <a:pt x="12322284" y="38624"/>
                  <a:pt x="12742478" y="0"/>
                </a:cubicBezTo>
                <a:cubicBezTo>
                  <a:pt x="13162672" y="-38624"/>
                  <a:pt x="12936102" y="-4255"/>
                  <a:pt x="13075614" y="0"/>
                </a:cubicBezTo>
                <a:cubicBezTo>
                  <a:pt x="13215126" y="4255"/>
                  <a:pt x="13423822" y="1838"/>
                  <a:pt x="13589200" y="0"/>
                </a:cubicBezTo>
                <a:cubicBezTo>
                  <a:pt x="13754578" y="-1838"/>
                  <a:pt x="13762600" y="6835"/>
                  <a:pt x="13922337" y="0"/>
                </a:cubicBezTo>
                <a:cubicBezTo>
                  <a:pt x="14082074" y="-6835"/>
                  <a:pt x="14560074" y="40110"/>
                  <a:pt x="14977269" y="0"/>
                </a:cubicBezTo>
                <a:cubicBezTo>
                  <a:pt x="15394464" y="-40110"/>
                  <a:pt x="15093941" y="6150"/>
                  <a:pt x="15129957" y="0"/>
                </a:cubicBezTo>
                <a:cubicBezTo>
                  <a:pt x="15165973" y="-6150"/>
                  <a:pt x="15514052" y="-14837"/>
                  <a:pt x="15643543" y="0"/>
                </a:cubicBezTo>
                <a:cubicBezTo>
                  <a:pt x="15773034" y="14837"/>
                  <a:pt x="15758376" y="6951"/>
                  <a:pt x="15796230" y="0"/>
                </a:cubicBezTo>
                <a:cubicBezTo>
                  <a:pt x="15834084" y="-6951"/>
                  <a:pt x="16394295" y="-27209"/>
                  <a:pt x="16670714" y="0"/>
                </a:cubicBezTo>
                <a:cubicBezTo>
                  <a:pt x="16947133" y="27209"/>
                  <a:pt x="17767869" y="-33735"/>
                  <a:pt x="18044903" y="0"/>
                </a:cubicBezTo>
                <a:cubicBezTo>
                  <a:pt x="18042266" y="193080"/>
                  <a:pt x="18018765" y="467008"/>
                  <a:pt x="18044903" y="629671"/>
                </a:cubicBezTo>
                <a:cubicBezTo>
                  <a:pt x="18071041" y="792334"/>
                  <a:pt x="18035407" y="1011626"/>
                  <a:pt x="18044903" y="1339726"/>
                </a:cubicBezTo>
                <a:cubicBezTo>
                  <a:pt x="17906905" y="1332592"/>
                  <a:pt x="17809864" y="1335833"/>
                  <a:pt x="17711766" y="1339726"/>
                </a:cubicBezTo>
                <a:cubicBezTo>
                  <a:pt x="17613668" y="1343619"/>
                  <a:pt x="16935700" y="1392102"/>
                  <a:pt x="16656834" y="1339726"/>
                </a:cubicBezTo>
                <a:cubicBezTo>
                  <a:pt x="16377968" y="1287350"/>
                  <a:pt x="16092282" y="1316098"/>
                  <a:pt x="15601901" y="1339726"/>
                </a:cubicBezTo>
                <a:cubicBezTo>
                  <a:pt x="15111520" y="1363354"/>
                  <a:pt x="15093790" y="1366802"/>
                  <a:pt x="14907866" y="1339726"/>
                </a:cubicBezTo>
                <a:cubicBezTo>
                  <a:pt x="14721942" y="1312650"/>
                  <a:pt x="14504814" y="1317345"/>
                  <a:pt x="14394280" y="1339726"/>
                </a:cubicBezTo>
                <a:cubicBezTo>
                  <a:pt x="14283746" y="1362107"/>
                  <a:pt x="14144545" y="1349072"/>
                  <a:pt x="14061144" y="1339726"/>
                </a:cubicBezTo>
                <a:cubicBezTo>
                  <a:pt x="13977743" y="1330380"/>
                  <a:pt x="13962406" y="1334458"/>
                  <a:pt x="13908456" y="1339726"/>
                </a:cubicBezTo>
                <a:cubicBezTo>
                  <a:pt x="13854506" y="1344994"/>
                  <a:pt x="13391142" y="1341047"/>
                  <a:pt x="13033972" y="1339726"/>
                </a:cubicBezTo>
                <a:cubicBezTo>
                  <a:pt x="12676802" y="1338405"/>
                  <a:pt x="12382410" y="1319785"/>
                  <a:pt x="12159488" y="1339726"/>
                </a:cubicBezTo>
                <a:cubicBezTo>
                  <a:pt x="11936566" y="1359667"/>
                  <a:pt x="11868375" y="1331089"/>
                  <a:pt x="11645903" y="1339726"/>
                </a:cubicBezTo>
                <a:cubicBezTo>
                  <a:pt x="11423431" y="1348363"/>
                  <a:pt x="11439083" y="1323705"/>
                  <a:pt x="11312766" y="1339726"/>
                </a:cubicBezTo>
                <a:cubicBezTo>
                  <a:pt x="11186449" y="1355747"/>
                  <a:pt x="11055495" y="1332789"/>
                  <a:pt x="10799180" y="1339726"/>
                </a:cubicBezTo>
                <a:cubicBezTo>
                  <a:pt x="10542865" y="1346663"/>
                  <a:pt x="10405311" y="1331267"/>
                  <a:pt x="10285595" y="1339726"/>
                </a:cubicBezTo>
                <a:cubicBezTo>
                  <a:pt x="10165880" y="1348185"/>
                  <a:pt x="9486418" y="1290669"/>
                  <a:pt x="9230662" y="1339726"/>
                </a:cubicBezTo>
                <a:cubicBezTo>
                  <a:pt x="8974906" y="1388783"/>
                  <a:pt x="8880392" y="1337182"/>
                  <a:pt x="8536627" y="1339726"/>
                </a:cubicBezTo>
                <a:cubicBezTo>
                  <a:pt x="8192862" y="1342270"/>
                  <a:pt x="8169175" y="1331548"/>
                  <a:pt x="8023041" y="1339726"/>
                </a:cubicBezTo>
                <a:cubicBezTo>
                  <a:pt x="7876907" y="1347904"/>
                  <a:pt x="7251750" y="1367936"/>
                  <a:pt x="6968109" y="1339726"/>
                </a:cubicBezTo>
                <a:cubicBezTo>
                  <a:pt x="6684468" y="1311516"/>
                  <a:pt x="6878641" y="1335128"/>
                  <a:pt x="6815421" y="1339726"/>
                </a:cubicBezTo>
                <a:cubicBezTo>
                  <a:pt x="6752201" y="1344324"/>
                  <a:pt x="6052797" y="1391696"/>
                  <a:pt x="5760488" y="1339726"/>
                </a:cubicBezTo>
                <a:cubicBezTo>
                  <a:pt x="5468179" y="1287756"/>
                  <a:pt x="5221026" y="1316253"/>
                  <a:pt x="5066454" y="1339726"/>
                </a:cubicBezTo>
                <a:cubicBezTo>
                  <a:pt x="4911882" y="1363199"/>
                  <a:pt x="4984701" y="1337009"/>
                  <a:pt x="4913766" y="1339726"/>
                </a:cubicBezTo>
                <a:cubicBezTo>
                  <a:pt x="4842831" y="1342443"/>
                  <a:pt x="4331835" y="1312581"/>
                  <a:pt x="3858833" y="1339726"/>
                </a:cubicBezTo>
                <a:cubicBezTo>
                  <a:pt x="3385831" y="1366871"/>
                  <a:pt x="3774702" y="1335519"/>
                  <a:pt x="3706145" y="1339726"/>
                </a:cubicBezTo>
                <a:cubicBezTo>
                  <a:pt x="3637588" y="1343933"/>
                  <a:pt x="3457477" y="1341846"/>
                  <a:pt x="3373009" y="1339726"/>
                </a:cubicBezTo>
                <a:cubicBezTo>
                  <a:pt x="3288541" y="1337606"/>
                  <a:pt x="3112846" y="1335646"/>
                  <a:pt x="2859423" y="1339726"/>
                </a:cubicBezTo>
                <a:cubicBezTo>
                  <a:pt x="2606000" y="1343806"/>
                  <a:pt x="2603404" y="1323382"/>
                  <a:pt x="2526286" y="1339726"/>
                </a:cubicBezTo>
                <a:cubicBezTo>
                  <a:pt x="2449168" y="1356070"/>
                  <a:pt x="2219922" y="1345168"/>
                  <a:pt x="2012701" y="1339726"/>
                </a:cubicBezTo>
                <a:cubicBezTo>
                  <a:pt x="1805481" y="1334284"/>
                  <a:pt x="1666918" y="1334900"/>
                  <a:pt x="1499115" y="1339726"/>
                </a:cubicBezTo>
                <a:cubicBezTo>
                  <a:pt x="1331312" y="1344552"/>
                  <a:pt x="562325" y="1338625"/>
                  <a:pt x="0" y="1339726"/>
                </a:cubicBezTo>
                <a:cubicBezTo>
                  <a:pt x="8210" y="1113699"/>
                  <a:pt x="15786" y="993228"/>
                  <a:pt x="0" y="710055"/>
                </a:cubicBezTo>
                <a:cubicBezTo>
                  <a:pt x="-15786" y="426882"/>
                  <a:pt x="-13334" y="306413"/>
                  <a:pt x="0" y="0"/>
                </a:cubicBezTo>
                <a:close/>
              </a:path>
              <a:path extrusionOk="0" h="1339726" w="18044903">
                <a:moveTo>
                  <a:pt x="0" y="0"/>
                </a:moveTo>
                <a:cubicBezTo>
                  <a:pt x="160996" y="-3503"/>
                  <a:pt x="299176" y="18913"/>
                  <a:pt x="513586" y="0"/>
                </a:cubicBezTo>
                <a:cubicBezTo>
                  <a:pt x="727996" y="-18913"/>
                  <a:pt x="954908" y="30963"/>
                  <a:pt x="1207620" y="0"/>
                </a:cubicBezTo>
                <a:cubicBezTo>
                  <a:pt x="1460332" y="-30963"/>
                  <a:pt x="1864554" y="-42667"/>
                  <a:pt x="2082104" y="0"/>
                </a:cubicBezTo>
                <a:cubicBezTo>
                  <a:pt x="2299654" y="42667"/>
                  <a:pt x="2867495" y="41553"/>
                  <a:pt x="3137037" y="0"/>
                </a:cubicBezTo>
                <a:cubicBezTo>
                  <a:pt x="3406579" y="-41553"/>
                  <a:pt x="3426095" y="22030"/>
                  <a:pt x="3650623" y="0"/>
                </a:cubicBezTo>
                <a:cubicBezTo>
                  <a:pt x="3875151" y="-22030"/>
                  <a:pt x="4023632" y="-17975"/>
                  <a:pt x="4164208" y="0"/>
                </a:cubicBezTo>
                <a:cubicBezTo>
                  <a:pt x="4304784" y="17975"/>
                  <a:pt x="4485024" y="-23395"/>
                  <a:pt x="4677794" y="0"/>
                </a:cubicBezTo>
                <a:cubicBezTo>
                  <a:pt x="4870564" y="23395"/>
                  <a:pt x="5336551" y="30474"/>
                  <a:pt x="5552278" y="0"/>
                </a:cubicBezTo>
                <a:cubicBezTo>
                  <a:pt x="5768005" y="-30474"/>
                  <a:pt x="5660269" y="-2485"/>
                  <a:pt x="5704965" y="0"/>
                </a:cubicBezTo>
                <a:cubicBezTo>
                  <a:pt x="5749661" y="2485"/>
                  <a:pt x="5813562" y="7407"/>
                  <a:pt x="5857653" y="0"/>
                </a:cubicBezTo>
                <a:cubicBezTo>
                  <a:pt x="5901744" y="-7407"/>
                  <a:pt x="6416574" y="-3365"/>
                  <a:pt x="6732137" y="0"/>
                </a:cubicBezTo>
                <a:cubicBezTo>
                  <a:pt x="7047700" y="3365"/>
                  <a:pt x="6945420" y="-8039"/>
                  <a:pt x="7065274" y="0"/>
                </a:cubicBezTo>
                <a:cubicBezTo>
                  <a:pt x="7185128" y="8039"/>
                  <a:pt x="7767550" y="37535"/>
                  <a:pt x="8120206" y="0"/>
                </a:cubicBezTo>
                <a:cubicBezTo>
                  <a:pt x="8472862" y="-37535"/>
                  <a:pt x="8630250" y="26901"/>
                  <a:pt x="8994690" y="0"/>
                </a:cubicBezTo>
                <a:cubicBezTo>
                  <a:pt x="9359130" y="-26901"/>
                  <a:pt x="9733962" y="-6357"/>
                  <a:pt x="10049623" y="0"/>
                </a:cubicBezTo>
                <a:cubicBezTo>
                  <a:pt x="10365284" y="6357"/>
                  <a:pt x="10148621" y="-7474"/>
                  <a:pt x="10202311" y="0"/>
                </a:cubicBezTo>
                <a:cubicBezTo>
                  <a:pt x="10256001" y="7474"/>
                  <a:pt x="10877148" y="1394"/>
                  <a:pt x="11076794" y="0"/>
                </a:cubicBezTo>
                <a:cubicBezTo>
                  <a:pt x="11276440" y="-1394"/>
                  <a:pt x="11611765" y="-11793"/>
                  <a:pt x="11770829" y="0"/>
                </a:cubicBezTo>
                <a:cubicBezTo>
                  <a:pt x="11929894" y="11793"/>
                  <a:pt x="12273213" y="-17585"/>
                  <a:pt x="12645313" y="0"/>
                </a:cubicBezTo>
                <a:cubicBezTo>
                  <a:pt x="13017413" y="17585"/>
                  <a:pt x="12917474" y="14415"/>
                  <a:pt x="13158898" y="0"/>
                </a:cubicBezTo>
                <a:cubicBezTo>
                  <a:pt x="13400323" y="-14415"/>
                  <a:pt x="13837051" y="-46738"/>
                  <a:pt x="14213831" y="0"/>
                </a:cubicBezTo>
                <a:cubicBezTo>
                  <a:pt x="14590611" y="46738"/>
                  <a:pt x="14422734" y="-6788"/>
                  <a:pt x="14546968" y="0"/>
                </a:cubicBezTo>
                <a:cubicBezTo>
                  <a:pt x="14671202" y="6788"/>
                  <a:pt x="14897679" y="-6844"/>
                  <a:pt x="15060554" y="0"/>
                </a:cubicBezTo>
                <a:cubicBezTo>
                  <a:pt x="15223429" y="6844"/>
                  <a:pt x="15758299" y="-4365"/>
                  <a:pt x="16115486" y="0"/>
                </a:cubicBezTo>
                <a:cubicBezTo>
                  <a:pt x="16472673" y="4365"/>
                  <a:pt x="16227338" y="-7090"/>
                  <a:pt x="16268174" y="0"/>
                </a:cubicBezTo>
                <a:cubicBezTo>
                  <a:pt x="16309010" y="7090"/>
                  <a:pt x="16947008" y="7313"/>
                  <a:pt x="17142658" y="0"/>
                </a:cubicBezTo>
                <a:cubicBezTo>
                  <a:pt x="17338308" y="-7313"/>
                  <a:pt x="17844408" y="-42994"/>
                  <a:pt x="18044903" y="0"/>
                </a:cubicBezTo>
                <a:cubicBezTo>
                  <a:pt x="18030870" y="238390"/>
                  <a:pt x="18072204" y="425121"/>
                  <a:pt x="18044903" y="669863"/>
                </a:cubicBezTo>
                <a:cubicBezTo>
                  <a:pt x="18017602" y="914605"/>
                  <a:pt x="18024155" y="1011428"/>
                  <a:pt x="18044903" y="1339726"/>
                </a:cubicBezTo>
                <a:cubicBezTo>
                  <a:pt x="17730546" y="1367720"/>
                  <a:pt x="17491476" y="1378843"/>
                  <a:pt x="17170419" y="1339726"/>
                </a:cubicBezTo>
                <a:cubicBezTo>
                  <a:pt x="16849362" y="1300609"/>
                  <a:pt x="16659742" y="1319749"/>
                  <a:pt x="16476385" y="1339726"/>
                </a:cubicBezTo>
                <a:cubicBezTo>
                  <a:pt x="16293028" y="1359703"/>
                  <a:pt x="15677965" y="1385857"/>
                  <a:pt x="15421452" y="1339726"/>
                </a:cubicBezTo>
                <a:cubicBezTo>
                  <a:pt x="15164939" y="1293595"/>
                  <a:pt x="15216974" y="1346541"/>
                  <a:pt x="15088315" y="1339726"/>
                </a:cubicBezTo>
                <a:cubicBezTo>
                  <a:pt x="14959656" y="1332911"/>
                  <a:pt x="15005506" y="1340298"/>
                  <a:pt x="14935627" y="1339726"/>
                </a:cubicBezTo>
                <a:cubicBezTo>
                  <a:pt x="14865748" y="1339154"/>
                  <a:pt x="14594812" y="1323651"/>
                  <a:pt x="14422042" y="1339726"/>
                </a:cubicBezTo>
                <a:cubicBezTo>
                  <a:pt x="14249273" y="1355801"/>
                  <a:pt x="13924136" y="1314144"/>
                  <a:pt x="13728007" y="1339726"/>
                </a:cubicBezTo>
                <a:cubicBezTo>
                  <a:pt x="13531879" y="1365308"/>
                  <a:pt x="13609441" y="1342959"/>
                  <a:pt x="13575319" y="1339726"/>
                </a:cubicBezTo>
                <a:cubicBezTo>
                  <a:pt x="13541197" y="1336493"/>
                  <a:pt x="13493334" y="1334635"/>
                  <a:pt x="13422632" y="1339726"/>
                </a:cubicBezTo>
                <a:cubicBezTo>
                  <a:pt x="13351930" y="1344817"/>
                  <a:pt x="13156389" y="1348055"/>
                  <a:pt x="13089495" y="1339726"/>
                </a:cubicBezTo>
                <a:cubicBezTo>
                  <a:pt x="13022601" y="1331397"/>
                  <a:pt x="12714618" y="1361904"/>
                  <a:pt x="12575909" y="1339726"/>
                </a:cubicBezTo>
                <a:cubicBezTo>
                  <a:pt x="12437200" y="1317548"/>
                  <a:pt x="11734237" y="1339448"/>
                  <a:pt x="11520977" y="1339726"/>
                </a:cubicBezTo>
                <a:cubicBezTo>
                  <a:pt x="11307717" y="1340004"/>
                  <a:pt x="11272522" y="1344337"/>
                  <a:pt x="11187840" y="1339726"/>
                </a:cubicBezTo>
                <a:cubicBezTo>
                  <a:pt x="11103158" y="1335115"/>
                  <a:pt x="11005474" y="1346390"/>
                  <a:pt x="10854703" y="1339726"/>
                </a:cubicBezTo>
                <a:cubicBezTo>
                  <a:pt x="10703932" y="1333062"/>
                  <a:pt x="10511556" y="1314886"/>
                  <a:pt x="10341117" y="1339726"/>
                </a:cubicBezTo>
                <a:cubicBezTo>
                  <a:pt x="10170678" y="1364566"/>
                  <a:pt x="10112101" y="1323618"/>
                  <a:pt x="10007981" y="1339726"/>
                </a:cubicBezTo>
                <a:cubicBezTo>
                  <a:pt x="9903861" y="1355834"/>
                  <a:pt x="9715062" y="1349468"/>
                  <a:pt x="9494395" y="1339726"/>
                </a:cubicBezTo>
                <a:cubicBezTo>
                  <a:pt x="9273728" y="1329984"/>
                  <a:pt x="8654347" y="1354501"/>
                  <a:pt x="8439462" y="1339726"/>
                </a:cubicBezTo>
                <a:cubicBezTo>
                  <a:pt x="8224577" y="1324951"/>
                  <a:pt x="7636560" y="1333528"/>
                  <a:pt x="7384530" y="1339726"/>
                </a:cubicBezTo>
                <a:cubicBezTo>
                  <a:pt x="7132500" y="1345924"/>
                  <a:pt x="7305019" y="1334310"/>
                  <a:pt x="7231842" y="1339726"/>
                </a:cubicBezTo>
                <a:cubicBezTo>
                  <a:pt x="7158665" y="1345142"/>
                  <a:pt x="6864653" y="1337037"/>
                  <a:pt x="6718256" y="1339726"/>
                </a:cubicBezTo>
                <a:cubicBezTo>
                  <a:pt x="6571859" y="1342415"/>
                  <a:pt x="6617146" y="1339744"/>
                  <a:pt x="6565569" y="1339726"/>
                </a:cubicBezTo>
                <a:cubicBezTo>
                  <a:pt x="6513992" y="1339708"/>
                  <a:pt x="6475702" y="1334300"/>
                  <a:pt x="6412881" y="1339726"/>
                </a:cubicBezTo>
                <a:cubicBezTo>
                  <a:pt x="6350060" y="1345152"/>
                  <a:pt x="5724301" y="1374802"/>
                  <a:pt x="5538397" y="1339726"/>
                </a:cubicBezTo>
                <a:cubicBezTo>
                  <a:pt x="5352493" y="1304650"/>
                  <a:pt x="5075240" y="1327820"/>
                  <a:pt x="4663913" y="1339726"/>
                </a:cubicBezTo>
                <a:cubicBezTo>
                  <a:pt x="4252586" y="1351632"/>
                  <a:pt x="4159682" y="1365998"/>
                  <a:pt x="3789430" y="1339726"/>
                </a:cubicBezTo>
                <a:cubicBezTo>
                  <a:pt x="3419178" y="1313454"/>
                  <a:pt x="3393313" y="1345949"/>
                  <a:pt x="3095395" y="1339726"/>
                </a:cubicBezTo>
                <a:cubicBezTo>
                  <a:pt x="2797477" y="1333503"/>
                  <a:pt x="2994312" y="1346468"/>
                  <a:pt x="2942707" y="1339726"/>
                </a:cubicBezTo>
                <a:cubicBezTo>
                  <a:pt x="2891102" y="1332984"/>
                  <a:pt x="2827455" y="1334460"/>
                  <a:pt x="2790020" y="1339726"/>
                </a:cubicBezTo>
                <a:cubicBezTo>
                  <a:pt x="2752585" y="1344992"/>
                  <a:pt x="2669243" y="1345687"/>
                  <a:pt x="2637332" y="1339726"/>
                </a:cubicBezTo>
                <a:cubicBezTo>
                  <a:pt x="2605421" y="1333765"/>
                  <a:pt x="2532313" y="1346348"/>
                  <a:pt x="2484644" y="1339726"/>
                </a:cubicBezTo>
                <a:cubicBezTo>
                  <a:pt x="2436975" y="1333104"/>
                  <a:pt x="2393474" y="1343399"/>
                  <a:pt x="2331957" y="1339726"/>
                </a:cubicBezTo>
                <a:cubicBezTo>
                  <a:pt x="2270440" y="1336053"/>
                  <a:pt x="2215651" y="1337790"/>
                  <a:pt x="2179269" y="1339726"/>
                </a:cubicBezTo>
                <a:cubicBezTo>
                  <a:pt x="2142887" y="1341662"/>
                  <a:pt x="1489736" y="1350474"/>
                  <a:pt x="1124336" y="1339726"/>
                </a:cubicBezTo>
                <a:cubicBezTo>
                  <a:pt x="758936" y="1328978"/>
                  <a:pt x="1012910" y="1332723"/>
                  <a:pt x="971649" y="1339726"/>
                </a:cubicBezTo>
                <a:cubicBezTo>
                  <a:pt x="930388" y="1346729"/>
                  <a:pt x="288504" y="1364047"/>
                  <a:pt x="0" y="1339726"/>
                </a:cubicBezTo>
                <a:cubicBezTo>
                  <a:pt x="-25589" y="1091085"/>
                  <a:pt x="6174" y="923759"/>
                  <a:pt x="0" y="710055"/>
                </a:cubicBezTo>
                <a:cubicBezTo>
                  <a:pt x="-6174" y="496351"/>
                  <a:pt x="-3030" y="254614"/>
                  <a:pt x="0" y="0"/>
                </a:cubicBezTo>
                <a:close/>
              </a:path>
            </a:pathLst>
          </a:cu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</a:pPr>
            <a:r>
              <a:rPr b="1" lang="en-US" sz="60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Learning Objectives</a:t>
            </a:r>
            <a:r>
              <a:rPr b="1" lang="en-US" sz="6000">
                <a:solidFill>
                  <a:srgbClr val="595959"/>
                </a:solidFill>
                <a:latin typeface="Lato Light"/>
                <a:ea typeface="Lato Light"/>
                <a:cs typeface="Lato Light"/>
                <a:sym typeface="Lato Light"/>
              </a:rPr>
              <a:t>: </a:t>
            </a:r>
            <a:endParaRPr/>
          </a:p>
          <a:p>
            <a:pPr indent="-857250" lvl="0" marL="857250" marR="0" rtl="0" algn="l">
              <a:lnSpc>
                <a:spcPct val="200000"/>
              </a:lnSpc>
              <a:spcBef>
                <a:spcPts val="1160"/>
              </a:spcBef>
              <a:spcAft>
                <a:spcPts val="0"/>
              </a:spcAft>
              <a:buClr>
                <a:srgbClr val="7F7F7F"/>
              </a:buClr>
              <a:buSzPts val="5800"/>
              <a:buFont typeface="Arial"/>
              <a:buChar char="•"/>
            </a:pPr>
            <a:r>
              <a:rPr lang="en-US" sz="5800">
                <a:solidFill>
                  <a:srgbClr val="7F7F7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To </a:t>
            </a:r>
            <a:r>
              <a:rPr lang="en-US" sz="58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understand</a:t>
            </a:r>
            <a:r>
              <a:rPr lang="en-US" sz="5800">
                <a:solidFill>
                  <a:srgbClr val="7F7F7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the differences between the Internet and the WWW</a:t>
            </a:r>
            <a:endParaRPr/>
          </a:p>
          <a:p>
            <a:pPr indent="-857250" lvl="0" marL="857250" marR="0" rtl="0" algn="l">
              <a:lnSpc>
                <a:spcPct val="200000"/>
              </a:lnSpc>
              <a:spcBef>
                <a:spcPts val="1160"/>
              </a:spcBef>
              <a:spcAft>
                <a:spcPts val="0"/>
              </a:spcAft>
              <a:buClr>
                <a:srgbClr val="7F7F7F"/>
              </a:buClr>
              <a:buSzPts val="5800"/>
              <a:buFont typeface="Arial"/>
              <a:buChar char="•"/>
            </a:pPr>
            <a:r>
              <a:rPr lang="en-US" sz="5800">
                <a:solidFill>
                  <a:srgbClr val="7F7F7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To </a:t>
            </a:r>
            <a:r>
              <a:rPr lang="en-US" sz="58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analyse</a:t>
            </a:r>
            <a:r>
              <a:rPr lang="en-US" sz="5800">
                <a:solidFill>
                  <a:srgbClr val="7F7F7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the function of URLs, HTTP and HTTPs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1894114" y="1186910"/>
            <a:ext cx="8360229" cy="8480153"/>
          </a:xfrm>
          <a:custGeom>
            <a:rect b="b" l="l" r="r" t="t"/>
            <a:pathLst>
              <a:path extrusionOk="0" h="3888" w="3889">
                <a:moveTo>
                  <a:pt x="3888" y="1945"/>
                </a:moveTo>
                <a:lnTo>
                  <a:pt x="3888" y="1945"/>
                </a:lnTo>
                <a:cubicBezTo>
                  <a:pt x="3888" y="3017"/>
                  <a:pt x="3018" y="3887"/>
                  <a:pt x="1944" y="3887"/>
                </a:cubicBezTo>
                <a:lnTo>
                  <a:pt x="1944" y="3887"/>
                </a:lnTo>
                <a:cubicBezTo>
                  <a:pt x="870" y="3887"/>
                  <a:pt x="0" y="3017"/>
                  <a:pt x="0" y="1945"/>
                </a:cubicBezTo>
                <a:lnTo>
                  <a:pt x="0" y="1945"/>
                </a:lnTo>
                <a:cubicBezTo>
                  <a:pt x="0" y="871"/>
                  <a:pt x="870" y="0"/>
                  <a:pt x="1944" y="0"/>
                </a:cubicBezTo>
                <a:lnTo>
                  <a:pt x="1944" y="0"/>
                </a:lnTo>
                <a:cubicBezTo>
                  <a:pt x="3018" y="0"/>
                  <a:pt x="3888" y="871"/>
                  <a:pt x="3888" y="1945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3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2351314" y="1502229"/>
            <a:ext cx="7543800" cy="7674774"/>
          </a:xfrm>
          <a:custGeom>
            <a:rect b="b" l="l" r="r" t="t"/>
            <a:pathLst>
              <a:path extrusionOk="0" h="3294" w="3295">
                <a:moveTo>
                  <a:pt x="3294" y="1648"/>
                </a:moveTo>
                <a:lnTo>
                  <a:pt x="3294" y="1648"/>
                </a:lnTo>
                <a:cubicBezTo>
                  <a:pt x="3294" y="2556"/>
                  <a:pt x="2557" y="3293"/>
                  <a:pt x="1647" y="3293"/>
                </a:cubicBezTo>
                <a:lnTo>
                  <a:pt x="1647" y="3293"/>
                </a:lnTo>
                <a:cubicBezTo>
                  <a:pt x="737" y="3293"/>
                  <a:pt x="0" y="2556"/>
                  <a:pt x="0" y="1648"/>
                </a:cubicBezTo>
                <a:lnTo>
                  <a:pt x="0" y="1648"/>
                </a:lnTo>
                <a:cubicBezTo>
                  <a:pt x="0" y="738"/>
                  <a:pt x="737" y="0"/>
                  <a:pt x="1647" y="0"/>
                </a:cubicBezTo>
                <a:lnTo>
                  <a:pt x="1647" y="0"/>
                </a:lnTo>
                <a:cubicBezTo>
                  <a:pt x="2557" y="0"/>
                  <a:pt x="3294" y="738"/>
                  <a:pt x="3294" y="1648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3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5639685" y="11035491"/>
            <a:ext cx="785589" cy="785586"/>
          </a:xfrm>
          <a:custGeom>
            <a:rect b="b" l="l" r="r" t="t"/>
            <a:pathLst>
              <a:path extrusionOk="0" h="630" w="631">
                <a:moveTo>
                  <a:pt x="630" y="315"/>
                </a:moveTo>
                <a:lnTo>
                  <a:pt x="630" y="315"/>
                </a:lnTo>
                <a:cubicBezTo>
                  <a:pt x="630" y="489"/>
                  <a:pt x="489" y="629"/>
                  <a:pt x="315" y="629"/>
                </a:cubicBezTo>
                <a:lnTo>
                  <a:pt x="315" y="629"/>
                </a:lnTo>
                <a:cubicBezTo>
                  <a:pt x="141" y="629"/>
                  <a:pt x="0" y="489"/>
                  <a:pt x="0" y="315"/>
                </a:cubicBezTo>
                <a:lnTo>
                  <a:pt x="0" y="315"/>
                </a:lnTo>
                <a:cubicBezTo>
                  <a:pt x="0" y="140"/>
                  <a:pt x="141" y="0"/>
                  <a:pt x="315" y="0"/>
                </a:cubicBezTo>
                <a:lnTo>
                  <a:pt x="315" y="0"/>
                </a:lnTo>
                <a:cubicBezTo>
                  <a:pt x="489" y="0"/>
                  <a:pt x="630" y="140"/>
                  <a:pt x="630" y="315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3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884153" y="9374657"/>
            <a:ext cx="296655" cy="1801907"/>
          </a:xfrm>
          <a:custGeom>
            <a:rect b="b" l="l" r="r" t="t"/>
            <a:pathLst>
              <a:path extrusionOk="0" h="1445" w="240">
                <a:moveTo>
                  <a:pt x="239" y="1444"/>
                </a:moveTo>
                <a:lnTo>
                  <a:pt x="0" y="1444"/>
                </a:lnTo>
                <a:lnTo>
                  <a:pt x="0" y="0"/>
                </a:lnTo>
                <a:lnTo>
                  <a:pt x="239" y="0"/>
                </a:lnTo>
                <a:lnTo>
                  <a:pt x="239" y="1444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3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grpSp>
        <p:nvGrpSpPr>
          <p:cNvPr id="151" name="Google Shape;151;p16"/>
          <p:cNvGrpSpPr/>
          <p:nvPr/>
        </p:nvGrpSpPr>
        <p:grpSpPr>
          <a:xfrm>
            <a:off x="2967420" y="1712749"/>
            <a:ext cx="6311588" cy="6712688"/>
            <a:chOff x="1441575" y="4360869"/>
            <a:chExt cx="4828083" cy="5134909"/>
          </a:xfrm>
        </p:grpSpPr>
        <p:sp>
          <p:nvSpPr>
            <p:cNvPr id="152" name="Google Shape;152;p16"/>
            <p:cNvSpPr txBox="1"/>
            <p:nvPr/>
          </p:nvSpPr>
          <p:spPr>
            <a:xfrm>
              <a:off x="1441575" y="5778449"/>
              <a:ext cx="4828083" cy="3717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5300"/>
                <a:buFont typeface="Arial"/>
                <a:buNone/>
              </a:pPr>
              <a:r>
                <a:rPr lang="en-US" sz="5300">
                  <a:solidFill>
                    <a:schemeClr val="dk2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What’s</a:t>
              </a:r>
              <a:r>
                <a:rPr lang="en-US" sz="5300">
                  <a:solidFill>
                    <a:srgbClr val="7F7F7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 </a:t>
              </a:r>
              <a:r>
                <a:rPr lang="en-US" sz="5300">
                  <a:solidFill>
                    <a:srgbClr val="7030A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the difference </a:t>
              </a:r>
              <a:r>
                <a:rPr lang="en-US" sz="5300">
                  <a:solidFill>
                    <a:schemeClr val="dk2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between the </a:t>
              </a:r>
              <a:r>
                <a:rPr lang="en-US" sz="5300">
                  <a:solidFill>
                    <a:srgbClr val="7030A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Internet</a:t>
              </a:r>
              <a:r>
                <a:rPr lang="en-US" sz="5300">
                  <a:solidFill>
                    <a:schemeClr val="dk2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 and </a:t>
              </a:r>
              <a:r>
                <a:rPr lang="en-US" sz="5300">
                  <a:solidFill>
                    <a:srgbClr val="7030A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WWW</a:t>
              </a:r>
              <a:r>
                <a:rPr lang="en-US" sz="5300">
                  <a:solidFill>
                    <a:schemeClr val="dk2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 </a:t>
              </a:r>
              <a:r>
                <a:rPr lang="en-US" sz="5300" u="sng">
                  <a:solidFill>
                    <a:schemeClr val="dk2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or</a:t>
              </a:r>
              <a:r>
                <a:rPr lang="en-US" sz="5300">
                  <a:solidFill>
                    <a:schemeClr val="dk2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 </a:t>
              </a:r>
              <a:r>
                <a:rPr lang="en-US" sz="5300">
                  <a:solidFill>
                    <a:srgbClr val="7030A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HTTP</a:t>
              </a:r>
              <a:r>
                <a:rPr lang="en-US" sz="5300">
                  <a:solidFill>
                    <a:schemeClr val="dk2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 and </a:t>
              </a:r>
              <a:r>
                <a:rPr lang="en-US" sz="5300">
                  <a:solidFill>
                    <a:srgbClr val="7030A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HTTPS</a:t>
              </a:r>
              <a:r>
                <a:rPr lang="en-US" sz="5300">
                  <a:solidFill>
                    <a:schemeClr val="dk2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?</a:t>
              </a:r>
              <a:endParaRPr/>
            </a:p>
          </p:txBody>
        </p:sp>
        <p:sp>
          <p:nvSpPr>
            <p:cNvPr id="153" name="Google Shape;153;p16"/>
            <p:cNvSpPr txBox="1"/>
            <p:nvPr/>
          </p:nvSpPr>
          <p:spPr>
            <a:xfrm>
              <a:off x="2551188" y="4360869"/>
              <a:ext cx="2608857" cy="13419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400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Review Question</a:t>
              </a:r>
              <a:endParaRPr/>
            </a:p>
          </p:txBody>
        </p:sp>
      </p:grpSp>
      <p:sp>
        <p:nvSpPr>
          <p:cNvPr id="154" name="Google Shape;154;p16"/>
          <p:cNvSpPr txBox="1"/>
          <p:nvPr/>
        </p:nvSpPr>
        <p:spPr>
          <a:xfrm>
            <a:off x="4041152" y="12266175"/>
            <a:ext cx="3968179" cy="9233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 u="sng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Reflection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IGPIA - Theme 06 - Light">
      <a:dk1>
        <a:srgbClr val="B3B3B3"/>
      </a:dk1>
      <a:lt1>
        <a:srgbClr val="FFFFFF"/>
      </a:lt1>
      <a:dk2>
        <a:srgbClr val="1C2835"/>
      </a:dk2>
      <a:lt2>
        <a:srgbClr val="FFFFFF"/>
      </a:lt2>
      <a:accent1>
        <a:srgbClr val="1073A3"/>
      </a:accent1>
      <a:accent2>
        <a:srgbClr val="2DADE0"/>
      </a:accent2>
      <a:accent3>
        <a:srgbClr val="6ACEE3"/>
      </a:accent3>
      <a:accent4>
        <a:srgbClr val="61DDA8"/>
      </a:accent4>
      <a:accent5>
        <a:srgbClr val="FFD253"/>
      </a:accent5>
      <a:accent6>
        <a:srgbClr val="FF8F10"/>
      </a:accent6>
      <a:hlink>
        <a:srgbClr val="F33B48"/>
      </a:hlink>
      <a:folHlink>
        <a:srgbClr val="FFC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