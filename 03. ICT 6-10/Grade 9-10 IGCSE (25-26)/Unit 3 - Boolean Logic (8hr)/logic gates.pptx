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oboto"/>
      <p:regular r:id="rId38"/>
      <p:bold r:id="rId39"/>
      <p:italic r:id="rId40"/>
      <p:boldItalic r:id="rId41"/>
    </p:embeddedFont>
    <p:embeddedFont>
      <p:font typeface="Lato"/>
      <p:regular r:id="rId42"/>
      <p:bold r:id="rId43"/>
      <p:italic r:id="rId44"/>
      <p:boldItalic r:id="rId45"/>
    </p:embeddedFont>
    <p:embeddedFont>
      <p:font typeface="Candara"/>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42" Type="http://schemas.openxmlformats.org/officeDocument/2006/relationships/font" Target="fonts/Lato-regular.fntdata"/><Relationship Id="rId41" Type="http://schemas.openxmlformats.org/officeDocument/2006/relationships/font" Target="fonts/Roboto-boldItalic.fntdata"/><Relationship Id="rId44" Type="http://schemas.openxmlformats.org/officeDocument/2006/relationships/font" Target="fonts/Lato-italic.fntdata"/><Relationship Id="rId43" Type="http://schemas.openxmlformats.org/officeDocument/2006/relationships/font" Target="fonts/Lato-bold.fntdata"/><Relationship Id="rId46" Type="http://schemas.openxmlformats.org/officeDocument/2006/relationships/font" Target="fonts/Candara-regular.fntdata"/><Relationship Id="rId45"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andara-italic.fntdata"/><Relationship Id="rId47" Type="http://schemas.openxmlformats.org/officeDocument/2006/relationships/font" Target="fonts/Candara-bold.fntdata"/><Relationship Id="rId49" Type="http://schemas.openxmlformats.org/officeDocument/2006/relationships/font" Target="fonts/Candar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oboto-bold.fntdata"/><Relationship Id="rId38" Type="http://schemas.openxmlformats.org/officeDocument/2006/relationships/font" Target="fonts/Robot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143000" y="841772"/>
            <a:ext cx="49635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
          <p:cNvSpPr txBox="1"/>
          <p:nvPr>
            <p:ph idx="1" type="subTitle"/>
          </p:nvPr>
        </p:nvSpPr>
        <p:spPr>
          <a:xfrm>
            <a:off x="1143000" y="2701529"/>
            <a:ext cx="49635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Google Shape;14;p2"/>
          <p:cNvSpPr/>
          <p:nvPr/>
        </p:nvSpPr>
        <p:spPr>
          <a:xfrm>
            <a:off x="6357505" y="0"/>
            <a:ext cx="2786400" cy="5143500"/>
          </a:xfrm>
          <a:prstGeom prst="rect">
            <a:avLst/>
          </a:prstGeom>
          <a:solidFill>
            <a:srgbClr val="12255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 name="Google Shape;15;p2"/>
          <p:cNvSpPr/>
          <p:nvPr/>
        </p:nvSpPr>
        <p:spPr>
          <a:xfrm>
            <a:off x="6357505" y="0"/>
            <a:ext cx="1392300" cy="3228000"/>
          </a:xfrm>
          <a:prstGeom prst="rect">
            <a:avLst/>
          </a:prstGeom>
          <a:solidFill>
            <a:srgbClr val="16F1E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 name="Google Shape;16;p2"/>
          <p:cNvSpPr/>
          <p:nvPr/>
        </p:nvSpPr>
        <p:spPr>
          <a:xfrm>
            <a:off x="7654637" y="3228109"/>
            <a:ext cx="1489500" cy="1915500"/>
          </a:xfrm>
          <a:prstGeom prst="round1Rect">
            <a:avLst>
              <a:gd fmla="val 50000" name="adj"/>
            </a:avLst>
          </a:prstGeom>
          <a:solidFill>
            <a:srgbClr val="1FC6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 name="Google Shape;17;p2"/>
          <p:cNvSpPr/>
          <p:nvPr/>
        </p:nvSpPr>
        <p:spPr>
          <a:xfrm>
            <a:off x="6357505" y="3228109"/>
            <a:ext cx="1392300" cy="1915500"/>
          </a:xfrm>
          <a:prstGeom prst="rect">
            <a:avLst/>
          </a:prstGeom>
          <a:solidFill>
            <a:srgbClr val="F5F5F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 name="Shape 23"/>
        <p:cNvGrpSpPr/>
        <p:nvPr/>
      </p:nvGrpSpPr>
      <p:grpSpPr>
        <a:xfrm>
          <a:off x="0" y="0"/>
          <a:ext cx="0" cy="0"/>
          <a:chOff x="0" y="0"/>
          <a:chExt cx="0" cy="0"/>
        </a:xfrm>
      </p:grpSpPr>
      <p:sp>
        <p:nvSpPr>
          <p:cNvPr id="24" name="Google Shape;24;p5"/>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5"/>
          <p:cNvSpPr/>
          <p:nvPr>
            <p:ph idx="2" type="pic"/>
          </p:nvPr>
        </p:nvSpPr>
        <p:spPr>
          <a:xfrm>
            <a:off x="3887391" y="740569"/>
            <a:ext cx="4629300" cy="3655200"/>
          </a:xfrm>
          <a:prstGeom prst="rect">
            <a:avLst/>
          </a:prstGeom>
          <a:noFill/>
          <a:ln>
            <a:noFill/>
          </a:ln>
        </p:spPr>
      </p:sp>
      <p:sp>
        <p:nvSpPr>
          <p:cNvPr id="26" name="Google Shape;26;p5"/>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4500"/>
              <a:buFont typeface="Arial"/>
              <a:buNone/>
              <a:defRPr sz="45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7"/>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None/>
              <a:defRPr sz="1800">
                <a:solidFill>
                  <a:schemeClr val="lt1"/>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 name="Google Shape;33;p8"/>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 name="Google Shape;34;p8"/>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9"/>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9"/>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8" name="Google Shape;38;p9"/>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 name="Google Shape;39;p9"/>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0" name="Google Shape;40;p9"/>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1" name="Shape 41"/>
        <p:cNvGrpSpPr/>
        <p:nvPr/>
      </p:nvGrpSpPr>
      <p:grpSpPr>
        <a:xfrm>
          <a:off x="0" y="0"/>
          <a:ext cx="0" cy="0"/>
          <a:chOff x="0" y="0"/>
          <a:chExt cx="0" cy="0"/>
        </a:xfrm>
      </p:grpSpPr>
      <p:sp>
        <p:nvSpPr>
          <p:cNvPr id="42" name="Google Shape;42;p10"/>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10"/>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44" name="Google Shape;44;p10"/>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5" name="Shape 45"/>
        <p:cNvGrpSpPr/>
        <p:nvPr/>
      </p:nvGrpSpPr>
      <p:grpSpPr>
        <a:xfrm>
          <a:off x="0" y="0"/>
          <a:ext cx="0" cy="0"/>
          <a:chOff x="0" y="0"/>
          <a:chExt cx="0" cy="0"/>
        </a:xfrm>
      </p:grpSpPr>
      <p:sp>
        <p:nvSpPr>
          <p:cNvPr id="46" name="Google Shape;46;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 name="Shape 48"/>
        <p:cNvGrpSpPr/>
        <p:nvPr/>
      </p:nvGrpSpPr>
      <p:grpSpPr>
        <a:xfrm>
          <a:off x="0" y="0"/>
          <a:ext cx="0" cy="0"/>
          <a:chOff x="0" y="0"/>
          <a:chExt cx="0" cy="0"/>
        </a:xfrm>
      </p:grpSpPr>
      <p:sp>
        <p:nvSpPr>
          <p:cNvPr id="49" name="Google Shape;49;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0" name="Google Shape;50;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1" name="Shape 51"/>
        <p:cNvGrpSpPr/>
        <p:nvPr/>
      </p:nvGrpSpPr>
      <p:grpSpPr>
        <a:xfrm>
          <a:off x="0" y="0"/>
          <a:ext cx="0" cy="0"/>
          <a:chOff x="0" y="0"/>
          <a:chExt cx="0" cy="0"/>
        </a:xfrm>
      </p:grpSpPr>
      <p:sp>
        <p:nvSpPr>
          <p:cNvPr id="52" name="Google Shape;52;p1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 name="Google Shape;53;p13"/>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p13"/>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SzPts val="2100"/>
              <a:buChar char="•"/>
              <a:defRPr/>
            </a:lvl1pPr>
            <a:lvl2pPr indent="-342900" lvl="1" marL="914400" algn="l">
              <a:lnSpc>
                <a:spcPct val="90000"/>
              </a:lnSpc>
              <a:spcBef>
                <a:spcPts val="400"/>
              </a:spcBef>
              <a:spcAft>
                <a:spcPts val="0"/>
              </a:spcAft>
              <a:buSzPts val="1800"/>
              <a:buChar char="•"/>
              <a:defRPr/>
            </a:lvl2pPr>
            <a:lvl3pPr indent="-323850" lvl="2" marL="1371600" algn="l">
              <a:lnSpc>
                <a:spcPct val="90000"/>
              </a:lnSpc>
              <a:spcBef>
                <a:spcPts val="400"/>
              </a:spcBef>
              <a:spcAft>
                <a:spcPts val="0"/>
              </a:spcAft>
              <a:buSzPts val="1500"/>
              <a:buChar char="•"/>
              <a:defRPr/>
            </a:lvl3pPr>
            <a:lvl4pPr indent="-317500" lvl="3" marL="1828800" algn="l">
              <a:lnSpc>
                <a:spcPct val="90000"/>
              </a:lnSpc>
              <a:spcBef>
                <a:spcPts val="400"/>
              </a:spcBef>
              <a:spcAft>
                <a:spcPts val="0"/>
              </a:spcAft>
              <a:buSzPts val="1400"/>
              <a:buChar char="•"/>
              <a:defRPr/>
            </a:lvl4pPr>
            <a:lvl5pPr indent="-317500" lvl="4" marL="2286000" algn="l">
              <a:lnSpc>
                <a:spcPct val="90000"/>
              </a:lnSpc>
              <a:spcBef>
                <a:spcPts val="400"/>
              </a:spcBef>
              <a:spcAft>
                <a:spcPts val="0"/>
              </a:spcAft>
              <a:buSzPts val="14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5" name="Google Shape;55;p13"/>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Two Content">
    <p:spTree>
      <p:nvGrpSpPr>
        <p:cNvPr id="56" name="Shape 56"/>
        <p:cNvGrpSpPr/>
        <p:nvPr/>
      </p:nvGrpSpPr>
      <p:grpSpPr>
        <a:xfrm>
          <a:off x="0" y="0"/>
          <a:ext cx="0" cy="0"/>
          <a:chOff x="0" y="0"/>
          <a:chExt cx="0" cy="0"/>
        </a:xfrm>
      </p:grpSpPr>
      <p:sp>
        <p:nvSpPr>
          <p:cNvPr id="57" name="Google Shape;57;p14"/>
          <p:cNvSpPr txBox="1"/>
          <p:nvPr>
            <p:ph type="title"/>
          </p:nvPr>
        </p:nvSpPr>
        <p:spPr>
          <a:xfrm>
            <a:off x="853541" y="795035"/>
            <a:ext cx="7437000" cy="4386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300"/>
              <a:buNone/>
              <a:defRPr b="1" i="0" sz="4000">
                <a:solidFill>
                  <a:srgbClr val="FF0000"/>
                </a:solidFill>
                <a:latin typeface="Candara"/>
                <a:ea typeface="Candara"/>
                <a:cs typeface="Candara"/>
                <a:sym typeface="Candar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SzPts val="2100"/>
              <a:buNone/>
              <a:defRPr/>
            </a:lvl1pPr>
            <a:lvl2pPr indent="-228600" lvl="1" marL="914400" algn="l">
              <a:lnSpc>
                <a:spcPct val="90000"/>
              </a:lnSpc>
              <a:spcBef>
                <a:spcPts val="400"/>
              </a:spcBef>
              <a:spcAft>
                <a:spcPts val="0"/>
              </a:spcAft>
              <a:buSzPts val="1800"/>
              <a:buNone/>
              <a:defRPr/>
            </a:lvl2pPr>
            <a:lvl3pPr indent="-228600" lvl="2" marL="1371600" algn="l">
              <a:lnSpc>
                <a:spcPct val="90000"/>
              </a:lnSpc>
              <a:spcBef>
                <a:spcPts val="400"/>
              </a:spcBef>
              <a:spcAft>
                <a:spcPts val="0"/>
              </a:spcAft>
              <a:buSzPts val="1500"/>
              <a:buNone/>
              <a:defRPr/>
            </a:lvl3pPr>
            <a:lvl4pPr indent="-228600" lvl="3" marL="1828800" algn="l">
              <a:lnSpc>
                <a:spcPct val="90000"/>
              </a:lnSpc>
              <a:spcBef>
                <a:spcPts val="400"/>
              </a:spcBef>
              <a:spcAft>
                <a:spcPts val="0"/>
              </a:spcAft>
              <a:buSzPts val="1400"/>
              <a:buNone/>
              <a:defRPr/>
            </a:lvl4pPr>
            <a:lvl5pPr indent="-228600" lvl="4" marL="2286000" algn="l">
              <a:lnSpc>
                <a:spcPct val="90000"/>
              </a:lnSpc>
              <a:spcBef>
                <a:spcPts val="400"/>
              </a:spcBef>
              <a:spcAft>
                <a:spcPts val="0"/>
              </a:spcAft>
              <a:buSzPts val="1400"/>
              <a:buNone/>
              <a:defRPr/>
            </a:lvl5pPr>
            <a:lvl6pPr indent="-228600" lvl="5" marL="2743200" algn="l">
              <a:lnSpc>
                <a:spcPct val="90000"/>
              </a:lnSpc>
              <a:spcBef>
                <a:spcPts val="400"/>
              </a:spcBef>
              <a:spcAft>
                <a:spcPts val="0"/>
              </a:spcAft>
              <a:buSzPts val="1400"/>
              <a:buNone/>
              <a:defRPr/>
            </a:lvl6pPr>
            <a:lvl7pPr indent="-228600" lvl="6" marL="3200400" algn="l">
              <a:lnSpc>
                <a:spcPct val="90000"/>
              </a:lnSpc>
              <a:spcBef>
                <a:spcPts val="400"/>
              </a:spcBef>
              <a:spcAft>
                <a:spcPts val="0"/>
              </a:spcAft>
              <a:buSzPts val="1400"/>
              <a:buNone/>
              <a:defRPr/>
            </a:lvl7pPr>
            <a:lvl8pPr indent="-228600" lvl="7" marL="3657600" algn="l">
              <a:lnSpc>
                <a:spcPct val="90000"/>
              </a:lnSpc>
              <a:spcBef>
                <a:spcPts val="400"/>
              </a:spcBef>
              <a:spcAft>
                <a:spcPts val="0"/>
              </a:spcAft>
              <a:buSzPts val="1400"/>
              <a:buNone/>
              <a:defRPr/>
            </a:lvl8pPr>
            <a:lvl9pPr indent="-228600" lvl="8" marL="4114800" algn="l">
              <a:lnSpc>
                <a:spcPct val="90000"/>
              </a:lnSpc>
              <a:spcBef>
                <a:spcPts val="400"/>
              </a:spcBef>
              <a:spcAft>
                <a:spcPts val="0"/>
              </a:spcAft>
              <a:buSzPts val="1400"/>
              <a:buNone/>
              <a:defRPr/>
            </a:lvl9pPr>
          </a:lstStyle>
          <a:p/>
        </p:txBody>
      </p:sp>
      <p:sp>
        <p:nvSpPr>
          <p:cNvPr id="59" name="Google Shape;59;p14"/>
          <p:cNvSpPr txBox="1"/>
          <p:nvPr>
            <p:ph idx="2" type="body"/>
          </p:nvPr>
        </p:nvSpPr>
        <p:spPr>
          <a:xfrm>
            <a:off x="4709159"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SzPts val="2100"/>
              <a:buNone/>
              <a:defRPr/>
            </a:lvl1pPr>
            <a:lvl2pPr indent="-228600" lvl="1" marL="914400" algn="l">
              <a:lnSpc>
                <a:spcPct val="90000"/>
              </a:lnSpc>
              <a:spcBef>
                <a:spcPts val="400"/>
              </a:spcBef>
              <a:spcAft>
                <a:spcPts val="0"/>
              </a:spcAft>
              <a:buSzPts val="1800"/>
              <a:buNone/>
              <a:defRPr/>
            </a:lvl2pPr>
            <a:lvl3pPr indent="-228600" lvl="2" marL="1371600" algn="l">
              <a:lnSpc>
                <a:spcPct val="90000"/>
              </a:lnSpc>
              <a:spcBef>
                <a:spcPts val="400"/>
              </a:spcBef>
              <a:spcAft>
                <a:spcPts val="0"/>
              </a:spcAft>
              <a:buSzPts val="1500"/>
              <a:buNone/>
              <a:defRPr/>
            </a:lvl3pPr>
            <a:lvl4pPr indent="-228600" lvl="3" marL="1828800" algn="l">
              <a:lnSpc>
                <a:spcPct val="90000"/>
              </a:lnSpc>
              <a:spcBef>
                <a:spcPts val="400"/>
              </a:spcBef>
              <a:spcAft>
                <a:spcPts val="0"/>
              </a:spcAft>
              <a:buSzPts val="1400"/>
              <a:buNone/>
              <a:defRPr/>
            </a:lvl4pPr>
            <a:lvl5pPr indent="-228600" lvl="4" marL="2286000" algn="l">
              <a:lnSpc>
                <a:spcPct val="90000"/>
              </a:lnSpc>
              <a:spcBef>
                <a:spcPts val="400"/>
              </a:spcBef>
              <a:spcAft>
                <a:spcPts val="0"/>
              </a:spcAft>
              <a:buSzPts val="1400"/>
              <a:buNone/>
              <a:defRPr/>
            </a:lvl5pPr>
            <a:lvl6pPr indent="-228600" lvl="5" marL="2743200" algn="l">
              <a:lnSpc>
                <a:spcPct val="90000"/>
              </a:lnSpc>
              <a:spcBef>
                <a:spcPts val="400"/>
              </a:spcBef>
              <a:spcAft>
                <a:spcPts val="0"/>
              </a:spcAft>
              <a:buSzPts val="1400"/>
              <a:buNone/>
              <a:defRPr/>
            </a:lvl6pPr>
            <a:lvl7pPr indent="-228600" lvl="6" marL="3200400" algn="l">
              <a:lnSpc>
                <a:spcPct val="90000"/>
              </a:lnSpc>
              <a:spcBef>
                <a:spcPts val="400"/>
              </a:spcBef>
              <a:spcAft>
                <a:spcPts val="0"/>
              </a:spcAft>
              <a:buSzPts val="1400"/>
              <a:buNone/>
              <a:defRPr/>
            </a:lvl7pPr>
            <a:lvl8pPr indent="-228600" lvl="7" marL="3657600" algn="l">
              <a:lnSpc>
                <a:spcPct val="90000"/>
              </a:lnSpc>
              <a:spcBef>
                <a:spcPts val="400"/>
              </a:spcBef>
              <a:spcAft>
                <a:spcPts val="0"/>
              </a:spcAft>
              <a:buSzPts val="1400"/>
              <a:buNone/>
              <a:defRPr/>
            </a:lvl8pPr>
            <a:lvl9pPr indent="-228600" lvl="8" marL="4114800" algn="l">
              <a:lnSpc>
                <a:spcPct val="90000"/>
              </a:lnSpc>
              <a:spcBef>
                <a:spcPts val="400"/>
              </a:spcBef>
              <a:spcAft>
                <a:spcPts val="0"/>
              </a:spcAft>
              <a:buSzPts val="1400"/>
              <a:buNone/>
              <a:defRPr/>
            </a:lvl9pPr>
          </a:lstStyle>
          <a:p/>
        </p:txBody>
      </p:sp>
      <p:sp>
        <p:nvSpPr>
          <p:cNvPr id="60" name="Google Shape;60;p14"/>
          <p:cNvSpPr txBox="1"/>
          <p:nvPr>
            <p:ph idx="11" type="ftr"/>
          </p:nvPr>
        </p:nvSpPr>
        <p:spPr>
          <a:xfrm>
            <a:off x="5177409" y="5023914"/>
            <a:ext cx="3886800" cy="95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1" sz="800">
                <a:solidFill>
                  <a:srgbClr val="698EE3"/>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4"/>
          <p:cNvSpPr txBox="1"/>
          <p:nvPr>
            <p:ph idx="12" type="sldNum"/>
          </p:nvPr>
        </p:nvSpPr>
        <p:spPr>
          <a:xfrm>
            <a:off x="6583680" y="4783455"/>
            <a:ext cx="2103000" cy="1386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63" name="Shape 63"/>
        <p:cNvGrpSpPr/>
        <p:nvPr/>
      </p:nvGrpSpPr>
      <p:grpSpPr>
        <a:xfrm>
          <a:off x="0" y="0"/>
          <a:ext cx="0" cy="0"/>
          <a:chOff x="0" y="0"/>
          <a:chExt cx="0" cy="0"/>
        </a:xfrm>
      </p:grpSpPr>
      <p:sp>
        <p:nvSpPr>
          <p:cNvPr id="64" name="Google Shape;64;p15"/>
          <p:cNvSpPr txBox="1"/>
          <p:nvPr>
            <p:ph idx="11" type="ftr"/>
          </p:nvPr>
        </p:nvSpPr>
        <p:spPr>
          <a:xfrm>
            <a:off x="5177409" y="5023914"/>
            <a:ext cx="3886800" cy="95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1" sz="800">
                <a:solidFill>
                  <a:srgbClr val="698EE3"/>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2" type="sldNum"/>
          </p:nvPr>
        </p:nvSpPr>
        <p:spPr>
          <a:xfrm>
            <a:off x="6583680" y="4783455"/>
            <a:ext cx="2103000" cy="1386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6"/>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6"/>
          <p:cNvSpPr txBox="1"/>
          <p:nvPr>
            <p:ph idx="1" type="body"/>
          </p:nvPr>
        </p:nvSpPr>
        <p:spPr>
          <a:xfrm>
            <a:off x="311700" y="1152475"/>
            <a:ext cx="3999900" cy="3416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SzPts val="1400"/>
              <a:buChar char="•"/>
              <a:defRPr sz="1400"/>
            </a:lvl1pPr>
            <a:lvl2pPr indent="-304800" lvl="1" marL="914400" algn="l">
              <a:lnSpc>
                <a:spcPct val="90000"/>
              </a:lnSpc>
              <a:spcBef>
                <a:spcPts val="400"/>
              </a:spcBef>
              <a:spcAft>
                <a:spcPts val="0"/>
              </a:spcAft>
              <a:buSzPts val="1200"/>
              <a:buChar char="•"/>
              <a:defRPr sz="12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0"/>
              </a:spcAft>
              <a:buSzPts val="1200"/>
              <a:buChar char="•"/>
              <a:defRPr sz="1200"/>
            </a:lvl9pPr>
          </a:lstStyle>
          <a:p/>
        </p:txBody>
      </p:sp>
      <p:sp>
        <p:nvSpPr>
          <p:cNvPr id="70" name="Google Shape;70;p16"/>
          <p:cNvSpPr txBox="1"/>
          <p:nvPr>
            <p:ph idx="2" type="body"/>
          </p:nvPr>
        </p:nvSpPr>
        <p:spPr>
          <a:xfrm>
            <a:off x="4832400" y="1152475"/>
            <a:ext cx="3999900" cy="3416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SzPts val="1400"/>
              <a:buChar char="•"/>
              <a:defRPr sz="1400"/>
            </a:lvl1pPr>
            <a:lvl2pPr indent="-304800" lvl="1" marL="914400" algn="l">
              <a:lnSpc>
                <a:spcPct val="90000"/>
              </a:lnSpc>
              <a:spcBef>
                <a:spcPts val="400"/>
              </a:spcBef>
              <a:spcAft>
                <a:spcPts val="0"/>
              </a:spcAft>
              <a:buSzPts val="1200"/>
              <a:buChar char="•"/>
              <a:defRPr sz="12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0"/>
              </a:spcAft>
              <a:buSzPts val="1200"/>
              <a:buChar char="•"/>
              <a:defRPr sz="1200"/>
            </a:lvl9pPr>
          </a:lstStyle>
          <a:p/>
        </p:txBody>
      </p:sp>
      <p:sp>
        <p:nvSpPr>
          <p:cNvPr id="71" name="Google Shape;71;p16"/>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bg>
      <p:bgPr>
        <a:solidFill>
          <a:schemeClr val="dk1"/>
        </a:solidFill>
      </p:bgPr>
    </p:bg>
    <p:spTree>
      <p:nvGrpSpPr>
        <p:cNvPr id="72" name="Shape 72"/>
        <p:cNvGrpSpPr/>
        <p:nvPr/>
      </p:nvGrpSpPr>
      <p:grpSpPr>
        <a:xfrm>
          <a:off x="0" y="0"/>
          <a:ext cx="0" cy="0"/>
          <a:chOff x="0" y="0"/>
          <a:chExt cx="0" cy="0"/>
        </a:xfrm>
      </p:grpSpPr>
      <p:grpSp>
        <p:nvGrpSpPr>
          <p:cNvPr id="73" name="Google Shape;73;p17"/>
          <p:cNvGrpSpPr/>
          <p:nvPr/>
        </p:nvGrpSpPr>
        <p:grpSpPr>
          <a:xfrm>
            <a:off x="6098378" y="5"/>
            <a:ext cx="3045625" cy="2030570"/>
            <a:chOff x="6098378" y="5"/>
            <a:chExt cx="3045625" cy="2030570"/>
          </a:xfrm>
        </p:grpSpPr>
        <p:sp>
          <p:nvSpPr>
            <p:cNvPr id="74" name="Google Shape;74;p17"/>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7"/>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7"/>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7"/>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7"/>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17"/>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80" name="Google Shape;80;p1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1" name="Shape 81"/>
        <p:cNvGrpSpPr/>
        <p:nvPr/>
      </p:nvGrpSpPr>
      <p:grpSpPr>
        <a:xfrm>
          <a:off x="0" y="0"/>
          <a:ext cx="0" cy="0"/>
          <a:chOff x="0" y="0"/>
          <a:chExt cx="0" cy="0"/>
        </a:xfrm>
      </p:grpSpPr>
      <p:grpSp>
        <p:nvGrpSpPr>
          <p:cNvPr id="82" name="Google Shape;82;p18"/>
          <p:cNvGrpSpPr/>
          <p:nvPr/>
        </p:nvGrpSpPr>
        <p:grpSpPr>
          <a:xfrm>
            <a:off x="6098378" y="5"/>
            <a:ext cx="3045625" cy="2030570"/>
            <a:chOff x="6098378" y="5"/>
            <a:chExt cx="3045625" cy="2030570"/>
          </a:xfrm>
        </p:grpSpPr>
        <p:sp>
          <p:nvSpPr>
            <p:cNvPr id="83" name="Google Shape;83;p18"/>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8"/>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8"/>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8"/>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8"/>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 name="Google Shape;88;p18"/>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89" name="Google Shape;89;p18"/>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1600"/>
              </a:spcBef>
              <a:spcAft>
                <a:spcPts val="0"/>
              </a:spcAft>
              <a:buClr>
                <a:schemeClr val="lt1"/>
              </a:buClr>
              <a:buSzPts val="1400"/>
              <a:buChar char="○"/>
              <a:defRPr>
                <a:solidFill>
                  <a:schemeClr val="lt1"/>
                </a:solidFill>
              </a:defRPr>
            </a:lvl2pPr>
            <a:lvl3pPr indent="-317500" lvl="2" marL="1371600" algn="ctr">
              <a:lnSpc>
                <a:spcPct val="115000"/>
              </a:lnSpc>
              <a:spcBef>
                <a:spcPts val="1600"/>
              </a:spcBef>
              <a:spcAft>
                <a:spcPts val="0"/>
              </a:spcAft>
              <a:buClr>
                <a:schemeClr val="lt1"/>
              </a:buClr>
              <a:buSzPts val="1400"/>
              <a:buChar char="■"/>
              <a:defRPr>
                <a:solidFill>
                  <a:schemeClr val="lt1"/>
                </a:solidFill>
              </a:defRPr>
            </a:lvl3pPr>
            <a:lvl4pPr indent="-317500" lvl="3" marL="1828800" algn="ctr">
              <a:lnSpc>
                <a:spcPct val="115000"/>
              </a:lnSpc>
              <a:spcBef>
                <a:spcPts val="1600"/>
              </a:spcBef>
              <a:spcAft>
                <a:spcPts val="0"/>
              </a:spcAft>
              <a:buClr>
                <a:schemeClr val="lt1"/>
              </a:buClr>
              <a:buSzPts val="1400"/>
              <a:buChar char="●"/>
              <a:defRPr>
                <a:solidFill>
                  <a:schemeClr val="lt1"/>
                </a:solidFill>
              </a:defRPr>
            </a:lvl4pPr>
            <a:lvl5pPr indent="-317500" lvl="4" marL="2286000" algn="ctr">
              <a:lnSpc>
                <a:spcPct val="115000"/>
              </a:lnSpc>
              <a:spcBef>
                <a:spcPts val="1600"/>
              </a:spcBef>
              <a:spcAft>
                <a:spcPts val="0"/>
              </a:spcAft>
              <a:buClr>
                <a:schemeClr val="lt1"/>
              </a:buClr>
              <a:buSzPts val="1400"/>
              <a:buChar char="○"/>
              <a:defRPr>
                <a:solidFill>
                  <a:schemeClr val="lt1"/>
                </a:solidFill>
              </a:defRPr>
            </a:lvl5pPr>
            <a:lvl6pPr indent="-317500" lvl="5" marL="2743200" algn="ctr">
              <a:lnSpc>
                <a:spcPct val="115000"/>
              </a:lnSpc>
              <a:spcBef>
                <a:spcPts val="1600"/>
              </a:spcBef>
              <a:spcAft>
                <a:spcPts val="0"/>
              </a:spcAft>
              <a:buClr>
                <a:schemeClr val="lt1"/>
              </a:buClr>
              <a:buSzPts val="1400"/>
              <a:buChar char="■"/>
              <a:defRPr>
                <a:solidFill>
                  <a:schemeClr val="lt1"/>
                </a:solidFill>
              </a:defRPr>
            </a:lvl6pPr>
            <a:lvl7pPr indent="-317500" lvl="6" marL="3200400" algn="ctr">
              <a:lnSpc>
                <a:spcPct val="115000"/>
              </a:lnSpc>
              <a:spcBef>
                <a:spcPts val="1600"/>
              </a:spcBef>
              <a:spcAft>
                <a:spcPts val="0"/>
              </a:spcAft>
              <a:buClr>
                <a:schemeClr val="lt1"/>
              </a:buClr>
              <a:buSzPts val="1400"/>
              <a:buChar char="●"/>
              <a:defRPr>
                <a:solidFill>
                  <a:schemeClr val="lt1"/>
                </a:solidFill>
              </a:defRPr>
            </a:lvl7pPr>
            <a:lvl8pPr indent="-317500" lvl="7" marL="3657600" algn="ctr">
              <a:lnSpc>
                <a:spcPct val="115000"/>
              </a:lnSpc>
              <a:spcBef>
                <a:spcPts val="1600"/>
              </a:spcBef>
              <a:spcAft>
                <a:spcPts val="0"/>
              </a:spcAft>
              <a:buClr>
                <a:schemeClr val="lt1"/>
              </a:buClr>
              <a:buSzPts val="1400"/>
              <a:buChar char="○"/>
              <a:defRPr>
                <a:solidFill>
                  <a:schemeClr val="lt1"/>
                </a:solidFill>
              </a:defRPr>
            </a:lvl8pPr>
            <a:lvl9pPr indent="-317500" lvl="8" marL="4114800" algn="ctr">
              <a:lnSpc>
                <a:spcPct val="115000"/>
              </a:lnSpc>
              <a:spcBef>
                <a:spcPts val="1600"/>
              </a:spcBef>
              <a:spcAft>
                <a:spcPts val="1600"/>
              </a:spcAft>
              <a:buClr>
                <a:schemeClr val="lt1"/>
              </a:buClr>
              <a:buSzPts val="1400"/>
              <a:buChar char="■"/>
              <a:defRPr>
                <a:solidFill>
                  <a:schemeClr val="lt1"/>
                </a:solidFill>
              </a:defRPr>
            </a:lvl9pPr>
          </a:lstStyle>
          <a:p/>
        </p:txBody>
      </p:sp>
      <p:sp>
        <p:nvSpPr>
          <p:cNvPr id="90" name="Google Shape;90;p1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bg>
      <p:bgPr>
        <a:solidFill>
          <a:schemeClr val="dk1"/>
        </a:solidFill>
      </p:bgPr>
    </p:bg>
    <p:spTree>
      <p:nvGrpSpPr>
        <p:cNvPr id="91" name="Shape 91"/>
        <p:cNvGrpSpPr/>
        <p:nvPr/>
      </p:nvGrpSpPr>
      <p:grpSpPr>
        <a:xfrm>
          <a:off x="0" y="0"/>
          <a:ext cx="0" cy="0"/>
          <a:chOff x="0" y="0"/>
          <a:chExt cx="0" cy="0"/>
        </a:xfrm>
      </p:grpSpPr>
      <p:grpSp>
        <p:nvGrpSpPr>
          <p:cNvPr id="92" name="Google Shape;92;p19"/>
          <p:cNvGrpSpPr/>
          <p:nvPr/>
        </p:nvGrpSpPr>
        <p:grpSpPr>
          <a:xfrm>
            <a:off x="6098378" y="5"/>
            <a:ext cx="3045625" cy="2030570"/>
            <a:chOff x="6098378" y="5"/>
            <a:chExt cx="3045625" cy="2030570"/>
          </a:xfrm>
        </p:grpSpPr>
        <p:sp>
          <p:nvSpPr>
            <p:cNvPr id="93" name="Google Shape;93;p19"/>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9"/>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9"/>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9"/>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9"/>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19"/>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99" name="Google Shape;99;p1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3">
    <p:bg>
      <p:bgPr>
        <a:solidFill>
          <a:schemeClr val="dk1"/>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6098378" y="5"/>
            <a:ext cx="3045625" cy="2030570"/>
            <a:chOff x="6098378" y="5"/>
            <a:chExt cx="3045625" cy="2030570"/>
          </a:xfrm>
        </p:grpSpPr>
        <p:sp>
          <p:nvSpPr>
            <p:cNvPr id="102" name="Google Shape;102;p20"/>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0"/>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0"/>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0"/>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0"/>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7" name="Google Shape;107;p20"/>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08" name="Google Shape;108;p2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youtube.com/watch?v=fB85NrUBBhQ" TargetMode="External"/><Relationship Id="rId4" Type="http://schemas.openxmlformats.org/officeDocument/2006/relationships/hyperlink" Target="https://logic.ly/demo/sampl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youtu.be/N5VBSWRRdUw" TargetMode="External"/><Relationship Id="rId4" Type="http://schemas.openxmlformats.org/officeDocument/2006/relationships/hyperlink" Target="https://youtu.be/N5VBSWRRdUw" TargetMode="External"/><Relationship Id="rId5" Type="http://schemas.openxmlformats.org/officeDocument/2006/relationships/hyperlink" Target="https://www.wolframalpha.com/input?i=P+AND+NOT+Q"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logic.ly/demo/samples" TargetMode="External"/><Relationship Id="rId4" Type="http://schemas.openxmlformats.org/officeDocument/2006/relationships/hyperlink" Target="https://www.bbc.co.uk/bitesize/guides/zscvxfr/revision/1" TargetMode="External"/><Relationship Id="rId5" Type="http://schemas.openxmlformats.org/officeDocument/2006/relationships/hyperlink" Target="https://www.khanacademy.org/computing/computers-and-internet/xcae6f4a7ff015e7d:computers/xcae6f4a7ff015e7d:logic-gates-and-circuits/a/logic-gat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ctrTitle"/>
          </p:nvPr>
        </p:nvSpPr>
        <p:spPr>
          <a:xfrm>
            <a:off x="1143000" y="841772"/>
            <a:ext cx="4963500" cy="17907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SzPts val="4500"/>
              <a:buNone/>
            </a:pPr>
            <a:r>
              <a:rPr lang="en-GB"/>
              <a:t>Simple logic gates</a:t>
            </a:r>
            <a:endParaRPr/>
          </a:p>
          <a:p>
            <a:pPr indent="0" lvl="0" marL="0" rtl="0" algn="ctr">
              <a:lnSpc>
                <a:spcPct val="90000"/>
              </a:lnSpc>
              <a:spcBef>
                <a:spcPts val="0"/>
              </a:spcBef>
              <a:spcAft>
                <a:spcPts val="0"/>
              </a:spcAft>
              <a:buSzPts val="4500"/>
              <a:buNone/>
            </a:pPr>
            <a:r>
              <a:t/>
            </a:r>
            <a:endParaRPr/>
          </a:p>
        </p:txBody>
      </p:sp>
      <p:sp>
        <p:nvSpPr>
          <p:cNvPr id="114" name="Google Shape;114;p21"/>
          <p:cNvSpPr txBox="1"/>
          <p:nvPr>
            <p:ph idx="1" type="subTitle"/>
          </p:nvPr>
        </p:nvSpPr>
        <p:spPr>
          <a:xfrm>
            <a:off x="1143000" y="2701529"/>
            <a:ext cx="4963500" cy="12417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800"/>
              </a:spcBef>
              <a:spcAft>
                <a:spcPts val="0"/>
              </a:spcAft>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idx="1" type="body"/>
          </p:nvPr>
        </p:nvSpPr>
        <p:spPr>
          <a:xfrm>
            <a:off x="532800" y="304450"/>
            <a:ext cx="8084400" cy="4566900"/>
          </a:xfrm>
          <a:prstGeom prst="rect">
            <a:avLst/>
          </a:prstGeom>
          <a:noFill/>
          <a:ln>
            <a:noFill/>
          </a:ln>
        </p:spPr>
        <p:txBody>
          <a:bodyPr anchorCtr="0" anchor="t" bIns="34275" lIns="68575" spcFirstLastPara="1" rIns="68575" wrap="square" tIns="34275">
            <a:normAutofit fontScale="85000"/>
          </a:bodyPr>
          <a:lstStyle/>
          <a:p>
            <a:pPr indent="0" lvl="0" marL="0" rtl="0" algn="l">
              <a:lnSpc>
                <a:spcPct val="115000"/>
              </a:lnSpc>
              <a:spcBef>
                <a:spcPts val="800"/>
              </a:spcBef>
              <a:spcAft>
                <a:spcPts val="0"/>
              </a:spcAft>
              <a:buSzPct val="78431"/>
              <a:buNone/>
            </a:pPr>
            <a:r>
              <a:rPr lang="en-GB"/>
              <a:t>So we've seen that binary can be used to store numbers, text, and colour codes, what we can use binary for much more than storing values; </a:t>
            </a:r>
            <a:endParaRPr/>
          </a:p>
          <a:p>
            <a:pPr indent="0" lvl="0" marL="0" rtl="0" algn="l">
              <a:lnSpc>
                <a:spcPct val="115000"/>
              </a:lnSpc>
              <a:spcBef>
                <a:spcPts val="800"/>
              </a:spcBef>
              <a:spcAft>
                <a:spcPts val="0"/>
              </a:spcAft>
              <a:buSzPct val="78431"/>
              <a:buNone/>
            </a:pPr>
            <a:r>
              <a:rPr lang="en-GB"/>
              <a:t>Binary also forms the basis of all the logic functionality that occurs within computers. We do this through what are commonly known as logic gates. </a:t>
            </a:r>
            <a:endParaRPr/>
          </a:p>
          <a:p>
            <a:pPr indent="0" lvl="0" marL="0" rtl="0" algn="l">
              <a:lnSpc>
                <a:spcPct val="115000"/>
              </a:lnSpc>
              <a:spcBef>
                <a:spcPts val="800"/>
              </a:spcBef>
              <a:spcAft>
                <a:spcPts val="0"/>
              </a:spcAft>
              <a:buSzPct val="78431"/>
              <a:buNone/>
            </a:pPr>
            <a:r>
              <a:rPr lang="en-GB"/>
              <a:t>All gates can be simplified down into the three of AND, OR and NOT but there are six gates we will learn in this course:</a:t>
            </a:r>
            <a:endParaRPr/>
          </a:p>
          <a:p>
            <a:pPr indent="0" lvl="0" marL="0" rtl="0" algn="l">
              <a:lnSpc>
                <a:spcPct val="115000"/>
              </a:lnSpc>
              <a:spcBef>
                <a:spcPts val="800"/>
              </a:spcBef>
              <a:spcAft>
                <a:spcPts val="0"/>
              </a:spcAft>
              <a:buSzPct val="67172"/>
              <a:buNone/>
            </a:pPr>
            <a:r>
              <a:rPr b="1" lang="en-GB" sz="2452">
                <a:solidFill>
                  <a:schemeClr val="accent1"/>
                </a:solidFill>
              </a:rPr>
              <a:t>AND NAND OR NOR NOT XOR </a:t>
            </a:r>
            <a:endParaRPr b="1" sz="2452">
              <a:solidFill>
                <a:schemeClr val="accent1"/>
              </a:solidFill>
            </a:endParaRPr>
          </a:p>
          <a:p>
            <a:pPr indent="0" lvl="0" marL="0" rtl="0" algn="l">
              <a:lnSpc>
                <a:spcPct val="115000"/>
              </a:lnSpc>
              <a:spcBef>
                <a:spcPts val="800"/>
              </a:spcBef>
              <a:spcAft>
                <a:spcPts val="0"/>
              </a:spcAft>
              <a:buSzPct val="78431"/>
              <a:buNone/>
            </a:pPr>
            <a:r>
              <a:t/>
            </a:r>
            <a:endParaRPr/>
          </a:p>
          <a:p>
            <a:pPr indent="0" lvl="0" marL="0" rtl="0" algn="l">
              <a:lnSpc>
                <a:spcPct val="115000"/>
              </a:lnSpc>
              <a:spcBef>
                <a:spcPts val="800"/>
              </a:spcBef>
              <a:spcAft>
                <a:spcPts val="0"/>
              </a:spcAft>
              <a:buSzPct val="78431"/>
              <a:buNone/>
            </a:pPr>
            <a:r>
              <a:rPr lang="en-GB"/>
              <a:t>The following video provides a great introduction into how you can easily create your own logic gates and how they work. </a:t>
            </a:r>
            <a:r>
              <a:rPr lang="en-GB" u="sng">
                <a:solidFill>
                  <a:schemeClr val="hlink"/>
                </a:solidFill>
                <a:hlinkClick r:id="rId3"/>
              </a:rPr>
              <a:t>https://www.youtube.com/watch?v=fB85NrUBBhQ</a:t>
            </a:r>
            <a:r>
              <a:rPr lang="en-GB"/>
              <a:t> </a:t>
            </a:r>
            <a:endParaRPr/>
          </a:p>
          <a:p>
            <a:pPr indent="0" lvl="0" marL="0" rtl="0" algn="l">
              <a:lnSpc>
                <a:spcPct val="115000"/>
              </a:lnSpc>
              <a:spcBef>
                <a:spcPts val="800"/>
              </a:spcBef>
              <a:spcAft>
                <a:spcPts val="0"/>
              </a:spcAft>
              <a:buSzPct val="78431"/>
              <a:buNone/>
            </a:pPr>
            <a:r>
              <a:rPr lang="en-GB" u="sng">
                <a:solidFill>
                  <a:schemeClr val="hlink"/>
                </a:solidFill>
                <a:hlinkClick r:id="rId4"/>
              </a:rPr>
              <a:t>https://logic.ly/demo/samples</a:t>
            </a:r>
            <a:r>
              <a:rPr lang="en-GB"/>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pic>
        <p:nvPicPr>
          <p:cNvPr id="125" name="Google Shape;125;p23"/>
          <p:cNvPicPr preferRelativeResize="0"/>
          <p:nvPr/>
        </p:nvPicPr>
        <p:blipFill rotWithShape="1">
          <a:blip r:embed="rId3">
            <a:alphaModFix/>
          </a:blip>
          <a:srcRect b="0" l="0" r="0" t="0"/>
          <a:stretch/>
        </p:blipFill>
        <p:spPr>
          <a:xfrm>
            <a:off x="420575" y="135100"/>
            <a:ext cx="8210550" cy="2266950"/>
          </a:xfrm>
          <a:prstGeom prst="rect">
            <a:avLst/>
          </a:prstGeom>
          <a:noFill/>
          <a:ln>
            <a:noFill/>
          </a:ln>
        </p:spPr>
      </p:pic>
      <p:pic>
        <p:nvPicPr>
          <p:cNvPr id="126" name="Google Shape;126;p23"/>
          <p:cNvPicPr preferRelativeResize="0"/>
          <p:nvPr/>
        </p:nvPicPr>
        <p:blipFill>
          <a:blip r:embed="rId4">
            <a:alphaModFix/>
          </a:blip>
          <a:stretch>
            <a:fillRect/>
          </a:stretch>
        </p:blipFill>
        <p:spPr>
          <a:xfrm>
            <a:off x="2865813" y="2571750"/>
            <a:ext cx="3320080" cy="2436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47138"/>
              <a:buNone/>
            </a:pPr>
            <a:r>
              <a:rPr b="1" lang="en-GB"/>
              <a:t>Topic 2.1.11 </a:t>
            </a:r>
            <a:r>
              <a:rPr lang="en-GB"/>
              <a:t>Define the Boolean operators: </a:t>
            </a:r>
            <a:r>
              <a:rPr lang="en-GB">
                <a:solidFill>
                  <a:srgbClr val="FF0000"/>
                </a:solidFill>
              </a:rPr>
              <a:t>AND, OR, NOT, NAND, NOR</a:t>
            </a:r>
            <a:r>
              <a:rPr lang="en-GB"/>
              <a:t> and </a:t>
            </a:r>
            <a:r>
              <a:rPr lang="en-GB">
                <a:solidFill>
                  <a:srgbClr val="FF0000"/>
                </a:solidFill>
              </a:rPr>
              <a:t>XOR</a:t>
            </a:r>
            <a:endParaRPr>
              <a:solidFill>
                <a:srgbClr val="FF0000"/>
              </a:solidFill>
            </a:endParaRPr>
          </a:p>
        </p:txBody>
      </p:sp>
      <p:sp>
        <p:nvSpPr>
          <p:cNvPr id="132" name="Google Shape;132;p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b="1" lang="en-GB"/>
              <a:t>What is logic? </a:t>
            </a:r>
            <a:endParaRPr b="1"/>
          </a:p>
          <a:p>
            <a:pPr indent="0" lvl="0" marL="0" rtl="0" algn="l">
              <a:lnSpc>
                <a:spcPct val="90000"/>
              </a:lnSpc>
              <a:spcBef>
                <a:spcPts val="800"/>
              </a:spcBef>
              <a:spcAft>
                <a:spcPts val="0"/>
              </a:spcAft>
              <a:buSzPts val="1400"/>
              <a:buNone/>
            </a:pPr>
            <a:r>
              <a:rPr lang="en-GB"/>
              <a:t>• It's how a machine will solve problems. </a:t>
            </a:r>
            <a:endParaRPr/>
          </a:p>
          <a:p>
            <a:pPr indent="0" lvl="0" marL="0" rtl="0" algn="l">
              <a:lnSpc>
                <a:spcPct val="90000"/>
              </a:lnSpc>
              <a:spcBef>
                <a:spcPts val="800"/>
              </a:spcBef>
              <a:spcAft>
                <a:spcPts val="0"/>
              </a:spcAft>
              <a:buSzPts val="1400"/>
              <a:buNone/>
            </a:pPr>
            <a:r>
              <a:rPr lang="en-GB"/>
              <a:t>• Machines (at basic level) do not understand semantics like humans – no grey areas.</a:t>
            </a:r>
            <a:endParaRPr/>
          </a:p>
          <a:p>
            <a:pPr indent="0" lvl="0" marL="0" rtl="0" algn="l">
              <a:lnSpc>
                <a:spcPct val="90000"/>
              </a:lnSpc>
              <a:spcBef>
                <a:spcPts val="800"/>
              </a:spcBef>
              <a:spcAft>
                <a:spcPts val="0"/>
              </a:spcAft>
              <a:buSzPts val="1400"/>
              <a:buNone/>
            </a:pPr>
            <a:r>
              <a:t/>
            </a:r>
            <a:endParaRPr/>
          </a:p>
          <a:p>
            <a:pPr indent="0" lvl="0" marL="0" rtl="0" algn="l">
              <a:lnSpc>
                <a:spcPct val="90000"/>
              </a:lnSpc>
              <a:spcBef>
                <a:spcPts val="800"/>
              </a:spcBef>
              <a:spcAft>
                <a:spcPts val="0"/>
              </a:spcAft>
              <a:buSzPts val="1400"/>
              <a:buNone/>
            </a:pPr>
            <a:r>
              <a:t/>
            </a:r>
            <a:endParaRPr/>
          </a:p>
        </p:txBody>
      </p:sp>
      <p:pic>
        <p:nvPicPr>
          <p:cNvPr id="133" name="Google Shape;133;p24"/>
          <p:cNvPicPr preferRelativeResize="0"/>
          <p:nvPr/>
        </p:nvPicPr>
        <p:blipFill rotWithShape="1">
          <a:blip r:embed="rId3">
            <a:alphaModFix/>
          </a:blip>
          <a:srcRect b="0" l="0" r="0" t="0"/>
          <a:stretch/>
        </p:blipFill>
        <p:spPr>
          <a:xfrm>
            <a:off x="2183534" y="2807675"/>
            <a:ext cx="4776925" cy="208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5"/>
          <p:cNvPicPr preferRelativeResize="0"/>
          <p:nvPr/>
        </p:nvPicPr>
        <p:blipFill rotWithShape="1">
          <a:blip r:embed="rId3">
            <a:alphaModFix/>
          </a:blip>
          <a:srcRect b="0" l="0" r="0" t="39287"/>
          <a:stretch/>
        </p:blipFill>
        <p:spPr>
          <a:xfrm>
            <a:off x="1360275" y="2616125"/>
            <a:ext cx="6795524" cy="2453500"/>
          </a:xfrm>
          <a:prstGeom prst="rect">
            <a:avLst/>
          </a:prstGeom>
          <a:noFill/>
          <a:ln>
            <a:noFill/>
          </a:ln>
        </p:spPr>
      </p:pic>
      <p:sp>
        <p:nvSpPr>
          <p:cNvPr id="139" name="Google Shape;139;p25"/>
          <p:cNvSpPr txBox="1"/>
          <p:nvPr/>
        </p:nvSpPr>
        <p:spPr>
          <a:xfrm>
            <a:off x="1483625" y="652675"/>
            <a:ext cx="1964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212121"/>
                </a:solidFill>
                <a:highlight>
                  <a:srgbClr val="1FC6F0"/>
                </a:highlight>
                <a:latin typeface="Lato"/>
                <a:ea typeface="Lato"/>
                <a:cs typeface="Lato"/>
                <a:sym typeface="Lato"/>
              </a:rPr>
              <a:t>The output is true when A and B is true.</a:t>
            </a:r>
            <a:endParaRPr b="1" i="0" sz="1400" u="none" cap="none" strike="noStrike">
              <a:solidFill>
                <a:srgbClr val="000000"/>
              </a:solidFill>
              <a:highlight>
                <a:srgbClr val="1FC6F0"/>
              </a:highlight>
              <a:latin typeface="Arial"/>
              <a:ea typeface="Arial"/>
              <a:cs typeface="Arial"/>
              <a:sym typeface="Arial"/>
            </a:endParaRPr>
          </a:p>
        </p:txBody>
      </p:sp>
      <p:sp>
        <p:nvSpPr>
          <p:cNvPr id="140" name="Google Shape;140;p25"/>
          <p:cNvSpPr txBox="1"/>
          <p:nvPr/>
        </p:nvSpPr>
        <p:spPr>
          <a:xfrm>
            <a:off x="3621200" y="516250"/>
            <a:ext cx="2205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212121"/>
                </a:solidFill>
                <a:highlight>
                  <a:srgbClr val="EAD1DC"/>
                </a:highlight>
                <a:latin typeface="Lato"/>
                <a:ea typeface="Lato"/>
                <a:cs typeface="Lato"/>
                <a:sym typeface="Lato"/>
              </a:rPr>
              <a:t>The output is true when A is true or B is true, or both are true.</a:t>
            </a:r>
            <a:endParaRPr b="1" i="0" sz="1400" u="none" cap="none" strike="noStrike">
              <a:solidFill>
                <a:srgbClr val="000000"/>
              </a:solidFill>
              <a:highlight>
                <a:srgbClr val="EAD1DC"/>
              </a:highlight>
              <a:latin typeface="Arial"/>
              <a:ea typeface="Arial"/>
              <a:cs typeface="Arial"/>
              <a:sym typeface="Arial"/>
            </a:endParaRPr>
          </a:p>
        </p:txBody>
      </p:sp>
      <p:sp>
        <p:nvSpPr>
          <p:cNvPr id="141" name="Google Shape;141;p25"/>
          <p:cNvSpPr txBox="1"/>
          <p:nvPr/>
        </p:nvSpPr>
        <p:spPr>
          <a:xfrm>
            <a:off x="5826200" y="588150"/>
            <a:ext cx="2205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212121"/>
                </a:solidFill>
                <a:highlight>
                  <a:srgbClr val="FF0000"/>
                </a:highlight>
                <a:latin typeface="Lato"/>
                <a:ea typeface="Lato"/>
                <a:cs typeface="Lato"/>
                <a:sym typeface="Lato"/>
              </a:rPr>
              <a:t>The output is true when the input is false (unary operator).</a:t>
            </a:r>
            <a:endParaRPr b="1" i="0" sz="1400" u="none" cap="none" strike="noStrike">
              <a:solidFill>
                <a:srgbClr val="000000"/>
              </a:solidFill>
              <a:highlight>
                <a:srgbClr val="FF0000"/>
              </a:highlight>
              <a:latin typeface="Arial"/>
              <a:ea typeface="Arial"/>
              <a:cs typeface="Arial"/>
              <a:sym typeface="Arial"/>
            </a:endParaRPr>
          </a:p>
        </p:txBody>
      </p:sp>
      <p:pic>
        <p:nvPicPr>
          <p:cNvPr id="142" name="Google Shape;142;p25"/>
          <p:cNvPicPr preferRelativeResize="0"/>
          <p:nvPr/>
        </p:nvPicPr>
        <p:blipFill>
          <a:blip r:embed="rId4">
            <a:alphaModFix/>
          </a:blip>
          <a:stretch>
            <a:fillRect/>
          </a:stretch>
        </p:blipFill>
        <p:spPr>
          <a:xfrm>
            <a:off x="1551575" y="1438800"/>
            <a:ext cx="1828800" cy="914400"/>
          </a:xfrm>
          <a:prstGeom prst="rect">
            <a:avLst/>
          </a:prstGeom>
          <a:noFill/>
          <a:ln>
            <a:noFill/>
          </a:ln>
        </p:spPr>
      </p:pic>
      <p:pic>
        <p:nvPicPr>
          <p:cNvPr id="143" name="Google Shape;143;p25"/>
          <p:cNvPicPr preferRelativeResize="0"/>
          <p:nvPr/>
        </p:nvPicPr>
        <p:blipFill>
          <a:blip r:embed="rId5">
            <a:alphaModFix/>
          </a:blip>
          <a:stretch>
            <a:fillRect/>
          </a:stretch>
        </p:blipFill>
        <p:spPr>
          <a:xfrm>
            <a:off x="3704225" y="1358925"/>
            <a:ext cx="1933575" cy="895350"/>
          </a:xfrm>
          <a:prstGeom prst="rect">
            <a:avLst/>
          </a:prstGeom>
          <a:noFill/>
          <a:ln>
            <a:noFill/>
          </a:ln>
        </p:spPr>
      </p:pic>
      <p:pic>
        <p:nvPicPr>
          <p:cNvPr id="144" name="Google Shape;144;p25"/>
          <p:cNvPicPr preferRelativeResize="0"/>
          <p:nvPr/>
        </p:nvPicPr>
        <p:blipFill>
          <a:blip r:embed="rId6">
            <a:alphaModFix/>
          </a:blip>
          <a:stretch>
            <a:fillRect/>
          </a:stretch>
        </p:blipFill>
        <p:spPr>
          <a:xfrm>
            <a:off x="6112925" y="1358913"/>
            <a:ext cx="1800225" cy="1009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3">
            <a:alphaModFix/>
          </a:blip>
          <a:srcRect b="0" l="0" r="0" t="38744"/>
          <a:stretch/>
        </p:blipFill>
        <p:spPr>
          <a:xfrm>
            <a:off x="1022275" y="2571750"/>
            <a:ext cx="7315375" cy="2571750"/>
          </a:xfrm>
          <a:prstGeom prst="rect">
            <a:avLst/>
          </a:prstGeom>
          <a:noFill/>
          <a:ln>
            <a:noFill/>
          </a:ln>
        </p:spPr>
      </p:pic>
      <p:sp>
        <p:nvSpPr>
          <p:cNvPr id="150" name="Google Shape;150;p26"/>
          <p:cNvSpPr txBox="1"/>
          <p:nvPr/>
        </p:nvSpPr>
        <p:spPr>
          <a:xfrm>
            <a:off x="1174675" y="519325"/>
            <a:ext cx="2308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chemeClr val="dk1"/>
                </a:solidFill>
                <a:latin typeface="Lato"/>
                <a:ea typeface="Lato"/>
                <a:cs typeface="Lato"/>
                <a:sym typeface="Lato"/>
              </a:rPr>
              <a:t>The output is true when A is false and B is false</a:t>
            </a:r>
            <a:endParaRPr b="1" i="0" sz="1400" u="none" cap="none" strike="noStrike">
              <a:solidFill>
                <a:schemeClr val="dk1"/>
              </a:solidFill>
              <a:latin typeface="Arial"/>
              <a:ea typeface="Arial"/>
              <a:cs typeface="Arial"/>
              <a:sym typeface="Arial"/>
            </a:endParaRPr>
          </a:p>
        </p:txBody>
      </p:sp>
      <p:sp>
        <p:nvSpPr>
          <p:cNvPr id="151" name="Google Shape;151;p26"/>
          <p:cNvSpPr txBox="1"/>
          <p:nvPr/>
        </p:nvSpPr>
        <p:spPr>
          <a:xfrm>
            <a:off x="3505900" y="530500"/>
            <a:ext cx="2308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212121"/>
                </a:solidFill>
                <a:highlight>
                  <a:srgbClr val="B6D7A8"/>
                </a:highlight>
                <a:latin typeface="Lato"/>
                <a:ea typeface="Lato"/>
                <a:cs typeface="Lato"/>
                <a:sym typeface="Lato"/>
              </a:rPr>
              <a:t>The output is true when A is false or B is false, or both are false.</a:t>
            </a:r>
            <a:endParaRPr b="1" i="0" sz="1400" u="none" cap="none" strike="noStrike">
              <a:solidFill>
                <a:srgbClr val="000000"/>
              </a:solidFill>
              <a:highlight>
                <a:srgbClr val="B6D7A8"/>
              </a:highlight>
              <a:latin typeface="Arial"/>
              <a:ea typeface="Arial"/>
              <a:cs typeface="Arial"/>
              <a:sym typeface="Arial"/>
            </a:endParaRPr>
          </a:p>
        </p:txBody>
      </p:sp>
      <p:sp>
        <p:nvSpPr>
          <p:cNvPr id="152" name="Google Shape;152;p26"/>
          <p:cNvSpPr txBox="1"/>
          <p:nvPr/>
        </p:nvSpPr>
        <p:spPr>
          <a:xfrm>
            <a:off x="5814700" y="421925"/>
            <a:ext cx="23088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212121"/>
                </a:solidFill>
                <a:highlight>
                  <a:srgbClr val="FF00FF"/>
                </a:highlight>
                <a:latin typeface="Lato"/>
                <a:ea typeface="Lato"/>
                <a:cs typeface="Lato"/>
                <a:sym typeface="Lato"/>
              </a:rPr>
              <a:t>The output is true when A is true or B is true (Note the “or both” condition does not apply).</a:t>
            </a:r>
            <a:endParaRPr b="1" i="0" sz="1400" u="none" cap="none" strike="noStrike">
              <a:solidFill>
                <a:srgbClr val="000000"/>
              </a:solidFill>
              <a:highlight>
                <a:srgbClr val="FF00FF"/>
              </a:highlight>
              <a:latin typeface="Arial"/>
              <a:ea typeface="Arial"/>
              <a:cs typeface="Arial"/>
              <a:sym typeface="Arial"/>
            </a:endParaRPr>
          </a:p>
        </p:txBody>
      </p:sp>
      <p:pic>
        <p:nvPicPr>
          <p:cNvPr id="153" name="Google Shape;153;p26"/>
          <p:cNvPicPr preferRelativeResize="0"/>
          <p:nvPr/>
        </p:nvPicPr>
        <p:blipFill rotWithShape="1">
          <a:blip r:embed="rId4">
            <a:alphaModFix/>
          </a:blip>
          <a:srcRect b="0" l="-4420" r="4420" t="0"/>
          <a:stretch/>
        </p:blipFill>
        <p:spPr>
          <a:xfrm>
            <a:off x="1515050" y="1397563"/>
            <a:ext cx="1724025" cy="819150"/>
          </a:xfrm>
          <a:prstGeom prst="rect">
            <a:avLst/>
          </a:prstGeom>
          <a:noFill/>
          <a:ln>
            <a:noFill/>
          </a:ln>
        </p:spPr>
      </p:pic>
      <p:pic>
        <p:nvPicPr>
          <p:cNvPr id="154" name="Google Shape;154;p26"/>
          <p:cNvPicPr preferRelativeResize="0"/>
          <p:nvPr/>
        </p:nvPicPr>
        <p:blipFill>
          <a:blip r:embed="rId5">
            <a:alphaModFix/>
          </a:blip>
          <a:stretch>
            <a:fillRect/>
          </a:stretch>
        </p:blipFill>
        <p:spPr>
          <a:xfrm>
            <a:off x="3723175" y="1285975"/>
            <a:ext cx="4057650" cy="1114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sz="2400">
                <a:solidFill>
                  <a:srgbClr val="151E24"/>
                </a:solidFill>
                <a:highlight>
                  <a:srgbClr val="FFFFFF"/>
                </a:highlight>
              </a:rPr>
              <a:t>THE </a:t>
            </a:r>
            <a:r>
              <a:rPr b="1" lang="en-GB" sz="2400">
                <a:solidFill>
                  <a:srgbClr val="151E24"/>
                </a:solidFill>
                <a:highlight>
                  <a:srgbClr val="FFFFFF"/>
                </a:highlight>
              </a:rPr>
              <a:t>NOT</a:t>
            </a:r>
            <a:r>
              <a:rPr lang="en-GB" sz="2400">
                <a:solidFill>
                  <a:srgbClr val="151E24"/>
                </a:solidFill>
                <a:highlight>
                  <a:srgbClr val="FFFFFF"/>
                </a:highlight>
              </a:rPr>
              <a:t> GATE</a:t>
            </a:r>
            <a:endParaRPr sz="2400"/>
          </a:p>
        </p:txBody>
      </p:sp>
      <p:sp>
        <p:nvSpPr>
          <p:cNvPr id="160" name="Google Shape;160;p2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sz="1600">
                <a:highlight>
                  <a:srgbClr val="FFFFFF"/>
                </a:highlight>
              </a:rPr>
              <a:t>The </a:t>
            </a:r>
            <a:r>
              <a:rPr b="1" lang="en-GB" sz="1600">
                <a:highlight>
                  <a:srgbClr val="FFFFFF"/>
                </a:highlight>
              </a:rPr>
              <a:t>NOT</a:t>
            </a:r>
            <a:r>
              <a:rPr lang="en-GB" sz="1600">
                <a:highlight>
                  <a:srgbClr val="FFFFFF"/>
                </a:highlight>
              </a:rPr>
              <a:t> gate is the only gate with just one input. The NOT gate simply reverses the input, if the input is ON then the OUTPUT is OFF, if the input is OFF then the output is on.</a:t>
            </a:r>
            <a:endParaRPr sz="1600"/>
          </a:p>
        </p:txBody>
      </p:sp>
      <p:pic>
        <p:nvPicPr>
          <p:cNvPr id="161" name="Google Shape;161;p27"/>
          <p:cNvPicPr preferRelativeResize="0"/>
          <p:nvPr/>
        </p:nvPicPr>
        <p:blipFill rotWithShape="1">
          <a:blip r:embed="rId3">
            <a:alphaModFix/>
          </a:blip>
          <a:srcRect b="0" l="0" r="0" t="0"/>
          <a:stretch/>
        </p:blipFill>
        <p:spPr>
          <a:xfrm>
            <a:off x="1333500" y="2314575"/>
            <a:ext cx="6477000" cy="1885950"/>
          </a:xfrm>
          <a:prstGeom prst="rect">
            <a:avLst/>
          </a:prstGeom>
          <a:noFill/>
          <a:ln>
            <a:noFill/>
          </a:ln>
        </p:spPr>
      </p:pic>
      <p:pic>
        <p:nvPicPr>
          <p:cNvPr id="162" name="Google Shape;162;p27"/>
          <p:cNvPicPr preferRelativeResize="0"/>
          <p:nvPr/>
        </p:nvPicPr>
        <p:blipFill rotWithShape="1">
          <a:blip r:embed="rId4">
            <a:alphaModFix/>
          </a:blip>
          <a:srcRect b="0" l="0" r="0" t="0"/>
          <a:stretch/>
        </p:blipFill>
        <p:spPr>
          <a:xfrm>
            <a:off x="3502275" y="2671750"/>
            <a:ext cx="1592825" cy="94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sz="2400">
                <a:solidFill>
                  <a:srgbClr val="151E24"/>
                </a:solidFill>
                <a:highlight>
                  <a:srgbClr val="FFFFFF"/>
                </a:highlight>
              </a:rPr>
              <a:t>THE </a:t>
            </a:r>
            <a:r>
              <a:rPr b="1" lang="en-GB" sz="2400">
                <a:solidFill>
                  <a:srgbClr val="151E24"/>
                </a:solidFill>
                <a:highlight>
                  <a:srgbClr val="FFFFFF"/>
                </a:highlight>
              </a:rPr>
              <a:t>OR </a:t>
            </a:r>
            <a:r>
              <a:rPr lang="en-GB" sz="2400">
                <a:solidFill>
                  <a:srgbClr val="151E24"/>
                </a:solidFill>
                <a:highlight>
                  <a:srgbClr val="FFFFFF"/>
                </a:highlight>
              </a:rPr>
              <a:t>GATE</a:t>
            </a:r>
            <a:endParaRPr sz="2400"/>
          </a:p>
        </p:txBody>
      </p:sp>
      <p:sp>
        <p:nvSpPr>
          <p:cNvPr id="168" name="Google Shape;168;p28"/>
          <p:cNvSpPr txBox="1"/>
          <p:nvPr>
            <p:ph idx="1" type="body"/>
          </p:nvPr>
        </p:nvSpPr>
        <p:spPr>
          <a:xfrm>
            <a:off x="628650" y="1088676"/>
            <a:ext cx="7886700" cy="35439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1"/>
              </a:buClr>
              <a:buSzPts val="1100"/>
              <a:buFont typeface="Arial"/>
              <a:buNone/>
            </a:pPr>
            <a:r>
              <a:rPr lang="en-GB" sz="1400">
                <a:highlight>
                  <a:srgbClr val="FFFFFF"/>
                </a:highlight>
              </a:rPr>
              <a:t>The OR gate will give an output value of ON if any of the inputs are ON.</a:t>
            </a:r>
            <a:endParaRPr sz="1400">
              <a:highlight>
                <a:srgbClr val="FFFFFF"/>
              </a:highlight>
            </a:endParaRPr>
          </a:p>
          <a:p>
            <a:pPr indent="0" lvl="0" marL="0" rtl="0" algn="l">
              <a:lnSpc>
                <a:spcPct val="150000"/>
              </a:lnSpc>
              <a:spcBef>
                <a:spcPts val="2200"/>
              </a:spcBef>
              <a:spcAft>
                <a:spcPts val="0"/>
              </a:spcAft>
              <a:buClr>
                <a:schemeClr val="dk1"/>
              </a:buClr>
              <a:buSzPts val="1100"/>
              <a:buFont typeface="Arial"/>
              <a:buNone/>
            </a:pPr>
            <a:r>
              <a:rPr lang="en-GB" sz="1400">
                <a:highlight>
                  <a:srgbClr val="FFFFFF"/>
                </a:highlight>
              </a:rPr>
              <a:t>The OR gate can be viewed as the mathematical equivalent of addition. </a:t>
            </a:r>
            <a:endParaRPr sz="1400">
              <a:highlight>
                <a:srgbClr val="FFFFFF"/>
              </a:highlight>
            </a:endParaRPr>
          </a:p>
          <a:p>
            <a:pPr indent="-317500" lvl="0" marL="457200" rtl="0" algn="l">
              <a:lnSpc>
                <a:spcPct val="150000"/>
              </a:lnSpc>
              <a:spcBef>
                <a:spcPts val="0"/>
              </a:spcBef>
              <a:spcAft>
                <a:spcPts val="0"/>
              </a:spcAft>
              <a:buSzPts val="1400"/>
              <a:buChar char="•"/>
            </a:pPr>
            <a:r>
              <a:rPr lang="en-GB" sz="1400">
                <a:highlight>
                  <a:srgbClr val="FFFFFF"/>
                </a:highlight>
              </a:rPr>
              <a:t>A + 0 = A</a:t>
            </a:r>
            <a:endParaRPr sz="1400">
              <a:highlight>
                <a:srgbClr val="FFFFFF"/>
              </a:highlight>
            </a:endParaRPr>
          </a:p>
          <a:p>
            <a:pPr indent="-317500" lvl="0" marL="457200" rtl="0" algn="l">
              <a:lnSpc>
                <a:spcPct val="150000"/>
              </a:lnSpc>
              <a:spcBef>
                <a:spcPts val="0"/>
              </a:spcBef>
              <a:spcAft>
                <a:spcPts val="0"/>
              </a:spcAft>
              <a:buSzPts val="1400"/>
              <a:buChar char="•"/>
            </a:pPr>
            <a:r>
              <a:rPr lang="en-GB" sz="1400">
                <a:highlight>
                  <a:srgbClr val="FFFFFF"/>
                </a:highlight>
              </a:rPr>
              <a:t>A + A = A</a:t>
            </a:r>
            <a:endParaRPr sz="1400">
              <a:highlight>
                <a:srgbClr val="FFFFFF"/>
              </a:highlight>
            </a:endParaRPr>
          </a:p>
          <a:p>
            <a:pPr indent="-317500" lvl="0" marL="457200" rtl="0" algn="l">
              <a:lnSpc>
                <a:spcPct val="150000"/>
              </a:lnSpc>
              <a:spcBef>
                <a:spcPts val="0"/>
              </a:spcBef>
              <a:spcAft>
                <a:spcPts val="0"/>
              </a:spcAft>
              <a:buSzPts val="1400"/>
              <a:buChar char="•"/>
            </a:pPr>
            <a:r>
              <a:rPr lang="en-GB" sz="1400">
                <a:highlight>
                  <a:srgbClr val="FFFFFF"/>
                </a:highlight>
              </a:rPr>
              <a:t>0 + 0 = 0</a:t>
            </a:r>
            <a:endParaRPr sz="1400">
              <a:highlight>
                <a:srgbClr val="FFFFFF"/>
              </a:highlight>
            </a:endParaRPr>
          </a:p>
          <a:p>
            <a:pPr indent="-317500" lvl="0" marL="457200" rtl="0" algn="l">
              <a:lnSpc>
                <a:spcPct val="150000"/>
              </a:lnSpc>
              <a:spcBef>
                <a:spcPts val="0"/>
              </a:spcBef>
              <a:spcAft>
                <a:spcPts val="0"/>
              </a:spcAft>
              <a:buSzPts val="1400"/>
              <a:buChar char="•"/>
            </a:pPr>
            <a:r>
              <a:rPr lang="en-GB" sz="1400">
                <a:highlight>
                  <a:srgbClr val="FFFFFF"/>
                </a:highlight>
              </a:rPr>
              <a:t>A + Ā = 1</a:t>
            </a:r>
            <a:endParaRPr sz="1400"/>
          </a:p>
        </p:txBody>
      </p:sp>
      <p:pic>
        <p:nvPicPr>
          <p:cNvPr id="169" name="Google Shape;169;p28"/>
          <p:cNvPicPr preferRelativeResize="0"/>
          <p:nvPr/>
        </p:nvPicPr>
        <p:blipFill rotWithShape="1">
          <a:blip r:embed="rId3">
            <a:alphaModFix/>
          </a:blip>
          <a:srcRect b="0" l="0" r="0" t="0"/>
          <a:stretch/>
        </p:blipFill>
        <p:spPr>
          <a:xfrm>
            <a:off x="1775171" y="3235996"/>
            <a:ext cx="4722024" cy="1720025"/>
          </a:xfrm>
          <a:prstGeom prst="rect">
            <a:avLst/>
          </a:prstGeom>
          <a:noFill/>
          <a:ln>
            <a:noFill/>
          </a:ln>
        </p:spPr>
      </p:pic>
      <p:pic>
        <p:nvPicPr>
          <p:cNvPr id="170" name="Google Shape;170;p28"/>
          <p:cNvPicPr preferRelativeResize="0"/>
          <p:nvPr/>
        </p:nvPicPr>
        <p:blipFill rotWithShape="1">
          <a:blip r:embed="rId4">
            <a:alphaModFix/>
          </a:blip>
          <a:srcRect b="0" l="0" r="0" t="0"/>
          <a:stretch/>
        </p:blipFill>
        <p:spPr>
          <a:xfrm>
            <a:off x="3464275" y="3662050"/>
            <a:ext cx="1183925" cy="7495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sz="2400">
                <a:solidFill>
                  <a:srgbClr val="151E24"/>
                </a:solidFill>
                <a:highlight>
                  <a:srgbClr val="FFFFFF"/>
                </a:highlight>
              </a:rPr>
              <a:t>THE </a:t>
            </a:r>
            <a:r>
              <a:rPr b="1" lang="en-GB" sz="2400">
                <a:solidFill>
                  <a:srgbClr val="151E24"/>
                </a:solidFill>
                <a:highlight>
                  <a:srgbClr val="FFFFFF"/>
                </a:highlight>
              </a:rPr>
              <a:t>NOR</a:t>
            </a:r>
            <a:r>
              <a:rPr lang="en-GB" sz="2400">
                <a:solidFill>
                  <a:srgbClr val="151E24"/>
                </a:solidFill>
                <a:highlight>
                  <a:srgbClr val="FFFFFF"/>
                </a:highlight>
              </a:rPr>
              <a:t> GATE</a:t>
            </a:r>
            <a:endParaRPr sz="2400"/>
          </a:p>
        </p:txBody>
      </p:sp>
      <p:sp>
        <p:nvSpPr>
          <p:cNvPr id="176" name="Google Shape;176;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sz="1600">
                <a:highlight>
                  <a:srgbClr val="FFFFFF"/>
                </a:highlight>
              </a:rPr>
              <a:t>The NOR Gate or </a:t>
            </a:r>
            <a:r>
              <a:rPr b="1" lang="en-GB" sz="1600">
                <a:highlight>
                  <a:srgbClr val="FFFFFF"/>
                </a:highlight>
              </a:rPr>
              <a:t>N</a:t>
            </a:r>
            <a:r>
              <a:rPr lang="en-GB" sz="1600">
                <a:highlight>
                  <a:srgbClr val="FFFFFF"/>
                </a:highlight>
              </a:rPr>
              <a:t>OT </a:t>
            </a:r>
            <a:r>
              <a:rPr b="1" lang="en-GB" sz="1600">
                <a:highlight>
                  <a:srgbClr val="FFFFFF"/>
                </a:highlight>
              </a:rPr>
              <a:t>OR</a:t>
            </a:r>
            <a:r>
              <a:rPr lang="en-GB" sz="1600">
                <a:highlight>
                  <a:srgbClr val="FFFFFF"/>
                </a:highlight>
              </a:rPr>
              <a:t> Gate will have an output if none of the inputs are 1. The NOR gate has a circle on the output to define the NOT part of the gate. You can see this as the opposite of an OR gate.</a:t>
            </a:r>
            <a:endParaRPr sz="1600"/>
          </a:p>
        </p:txBody>
      </p:sp>
      <p:pic>
        <p:nvPicPr>
          <p:cNvPr id="177" name="Google Shape;177;p29"/>
          <p:cNvPicPr preferRelativeResize="0"/>
          <p:nvPr/>
        </p:nvPicPr>
        <p:blipFill rotWithShape="1">
          <a:blip r:embed="rId3">
            <a:alphaModFix/>
          </a:blip>
          <a:srcRect b="0" l="0" r="0" t="0"/>
          <a:stretch/>
        </p:blipFill>
        <p:spPr>
          <a:xfrm>
            <a:off x="1596723" y="2680173"/>
            <a:ext cx="5692050" cy="2199400"/>
          </a:xfrm>
          <a:prstGeom prst="rect">
            <a:avLst/>
          </a:prstGeom>
          <a:noFill/>
          <a:ln>
            <a:noFill/>
          </a:ln>
        </p:spPr>
      </p:pic>
      <p:pic>
        <p:nvPicPr>
          <p:cNvPr id="178" name="Google Shape;178;p29"/>
          <p:cNvPicPr preferRelativeResize="0"/>
          <p:nvPr/>
        </p:nvPicPr>
        <p:blipFill rotWithShape="1">
          <a:blip r:embed="rId4">
            <a:alphaModFix/>
          </a:blip>
          <a:srcRect b="0" l="0" r="0" t="0"/>
          <a:stretch/>
        </p:blipFill>
        <p:spPr>
          <a:xfrm>
            <a:off x="3550074" y="3282325"/>
            <a:ext cx="1493575" cy="1064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sz="2400">
                <a:solidFill>
                  <a:srgbClr val="151E24"/>
                </a:solidFill>
                <a:highlight>
                  <a:srgbClr val="FFFFFF"/>
                </a:highlight>
              </a:rPr>
              <a:t>THE </a:t>
            </a:r>
            <a:r>
              <a:rPr b="1" lang="en-GB" sz="2400">
                <a:solidFill>
                  <a:srgbClr val="151E24"/>
                </a:solidFill>
                <a:highlight>
                  <a:srgbClr val="FFFFFF"/>
                </a:highlight>
              </a:rPr>
              <a:t>AND</a:t>
            </a:r>
            <a:r>
              <a:rPr lang="en-GB" sz="2400">
                <a:solidFill>
                  <a:srgbClr val="151E24"/>
                </a:solidFill>
                <a:highlight>
                  <a:srgbClr val="FFFFFF"/>
                </a:highlight>
              </a:rPr>
              <a:t> GATE</a:t>
            </a:r>
            <a:endParaRPr sz="2400"/>
          </a:p>
        </p:txBody>
      </p:sp>
      <p:sp>
        <p:nvSpPr>
          <p:cNvPr id="184" name="Google Shape;184;p30"/>
          <p:cNvSpPr txBox="1"/>
          <p:nvPr>
            <p:ph idx="1" type="body"/>
          </p:nvPr>
        </p:nvSpPr>
        <p:spPr>
          <a:xfrm>
            <a:off x="628650" y="1134800"/>
            <a:ext cx="7886700" cy="34977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0"/>
              </a:spcBef>
              <a:spcAft>
                <a:spcPts val="0"/>
              </a:spcAft>
              <a:buClr>
                <a:schemeClr val="dk1"/>
              </a:buClr>
              <a:buSzPts val="1100"/>
              <a:buFont typeface="Arial"/>
              <a:buNone/>
            </a:pPr>
            <a:r>
              <a:rPr lang="en-GB" sz="1500">
                <a:highlight>
                  <a:srgbClr val="FFFFFF"/>
                </a:highlight>
              </a:rPr>
              <a:t>The AND gate will only give an output when both inputs are ON, in other works input one AND input two need to be ON to make the output ON.</a:t>
            </a:r>
            <a:endParaRPr sz="1500">
              <a:highlight>
                <a:srgbClr val="FFFFFF"/>
              </a:highlight>
            </a:endParaRPr>
          </a:p>
          <a:p>
            <a:pPr indent="0" lvl="0" marL="0" rtl="0" algn="l">
              <a:lnSpc>
                <a:spcPct val="150000"/>
              </a:lnSpc>
              <a:spcBef>
                <a:spcPts val="0"/>
              </a:spcBef>
              <a:spcAft>
                <a:spcPts val="0"/>
              </a:spcAft>
              <a:buClr>
                <a:schemeClr val="dk1"/>
              </a:buClr>
              <a:buSzPts val="1100"/>
              <a:buFont typeface="Arial"/>
              <a:buNone/>
            </a:pPr>
            <a:r>
              <a:rPr lang="en-GB" sz="1500">
                <a:highlight>
                  <a:srgbClr val="FFFFFF"/>
                </a:highlight>
              </a:rPr>
              <a:t>The AND gate can be viewed are the mathematical equivalent to multiplication.</a:t>
            </a:r>
            <a:endParaRPr sz="1500">
              <a:highlight>
                <a:srgbClr val="FFFFFF"/>
              </a:highlight>
            </a:endParaRPr>
          </a:p>
          <a:p>
            <a:pPr indent="-323850" lvl="0" marL="457200" rtl="0" algn="l">
              <a:lnSpc>
                <a:spcPct val="150000"/>
              </a:lnSpc>
              <a:spcBef>
                <a:spcPts val="0"/>
              </a:spcBef>
              <a:spcAft>
                <a:spcPts val="0"/>
              </a:spcAft>
              <a:buSzPts val="1500"/>
              <a:buChar char="•"/>
            </a:pPr>
            <a:r>
              <a:rPr lang="en-GB" sz="1500">
                <a:highlight>
                  <a:srgbClr val="FFFFFF"/>
                </a:highlight>
              </a:rPr>
              <a:t>A x 0 =  0</a:t>
            </a:r>
            <a:endParaRPr sz="1500">
              <a:highlight>
                <a:srgbClr val="FFFFFF"/>
              </a:highlight>
            </a:endParaRPr>
          </a:p>
          <a:p>
            <a:pPr indent="-323850" lvl="0" marL="457200" rtl="0" algn="l">
              <a:lnSpc>
                <a:spcPct val="150000"/>
              </a:lnSpc>
              <a:spcBef>
                <a:spcPts val="0"/>
              </a:spcBef>
              <a:spcAft>
                <a:spcPts val="0"/>
              </a:spcAft>
              <a:buSzPts val="1500"/>
              <a:buChar char="•"/>
            </a:pPr>
            <a:r>
              <a:rPr lang="en-GB" sz="1500">
                <a:highlight>
                  <a:srgbClr val="FFFFFF"/>
                </a:highlight>
              </a:rPr>
              <a:t>A x 1 = A</a:t>
            </a:r>
            <a:endParaRPr sz="1500">
              <a:highlight>
                <a:srgbClr val="FFFFFF"/>
              </a:highlight>
            </a:endParaRPr>
          </a:p>
          <a:p>
            <a:pPr indent="-323850" lvl="0" marL="457200" rtl="0" algn="l">
              <a:lnSpc>
                <a:spcPct val="150000"/>
              </a:lnSpc>
              <a:spcBef>
                <a:spcPts val="0"/>
              </a:spcBef>
              <a:spcAft>
                <a:spcPts val="0"/>
              </a:spcAft>
              <a:buSzPts val="1500"/>
              <a:buChar char="•"/>
            </a:pPr>
            <a:r>
              <a:rPr lang="en-GB" sz="1500">
                <a:highlight>
                  <a:srgbClr val="FFFFFF"/>
                </a:highlight>
              </a:rPr>
              <a:t>​A x A = A</a:t>
            </a:r>
            <a:endParaRPr sz="1500">
              <a:highlight>
                <a:srgbClr val="FFFFFF"/>
              </a:highlight>
            </a:endParaRPr>
          </a:p>
          <a:p>
            <a:pPr indent="-323850" lvl="0" marL="457200" rtl="0" algn="l">
              <a:lnSpc>
                <a:spcPct val="150000"/>
              </a:lnSpc>
              <a:spcBef>
                <a:spcPts val="0"/>
              </a:spcBef>
              <a:spcAft>
                <a:spcPts val="0"/>
              </a:spcAft>
              <a:buSzPts val="1500"/>
              <a:buChar char="•"/>
            </a:pPr>
            <a:r>
              <a:rPr lang="en-GB" sz="1500">
                <a:highlight>
                  <a:srgbClr val="FFFFFF"/>
                </a:highlight>
              </a:rPr>
              <a:t>A x Ā = 0</a:t>
            </a:r>
            <a:endParaRPr sz="2500"/>
          </a:p>
        </p:txBody>
      </p:sp>
      <p:pic>
        <p:nvPicPr>
          <p:cNvPr id="185" name="Google Shape;185;p30"/>
          <p:cNvPicPr preferRelativeResize="0"/>
          <p:nvPr/>
        </p:nvPicPr>
        <p:blipFill rotWithShape="1">
          <a:blip r:embed="rId3">
            <a:alphaModFix/>
          </a:blip>
          <a:srcRect b="0" l="0" r="0" t="0"/>
          <a:stretch/>
        </p:blipFill>
        <p:spPr>
          <a:xfrm>
            <a:off x="1960350" y="3071525"/>
            <a:ext cx="5223301" cy="1966250"/>
          </a:xfrm>
          <a:prstGeom prst="rect">
            <a:avLst/>
          </a:prstGeom>
          <a:noFill/>
          <a:ln>
            <a:noFill/>
          </a:ln>
        </p:spPr>
      </p:pic>
      <p:pic>
        <p:nvPicPr>
          <p:cNvPr id="186" name="Google Shape;186;p30"/>
          <p:cNvPicPr preferRelativeResize="0"/>
          <p:nvPr/>
        </p:nvPicPr>
        <p:blipFill rotWithShape="1">
          <a:blip r:embed="rId4">
            <a:alphaModFix/>
          </a:blip>
          <a:srcRect b="0" l="0" r="0" t="0"/>
          <a:stretch/>
        </p:blipFill>
        <p:spPr>
          <a:xfrm>
            <a:off x="3857988" y="3540300"/>
            <a:ext cx="1228725" cy="102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sz="2400">
                <a:solidFill>
                  <a:srgbClr val="151E24"/>
                </a:solidFill>
                <a:highlight>
                  <a:srgbClr val="FFFFFF"/>
                </a:highlight>
              </a:rPr>
              <a:t>THE </a:t>
            </a:r>
            <a:r>
              <a:rPr b="1" lang="en-GB" sz="2400">
                <a:solidFill>
                  <a:srgbClr val="151E24"/>
                </a:solidFill>
                <a:highlight>
                  <a:srgbClr val="FFFFFF"/>
                </a:highlight>
              </a:rPr>
              <a:t>NAND</a:t>
            </a:r>
            <a:r>
              <a:rPr lang="en-GB" sz="2400">
                <a:solidFill>
                  <a:srgbClr val="151E24"/>
                </a:solidFill>
                <a:highlight>
                  <a:srgbClr val="FFFFFF"/>
                </a:highlight>
              </a:rPr>
              <a:t> GATE</a:t>
            </a:r>
            <a:endParaRPr sz="2400"/>
          </a:p>
        </p:txBody>
      </p:sp>
      <p:sp>
        <p:nvSpPr>
          <p:cNvPr id="192" name="Google Shape;192;p3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sz="1600">
                <a:highlight>
                  <a:srgbClr val="FFFFFF"/>
                </a:highlight>
              </a:rPr>
              <a:t>The NAND Gate or </a:t>
            </a:r>
            <a:r>
              <a:rPr b="1" lang="en-GB" sz="1600">
                <a:highlight>
                  <a:srgbClr val="FFFFFF"/>
                </a:highlight>
              </a:rPr>
              <a:t>NOT</a:t>
            </a:r>
            <a:r>
              <a:rPr lang="en-GB" sz="1600">
                <a:highlight>
                  <a:srgbClr val="FFFFFF"/>
                </a:highlight>
              </a:rPr>
              <a:t> </a:t>
            </a:r>
            <a:r>
              <a:rPr b="1" lang="en-GB" sz="1600">
                <a:highlight>
                  <a:srgbClr val="FFFFFF"/>
                </a:highlight>
              </a:rPr>
              <a:t>AND </a:t>
            </a:r>
            <a:r>
              <a:rPr lang="en-GB" sz="1600">
                <a:highlight>
                  <a:srgbClr val="FFFFFF"/>
                </a:highlight>
              </a:rPr>
              <a:t>Gate will have an output when the two inputs are </a:t>
            </a:r>
            <a:r>
              <a:rPr b="1" lang="en-GB" sz="1600">
                <a:highlight>
                  <a:srgbClr val="FFFFFF"/>
                </a:highlight>
              </a:rPr>
              <a:t>not</a:t>
            </a:r>
            <a:r>
              <a:rPr lang="en-GB" sz="1600">
                <a:highlight>
                  <a:srgbClr val="FFFFFF"/>
                </a:highlight>
              </a:rPr>
              <a:t> ON. Or with a three input NAND gate when all 3 inputs are not ON.</a:t>
            </a:r>
            <a:endParaRPr sz="1600"/>
          </a:p>
        </p:txBody>
      </p:sp>
      <p:pic>
        <p:nvPicPr>
          <p:cNvPr id="193" name="Google Shape;193;p31"/>
          <p:cNvPicPr preferRelativeResize="0"/>
          <p:nvPr/>
        </p:nvPicPr>
        <p:blipFill rotWithShape="1">
          <a:blip r:embed="rId3">
            <a:alphaModFix/>
          </a:blip>
          <a:srcRect b="0" l="0" r="0" t="0"/>
          <a:stretch/>
        </p:blipFill>
        <p:spPr>
          <a:xfrm>
            <a:off x="1683173" y="2767048"/>
            <a:ext cx="5532250" cy="2032425"/>
          </a:xfrm>
          <a:prstGeom prst="rect">
            <a:avLst/>
          </a:prstGeom>
          <a:noFill/>
          <a:ln>
            <a:noFill/>
          </a:ln>
        </p:spPr>
      </p:pic>
      <p:pic>
        <p:nvPicPr>
          <p:cNvPr id="194" name="Google Shape;194;p31"/>
          <p:cNvPicPr preferRelativeResize="0"/>
          <p:nvPr/>
        </p:nvPicPr>
        <p:blipFill rotWithShape="1">
          <a:blip r:embed="rId4">
            <a:alphaModFix/>
          </a:blip>
          <a:srcRect b="0" l="0" r="0" t="0"/>
          <a:stretch/>
        </p:blipFill>
        <p:spPr>
          <a:xfrm>
            <a:off x="3537275" y="3230813"/>
            <a:ext cx="1562100" cy="1104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sz="2400">
                <a:solidFill>
                  <a:srgbClr val="151E24"/>
                </a:solidFill>
                <a:highlight>
                  <a:srgbClr val="FFFFFF"/>
                </a:highlight>
              </a:rPr>
              <a:t>THE </a:t>
            </a:r>
            <a:r>
              <a:rPr b="1" lang="en-GB" sz="2400">
                <a:solidFill>
                  <a:srgbClr val="151E24"/>
                </a:solidFill>
                <a:highlight>
                  <a:srgbClr val="FFFFFF"/>
                </a:highlight>
              </a:rPr>
              <a:t>XOR </a:t>
            </a:r>
            <a:r>
              <a:rPr lang="en-GB" sz="2400">
                <a:solidFill>
                  <a:srgbClr val="151E24"/>
                </a:solidFill>
                <a:highlight>
                  <a:srgbClr val="FFFFFF"/>
                </a:highlight>
              </a:rPr>
              <a:t>GATE</a:t>
            </a:r>
            <a:endParaRPr sz="2400"/>
          </a:p>
        </p:txBody>
      </p:sp>
      <p:sp>
        <p:nvSpPr>
          <p:cNvPr id="200" name="Google Shape;200;p3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sz="1600">
                <a:highlight>
                  <a:srgbClr val="FFFFFF"/>
                </a:highlight>
              </a:rPr>
              <a:t>The XOR gate or e</a:t>
            </a:r>
            <a:r>
              <a:rPr b="1" lang="en-GB" sz="1600">
                <a:highlight>
                  <a:srgbClr val="FFFFFF"/>
                </a:highlight>
              </a:rPr>
              <a:t>X</a:t>
            </a:r>
            <a:r>
              <a:rPr lang="en-GB" sz="1600">
                <a:highlight>
                  <a:srgbClr val="FFFFFF"/>
                </a:highlight>
              </a:rPr>
              <a:t>clusive </a:t>
            </a:r>
            <a:r>
              <a:rPr b="1" lang="en-GB" sz="1600">
                <a:highlight>
                  <a:srgbClr val="FFFFFF"/>
                </a:highlight>
              </a:rPr>
              <a:t>OR </a:t>
            </a:r>
            <a:r>
              <a:rPr lang="en-GB" sz="1600">
                <a:highlight>
                  <a:srgbClr val="FFFFFF"/>
                </a:highlight>
              </a:rPr>
              <a:t>will only produce an output it the two inputs are different values.</a:t>
            </a:r>
            <a:endParaRPr sz="1600"/>
          </a:p>
        </p:txBody>
      </p:sp>
      <p:pic>
        <p:nvPicPr>
          <p:cNvPr id="201" name="Google Shape;201;p32"/>
          <p:cNvPicPr preferRelativeResize="0"/>
          <p:nvPr/>
        </p:nvPicPr>
        <p:blipFill rotWithShape="1">
          <a:blip r:embed="rId3">
            <a:alphaModFix/>
          </a:blip>
          <a:srcRect b="0" l="0" r="0" t="0"/>
          <a:stretch/>
        </p:blipFill>
        <p:spPr>
          <a:xfrm>
            <a:off x="1095049" y="2494000"/>
            <a:ext cx="6341649" cy="2291725"/>
          </a:xfrm>
          <a:prstGeom prst="rect">
            <a:avLst/>
          </a:prstGeom>
          <a:noFill/>
          <a:ln>
            <a:noFill/>
          </a:ln>
        </p:spPr>
      </p:pic>
      <p:pic>
        <p:nvPicPr>
          <p:cNvPr id="202" name="Google Shape;202;p32"/>
          <p:cNvPicPr preferRelativeResize="0"/>
          <p:nvPr/>
        </p:nvPicPr>
        <p:blipFill rotWithShape="1">
          <a:blip r:embed="rId4">
            <a:alphaModFix/>
          </a:blip>
          <a:srcRect b="0" l="0" r="0" t="0"/>
          <a:stretch/>
        </p:blipFill>
        <p:spPr>
          <a:xfrm>
            <a:off x="3647863" y="2871850"/>
            <a:ext cx="1704975" cy="110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GB"/>
              <a:t>Combining gates (example 1)</a:t>
            </a:r>
            <a:endParaRPr b="1"/>
          </a:p>
        </p:txBody>
      </p:sp>
      <p:sp>
        <p:nvSpPr>
          <p:cNvPr id="208" name="Google Shape;208;p3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id="209" name="Google Shape;209;p33"/>
          <p:cNvPicPr preferRelativeResize="0"/>
          <p:nvPr/>
        </p:nvPicPr>
        <p:blipFill rotWithShape="1">
          <a:blip r:embed="rId3">
            <a:alphaModFix/>
          </a:blip>
          <a:srcRect b="0" l="0" r="0" t="0"/>
          <a:stretch/>
        </p:blipFill>
        <p:spPr>
          <a:xfrm>
            <a:off x="1771650" y="1268038"/>
            <a:ext cx="5600700" cy="3419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GB"/>
              <a:t>Combining gates (example 2)</a:t>
            </a:r>
            <a:endParaRPr b="1"/>
          </a:p>
        </p:txBody>
      </p:sp>
      <p:sp>
        <p:nvSpPr>
          <p:cNvPr id="215" name="Google Shape;215;p3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id="216" name="Google Shape;216;p34"/>
          <p:cNvPicPr preferRelativeResize="0"/>
          <p:nvPr/>
        </p:nvPicPr>
        <p:blipFill rotWithShape="1">
          <a:blip r:embed="rId3">
            <a:alphaModFix/>
          </a:blip>
          <a:srcRect b="0" l="0" r="0" t="0"/>
          <a:stretch/>
        </p:blipFill>
        <p:spPr>
          <a:xfrm>
            <a:off x="1661101" y="1268051"/>
            <a:ext cx="5859875" cy="3499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GB"/>
              <a:t>Combining gates (example 3)</a:t>
            </a:r>
            <a:endParaRPr b="1"/>
          </a:p>
        </p:txBody>
      </p:sp>
      <p:pic>
        <p:nvPicPr>
          <p:cNvPr id="222" name="Google Shape;222;p35"/>
          <p:cNvPicPr preferRelativeResize="0"/>
          <p:nvPr/>
        </p:nvPicPr>
        <p:blipFill rotWithShape="1">
          <a:blip r:embed="rId3">
            <a:alphaModFix/>
          </a:blip>
          <a:srcRect b="0" l="0" r="0" t="0"/>
          <a:stretch/>
        </p:blipFill>
        <p:spPr>
          <a:xfrm>
            <a:off x="1331188" y="1268051"/>
            <a:ext cx="6481633" cy="3723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628650" y="50751"/>
            <a:ext cx="7886700" cy="12174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400"/>
              <a:buNone/>
            </a:pPr>
            <a:r>
              <a:rPr lang="en-GB"/>
              <a:t>Possible real-world applications</a:t>
            </a:r>
            <a:endParaRPr/>
          </a:p>
        </p:txBody>
      </p:sp>
      <p:pic>
        <p:nvPicPr>
          <p:cNvPr id="228" name="Google Shape;228;p36"/>
          <p:cNvPicPr preferRelativeResize="0"/>
          <p:nvPr/>
        </p:nvPicPr>
        <p:blipFill rotWithShape="1">
          <a:blip r:embed="rId3">
            <a:alphaModFix/>
          </a:blip>
          <a:srcRect b="0" l="0" r="0" t="0"/>
          <a:stretch/>
        </p:blipFill>
        <p:spPr>
          <a:xfrm>
            <a:off x="908138" y="943937"/>
            <a:ext cx="7327726" cy="4113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idx="1" type="body"/>
          </p:nvPr>
        </p:nvSpPr>
        <p:spPr>
          <a:xfrm>
            <a:off x="650516" y="1232750"/>
            <a:ext cx="2949300" cy="28587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200"/>
              <a:buNone/>
            </a:pPr>
            <a:r>
              <a:rPr lang="en-GB" sz="2000"/>
              <a:t>Like </a:t>
            </a:r>
            <a:r>
              <a:rPr b="1" lang="en-GB" sz="2000"/>
              <a:t>PEMDAS </a:t>
            </a:r>
            <a:r>
              <a:rPr lang="en-GB" sz="2000"/>
              <a:t>in mathematics, an order of precedence exists for equations involving gates. The order of precedence is: </a:t>
            </a:r>
            <a:endParaRPr sz="2000"/>
          </a:p>
          <a:p>
            <a:pPr indent="0" lvl="0" marL="0" rtl="0" algn="l">
              <a:lnSpc>
                <a:spcPct val="90000"/>
              </a:lnSpc>
              <a:spcBef>
                <a:spcPts val="800"/>
              </a:spcBef>
              <a:spcAft>
                <a:spcPts val="0"/>
              </a:spcAft>
              <a:buSzPts val="1200"/>
              <a:buNone/>
            </a:pPr>
            <a:r>
              <a:rPr lang="en-GB" sz="2000"/>
              <a:t>1. NOT </a:t>
            </a:r>
            <a:endParaRPr sz="2000"/>
          </a:p>
          <a:p>
            <a:pPr indent="0" lvl="0" marL="0" rtl="0" algn="l">
              <a:lnSpc>
                <a:spcPct val="90000"/>
              </a:lnSpc>
              <a:spcBef>
                <a:spcPts val="800"/>
              </a:spcBef>
              <a:spcAft>
                <a:spcPts val="0"/>
              </a:spcAft>
              <a:buSzPts val="1200"/>
              <a:buNone/>
            </a:pPr>
            <a:r>
              <a:rPr lang="en-GB" sz="2000"/>
              <a:t>2. AND (NAND) </a:t>
            </a:r>
            <a:endParaRPr sz="2000"/>
          </a:p>
          <a:p>
            <a:pPr indent="0" lvl="0" marL="0" rtl="0" algn="l">
              <a:lnSpc>
                <a:spcPct val="90000"/>
              </a:lnSpc>
              <a:spcBef>
                <a:spcPts val="800"/>
              </a:spcBef>
              <a:spcAft>
                <a:spcPts val="0"/>
              </a:spcAft>
              <a:buSzPts val="1200"/>
              <a:buNone/>
            </a:pPr>
            <a:r>
              <a:rPr lang="en-GB" sz="2000"/>
              <a:t>3. OR (NOR, XOR)</a:t>
            </a:r>
            <a:endParaRPr sz="2000"/>
          </a:p>
        </p:txBody>
      </p:sp>
      <p:pic>
        <p:nvPicPr>
          <p:cNvPr id="234" name="Google Shape;234;p37"/>
          <p:cNvPicPr preferRelativeResize="0"/>
          <p:nvPr/>
        </p:nvPicPr>
        <p:blipFill rotWithShape="1">
          <a:blip r:embed="rId3">
            <a:alphaModFix/>
          </a:blip>
          <a:srcRect b="0" l="0" r="0" t="0"/>
          <a:stretch/>
        </p:blipFill>
        <p:spPr>
          <a:xfrm>
            <a:off x="3959116" y="586850"/>
            <a:ext cx="4867275" cy="2124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GB"/>
              <a:t>C</a:t>
            </a:r>
            <a:r>
              <a:rPr b="1" lang="en-GB"/>
              <a:t>onstruct </a:t>
            </a:r>
            <a:r>
              <a:rPr lang="en-GB"/>
              <a:t>truth tables</a:t>
            </a:r>
            <a:endParaRPr/>
          </a:p>
          <a:p>
            <a:pPr indent="0" lvl="0" marL="0" rtl="0" algn="l">
              <a:lnSpc>
                <a:spcPct val="90000"/>
              </a:lnSpc>
              <a:spcBef>
                <a:spcPts val="0"/>
              </a:spcBef>
              <a:spcAft>
                <a:spcPts val="0"/>
              </a:spcAft>
              <a:buSzPts val="1400"/>
              <a:buNone/>
            </a:pPr>
            <a:r>
              <a:rPr lang="en-GB">
                <a:solidFill>
                  <a:srgbClr val="FF0000"/>
                </a:solidFill>
              </a:rPr>
              <a:t>Truth table = All possible combinations</a:t>
            </a:r>
            <a:endParaRPr>
              <a:solidFill>
                <a:srgbClr val="FF0000"/>
              </a:solidFill>
            </a:endParaRPr>
          </a:p>
        </p:txBody>
      </p:sp>
      <p:sp>
        <p:nvSpPr>
          <p:cNvPr id="240" name="Google Shape;240;p3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a:t>It is a mathematical table that shows </a:t>
            </a:r>
            <a:r>
              <a:rPr lang="en-GB" u="sng"/>
              <a:t>all possible outcomes</a:t>
            </a:r>
            <a:r>
              <a:rPr lang="en-GB"/>
              <a:t> that would occur from all possible scenarios that are considered factual (i.e. is </a:t>
            </a:r>
            <a:r>
              <a:rPr b="1" lang="en-GB" u="sng"/>
              <a:t>true</a:t>
            </a:r>
            <a:r>
              <a:rPr lang="en-GB"/>
              <a:t>), hence the name. </a:t>
            </a:r>
            <a:endParaRPr/>
          </a:p>
          <a:p>
            <a:pPr indent="0" lvl="0" marL="0" rtl="0" algn="l">
              <a:lnSpc>
                <a:spcPct val="90000"/>
              </a:lnSpc>
              <a:spcBef>
                <a:spcPts val="800"/>
              </a:spcBef>
              <a:spcAft>
                <a:spcPts val="0"/>
              </a:spcAft>
              <a:buSzPts val="1400"/>
              <a:buNone/>
            </a:pPr>
            <a:r>
              <a:rPr lang="en-GB"/>
              <a:t>It contains values like </a:t>
            </a:r>
            <a:r>
              <a:rPr b="1" lang="en-GB">
                <a:solidFill>
                  <a:srgbClr val="38761D"/>
                </a:solidFill>
              </a:rPr>
              <a:t>T/F</a:t>
            </a:r>
            <a:r>
              <a:rPr lang="en-GB"/>
              <a:t> or </a:t>
            </a:r>
            <a:r>
              <a:rPr b="1" lang="en-GB">
                <a:solidFill>
                  <a:srgbClr val="38761D"/>
                </a:solidFill>
              </a:rPr>
              <a:t>TRUE/FALSE</a:t>
            </a:r>
            <a:r>
              <a:rPr lang="en-GB"/>
              <a:t> or </a:t>
            </a:r>
            <a:r>
              <a:rPr b="1" lang="en-GB">
                <a:solidFill>
                  <a:srgbClr val="38761D"/>
                </a:solidFill>
              </a:rPr>
              <a:t>1/0</a:t>
            </a:r>
            <a:r>
              <a:rPr lang="en-GB"/>
              <a:t>…</a:t>
            </a:r>
            <a:endParaRPr/>
          </a:p>
        </p:txBody>
      </p:sp>
      <p:pic>
        <p:nvPicPr>
          <p:cNvPr id="241" name="Google Shape;241;p38"/>
          <p:cNvPicPr preferRelativeResize="0"/>
          <p:nvPr/>
        </p:nvPicPr>
        <p:blipFill rotWithShape="1">
          <a:blip r:embed="rId3">
            <a:alphaModFix/>
          </a:blip>
          <a:srcRect b="0" l="0" r="0" t="0"/>
          <a:stretch/>
        </p:blipFill>
        <p:spPr>
          <a:xfrm>
            <a:off x="1019175" y="2852988"/>
            <a:ext cx="7105650" cy="2066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628650" y="2"/>
            <a:ext cx="7886700" cy="12681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400"/>
              <a:buNone/>
            </a:pPr>
            <a:r>
              <a:rPr lang="en-GB"/>
              <a:t>Know the 6 basic tables</a:t>
            </a:r>
            <a:endParaRPr/>
          </a:p>
        </p:txBody>
      </p:sp>
      <p:pic>
        <p:nvPicPr>
          <p:cNvPr id="247" name="Google Shape;247;p39"/>
          <p:cNvPicPr preferRelativeResize="0"/>
          <p:nvPr/>
        </p:nvPicPr>
        <p:blipFill rotWithShape="1">
          <a:blip r:embed="rId3">
            <a:alphaModFix/>
          </a:blip>
          <a:srcRect b="0" l="0" r="0" t="0"/>
          <a:stretch/>
        </p:blipFill>
        <p:spPr>
          <a:xfrm>
            <a:off x="1563618" y="1039500"/>
            <a:ext cx="6016758" cy="3899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40"/>
          <p:cNvPicPr preferRelativeResize="0"/>
          <p:nvPr/>
        </p:nvPicPr>
        <p:blipFill rotWithShape="1">
          <a:blip r:embed="rId3">
            <a:alphaModFix/>
          </a:blip>
          <a:srcRect b="0" l="0" r="0" t="0"/>
          <a:stretch/>
        </p:blipFill>
        <p:spPr>
          <a:xfrm>
            <a:off x="747700" y="413213"/>
            <a:ext cx="7648575" cy="3971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Practice on these* </a:t>
            </a:r>
            <a:endParaRPr/>
          </a:p>
        </p:txBody>
      </p:sp>
      <p:sp>
        <p:nvSpPr>
          <p:cNvPr id="258" name="Google Shape;258;p4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Clr>
                <a:schemeClr val="dk1"/>
              </a:buClr>
              <a:buSzPts val="1100"/>
              <a:buFont typeface="Arial"/>
              <a:buNone/>
            </a:pPr>
            <a:r>
              <a:rPr lang="en-GB"/>
              <a:t>*Look up the symbols if you need to</a:t>
            </a:r>
            <a:endParaRPr/>
          </a:p>
          <a:p>
            <a:pPr indent="0" lvl="0" marL="0" rtl="0" algn="l">
              <a:lnSpc>
                <a:spcPct val="90000"/>
              </a:lnSpc>
              <a:spcBef>
                <a:spcPts val="800"/>
              </a:spcBef>
              <a:spcAft>
                <a:spcPts val="0"/>
              </a:spcAft>
              <a:buClr>
                <a:schemeClr val="dk1"/>
              </a:buClr>
              <a:buSzPts val="1100"/>
              <a:buFont typeface="Arial"/>
              <a:buNone/>
            </a:pPr>
            <a:r>
              <a:t/>
            </a:r>
            <a:endParaRPr/>
          </a:p>
          <a:p>
            <a:pPr indent="0" lvl="0" marL="0" rtl="0" algn="l">
              <a:lnSpc>
                <a:spcPct val="90000"/>
              </a:lnSpc>
              <a:spcBef>
                <a:spcPts val="800"/>
              </a:spcBef>
              <a:spcAft>
                <a:spcPts val="0"/>
              </a:spcAft>
              <a:buSzPts val="1400"/>
              <a:buNone/>
            </a:pPr>
            <a:r>
              <a:t/>
            </a:r>
            <a:endParaRPr/>
          </a:p>
        </p:txBody>
      </p:sp>
      <p:pic>
        <p:nvPicPr>
          <p:cNvPr id="259" name="Google Shape;259;p41"/>
          <p:cNvPicPr preferRelativeResize="0"/>
          <p:nvPr/>
        </p:nvPicPr>
        <p:blipFill rotWithShape="1">
          <a:blip r:embed="rId3">
            <a:alphaModFix/>
          </a:blip>
          <a:srcRect b="0" l="0" r="0" t="0"/>
          <a:stretch/>
        </p:blipFill>
        <p:spPr>
          <a:xfrm>
            <a:off x="737600" y="1851450"/>
            <a:ext cx="5876125" cy="2995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GB"/>
              <a:t>Very basic exam type question</a:t>
            </a:r>
            <a:endParaRPr b="1"/>
          </a:p>
        </p:txBody>
      </p:sp>
      <p:pic>
        <p:nvPicPr>
          <p:cNvPr id="265" name="Google Shape;265;p42"/>
          <p:cNvPicPr preferRelativeResize="0"/>
          <p:nvPr/>
        </p:nvPicPr>
        <p:blipFill rotWithShape="1">
          <a:blip r:embed="rId3">
            <a:alphaModFix/>
          </a:blip>
          <a:srcRect b="0" l="0" r="0" t="0"/>
          <a:stretch/>
        </p:blipFill>
        <p:spPr>
          <a:xfrm>
            <a:off x="1390625" y="1268044"/>
            <a:ext cx="6362748" cy="357065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GB"/>
              <a:t>Video link: Truth Tables</a:t>
            </a:r>
            <a:endParaRPr b="1"/>
          </a:p>
        </p:txBody>
      </p:sp>
      <p:sp>
        <p:nvSpPr>
          <p:cNvPr id="271" name="Google Shape;271;p4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150000"/>
              </a:lnSpc>
              <a:spcBef>
                <a:spcPts val="800"/>
              </a:spcBef>
              <a:spcAft>
                <a:spcPts val="0"/>
              </a:spcAft>
              <a:buSzPts val="1400"/>
              <a:buNone/>
            </a:pPr>
            <a:r>
              <a:rPr lang="en-GB" u="sng">
                <a:solidFill>
                  <a:schemeClr val="hlink"/>
                </a:solidFill>
                <a:hlinkClick r:id="rId3"/>
              </a:rPr>
              <a:t>https://youtu.be/N5V</a:t>
            </a:r>
            <a:r>
              <a:rPr lang="en-GB" u="sng">
                <a:solidFill>
                  <a:schemeClr val="hlink"/>
                </a:solidFill>
                <a:hlinkClick r:id="rId4"/>
              </a:rPr>
              <a:t>BSWRRdUw</a:t>
            </a:r>
            <a:r>
              <a:rPr lang="en-GB"/>
              <a:t> </a:t>
            </a:r>
            <a:endParaRPr/>
          </a:p>
          <a:p>
            <a:pPr indent="0" lvl="0" marL="0" rtl="0" algn="l">
              <a:lnSpc>
                <a:spcPct val="150000"/>
              </a:lnSpc>
              <a:spcBef>
                <a:spcPts val="800"/>
              </a:spcBef>
              <a:spcAft>
                <a:spcPts val="0"/>
              </a:spcAft>
              <a:buSzPts val="1400"/>
              <a:buNone/>
            </a:pPr>
            <a:r>
              <a:t/>
            </a:r>
            <a:endParaRPr/>
          </a:p>
          <a:p>
            <a:pPr indent="0" lvl="0" marL="0" rtl="0" algn="l">
              <a:lnSpc>
                <a:spcPct val="150000"/>
              </a:lnSpc>
              <a:spcBef>
                <a:spcPts val="800"/>
              </a:spcBef>
              <a:spcAft>
                <a:spcPts val="0"/>
              </a:spcAft>
              <a:buSzPts val="1400"/>
              <a:buNone/>
            </a:pPr>
            <a:r>
              <a:t/>
            </a:r>
            <a:endParaRPr b="1">
              <a:solidFill>
                <a:srgbClr val="FF0000"/>
              </a:solidFill>
            </a:endParaRPr>
          </a:p>
        </p:txBody>
      </p:sp>
      <p:sp>
        <p:nvSpPr>
          <p:cNvPr id="272" name="Google Shape;272;p43"/>
          <p:cNvSpPr txBox="1"/>
          <p:nvPr>
            <p:ph idx="1" type="body"/>
          </p:nvPr>
        </p:nvSpPr>
        <p:spPr>
          <a:xfrm>
            <a:off x="628650" y="2182449"/>
            <a:ext cx="7886700" cy="24501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Clr>
                <a:schemeClr val="dk1"/>
              </a:buClr>
              <a:buSzPts val="1100"/>
              <a:buFont typeface="Arial"/>
              <a:buNone/>
            </a:pPr>
            <a:r>
              <a:rPr lang="en-GB" u="sng">
                <a:solidFill>
                  <a:schemeClr val="hlink"/>
                </a:solidFill>
                <a:hlinkClick r:id="rId5"/>
              </a:rPr>
              <a:t> Wolfram Alpha Boolean Algebra Calculator</a:t>
            </a:r>
            <a:endParaRPr/>
          </a:p>
          <a:p>
            <a:pPr indent="0" lvl="0" marL="0" rtl="0" algn="l">
              <a:lnSpc>
                <a:spcPct val="90000"/>
              </a:lnSpc>
              <a:spcBef>
                <a:spcPts val="800"/>
              </a:spcBef>
              <a:spcAft>
                <a:spcPts val="0"/>
              </a:spcAft>
              <a:buClr>
                <a:schemeClr val="dk1"/>
              </a:buClr>
              <a:buSzPts val="1100"/>
              <a:buFont typeface="Arial"/>
              <a:buNone/>
            </a:pPr>
            <a:r>
              <a:t/>
            </a:r>
            <a:endParaRPr/>
          </a:p>
          <a:p>
            <a:pPr indent="0" lvl="0" marL="0" rtl="0" algn="l">
              <a:lnSpc>
                <a:spcPct val="90000"/>
              </a:lnSpc>
              <a:spcBef>
                <a:spcPts val="800"/>
              </a:spcBef>
              <a:spcAft>
                <a:spcPts val="0"/>
              </a:spcAft>
              <a:buSzPts val="14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Past exam question</a:t>
            </a:r>
            <a:endParaRPr/>
          </a:p>
        </p:txBody>
      </p:sp>
      <p:sp>
        <p:nvSpPr>
          <p:cNvPr id="278" name="Google Shape;278;p4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a:t>Turn the following logic statement into a logic diagram:</a:t>
            </a:r>
            <a:endParaRPr/>
          </a:p>
          <a:p>
            <a:pPr indent="0" lvl="0" marL="0" rtl="0" algn="l">
              <a:lnSpc>
                <a:spcPct val="90000"/>
              </a:lnSpc>
              <a:spcBef>
                <a:spcPts val="800"/>
              </a:spcBef>
              <a:spcAft>
                <a:spcPts val="0"/>
              </a:spcAft>
              <a:buSzPts val="1400"/>
              <a:buNone/>
            </a:pPr>
            <a:r>
              <a:rPr b="1" lang="en-GB"/>
              <a:t>Y = NOT (A AND B) OR C </a:t>
            </a:r>
            <a:endParaRPr b="1"/>
          </a:p>
          <a:p>
            <a:pPr indent="0" lvl="0" marL="0" rtl="0" algn="l">
              <a:lnSpc>
                <a:spcPct val="90000"/>
              </a:lnSpc>
              <a:spcBef>
                <a:spcPts val="800"/>
              </a:spcBef>
              <a:spcAft>
                <a:spcPts val="0"/>
              </a:spcAft>
              <a:buSzPts val="1400"/>
              <a:buNone/>
            </a:pPr>
            <a:r>
              <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45"/>
          <p:cNvPicPr preferRelativeResize="0"/>
          <p:nvPr/>
        </p:nvPicPr>
        <p:blipFill rotWithShape="1">
          <a:blip r:embed="rId3">
            <a:alphaModFix/>
          </a:blip>
          <a:srcRect b="0" l="0" r="0" t="0"/>
          <a:stretch/>
        </p:blipFill>
        <p:spPr>
          <a:xfrm>
            <a:off x="669875" y="273850"/>
            <a:ext cx="7372350" cy="1485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46"/>
          <p:cNvPicPr preferRelativeResize="0"/>
          <p:nvPr/>
        </p:nvPicPr>
        <p:blipFill rotWithShape="1">
          <a:blip r:embed="rId3">
            <a:alphaModFix/>
          </a:blip>
          <a:srcRect b="0" l="0" r="0" t="0"/>
          <a:stretch/>
        </p:blipFill>
        <p:spPr>
          <a:xfrm>
            <a:off x="1075875" y="1450925"/>
            <a:ext cx="6943725" cy="1604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294" name="Google Shape;294;p4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id="295" name="Google Shape;295;p47"/>
          <p:cNvPicPr preferRelativeResize="0"/>
          <p:nvPr/>
        </p:nvPicPr>
        <p:blipFill rotWithShape="1">
          <a:blip r:embed="rId3">
            <a:alphaModFix/>
          </a:blip>
          <a:srcRect b="0" l="0" r="0" t="0"/>
          <a:stretch/>
        </p:blipFill>
        <p:spPr>
          <a:xfrm>
            <a:off x="2100263" y="2243138"/>
            <a:ext cx="4943475" cy="657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48"/>
          <p:cNvPicPr preferRelativeResize="0"/>
          <p:nvPr/>
        </p:nvPicPr>
        <p:blipFill rotWithShape="1">
          <a:blip r:embed="rId3">
            <a:alphaModFix/>
          </a:blip>
          <a:srcRect b="0" l="0" r="0" t="0"/>
          <a:stretch/>
        </p:blipFill>
        <p:spPr>
          <a:xfrm>
            <a:off x="1829788" y="584938"/>
            <a:ext cx="5229225" cy="1095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9"/>
          <p:cNvPicPr preferRelativeResize="0"/>
          <p:nvPr/>
        </p:nvPicPr>
        <p:blipFill rotWithShape="1">
          <a:blip r:embed="rId3">
            <a:alphaModFix/>
          </a:blip>
          <a:srcRect b="0" l="0" r="0" t="0"/>
          <a:stretch/>
        </p:blipFill>
        <p:spPr>
          <a:xfrm>
            <a:off x="2705100" y="1404938"/>
            <a:ext cx="3733800" cy="2333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311" name="Google Shape;311;p5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id="312" name="Google Shape;312;p50"/>
          <p:cNvPicPr preferRelativeResize="0"/>
          <p:nvPr/>
        </p:nvPicPr>
        <p:blipFill rotWithShape="1">
          <a:blip r:embed="rId3">
            <a:alphaModFix/>
          </a:blip>
          <a:srcRect b="0" l="0" r="0" t="0"/>
          <a:stretch/>
        </p:blipFill>
        <p:spPr>
          <a:xfrm>
            <a:off x="537975" y="101113"/>
            <a:ext cx="7734300" cy="1800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51"/>
          <p:cNvPicPr preferRelativeResize="0"/>
          <p:nvPr/>
        </p:nvPicPr>
        <p:blipFill rotWithShape="1">
          <a:blip r:embed="rId3">
            <a:alphaModFix/>
          </a:blip>
          <a:srcRect b="0" l="0" r="0" t="0"/>
          <a:stretch/>
        </p:blipFill>
        <p:spPr>
          <a:xfrm>
            <a:off x="1709749" y="1700225"/>
            <a:ext cx="6056175" cy="2962275"/>
          </a:xfrm>
          <a:prstGeom prst="rect">
            <a:avLst/>
          </a:prstGeom>
          <a:noFill/>
          <a:ln>
            <a:noFill/>
          </a:ln>
        </p:spPr>
      </p:pic>
      <p:pic>
        <p:nvPicPr>
          <p:cNvPr id="318" name="Google Shape;318;p51"/>
          <p:cNvPicPr preferRelativeResize="0"/>
          <p:nvPr/>
        </p:nvPicPr>
        <p:blipFill rotWithShape="1">
          <a:blip r:embed="rId4">
            <a:alphaModFix/>
          </a:blip>
          <a:srcRect b="0" l="0" r="0" t="0"/>
          <a:stretch/>
        </p:blipFill>
        <p:spPr>
          <a:xfrm>
            <a:off x="4610100" y="-12"/>
            <a:ext cx="4533900" cy="1038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Resources</a:t>
            </a:r>
            <a:endParaRPr/>
          </a:p>
        </p:txBody>
      </p:sp>
      <p:sp>
        <p:nvSpPr>
          <p:cNvPr id="324" name="Google Shape;324;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lang="en-GB" u="sng">
                <a:solidFill>
                  <a:schemeClr val="hlink"/>
                </a:solidFill>
                <a:hlinkClick r:id="rId3"/>
              </a:rPr>
              <a:t>https://logic.ly/demo/samples</a:t>
            </a:r>
            <a:r>
              <a:rPr lang="en-GB"/>
              <a:t> </a:t>
            </a:r>
            <a:endParaRPr/>
          </a:p>
          <a:p>
            <a:pPr indent="0" lvl="0" marL="0" rtl="0" algn="l">
              <a:lnSpc>
                <a:spcPct val="90000"/>
              </a:lnSpc>
              <a:spcBef>
                <a:spcPts val="800"/>
              </a:spcBef>
              <a:spcAft>
                <a:spcPts val="0"/>
              </a:spcAft>
              <a:buSzPts val="1400"/>
              <a:buNone/>
            </a:pPr>
            <a:r>
              <a:t/>
            </a:r>
            <a:endParaRPr/>
          </a:p>
          <a:p>
            <a:pPr indent="0" lvl="0" marL="0" rtl="0" algn="l">
              <a:lnSpc>
                <a:spcPct val="90000"/>
              </a:lnSpc>
              <a:spcBef>
                <a:spcPts val="800"/>
              </a:spcBef>
              <a:spcAft>
                <a:spcPts val="0"/>
              </a:spcAft>
              <a:buSzPts val="1400"/>
              <a:buNone/>
            </a:pPr>
            <a:r>
              <a:rPr lang="en-GB" u="sng">
                <a:solidFill>
                  <a:schemeClr val="hlink"/>
                </a:solidFill>
                <a:hlinkClick r:id="rId4"/>
              </a:rPr>
              <a:t>Data representation </a:t>
            </a:r>
            <a:endParaRPr/>
          </a:p>
          <a:p>
            <a:pPr indent="0" lvl="0" marL="0" rtl="0" algn="l">
              <a:lnSpc>
                <a:spcPct val="90000"/>
              </a:lnSpc>
              <a:spcBef>
                <a:spcPts val="800"/>
              </a:spcBef>
              <a:spcAft>
                <a:spcPts val="0"/>
              </a:spcAft>
              <a:buSzPts val="1400"/>
              <a:buNone/>
            </a:pPr>
            <a:r>
              <a:t/>
            </a:r>
            <a:endParaRPr/>
          </a:p>
          <a:p>
            <a:pPr indent="0" lvl="0" marL="0" rtl="0" algn="l">
              <a:lnSpc>
                <a:spcPct val="90000"/>
              </a:lnSpc>
              <a:spcBef>
                <a:spcPts val="800"/>
              </a:spcBef>
              <a:spcAft>
                <a:spcPts val="0"/>
              </a:spcAft>
              <a:buSzPts val="1400"/>
              <a:buNone/>
            </a:pPr>
            <a:r>
              <a:rPr lang="en-GB" u="sng">
                <a:solidFill>
                  <a:schemeClr val="hlink"/>
                </a:solidFill>
                <a:hlinkClick r:id="rId5"/>
              </a:rPr>
              <a:t>Logic gates | AP CSP (article) | Khan Academy</a:t>
            </a:r>
            <a:r>
              <a:rPr lang="en-GB"/>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