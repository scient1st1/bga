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2A918B-9612-4C1E-B6D2-2A3A5BDB9E8F}">
  <a:tblStyle styleId="{352A918B-9612-4C1E-B6D2-2A3A5BDB9E8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EF0EF"/>
          </a:solidFill>
        </a:fill>
      </a:tcStyle>
    </a:wholeTbl>
    <a:band1H>
      <a:tcTxStyle/>
      <a:tcStyle>
        <a:fill>
          <a:solidFill>
            <a:srgbClr val="DBDFDD"/>
          </a:solidFill>
        </a:fill>
      </a:tcStyle>
    </a:band1H>
    <a:band2H>
      <a:tcTxStyle/>
    </a:band2H>
    <a:band1V>
      <a:tcTxStyle/>
      <a:tcStyle>
        <a:fill>
          <a:solidFill>
            <a:srgbClr val="DBDFDD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" type="body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5755" lvl="0" marL="4572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2pPr>
            <a:lvl3pPr indent="-331470" lvl="2" marL="1371600" algn="l">
              <a:spcBef>
                <a:spcPts val="360"/>
              </a:spcBef>
              <a:spcAft>
                <a:spcPts val="0"/>
              </a:spcAft>
              <a:buSzPts val="162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ctrTitle"/>
          </p:nvPr>
        </p:nvSpPr>
        <p:spPr>
          <a:xfrm>
            <a:off x="685800" y="1371600"/>
            <a:ext cx="7848600" cy="192722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Font typeface="Arial"/>
              <a:buNone/>
              <a:defRPr sz="54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subTitle"/>
          </p:nvPr>
        </p:nvSpPr>
        <p:spPr>
          <a:xfrm>
            <a:off x="685800" y="3505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480"/>
              </a:spcBef>
              <a:spcAft>
                <a:spcPts val="0"/>
              </a:spcAft>
              <a:buSzPts val="2040"/>
              <a:buNone/>
              <a:defRPr>
                <a:solidFill>
                  <a:srgbClr val="55556F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SzPts val="1700"/>
              <a:buNone/>
              <a:defRPr>
                <a:solidFill>
                  <a:srgbClr val="8B8B8D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SzPts val="1620"/>
              <a:buNone/>
              <a:defRPr>
                <a:solidFill>
                  <a:srgbClr val="8B8B8D"/>
                </a:solidFill>
              </a:defRPr>
            </a:lvl3pPr>
            <a:lvl4pPr lvl="3" algn="ctr"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B8B8D"/>
                </a:solidFill>
              </a:defRPr>
            </a:lvl4pPr>
            <a:lvl5pPr lvl="4" algn="ctr">
              <a:spcBef>
                <a:spcPts val="280"/>
              </a:spcBef>
              <a:spcAft>
                <a:spcPts val="0"/>
              </a:spcAft>
              <a:buSzPts val="1400"/>
              <a:buNone/>
              <a:defRPr>
                <a:solidFill>
                  <a:srgbClr val="8B8B8D"/>
                </a:solidFill>
              </a:defRPr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None/>
              <a:defRPr>
                <a:solidFill>
                  <a:srgbClr val="8B8B8D"/>
                </a:solidFill>
              </a:defRPr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None/>
              <a:defRPr>
                <a:solidFill>
                  <a:srgbClr val="8B8B8D"/>
                </a:solidFill>
              </a:defRPr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None/>
              <a:defRPr>
                <a:solidFill>
                  <a:srgbClr val="8B8B8D"/>
                </a:solidFill>
              </a:defRPr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None/>
              <a:defRPr>
                <a:solidFill>
                  <a:srgbClr val="8B8B8D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5" name="Google Shape;25;p3"/>
          <p:cNvCxnSpPr/>
          <p:nvPr/>
        </p:nvCxnSpPr>
        <p:spPr>
          <a:xfrm>
            <a:off x="685800" y="3398520"/>
            <a:ext cx="7848600" cy="1588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2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722313" y="2362200"/>
            <a:ext cx="7772400" cy="220027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Arial"/>
              <a:buNone/>
              <a:defRPr b="0" sz="48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722313" y="4626864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SzPts val="2040"/>
              <a:buNone/>
              <a:defRPr sz="2400">
                <a:solidFill>
                  <a:schemeClr val="lt2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SzPts val="153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SzPts val="144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2" name="Google Shape;32;p4"/>
          <p:cNvCxnSpPr/>
          <p:nvPr/>
        </p:nvCxnSpPr>
        <p:spPr>
          <a:xfrm>
            <a:off x="731520" y="4599432"/>
            <a:ext cx="7848600" cy="1588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457200" y="1673352"/>
            <a:ext cx="4038600" cy="4718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9730" lvl="0" marL="457200" algn="l">
              <a:spcBef>
                <a:spcPts val="560"/>
              </a:spcBef>
              <a:spcAft>
                <a:spcPts val="0"/>
              </a:spcAft>
              <a:buSzPts val="2380"/>
              <a:buChar char="•"/>
              <a:defRPr sz="28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•"/>
              <a:defRPr sz="24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4648200" y="1673352"/>
            <a:ext cx="4038600" cy="47183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79730" lvl="0" marL="457200" algn="l">
              <a:spcBef>
                <a:spcPts val="560"/>
              </a:spcBef>
              <a:spcAft>
                <a:spcPts val="0"/>
              </a:spcAft>
              <a:buSzPts val="2380"/>
              <a:buChar char="•"/>
              <a:defRPr sz="2800"/>
            </a:lvl1pPr>
            <a:lvl2pPr indent="-358140" lvl="1" marL="914400" algn="l">
              <a:spcBef>
                <a:spcPts val="480"/>
              </a:spcBef>
              <a:spcAft>
                <a:spcPts val="0"/>
              </a:spcAft>
              <a:buSzPts val="2040"/>
              <a:buChar char="•"/>
              <a:defRPr sz="24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76400"/>
            <a:ext cx="3931920" cy="639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spcBef>
                <a:spcPts val="400"/>
              </a:spcBef>
              <a:spcAft>
                <a:spcPts val="0"/>
              </a:spcAft>
              <a:buSzPts val="1700"/>
              <a:buNone/>
              <a:defRPr b="0" sz="2000">
                <a:solidFill>
                  <a:schemeClr val="dk2"/>
                </a:solidFill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62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57200" y="2438400"/>
            <a:ext cx="3931920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8140" lvl="0" marL="457200" algn="l">
              <a:spcBef>
                <a:spcPts val="480"/>
              </a:spcBef>
              <a:spcAft>
                <a:spcPts val="0"/>
              </a:spcAft>
              <a:buSzPts val="2040"/>
              <a:buChar char="•"/>
              <a:defRPr sz="24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•"/>
              <a:defRPr sz="2000"/>
            </a:lvl2pPr>
            <a:lvl3pPr indent="-331470" lvl="2" marL="1371600" algn="l">
              <a:spcBef>
                <a:spcPts val="360"/>
              </a:spcBef>
              <a:spcAft>
                <a:spcPts val="0"/>
              </a:spcAft>
              <a:buSzPts val="162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4754880" y="1676400"/>
            <a:ext cx="3931920" cy="639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spcBef>
                <a:spcPts val="400"/>
              </a:spcBef>
              <a:spcAft>
                <a:spcPts val="0"/>
              </a:spcAft>
              <a:buSzPts val="1700"/>
              <a:buNone/>
              <a:defRPr b="0"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SzPts val="17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SzPts val="162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4754880" y="2438400"/>
            <a:ext cx="3931920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8140" lvl="0" marL="457200" algn="l">
              <a:spcBef>
                <a:spcPts val="480"/>
              </a:spcBef>
              <a:spcAft>
                <a:spcPts val="0"/>
              </a:spcAft>
              <a:buSzPts val="2040"/>
              <a:buChar char="•"/>
              <a:defRPr sz="2400"/>
            </a:lvl1pPr>
            <a:lvl2pPr indent="-336550" lvl="1" marL="914400" algn="l">
              <a:spcBef>
                <a:spcPts val="400"/>
              </a:spcBef>
              <a:spcAft>
                <a:spcPts val="0"/>
              </a:spcAft>
              <a:buSzPts val="1700"/>
              <a:buChar char="•"/>
              <a:defRPr sz="2000"/>
            </a:lvl2pPr>
            <a:lvl3pPr indent="-331470" lvl="2" marL="1371600" algn="l">
              <a:spcBef>
                <a:spcPts val="360"/>
              </a:spcBef>
              <a:spcAft>
                <a:spcPts val="0"/>
              </a:spcAft>
              <a:buSzPts val="162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9" name="Google Shape;49;p6"/>
          <p:cNvCxnSpPr/>
          <p:nvPr/>
        </p:nvCxnSpPr>
        <p:spPr>
          <a:xfrm rot="5400000">
            <a:off x="2217817" y="4045823"/>
            <a:ext cx="4709160" cy="794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type="title"/>
          </p:nvPr>
        </p:nvSpPr>
        <p:spPr>
          <a:xfrm>
            <a:off x="457200" y="792080"/>
            <a:ext cx="2139696" cy="12618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  <a:defRPr b="0"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" type="body"/>
          </p:nvPr>
        </p:nvSpPr>
        <p:spPr>
          <a:xfrm>
            <a:off x="2971800" y="792080"/>
            <a:ext cx="5715000" cy="5577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1320" lvl="0" marL="457200" algn="l">
              <a:spcBef>
                <a:spcPts val="640"/>
              </a:spcBef>
              <a:spcAft>
                <a:spcPts val="0"/>
              </a:spcAft>
              <a:buSzPts val="2720"/>
              <a:buChar char="•"/>
              <a:defRPr sz="3200"/>
            </a:lvl1pPr>
            <a:lvl2pPr indent="-379730" lvl="1" marL="914400" algn="l">
              <a:spcBef>
                <a:spcPts val="560"/>
              </a:spcBef>
              <a:spcAft>
                <a:spcPts val="0"/>
              </a:spcAft>
              <a:buSzPts val="2380"/>
              <a:buChar char="•"/>
              <a:defRPr sz="2800"/>
            </a:lvl2pPr>
            <a:lvl3pPr indent="-365760" lvl="2" marL="1371600" algn="l">
              <a:spcBef>
                <a:spcPts val="480"/>
              </a:spcBef>
              <a:spcAft>
                <a:spcPts val="0"/>
              </a:spcAft>
              <a:buSzPts val="216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9"/>
          <p:cNvSpPr txBox="1"/>
          <p:nvPr>
            <p:ph idx="2" type="body"/>
          </p:nvPr>
        </p:nvSpPr>
        <p:spPr>
          <a:xfrm>
            <a:off x="457201" y="2130552"/>
            <a:ext cx="2139696" cy="42436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SzPts val="119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SzPts val="9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3" name="Google Shape;63;p9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66" name="Google Shape;66;p9"/>
          <p:cNvCxnSpPr/>
          <p:nvPr/>
        </p:nvCxnSpPr>
        <p:spPr>
          <a:xfrm rot="5400000">
            <a:off x="-13116" y="3580206"/>
            <a:ext cx="5577840" cy="1588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457200" y="792480"/>
            <a:ext cx="2142680" cy="12649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  <a:defRPr b="0"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/>
          <p:nvPr>
            <p:ph idx="2" type="pic"/>
          </p:nvPr>
        </p:nvSpPr>
        <p:spPr>
          <a:xfrm>
            <a:off x="2858610" y="838201"/>
            <a:ext cx="5904390" cy="5500456"/>
          </a:xfrm>
          <a:prstGeom prst="rect">
            <a:avLst/>
          </a:prstGeom>
          <a:solidFill>
            <a:schemeClr val="lt2"/>
          </a:solidFill>
          <a:ln cap="flat" cmpd="sng" w="76200">
            <a:solidFill>
              <a:srgbClr val="FFFFFF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" dir="5400000" dist="12700">
              <a:srgbClr val="000000">
                <a:alpha val="58824"/>
              </a:srgbClr>
            </a:outerShdw>
          </a:effectLst>
        </p:spPr>
      </p:sp>
      <p:sp>
        <p:nvSpPr>
          <p:cNvPr id="70" name="Google Shape;70;p10"/>
          <p:cNvSpPr txBox="1"/>
          <p:nvPr>
            <p:ph idx="1" type="body"/>
          </p:nvPr>
        </p:nvSpPr>
        <p:spPr>
          <a:xfrm>
            <a:off x="457200" y="2133600"/>
            <a:ext cx="2139696" cy="42428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SzPts val="119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SzPts val="102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SzPts val="9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1" name="Google Shape;71;p10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" type="body"/>
          </p:nvPr>
        </p:nvSpPr>
        <p:spPr>
          <a:xfrm rot="5400000">
            <a:off x="2133600" y="-76200"/>
            <a:ext cx="48768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5755" lvl="0" marL="4572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2pPr>
            <a:lvl3pPr indent="-331470" lvl="2" marL="1371600" algn="l">
              <a:spcBef>
                <a:spcPts val="360"/>
              </a:spcBef>
              <a:spcAft>
                <a:spcPts val="0"/>
              </a:spcAft>
              <a:buSzPts val="162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type="title"/>
          </p:nvPr>
        </p:nvSpPr>
        <p:spPr>
          <a:xfrm rot="5400000">
            <a:off x="4724400" y="2514600"/>
            <a:ext cx="58674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" type="body"/>
          </p:nvPr>
        </p:nvSpPr>
        <p:spPr>
          <a:xfrm rot="5400000">
            <a:off x="533400" y="533400"/>
            <a:ext cx="58674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5755" lvl="0" marL="4572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1pPr>
            <a:lvl2pPr indent="-325755" lvl="1" marL="914400" algn="l">
              <a:spcBef>
                <a:spcPts val="360"/>
              </a:spcBef>
              <a:spcAft>
                <a:spcPts val="0"/>
              </a:spcAft>
              <a:buSzPts val="1530"/>
              <a:buChar char="•"/>
              <a:defRPr/>
            </a:lvl2pPr>
            <a:lvl3pPr indent="-331470" lvl="2" marL="1371600" algn="l">
              <a:spcBef>
                <a:spcPts val="360"/>
              </a:spcBef>
              <a:spcAft>
                <a:spcPts val="0"/>
              </a:spcAft>
              <a:buSzPts val="162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8140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204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1470" lvl="2" marL="1371600" marR="0" rtl="0" algn="l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62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30200" lvl="3" marL="1828800" marR="0" rtl="0" algn="l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spcBef>
                <a:spcPts val="28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1150" lvl="5" marL="2743200" marR="0" rtl="0" algn="l">
              <a:spcBef>
                <a:spcPts val="26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1150" lvl="6" marL="3200400" marR="0" rtl="0" algn="l">
              <a:spcBef>
                <a:spcPts val="26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1150" lvl="7" marL="3657600" marR="0" rtl="0" algn="l">
              <a:spcBef>
                <a:spcPts val="26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1150" lvl="8" marL="4114800" marR="0" rtl="0" algn="l">
              <a:spcBef>
                <a:spcPts val="26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>
            <p:ph idx="10" type="dt"/>
          </p:nvPr>
        </p:nvSpPr>
        <p:spPr>
          <a:xfrm>
            <a:off x="457200" y="18288"/>
            <a:ext cx="28956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1" type="ftr"/>
          </p:nvPr>
        </p:nvSpPr>
        <p:spPr>
          <a:xfrm>
            <a:off x="3429000" y="18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7620000" y="18288"/>
            <a:ext cx="10668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spcBef>
                <a:spcPts val="0"/>
              </a:spcBef>
              <a:buNone/>
              <a:defRPr b="1" i="0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7.jpg"/><Relationship Id="rId5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1.png"/><Relationship Id="rId8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3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Course Outline</a:t>
            </a:r>
            <a:endParaRPr/>
          </a:p>
        </p:txBody>
      </p:sp>
      <p:graphicFrame>
        <p:nvGraphicFramePr>
          <p:cNvPr id="91" name="Google Shape;91;p13"/>
          <p:cNvGraphicFramePr/>
          <p:nvPr/>
        </p:nvGraphicFramePr>
        <p:xfrm>
          <a:off x="533400" y="1905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{352A918B-9612-4C1E-B6D2-2A3A5BDB9E8F}</a:tableStyleId>
              </a:tblPr>
              <a:tblGrid>
                <a:gridCol w="3518825"/>
                <a:gridCol w="2231450"/>
                <a:gridCol w="240310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SECTION 1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SECTION 2</a:t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How</a:t>
                      </a:r>
                      <a:r>
                        <a:rPr lang="en-GB" sz="1800"/>
                        <a:t> it’s assessed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1hr 45min theory exam</a:t>
                      </a:r>
                      <a:endParaRPr sz="15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1hr 45min</a:t>
                      </a:r>
                      <a:r>
                        <a:rPr lang="en-GB" sz="1500"/>
                        <a:t> programming and problem solving exam</a:t>
                      </a:r>
                      <a:endParaRPr sz="15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How much does</a:t>
                      </a:r>
                      <a:r>
                        <a:rPr lang="en-GB" sz="1800"/>
                        <a:t> it count for?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60%</a:t>
                      </a:r>
                      <a:endParaRPr sz="15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40%</a:t>
                      </a:r>
                      <a:endParaRPr sz="15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What’s in it?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Data Representation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Communication and internet technologies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Hardware</a:t>
                      </a:r>
                      <a:r>
                        <a:rPr lang="en-GB" sz="1500"/>
                        <a:t> and software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Security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Ethics</a:t>
                      </a:r>
                      <a:endParaRPr sz="15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Algorithm design and problem solving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Programming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Databases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4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Today’s Topic</a:t>
            </a:r>
            <a:endParaRPr/>
          </a:p>
        </p:txBody>
      </p:sp>
      <p:graphicFrame>
        <p:nvGraphicFramePr>
          <p:cNvPr id="97" name="Google Shape;97;p14"/>
          <p:cNvGraphicFramePr/>
          <p:nvPr/>
        </p:nvGraphicFramePr>
        <p:xfrm>
          <a:off x="533400" y="1905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{352A918B-9612-4C1E-B6D2-2A3A5BDB9E8F}</a:tableStyleId>
              </a:tblPr>
              <a:tblGrid>
                <a:gridCol w="223145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SECTION 1</a:t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1hr 45min theory exam</a:t>
                      </a:r>
                      <a:endParaRPr sz="15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/>
                        <a:t>60%</a:t>
                      </a:r>
                      <a:endParaRPr sz="1500"/>
                    </a:p>
                  </a:txBody>
                  <a:tcPr marT="45725" marB="45725" marR="91450" marL="91450"/>
                </a:tc>
              </a:tr>
              <a:tr h="238750">
                <a:tc>
                  <a:txBody>
                    <a:bodyPr/>
                    <a:lstStyle/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Data Representation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Communication and internet technologies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Hardware</a:t>
                      </a:r>
                      <a:r>
                        <a:rPr lang="en-GB" sz="1500"/>
                        <a:t> and software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Security</a:t>
                      </a:r>
                      <a:endParaRPr/>
                    </a:p>
                    <a:p>
                      <a:pPr indent="-19050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t/>
                      </a:r>
                      <a:endParaRPr sz="1500"/>
                    </a:p>
                    <a:p>
                      <a:pPr indent="-285750" lvl="0" marL="28575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Char char="•"/>
                      </a:pPr>
                      <a:r>
                        <a:rPr lang="en-GB" sz="1500"/>
                        <a:t>Ethics</a:t>
                      </a:r>
                      <a:endParaRPr sz="15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cxnSp>
        <p:nvCxnSpPr>
          <p:cNvPr id="98" name="Google Shape;98;p14"/>
          <p:cNvCxnSpPr/>
          <p:nvPr/>
        </p:nvCxnSpPr>
        <p:spPr>
          <a:xfrm flipH="1" rot="10800000">
            <a:off x="2743200" y="2438400"/>
            <a:ext cx="1981200" cy="609600"/>
          </a:xfrm>
          <a:prstGeom prst="straightConnector1">
            <a:avLst/>
          </a:prstGeom>
          <a:noFill/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99" name="Google Shape;99;p14"/>
          <p:cNvSpPr txBox="1"/>
          <p:nvPr/>
        </p:nvSpPr>
        <p:spPr>
          <a:xfrm>
            <a:off x="4724400" y="1752600"/>
            <a:ext cx="3583032" cy="14773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Binary Number System</a:t>
            </a:r>
            <a:endParaRPr/>
          </a:p>
          <a:p>
            <a:pPr indent="-2286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Hexadecimal Number System</a:t>
            </a:r>
            <a:endParaRPr/>
          </a:p>
          <a:p>
            <a:pPr indent="-2286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AutoNum type="arabicPeriod"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Storage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4495800" y="1600200"/>
            <a:ext cx="3352800" cy="685800"/>
          </a:xfrm>
          <a:prstGeom prst="donut">
            <a:avLst>
              <a:gd fmla="val 13430" name="adj"/>
            </a:avLst>
          </a:prstGeom>
          <a:solidFill>
            <a:srgbClr val="FF0000"/>
          </a:solidFill>
          <a:ln cap="flat" cmpd="sng" w="264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What You Need to Buy</a:t>
            </a:r>
            <a:endParaRPr/>
          </a:p>
        </p:txBody>
      </p:sp>
      <p:sp>
        <p:nvSpPr>
          <p:cNvPr id="106" name="Google Shape;106;p15"/>
          <p:cNvSpPr txBox="1"/>
          <p:nvPr>
            <p:ph idx="1" type="body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As soon as possible please</a:t>
            </a:r>
            <a:endParaRPr/>
          </a:p>
        </p:txBody>
      </p:sp>
      <p:pic>
        <p:nvPicPr>
          <p:cNvPr id="107" name="Google Shape;107;p15"/>
          <p:cNvPicPr preferRelativeResize="0"/>
          <p:nvPr/>
        </p:nvPicPr>
        <p:blipFill rotWithShape="1">
          <a:blip r:embed="rId3">
            <a:alphaModFix/>
          </a:blip>
          <a:srcRect b="22225" l="26392" r="47173" t="25167"/>
          <a:stretch/>
        </p:blipFill>
        <p:spPr>
          <a:xfrm>
            <a:off x="381000" y="2895600"/>
            <a:ext cx="1784412" cy="28408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ecx.images-amazon.com/images/I/41H79ZYXP0L.jpg" id="108" name="Google Shape;108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86000" y="3162301"/>
            <a:ext cx="2563838" cy="230745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ecx.images-amazon.com/images/I/71Sbf1D24AL._SL1500_.jpg" id="109" name="Google Shape;109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05400" y="3413833"/>
            <a:ext cx="3400529" cy="20788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Classroom Rules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533400" y="2971800"/>
            <a:ext cx="61722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457200" lvl="0" marL="457200" rtl="0" algn="l">
              <a:spcBef>
                <a:spcPts val="0"/>
              </a:spcBef>
              <a:spcAft>
                <a:spcPts val="0"/>
              </a:spcAft>
              <a:buSzPts val="2040"/>
              <a:buFont typeface="Arial"/>
              <a:buAutoNum type="arabicPeriod"/>
            </a:pPr>
            <a:r>
              <a:rPr lang="en-GB"/>
              <a:t>Try everything to the best of your ability</a:t>
            </a:r>
            <a:endParaRPr/>
          </a:p>
          <a:p>
            <a:pPr indent="-457200" lvl="0" marL="457200" rtl="0" algn="l">
              <a:spcBef>
                <a:spcPts val="480"/>
              </a:spcBef>
              <a:spcAft>
                <a:spcPts val="0"/>
              </a:spcAft>
              <a:buSzPts val="2040"/>
              <a:buFont typeface="Arial"/>
              <a:buAutoNum type="arabicPeriod"/>
            </a:pPr>
            <a:r>
              <a:rPr lang="en-GB"/>
              <a:t>Respect those around you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Learning Objectives</a:t>
            </a:r>
            <a:endParaRPr/>
          </a:p>
        </p:txBody>
      </p:sp>
      <p:sp>
        <p:nvSpPr>
          <p:cNvPr id="121" name="Google Shape;121;p17"/>
          <p:cNvSpPr txBox="1"/>
          <p:nvPr>
            <p:ph idx="1" type="body"/>
          </p:nvPr>
        </p:nvSpPr>
        <p:spPr>
          <a:xfrm>
            <a:off x="457200" y="2438400"/>
            <a:ext cx="82296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Recognise the use of the binary numbers in computer systems</a:t>
            </a:r>
            <a:endParaRPr/>
          </a:p>
          <a:p>
            <a:pPr indent="-53340" lvl="0" marL="182880" rtl="0" algn="l">
              <a:spcBef>
                <a:spcPts val="480"/>
              </a:spcBef>
              <a:spcAft>
                <a:spcPts val="0"/>
              </a:spcAft>
              <a:buSzPts val="204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8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Convert denary numbers in to binary and binary in to denary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Learning Outcomes</a:t>
            </a:r>
            <a:endParaRPr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457200" y="2133600"/>
            <a:ext cx="82296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ct val="85000"/>
              <a:buChar char="•"/>
            </a:pPr>
            <a:r>
              <a:rPr b="1" lang="en-GB"/>
              <a:t>ALL</a:t>
            </a:r>
            <a:r>
              <a:rPr lang="en-GB"/>
              <a:t> will be able to give one use of binary numbers. You will be able to convert simple 4 digit binary using a conversion chart</a:t>
            </a:r>
            <a:endParaRPr/>
          </a:p>
          <a:p>
            <a:pPr indent="-63055" lvl="0" marL="182880" rtl="0" algn="l">
              <a:spcBef>
                <a:spcPts val="444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44"/>
              </a:spcBef>
              <a:spcAft>
                <a:spcPts val="0"/>
              </a:spcAft>
              <a:buSzPct val="85000"/>
              <a:buChar char="•"/>
            </a:pPr>
            <a:r>
              <a:rPr b="1" lang="en-GB"/>
              <a:t>MOST</a:t>
            </a:r>
            <a:r>
              <a:rPr lang="en-GB"/>
              <a:t> will be able to give a basic explanation why computers use binary. You will be able to convert 6 digit binary without a chart</a:t>
            </a:r>
            <a:endParaRPr/>
          </a:p>
          <a:p>
            <a:pPr indent="-63055" lvl="0" marL="182880" rtl="0" algn="l">
              <a:spcBef>
                <a:spcPts val="444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44"/>
              </a:spcBef>
              <a:spcAft>
                <a:spcPts val="0"/>
              </a:spcAft>
              <a:buSzPct val="85000"/>
              <a:buChar char="•"/>
            </a:pPr>
            <a:r>
              <a:rPr b="1" lang="en-GB"/>
              <a:t>SOME</a:t>
            </a:r>
            <a:r>
              <a:rPr lang="en-GB"/>
              <a:t> will be able to give a detailed explanation of why computers use binary. You will be able to convert 8 digit binary competently without a chart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Question Time</a:t>
            </a:r>
            <a:endParaRPr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457200" y="2895600"/>
            <a:ext cx="82296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What is binary?</a:t>
            </a:r>
            <a:endParaRPr/>
          </a:p>
          <a:p>
            <a:pPr indent="-53340" lvl="0" marL="182880" rtl="0" algn="l">
              <a:spcBef>
                <a:spcPts val="480"/>
              </a:spcBef>
              <a:spcAft>
                <a:spcPts val="0"/>
              </a:spcAft>
              <a:buSzPts val="204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8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What is denary?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0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Why Do Computers Use Binary?</a:t>
            </a:r>
            <a:endParaRPr/>
          </a:p>
        </p:txBody>
      </p:sp>
      <p:pic>
        <p:nvPicPr>
          <p:cNvPr descr="http://archive.computerhistory.org/resources/physical-object/mullard/X278-83G.lg.jpg" id="139" name="Google Shape;139;p20"/>
          <p:cNvPicPr preferRelativeResize="0"/>
          <p:nvPr/>
        </p:nvPicPr>
        <p:blipFill rotWithShape="1">
          <a:blip r:embed="rId3">
            <a:alphaModFix/>
          </a:blip>
          <a:srcRect b="19676" l="0" r="0" t="0"/>
          <a:stretch/>
        </p:blipFill>
        <p:spPr>
          <a:xfrm>
            <a:off x="1752600" y="2501284"/>
            <a:ext cx="5703925" cy="28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How Binary Works</a:t>
            </a:r>
            <a:endParaRPr/>
          </a:p>
        </p:txBody>
      </p:sp>
      <p:graphicFrame>
        <p:nvGraphicFramePr>
          <p:cNvPr id="145" name="Google Shape;145;p21"/>
          <p:cNvGraphicFramePr/>
          <p:nvPr/>
        </p:nvGraphicFramePr>
        <p:xfrm>
          <a:off x="1305613" y="35814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{352A918B-9612-4C1E-B6D2-2A3A5BDB9E8F}</a:tableStyleId>
              </a:tblPr>
              <a:tblGrid>
                <a:gridCol w="790575"/>
                <a:gridCol w="790575"/>
                <a:gridCol w="790575"/>
                <a:gridCol w="790575"/>
                <a:gridCol w="790575"/>
                <a:gridCol w="771525"/>
                <a:gridCol w="809625"/>
                <a:gridCol w="790575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128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64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32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16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8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4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2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1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>
                          <a:solidFill>
                            <a:schemeClr val="dk1"/>
                          </a:solidFill>
                        </a:rPr>
                        <a:t>0</a:t>
                      </a:r>
                      <a:endParaRPr sz="18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46" name="Google Shape;146;p21"/>
          <p:cNvSpPr txBox="1"/>
          <p:nvPr/>
        </p:nvSpPr>
        <p:spPr>
          <a:xfrm>
            <a:off x="1295401" y="1981200"/>
            <a:ext cx="716280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line of binary code is called a ‘binary string’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binary string can make a maximum value of 255 (all the numbers added together)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1"/>
          <p:cNvSpPr txBox="1"/>
          <p:nvPr/>
        </p:nvSpPr>
        <p:spPr>
          <a:xfrm>
            <a:off x="1295401" y="4659347"/>
            <a:ext cx="7162800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individual numbers in binary are called BITS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They are arranged in to a collection of 8 bits which are called a BYTE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You Have  a Go</a:t>
            </a:r>
            <a:endParaRPr/>
          </a:p>
        </p:txBody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457200" y="2362200"/>
            <a:ext cx="8229600" cy="19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Complete the worksheet looking at converting denary to binary</a:t>
            </a:r>
            <a:endParaRPr/>
          </a:p>
          <a:p>
            <a:pPr indent="-53340" lvl="0" marL="182880" rtl="0" algn="l">
              <a:spcBef>
                <a:spcPts val="480"/>
              </a:spcBef>
              <a:spcAft>
                <a:spcPts val="0"/>
              </a:spcAft>
              <a:buSzPts val="204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8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Once you have completed the first sheet, have a  go at the second one which is without a conversion chart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3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Converting Back Again</a:t>
            </a:r>
            <a:endParaRPr/>
          </a:p>
        </p:txBody>
      </p:sp>
      <p:sp>
        <p:nvSpPr>
          <p:cNvPr id="159" name="Google Shape;159;p23"/>
          <p:cNvSpPr txBox="1"/>
          <p:nvPr>
            <p:ph idx="1" type="body"/>
          </p:nvPr>
        </p:nvSpPr>
        <p:spPr>
          <a:xfrm>
            <a:off x="457200" y="1905000"/>
            <a:ext cx="82296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ct val="85000"/>
              <a:buChar char="•"/>
            </a:pPr>
            <a:r>
              <a:rPr lang="en-GB"/>
              <a:t>Use your mental maths to convert the following numbers back to denary</a:t>
            </a:r>
            <a:endParaRPr/>
          </a:p>
          <a:p>
            <a:pPr indent="-63055" lvl="0" marL="182880" rtl="0" algn="l">
              <a:spcBef>
                <a:spcPts val="444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44"/>
              </a:spcBef>
              <a:spcAft>
                <a:spcPts val="0"/>
              </a:spcAft>
              <a:buSzPct val="85000"/>
              <a:buChar char="•"/>
            </a:pPr>
            <a:r>
              <a:rPr lang="en-GB"/>
              <a:t>For those of you who are not confident yet with the process, use a conversion chart to complete the task</a:t>
            </a:r>
            <a:endParaRPr/>
          </a:p>
        </p:txBody>
      </p:sp>
      <p:sp>
        <p:nvSpPr>
          <p:cNvPr id="160" name="Google Shape;160;p23"/>
          <p:cNvSpPr txBox="1"/>
          <p:nvPr/>
        </p:nvSpPr>
        <p:spPr>
          <a:xfrm>
            <a:off x="762000" y="3657600"/>
            <a:ext cx="2416046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ONE:    		0 I I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3"/>
          <p:cNvSpPr txBox="1"/>
          <p:nvPr/>
        </p:nvSpPr>
        <p:spPr>
          <a:xfrm>
            <a:off x="762000" y="4151219"/>
            <a:ext cx="280076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TWO:    		I 0 0 I 0</a:t>
            </a:r>
            <a:endParaRPr/>
          </a:p>
        </p:txBody>
      </p:sp>
      <p:sp>
        <p:nvSpPr>
          <p:cNvPr id="162" name="Google Shape;162;p23"/>
          <p:cNvSpPr txBox="1"/>
          <p:nvPr/>
        </p:nvSpPr>
        <p:spPr>
          <a:xfrm>
            <a:off x="762000" y="4636532"/>
            <a:ext cx="299312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THREE:     	0 I 0 0 I 0</a:t>
            </a:r>
            <a:endParaRPr/>
          </a:p>
        </p:txBody>
      </p:sp>
      <p:sp>
        <p:nvSpPr>
          <p:cNvPr id="163" name="Google Shape;163;p23"/>
          <p:cNvSpPr txBox="1"/>
          <p:nvPr/>
        </p:nvSpPr>
        <p:spPr>
          <a:xfrm>
            <a:off x="762000" y="5169932"/>
            <a:ext cx="324960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FOUR:     	I 0 0 I I I 0 0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62000" y="5684435"/>
            <a:ext cx="3121367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FIVE:     		I I 0 I I I I 0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787893" y="6206167"/>
            <a:ext cx="337784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SIX:     		I 0 I 0 0 I I 0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Recap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609600" y="3124200"/>
            <a:ext cx="3200400" cy="838200"/>
          </a:xfrm>
          <a:prstGeom prst="rect">
            <a:avLst/>
          </a:prstGeom>
          <a:solidFill>
            <a:schemeClr val="lt1"/>
          </a:solidFill>
          <a:ln cap="flat" cmpd="sng" w="26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040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denary?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5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Recap </a:t>
            </a:r>
            <a:endParaRPr/>
          </a:p>
        </p:txBody>
      </p:sp>
      <p:sp>
        <p:nvSpPr>
          <p:cNvPr id="177" name="Google Shape;177;p25"/>
          <p:cNvSpPr txBox="1"/>
          <p:nvPr>
            <p:ph idx="1" type="body"/>
          </p:nvPr>
        </p:nvSpPr>
        <p:spPr>
          <a:xfrm>
            <a:off x="609600" y="3124200"/>
            <a:ext cx="3200400" cy="838200"/>
          </a:xfrm>
          <a:prstGeom prst="rect">
            <a:avLst/>
          </a:prstGeom>
          <a:solidFill>
            <a:schemeClr val="lt1"/>
          </a:solidFill>
          <a:ln cap="flat" cmpd="sng" w="26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040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binary?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Recap </a:t>
            </a:r>
            <a:endParaRPr/>
          </a:p>
        </p:txBody>
      </p:sp>
      <p:sp>
        <p:nvSpPr>
          <p:cNvPr id="183" name="Google Shape;183;p26"/>
          <p:cNvSpPr txBox="1"/>
          <p:nvPr>
            <p:ph idx="1" type="body"/>
          </p:nvPr>
        </p:nvSpPr>
        <p:spPr>
          <a:xfrm>
            <a:off x="609600" y="3124200"/>
            <a:ext cx="5029200" cy="838200"/>
          </a:xfrm>
          <a:prstGeom prst="rect">
            <a:avLst/>
          </a:prstGeom>
          <a:solidFill>
            <a:schemeClr val="lt1"/>
          </a:solidFill>
          <a:ln cap="flat" cmpd="sng" w="26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040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Why is binary used in computers?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7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Recap </a:t>
            </a:r>
            <a:endParaRPr/>
          </a:p>
        </p:txBody>
      </p:sp>
      <p:sp>
        <p:nvSpPr>
          <p:cNvPr id="189" name="Google Shape;189;p27"/>
          <p:cNvSpPr txBox="1"/>
          <p:nvPr>
            <p:ph idx="1" type="body"/>
          </p:nvPr>
        </p:nvSpPr>
        <p:spPr>
          <a:xfrm>
            <a:off x="609600" y="3124200"/>
            <a:ext cx="5029200" cy="838200"/>
          </a:xfrm>
          <a:prstGeom prst="rect">
            <a:avLst/>
          </a:prstGeom>
          <a:solidFill>
            <a:schemeClr val="lt1"/>
          </a:solidFill>
          <a:ln cap="flat" cmpd="sng" w="2642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2040"/>
              <a:buNone/>
            </a:pPr>
            <a:r>
              <a:rPr lang="en-GB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the maximum number you can make with one binary string?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8"/>
          <p:cNvSpPr txBox="1"/>
          <p:nvPr>
            <p:ph type="title"/>
          </p:nvPr>
        </p:nvSpPr>
        <p:spPr>
          <a:xfrm>
            <a:off x="457200" y="533400"/>
            <a:ext cx="8229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Font typeface="Arial"/>
              <a:buNone/>
            </a:pPr>
            <a:r>
              <a:rPr lang="en-GB"/>
              <a:t>Binary Addition</a:t>
            </a:r>
            <a:endParaRPr/>
          </a:p>
        </p:txBody>
      </p:sp>
      <p:sp>
        <p:nvSpPr>
          <p:cNvPr id="195" name="Google Shape;195;p28"/>
          <p:cNvSpPr txBox="1"/>
          <p:nvPr>
            <p:ph idx="1" type="body"/>
          </p:nvPr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ct val="85000"/>
              <a:buChar char="•"/>
            </a:pPr>
            <a:r>
              <a:rPr lang="en-GB"/>
              <a:t>Using the help steps, complete the sheet on binary addition</a:t>
            </a:r>
            <a:endParaRPr/>
          </a:p>
          <a:p>
            <a:pPr indent="-82486" lvl="0" marL="18288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372"/>
              </a:spcBef>
              <a:spcAft>
                <a:spcPts val="0"/>
              </a:spcAft>
              <a:buSzPct val="85000"/>
              <a:buChar char="•"/>
            </a:pPr>
            <a:r>
              <a:rPr lang="en-GB"/>
              <a:t>The questions get more difficult the further you go</a:t>
            </a:r>
            <a:endParaRPr/>
          </a:p>
        </p:txBody>
      </p:sp>
      <p:pic>
        <p:nvPicPr>
          <p:cNvPr id="196" name="Google Shape;196;p28"/>
          <p:cNvPicPr preferRelativeResize="0"/>
          <p:nvPr/>
        </p:nvPicPr>
        <p:blipFill rotWithShape="1">
          <a:blip r:embed="rId3">
            <a:alphaModFix/>
          </a:blip>
          <a:srcRect b="25321" l="41802" r="26345" t="34237"/>
          <a:stretch/>
        </p:blipFill>
        <p:spPr>
          <a:xfrm>
            <a:off x="608815" y="2616719"/>
            <a:ext cx="2268292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tl" dir="2700000" dist="50800">
              <a:srgbClr val="000000">
                <a:alpha val="40000"/>
              </a:srgbClr>
            </a:outerShdw>
          </a:effectLst>
        </p:spPr>
      </p:pic>
      <p:pic>
        <p:nvPicPr>
          <p:cNvPr id="197" name="Google Shape;197;p28"/>
          <p:cNvPicPr preferRelativeResize="0"/>
          <p:nvPr/>
        </p:nvPicPr>
        <p:blipFill rotWithShape="1">
          <a:blip r:embed="rId4">
            <a:alphaModFix/>
          </a:blip>
          <a:srcRect b="25896" l="40828" r="26086" t="35962"/>
          <a:stretch/>
        </p:blipFill>
        <p:spPr>
          <a:xfrm>
            <a:off x="3176178" y="2616719"/>
            <a:ext cx="2498274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2745"/>
              </a:srgbClr>
            </a:outerShdw>
          </a:effectLst>
        </p:spPr>
      </p:pic>
      <p:pic>
        <p:nvPicPr>
          <p:cNvPr id="198" name="Google Shape;198;p28"/>
          <p:cNvPicPr preferRelativeResize="0"/>
          <p:nvPr/>
        </p:nvPicPr>
        <p:blipFill rotWithShape="1">
          <a:blip r:embed="rId5">
            <a:alphaModFix/>
          </a:blip>
          <a:srcRect b="23841" l="40253" r="25634" t="35880"/>
          <a:stretch/>
        </p:blipFill>
        <p:spPr>
          <a:xfrm>
            <a:off x="6019015" y="2616719"/>
            <a:ext cx="2439184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2745"/>
              </a:srgbClr>
            </a:outerShdw>
          </a:effectLst>
        </p:spPr>
      </p:pic>
      <p:pic>
        <p:nvPicPr>
          <p:cNvPr id="199" name="Google Shape;199;p28"/>
          <p:cNvPicPr preferRelativeResize="0"/>
          <p:nvPr/>
        </p:nvPicPr>
        <p:blipFill rotWithShape="1">
          <a:blip r:embed="rId6">
            <a:alphaModFix/>
          </a:blip>
          <a:srcRect b="25451" l="40039" r="25848" t="35093"/>
          <a:stretch/>
        </p:blipFill>
        <p:spPr>
          <a:xfrm>
            <a:off x="656586" y="4677000"/>
            <a:ext cx="2314429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tl" dir="2700000" dist="50800">
              <a:srgbClr val="000000">
                <a:alpha val="40000"/>
              </a:srgbClr>
            </a:outerShdw>
          </a:effectLst>
        </p:spPr>
      </p:pic>
      <p:pic>
        <p:nvPicPr>
          <p:cNvPr id="200" name="Google Shape;200;p28"/>
          <p:cNvPicPr preferRelativeResize="0"/>
          <p:nvPr/>
        </p:nvPicPr>
        <p:blipFill rotWithShape="1">
          <a:blip r:embed="rId7">
            <a:alphaModFix/>
          </a:blip>
          <a:srcRect b="26622" l="39662" r="26122" t="36251"/>
          <a:stretch/>
        </p:blipFill>
        <p:spPr>
          <a:xfrm>
            <a:off x="3238196" y="4677000"/>
            <a:ext cx="2476020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tl" dir="2700000" dist="50800">
              <a:srgbClr val="000000">
                <a:alpha val="40000"/>
              </a:srgbClr>
            </a:outerShdw>
          </a:effectLst>
        </p:spPr>
      </p:pic>
      <p:pic>
        <p:nvPicPr>
          <p:cNvPr id="201" name="Google Shape;201;p28"/>
          <p:cNvPicPr preferRelativeResize="0"/>
          <p:nvPr/>
        </p:nvPicPr>
        <p:blipFill rotWithShape="1">
          <a:blip r:embed="rId8">
            <a:alphaModFix/>
          </a:blip>
          <a:srcRect b="26023" l="39088" r="26901" t="36988"/>
          <a:stretch/>
        </p:blipFill>
        <p:spPr>
          <a:xfrm>
            <a:off x="6019016" y="4654065"/>
            <a:ext cx="2439184" cy="1800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7150" rotWithShape="0" algn="tl" dir="2700000" dist="508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9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Binary Subtraction</a:t>
            </a:r>
            <a:endParaRPr/>
          </a:p>
        </p:txBody>
      </p:sp>
      <p:sp>
        <p:nvSpPr>
          <p:cNvPr id="207" name="Google Shape;207;p29"/>
          <p:cNvSpPr txBox="1"/>
          <p:nvPr>
            <p:ph idx="1" type="body"/>
          </p:nvPr>
        </p:nvSpPr>
        <p:spPr>
          <a:xfrm>
            <a:off x="457200" y="1676400"/>
            <a:ext cx="8229600" cy="327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ct val="85000"/>
              <a:buChar char="•"/>
            </a:pPr>
            <a:r>
              <a:rPr lang="en-GB"/>
              <a:t>Slightly more difficult than addition</a:t>
            </a:r>
            <a:endParaRPr/>
          </a:p>
          <a:p>
            <a:pPr indent="-82486" lvl="0" marL="18288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rPr lang="en-GB"/>
              <a:t>There are three stages:</a:t>
            </a:r>
            <a:endParaRPr/>
          </a:p>
          <a:p>
            <a:pPr indent="-82486" lvl="0" marL="18288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457200" lvl="0" marL="457200" rtl="0" algn="l">
              <a:spcBef>
                <a:spcPts val="310"/>
              </a:spcBef>
              <a:spcAft>
                <a:spcPts val="0"/>
              </a:spcAft>
              <a:buSzPct val="85000"/>
              <a:buFont typeface="Arial"/>
              <a:buAutoNum type="arabicPeriod"/>
            </a:pPr>
            <a:r>
              <a:rPr lang="en-GB" sz="2000"/>
              <a:t>Write out the numbers, making sure they all have the same digits</a:t>
            </a:r>
            <a:endParaRPr/>
          </a:p>
          <a:p>
            <a:pPr indent="-373539" lvl="0" marL="457200" rtl="0" algn="l">
              <a:spcBef>
                <a:spcPts val="310"/>
              </a:spcBef>
              <a:spcAft>
                <a:spcPts val="0"/>
              </a:spcAft>
              <a:buSzPct val="85000"/>
              <a:buFont typeface="Arial"/>
              <a:buNone/>
            </a:pPr>
            <a:r>
              <a:t/>
            </a:r>
            <a:endParaRPr sz="2000"/>
          </a:p>
          <a:p>
            <a:pPr indent="-457200" lvl="0" marL="457200" rtl="0" algn="l">
              <a:spcBef>
                <a:spcPts val="310"/>
              </a:spcBef>
              <a:spcAft>
                <a:spcPts val="0"/>
              </a:spcAft>
              <a:buSzPct val="85000"/>
              <a:buFont typeface="Arial"/>
              <a:buAutoNum type="arabicPeriod"/>
            </a:pPr>
            <a:r>
              <a:rPr lang="en-GB" sz="2000"/>
              <a:t>Apply ‘two’s complement’</a:t>
            </a:r>
            <a:endParaRPr/>
          </a:p>
          <a:p>
            <a:pPr indent="-457200" lvl="3" marL="1280160" rtl="0" algn="l">
              <a:spcBef>
                <a:spcPts val="186"/>
              </a:spcBef>
              <a:spcAft>
                <a:spcPts val="0"/>
              </a:spcAft>
              <a:buSzPct val="100000"/>
              <a:buFont typeface="Arial"/>
              <a:buAutoNum type="romanUcPeriod"/>
            </a:pPr>
            <a:r>
              <a:rPr lang="en-GB" sz="1200"/>
              <a:t>Swap each digit around</a:t>
            </a:r>
            <a:endParaRPr/>
          </a:p>
          <a:p>
            <a:pPr indent="-457200" lvl="3" marL="1280160" rtl="0" algn="l">
              <a:spcBef>
                <a:spcPts val="186"/>
              </a:spcBef>
              <a:spcAft>
                <a:spcPts val="0"/>
              </a:spcAft>
              <a:buSzPct val="100000"/>
              <a:buFont typeface="Arial"/>
              <a:buAutoNum type="romanUcPeriod"/>
            </a:pPr>
            <a:r>
              <a:rPr lang="en-GB" sz="1200"/>
              <a:t>Add 1 to the number</a:t>
            </a:r>
            <a:endParaRPr/>
          </a:p>
          <a:p>
            <a:pPr indent="-398145" lvl="3" marL="1280160" rtl="0" algn="l">
              <a:spcBef>
                <a:spcPts val="186"/>
              </a:spcBef>
              <a:spcAft>
                <a:spcPts val="0"/>
              </a:spcAft>
              <a:buSzPct val="100000"/>
              <a:buFont typeface="Arial"/>
              <a:buNone/>
            </a:pPr>
            <a:r>
              <a:t/>
            </a:r>
            <a:endParaRPr sz="1200"/>
          </a:p>
          <a:p>
            <a:pPr indent="-457200" lvl="0" marL="457200" rtl="0" algn="l">
              <a:spcBef>
                <a:spcPts val="372"/>
              </a:spcBef>
              <a:spcAft>
                <a:spcPts val="0"/>
              </a:spcAft>
              <a:buSzPct val="85000"/>
              <a:buFont typeface="Arial"/>
              <a:buAutoNum type="arabicPeriod"/>
            </a:pPr>
            <a:r>
              <a:rPr lang="en-GB"/>
              <a:t>Add your new number to the first one</a:t>
            </a:r>
            <a:endParaRPr/>
          </a:p>
          <a:p>
            <a:pPr indent="-356807" lvl="0" marL="457200" rtl="0" algn="l">
              <a:spcBef>
                <a:spcPts val="372"/>
              </a:spcBef>
              <a:spcAft>
                <a:spcPts val="0"/>
              </a:spcAft>
              <a:buSzPct val="85000"/>
              <a:buFont typeface="Arial"/>
              <a:buNone/>
            </a:pPr>
            <a:r>
              <a:t/>
            </a:r>
            <a:endParaRPr/>
          </a:p>
          <a:p>
            <a:pPr indent="-457200" lvl="0" marL="457200" rtl="0" algn="l">
              <a:spcBef>
                <a:spcPts val="372"/>
              </a:spcBef>
              <a:spcAft>
                <a:spcPts val="0"/>
              </a:spcAft>
              <a:buSzPct val="85000"/>
              <a:buFont typeface="Arial"/>
              <a:buAutoNum type="arabicPeriod"/>
            </a:pPr>
            <a:r>
              <a:rPr lang="en-GB"/>
              <a:t>Remove the digit on the left side</a:t>
            </a:r>
            <a:endParaRPr/>
          </a:p>
          <a:p>
            <a:pPr indent="-82486" lvl="0" marL="18288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  <a:p>
            <a:pPr indent="-82486" lvl="0" marL="182880" rtl="0" algn="l">
              <a:spcBef>
                <a:spcPts val="372"/>
              </a:spcBef>
              <a:spcAft>
                <a:spcPts val="0"/>
              </a:spcAft>
              <a:buSzPct val="85000"/>
              <a:buNone/>
            </a:pPr>
            <a:r>
              <a:t/>
            </a:r>
            <a:endParaRPr/>
          </a:p>
        </p:txBody>
      </p:sp>
      <p:sp>
        <p:nvSpPr>
          <p:cNvPr id="208" name="Google Shape;208;p29"/>
          <p:cNvSpPr/>
          <p:nvPr/>
        </p:nvSpPr>
        <p:spPr>
          <a:xfrm>
            <a:off x="609600" y="5562600"/>
            <a:ext cx="8001000" cy="990600"/>
          </a:xfrm>
          <a:prstGeom prst="rect">
            <a:avLst/>
          </a:prstGeom>
          <a:solidFill>
            <a:schemeClr val="lt1"/>
          </a:solidFill>
          <a:ln cap="flat" cmpd="sng" w="264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Help can be had by visiting </a:t>
            </a:r>
            <a:r>
              <a:rPr b="1"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tinyurl.com/subtractbinary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0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Exam Pointers</a:t>
            </a:r>
            <a:endParaRPr/>
          </a:p>
        </p:txBody>
      </p:sp>
      <p:sp>
        <p:nvSpPr>
          <p:cNvPr id="214" name="Google Shape;214;p30"/>
          <p:cNvSpPr txBox="1"/>
          <p:nvPr>
            <p:ph idx="1" type="body"/>
          </p:nvPr>
        </p:nvSpPr>
        <p:spPr>
          <a:xfrm>
            <a:off x="457200" y="2209800"/>
            <a:ext cx="8229600" cy="304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82880" lvl="0" marL="182880" rtl="0" algn="l">
              <a:spcBef>
                <a:spcPts val="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You will never be given more than one binary string to work with (never more than 8 numbers)</a:t>
            </a:r>
            <a:endParaRPr/>
          </a:p>
          <a:p>
            <a:pPr indent="-53340" lvl="0" marL="182880" rtl="0" algn="l">
              <a:spcBef>
                <a:spcPts val="480"/>
              </a:spcBef>
              <a:spcAft>
                <a:spcPts val="0"/>
              </a:spcAft>
              <a:buSzPts val="204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8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You won’t have to work with negative numbers</a:t>
            </a:r>
            <a:endParaRPr/>
          </a:p>
          <a:p>
            <a:pPr indent="-53340" lvl="0" marL="182880" rtl="0" algn="l">
              <a:spcBef>
                <a:spcPts val="480"/>
              </a:spcBef>
              <a:spcAft>
                <a:spcPts val="0"/>
              </a:spcAft>
              <a:buSzPts val="2040"/>
              <a:buNone/>
            </a:pPr>
            <a:r>
              <a:t/>
            </a:r>
            <a:endParaRPr/>
          </a:p>
          <a:p>
            <a:pPr indent="-182880" lvl="0" marL="182880" rtl="0" algn="l">
              <a:spcBef>
                <a:spcPts val="480"/>
              </a:spcBef>
              <a:spcAft>
                <a:spcPts val="0"/>
              </a:spcAft>
              <a:buSzPts val="2040"/>
              <a:buChar char="•"/>
            </a:pPr>
            <a:r>
              <a:rPr lang="en-GB"/>
              <a:t>Numbers may be less than 8. If they are, this is the numbers on the right, NOT the left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1"/>
          <p:cNvSpPr txBox="1"/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lang="en-GB"/>
              <a:t>Exam Question Plenary </a:t>
            </a:r>
            <a:endParaRPr/>
          </a:p>
        </p:txBody>
      </p:sp>
      <p:pic>
        <p:nvPicPr>
          <p:cNvPr id="220" name="Google Shape;220;p31"/>
          <p:cNvPicPr preferRelativeResize="0"/>
          <p:nvPr/>
        </p:nvPicPr>
        <p:blipFill rotWithShape="1">
          <a:blip r:embed="rId3">
            <a:alphaModFix/>
          </a:blip>
          <a:srcRect b="8757" l="29400" r="28896" t="15289"/>
          <a:stretch/>
        </p:blipFill>
        <p:spPr>
          <a:xfrm>
            <a:off x="533400" y="1599803"/>
            <a:ext cx="4351537" cy="49533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