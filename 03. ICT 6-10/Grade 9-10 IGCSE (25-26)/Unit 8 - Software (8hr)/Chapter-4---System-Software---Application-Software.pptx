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Montserrat SemiBold"/>
      <p:regular r:id="rId28"/>
      <p:bold r:id="rId29"/>
      <p:italic r:id="rId30"/>
      <p:boldItalic r:id="rId31"/>
    </p:embeddedFont>
    <p:embeddedFont>
      <p:font typeface="Arimo"/>
      <p:bold r:id="rId32"/>
      <p:boldItalic r:id="rId33"/>
    </p:embeddedFont>
    <p:embeddedFont>
      <p:font typeface="Montserrat"/>
      <p:bold r:id="rId34"/>
      <p:boldItalic r:id="rId35"/>
    </p:embeddedFont>
    <p:embeddedFont>
      <p:font typeface="Open Sans ExtraBold"/>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SemiBold-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boldItalic.fntdata"/><Relationship Id="rId30" Type="http://schemas.openxmlformats.org/officeDocument/2006/relationships/font" Target="fonts/MontserratSemiBold-italic.fntdata"/><Relationship Id="rId11" Type="http://schemas.openxmlformats.org/officeDocument/2006/relationships/slide" Target="slides/slide6.xml"/><Relationship Id="rId33" Type="http://schemas.openxmlformats.org/officeDocument/2006/relationships/font" Target="fonts/Arimo-boldItalic.fntdata"/><Relationship Id="rId10" Type="http://schemas.openxmlformats.org/officeDocument/2006/relationships/slide" Target="slides/slide5.xml"/><Relationship Id="rId32" Type="http://schemas.openxmlformats.org/officeDocument/2006/relationships/font" Target="fonts/Arimo-bold.fntdata"/><Relationship Id="rId13" Type="http://schemas.openxmlformats.org/officeDocument/2006/relationships/slide" Target="slides/slide8.xml"/><Relationship Id="rId35" Type="http://schemas.openxmlformats.org/officeDocument/2006/relationships/font" Target="fonts/Montserrat-bold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OpenSansExtraBold-boldItalic.fntdata"/><Relationship Id="rId14" Type="http://schemas.openxmlformats.org/officeDocument/2006/relationships/slide" Target="slides/slide9.xml"/><Relationship Id="rId36" Type="http://schemas.openxmlformats.org/officeDocument/2006/relationships/font" Target="fonts/OpenSansExtraBol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7125" r="35867" t="0"/>
          <a:stretch/>
        </p:blipFill>
        <p:spPr>
          <a:xfrm>
            <a:off x="1345935" y="0"/>
            <a:ext cx="8650373" cy="10116249"/>
          </a:xfrm>
          <a:prstGeom prst="rect">
            <a:avLst/>
          </a:prstGeom>
          <a:noFill/>
          <a:ln>
            <a:noFill/>
          </a:ln>
        </p:spPr>
      </p:pic>
      <p:sp>
        <p:nvSpPr>
          <p:cNvPr id="85" name="Google Shape;85;p13"/>
          <p:cNvSpPr/>
          <p:nvPr/>
        </p:nvSpPr>
        <p:spPr>
          <a:xfrm>
            <a:off x="10892153" y="1870990"/>
            <a:ext cx="6545020" cy="6545020"/>
          </a:xfrm>
          <a:custGeom>
            <a:rect b="b" l="l" r="r" t="t"/>
            <a:pathLst>
              <a:path extrusionOk="0" h="1913890" w="1913890">
                <a:moveTo>
                  <a:pt x="0" y="0"/>
                </a:moveTo>
                <a:lnTo>
                  <a:pt x="0" y="1913890"/>
                </a:lnTo>
                <a:lnTo>
                  <a:pt x="1913890" y="1913890"/>
                </a:lnTo>
                <a:lnTo>
                  <a:pt x="1913890" y="0"/>
                </a:lnTo>
                <a:lnTo>
                  <a:pt x="0" y="0"/>
                </a:lnTo>
                <a:close/>
                <a:moveTo>
                  <a:pt x="1852930" y="1852930"/>
                </a:moveTo>
                <a:lnTo>
                  <a:pt x="59690" y="1852930"/>
                </a:lnTo>
                <a:lnTo>
                  <a:pt x="59690" y="59690"/>
                </a:lnTo>
                <a:lnTo>
                  <a:pt x="1852930" y="59690"/>
                </a:lnTo>
                <a:lnTo>
                  <a:pt x="1852930" y="1852930"/>
                </a:lnTo>
                <a:close/>
              </a:path>
            </a:pathLst>
          </a:custGeom>
          <a:solidFill>
            <a:srgbClr val="004AAD"/>
          </a:solidFill>
          <a:ln>
            <a:noFill/>
          </a:ln>
        </p:spPr>
      </p:sp>
      <p:sp>
        <p:nvSpPr>
          <p:cNvPr id="86" name="Google Shape;86;p13"/>
          <p:cNvSpPr txBox="1"/>
          <p:nvPr/>
        </p:nvSpPr>
        <p:spPr>
          <a:xfrm>
            <a:off x="10616645" y="4208980"/>
            <a:ext cx="7096037" cy="1285875"/>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1" i="0" lang="en-US" sz="9999" u="none" cap="none" strike="noStrike">
                <a:solidFill>
                  <a:srgbClr val="7ED957"/>
                </a:solidFill>
                <a:latin typeface="Montserrat"/>
                <a:ea typeface="Montserrat"/>
                <a:cs typeface="Montserrat"/>
                <a:sym typeface="Montserrat"/>
              </a:rPr>
              <a:t>Software</a:t>
            </a:r>
            <a:endParaRPr/>
          </a:p>
        </p:txBody>
      </p:sp>
      <p:sp>
        <p:nvSpPr>
          <p:cNvPr id="87" name="Google Shape;87;p13"/>
          <p:cNvSpPr txBox="1"/>
          <p:nvPr/>
        </p:nvSpPr>
        <p:spPr>
          <a:xfrm>
            <a:off x="12676999" y="5677431"/>
            <a:ext cx="2975330" cy="628888"/>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0" i="0" lang="en-US" sz="3660" u="none" cap="none" strike="noStrike">
                <a:solidFill>
                  <a:srgbClr val="FF1616"/>
                </a:solidFill>
                <a:latin typeface="Arial"/>
                <a:ea typeface="Arial"/>
                <a:cs typeface="Arial"/>
                <a:sym typeface="Arial"/>
              </a:rPr>
              <a:t>IGCSE 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91" name="Shape 91"/>
        <p:cNvGrpSpPr/>
        <p:nvPr/>
      </p:nvGrpSpPr>
      <p:grpSpPr>
        <a:xfrm>
          <a:off x="0" y="0"/>
          <a:ext cx="0" cy="0"/>
          <a:chOff x="0" y="0"/>
          <a:chExt cx="0" cy="0"/>
        </a:xfrm>
      </p:grpSpPr>
      <p:sp>
        <p:nvSpPr>
          <p:cNvPr id="92" name="Google Shape;92;p14"/>
          <p:cNvSpPr/>
          <p:nvPr/>
        </p:nvSpPr>
        <p:spPr>
          <a:xfrm>
            <a:off x="5063375" y="2398022"/>
            <a:ext cx="8161251" cy="3012344"/>
          </a:xfrm>
          <a:custGeom>
            <a:rect b="b" l="l" r="r" t="t"/>
            <a:pathLst>
              <a:path extrusionOk="0" h="880867" w="2386507">
                <a:moveTo>
                  <a:pt x="0" y="0"/>
                </a:moveTo>
                <a:lnTo>
                  <a:pt x="0" y="880867"/>
                </a:lnTo>
                <a:lnTo>
                  <a:pt x="2386507" y="880867"/>
                </a:lnTo>
                <a:lnTo>
                  <a:pt x="2386507" y="0"/>
                </a:lnTo>
                <a:lnTo>
                  <a:pt x="0" y="0"/>
                </a:lnTo>
                <a:close/>
                <a:moveTo>
                  <a:pt x="2325547" y="819907"/>
                </a:moveTo>
                <a:lnTo>
                  <a:pt x="59690" y="819907"/>
                </a:lnTo>
                <a:lnTo>
                  <a:pt x="59690" y="59690"/>
                </a:lnTo>
                <a:lnTo>
                  <a:pt x="2325547" y="59690"/>
                </a:lnTo>
                <a:lnTo>
                  <a:pt x="2325547" y="819907"/>
                </a:lnTo>
                <a:close/>
              </a:path>
            </a:pathLst>
          </a:custGeom>
          <a:solidFill>
            <a:srgbClr val="004AAD"/>
          </a:solidFill>
          <a:ln>
            <a:noFill/>
          </a:ln>
        </p:spPr>
      </p:sp>
      <p:sp>
        <p:nvSpPr>
          <p:cNvPr id="93" name="Google Shape;93;p14"/>
          <p:cNvSpPr txBox="1"/>
          <p:nvPr/>
        </p:nvSpPr>
        <p:spPr>
          <a:xfrm>
            <a:off x="5727294" y="3331279"/>
            <a:ext cx="6833413" cy="1045721"/>
          </a:xfrm>
          <a:prstGeom prst="rect">
            <a:avLst/>
          </a:prstGeom>
          <a:noFill/>
          <a:ln>
            <a:noFill/>
          </a:ln>
        </p:spPr>
        <p:txBody>
          <a:bodyPr anchorCtr="0" anchor="t" bIns="0" lIns="0" spcFirstLastPara="1" rIns="0" wrap="square" tIns="0">
            <a:spAutoFit/>
          </a:bodyPr>
          <a:lstStyle/>
          <a:p>
            <a:pPr indent="0" lvl="0" marL="0" marR="0" rtl="0" algn="ctr">
              <a:lnSpc>
                <a:spcPct val="96003"/>
              </a:lnSpc>
              <a:spcBef>
                <a:spcPts val="0"/>
              </a:spcBef>
              <a:spcAft>
                <a:spcPts val="0"/>
              </a:spcAft>
              <a:buNone/>
            </a:pPr>
            <a:r>
              <a:rPr b="1" i="0" lang="en-US" sz="8058" u="none" cap="none" strike="noStrike">
                <a:solidFill>
                  <a:srgbClr val="7ED957"/>
                </a:solidFill>
                <a:latin typeface="Montserrat"/>
                <a:ea typeface="Montserrat"/>
                <a:cs typeface="Montserrat"/>
                <a:sym typeface="Montserrat"/>
              </a:rPr>
              <a:t>Competition</a:t>
            </a:r>
            <a:endParaRPr/>
          </a:p>
        </p:txBody>
      </p:sp>
      <p:sp>
        <p:nvSpPr>
          <p:cNvPr id="94" name="Google Shape;94;p14"/>
          <p:cNvSpPr txBox="1"/>
          <p:nvPr/>
        </p:nvSpPr>
        <p:spPr>
          <a:xfrm>
            <a:off x="4072520" y="6033568"/>
            <a:ext cx="10142961" cy="1278624"/>
          </a:xfrm>
          <a:prstGeom prst="rect">
            <a:avLst/>
          </a:prstGeom>
          <a:noFill/>
          <a:ln>
            <a:noFill/>
          </a:ln>
        </p:spPr>
        <p:txBody>
          <a:bodyPr anchorCtr="0" anchor="t" bIns="0" lIns="0" spcFirstLastPara="1" rIns="0" wrap="square" tIns="0">
            <a:spAutoFit/>
          </a:bodyPr>
          <a:lstStyle/>
          <a:p>
            <a:pPr indent="0" lvl="0" marL="0" marR="0" rtl="0" algn="ctr">
              <a:lnSpc>
                <a:spcPct val="140038"/>
              </a:lnSpc>
              <a:spcBef>
                <a:spcPts val="0"/>
              </a:spcBef>
              <a:spcAft>
                <a:spcPts val="0"/>
              </a:spcAft>
              <a:buNone/>
            </a:pPr>
            <a:r>
              <a:rPr b="0" i="0" lang="en-US" sz="3660" u="none" cap="none" strike="noStrike">
                <a:solidFill>
                  <a:srgbClr val="FF1616"/>
                </a:solidFill>
                <a:latin typeface="Montserrat"/>
                <a:ea typeface="Montserrat"/>
                <a:cs typeface="Montserrat"/>
                <a:sym typeface="Montserrat"/>
              </a:rPr>
              <a:t>Come up with as many software as possible in 3 minutes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98" name="Shape 98"/>
        <p:cNvGrpSpPr/>
        <p:nvPr/>
      </p:nvGrpSpPr>
      <p:grpSpPr>
        <a:xfrm>
          <a:off x="0" y="0"/>
          <a:ext cx="0" cy="0"/>
          <a:chOff x="0" y="0"/>
          <a:chExt cx="0" cy="0"/>
        </a:xfrm>
      </p:grpSpPr>
      <p:sp>
        <p:nvSpPr>
          <p:cNvPr id="99" name="Google Shape;99;p15"/>
          <p:cNvSpPr/>
          <p:nvPr/>
        </p:nvSpPr>
        <p:spPr>
          <a:xfrm>
            <a:off x="5063375" y="2714241"/>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00" name="Google Shape;100;p15"/>
          <p:cNvSpPr txBox="1"/>
          <p:nvPr/>
        </p:nvSpPr>
        <p:spPr>
          <a:xfrm>
            <a:off x="5463778" y="3017602"/>
            <a:ext cx="7129303" cy="558897"/>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1" i="0" lang="en-US" sz="4274" u="none" cap="none" strike="noStrike">
                <a:solidFill>
                  <a:srgbClr val="7ED957"/>
                </a:solidFill>
                <a:latin typeface="Montserrat"/>
                <a:ea typeface="Montserrat"/>
                <a:cs typeface="Montserrat"/>
                <a:sym typeface="Montserrat"/>
              </a:rPr>
              <a:t>Definition of a Software</a:t>
            </a:r>
            <a:endParaRPr/>
          </a:p>
        </p:txBody>
      </p:sp>
      <p:sp>
        <p:nvSpPr>
          <p:cNvPr id="101" name="Google Shape;101;p15"/>
          <p:cNvSpPr txBox="1"/>
          <p:nvPr/>
        </p:nvSpPr>
        <p:spPr>
          <a:xfrm>
            <a:off x="2220634" y="3996931"/>
            <a:ext cx="13846733" cy="2207413"/>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en-US" sz="4218" u="none" cap="none" strike="noStrike">
                <a:solidFill>
                  <a:srgbClr val="FF1616"/>
                </a:solidFill>
                <a:latin typeface="Montserrat"/>
                <a:ea typeface="Montserrat"/>
                <a:cs typeface="Montserrat"/>
                <a:sym typeface="Montserrat"/>
              </a:rPr>
              <a:t>A set of instructions written in a programming language that performs one or more tasks to tell the computer what to 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05" name="Shape 105"/>
        <p:cNvGrpSpPr/>
        <p:nvPr/>
      </p:nvGrpSpPr>
      <p:grpSpPr>
        <a:xfrm>
          <a:off x="0" y="0"/>
          <a:ext cx="0" cy="0"/>
          <a:chOff x="0" y="0"/>
          <a:chExt cx="0" cy="0"/>
        </a:xfrm>
      </p:grpSpPr>
      <p:sp>
        <p:nvSpPr>
          <p:cNvPr id="106" name="Google Shape;106;p16"/>
          <p:cNvSpPr/>
          <p:nvPr/>
        </p:nvSpPr>
        <p:spPr>
          <a:xfrm>
            <a:off x="425496" y="307463"/>
            <a:ext cx="11868040" cy="1079894"/>
          </a:xfrm>
          <a:custGeom>
            <a:rect b="b" l="l" r="r" t="t"/>
            <a:pathLst>
              <a:path extrusionOk="0" h="315782" w="3470444">
                <a:moveTo>
                  <a:pt x="0" y="0"/>
                </a:moveTo>
                <a:lnTo>
                  <a:pt x="0" y="315782"/>
                </a:lnTo>
                <a:lnTo>
                  <a:pt x="3470444" y="315782"/>
                </a:lnTo>
                <a:lnTo>
                  <a:pt x="3470444" y="0"/>
                </a:lnTo>
                <a:lnTo>
                  <a:pt x="0" y="0"/>
                </a:lnTo>
                <a:close/>
                <a:moveTo>
                  <a:pt x="3409484" y="254822"/>
                </a:moveTo>
                <a:lnTo>
                  <a:pt x="59690" y="254822"/>
                </a:lnTo>
                <a:lnTo>
                  <a:pt x="59690" y="59690"/>
                </a:lnTo>
                <a:lnTo>
                  <a:pt x="3409484" y="59690"/>
                </a:lnTo>
                <a:lnTo>
                  <a:pt x="3409484" y="254822"/>
                </a:lnTo>
                <a:close/>
              </a:path>
            </a:pathLst>
          </a:custGeom>
          <a:solidFill>
            <a:srgbClr val="004AAD"/>
          </a:solidFill>
          <a:ln>
            <a:noFill/>
          </a:ln>
        </p:spPr>
      </p:sp>
      <p:pic>
        <p:nvPicPr>
          <p:cNvPr id="107" name="Google Shape;107;p16"/>
          <p:cNvPicPr preferRelativeResize="0"/>
          <p:nvPr/>
        </p:nvPicPr>
        <p:blipFill rotWithShape="1">
          <a:blip r:embed="rId3">
            <a:alphaModFix/>
          </a:blip>
          <a:srcRect b="0" l="0" r="0" t="0"/>
          <a:stretch/>
        </p:blipFill>
        <p:spPr>
          <a:xfrm>
            <a:off x="6359516" y="1568612"/>
            <a:ext cx="6532395" cy="8371143"/>
          </a:xfrm>
          <a:prstGeom prst="rect">
            <a:avLst/>
          </a:prstGeom>
          <a:noFill/>
          <a:ln>
            <a:noFill/>
          </a:ln>
        </p:spPr>
      </p:pic>
      <p:sp>
        <p:nvSpPr>
          <p:cNvPr id="108" name="Google Shape;108;p16"/>
          <p:cNvSpPr txBox="1"/>
          <p:nvPr/>
        </p:nvSpPr>
        <p:spPr>
          <a:xfrm>
            <a:off x="895434" y="665175"/>
            <a:ext cx="10928164" cy="440669"/>
          </a:xfrm>
          <a:prstGeom prst="rect">
            <a:avLst/>
          </a:prstGeom>
          <a:noFill/>
          <a:ln>
            <a:noFill/>
          </a:ln>
        </p:spPr>
        <p:txBody>
          <a:bodyPr anchorCtr="0" anchor="t" bIns="0" lIns="0" spcFirstLastPara="1" rIns="0" wrap="square" tIns="0">
            <a:spAutoFit/>
          </a:bodyPr>
          <a:lstStyle/>
          <a:p>
            <a:pPr indent="0" lvl="0" marL="0" marR="0" rtl="0" algn="ctr">
              <a:lnSpc>
                <a:spcPct val="96014"/>
              </a:lnSpc>
              <a:spcBef>
                <a:spcPts val="0"/>
              </a:spcBef>
              <a:spcAft>
                <a:spcPts val="0"/>
              </a:spcAft>
              <a:buNone/>
            </a:pPr>
            <a:r>
              <a:rPr b="0" i="0" lang="en-US" sz="3412" u="none" cap="none" strike="noStrike">
                <a:solidFill>
                  <a:srgbClr val="7ED957"/>
                </a:solidFill>
                <a:latin typeface="Arial"/>
                <a:ea typeface="Arial"/>
                <a:cs typeface="Arial"/>
                <a:sym typeface="Arial"/>
              </a:rPr>
              <a:t>"Inner look" on  software - 2048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12" name="Shape 112"/>
        <p:cNvGrpSpPr/>
        <p:nvPr/>
      </p:nvGrpSpPr>
      <p:grpSpPr>
        <a:xfrm>
          <a:off x="0" y="0"/>
          <a:ext cx="0" cy="0"/>
          <a:chOff x="0" y="0"/>
          <a:chExt cx="0" cy="0"/>
        </a:xfrm>
      </p:grpSpPr>
      <p:sp>
        <p:nvSpPr>
          <p:cNvPr id="113" name="Google Shape;113;p17"/>
          <p:cNvSpPr/>
          <p:nvPr/>
        </p:nvSpPr>
        <p:spPr>
          <a:xfrm>
            <a:off x="425496" y="307463"/>
            <a:ext cx="11868040" cy="1079894"/>
          </a:xfrm>
          <a:custGeom>
            <a:rect b="b" l="l" r="r" t="t"/>
            <a:pathLst>
              <a:path extrusionOk="0" h="315782" w="3470444">
                <a:moveTo>
                  <a:pt x="0" y="0"/>
                </a:moveTo>
                <a:lnTo>
                  <a:pt x="0" y="315782"/>
                </a:lnTo>
                <a:lnTo>
                  <a:pt x="3470444" y="315782"/>
                </a:lnTo>
                <a:lnTo>
                  <a:pt x="3470444" y="0"/>
                </a:lnTo>
                <a:lnTo>
                  <a:pt x="0" y="0"/>
                </a:lnTo>
                <a:close/>
                <a:moveTo>
                  <a:pt x="3409484" y="254822"/>
                </a:moveTo>
                <a:lnTo>
                  <a:pt x="59690" y="254822"/>
                </a:lnTo>
                <a:lnTo>
                  <a:pt x="59690" y="59690"/>
                </a:lnTo>
                <a:lnTo>
                  <a:pt x="3409484" y="59690"/>
                </a:lnTo>
                <a:lnTo>
                  <a:pt x="3409484" y="254822"/>
                </a:lnTo>
                <a:close/>
              </a:path>
            </a:pathLst>
          </a:custGeom>
          <a:solidFill>
            <a:srgbClr val="004AAD"/>
          </a:solidFill>
          <a:ln>
            <a:noFill/>
          </a:ln>
        </p:spPr>
      </p:sp>
      <p:pic>
        <p:nvPicPr>
          <p:cNvPr id="114" name="Google Shape;114;p17"/>
          <p:cNvPicPr preferRelativeResize="0"/>
          <p:nvPr/>
        </p:nvPicPr>
        <p:blipFill rotWithShape="1">
          <a:blip r:embed="rId3">
            <a:alphaModFix/>
          </a:blip>
          <a:srcRect b="0" l="0" r="0" t="0"/>
          <a:stretch/>
        </p:blipFill>
        <p:spPr>
          <a:xfrm>
            <a:off x="4745606" y="1577905"/>
            <a:ext cx="9091558" cy="7131191"/>
          </a:xfrm>
          <a:prstGeom prst="rect">
            <a:avLst/>
          </a:prstGeom>
          <a:noFill/>
          <a:ln>
            <a:noFill/>
          </a:ln>
        </p:spPr>
      </p:pic>
      <p:sp>
        <p:nvSpPr>
          <p:cNvPr id="115" name="Google Shape;115;p17"/>
          <p:cNvSpPr txBox="1"/>
          <p:nvPr/>
        </p:nvSpPr>
        <p:spPr>
          <a:xfrm>
            <a:off x="895434" y="665175"/>
            <a:ext cx="10928164" cy="440669"/>
          </a:xfrm>
          <a:prstGeom prst="rect">
            <a:avLst/>
          </a:prstGeom>
          <a:noFill/>
          <a:ln>
            <a:noFill/>
          </a:ln>
        </p:spPr>
        <p:txBody>
          <a:bodyPr anchorCtr="0" anchor="t" bIns="0" lIns="0" spcFirstLastPara="1" rIns="0" wrap="square" tIns="0">
            <a:spAutoFit/>
          </a:bodyPr>
          <a:lstStyle/>
          <a:p>
            <a:pPr indent="0" lvl="0" marL="0" marR="0" rtl="0" algn="ctr">
              <a:lnSpc>
                <a:spcPct val="96014"/>
              </a:lnSpc>
              <a:spcBef>
                <a:spcPts val="0"/>
              </a:spcBef>
              <a:spcAft>
                <a:spcPts val="0"/>
              </a:spcAft>
              <a:buNone/>
            </a:pPr>
            <a:r>
              <a:rPr b="0" i="0" lang="en-US" sz="3412" u="none" cap="none" strike="noStrike">
                <a:solidFill>
                  <a:srgbClr val="7ED957"/>
                </a:solidFill>
                <a:latin typeface="Arial"/>
                <a:ea typeface="Arial"/>
                <a:cs typeface="Arial"/>
                <a:sym typeface="Arial"/>
              </a:rPr>
              <a:t>"Inner look" on  software - basic shop</a:t>
            </a:r>
            <a:endParaRPr/>
          </a:p>
        </p:txBody>
      </p:sp>
      <p:sp>
        <p:nvSpPr>
          <p:cNvPr id="116" name="Google Shape;116;p17"/>
          <p:cNvSpPr txBox="1"/>
          <p:nvPr/>
        </p:nvSpPr>
        <p:spPr>
          <a:xfrm>
            <a:off x="1474189" y="8702361"/>
            <a:ext cx="15634392" cy="1314851"/>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0" i="0" lang="en-US" sz="3783" u="none" cap="none" strike="noStrike">
                <a:solidFill>
                  <a:srgbClr val="FF1616"/>
                </a:solidFill>
                <a:latin typeface="Arial"/>
                <a:ea typeface="Arial"/>
                <a:cs typeface="Arial"/>
                <a:sym typeface="Arial"/>
              </a:rPr>
              <a:t>Code that will be run when the player decides to buy an item</a:t>
            </a:r>
            <a:endParaRPr/>
          </a:p>
          <a:p>
            <a:pPr indent="0" lvl="0" marL="0" marR="0" rtl="0" algn="ctr">
              <a:lnSpc>
                <a:spcPct val="139994"/>
              </a:lnSpc>
              <a:spcBef>
                <a:spcPts val="0"/>
              </a:spcBef>
              <a:spcAft>
                <a:spcPts val="0"/>
              </a:spcAft>
              <a:buNone/>
            </a:pPr>
            <a:r>
              <a:rPr b="0" i="0" lang="en-US" sz="3783" u="none" cap="none" strike="noStrike">
                <a:solidFill>
                  <a:srgbClr val="FF1616"/>
                </a:solidFill>
                <a:latin typeface="Arial"/>
                <a:ea typeface="Arial"/>
                <a:cs typeface="Arial"/>
                <a:sym typeface="Arial"/>
              </a:rPr>
              <a:t>- JUST ONE ACTION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20" name="Shape 120"/>
        <p:cNvGrpSpPr/>
        <p:nvPr/>
      </p:nvGrpSpPr>
      <p:grpSpPr>
        <a:xfrm>
          <a:off x="0" y="0"/>
          <a:ext cx="0" cy="0"/>
          <a:chOff x="0" y="0"/>
          <a:chExt cx="0" cy="0"/>
        </a:xfrm>
      </p:grpSpPr>
      <p:sp>
        <p:nvSpPr>
          <p:cNvPr id="121" name="Google Shape;121;p18"/>
          <p:cNvSpPr/>
          <p:nvPr/>
        </p:nvSpPr>
        <p:spPr>
          <a:xfrm>
            <a:off x="669465" y="4514267"/>
            <a:ext cx="8019261" cy="1974351"/>
          </a:xfrm>
          <a:custGeom>
            <a:rect b="b" l="l" r="r" t="t"/>
            <a:pathLst>
              <a:path extrusionOk="0" h="566909" w="2302624">
                <a:moveTo>
                  <a:pt x="0" y="0"/>
                </a:moveTo>
                <a:lnTo>
                  <a:pt x="0" y="566909"/>
                </a:lnTo>
                <a:lnTo>
                  <a:pt x="2302624" y="566909"/>
                </a:lnTo>
                <a:lnTo>
                  <a:pt x="2302624" y="0"/>
                </a:lnTo>
                <a:lnTo>
                  <a:pt x="0" y="0"/>
                </a:lnTo>
                <a:close/>
                <a:moveTo>
                  <a:pt x="2241664" y="505949"/>
                </a:moveTo>
                <a:lnTo>
                  <a:pt x="59690" y="505949"/>
                </a:lnTo>
                <a:lnTo>
                  <a:pt x="59690" y="59690"/>
                </a:lnTo>
                <a:lnTo>
                  <a:pt x="2241664" y="59690"/>
                </a:lnTo>
                <a:lnTo>
                  <a:pt x="2241664" y="505949"/>
                </a:lnTo>
                <a:close/>
              </a:path>
            </a:pathLst>
          </a:custGeom>
          <a:solidFill>
            <a:srgbClr val="004AAD"/>
          </a:solidFill>
          <a:ln>
            <a:noFill/>
          </a:ln>
        </p:spPr>
      </p:sp>
      <p:sp>
        <p:nvSpPr>
          <p:cNvPr id="122" name="Google Shape;122;p18"/>
          <p:cNvSpPr txBox="1"/>
          <p:nvPr/>
        </p:nvSpPr>
        <p:spPr>
          <a:xfrm>
            <a:off x="3579393" y="2935103"/>
            <a:ext cx="11129215" cy="458365"/>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1" i="0" lang="en-US" sz="3475" u="none" cap="none" strike="noStrike">
                <a:solidFill>
                  <a:srgbClr val="7ED957"/>
                </a:solidFill>
                <a:latin typeface="Montserrat"/>
                <a:ea typeface="Montserrat"/>
                <a:cs typeface="Montserrat"/>
                <a:sym typeface="Montserrat"/>
              </a:rPr>
              <a:t>Classification of Software</a:t>
            </a:r>
            <a:endParaRPr/>
          </a:p>
        </p:txBody>
      </p:sp>
      <p:sp>
        <p:nvSpPr>
          <p:cNvPr id="123" name="Google Shape;123;p18"/>
          <p:cNvSpPr/>
          <p:nvPr/>
        </p:nvSpPr>
        <p:spPr>
          <a:xfrm>
            <a:off x="9599274" y="4514267"/>
            <a:ext cx="8019261" cy="1974351"/>
          </a:xfrm>
          <a:custGeom>
            <a:rect b="b" l="l" r="r" t="t"/>
            <a:pathLst>
              <a:path extrusionOk="0" h="566909" w="2302624">
                <a:moveTo>
                  <a:pt x="0" y="0"/>
                </a:moveTo>
                <a:lnTo>
                  <a:pt x="0" y="566909"/>
                </a:lnTo>
                <a:lnTo>
                  <a:pt x="2302624" y="566909"/>
                </a:lnTo>
                <a:lnTo>
                  <a:pt x="2302624" y="0"/>
                </a:lnTo>
                <a:lnTo>
                  <a:pt x="0" y="0"/>
                </a:lnTo>
                <a:close/>
                <a:moveTo>
                  <a:pt x="2241664" y="505949"/>
                </a:moveTo>
                <a:lnTo>
                  <a:pt x="59690" y="505949"/>
                </a:lnTo>
                <a:lnTo>
                  <a:pt x="59690" y="59690"/>
                </a:lnTo>
                <a:lnTo>
                  <a:pt x="2241664" y="59690"/>
                </a:lnTo>
                <a:lnTo>
                  <a:pt x="2241664" y="505949"/>
                </a:lnTo>
                <a:close/>
              </a:path>
            </a:pathLst>
          </a:custGeom>
          <a:solidFill>
            <a:srgbClr val="004AAD"/>
          </a:solidFill>
          <a:ln>
            <a:noFill/>
          </a:ln>
        </p:spPr>
      </p:sp>
      <p:sp>
        <p:nvSpPr>
          <p:cNvPr id="124" name="Google Shape;124;p18"/>
          <p:cNvSpPr txBox="1"/>
          <p:nvPr/>
        </p:nvSpPr>
        <p:spPr>
          <a:xfrm>
            <a:off x="2396631" y="5304924"/>
            <a:ext cx="4564928" cy="459715"/>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3475" u="none" cap="none" strike="noStrike">
                <a:solidFill>
                  <a:srgbClr val="FF1616"/>
                </a:solidFill>
                <a:latin typeface="Arial"/>
                <a:ea typeface="Arial"/>
                <a:cs typeface="Arial"/>
                <a:sym typeface="Arial"/>
              </a:rPr>
              <a:t>System Software </a:t>
            </a:r>
            <a:endParaRPr/>
          </a:p>
        </p:txBody>
      </p:sp>
      <p:sp>
        <p:nvSpPr>
          <p:cNvPr id="125" name="Google Shape;125;p18"/>
          <p:cNvSpPr txBox="1"/>
          <p:nvPr/>
        </p:nvSpPr>
        <p:spPr>
          <a:xfrm>
            <a:off x="11525359" y="5094700"/>
            <a:ext cx="4564928" cy="880164"/>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3475" u="none" cap="none" strike="noStrike">
                <a:solidFill>
                  <a:srgbClr val="FF1616"/>
                </a:solidFill>
                <a:latin typeface="Arial"/>
                <a:ea typeface="Arial"/>
                <a:cs typeface="Arial"/>
                <a:sym typeface="Arial"/>
              </a:rPr>
              <a:t>Application Software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29" name="Shape 129"/>
        <p:cNvGrpSpPr/>
        <p:nvPr/>
      </p:nvGrpSpPr>
      <p:grpSpPr>
        <a:xfrm>
          <a:off x="0" y="0"/>
          <a:ext cx="0" cy="0"/>
          <a:chOff x="0" y="0"/>
          <a:chExt cx="0" cy="0"/>
        </a:xfrm>
      </p:grpSpPr>
      <p:sp>
        <p:nvSpPr>
          <p:cNvPr id="130" name="Google Shape;130;p19"/>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31" name="Google Shape;131;p19"/>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132" name="Google Shape;132;p19"/>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133" name="Google Shape;133;p19"/>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134" name="Google Shape;134;p19"/>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38" name="Shape 138"/>
        <p:cNvGrpSpPr/>
        <p:nvPr/>
      </p:nvGrpSpPr>
      <p:grpSpPr>
        <a:xfrm>
          <a:off x="0" y="0"/>
          <a:ext cx="0" cy="0"/>
          <a:chOff x="0" y="0"/>
          <a:chExt cx="0" cy="0"/>
        </a:xfrm>
      </p:grpSpPr>
      <p:sp>
        <p:nvSpPr>
          <p:cNvPr id="139" name="Google Shape;139;p20"/>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40" name="Google Shape;140;p20"/>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141" name="Google Shape;141;p20"/>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142" name="Google Shape;142;p20"/>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143" name="Google Shape;143;p20"/>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
        <p:nvSpPr>
          <p:cNvPr id="144" name="Google Shape;144;p20"/>
          <p:cNvSpPr/>
          <p:nvPr/>
        </p:nvSpPr>
        <p:spPr>
          <a:xfrm>
            <a:off x="8465273" y="2432707"/>
            <a:ext cx="9219257" cy="7439386"/>
          </a:xfrm>
          <a:custGeom>
            <a:rect b="b" l="l" r="r" t="t"/>
            <a:pathLst>
              <a:path extrusionOk="0" h="2175420" w="2695888">
                <a:moveTo>
                  <a:pt x="0" y="0"/>
                </a:moveTo>
                <a:lnTo>
                  <a:pt x="0" y="2175420"/>
                </a:lnTo>
                <a:lnTo>
                  <a:pt x="2695888" y="2175420"/>
                </a:lnTo>
                <a:lnTo>
                  <a:pt x="2695888" y="0"/>
                </a:lnTo>
                <a:lnTo>
                  <a:pt x="0" y="0"/>
                </a:lnTo>
                <a:close/>
                <a:moveTo>
                  <a:pt x="2634928" y="2114460"/>
                </a:moveTo>
                <a:lnTo>
                  <a:pt x="59690" y="2114460"/>
                </a:lnTo>
                <a:lnTo>
                  <a:pt x="59690" y="59690"/>
                </a:lnTo>
                <a:lnTo>
                  <a:pt x="2634929" y="59690"/>
                </a:lnTo>
                <a:lnTo>
                  <a:pt x="2634929" y="2114460"/>
                </a:lnTo>
                <a:close/>
              </a:path>
            </a:pathLst>
          </a:custGeom>
          <a:solidFill>
            <a:srgbClr val="FF1616"/>
          </a:solidFill>
          <a:ln>
            <a:noFill/>
          </a:ln>
        </p:spPr>
      </p:sp>
      <p:sp>
        <p:nvSpPr>
          <p:cNvPr id="145" name="Google Shape;145;p20"/>
          <p:cNvSpPr txBox="1"/>
          <p:nvPr/>
        </p:nvSpPr>
        <p:spPr>
          <a:xfrm>
            <a:off x="8746227" y="2618242"/>
            <a:ext cx="8657350" cy="1443555"/>
          </a:xfrm>
          <a:prstGeom prst="rect">
            <a:avLst/>
          </a:prstGeom>
          <a:noFill/>
          <a:ln>
            <a:noFill/>
          </a:ln>
        </p:spPr>
        <p:txBody>
          <a:bodyPr anchorCtr="0" anchor="t" bIns="0" lIns="0" spcFirstLastPara="1" rIns="0" wrap="square" tIns="0">
            <a:spAutoFit/>
          </a:bodyPr>
          <a:lstStyle/>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Basic Input Output System (BIOS) - installed in ROM. Enables all of the attached components to initialise. Known as firmware.</a:t>
            </a:r>
            <a:endParaRPr/>
          </a:p>
        </p:txBody>
      </p:sp>
      <p:sp>
        <p:nvSpPr>
          <p:cNvPr id="146" name="Google Shape;146;p20"/>
          <p:cNvSpPr txBox="1"/>
          <p:nvPr/>
        </p:nvSpPr>
        <p:spPr>
          <a:xfrm>
            <a:off x="8465273" y="1738517"/>
            <a:ext cx="3745458"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Example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50" name="Shape 150"/>
        <p:cNvGrpSpPr/>
        <p:nvPr/>
      </p:nvGrpSpPr>
      <p:grpSpPr>
        <a:xfrm>
          <a:off x="0" y="0"/>
          <a:ext cx="0" cy="0"/>
          <a:chOff x="0" y="0"/>
          <a:chExt cx="0" cy="0"/>
        </a:xfrm>
      </p:grpSpPr>
      <p:sp>
        <p:nvSpPr>
          <p:cNvPr id="151" name="Google Shape;151;p21"/>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52" name="Google Shape;152;p21"/>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153" name="Google Shape;153;p21"/>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154" name="Google Shape;154;p21"/>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155" name="Google Shape;155;p21"/>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
        <p:nvSpPr>
          <p:cNvPr id="156" name="Google Shape;156;p21"/>
          <p:cNvSpPr/>
          <p:nvPr/>
        </p:nvSpPr>
        <p:spPr>
          <a:xfrm>
            <a:off x="8465273" y="2432707"/>
            <a:ext cx="9219257" cy="7439386"/>
          </a:xfrm>
          <a:custGeom>
            <a:rect b="b" l="l" r="r" t="t"/>
            <a:pathLst>
              <a:path extrusionOk="0" h="2175420" w="2695888">
                <a:moveTo>
                  <a:pt x="0" y="0"/>
                </a:moveTo>
                <a:lnTo>
                  <a:pt x="0" y="2175420"/>
                </a:lnTo>
                <a:lnTo>
                  <a:pt x="2695888" y="2175420"/>
                </a:lnTo>
                <a:lnTo>
                  <a:pt x="2695888" y="0"/>
                </a:lnTo>
                <a:lnTo>
                  <a:pt x="0" y="0"/>
                </a:lnTo>
                <a:close/>
                <a:moveTo>
                  <a:pt x="2634928" y="2114460"/>
                </a:moveTo>
                <a:lnTo>
                  <a:pt x="59690" y="2114460"/>
                </a:lnTo>
                <a:lnTo>
                  <a:pt x="59690" y="59690"/>
                </a:lnTo>
                <a:lnTo>
                  <a:pt x="2634929" y="59690"/>
                </a:lnTo>
                <a:lnTo>
                  <a:pt x="2634929" y="2114460"/>
                </a:lnTo>
                <a:close/>
              </a:path>
            </a:pathLst>
          </a:custGeom>
          <a:solidFill>
            <a:srgbClr val="FF1616"/>
          </a:solidFill>
          <a:ln>
            <a:noFill/>
          </a:ln>
        </p:spPr>
      </p:sp>
      <p:sp>
        <p:nvSpPr>
          <p:cNvPr id="157" name="Google Shape;157;p21"/>
          <p:cNvSpPr txBox="1"/>
          <p:nvPr/>
        </p:nvSpPr>
        <p:spPr>
          <a:xfrm>
            <a:off x="8746227" y="2618242"/>
            <a:ext cx="8657350" cy="2414906"/>
          </a:xfrm>
          <a:prstGeom prst="rect">
            <a:avLst/>
          </a:prstGeom>
          <a:noFill/>
          <a:ln>
            <a:noFill/>
          </a:ln>
        </p:spPr>
        <p:txBody>
          <a:bodyPr anchorCtr="0" anchor="t" bIns="0" lIns="0" spcFirstLastPara="1" rIns="0" wrap="square" tIns="0">
            <a:spAutoFit/>
          </a:bodyPr>
          <a:lstStyle/>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Basic Input Output System (BIOS) - installed in ROM. Enables all of the attached components to initialise. Known as firmware.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Operating System - MAC, Windows, Android, iOS.</a:t>
            </a:r>
            <a:endParaRPr/>
          </a:p>
        </p:txBody>
      </p:sp>
      <p:sp>
        <p:nvSpPr>
          <p:cNvPr id="158" name="Google Shape;158;p21"/>
          <p:cNvSpPr txBox="1"/>
          <p:nvPr/>
        </p:nvSpPr>
        <p:spPr>
          <a:xfrm>
            <a:off x="8465273" y="1738517"/>
            <a:ext cx="3745458"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Example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62" name="Shape 162"/>
        <p:cNvGrpSpPr/>
        <p:nvPr/>
      </p:nvGrpSpPr>
      <p:grpSpPr>
        <a:xfrm>
          <a:off x="0" y="0"/>
          <a:ext cx="0" cy="0"/>
          <a:chOff x="0" y="0"/>
          <a:chExt cx="0" cy="0"/>
        </a:xfrm>
      </p:grpSpPr>
      <p:sp>
        <p:nvSpPr>
          <p:cNvPr id="163" name="Google Shape;163;p22"/>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64" name="Google Shape;164;p22"/>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165" name="Google Shape;165;p22"/>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166" name="Google Shape;166;p22"/>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167" name="Google Shape;167;p22"/>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
        <p:nvSpPr>
          <p:cNvPr id="168" name="Google Shape;168;p22"/>
          <p:cNvSpPr/>
          <p:nvPr/>
        </p:nvSpPr>
        <p:spPr>
          <a:xfrm>
            <a:off x="8465273" y="2432707"/>
            <a:ext cx="9219257" cy="7439386"/>
          </a:xfrm>
          <a:custGeom>
            <a:rect b="b" l="l" r="r" t="t"/>
            <a:pathLst>
              <a:path extrusionOk="0" h="2175420" w="2695888">
                <a:moveTo>
                  <a:pt x="0" y="0"/>
                </a:moveTo>
                <a:lnTo>
                  <a:pt x="0" y="2175420"/>
                </a:lnTo>
                <a:lnTo>
                  <a:pt x="2695888" y="2175420"/>
                </a:lnTo>
                <a:lnTo>
                  <a:pt x="2695888" y="0"/>
                </a:lnTo>
                <a:lnTo>
                  <a:pt x="0" y="0"/>
                </a:lnTo>
                <a:close/>
                <a:moveTo>
                  <a:pt x="2634928" y="2114460"/>
                </a:moveTo>
                <a:lnTo>
                  <a:pt x="59690" y="2114460"/>
                </a:lnTo>
                <a:lnTo>
                  <a:pt x="59690" y="59690"/>
                </a:lnTo>
                <a:lnTo>
                  <a:pt x="2634929" y="59690"/>
                </a:lnTo>
                <a:lnTo>
                  <a:pt x="2634929" y="2114460"/>
                </a:lnTo>
                <a:close/>
              </a:path>
            </a:pathLst>
          </a:custGeom>
          <a:solidFill>
            <a:srgbClr val="FF1616"/>
          </a:solidFill>
          <a:ln>
            <a:noFill/>
          </a:ln>
        </p:spPr>
      </p:sp>
      <p:sp>
        <p:nvSpPr>
          <p:cNvPr id="169" name="Google Shape;169;p22"/>
          <p:cNvSpPr txBox="1"/>
          <p:nvPr/>
        </p:nvSpPr>
        <p:spPr>
          <a:xfrm>
            <a:off x="8746227" y="2618242"/>
            <a:ext cx="8657350" cy="4357610"/>
          </a:xfrm>
          <a:prstGeom prst="rect">
            <a:avLst/>
          </a:prstGeom>
          <a:noFill/>
          <a:ln>
            <a:noFill/>
          </a:ln>
        </p:spPr>
        <p:txBody>
          <a:bodyPr anchorCtr="0" anchor="t" bIns="0" lIns="0" spcFirstLastPara="1" rIns="0" wrap="square" tIns="0">
            <a:spAutoFit/>
          </a:bodyPr>
          <a:lstStyle/>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Basic Input Output System (BIOS) - installed in ROM. Enables all of the attached components to initialise. Known as firmware.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Operating System - MAC, Windows, Android, iOS.</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Device Driver (Part of the OS or Installed manually) - A software that enables hardwares to communicate with the operating system (Plug and play).</a:t>
            </a:r>
            <a:endParaRPr/>
          </a:p>
        </p:txBody>
      </p:sp>
      <p:sp>
        <p:nvSpPr>
          <p:cNvPr id="170" name="Google Shape;170;p22"/>
          <p:cNvSpPr txBox="1"/>
          <p:nvPr/>
        </p:nvSpPr>
        <p:spPr>
          <a:xfrm>
            <a:off x="8465273" y="1738517"/>
            <a:ext cx="3745458"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Example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74" name="Shape 174"/>
        <p:cNvGrpSpPr/>
        <p:nvPr/>
      </p:nvGrpSpPr>
      <p:grpSpPr>
        <a:xfrm>
          <a:off x="0" y="0"/>
          <a:ext cx="0" cy="0"/>
          <a:chOff x="0" y="0"/>
          <a:chExt cx="0" cy="0"/>
        </a:xfrm>
      </p:grpSpPr>
      <p:sp>
        <p:nvSpPr>
          <p:cNvPr id="175" name="Google Shape;175;p23"/>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76" name="Google Shape;176;p23"/>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177" name="Google Shape;177;p23"/>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178" name="Google Shape;178;p23"/>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179" name="Google Shape;179;p23"/>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
        <p:nvSpPr>
          <p:cNvPr id="180" name="Google Shape;180;p23"/>
          <p:cNvSpPr/>
          <p:nvPr/>
        </p:nvSpPr>
        <p:spPr>
          <a:xfrm>
            <a:off x="8465273" y="2432707"/>
            <a:ext cx="9219257" cy="7439386"/>
          </a:xfrm>
          <a:custGeom>
            <a:rect b="b" l="l" r="r" t="t"/>
            <a:pathLst>
              <a:path extrusionOk="0" h="2175420" w="2695888">
                <a:moveTo>
                  <a:pt x="0" y="0"/>
                </a:moveTo>
                <a:lnTo>
                  <a:pt x="0" y="2175420"/>
                </a:lnTo>
                <a:lnTo>
                  <a:pt x="2695888" y="2175420"/>
                </a:lnTo>
                <a:lnTo>
                  <a:pt x="2695888" y="0"/>
                </a:lnTo>
                <a:lnTo>
                  <a:pt x="0" y="0"/>
                </a:lnTo>
                <a:close/>
                <a:moveTo>
                  <a:pt x="2634928" y="2114460"/>
                </a:moveTo>
                <a:lnTo>
                  <a:pt x="59690" y="2114460"/>
                </a:lnTo>
                <a:lnTo>
                  <a:pt x="59690" y="59690"/>
                </a:lnTo>
                <a:lnTo>
                  <a:pt x="2634929" y="59690"/>
                </a:lnTo>
                <a:lnTo>
                  <a:pt x="2634929" y="2114460"/>
                </a:lnTo>
                <a:close/>
              </a:path>
            </a:pathLst>
          </a:custGeom>
          <a:solidFill>
            <a:srgbClr val="FF1616"/>
          </a:solidFill>
          <a:ln>
            <a:noFill/>
          </a:ln>
        </p:spPr>
      </p:sp>
      <p:sp>
        <p:nvSpPr>
          <p:cNvPr id="181" name="Google Shape;181;p23"/>
          <p:cNvSpPr txBox="1"/>
          <p:nvPr/>
        </p:nvSpPr>
        <p:spPr>
          <a:xfrm>
            <a:off x="8746227" y="2618242"/>
            <a:ext cx="8657350" cy="5814637"/>
          </a:xfrm>
          <a:prstGeom prst="rect">
            <a:avLst/>
          </a:prstGeom>
          <a:noFill/>
          <a:ln>
            <a:noFill/>
          </a:ln>
        </p:spPr>
        <p:txBody>
          <a:bodyPr anchorCtr="0" anchor="t" bIns="0" lIns="0" spcFirstLastPara="1" rIns="0" wrap="square" tIns="0">
            <a:spAutoFit/>
          </a:bodyPr>
          <a:lstStyle/>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Basic Input Output System (BIOS) - installed in ROM. Enables all of the attached components to initialise. Known as firmware.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Operating System - MAC, Windows, Android, iOS.</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Device Driver (Part of the OS or Installed manually) - A software that enables hardwares to communicate with the operating system (Plug and play).</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Compilers - Translate high-level programming language into machine code.</a:t>
            </a:r>
            <a:endParaRPr/>
          </a:p>
          <a:p>
            <a:pPr indent="0" lvl="0" marL="0" marR="0" rtl="0" algn="l">
              <a:lnSpc>
                <a:spcPct val="140000"/>
              </a:lnSpc>
              <a:spcBef>
                <a:spcPts val="0"/>
              </a:spcBef>
              <a:spcAft>
                <a:spcPts val="0"/>
              </a:spcAft>
              <a:buNone/>
            </a:pPr>
            <a:r>
              <a:t/>
            </a:r>
            <a:endParaRPr b="0" i="0" sz="2780" u="none" cap="none" strike="noStrike">
              <a:solidFill>
                <a:srgbClr val="FFDE59"/>
              </a:solidFill>
              <a:latin typeface="Montserrat"/>
              <a:ea typeface="Montserrat"/>
              <a:cs typeface="Montserrat"/>
              <a:sym typeface="Montserrat"/>
            </a:endParaRPr>
          </a:p>
        </p:txBody>
      </p:sp>
      <p:sp>
        <p:nvSpPr>
          <p:cNvPr id="182" name="Google Shape;182;p23"/>
          <p:cNvSpPr txBox="1"/>
          <p:nvPr/>
        </p:nvSpPr>
        <p:spPr>
          <a:xfrm>
            <a:off x="8465273" y="1738517"/>
            <a:ext cx="3745458"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Example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86" name="Shape 186"/>
        <p:cNvGrpSpPr/>
        <p:nvPr/>
      </p:nvGrpSpPr>
      <p:grpSpPr>
        <a:xfrm>
          <a:off x="0" y="0"/>
          <a:ext cx="0" cy="0"/>
          <a:chOff x="0" y="0"/>
          <a:chExt cx="0" cy="0"/>
        </a:xfrm>
      </p:grpSpPr>
      <p:sp>
        <p:nvSpPr>
          <p:cNvPr id="187" name="Google Shape;187;p24"/>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188" name="Google Shape;188;p24"/>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189" name="Google Shape;189;p24"/>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190" name="Google Shape;190;p24"/>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191" name="Google Shape;191;p24"/>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
        <p:nvSpPr>
          <p:cNvPr id="192" name="Google Shape;192;p24"/>
          <p:cNvSpPr/>
          <p:nvPr/>
        </p:nvSpPr>
        <p:spPr>
          <a:xfrm>
            <a:off x="8465273" y="2432707"/>
            <a:ext cx="9219257" cy="7439386"/>
          </a:xfrm>
          <a:custGeom>
            <a:rect b="b" l="l" r="r" t="t"/>
            <a:pathLst>
              <a:path extrusionOk="0" h="2175420" w="2695888">
                <a:moveTo>
                  <a:pt x="0" y="0"/>
                </a:moveTo>
                <a:lnTo>
                  <a:pt x="0" y="2175420"/>
                </a:lnTo>
                <a:lnTo>
                  <a:pt x="2695888" y="2175420"/>
                </a:lnTo>
                <a:lnTo>
                  <a:pt x="2695888" y="0"/>
                </a:lnTo>
                <a:lnTo>
                  <a:pt x="0" y="0"/>
                </a:lnTo>
                <a:close/>
                <a:moveTo>
                  <a:pt x="2634928" y="2114460"/>
                </a:moveTo>
                <a:lnTo>
                  <a:pt x="59690" y="2114460"/>
                </a:lnTo>
                <a:lnTo>
                  <a:pt x="59690" y="59690"/>
                </a:lnTo>
                <a:lnTo>
                  <a:pt x="2634929" y="59690"/>
                </a:lnTo>
                <a:lnTo>
                  <a:pt x="2634929" y="2114460"/>
                </a:lnTo>
                <a:close/>
              </a:path>
            </a:pathLst>
          </a:custGeom>
          <a:solidFill>
            <a:srgbClr val="FF1616"/>
          </a:solidFill>
          <a:ln>
            <a:noFill/>
          </a:ln>
        </p:spPr>
      </p:sp>
      <p:sp>
        <p:nvSpPr>
          <p:cNvPr id="193" name="Google Shape;193;p24"/>
          <p:cNvSpPr txBox="1"/>
          <p:nvPr/>
        </p:nvSpPr>
        <p:spPr>
          <a:xfrm>
            <a:off x="8746227" y="2618242"/>
            <a:ext cx="8657350" cy="6300313"/>
          </a:xfrm>
          <a:prstGeom prst="rect">
            <a:avLst/>
          </a:prstGeom>
          <a:noFill/>
          <a:ln>
            <a:noFill/>
          </a:ln>
        </p:spPr>
        <p:txBody>
          <a:bodyPr anchorCtr="0" anchor="t" bIns="0" lIns="0" spcFirstLastPara="1" rIns="0" wrap="square" tIns="0">
            <a:spAutoFit/>
          </a:bodyPr>
          <a:lstStyle/>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Basic Input Output System (BIOS) - installed in ROM. Enables all of the attached components to initialise. Known as firmware.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Operating System - MAC, Windows, Android, iOS.</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Device Driver (Part of the OS or Installed manually) - A software that enables hardwares to communicate with the operating system (Plug and play).</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Compilers - Translate high-level programming language into machine code.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Utilities Software - Built into the operating system to carry out a specific task.</a:t>
            </a:r>
            <a:endParaRPr/>
          </a:p>
        </p:txBody>
      </p:sp>
      <p:sp>
        <p:nvSpPr>
          <p:cNvPr id="194" name="Google Shape;194;p24"/>
          <p:cNvSpPr txBox="1"/>
          <p:nvPr/>
        </p:nvSpPr>
        <p:spPr>
          <a:xfrm>
            <a:off x="8465273" y="1738517"/>
            <a:ext cx="3745458"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Example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198" name="Shape 198"/>
        <p:cNvGrpSpPr/>
        <p:nvPr/>
      </p:nvGrpSpPr>
      <p:grpSpPr>
        <a:xfrm>
          <a:off x="0" y="0"/>
          <a:ext cx="0" cy="0"/>
          <a:chOff x="0" y="0"/>
          <a:chExt cx="0" cy="0"/>
        </a:xfrm>
      </p:grpSpPr>
      <p:sp>
        <p:nvSpPr>
          <p:cNvPr id="199" name="Google Shape;199;p25"/>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004AAD"/>
          </a:solidFill>
          <a:ln>
            <a:noFill/>
          </a:ln>
        </p:spPr>
      </p:sp>
      <p:sp>
        <p:nvSpPr>
          <p:cNvPr id="200" name="Google Shape;200;p25"/>
          <p:cNvSpPr txBox="1"/>
          <p:nvPr/>
        </p:nvSpPr>
        <p:spPr>
          <a:xfrm>
            <a:off x="841103" y="525884"/>
            <a:ext cx="7129303" cy="561563"/>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7ED957"/>
                </a:solidFill>
                <a:latin typeface="Arial"/>
                <a:ea typeface="Arial"/>
                <a:cs typeface="Arial"/>
                <a:sym typeface="Arial"/>
              </a:rPr>
              <a:t>System Software</a:t>
            </a:r>
            <a:endParaRPr/>
          </a:p>
        </p:txBody>
      </p:sp>
      <p:sp>
        <p:nvSpPr>
          <p:cNvPr id="201" name="Google Shape;201;p25"/>
          <p:cNvSpPr/>
          <p:nvPr/>
        </p:nvSpPr>
        <p:spPr>
          <a:xfrm>
            <a:off x="440700" y="2432707"/>
            <a:ext cx="6826535" cy="1910022"/>
          </a:xfrm>
          <a:custGeom>
            <a:rect b="b" l="l" r="r" t="t"/>
            <a:pathLst>
              <a:path extrusionOk="0" h="558527" w="1996210">
                <a:moveTo>
                  <a:pt x="0" y="0"/>
                </a:moveTo>
                <a:lnTo>
                  <a:pt x="0" y="558527"/>
                </a:lnTo>
                <a:lnTo>
                  <a:pt x="1996210" y="558527"/>
                </a:lnTo>
                <a:lnTo>
                  <a:pt x="1996210" y="0"/>
                </a:lnTo>
                <a:lnTo>
                  <a:pt x="0" y="0"/>
                </a:lnTo>
                <a:close/>
                <a:moveTo>
                  <a:pt x="1935250" y="497567"/>
                </a:moveTo>
                <a:lnTo>
                  <a:pt x="59690" y="497567"/>
                </a:lnTo>
                <a:lnTo>
                  <a:pt x="59690" y="59690"/>
                </a:lnTo>
                <a:lnTo>
                  <a:pt x="1935250" y="59690"/>
                </a:lnTo>
                <a:lnTo>
                  <a:pt x="1935250" y="497567"/>
                </a:lnTo>
                <a:close/>
              </a:path>
            </a:pathLst>
          </a:custGeom>
          <a:solidFill>
            <a:srgbClr val="FF1616"/>
          </a:solidFill>
          <a:ln>
            <a:noFill/>
          </a:ln>
        </p:spPr>
      </p:sp>
      <p:sp>
        <p:nvSpPr>
          <p:cNvPr id="202" name="Google Shape;202;p25"/>
          <p:cNvSpPr txBox="1"/>
          <p:nvPr/>
        </p:nvSpPr>
        <p:spPr>
          <a:xfrm>
            <a:off x="779060" y="2766106"/>
            <a:ext cx="6149814" cy="11765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A variety of programs that a computer needs to function.</a:t>
            </a:r>
            <a:endParaRPr/>
          </a:p>
        </p:txBody>
      </p:sp>
      <p:sp>
        <p:nvSpPr>
          <p:cNvPr id="203" name="Google Shape;203;p25"/>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Definition</a:t>
            </a:r>
            <a:endParaRPr/>
          </a:p>
        </p:txBody>
      </p:sp>
      <p:sp>
        <p:nvSpPr>
          <p:cNvPr id="204" name="Google Shape;204;p25"/>
          <p:cNvSpPr/>
          <p:nvPr/>
        </p:nvSpPr>
        <p:spPr>
          <a:xfrm>
            <a:off x="8465273" y="2432707"/>
            <a:ext cx="9219257" cy="7439386"/>
          </a:xfrm>
          <a:custGeom>
            <a:rect b="b" l="l" r="r" t="t"/>
            <a:pathLst>
              <a:path extrusionOk="0" h="2175420" w="2695888">
                <a:moveTo>
                  <a:pt x="0" y="0"/>
                </a:moveTo>
                <a:lnTo>
                  <a:pt x="0" y="2175420"/>
                </a:lnTo>
                <a:lnTo>
                  <a:pt x="2695888" y="2175420"/>
                </a:lnTo>
                <a:lnTo>
                  <a:pt x="2695888" y="0"/>
                </a:lnTo>
                <a:lnTo>
                  <a:pt x="0" y="0"/>
                </a:lnTo>
                <a:close/>
                <a:moveTo>
                  <a:pt x="2634928" y="2114460"/>
                </a:moveTo>
                <a:lnTo>
                  <a:pt x="59690" y="2114460"/>
                </a:lnTo>
                <a:lnTo>
                  <a:pt x="59690" y="59690"/>
                </a:lnTo>
                <a:lnTo>
                  <a:pt x="2634929" y="59690"/>
                </a:lnTo>
                <a:lnTo>
                  <a:pt x="2634929" y="2114460"/>
                </a:lnTo>
                <a:close/>
              </a:path>
            </a:pathLst>
          </a:custGeom>
          <a:solidFill>
            <a:srgbClr val="FF1616"/>
          </a:solidFill>
          <a:ln>
            <a:noFill/>
          </a:ln>
        </p:spPr>
      </p:sp>
      <p:sp>
        <p:nvSpPr>
          <p:cNvPr id="205" name="Google Shape;205;p25"/>
          <p:cNvSpPr txBox="1"/>
          <p:nvPr/>
        </p:nvSpPr>
        <p:spPr>
          <a:xfrm>
            <a:off x="8746227" y="2618242"/>
            <a:ext cx="8657350" cy="6300313"/>
          </a:xfrm>
          <a:prstGeom prst="rect">
            <a:avLst/>
          </a:prstGeom>
          <a:noFill/>
          <a:ln>
            <a:noFill/>
          </a:ln>
        </p:spPr>
        <p:txBody>
          <a:bodyPr anchorCtr="0" anchor="t" bIns="0" lIns="0" spcFirstLastPara="1" rIns="0" wrap="square" tIns="0">
            <a:spAutoFit/>
          </a:bodyPr>
          <a:lstStyle/>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Basic Input Output System (BIOS) - installed in ROM. Enables all of the attached components to initialise. Known as firmware.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Operating System - MAC, Windows, Android, iOS.</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Device Driver (Part of the OS or Installed manually) - A software that enables hardwares to communicate with the operating system (Plug and play).</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Compilers - Translate high-level programming language into machine code.</a:t>
            </a:r>
            <a:endParaRPr/>
          </a:p>
          <a:p>
            <a:pPr indent="-300147" lvl="1" marL="600293" marR="0" rtl="0" algn="l">
              <a:lnSpc>
                <a:spcPct val="140000"/>
              </a:lnSpc>
              <a:spcBef>
                <a:spcPts val="0"/>
              </a:spcBef>
              <a:spcAft>
                <a:spcPts val="0"/>
              </a:spcAft>
              <a:buClr>
                <a:srgbClr val="FFDE59"/>
              </a:buClr>
              <a:buSzPts val="2780"/>
              <a:buFont typeface="Arial"/>
              <a:buChar char="•"/>
            </a:pPr>
            <a:r>
              <a:rPr b="0" i="0" lang="en-US" sz="2780" u="none" cap="none" strike="noStrike">
                <a:solidFill>
                  <a:srgbClr val="FFDE59"/>
                </a:solidFill>
                <a:latin typeface="Montserrat"/>
                <a:ea typeface="Montserrat"/>
                <a:cs typeface="Montserrat"/>
                <a:sym typeface="Montserrat"/>
              </a:rPr>
              <a:t>Utilities Software - Built into the operating system to carry out a specific task.</a:t>
            </a:r>
            <a:endParaRPr/>
          </a:p>
        </p:txBody>
      </p:sp>
      <p:sp>
        <p:nvSpPr>
          <p:cNvPr id="206" name="Google Shape;206;p25"/>
          <p:cNvSpPr txBox="1"/>
          <p:nvPr/>
        </p:nvSpPr>
        <p:spPr>
          <a:xfrm>
            <a:off x="8465273" y="1738517"/>
            <a:ext cx="3745458"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Example</a:t>
            </a:r>
            <a:endParaRPr/>
          </a:p>
        </p:txBody>
      </p:sp>
      <p:sp>
        <p:nvSpPr>
          <p:cNvPr id="207" name="Google Shape;207;p25"/>
          <p:cNvSpPr/>
          <p:nvPr/>
        </p:nvSpPr>
        <p:spPr>
          <a:xfrm>
            <a:off x="440700" y="5439132"/>
            <a:ext cx="6826535" cy="4432961"/>
          </a:xfrm>
          <a:custGeom>
            <a:rect b="b" l="l" r="r" t="t"/>
            <a:pathLst>
              <a:path extrusionOk="0" h="1296283" w="1996210">
                <a:moveTo>
                  <a:pt x="0" y="0"/>
                </a:moveTo>
                <a:lnTo>
                  <a:pt x="0" y="1296283"/>
                </a:lnTo>
                <a:lnTo>
                  <a:pt x="1996210" y="1296283"/>
                </a:lnTo>
                <a:lnTo>
                  <a:pt x="1996210" y="0"/>
                </a:lnTo>
                <a:lnTo>
                  <a:pt x="0" y="0"/>
                </a:lnTo>
                <a:close/>
                <a:moveTo>
                  <a:pt x="1935250" y="1235323"/>
                </a:moveTo>
                <a:lnTo>
                  <a:pt x="59690" y="1235323"/>
                </a:lnTo>
                <a:lnTo>
                  <a:pt x="59690" y="59690"/>
                </a:lnTo>
                <a:lnTo>
                  <a:pt x="1935250" y="59690"/>
                </a:lnTo>
                <a:lnTo>
                  <a:pt x="1935250" y="1235323"/>
                </a:lnTo>
                <a:close/>
              </a:path>
            </a:pathLst>
          </a:custGeom>
          <a:solidFill>
            <a:srgbClr val="FF1616"/>
          </a:solidFill>
          <a:ln>
            <a:noFill/>
          </a:ln>
        </p:spPr>
      </p:sp>
      <p:sp>
        <p:nvSpPr>
          <p:cNvPr id="208" name="Google Shape;208;p25"/>
          <p:cNvSpPr txBox="1"/>
          <p:nvPr/>
        </p:nvSpPr>
        <p:spPr>
          <a:xfrm>
            <a:off x="731768" y="5730943"/>
            <a:ext cx="6197106" cy="3680379"/>
          </a:xfrm>
          <a:prstGeom prst="rect">
            <a:avLst/>
          </a:prstGeom>
          <a:noFill/>
          <a:ln>
            <a:noFill/>
          </a:ln>
        </p:spPr>
        <p:txBody>
          <a:bodyPr anchorCtr="0" anchor="t" bIns="0" lIns="0" spcFirstLastPara="1" rIns="0" wrap="square" tIns="0">
            <a:spAutoFit/>
          </a:bodyPr>
          <a:lstStyle/>
          <a:p>
            <a:pPr indent="-325737" lvl="1" marL="651475" marR="0" rtl="0" algn="l">
              <a:lnSpc>
                <a:spcPct val="140006"/>
              </a:lnSpc>
              <a:spcBef>
                <a:spcPts val="0"/>
              </a:spcBef>
              <a:spcAft>
                <a:spcPts val="0"/>
              </a:spcAft>
              <a:buClr>
                <a:srgbClr val="FFDE59"/>
              </a:buClr>
              <a:buSzPts val="3017"/>
              <a:buFont typeface="Arial"/>
              <a:buChar char="•"/>
            </a:pPr>
            <a:r>
              <a:rPr b="0" i="0" lang="en-US" sz="3017" u="none" cap="none" strike="noStrike">
                <a:solidFill>
                  <a:srgbClr val="FFDE59"/>
                </a:solidFill>
                <a:latin typeface="Montserrat"/>
                <a:ea typeface="Montserrat"/>
                <a:cs typeface="Montserrat"/>
                <a:sym typeface="Montserrat"/>
              </a:rPr>
              <a:t>Allows software and hardware to run without problems.</a:t>
            </a:r>
            <a:endParaRPr/>
          </a:p>
          <a:p>
            <a:pPr indent="-325737" lvl="1" marL="651475" marR="0" rtl="0" algn="l">
              <a:lnSpc>
                <a:spcPct val="140006"/>
              </a:lnSpc>
              <a:spcBef>
                <a:spcPts val="0"/>
              </a:spcBef>
              <a:spcAft>
                <a:spcPts val="0"/>
              </a:spcAft>
              <a:buClr>
                <a:srgbClr val="FFDE59"/>
              </a:buClr>
              <a:buSzPts val="3017"/>
              <a:buFont typeface="Arial"/>
              <a:buChar char="•"/>
            </a:pPr>
            <a:r>
              <a:rPr b="0" i="0" lang="en-US" sz="3017" u="none" cap="none" strike="noStrike">
                <a:solidFill>
                  <a:srgbClr val="FFDE59"/>
                </a:solidFill>
                <a:latin typeface="Montserrat"/>
                <a:ea typeface="Montserrat"/>
                <a:cs typeface="Montserrat"/>
                <a:sym typeface="Montserrat"/>
              </a:rPr>
              <a:t>Provides a human computer interface.</a:t>
            </a:r>
            <a:endParaRPr/>
          </a:p>
          <a:p>
            <a:pPr indent="-325737" lvl="1" marL="651475" marR="0" rtl="0" algn="l">
              <a:lnSpc>
                <a:spcPct val="140006"/>
              </a:lnSpc>
              <a:spcBef>
                <a:spcPts val="0"/>
              </a:spcBef>
              <a:spcAft>
                <a:spcPts val="0"/>
              </a:spcAft>
              <a:buClr>
                <a:srgbClr val="FFDE59"/>
              </a:buClr>
              <a:buSzPts val="3017"/>
              <a:buFont typeface="Arial"/>
              <a:buChar char="•"/>
            </a:pPr>
            <a:r>
              <a:rPr b="0" i="0" lang="en-US" sz="3017" u="none" cap="none" strike="noStrike">
                <a:solidFill>
                  <a:srgbClr val="FFDE59"/>
                </a:solidFill>
                <a:latin typeface="Montserrat"/>
                <a:ea typeface="Montserrat"/>
                <a:cs typeface="Montserrat"/>
                <a:sym typeface="Montserrat"/>
              </a:rPr>
              <a:t>Control the allocation and usage of hardware resources. </a:t>
            </a:r>
            <a:endParaRPr/>
          </a:p>
        </p:txBody>
      </p:sp>
      <p:sp>
        <p:nvSpPr>
          <p:cNvPr id="209" name="Google Shape;209;p25"/>
          <p:cNvSpPr txBox="1"/>
          <p:nvPr/>
        </p:nvSpPr>
        <p:spPr>
          <a:xfrm>
            <a:off x="440700" y="4744942"/>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FFDE59"/>
                </a:solidFill>
                <a:latin typeface="Montserrat"/>
                <a:ea typeface="Montserrat"/>
                <a:cs typeface="Montserrat"/>
                <a:sym typeface="Montserrat"/>
              </a:rPr>
              <a:t>Function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13" name="Shape 213"/>
        <p:cNvGrpSpPr/>
        <p:nvPr/>
      </p:nvGrpSpPr>
      <p:grpSpPr>
        <a:xfrm>
          <a:off x="0" y="0"/>
          <a:ext cx="0" cy="0"/>
          <a:chOff x="0" y="0"/>
          <a:chExt cx="0" cy="0"/>
        </a:xfrm>
      </p:grpSpPr>
      <p:sp>
        <p:nvSpPr>
          <p:cNvPr id="214" name="Google Shape;214;p26"/>
          <p:cNvSpPr/>
          <p:nvPr/>
        </p:nvSpPr>
        <p:spPr>
          <a:xfrm>
            <a:off x="440700" y="223856"/>
            <a:ext cx="10816352" cy="1079894"/>
          </a:xfrm>
          <a:custGeom>
            <a:rect b="b" l="l" r="r" t="t"/>
            <a:pathLst>
              <a:path extrusionOk="0" h="315782" w="3162910">
                <a:moveTo>
                  <a:pt x="0" y="0"/>
                </a:moveTo>
                <a:lnTo>
                  <a:pt x="0" y="315782"/>
                </a:lnTo>
                <a:lnTo>
                  <a:pt x="3162910" y="315782"/>
                </a:lnTo>
                <a:lnTo>
                  <a:pt x="3162910" y="0"/>
                </a:lnTo>
                <a:lnTo>
                  <a:pt x="0" y="0"/>
                </a:lnTo>
                <a:close/>
                <a:moveTo>
                  <a:pt x="3101950" y="254822"/>
                </a:moveTo>
                <a:lnTo>
                  <a:pt x="59690" y="254822"/>
                </a:lnTo>
                <a:lnTo>
                  <a:pt x="59690" y="59690"/>
                </a:lnTo>
                <a:lnTo>
                  <a:pt x="3101950" y="59690"/>
                </a:lnTo>
                <a:lnTo>
                  <a:pt x="3101950" y="254822"/>
                </a:lnTo>
                <a:close/>
              </a:path>
            </a:pathLst>
          </a:custGeom>
          <a:solidFill>
            <a:srgbClr val="004AAD"/>
          </a:solidFill>
          <a:ln>
            <a:noFill/>
          </a:ln>
        </p:spPr>
      </p:sp>
      <p:pic>
        <p:nvPicPr>
          <p:cNvPr id="215" name="Google Shape;215;p26"/>
          <p:cNvPicPr preferRelativeResize="0"/>
          <p:nvPr/>
        </p:nvPicPr>
        <p:blipFill rotWithShape="1">
          <a:blip r:embed="rId3">
            <a:alphaModFix/>
          </a:blip>
          <a:srcRect b="0" l="0" r="0" t="0"/>
          <a:stretch/>
        </p:blipFill>
        <p:spPr>
          <a:xfrm>
            <a:off x="1028700" y="3453378"/>
            <a:ext cx="8085259" cy="4880556"/>
          </a:xfrm>
          <a:prstGeom prst="rect">
            <a:avLst/>
          </a:prstGeom>
          <a:noFill/>
          <a:ln>
            <a:noFill/>
          </a:ln>
        </p:spPr>
      </p:pic>
      <p:pic>
        <p:nvPicPr>
          <p:cNvPr id="216" name="Google Shape;216;p26"/>
          <p:cNvPicPr preferRelativeResize="0"/>
          <p:nvPr/>
        </p:nvPicPr>
        <p:blipFill rotWithShape="1">
          <a:blip r:embed="rId4">
            <a:alphaModFix/>
          </a:blip>
          <a:srcRect b="0" l="0" r="0" t="0"/>
          <a:stretch/>
        </p:blipFill>
        <p:spPr>
          <a:xfrm rot="529042">
            <a:off x="6283348" y="4159167"/>
            <a:ext cx="1492929" cy="1494798"/>
          </a:xfrm>
          <a:prstGeom prst="rect">
            <a:avLst/>
          </a:prstGeom>
          <a:noFill/>
          <a:ln>
            <a:noFill/>
          </a:ln>
        </p:spPr>
      </p:pic>
      <p:pic>
        <p:nvPicPr>
          <p:cNvPr id="217" name="Google Shape;217;p26"/>
          <p:cNvPicPr preferRelativeResize="0"/>
          <p:nvPr/>
        </p:nvPicPr>
        <p:blipFill rotWithShape="1">
          <a:blip r:embed="rId4">
            <a:alphaModFix/>
          </a:blip>
          <a:srcRect b="0" l="0" r="0" t="0"/>
          <a:stretch/>
        </p:blipFill>
        <p:spPr>
          <a:xfrm>
            <a:off x="6006638" y="5893656"/>
            <a:ext cx="1492929" cy="1494798"/>
          </a:xfrm>
          <a:prstGeom prst="rect">
            <a:avLst/>
          </a:prstGeom>
          <a:noFill/>
          <a:ln>
            <a:noFill/>
          </a:ln>
        </p:spPr>
      </p:pic>
      <p:pic>
        <p:nvPicPr>
          <p:cNvPr id="218" name="Google Shape;218;p26"/>
          <p:cNvPicPr preferRelativeResize="0"/>
          <p:nvPr/>
        </p:nvPicPr>
        <p:blipFill rotWithShape="1">
          <a:blip r:embed="rId5">
            <a:alphaModFix/>
          </a:blip>
          <a:srcRect b="0" l="0" r="0" t="0"/>
          <a:stretch/>
        </p:blipFill>
        <p:spPr>
          <a:xfrm>
            <a:off x="2101309" y="5143500"/>
            <a:ext cx="3327746" cy="1476687"/>
          </a:xfrm>
          <a:prstGeom prst="rect">
            <a:avLst/>
          </a:prstGeom>
          <a:noFill/>
          <a:ln>
            <a:noFill/>
          </a:ln>
        </p:spPr>
      </p:pic>
      <p:sp>
        <p:nvSpPr>
          <p:cNvPr id="219" name="Google Shape;219;p26"/>
          <p:cNvSpPr txBox="1"/>
          <p:nvPr/>
        </p:nvSpPr>
        <p:spPr>
          <a:xfrm>
            <a:off x="841103" y="526289"/>
            <a:ext cx="9802284" cy="486714"/>
          </a:xfrm>
          <a:prstGeom prst="rect">
            <a:avLst/>
          </a:prstGeom>
          <a:noFill/>
          <a:ln>
            <a:noFill/>
          </a:ln>
        </p:spPr>
        <p:txBody>
          <a:bodyPr anchorCtr="0" anchor="t" bIns="0" lIns="0" spcFirstLastPara="1" rIns="0" wrap="square" tIns="0">
            <a:spAutoFit/>
          </a:bodyPr>
          <a:lstStyle/>
          <a:p>
            <a:pPr indent="0" lvl="0" marL="0" marR="0" rtl="0" algn="ctr">
              <a:lnSpc>
                <a:spcPct val="96009"/>
              </a:lnSpc>
              <a:spcBef>
                <a:spcPts val="0"/>
              </a:spcBef>
              <a:spcAft>
                <a:spcPts val="0"/>
              </a:spcAft>
              <a:buNone/>
            </a:pPr>
            <a:r>
              <a:rPr b="1" i="0" lang="en-US" sz="3785" u="none" cap="none" strike="noStrike">
                <a:solidFill>
                  <a:srgbClr val="7ED957"/>
                </a:solidFill>
                <a:latin typeface="Montserrat"/>
                <a:ea typeface="Montserrat"/>
                <a:cs typeface="Montserrat"/>
                <a:sym typeface="Montserrat"/>
              </a:rPr>
              <a:t>Examples of utilities software (1)</a:t>
            </a:r>
            <a:endParaRPr/>
          </a:p>
        </p:txBody>
      </p:sp>
      <p:sp>
        <p:nvSpPr>
          <p:cNvPr id="220" name="Google Shape;220;p26"/>
          <p:cNvSpPr txBox="1"/>
          <p:nvPr/>
        </p:nvSpPr>
        <p:spPr>
          <a:xfrm>
            <a:off x="1623058" y="2659555"/>
            <a:ext cx="6896543" cy="5097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985" u="none" cap="none" strike="noStrike">
                <a:solidFill>
                  <a:srgbClr val="FFDE59"/>
                </a:solidFill>
                <a:latin typeface="Montserrat"/>
                <a:ea typeface="Montserrat"/>
                <a:cs typeface="Montserrat"/>
                <a:sym typeface="Montserrat"/>
              </a:rPr>
              <a:t>Virus Checker - Anti Virus Software</a:t>
            </a:r>
            <a:endParaRPr/>
          </a:p>
        </p:txBody>
      </p:sp>
      <p:sp>
        <p:nvSpPr>
          <p:cNvPr id="221" name="Google Shape;221;p26"/>
          <p:cNvSpPr txBox="1"/>
          <p:nvPr/>
        </p:nvSpPr>
        <p:spPr>
          <a:xfrm>
            <a:off x="10362757" y="1726941"/>
            <a:ext cx="6896543" cy="7839442"/>
          </a:xfrm>
          <a:prstGeom prst="rect">
            <a:avLst/>
          </a:prstGeom>
          <a:noFill/>
          <a:ln>
            <a:noFill/>
          </a:ln>
        </p:spPr>
        <p:txBody>
          <a:bodyPr anchorCtr="0" anchor="t" bIns="0" lIns="0" spcFirstLastPara="1" rIns="0" wrap="square" tIns="0">
            <a:spAutoFit/>
          </a:bodyPr>
          <a:lstStyle/>
          <a:p>
            <a:pPr indent="-322291" lvl="1" marL="644583"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Offered by the operating system </a:t>
            </a:r>
            <a:endParaRPr/>
          </a:p>
          <a:p>
            <a:pPr indent="-322291" lvl="1" marL="644583"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Must be constantly updated</a:t>
            </a:r>
            <a:endParaRPr/>
          </a:p>
          <a:p>
            <a:pPr indent="-322291" lvl="1" marL="644583"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How they work</a:t>
            </a:r>
            <a:endParaRPr/>
          </a:p>
          <a:p>
            <a:pPr indent="-429722" lvl="2" marL="1289166"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The software is constantly running in the background</a:t>
            </a:r>
            <a:endParaRPr/>
          </a:p>
          <a:p>
            <a:pPr indent="-429722" lvl="2" marL="1289166"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Check software of files before they are run or loaded </a:t>
            </a:r>
            <a:endParaRPr/>
          </a:p>
          <a:p>
            <a:pPr indent="-429722" lvl="2" marL="1289166"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Compare a possible virus against a database of known viruses </a:t>
            </a:r>
            <a:endParaRPr/>
          </a:p>
          <a:p>
            <a:pPr indent="-429722" lvl="2" marL="1289166" marR="0" rtl="0" algn="l">
              <a:lnSpc>
                <a:spcPct val="140000"/>
              </a:lnSpc>
              <a:spcBef>
                <a:spcPts val="0"/>
              </a:spcBef>
              <a:spcAft>
                <a:spcPts val="0"/>
              </a:spcAft>
              <a:buClr>
                <a:srgbClr val="FFDE59"/>
              </a:buClr>
              <a:buSzPts val="2985"/>
              <a:buFont typeface="Arial"/>
              <a:buChar char="⚬"/>
            </a:pPr>
            <a:r>
              <a:rPr b="0" i="0" lang="en-US" sz="2985" u="none" cap="none" strike="noStrike">
                <a:solidFill>
                  <a:srgbClr val="FFDE59"/>
                </a:solidFill>
                <a:latin typeface="Montserrat"/>
                <a:ea typeface="Montserrat"/>
                <a:cs typeface="Montserrat"/>
                <a:sym typeface="Montserrat"/>
              </a:rPr>
              <a:t>Any possible files or programs which are infected are put into </a:t>
            </a:r>
            <a:r>
              <a:rPr b="1" i="0" lang="en-US" sz="2985" u="none" cap="none" strike="noStrike">
                <a:solidFill>
                  <a:srgbClr val="FFDE59"/>
                </a:solidFill>
                <a:latin typeface="Montserrat SemiBold"/>
                <a:ea typeface="Montserrat SemiBold"/>
                <a:cs typeface="Montserrat SemiBold"/>
                <a:sym typeface="Montserrat SemiBold"/>
              </a:rPr>
              <a:t>quarantine</a:t>
            </a:r>
            <a:endParaRPr/>
          </a:p>
          <a:p>
            <a:pPr indent="0" lvl="0" marL="0" marR="0" rtl="0" algn="l">
              <a:lnSpc>
                <a:spcPct val="140000"/>
              </a:lnSpc>
              <a:spcBef>
                <a:spcPts val="0"/>
              </a:spcBef>
              <a:spcAft>
                <a:spcPts val="0"/>
              </a:spcAft>
              <a:buNone/>
            </a:pPr>
            <a:r>
              <a:t/>
            </a:r>
            <a:endParaRPr b="1" i="0" sz="2985" u="none" cap="none" strike="noStrike">
              <a:solidFill>
                <a:srgbClr val="FFDE59"/>
              </a:solidFill>
              <a:latin typeface="Montserrat SemiBold"/>
              <a:ea typeface="Montserrat SemiBold"/>
              <a:cs typeface="Montserrat SemiBold"/>
              <a:sym typeface="Montserrat SemiBold"/>
            </a:endParaRPr>
          </a:p>
          <a:p>
            <a:pPr indent="0" lvl="0" marL="0" marR="0" rtl="0" algn="l">
              <a:lnSpc>
                <a:spcPct val="140000"/>
              </a:lnSpc>
              <a:spcBef>
                <a:spcPts val="0"/>
              </a:spcBef>
              <a:spcAft>
                <a:spcPts val="0"/>
              </a:spcAft>
              <a:buNone/>
            </a:pPr>
            <a:r>
              <a:t/>
            </a:r>
            <a:endParaRPr b="1" i="0" sz="2985" u="none" cap="none" strike="noStrike">
              <a:solidFill>
                <a:srgbClr val="FFDE59"/>
              </a:solidFill>
              <a:latin typeface="Montserrat SemiBold"/>
              <a:ea typeface="Montserrat SemiBold"/>
              <a:cs typeface="Montserrat SemiBold"/>
              <a:sym typeface="Montserrat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25"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b="0" l="0" r="0" t="0"/>
          <a:stretch/>
        </p:blipFill>
        <p:spPr>
          <a:xfrm>
            <a:off x="256259" y="4377744"/>
            <a:ext cx="8085259" cy="4880556"/>
          </a:xfrm>
          <a:prstGeom prst="rect">
            <a:avLst/>
          </a:prstGeom>
          <a:noFill/>
          <a:ln>
            <a:noFill/>
          </a:ln>
        </p:spPr>
      </p:pic>
      <p:sp>
        <p:nvSpPr>
          <p:cNvPr id="227" name="Google Shape;227;p27"/>
          <p:cNvSpPr txBox="1"/>
          <p:nvPr/>
        </p:nvSpPr>
        <p:spPr>
          <a:xfrm>
            <a:off x="2128131" y="2070158"/>
            <a:ext cx="14724347" cy="156672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985" u="none" cap="none" strike="noStrike">
                <a:solidFill>
                  <a:srgbClr val="FFDE59"/>
                </a:solidFill>
                <a:latin typeface="Montserrat"/>
                <a:ea typeface="Montserrat"/>
                <a:cs typeface="Montserrat"/>
                <a:sym typeface="Montserrat"/>
              </a:rPr>
              <a:t>Defragmentation Software - When HDD becomes full, blocks used for files will be scattered all over the disk surface. Data accessing will be faster if files could be stored in contiguous sectors to reduce HDD head movements.</a:t>
            </a:r>
            <a:endParaRPr/>
          </a:p>
        </p:txBody>
      </p:sp>
      <p:pic>
        <p:nvPicPr>
          <p:cNvPr id="228" name="Google Shape;228;p27"/>
          <p:cNvPicPr preferRelativeResize="0"/>
          <p:nvPr/>
        </p:nvPicPr>
        <p:blipFill rotWithShape="1">
          <a:blip r:embed="rId4">
            <a:alphaModFix/>
          </a:blip>
          <a:srcRect b="5718" l="1829" r="0" t="3457"/>
          <a:stretch/>
        </p:blipFill>
        <p:spPr>
          <a:xfrm>
            <a:off x="1851649" y="4914886"/>
            <a:ext cx="4620912" cy="3403810"/>
          </a:xfrm>
          <a:prstGeom prst="rect">
            <a:avLst/>
          </a:prstGeom>
          <a:noFill/>
          <a:ln>
            <a:noFill/>
          </a:ln>
        </p:spPr>
      </p:pic>
      <p:sp>
        <p:nvSpPr>
          <p:cNvPr id="229" name="Google Shape;229;p27"/>
          <p:cNvSpPr txBox="1"/>
          <p:nvPr/>
        </p:nvSpPr>
        <p:spPr>
          <a:xfrm>
            <a:off x="3482025" y="4848211"/>
            <a:ext cx="1054451" cy="605297"/>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1" i="0" lang="en-US" sz="3534" u="none" cap="none" strike="noStrike">
                <a:solidFill>
                  <a:srgbClr val="FF1616"/>
                </a:solidFill>
                <a:latin typeface="Open Sans ExtraBold"/>
                <a:ea typeface="Open Sans ExtraBold"/>
                <a:cs typeface="Open Sans ExtraBold"/>
                <a:sym typeface="Open Sans ExtraBold"/>
              </a:rPr>
              <a:t>data</a:t>
            </a:r>
            <a:endParaRPr/>
          </a:p>
        </p:txBody>
      </p:sp>
      <p:sp>
        <p:nvSpPr>
          <p:cNvPr id="230" name="Google Shape;230;p27"/>
          <p:cNvSpPr txBox="1"/>
          <p:nvPr/>
        </p:nvSpPr>
        <p:spPr>
          <a:xfrm>
            <a:off x="2809843" y="6751347"/>
            <a:ext cx="1054451" cy="605297"/>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1" i="0" lang="en-US" sz="3534" u="none" cap="none" strike="noStrike">
                <a:solidFill>
                  <a:srgbClr val="FF1616"/>
                </a:solidFill>
                <a:latin typeface="Open Sans ExtraBold"/>
                <a:ea typeface="Open Sans ExtraBold"/>
                <a:cs typeface="Open Sans ExtraBold"/>
                <a:sym typeface="Open Sans ExtraBold"/>
              </a:rPr>
              <a:t>data</a:t>
            </a:r>
            <a:endParaRPr/>
          </a:p>
        </p:txBody>
      </p:sp>
      <p:sp>
        <p:nvSpPr>
          <p:cNvPr id="231" name="Google Shape;231;p27"/>
          <p:cNvSpPr txBox="1"/>
          <p:nvPr/>
        </p:nvSpPr>
        <p:spPr>
          <a:xfrm>
            <a:off x="5230295" y="6648861"/>
            <a:ext cx="1054451" cy="605297"/>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1" i="0" lang="en-US" sz="3534" u="none" cap="none" strike="noStrike">
                <a:solidFill>
                  <a:srgbClr val="FF1616"/>
                </a:solidFill>
                <a:latin typeface="Open Sans ExtraBold"/>
                <a:ea typeface="Open Sans ExtraBold"/>
                <a:cs typeface="Open Sans ExtraBold"/>
                <a:sym typeface="Open Sans ExtraBold"/>
              </a:rPr>
              <a:t>data</a:t>
            </a:r>
            <a:endParaRPr/>
          </a:p>
        </p:txBody>
      </p:sp>
      <p:cxnSp>
        <p:nvCxnSpPr>
          <p:cNvPr id="232" name="Google Shape;232;p27"/>
          <p:cNvCxnSpPr/>
          <p:nvPr/>
        </p:nvCxnSpPr>
        <p:spPr>
          <a:xfrm>
            <a:off x="7933852" y="6193971"/>
            <a:ext cx="2293495" cy="0"/>
          </a:xfrm>
          <a:prstGeom prst="straightConnector1">
            <a:avLst/>
          </a:prstGeom>
          <a:noFill/>
          <a:ln cap="rnd" cmpd="sng" w="47625">
            <a:solidFill>
              <a:srgbClr val="FFFFFF"/>
            </a:solidFill>
            <a:prstDash val="solid"/>
            <a:round/>
            <a:headEnd len="sm" w="sm" type="none"/>
            <a:tailEnd len="med" w="med" type="stealth"/>
          </a:ln>
        </p:spPr>
      </p:cxnSp>
      <p:pic>
        <p:nvPicPr>
          <p:cNvPr id="233" name="Google Shape;233;p27"/>
          <p:cNvPicPr preferRelativeResize="0"/>
          <p:nvPr/>
        </p:nvPicPr>
        <p:blipFill rotWithShape="1">
          <a:blip r:embed="rId3">
            <a:alphaModFix/>
          </a:blip>
          <a:srcRect b="0" l="0" r="0" t="0"/>
          <a:stretch/>
        </p:blipFill>
        <p:spPr>
          <a:xfrm>
            <a:off x="9708386" y="4377744"/>
            <a:ext cx="8085259" cy="4880556"/>
          </a:xfrm>
          <a:prstGeom prst="rect">
            <a:avLst/>
          </a:prstGeom>
          <a:noFill/>
          <a:ln>
            <a:noFill/>
          </a:ln>
        </p:spPr>
      </p:pic>
      <p:pic>
        <p:nvPicPr>
          <p:cNvPr id="234" name="Google Shape;234;p27"/>
          <p:cNvPicPr preferRelativeResize="0"/>
          <p:nvPr/>
        </p:nvPicPr>
        <p:blipFill rotWithShape="1">
          <a:blip r:embed="rId4">
            <a:alphaModFix/>
          </a:blip>
          <a:srcRect b="5718" l="1829" r="0" t="3457"/>
          <a:stretch/>
        </p:blipFill>
        <p:spPr>
          <a:xfrm>
            <a:off x="11303776" y="4914886"/>
            <a:ext cx="4620912" cy="3403810"/>
          </a:xfrm>
          <a:prstGeom prst="rect">
            <a:avLst/>
          </a:prstGeom>
          <a:noFill/>
          <a:ln>
            <a:noFill/>
          </a:ln>
        </p:spPr>
      </p:pic>
      <p:sp>
        <p:nvSpPr>
          <p:cNvPr id="235" name="Google Shape;235;p27"/>
          <p:cNvSpPr txBox="1"/>
          <p:nvPr/>
        </p:nvSpPr>
        <p:spPr>
          <a:xfrm>
            <a:off x="12934152" y="4848211"/>
            <a:ext cx="1054451" cy="605297"/>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1" i="0" lang="en-US" sz="3534" u="none" cap="none" strike="noStrike">
                <a:solidFill>
                  <a:srgbClr val="FF1616"/>
                </a:solidFill>
                <a:latin typeface="Open Sans ExtraBold"/>
                <a:ea typeface="Open Sans ExtraBold"/>
                <a:cs typeface="Open Sans ExtraBold"/>
                <a:sym typeface="Open Sans ExtraBold"/>
              </a:rPr>
              <a:t>data</a:t>
            </a:r>
            <a:endParaRPr/>
          </a:p>
        </p:txBody>
      </p:sp>
      <p:sp>
        <p:nvSpPr>
          <p:cNvPr id="236" name="Google Shape;236;p27"/>
          <p:cNvSpPr txBox="1"/>
          <p:nvPr/>
        </p:nvSpPr>
        <p:spPr>
          <a:xfrm>
            <a:off x="14155197" y="4977151"/>
            <a:ext cx="1054451" cy="605297"/>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1" i="0" lang="en-US" sz="3534" u="none" cap="none" strike="noStrike">
                <a:solidFill>
                  <a:srgbClr val="FF1616"/>
                </a:solidFill>
                <a:latin typeface="Open Sans ExtraBold"/>
                <a:ea typeface="Open Sans ExtraBold"/>
                <a:cs typeface="Open Sans ExtraBold"/>
                <a:sym typeface="Open Sans ExtraBold"/>
              </a:rPr>
              <a:t>data</a:t>
            </a:r>
            <a:endParaRPr/>
          </a:p>
        </p:txBody>
      </p:sp>
      <p:sp>
        <p:nvSpPr>
          <p:cNvPr id="237" name="Google Shape;237;p27"/>
          <p:cNvSpPr txBox="1"/>
          <p:nvPr/>
        </p:nvSpPr>
        <p:spPr>
          <a:xfrm>
            <a:off x="14870237" y="5636299"/>
            <a:ext cx="1054451" cy="605297"/>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1" i="0" lang="en-US" sz="3534" u="none" cap="none" strike="noStrike">
                <a:solidFill>
                  <a:srgbClr val="FF1616"/>
                </a:solidFill>
                <a:latin typeface="Open Sans ExtraBold"/>
                <a:ea typeface="Open Sans ExtraBold"/>
                <a:cs typeface="Open Sans ExtraBold"/>
                <a:sym typeface="Open Sans ExtraBold"/>
              </a:rPr>
              <a:t>data</a:t>
            </a:r>
            <a:endParaRPr/>
          </a:p>
        </p:txBody>
      </p:sp>
      <p:sp>
        <p:nvSpPr>
          <p:cNvPr id="238" name="Google Shape;238;p27"/>
          <p:cNvSpPr/>
          <p:nvPr/>
        </p:nvSpPr>
        <p:spPr>
          <a:xfrm>
            <a:off x="440700" y="223856"/>
            <a:ext cx="10816352" cy="1079894"/>
          </a:xfrm>
          <a:custGeom>
            <a:rect b="b" l="l" r="r" t="t"/>
            <a:pathLst>
              <a:path extrusionOk="0" h="315782" w="3162910">
                <a:moveTo>
                  <a:pt x="0" y="0"/>
                </a:moveTo>
                <a:lnTo>
                  <a:pt x="0" y="315782"/>
                </a:lnTo>
                <a:lnTo>
                  <a:pt x="3162910" y="315782"/>
                </a:lnTo>
                <a:lnTo>
                  <a:pt x="3162910" y="0"/>
                </a:lnTo>
                <a:lnTo>
                  <a:pt x="0" y="0"/>
                </a:lnTo>
                <a:close/>
                <a:moveTo>
                  <a:pt x="3101950" y="254822"/>
                </a:moveTo>
                <a:lnTo>
                  <a:pt x="59690" y="254822"/>
                </a:lnTo>
                <a:lnTo>
                  <a:pt x="59690" y="59690"/>
                </a:lnTo>
                <a:lnTo>
                  <a:pt x="3101950" y="59690"/>
                </a:lnTo>
                <a:lnTo>
                  <a:pt x="3101950" y="254822"/>
                </a:lnTo>
                <a:close/>
              </a:path>
            </a:pathLst>
          </a:custGeom>
          <a:solidFill>
            <a:srgbClr val="004AAD"/>
          </a:solidFill>
          <a:ln>
            <a:noFill/>
          </a:ln>
        </p:spPr>
      </p:sp>
      <p:sp>
        <p:nvSpPr>
          <p:cNvPr id="239" name="Google Shape;239;p27"/>
          <p:cNvSpPr txBox="1"/>
          <p:nvPr/>
        </p:nvSpPr>
        <p:spPr>
          <a:xfrm>
            <a:off x="841103" y="526289"/>
            <a:ext cx="9802284" cy="486714"/>
          </a:xfrm>
          <a:prstGeom prst="rect">
            <a:avLst/>
          </a:prstGeom>
          <a:noFill/>
          <a:ln>
            <a:noFill/>
          </a:ln>
        </p:spPr>
        <p:txBody>
          <a:bodyPr anchorCtr="0" anchor="t" bIns="0" lIns="0" spcFirstLastPara="1" rIns="0" wrap="square" tIns="0">
            <a:spAutoFit/>
          </a:bodyPr>
          <a:lstStyle/>
          <a:p>
            <a:pPr indent="0" lvl="0" marL="0" marR="0" rtl="0" algn="ctr">
              <a:lnSpc>
                <a:spcPct val="96009"/>
              </a:lnSpc>
              <a:spcBef>
                <a:spcPts val="0"/>
              </a:spcBef>
              <a:spcAft>
                <a:spcPts val="0"/>
              </a:spcAft>
              <a:buNone/>
            </a:pPr>
            <a:r>
              <a:rPr b="1" i="0" lang="en-US" sz="3785" u="none" cap="none" strike="noStrike">
                <a:solidFill>
                  <a:srgbClr val="7ED957"/>
                </a:solidFill>
                <a:latin typeface="Montserrat"/>
                <a:ea typeface="Montserrat"/>
                <a:cs typeface="Montserrat"/>
                <a:sym typeface="Montserrat"/>
              </a:rPr>
              <a:t>Examples of utilities software (2)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43" name="Shape 243"/>
        <p:cNvGrpSpPr/>
        <p:nvPr/>
      </p:nvGrpSpPr>
      <p:grpSpPr>
        <a:xfrm>
          <a:off x="0" y="0"/>
          <a:ext cx="0" cy="0"/>
          <a:chOff x="0" y="0"/>
          <a:chExt cx="0" cy="0"/>
        </a:xfrm>
      </p:grpSpPr>
      <p:pic>
        <p:nvPicPr>
          <p:cNvPr id="244" name="Google Shape;244;p28"/>
          <p:cNvPicPr preferRelativeResize="0"/>
          <p:nvPr/>
        </p:nvPicPr>
        <p:blipFill rotWithShape="1">
          <a:blip r:embed="rId3">
            <a:alphaModFix/>
          </a:blip>
          <a:srcRect b="0" l="0" r="0" t="0"/>
          <a:stretch/>
        </p:blipFill>
        <p:spPr>
          <a:xfrm>
            <a:off x="440700" y="3629001"/>
            <a:ext cx="6790354" cy="4098905"/>
          </a:xfrm>
          <a:prstGeom prst="rect">
            <a:avLst/>
          </a:prstGeom>
          <a:noFill/>
          <a:ln>
            <a:noFill/>
          </a:ln>
        </p:spPr>
      </p:pic>
      <p:cxnSp>
        <p:nvCxnSpPr>
          <p:cNvPr id="245" name="Google Shape;245;p28"/>
          <p:cNvCxnSpPr/>
          <p:nvPr/>
        </p:nvCxnSpPr>
        <p:spPr>
          <a:xfrm rot="-1558488">
            <a:off x="6959977" y="3763424"/>
            <a:ext cx="1733620" cy="0"/>
          </a:xfrm>
          <a:prstGeom prst="straightConnector1">
            <a:avLst/>
          </a:prstGeom>
          <a:noFill/>
          <a:ln cap="rnd" cmpd="sng" w="47625">
            <a:solidFill>
              <a:srgbClr val="FFFFFF"/>
            </a:solidFill>
            <a:prstDash val="solid"/>
            <a:round/>
            <a:headEnd len="sm" w="sm" type="none"/>
            <a:tailEnd len="med" w="med" type="stealth"/>
          </a:ln>
        </p:spPr>
      </p:cxnSp>
      <p:cxnSp>
        <p:nvCxnSpPr>
          <p:cNvPr id="246" name="Google Shape;246;p28"/>
          <p:cNvCxnSpPr/>
          <p:nvPr/>
        </p:nvCxnSpPr>
        <p:spPr>
          <a:xfrm>
            <a:off x="7047537" y="5526007"/>
            <a:ext cx="1567169" cy="0"/>
          </a:xfrm>
          <a:prstGeom prst="straightConnector1">
            <a:avLst/>
          </a:prstGeom>
          <a:noFill/>
          <a:ln cap="rnd" cmpd="sng" w="47625">
            <a:solidFill>
              <a:srgbClr val="FFFFFF"/>
            </a:solidFill>
            <a:prstDash val="solid"/>
            <a:round/>
            <a:headEnd len="sm" w="sm" type="none"/>
            <a:tailEnd len="med" w="med" type="stealth"/>
          </a:ln>
        </p:spPr>
      </p:cxnSp>
      <p:cxnSp>
        <p:nvCxnSpPr>
          <p:cNvPr id="247" name="Google Shape;247;p28"/>
          <p:cNvCxnSpPr/>
          <p:nvPr/>
        </p:nvCxnSpPr>
        <p:spPr>
          <a:xfrm rot="1373395">
            <a:off x="6984256" y="7244091"/>
            <a:ext cx="1577571" cy="0"/>
          </a:xfrm>
          <a:prstGeom prst="straightConnector1">
            <a:avLst/>
          </a:prstGeom>
          <a:noFill/>
          <a:ln cap="rnd" cmpd="sng" w="47625">
            <a:solidFill>
              <a:srgbClr val="FFFFFF"/>
            </a:solidFill>
            <a:prstDash val="solid"/>
            <a:round/>
            <a:headEnd len="sm" w="sm" type="none"/>
            <a:tailEnd len="med" w="med" type="stealth"/>
          </a:ln>
        </p:spPr>
      </p:cxnSp>
      <p:pic>
        <p:nvPicPr>
          <p:cNvPr id="248" name="Google Shape;248;p28"/>
          <p:cNvPicPr preferRelativeResize="0"/>
          <p:nvPr/>
        </p:nvPicPr>
        <p:blipFill rotWithShape="1">
          <a:blip r:embed="rId4">
            <a:alphaModFix/>
          </a:blip>
          <a:srcRect b="0" l="0" r="0" t="0"/>
          <a:stretch/>
        </p:blipFill>
        <p:spPr>
          <a:xfrm>
            <a:off x="8746684" y="2308102"/>
            <a:ext cx="1286847" cy="1880184"/>
          </a:xfrm>
          <a:prstGeom prst="rect">
            <a:avLst/>
          </a:prstGeom>
          <a:noFill/>
          <a:ln>
            <a:noFill/>
          </a:ln>
        </p:spPr>
      </p:pic>
      <p:pic>
        <p:nvPicPr>
          <p:cNvPr id="249" name="Google Shape;249;p28"/>
          <p:cNvPicPr preferRelativeResize="0"/>
          <p:nvPr/>
        </p:nvPicPr>
        <p:blipFill rotWithShape="1">
          <a:blip r:embed="rId5">
            <a:alphaModFix/>
          </a:blip>
          <a:srcRect b="0" l="0" r="0" t="0"/>
          <a:stretch/>
        </p:blipFill>
        <p:spPr>
          <a:xfrm>
            <a:off x="8746684" y="4690678"/>
            <a:ext cx="2724934" cy="1461196"/>
          </a:xfrm>
          <a:prstGeom prst="rect">
            <a:avLst/>
          </a:prstGeom>
          <a:noFill/>
          <a:ln>
            <a:noFill/>
          </a:ln>
        </p:spPr>
      </p:pic>
      <p:pic>
        <p:nvPicPr>
          <p:cNvPr id="250" name="Google Shape;250;p28"/>
          <p:cNvPicPr preferRelativeResize="0"/>
          <p:nvPr/>
        </p:nvPicPr>
        <p:blipFill rotWithShape="1">
          <a:blip r:embed="rId6">
            <a:alphaModFix/>
          </a:blip>
          <a:srcRect b="0" l="0" r="0" t="0"/>
          <a:stretch/>
        </p:blipFill>
        <p:spPr>
          <a:xfrm>
            <a:off x="8846106" y="6908700"/>
            <a:ext cx="2065353" cy="1975229"/>
          </a:xfrm>
          <a:prstGeom prst="rect">
            <a:avLst/>
          </a:prstGeom>
          <a:noFill/>
          <a:ln>
            <a:noFill/>
          </a:ln>
        </p:spPr>
      </p:pic>
      <p:sp>
        <p:nvSpPr>
          <p:cNvPr id="251" name="Google Shape;251;p28"/>
          <p:cNvSpPr txBox="1"/>
          <p:nvPr/>
        </p:nvSpPr>
        <p:spPr>
          <a:xfrm>
            <a:off x="2232141" y="2602328"/>
            <a:ext cx="3636442" cy="731430"/>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0" i="0" lang="en-US" sz="4259" u="none" cap="none" strike="noStrike">
                <a:solidFill>
                  <a:srgbClr val="FFDE59"/>
                </a:solidFill>
                <a:latin typeface="Montserrat"/>
                <a:ea typeface="Montserrat"/>
                <a:cs typeface="Montserrat"/>
                <a:sym typeface="Montserrat"/>
              </a:rPr>
              <a:t>Device Driver</a:t>
            </a:r>
            <a:endParaRPr/>
          </a:p>
        </p:txBody>
      </p:sp>
      <p:sp>
        <p:nvSpPr>
          <p:cNvPr id="252" name="Google Shape;252;p28"/>
          <p:cNvSpPr txBox="1"/>
          <p:nvPr/>
        </p:nvSpPr>
        <p:spPr>
          <a:xfrm>
            <a:off x="11928424" y="2388870"/>
            <a:ext cx="5636857" cy="6217123"/>
          </a:xfrm>
          <a:prstGeom prst="rect">
            <a:avLst/>
          </a:prstGeom>
          <a:noFill/>
          <a:ln>
            <a:noFill/>
          </a:ln>
        </p:spPr>
        <p:txBody>
          <a:bodyPr anchorCtr="0" anchor="t" bIns="0" lIns="0" spcFirstLastPara="1" rIns="0" wrap="square" tIns="0">
            <a:spAutoFit/>
          </a:bodyPr>
          <a:lstStyle/>
          <a:p>
            <a:pPr indent="-294795" lvl="1" marL="589589" marR="0" rtl="0" algn="l">
              <a:lnSpc>
                <a:spcPct val="140036"/>
              </a:lnSpc>
              <a:spcBef>
                <a:spcPts val="0"/>
              </a:spcBef>
              <a:spcAft>
                <a:spcPts val="0"/>
              </a:spcAft>
              <a:buClr>
                <a:srgbClr val="FFDE59"/>
              </a:buClr>
              <a:buSzPts val="2730"/>
              <a:buFont typeface="Arial"/>
              <a:buChar char="•"/>
            </a:pPr>
            <a:r>
              <a:rPr b="0" i="0" lang="en-US" sz="2730" u="none" cap="none" strike="noStrike">
                <a:solidFill>
                  <a:srgbClr val="FFDE59"/>
                </a:solidFill>
                <a:latin typeface="Montserrat"/>
                <a:ea typeface="Montserrat"/>
                <a:cs typeface="Montserrat"/>
                <a:sym typeface="Montserrat"/>
              </a:rPr>
              <a:t>Software that communicate with the OS and translate data into a format understood by a hardware device (middle man)</a:t>
            </a:r>
            <a:endParaRPr/>
          </a:p>
          <a:p>
            <a:pPr indent="-294795" lvl="1" marL="589589" marR="0" rtl="0" algn="l">
              <a:lnSpc>
                <a:spcPct val="140036"/>
              </a:lnSpc>
              <a:spcBef>
                <a:spcPts val="0"/>
              </a:spcBef>
              <a:spcAft>
                <a:spcPts val="0"/>
              </a:spcAft>
              <a:buClr>
                <a:srgbClr val="FFDE59"/>
              </a:buClr>
              <a:buSzPts val="2730"/>
              <a:buFont typeface="Arial"/>
              <a:buChar char="•"/>
            </a:pPr>
            <a:r>
              <a:rPr b="0" i="0" lang="en-US" sz="2730" u="none" cap="none" strike="noStrike">
                <a:solidFill>
                  <a:srgbClr val="FFDE59"/>
                </a:solidFill>
                <a:latin typeface="Montserrat"/>
                <a:ea typeface="Montserrat"/>
                <a:cs typeface="Montserrat"/>
                <a:sym typeface="Montserrat"/>
              </a:rPr>
              <a:t>Without device drivers, a hardware device would be unable to work with a computer</a:t>
            </a:r>
            <a:endParaRPr/>
          </a:p>
          <a:p>
            <a:pPr indent="-294795" lvl="1" marL="589589" marR="0" rtl="0" algn="l">
              <a:lnSpc>
                <a:spcPct val="140036"/>
              </a:lnSpc>
              <a:spcBef>
                <a:spcPts val="0"/>
              </a:spcBef>
              <a:spcAft>
                <a:spcPts val="0"/>
              </a:spcAft>
              <a:buClr>
                <a:srgbClr val="FFDE59"/>
              </a:buClr>
              <a:buSzPts val="2730"/>
              <a:buFont typeface="Arial"/>
              <a:buChar char="•"/>
            </a:pPr>
            <a:r>
              <a:rPr b="0" i="0" lang="en-US" sz="2730" u="none" cap="none" strike="noStrike">
                <a:solidFill>
                  <a:srgbClr val="FFDE59"/>
                </a:solidFill>
                <a:latin typeface="Montserrat"/>
                <a:ea typeface="Montserrat"/>
                <a:cs typeface="Montserrat"/>
                <a:sym typeface="Montserrat"/>
              </a:rPr>
              <a:t>As soon as a device is plugged into a USB port, the OS looks for appropriate device driver</a:t>
            </a:r>
            <a:endParaRPr/>
          </a:p>
        </p:txBody>
      </p:sp>
      <p:sp>
        <p:nvSpPr>
          <p:cNvPr id="253" name="Google Shape;253;p28"/>
          <p:cNvSpPr/>
          <p:nvPr/>
        </p:nvSpPr>
        <p:spPr>
          <a:xfrm>
            <a:off x="440700" y="223856"/>
            <a:ext cx="10816352" cy="1079894"/>
          </a:xfrm>
          <a:custGeom>
            <a:rect b="b" l="l" r="r" t="t"/>
            <a:pathLst>
              <a:path extrusionOk="0" h="315782" w="3162910">
                <a:moveTo>
                  <a:pt x="0" y="0"/>
                </a:moveTo>
                <a:lnTo>
                  <a:pt x="0" y="315782"/>
                </a:lnTo>
                <a:lnTo>
                  <a:pt x="3162910" y="315782"/>
                </a:lnTo>
                <a:lnTo>
                  <a:pt x="3162910" y="0"/>
                </a:lnTo>
                <a:lnTo>
                  <a:pt x="0" y="0"/>
                </a:lnTo>
                <a:close/>
                <a:moveTo>
                  <a:pt x="3101950" y="254822"/>
                </a:moveTo>
                <a:lnTo>
                  <a:pt x="59690" y="254822"/>
                </a:lnTo>
                <a:lnTo>
                  <a:pt x="59690" y="59690"/>
                </a:lnTo>
                <a:lnTo>
                  <a:pt x="3101950" y="59690"/>
                </a:lnTo>
                <a:lnTo>
                  <a:pt x="3101950" y="254822"/>
                </a:lnTo>
                <a:close/>
              </a:path>
            </a:pathLst>
          </a:custGeom>
          <a:solidFill>
            <a:srgbClr val="004AAD"/>
          </a:solidFill>
          <a:ln>
            <a:noFill/>
          </a:ln>
        </p:spPr>
      </p:sp>
      <p:sp>
        <p:nvSpPr>
          <p:cNvPr id="254" name="Google Shape;254;p28"/>
          <p:cNvSpPr txBox="1"/>
          <p:nvPr/>
        </p:nvSpPr>
        <p:spPr>
          <a:xfrm>
            <a:off x="841103" y="526289"/>
            <a:ext cx="9802284" cy="486714"/>
          </a:xfrm>
          <a:prstGeom prst="rect">
            <a:avLst/>
          </a:prstGeom>
          <a:noFill/>
          <a:ln>
            <a:noFill/>
          </a:ln>
        </p:spPr>
        <p:txBody>
          <a:bodyPr anchorCtr="0" anchor="t" bIns="0" lIns="0" spcFirstLastPara="1" rIns="0" wrap="square" tIns="0">
            <a:spAutoFit/>
          </a:bodyPr>
          <a:lstStyle/>
          <a:p>
            <a:pPr indent="0" lvl="0" marL="0" marR="0" rtl="0" algn="ctr">
              <a:lnSpc>
                <a:spcPct val="96009"/>
              </a:lnSpc>
              <a:spcBef>
                <a:spcPts val="0"/>
              </a:spcBef>
              <a:spcAft>
                <a:spcPts val="0"/>
              </a:spcAft>
              <a:buNone/>
            </a:pPr>
            <a:r>
              <a:rPr b="1" i="0" lang="en-US" sz="3785" u="none" cap="none" strike="noStrike">
                <a:solidFill>
                  <a:srgbClr val="7ED957"/>
                </a:solidFill>
                <a:latin typeface="Montserrat"/>
                <a:ea typeface="Montserrat"/>
                <a:cs typeface="Montserrat"/>
                <a:sym typeface="Montserrat"/>
              </a:rPr>
              <a:t>Examples of utilities software (3)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58" name="Shape 258"/>
        <p:cNvGrpSpPr/>
        <p:nvPr/>
      </p:nvGrpSpPr>
      <p:grpSpPr>
        <a:xfrm>
          <a:off x="0" y="0"/>
          <a:ext cx="0" cy="0"/>
          <a:chOff x="0" y="0"/>
          <a:chExt cx="0" cy="0"/>
        </a:xfrm>
      </p:grpSpPr>
      <p:pic>
        <p:nvPicPr>
          <p:cNvPr id="259" name="Google Shape;259;p29"/>
          <p:cNvPicPr preferRelativeResize="0"/>
          <p:nvPr/>
        </p:nvPicPr>
        <p:blipFill rotWithShape="1">
          <a:blip r:embed="rId3">
            <a:alphaModFix/>
          </a:blip>
          <a:srcRect b="0" l="0" r="0" t="0"/>
          <a:stretch/>
        </p:blipFill>
        <p:spPr>
          <a:xfrm>
            <a:off x="841103" y="3830904"/>
            <a:ext cx="6790354" cy="4098905"/>
          </a:xfrm>
          <a:prstGeom prst="rect">
            <a:avLst/>
          </a:prstGeom>
          <a:noFill/>
          <a:ln>
            <a:noFill/>
          </a:ln>
        </p:spPr>
      </p:pic>
      <p:pic>
        <p:nvPicPr>
          <p:cNvPr id="260" name="Google Shape;260;p29"/>
          <p:cNvPicPr preferRelativeResize="0"/>
          <p:nvPr/>
        </p:nvPicPr>
        <p:blipFill rotWithShape="1">
          <a:blip r:embed="rId4">
            <a:alphaModFix/>
          </a:blip>
          <a:srcRect b="0" l="0" r="0" t="0"/>
          <a:stretch/>
        </p:blipFill>
        <p:spPr>
          <a:xfrm>
            <a:off x="2257027" y="4668132"/>
            <a:ext cx="3466792" cy="1903584"/>
          </a:xfrm>
          <a:prstGeom prst="rect">
            <a:avLst/>
          </a:prstGeom>
          <a:noFill/>
          <a:ln>
            <a:noFill/>
          </a:ln>
        </p:spPr>
      </p:pic>
      <p:sp>
        <p:nvSpPr>
          <p:cNvPr id="261" name="Google Shape;261;p29"/>
          <p:cNvSpPr txBox="1"/>
          <p:nvPr/>
        </p:nvSpPr>
        <p:spPr>
          <a:xfrm>
            <a:off x="1897194" y="2820508"/>
            <a:ext cx="4678172" cy="731430"/>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0" i="0" lang="en-US" sz="4259" u="none" cap="none" strike="noStrike">
                <a:solidFill>
                  <a:srgbClr val="FFDE59"/>
                </a:solidFill>
                <a:latin typeface="Montserrat"/>
                <a:ea typeface="Montserrat"/>
                <a:cs typeface="Montserrat"/>
                <a:sym typeface="Montserrat"/>
              </a:rPr>
              <a:t>Backup Software</a:t>
            </a:r>
            <a:endParaRPr/>
          </a:p>
        </p:txBody>
      </p:sp>
      <p:sp>
        <p:nvSpPr>
          <p:cNvPr id="262" name="Google Shape;262;p29"/>
          <p:cNvSpPr txBox="1"/>
          <p:nvPr/>
        </p:nvSpPr>
        <p:spPr>
          <a:xfrm>
            <a:off x="8064068" y="1854060"/>
            <a:ext cx="9733151" cy="7061247"/>
          </a:xfrm>
          <a:prstGeom prst="rect">
            <a:avLst/>
          </a:prstGeom>
          <a:noFill/>
          <a:ln>
            <a:noFill/>
          </a:ln>
        </p:spPr>
        <p:txBody>
          <a:bodyPr anchorCtr="0" anchor="t" bIns="0" lIns="0" spcFirstLastPara="1" rIns="0" wrap="square" tIns="0">
            <a:spAutoFit/>
          </a:bodyPr>
          <a:lstStyle/>
          <a:p>
            <a:pPr indent="-360458" lvl="1" marL="720917"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It is a good practice to use the operating system </a:t>
            </a:r>
            <a:r>
              <a:rPr b="1" i="0" lang="en-US" sz="3339" u="none" cap="none" strike="noStrike">
                <a:solidFill>
                  <a:srgbClr val="FFDE59"/>
                </a:solidFill>
                <a:latin typeface="Arimo"/>
                <a:ea typeface="Arimo"/>
                <a:cs typeface="Arimo"/>
                <a:sym typeface="Arimo"/>
              </a:rPr>
              <a:t>back-up utility </a:t>
            </a:r>
            <a:endParaRPr/>
          </a:p>
          <a:p>
            <a:pPr indent="-360458" lvl="1" marL="720917"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Allow a schedule for backing up files to be made </a:t>
            </a:r>
            <a:endParaRPr/>
          </a:p>
          <a:p>
            <a:pPr indent="-360458" lvl="1" marL="720917"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Total security </a:t>
            </a:r>
            <a:endParaRPr/>
          </a:p>
          <a:p>
            <a:pPr indent="-480611" lvl="2" marL="1441833"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Working version stored in SSD/HDD</a:t>
            </a:r>
            <a:endParaRPr/>
          </a:p>
          <a:p>
            <a:pPr indent="-480611" lvl="2" marL="1441833"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Locally backup stored in removable SSD/HDD</a:t>
            </a:r>
            <a:endParaRPr/>
          </a:p>
          <a:p>
            <a:pPr indent="-480611" lvl="2" marL="1441833"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Cloud Storage</a:t>
            </a:r>
            <a:endParaRPr/>
          </a:p>
          <a:p>
            <a:pPr indent="-360458" lvl="1" marL="720917"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OS</a:t>
            </a:r>
            <a:endParaRPr/>
          </a:p>
          <a:p>
            <a:pPr indent="-480611" lvl="2" marL="1441833"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Windows - File History</a:t>
            </a:r>
            <a:endParaRPr/>
          </a:p>
          <a:p>
            <a:pPr indent="-480611" lvl="2" marL="1441833" marR="0" rtl="0" algn="l">
              <a:lnSpc>
                <a:spcPct val="139982"/>
              </a:lnSpc>
              <a:spcBef>
                <a:spcPts val="0"/>
              </a:spcBef>
              <a:spcAft>
                <a:spcPts val="0"/>
              </a:spcAft>
              <a:buClr>
                <a:srgbClr val="FFDE59"/>
              </a:buClr>
              <a:buSzPts val="3339"/>
              <a:buFont typeface="Arial"/>
              <a:buChar char="⚬"/>
            </a:pPr>
            <a:r>
              <a:rPr b="0" i="0" lang="en-US" sz="3339" u="none" cap="none" strike="noStrike">
                <a:solidFill>
                  <a:srgbClr val="FFDE59"/>
                </a:solidFill>
                <a:latin typeface="Montserrat"/>
                <a:ea typeface="Montserrat"/>
                <a:cs typeface="Montserrat"/>
                <a:sym typeface="Montserrat"/>
              </a:rPr>
              <a:t>MacOS - TimeMachine</a:t>
            </a:r>
            <a:endParaRPr/>
          </a:p>
        </p:txBody>
      </p:sp>
      <p:sp>
        <p:nvSpPr>
          <p:cNvPr id="263" name="Google Shape;263;p29"/>
          <p:cNvSpPr/>
          <p:nvPr/>
        </p:nvSpPr>
        <p:spPr>
          <a:xfrm>
            <a:off x="440700" y="223856"/>
            <a:ext cx="10816352" cy="1079894"/>
          </a:xfrm>
          <a:custGeom>
            <a:rect b="b" l="l" r="r" t="t"/>
            <a:pathLst>
              <a:path extrusionOk="0" h="315782" w="3162910">
                <a:moveTo>
                  <a:pt x="0" y="0"/>
                </a:moveTo>
                <a:lnTo>
                  <a:pt x="0" y="315782"/>
                </a:lnTo>
                <a:lnTo>
                  <a:pt x="3162910" y="315782"/>
                </a:lnTo>
                <a:lnTo>
                  <a:pt x="3162910" y="0"/>
                </a:lnTo>
                <a:lnTo>
                  <a:pt x="0" y="0"/>
                </a:lnTo>
                <a:close/>
                <a:moveTo>
                  <a:pt x="3101950" y="254822"/>
                </a:moveTo>
                <a:lnTo>
                  <a:pt x="59690" y="254822"/>
                </a:lnTo>
                <a:lnTo>
                  <a:pt x="59690" y="59690"/>
                </a:lnTo>
                <a:lnTo>
                  <a:pt x="3101950" y="59690"/>
                </a:lnTo>
                <a:lnTo>
                  <a:pt x="3101950" y="254822"/>
                </a:lnTo>
                <a:close/>
              </a:path>
            </a:pathLst>
          </a:custGeom>
          <a:solidFill>
            <a:srgbClr val="004AAD"/>
          </a:solidFill>
          <a:ln>
            <a:noFill/>
          </a:ln>
        </p:spPr>
      </p:sp>
      <p:sp>
        <p:nvSpPr>
          <p:cNvPr id="264" name="Google Shape;264;p29"/>
          <p:cNvSpPr txBox="1"/>
          <p:nvPr/>
        </p:nvSpPr>
        <p:spPr>
          <a:xfrm>
            <a:off x="841103" y="526289"/>
            <a:ext cx="9802284" cy="486714"/>
          </a:xfrm>
          <a:prstGeom prst="rect">
            <a:avLst/>
          </a:prstGeom>
          <a:noFill/>
          <a:ln>
            <a:noFill/>
          </a:ln>
        </p:spPr>
        <p:txBody>
          <a:bodyPr anchorCtr="0" anchor="t" bIns="0" lIns="0" spcFirstLastPara="1" rIns="0" wrap="square" tIns="0">
            <a:spAutoFit/>
          </a:bodyPr>
          <a:lstStyle/>
          <a:p>
            <a:pPr indent="0" lvl="0" marL="0" marR="0" rtl="0" algn="ctr">
              <a:lnSpc>
                <a:spcPct val="96009"/>
              </a:lnSpc>
              <a:spcBef>
                <a:spcPts val="0"/>
              </a:spcBef>
              <a:spcAft>
                <a:spcPts val="0"/>
              </a:spcAft>
              <a:buNone/>
            </a:pPr>
            <a:r>
              <a:rPr b="1" i="0" lang="en-US" sz="3785" u="none" cap="none" strike="noStrike">
                <a:solidFill>
                  <a:srgbClr val="7ED957"/>
                </a:solidFill>
                <a:latin typeface="Montserrat"/>
                <a:ea typeface="Montserrat"/>
                <a:cs typeface="Montserrat"/>
                <a:sym typeface="Montserrat"/>
              </a:rPr>
              <a:t>Examples of utilities software (4)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68" name="Shape 268"/>
        <p:cNvGrpSpPr/>
        <p:nvPr/>
      </p:nvGrpSpPr>
      <p:grpSpPr>
        <a:xfrm>
          <a:off x="0" y="0"/>
          <a:ext cx="0" cy="0"/>
          <a:chOff x="0" y="0"/>
          <a:chExt cx="0" cy="0"/>
        </a:xfrm>
      </p:grpSpPr>
      <p:sp>
        <p:nvSpPr>
          <p:cNvPr id="269" name="Google Shape;269;p30"/>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3A7F44"/>
          </a:solidFill>
          <a:ln>
            <a:noFill/>
          </a:ln>
        </p:spPr>
      </p:sp>
      <p:sp>
        <p:nvSpPr>
          <p:cNvPr id="270" name="Google Shape;270;p30"/>
          <p:cNvSpPr txBox="1"/>
          <p:nvPr/>
        </p:nvSpPr>
        <p:spPr>
          <a:xfrm>
            <a:off x="841103" y="527217"/>
            <a:ext cx="7129303" cy="558897"/>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FDFDFD"/>
                </a:solidFill>
                <a:latin typeface="Arial"/>
                <a:ea typeface="Arial"/>
                <a:cs typeface="Arial"/>
                <a:sym typeface="Arial"/>
              </a:rPr>
              <a:t>Application Software</a:t>
            </a:r>
            <a:endParaRPr/>
          </a:p>
        </p:txBody>
      </p:sp>
      <p:sp>
        <p:nvSpPr>
          <p:cNvPr id="271" name="Google Shape;271;p30"/>
          <p:cNvSpPr/>
          <p:nvPr/>
        </p:nvSpPr>
        <p:spPr>
          <a:xfrm>
            <a:off x="440700" y="2432707"/>
            <a:ext cx="6826535" cy="2593657"/>
          </a:xfrm>
          <a:custGeom>
            <a:rect b="b" l="l" r="r" t="t"/>
            <a:pathLst>
              <a:path extrusionOk="0" h="758435" w="1996210">
                <a:moveTo>
                  <a:pt x="0" y="0"/>
                </a:moveTo>
                <a:lnTo>
                  <a:pt x="0" y="758435"/>
                </a:lnTo>
                <a:lnTo>
                  <a:pt x="1996210" y="758435"/>
                </a:lnTo>
                <a:lnTo>
                  <a:pt x="1996210" y="0"/>
                </a:lnTo>
                <a:lnTo>
                  <a:pt x="0" y="0"/>
                </a:lnTo>
                <a:close/>
                <a:moveTo>
                  <a:pt x="1935250" y="697475"/>
                </a:moveTo>
                <a:lnTo>
                  <a:pt x="59690" y="697475"/>
                </a:lnTo>
                <a:lnTo>
                  <a:pt x="59690" y="59690"/>
                </a:lnTo>
                <a:lnTo>
                  <a:pt x="1935250" y="59690"/>
                </a:lnTo>
                <a:lnTo>
                  <a:pt x="1935250" y="697475"/>
                </a:lnTo>
                <a:close/>
              </a:path>
            </a:pathLst>
          </a:custGeom>
          <a:solidFill>
            <a:srgbClr val="F47215"/>
          </a:solidFill>
          <a:ln>
            <a:noFill/>
          </a:ln>
        </p:spPr>
      </p:sp>
      <p:sp>
        <p:nvSpPr>
          <p:cNvPr id="272" name="Google Shape;272;p30"/>
          <p:cNvSpPr txBox="1"/>
          <p:nvPr/>
        </p:nvSpPr>
        <p:spPr>
          <a:xfrm>
            <a:off x="779060" y="2766106"/>
            <a:ext cx="6149814" cy="17807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Software that a user needs to make use of the computer system</a:t>
            </a:r>
            <a:endParaRPr/>
          </a:p>
        </p:txBody>
      </p:sp>
      <p:sp>
        <p:nvSpPr>
          <p:cNvPr id="273" name="Google Shape;273;p30"/>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Definition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77" name="Shape 277"/>
        <p:cNvGrpSpPr/>
        <p:nvPr/>
      </p:nvGrpSpPr>
      <p:grpSpPr>
        <a:xfrm>
          <a:off x="0" y="0"/>
          <a:ext cx="0" cy="0"/>
          <a:chOff x="0" y="0"/>
          <a:chExt cx="0" cy="0"/>
        </a:xfrm>
      </p:grpSpPr>
      <p:sp>
        <p:nvSpPr>
          <p:cNvPr id="278" name="Google Shape;278;p31"/>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3A7F44"/>
          </a:solidFill>
          <a:ln>
            <a:noFill/>
          </a:ln>
        </p:spPr>
      </p:sp>
      <p:sp>
        <p:nvSpPr>
          <p:cNvPr id="279" name="Google Shape;279;p31"/>
          <p:cNvSpPr txBox="1"/>
          <p:nvPr/>
        </p:nvSpPr>
        <p:spPr>
          <a:xfrm>
            <a:off x="841103" y="527217"/>
            <a:ext cx="7129303" cy="558897"/>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FDFDFD"/>
                </a:solidFill>
                <a:latin typeface="Arial"/>
                <a:ea typeface="Arial"/>
                <a:cs typeface="Arial"/>
                <a:sym typeface="Arial"/>
              </a:rPr>
              <a:t>Application Software</a:t>
            </a:r>
            <a:endParaRPr/>
          </a:p>
        </p:txBody>
      </p:sp>
      <p:sp>
        <p:nvSpPr>
          <p:cNvPr id="280" name="Google Shape;280;p31"/>
          <p:cNvSpPr/>
          <p:nvPr/>
        </p:nvSpPr>
        <p:spPr>
          <a:xfrm>
            <a:off x="440700" y="2432707"/>
            <a:ext cx="6826535" cy="2593657"/>
          </a:xfrm>
          <a:custGeom>
            <a:rect b="b" l="l" r="r" t="t"/>
            <a:pathLst>
              <a:path extrusionOk="0" h="758435" w="1996210">
                <a:moveTo>
                  <a:pt x="0" y="0"/>
                </a:moveTo>
                <a:lnTo>
                  <a:pt x="0" y="758435"/>
                </a:lnTo>
                <a:lnTo>
                  <a:pt x="1996210" y="758435"/>
                </a:lnTo>
                <a:lnTo>
                  <a:pt x="1996210" y="0"/>
                </a:lnTo>
                <a:lnTo>
                  <a:pt x="0" y="0"/>
                </a:lnTo>
                <a:close/>
                <a:moveTo>
                  <a:pt x="1935250" y="697475"/>
                </a:moveTo>
                <a:lnTo>
                  <a:pt x="59690" y="697475"/>
                </a:lnTo>
                <a:lnTo>
                  <a:pt x="59690" y="59690"/>
                </a:lnTo>
                <a:lnTo>
                  <a:pt x="1935250" y="59690"/>
                </a:lnTo>
                <a:lnTo>
                  <a:pt x="1935250" y="697475"/>
                </a:lnTo>
                <a:close/>
              </a:path>
            </a:pathLst>
          </a:custGeom>
          <a:solidFill>
            <a:srgbClr val="F47215"/>
          </a:solidFill>
          <a:ln>
            <a:noFill/>
          </a:ln>
        </p:spPr>
      </p:sp>
      <p:sp>
        <p:nvSpPr>
          <p:cNvPr id="281" name="Google Shape;281;p31"/>
          <p:cNvSpPr txBox="1"/>
          <p:nvPr/>
        </p:nvSpPr>
        <p:spPr>
          <a:xfrm>
            <a:off x="779060" y="2766106"/>
            <a:ext cx="6149814" cy="17807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Software that a user needs to make use of the computer system</a:t>
            </a:r>
            <a:endParaRPr/>
          </a:p>
        </p:txBody>
      </p:sp>
      <p:sp>
        <p:nvSpPr>
          <p:cNvPr id="282" name="Google Shape;282;p31"/>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Definition</a:t>
            </a:r>
            <a:endParaRPr/>
          </a:p>
        </p:txBody>
      </p:sp>
      <p:sp>
        <p:nvSpPr>
          <p:cNvPr id="283" name="Google Shape;283;p31"/>
          <p:cNvSpPr/>
          <p:nvPr/>
        </p:nvSpPr>
        <p:spPr>
          <a:xfrm>
            <a:off x="8601950" y="2432707"/>
            <a:ext cx="8047311" cy="6825593"/>
          </a:xfrm>
          <a:custGeom>
            <a:rect b="b" l="l" r="r" t="t"/>
            <a:pathLst>
              <a:path extrusionOk="0" h="1995935" w="2353189">
                <a:moveTo>
                  <a:pt x="0" y="0"/>
                </a:moveTo>
                <a:lnTo>
                  <a:pt x="0" y="1995935"/>
                </a:lnTo>
                <a:lnTo>
                  <a:pt x="2353189" y="1995935"/>
                </a:lnTo>
                <a:lnTo>
                  <a:pt x="2353189" y="0"/>
                </a:lnTo>
                <a:lnTo>
                  <a:pt x="0" y="0"/>
                </a:lnTo>
                <a:close/>
                <a:moveTo>
                  <a:pt x="2292229" y="1934975"/>
                </a:moveTo>
                <a:lnTo>
                  <a:pt x="59690" y="1934975"/>
                </a:lnTo>
                <a:lnTo>
                  <a:pt x="59690" y="59690"/>
                </a:lnTo>
                <a:lnTo>
                  <a:pt x="2292229" y="59690"/>
                </a:lnTo>
                <a:lnTo>
                  <a:pt x="2292229" y="1934975"/>
                </a:lnTo>
                <a:close/>
              </a:path>
            </a:pathLst>
          </a:custGeom>
          <a:solidFill>
            <a:srgbClr val="F47215"/>
          </a:solidFill>
          <a:ln>
            <a:noFill/>
          </a:ln>
        </p:spPr>
      </p:sp>
      <p:sp>
        <p:nvSpPr>
          <p:cNvPr id="284" name="Google Shape;284;p31"/>
          <p:cNvSpPr txBox="1"/>
          <p:nvPr/>
        </p:nvSpPr>
        <p:spPr>
          <a:xfrm>
            <a:off x="860195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Examples</a:t>
            </a:r>
            <a:endParaRPr/>
          </a:p>
        </p:txBody>
      </p:sp>
      <p:sp>
        <p:nvSpPr>
          <p:cNvPr id="285" name="Google Shape;285;p31"/>
          <p:cNvSpPr txBox="1"/>
          <p:nvPr/>
        </p:nvSpPr>
        <p:spPr>
          <a:xfrm>
            <a:off x="9026687" y="2766106"/>
            <a:ext cx="7207821" cy="5381242"/>
          </a:xfrm>
          <a:prstGeom prst="rect">
            <a:avLst/>
          </a:prstGeom>
          <a:noFill/>
          <a:ln>
            <a:noFill/>
          </a:ln>
        </p:spPr>
        <p:txBody>
          <a:bodyPr anchorCtr="0" anchor="t" bIns="0" lIns="0" spcFirstLastPara="1" rIns="0" wrap="square" tIns="0">
            <a:spAutoFit/>
          </a:bodyPr>
          <a:lstStyle/>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Word Processor</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Spreadsheet</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Database</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Video Editing Software</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Apps</a:t>
            </a:r>
            <a:endParaRPr/>
          </a:p>
          <a:p>
            <a:pPr indent="-487947" lvl="2" marL="1463841"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Music and video streaming</a:t>
            </a:r>
            <a:endParaRPr/>
          </a:p>
          <a:p>
            <a:pPr indent="-487947" lvl="2" marL="1463841"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GPS</a:t>
            </a:r>
            <a:endParaRPr/>
          </a:p>
          <a:p>
            <a:pPr indent="-487947" lvl="2" marL="1463841"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Camera facility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289" name="Shape 289"/>
        <p:cNvGrpSpPr/>
        <p:nvPr/>
      </p:nvGrpSpPr>
      <p:grpSpPr>
        <a:xfrm>
          <a:off x="0" y="0"/>
          <a:ext cx="0" cy="0"/>
          <a:chOff x="0" y="0"/>
          <a:chExt cx="0" cy="0"/>
        </a:xfrm>
      </p:grpSpPr>
      <p:sp>
        <p:nvSpPr>
          <p:cNvPr id="290" name="Google Shape;290;p32"/>
          <p:cNvSpPr/>
          <p:nvPr/>
        </p:nvSpPr>
        <p:spPr>
          <a:xfrm>
            <a:off x="440700" y="223856"/>
            <a:ext cx="8161251" cy="1079894"/>
          </a:xfrm>
          <a:custGeom>
            <a:rect b="b" l="l" r="r" t="t"/>
            <a:pathLst>
              <a:path extrusionOk="0" h="315782" w="2386507">
                <a:moveTo>
                  <a:pt x="0" y="0"/>
                </a:moveTo>
                <a:lnTo>
                  <a:pt x="0" y="315782"/>
                </a:lnTo>
                <a:lnTo>
                  <a:pt x="2386507" y="315782"/>
                </a:lnTo>
                <a:lnTo>
                  <a:pt x="2386507" y="0"/>
                </a:lnTo>
                <a:lnTo>
                  <a:pt x="0" y="0"/>
                </a:lnTo>
                <a:close/>
                <a:moveTo>
                  <a:pt x="2325547" y="254822"/>
                </a:moveTo>
                <a:lnTo>
                  <a:pt x="59690" y="254822"/>
                </a:lnTo>
                <a:lnTo>
                  <a:pt x="59690" y="59690"/>
                </a:lnTo>
                <a:lnTo>
                  <a:pt x="2325547" y="59690"/>
                </a:lnTo>
                <a:lnTo>
                  <a:pt x="2325547" y="254822"/>
                </a:lnTo>
                <a:close/>
              </a:path>
            </a:pathLst>
          </a:custGeom>
          <a:solidFill>
            <a:srgbClr val="3A7F44"/>
          </a:solidFill>
          <a:ln>
            <a:noFill/>
          </a:ln>
        </p:spPr>
      </p:sp>
      <p:sp>
        <p:nvSpPr>
          <p:cNvPr id="291" name="Google Shape;291;p32"/>
          <p:cNvSpPr txBox="1"/>
          <p:nvPr/>
        </p:nvSpPr>
        <p:spPr>
          <a:xfrm>
            <a:off x="841103" y="527217"/>
            <a:ext cx="7129303" cy="558897"/>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4274" u="none" cap="none" strike="noStrike">
                <a:solidFill>
                  <a:srgbClr val="FDFDFD"/>
                </a:solidFill>
                <a:latin typeface="Arial"/>
                <a:ea typeface="Arial"/>
                <a:cs typeface="Arial"/>
                <a:sym typeface="Arial"/>
              </a:rPr>
              <a:t>Application Software</a:t>
            </a:r>
            <a:endParaRPr/>
          </a:p>
        </p:txBody>
      </p:sp>
      <p:sp>
        <p:nvSpPr>
          <p:cNvPr id="292" name="Google Shape;292;p32"/>
          <p:cNvSpPr/>
          <p:nvPr/>
        </p:nvSpPr>
        <p:spPr>
          <a:xfrm>
            <a:off x="440700" y="2432707"/>
            <a:ext cx="6826535" cy="2593657"/>
          </a:xfrm>
          <a:custGeom>
            <a:rect b="b" l="l" r="r" t="t"/>
            <a:pathLst>
              <a:path extrusionOk="0" h="758435" w="1996210">
                <a:moveTo>
                  <a:pt x="0" y="0"/>
                </a:moveTo>
                <a:lnTo>
                  <a:pt x="0" y="758435"/>
                </a:lnTo>
                <a:lnTo>
                  <a:pt x="1996210" y="758435"/>
                </a:lnTo>
                <a:lnTo>
                  <a:pt x="1996210" y="0"/>
                </a:lnTo>
                <a:lnTo>
                  <a:pt x="0" y="0"/>
                </a:lnTo>
                <a:close/>
                <a:moveTo>
                  <a:pt x="1935250" y="697475"/>
                </a:moveTo>
                <a:lnTo>
                  <a:pt x="59690" y="697475"/>
                </a:lnTo>
                <a:lnTo>
                  <a:pt x="59690" y="59690"/>
                </a:lnTo>
                <a:lnTo>
                  <a:pt x="1935250" y="59690"/>
                </a:lnTo>
                <a:lnTo>
                  <a:pt x="1935250" y="697475"/>
                </a:lnTo>
                <a:close/>
              </a:path>
            </a:pathLst>
          </a:custGeom>
          <a:solidFill>
            <a:srgbClr val="F47215"/>
          </a:solidFill>
          <a:ln>
            <a:noFill/>
          </a:ln>
        </p:spPr>
      </p:sp>
      <p:sp>
        <p:nvSpPr>
          <p:cNvPr id="293" name="Google Shape;293;p32"/>
          <p:cNvSpPr txBox="1"/>
          <p:nvPr/>
        </p:nvSpPr>
        <p:spPr>
          <a:xfrm>
            <a:off x="779060" y="2766106"/>
            <a:ext cx="6149814" cy="17807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Software that a user needs to make use of the computer system</a:t>
            </a:r>
            <a:endParaRPr/>
          </a:p>
        </p:txBody>
      </p:sp>
      <p:sp>
        <p:nvSpPr>
          <p:cNvPr id="294" name="Google Shape;294;p32"/>
          <p:cNvSpPr txBox="1"/>
          <p:nvPr/>
        </p:nvSpPr>
        <p:spPr>
          <a:xfrm>
            <a:off x="44070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Definition</a:t>
            </a:r>
            <a:endParaRPr/>
          </a:p>
        </p:txBody>
      </p:sp>
      <p:sp>
        <p:nvSpPr>
          <p:cNvPr id="295" name="Google Shape;295;p32"/>
          <p:cNvSpPr/>
          <p:nvPr/>
        </p:nvSpPr>
        <p:spPr>
          <a:xfrm>
            <a:off x="8601950" y="2432707"/>
            <a:ext cx="8047311" cy="6825593"/>
          </a:xfrm>
          <a:custGeom>
            <a:rect b="b" l="l" r="r" t="t"/>
            <a:pathLst>
              <a:path extrusionOk="0" h="1995935" w="2353189">
                <a:moveTo>
                  <a:pt x="0" y="0"/>
                </a:moveTo>
                <a:lnTo>
                  <a:pt x="0" y="1995935"/>
                </a:lnTo>
                <a:lnTo>
                  <a:pt x="2353189" y="1995935"/>
                </a:lnTo>
                <a:lnTo>
                  <a:pt x="2353189" y="0"/>
                </a:lnTo>
                <a:lnTo>
                  <a:pt x="0" y="0"/>
                </a:lnTo>
                <a:close/>
                <a:moveTo>
                  <a:pt x="2292229" y="1934975"/>
                </a:moveTo>
                <a:lnTo>
                  <a:pt x="59690" y="1934975"/>
                </a:lnTo>
                <a:lnTo>
                  <a:pt x="59690" y="59690"/>
                </a:lnTo>
                <a:lnTo>
                  <a:pt x="2292229" y="59690"/>
                </a:lnTo>
                <a:lnTo>
                  <a:pt x="2292229" y="1934975"/>
                </a:lnTo>
                <a:close/>
              </a:path>
            </a:pathLst>
          </a:custGeom>
          <a:solidFill>
            <a:srgbClr val="F47215"/>
          </a:solidFill>
          <a:ln>
            <a:noFill/>
          </a:ln>
        </p:spPr>
      </p:sp>
      <p:sp>
        <p:nvSpPr>
          <p:cNvPr id="296" name="Google Shape;296;p32"/>
          <p:cNvSpPr txBox="1"/>
          <p:nvPr/>
        </p:nvSpPr>
        <p:spPr>
          <a:xfrm>
            <a:off x="8601950" y="1738517"/>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Examples</a:t>
            </a:r>
            <a:endParaRPr/>
          </a:p>
        </p:txBody>
      </p:sp>
      <p:sp>
        <p:nvSpPr>
          <p:cNvPr id="297" name="Google Shape;297;p32"/>
          <p:cNvSpPr txBox="1"/>
          <p:nvPr/>
        </p:nvSpPr>
        <p:spPr>
          <a:xfrm>
            <a:off x="9026687" y="2766106"/>
            <a:ext cx="7207821" cy="5381242"/>
          </a:xfrm>
          <a:prstGeom prst="rect">
            <a:avLst/>
          </a:prstGeom>
          <a:noFill/>
          <a:ln>
            <a:noFill/>
          </a:ln>
        </p:spPr>
        <p:txBody>
          <a:bodyPr anchorCtr="0" anchor="t" bIns="0" lIns="0" spcFirstLastPara="1" rIns="0" wrap="square" tIns="0">
            <a:spAutoFit/>
          </a:bodyPr>
          <a:lstStyle/>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Word Processor</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Spreadsheet</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Database</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Video Editing Software</a:t>
            </a:r>
            <a:endParaRPr/>
          </a:p>
          <a:p>
            <a:pPr indent="-365960" lvl="1" marL="731920"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Apps</a:t>
            </a:r>
            <a:endParaRPr/>
          </a:p>
          <a:p>
            <a:pPr indent="-487947" lvl="2" marL="1463841"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Music and video streaming</a:t>
            </a:r>
            <a:endParaRPr/>
          </a:p>
          <a:p>
            <a:pPr indent="-487947" lvl="2" marL="1463841"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GPS</a:t>
            </a:r>
            <a:endParaRPr/>
          </a:p>
          <a:p>
            <a:pPr indent="-487947" lvl="2" marL="1463841" marR="0" rtl="0" algn="l">
              <a:lnSpc>
                <a:spcPct val="140000"/>
              </a:lnSpc>
              <a:spcBef>
                <a:spcPts val="0"/>
              </a:spcBef>
              <a:spcAft>
                <a:spcPts val="0"/>
              </a:spcAft>
              <a:buClr>
                <a:srgbClr val="38B6FF"/>
              </a:buClr>
              <a:buSzPts val="3390"/>
              <a:buFont typeface="Arial"/>
              <a:buChar char="•"/>
            </a:pPr>
            <a:r>
              <a:rPr b="0" i="0" lang="en-US" sz="3390" u="none" cap="none" strike="noStrike">
                <a:solidFill>
                  <a:srgbClr val="38B6FF"/>
                </a:solidFill>
                <a:latin typeface="Montserrat"/>
                <a:ea typeface="Montserrat"/>
                <a:cs typeface="Montserrat"/>
                <a:sym typeface="Montserrat"/>
              </a:rPr>
              <a:t>Camera facility</a:t>
            </a:r>
            <a:endParaRPr/>
          </a:p>
        </p:txBody>
      </p:sp>
      <p:sp>
        <p:nvSpPr>
          <p:cNvPr id="298" name="Google Shape;298;p32"/>
          <p:cNvSpPr/>
          <p:nvPr/>
        </p:nvSpPr>
        <p:spPr>
          <a:xfrm>
            <a:off x="440700" y="5845503"/>
            <a:ext cx="6826535" cy="3412797"/>
          </a:xfrm>
          <a:custGeom>
            <a:rect b="b" l="l" r="r" t="t"/>
            <a:pathLst>
              <a:path extrusionOk="0" h="997967" w="1996210">
                <a:moveTo>
                  <a:pt x="0" y="0"/>
                </a:moveTo>
                <a:lnTo>
                  <a:pt x="0" y="997967"/>
                </a:lnTo>
                <a:lnTo>
                  <a:pt x="1996210" y="997967"/>
                </a:lnTo>
                <a:lnTo>
                  <a:pt x="1996210" y="0"/>
                </a:lnTo>
                <a:lnTo>
                  <a:pt x="0" y="0"/>
                </a:lnTo>
                <a:close/>
                <a:moveTo>
                  <a:pt x="1935250" y="937007"/>
                </a:moveTo>
                <a:lnTo>
                  <a:pt x="59690" y="937007"/>
                </a:lnTo>
                <a:lnTo>
                  <a:pt x="59690" y="59690"/>
                </a:lnTo>
                <a:lnTo>
                  <a:pt x="1935250" y="59690"/>
                </a:lnTo>
                <a:lnTo>
                  <a:pt x="1935250" y="937007"/>
                </a:lnTo>
                <a:close/>
              </a:path>
            </a:pathLst>
          </a:custGeom>
          <a:solidFill>
            <a:srgbClr val="F47215"/>
          </a:solidFill>
          <a:ln>
            <a:noFill/>
          </a:ln>
        </p:spPr>
      </p:sp>
      <p:sp>
        <p:nvSpPr>
          <p:cNvPr id="299" name="Google Shape;299;p32"/>
          <p:cNvSpPr txBox="1"/>
          <p:nvPr/>
        </p:nvSpPr>
        <p:spPr>
          <a:xfrm>
            <a:off x="440700" y="5166406"/>
            <a:ext cx="2850221" cy="5806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90" u="none" cap="none" strike="noStrike">
                <a:solidFill>
                  <a:srgbClr val="38B6FF"/>
                </a:solidFill>
                <a:latin typeface="Montserrat"/>
                <a:ea typeface="Montserrat"/>
                <a:cs typeface="Montserrat"/>
                <a:sym typeface="Montserrat"/>
              </a:rPr>
              <a:t>Features</a:t>
            </a:r>
            <a:endParaRPr/>
          </a:p>
        </p:txBody>
      </p:sp>
      <p:sp>
        <p:nvSpPr>
          <p:cNvPr id="300" name="Google Shape;300;p32"/>
          <p:cNvSpPr txBox="1"/>
          <p:nvPr/>
        </p:nvSpPr>
        <p:spPr>
          <a:xfrm>
            <a:off x="779060" y="6074141"/>
            <a:ext cx="6149814" cy="2902184"/>
          </a:xfrm>
          <a:prstGeom prst="rect">
            <a:avLst/>
          </a:prstGeom>
          <a:noFill/>
          <a:ln>
            <a:noFill/>
          </a:ln>
        </p:spPr>
        <p:txBody>
          <a:bodyPr anchorCtr="0" anchor="t" bIns="0" lIns="0" spcFirstLastPara="1" rIns="0" wrap="square" tIns="0">
            <a:spAutoFit/>
          </a:bodyPr>
          <a:lstStyle/>
          <a:p>
            <a:pPr indent="-295866" lvl="1" marL="591732" marR="0" rtl="0" algn="l">
              <a:lnSpc>
                <a:spcPct val="140036"/>
              </a:lnSpc>
              <a:spcBef>
                <a:spcPts val="0"/>
              </a:spcBef>
              <a:spcAft>
                <a:spcPts val="0"/>
              </a:spcAft>
              <a:buClr>
                <a:srgbClr val="38B6FF"/>
              </a:buClr>
              <a:buSzPts val="2740"/>
              <a:buFont typeface="Arial"/>
              <a:buChar char="•"/>
            </a:pPr>
            <a:r>
              <a:rPr b="0" i="0" lang="en-US" sz="2740" u="none" cap="none" strike="noStrike">
                <a:solidFill>
                  <a:srgbClr val="38B6FF"/>
                </a:solidFill>
                <a:latin typeface="Montserrat"/>
                <a:ea typeface="Montserrat"/>
                <a:cs typeface="Montserrat"/>
                <a:sym typeface="Montserrat"/>
              </a:rPr>
              <a:t>Used to perform various applications (apps) on a computer</a:t>
            </a:r>
            <a:endParaRPr/>
          </a:p>
          <a:p>
            <a:pPr indent="-295866" lvl="1" marL="591732" marR="0" rtl="0" algn="l">
              <a:lnSpc>
                <a:spcPct val="140036"/>
              </a:lnSpc>
              <a:spcBef>
                <a:spcPts val="0"/>
              </a:spcBef>
              <a:spcAft>
                <a:spcPts val="0"/>
              </a:spcAft>
              <a:buClr>
                <a:srgbClr val="38B6FF"/>
              </a:buClr>
              <a:buSzPts val="2740"/>
              <a:buFont typeface="Arial"/>
              <a:buChar char="•"/>
            </a:pPr>
            <a:r>
              <a:rPr b="0" i="0" lang="en-US" sz="2740" u="none" cap="none" strike="noStrike">
                <a:solidFill>
                  <a:srgbClr val="38B6FF"/>
                </a:solidFill>
                <a:latin typeface="Montserrat"/>
                <a:ea typeface="Montserrat"/>
                <a:cs typeface="Montserrat"/>
                <a:sym typeface="Montserrat"/>
              </a:rPr>
              <a:t>Allows a user to perform specific tasks using the computer’s resources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304" name="Shape 304"/>
        <p:cNvGrpSpPr/>
        <p:nvPr/>
      </p:nvGrpSpPr>
      <p:grpSpPr>
        <a:xfrm>
          <a:off x="0" y="0"/>
          <a:ext cx="0" cy="0"/>
          <a:chOff x="0" y="0"/>
          <a:chExt cx="0" cy="0"/>
        </a:xfrm>
      </p:grpSpPr>
      <p:sp>
        <p:nvSpPr>
          <p:cNvPr id="305" name="Google Shape;305;p33"/>
          <p:cNvSpPr/>
          <p:nvPr/>
        </p:nvSpPr>
        <p:spPr>
          <a:xfrm>
            <a:off x="767127" y="2007605"/>
            <a:ext cx="8019261" cy="1974351"/>
          </a:xfrm>
          <a:custGeom>
            <a:rect b="b" l="l" r="r" t="t"/>
            <a:pathLst>
              <a:path extrusionOk="0" h="566909" w="2302624">
                <a:moveTo>
                  <a:pt x="0" y="0"/>
                </a:moveTo>
                <a:lnTo>
                  <a:pt x="0" y="566909"/>
                </a:lnTo>
                <a:lnTo>
                  <a:pt x="2302624" y="566909"/>
                </a:lnTo>
                <a:lnTo>
                  <a:pt x="2302624" y="0"/>
                </a:lnTo>
                <a:lnTo>
                  <a:pt x="0" y="0"/>
                </a:lnTo>
                <a:close/>
                <a:moveTo>
                  <a:pt x="2241664" y="505949"/>
                </a:moveTo>
                <a:lnTo>
                  <a:pt x="59690" y="505949"/>
                </a:lnTo>
                <a:lnTo>
                  <a:pt x="59690" y="59690"/>
                </a:lnTo>
                <a:lnTo>
                  <a:pt x="2241664" y="59690"/>
                </a:lnTo>
                <a:lnTo>
                  <a:pt x="2241664" y="505949"/>
                </a:lnTo>
                <a:close/>
              </a:path>
            </a:pathLst>
          </a:custGeom>
          <a:solidFill>
            <a:srgbClr val="004AAD"/>
          </a:solidFill>
          <a:ln>
            <a:noFill/>
          </a:ln>
        </p:spPr>
      </p:sp>
      <p:sp>
        <p:nvSpPr>
          <p:cNvPr id="306" name="Google Shape;306;p33"/>
          <p:cNvSpPr txBox="1"/>
          <p:nvPr/>
        </p:nvSpPr>
        <p:spPr>
          <a:xfrm>
            <a:off x="1219200" y="6807126"/>
            <a:ext cx="7418053" cy="846582"/>
          </a:xfrm>
          <a:prstGeom prst="rect">
            <a:avLst/>
          </a:prstGeom>
          <a:noFill/>
          <a:ln>
            <a:noFill/>
          </a:ln>
        </p:spPr>
        <p:txBody>
          <a:bodyPr anchorCtr="0" anchor="t" bIns="0" lIns="0" spcFirstLastPara="1" rIns="0" wrap="square" tIns="0">
            <a:spAutoFit/>
          </a:bodyPr>
          <a:lstStyle/>
          <a:p>
            <a:pPr indent="0" lvl="0" marL="0" marR="0" rtl="0" algn="ctr">
              <a:lnSpc>
                <a:spcPct val="95998"/>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Eg. BIOS, OS, Device Driver, Utilities</a:t>
            </a:r>
            <a:endParaRPr/>
          </a:p>
        </p:txBody>
      </p:sp>
      <p:sp>
        <p:nvSpPr>
          <p:cNvPr id="307" name="Google Shape;307;p33"/>
          <p:cNvSpPr txBox="1"/>
          <p:nvPr/>
        </p:nvSpPr>
        <p:spPr>
          <a:xfrm>
            <a:off x="2494293" y="2588049"/>
            <a:ext cx="4564928" cy="880141"/>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3475" u="none" cap="none" strike="noStrike">
                <a:solidFill>
                  <a:srgbClr val="FF1616"/>
                </a:solidFill>
                <a:latin typeface="Arial"/>
                <a:ea typeface="Arial"/>
                <a:cs typeface="Arial"/>
                <a:sym typeface="Arial"/>
              </a:rPr>
              <a:t>System Software  - The Manager</a:t>
            </a:r>
            <a:endParaRPr/>
          </a:p>
        </p:txBody>
      </p:sp>
      <p:sp>
        <p:nvSpPr>
          <p:cNvPr id="308" name="Google Shape;308;p33"/>
          <p:cNvSpPr txBox="1"/>
          <p:nvPr/>
        </p:nvSpPr>
        <p:spPr>
          <a:xfrm>
            <a:off x="3769893" y="1285875"/>
            <a:ext cx="11129215" cy="458365"/>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1" i="0" lang="en-US" sz="3475" u="none" cap="none" strike="noStrike">
                <a:solidFill>
                  <a:srgbClr val="7ED957"/>
                </a:solidFill>
                <a:latin typeface="Montserrat"/>
                <a:ea typeface="Montserrat"/>
                <a:cs typeface="Montserrat"/>
                <a:sym typeface="Montserrat"/>
              </a:rPr>
              <a:t>Classification of Software</a:t>
            </a:r>
            <a:endParaRPr/>
          </a:p>
        </p:txBody>
      </p:sp>
      <p:sp>
        <p:nvSpPr>
          <p:cNvPr id="309" name="Google Shape;309;p33"/>
          <p:cNvSpPr txBox="1"/>
          <p:nvPr/>
        </p:nvSpPr>
        <p:spPr>
          <a:xfrm>
            <a:off x="1219200" y="4579164"/>
            <a:ext cx="7418053" cy="1256157"/>
          </a:xfrm>
          <a:prstGeom prst="rect">
            <a:avLst/>
          </a:prstGeom>
          <a:noFill/>
          <a:ln>
            <a:noFill/>
          </a:ln>
        </p:spPr>
        <p:txBody>
          <a:bodyPr anchorCtr="0" anchor="t" bIns="0" lIns="0" spcFirstLastPara="1" rIns="0" wrap="square" tIns="0">
            <a:spAutoFit/>
          </a:bodyPr>
          <a:lstStyle/>
          <a:p>
            <a:pPr indent="0" lvl="0" marL="0" marR="0" rtl="0" algn="ctr">
              <a:lnSpc>
                <a:spcPct val="95998"/>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Responsible for managing the hardware and other software in a computer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2438"/>
        </a:solidFill>
      </p:bgPr>
    </p:bg>
    <p:spTree>
      <p:nvGrpSpPr>
        <p:cNvPr id="313" name="Shape 313"/>
        <p:cNvGrpSpPr/>
        <p:nvPr/>
      </p:nvGrpSpPr>
      <p:grpSpPr>
        <a:xfrm>
          <a:off x="0" y="0"/>
          <a:ext cx="0" cy="0"/>
          <a:chOff x="0" y="0"/>
          <a:chExt cx="0" cy="0"/>
        </a:xfrm>
      </p:grpSpPr>
      <p:sp>
        <p:nvSpPr>
          <p:cNvPr id="314" name="Google Shape;314;p34"/>
          <p:cNvSpPr/>
          <p:nvPr/>
        </p:nvSpPr>
        <p:spPr>
          <a:xfrm>
            <a:off x="767127" y="2007605"/>
            <a:ext cx="8019261" cy="1974351"/>
          </a:xfrm>
          <a:custGeom>
            <a:rect b="b" l="l" r="r" t="t"/>
            <a:pathLst>
              <a:path extrusionOk="0" h="566909" w="2302624">
                <a:moveTo>
                  <a:pt x="0" y="0"/>
                </a:moveTo>
                <a:lnTo>
                  <a:pt x="0" y="566909"/>
                </a:lnTo>
                <a:lnTo>
                  <a:pt x="2302624" y="566909"/>
                </a:lnTo>
                <a:lnTo>
                  <a:pt x="2302624" y="0"/>
                </a:lnTo>
                <a:lnTo>
                  <a:pt x="0" y="0"/>
                </a:lnTo>
                <a:close/>
                <a:moveTo>
                  <a:pt x="2241664" y="505949"/>
                </a:moveTo>
                <a:lnTo>
                  <a:pt x="59690" y="505949"/>
                </a:lnTo>
                <a:lnTo>
                  <a:pt x="59690" y="59690"/>
                </a:lnTo>
                <a:lnTo>
                  <a:pt x="2241664" y="59690"/>
                </a:lnTo>
                <a:lnTo>
                  <a:pt x="2241664" y="505949"/>
                </a:lnTo>
                <a:close/>
              </a:path>
            </a:pathLst>
          </a:custGeom>
          <a:solidFill>
            <a:srgbClr val="004AAD"/>
          </a:solidFill>
          <a:ln>
            <a:noFill/>
          </a:ln>
        </p:spPr>
      </p:sp>
      <p:sp>
        <p:nvSpPr>
          <p:cNvPr id="315" name="Google Shape;315;p34"/>
          <p:cNvSpPr txBox="1"/>
          <p:nvPr/>
        </p:nvSpPr>
        <p:spPr>
          <a:xfrm>
            <a:off x="1219200" y="6807126"/>
            <a:ext cx="7418053" cy="846582"/>
          </a:xfrm>
          <a:prstGeom prst="rect">
            <a:avLst/>
          </a:prstGeom>
          <a:noFill/>
          <a:ln>
            <a:noFill/>
          </a:ln>
        </p:spPr>
        <p:txBody>
          <a:bodyPr anchorCtr="0" anchor="t" bIns="0" lIns="0" spcFirstLastPara="1" rIns="0" wrap="square" tIns="0">
            <a:spAutoFit/>
          </a:bodyPr>
          <a:lstStyle/>
          <a:p>
            <a:pPr indent="0" lvl="0" marL="0" marR="0" rtl="0" algn="ctr">
              <a:lnSpc>
                <a:spcPct val="95998"/>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Eg. BIOS, OS, Device Driver, Utilities</a:t>
            </a:r>
            <a:endParaRPr/>
          </a:p>
        </p:txBody>
      </p:sp>
      <p:sp>
        <p:nvSpPr>
          <p:cNvPr id="316" name="Google Shape;316;p34"/>
          <p:cNvSpPr/>
          <p:nvPr/>
        </p:nvSpPr>
        <p:spPr>
          <a:xfrm>
            <a:off x="9696937" y="2007605"/>
            <a:ext cx="8019261" cy="1974351"/>
          </a:xfrm>
          <a:custGeom>
            <a:rect b="b" l="l" r="r" t="t"/>
            <a:pathLst>
              <a:path extrusionOk="0" h="566909" w="2302624">
                <a:moveTo>
                  <a:pt x="0" y="0"/>
                </a:moveTo>
                <a:lnTo>
                  <a:pt x="0" y="566909"/>
                </a:lnTo>
                <a:lnTo>
                  <a:pt x="2302624" y="566909"/>
                </a:lnTo>
                <a:lnTo>
                  <a:pt x="2302624" y="0"/>
                </a:lnTo>
                <a:lnTo>
                  <a:pt x="0" y="0"/>
                </a:lnTo>
                <a:close/>
                <a:moveTo>
                  <a:pt x="2241664" y="505949"/>
                </a:moveTo>
                <a:lnTo>
                  <a:pt x="59690" y="505949"/>
                </a:lnTo>
                <a:lnTo>
                  <a:pt x="59690" y="59690"/>
                </a:lnTo>
                <a:lnTo>
                  <a:pt x="2241664" y="59690"/>
                </a:lnTo>
                <a:lnTo>
                  <a:pt x="2241664" y="505949"/>
                </a:lnTo>
                <a:close/>
              </a:path>
            </a:pathLst>
          </a:custGeom>
          <a:solidFill>
            <a:srgbClr val="004AAD"/>
          </a:solidFill>
          <a:ln>
            <a:noFill/>
          </a:ln>
        </p:spPr>
      </p:sp>
      <p:sp>
        <p:nvSpPr>
          <p:cNvPr id="317" name="Google Shape;317;p34"/>
          <p:cNvSpPr txBox="1"/>
          <p:nvPr/>
        </p:nvSpPr>
        <p:spPr>
          <a:xfrm>
            <a:off x="11326092" y="2588049"/>
            <a:ext cx="5158786" cy="880141"/>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3475" u="none" cap="none" strike="noStrike">
                <a:solidFill>
                  <a:srgbClr val="FF1616"/>
                </a:solidFill>
                <a:latin typeface="Arial"/>
                <a:ea typeface="Arial"/>
                <a:cs typeface="Arial"/>
                <a:sym typeface="Arial"/>
              </a:rPr>
              <a:t>Application Software  - </a:t>
            </a:r>
            <a:endParaRPr/>
          </a:p>
          <a:p>
            <a:pPr indent="0" lvl="0" marL="0" marR="0" rtl="0" algn="ctr">
              <a:lnSpc>
                <a:spcPct val="96000"/>
              </a:lnSpc>
              <a:spcBef>
                <a:spcPts val="0"/>
              </a:spcBef>
              <a:spcAft>
                <a:spcPts val="0"/>
              </a:spcAft>
              <a:buNone/>
            </a:pPr>
            <a:r>
              <a:rPr b="0" i="0" lang="en-US" sz="3475" u="none" cap="none" strike="noStrike">
                <a:solidFill>
                  <a:srgbClr val="FF1616"/>
                </a:solidFill>
                <a:latin typeface="Arial"/>
                <a:ea typeface="Arial"/>
                <a:cs typeface="Arial"/>
                <a:sym typeface="Arial"/>
              </a:rPr>
              <a:t>The Independent</a:t>
            </a:r>
            <a:endParaRPr/>
          </a:p>
        </p:txBody>
      </p:sp>
      <p:sp>
        <p:nvSpPr>
          <p:cNvPr id="318" name="Google Shape;318;p34"/>
          <p:cNvSpPr txBox="1"/>
          <p:nvPr/>
        </p:nvSpPr>
        <p:spPr>
          <a:xfrm>
            <a:off x="3769893" y="1285875"/>
            <a:ext cx="11129215" cy="458365"/>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1" i="0" lang="en-US" sz="3475" u="none" cap="none" strike="noStrike">
                <a:solidFill>
                  <a:srgbClr val="7ED957"/>
                </a:solidFill>
                <a:latin typeface="Montserrat"/>
                <a:ea typeface="Montserrat"/>
                <a:cs typeface="Montserrat"/>
                <a:sym typeface="Montserrat"/>
              </a:rPr>
              <a:t>Classification of Software</a:t>
            </a:r>
            <a:endParaRPr/>
          </a:p>
        </p:txBody>
      </p:sp>
      <p:sp>
        <p:nvSpPr>
          <p:cNvPr id="319" name="Google Shape;319;p34"/>
          <p:cNvSpPr txBox="1"/>
          <p:nvPr/>
        </p:nvSpPr>
        <p:spPr>
          <a:xfrm>
            <a:off x="10308027" y="4245789"/>
            <a:ext cx="7194915" cy="178054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Allows the user to perform different tasks using the computer</a:t>
            </a:r>
            <a:endParaRPr/>
          </a:p>
        </p:txBody>
      </p:sp>
      <p:sp>
        <p:nvSpPr>
          <p:cNvPr id="320" name="Google Shape;320;p34"/>
          <p:cNvSpPr txBox="1"/>
          <p:nvPr/>
        </p:nvSpPr>
        <p:spPr>
          <a:xfrm>
            <a:off x="1219200" y="4579164"/>
            <a:ext cx="7418053" cy="1256157"/>
          </a:xfrm>
          <a:prstGeom prst="rect">
            <a:avLst/>
          </a:prstGeom>
          <a:noFill/>
          <a:ln>
            <a:noFill/>
          </a:ln>
        </p:spPr>
        <p:txBody>
          <a:bodyPr anchorCtr="0" anchor="t" bIns="0" lIns="0" spcFirstLastPara="1" rIns="0" wrap="square" tIns="0">
            <a:spAutoFit/>
          </a:bodyPr>
          <a:lstStyle/>
          <a:p>
            <a:pPr indent="0" lvl="0" marL="0" marR="0" rtl="0" algn="ctr">
              <a:lnSpc>
                <a:spcPct val="95998"/>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Responsible for managing the hardware and other software in a computer</a:t>
            </a:r>
            <a:endParaRPr/>
          </a:p>
        </p:txBody>
      </p:sp>
      <p:sp>
        <p:nvSpPr>
          <p:cNvPr id="321" name="Google Shape;321;p34"/>
          <p:cNvSpPr txBox="1"/>
          <p:nvPr/>
        </p:nvSpPr>
        <p:spPr>
          <a:xfrm>
            <a:off x="10084890" y="6807126"/>
            <a:ext cx="7418053" cy="846582"/>
          </a:xfrm>
          <a:prstGeom prst="rect">
            <a:avLst/>
          </a:prstGeom>
          <a:noFill/>
          <a:ln>
            <a:noFill/>
          </a:ln>
        </p:spPr>
        <p:txBody>
          <a:bodyPr anchorCtr="0" anchor="t" bIns="0" lIns="0" spcFirstLastPara="1" rIns="0" wrap="square" tIns="0">
            <a:spAutoFit/>
          </a:bodyPr>
          <a:lstStyle/>
          <a:p>
            <a:pPr indent="0" lvl="0" marL="0" marR="0" rtl="0" algn="ctr">
              <a:lnSpc>
                <a:spcPct val="95998"/>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Eg. Word Document, Spreadsheet,</a:t>
            </a:r>
            <a:endParaRPr/>
          </a:p>
          <a:p>
            <a:pPr indent="0" lvl="0" marL="0" marR="0" rtl="0" algn="ctr">
              <a:lnSpc>
                <a:spcPct val="95998"/>
              </a:lnSpc>
              <a:spcBef>
                <a:spcPts val="0"/>
              </a:spcBef>
              <a:spcAft>
                <a:spcPts val="0"/>
              </a:spcAft>
              <a:buNone/>
            </a:pPr>
            <a:r>
              <a:rPr b="0" i="0" lang="en-US" sz="3399" u="none" cap="none" strike="noStrike">
                <a:solidFill>
                  <a:srgbClr val="FFDE59"/>
                </a:solidFill>
                <a:latin typeface="Montserrat"/>
                <a:ea typeface="Montserrat"/>
                <a:cs typeface="Montserrat"/>
                <a:sym typeface="Montserrat"/>
              </a:rPr>
              <a:t>Video Editing Software, Games</a:t>
            </a:r>
            <a:endParaRPr/>
          </a:p>
        </p:txBody>
      </p:sp>
      <p:sp>
        <p:nvSpPr>
          <p:cNvPr id="322" name="Google Shape;322;p34"/>
          <p:cNvSpPr txBox="1"/>
          <p:nvPr/>
        </p:nvSpPr>
        <p:spPr>
          <a:xfrm>
            <a:off x="2494293" y="2588049"/>
            <a:ext cx="4564928" cy="880141"/>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3475" u="none" cap="none" strike="noStrike">
                <a:solidFill>
                  <a:srgbClr val="FF1616"/>
                </a:solidFill>
                <a:latin typeface="Arial"/>
                <a:ea typeface="Arial"/>
                <a:cs typeface="Arial"/>
                <a:sym typeface="Arial"/>
              </a:rPr>
              <a:t>System Software  - The Manager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