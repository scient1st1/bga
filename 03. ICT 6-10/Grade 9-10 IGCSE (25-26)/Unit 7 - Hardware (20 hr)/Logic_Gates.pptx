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19621F-45C5-4DF1-8582-B6F1325E1F1E}">
  <a:tblStyle styleId="{8319621F-45C5-4DF1-8582-B6F1325E1F1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AE7EE"/>
          </a:solidFill>
        </a:fill>
      </a:tcStyle>
    </a:wholeTbl>
    <a:band1H>
      <a:tcTxStyle/>
      <a:tcStyle>
        <a:fill>
          <a:solidFill>
            <a:srgbClr val="F4CCDB"/>
          </a:solidFill>
        </a:fill>
      </a:tcStyle>
    </a:band1H>
    <a:band2H>
      <a:tcTxStyle/>
    </a:band2H>
    <a:band1V>
      <a:tcTxStyle/>
      <a:tcStyle>
        <a:fill>
          <a:solidFill>
            <a:srgbClr val="F4CCDB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NZ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Half-adder logic circuit</a:t>
            </a:r>
            <a:endParaRPr/>
          </a:p>
        </p:txBody>
      </p:sp>
      <p:sp>
        <p:nvSpPr>
          <p:cNvPr id="152" name="Google Shape;1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Exercise: Draw logic circuits from these logic statements.</a:t>
            </a:r>
            <a:endParaRPr/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urier New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✔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✔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✔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urier New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urier New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✔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6" name="Google Shape;86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4" name="Google Shape;9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2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ourier New"/>
              <a:buNone/>
              <a:defRPr b="0" i="0" sz="4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 Symbols"/>
              <a:buChar char="✔"/>
              <a:def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urier New"/>
              <a:buNone/>
              <a:defRPr b="0" i="0" sz="4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ctrTitle"/>
          </p:nvPr>
        </p:nvSpPr>
        <p:spPr>
          <a:xfrm>
            <a:off x="6746628" y="1783959"/>
            <a:ext cx="4645250" cy="28891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urier New"/>
              <a:buNone/>
            </a:pPr>
            <a:r>
              <a:rPr lang="en-NZ"/>
              <a:t>Logic Gates</a:t>
            </a:r>
            <a:endParaRPr/>
          </a:p>
        </p:txBody>
      </p:sp>
      <p:sp>
        <p:nvSpPr>
          <p:cNvPr id="114" name="Google Shape;114;p17"/>
          <p:cNvSpPr txBox="1"/>
          <p:nvPr>
            <p:ph idx="1" type="subTitle"/>
          </p:nvPr>
        </p:nvSpPr>
        <p:spPr>
          <a:xfrm>
            <a:off x="6746627" y="4750893"/>
            <a:ext cx="4645250" cy="1147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NZ" sz="2000"/>
              <a:t>IGCSE Computer Science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NZ" sz="2000"/>
              <a:t>Hardware and Software unit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 flipH="1">
            <a:off x="0" y="0"/>
            <a:ext cx="6172782" cy="6858000"/>
          </a:xfrm>
          <a:custGeom>
            <a:rect b="b" l="l" r="r" t="t"/>
            <a:pathLst>
              <a:path extrusionOk="0" h="6858000" w="6172782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 rotWithShape="1">
          <a:blip r:embed="rId3">
            <a:alphaModFix/>
          </a:blip>
          <a:srcRect b="5224" l="0" r="-3" t="0"/>
          <a:stretch/>
        </p:blipFill>
        <p:spPr>
          <a:xfrm>
            <a:off x="20" y="10"/>
            <a:ext cx="6024134" cy="6857990"/>
          </a:xfrm>
          <a:custGeom>
            <a:rect b="b" l="l" r="r" t="t"/>
            <a:pathLst>
              <a:path extrusionOk="0" h="6858000" w="6024154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801099" y="1396289"/>
            <a:ext cx="500633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ourier New"/>
              <a:buNone/>
            </a:pPr>
            <a:r>
              <a:rPr lang="en-NZ" sz="4400"/>
              <a:t>Topic Overview</a:t>
            </a:r>
            <a:endParaRPr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805543" y="2871982"/>
            <a:ext cx="5006336" cy="3181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42950" lvl="0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AutoNum type="arabicPeriod"/>
            </a:pPr>
            <a:r>
              <a:rPr lang="en-NZ" sz="3600"/>
              <a:t> Logic gates</a:t>
            </a:r>
            <a:endParaRPr/>
          </a:p>
          <a:p>
            <a:pPr indent="-742950" lvl="0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AutoNum type="arabicPeriod"/>
            </a:pPr>
            <a:r>
              <a:rPr lang="en-NZ" sz="3600"/>
              <a:t> Truth tables</a:t>
            </a:r>
            <a:endParaRPr/>
          </a:p>
          <a:p>
            <a:pPr indent="-742950" lvl="0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AutoNum type="arabicPeriod"/>
            </a:pPr>
            <a:r>
              <a:rPr lang="en-NZ" sz="3600"/>
              <a:t> Logic circuits</a:t>
            </a:r>
            <a:endParaRPr/>
          </a:p>
          <a:p>
            <a:pPr indent="-742950" lvl="0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AutoNum type="arabicPeriod"/>
            </a:pPr>
            <a:r>
              <a:rPr lang="en-NZ" sz="3600"/>
              <a:t> Logic statements</a:t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6019218" y="0"/>
            <a:ext cx="6172782" cy="6858000"/>
          </a:xfrm>
          <a:custGeom>
            <a:rect b="b" l="l" r="r" t="t"/>
            <a:pathLst>
              <a:path extrusionOk="0" h="6858000" w="6172782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indoor&#10;&#10;Description generated with high confidence" id="124" name="Google Shape;124;p18"/>
          <p:cNvPicPr preferRelativeResize="0"/>
          <p:nvPr/>
        </p:nvPicPr>
        <p:blipFill rotWithShape="1">
          <a:blip r:embed="rId3">
            <a:alphaModFix/>
          </a:blip>
          <a:srcRect b="4418" l="0" r="2" t="811"/>
          <a:stretch/>
        </p:blipFill>
        <p:spPr>
          <a:xfrm>
            <a:off x="6167846" y="10"/>
            <a:ext cx="6024154" cy="6857990"/>
          </a:xfrm>
          <a:custGeom>
            <a:rect b="b" l="l" r="r" t="t"/>
            <a:pathLst>
              <a:path extrusionOk="0" h="6858000" w="6024154">
                <a:moveTo>
                  <a:pt x="70374" y="0"/>
                </a:moveTo>
                <a:lnTo>
                  <a:pt x="6024154" y="0"/>
                </a:lnTo>
                <a:lnTo>
                  <a:pt x="6024154" y="6858000"/>
                </a:lnTo>
                <a:lnTo>
                  <a:pt x="3587167" y="6858000"/>
                </a:lnTo>
                <a:lnTo>
                  <a:pt x="3474220" y="6800152"/>
                </a:lnTo>
                <a:cubicBezTo>
                  <a:pt x="1404818" y="5675986"/>
                  <a:pt x="0" y="3483472"/>
                  <a:pt x="0" y="962844"/>
                </a:cubicBezTo>
                <a:cubicBezTo>
                  <a:pt x="0" y="733696"/>
                  <a:pt x="11610" y="507260"/>
                  <a:pt x="34274" y="284091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urier New"/>
              <a:buNone/>
            </a:pPr>
            <a:r>
              <a:rPr lang="en-NZ"/>
              <a:t>3 Basic Gates &amp; Truth Tables</a:t>
            </a:r>
            <a:endParaRPr/>
          </a:p>
        </p:txBody>
      </p:sp>
      <p:graphicFrame>
        <p:nvGraphicFramePr>
          <p:cNvPr id="130" name="Google Shape;130;p19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{8319621F-45C5-4DF1-8582-B6F1325E1F1E}</a:tableStyleId>
              </a:tblPr>
              <a:tblGrid>
                <a:gridCol w="3505200"/>
                <a:gridCol w="3505200"/>
                <a:gridCol w="3505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4400" u="none" cap="none" strike="noStrike"/>
                        <a:t>AND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4400" u="none" cap="none" strike="noStrike"/>
                        <a:t>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4400" u="none" cap="none" strike="noStrike"/>
                        <a:t>NOT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4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descr="A close up of a logo&#10;&#10;Description generated with very high confidence" id="131" name="Google Shape;1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343" y="2640351"/>
            <a:ext cx="3103245" cy="1293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generated with very high confidence" id="132" name="Google Shape;13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0640" y="2640351"/>
            <a:ext cx="3103200" cy="129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 ANSI Labelled.svg" id="133" name="Google Shape;13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4615" y="2657395"/>
            <a:ext cx="3103246" cy="1293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4332" y="4184530"/>
            <a:ext cx="3319256" cy="2022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36400" y="4190100"/>
            <a:ext cx="3319200" cy="2028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 rotWithShape="1">
          <a:blip r:embed="rId8">
            <a:alphaModFix/>
          </a:blip>
          <a:srcRect b="0" l="0" r="1379" t="0"/>
          <a:stretch/>
        </p:blipFill>
        <p:spPr>
          <a:xfrm>
            <a:off x="8082054" y="4184530"/>
            <a:ext cx="2958986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urier New"/>
              <a:buNone/>
            </a:pPr>
            <a:r>
              <a:rPr lang="en-NZ"/>
              <a:t>3 Extended Gates</a:t>
            </a:r>
            <a:endParaRPr/>
          </a:p>
        </p:txBody>
      </p:sp>
      <p:graphicFrame>
        <p:nvGraphicFramePr>
          <p:cNvPr id="142" name="Google Shape;142;p20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{8319621F-45C5-4DF1-8582-B6F1325E1F1E}</a:tableStyleId>
              </a:tblPr>
              <a:tblGrid>
                <a:gridCol w="3505200"/>
                <a:gridCol w="3505200"/>
                <a:gridCol w="3505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4400" u="none" cap="none" strike="noStrike"/>
                        <a:t>NAND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4400" u="none" cap="none" strike="noStrike"/>
                        <a:t>NOR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4400" u="none" cap="none" strike="noStrike"/>
                        <a:t>XOR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4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398" y="4146842"/>
            <a:ext cx="3319200" cy="2126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6400" y="4170816"/>
            <a:ext cx="3319200" cy="215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6402" y="4142105"/>
            <a:ext cx="3319200" cy="2136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generated with very high confidence" id="146" name="Google Shape;14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44400" y="2636473"/>
            <a:ext cx="3103200" cy="129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generated with very high confidence" id="147" name="Google Shape;14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44402" y="2636473"/>
            <a:ext cx="3103200" cy="129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generated with very high confidence" id="148" name="Google Shape;14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4398" y="2634857"/>
            <a:ext cx="3103200" cy="1294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urier New"/>
              <a:buNone/>
            </a:pPr>
            <a:r>
              <a:rPr lang="en-NZ"/>
              <a:t>Logic Circuits</a:t>
            </a:r>
            <a:endParaRPr/>
          </a:p>
        </p:txBody>
      </p:sp>
      <p:pic>
        <p:nvPicPr>
          <p:cNvPr descr="A close up of a logo&#10;&#10;Description generated with very high confidence" id="155" name="Google Shape;15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115" y="1690688"/>
            <a:ext cx="4365171" cy="242471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6" name="Google Shape;156;p21"/>
          <p:cNvGraphicFramePr/>
          <p:nvPr/>
        </p:nvGraphicFramePr>
        <p:xfrm>
          <a:off x="627744" y="4359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{8319621F-45C5-4DF1-8582-B6F1325E1F1E}</a:tableStyleId>
              </a:tblPr>
              <a:tblGrid>
                <a:gridCol w="1161000"/>
                <a:gridCol w="1161000"/>
                <a:gridCol w="1161000"/>
                <a:gridCol w="1161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2200" u="none" cap="none" strike="noStrike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2200" u="none" cap="none" strike="noStrike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2200" u="none" cap="none" strike="noStrike"/>
                        <a:t>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2200" u="none" cap="none" strike="noStrike"/>
                        <a:t>C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22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22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NZ" sz="22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NZ" sz="22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22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22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NZ" sz="22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NZ" sz="22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22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22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NZ" sz="22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NZ" sz="22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22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22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NZ" sz="22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NZ" sz="22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805542" y="851056"/>
            <a:ext cx="669016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ourier New"/>
              <a:buNone/>
            </a:pPr>
            <a:r>
              <a:rPr lang="en-NZ" sz="4400"/>
              <a:t>Logic Statements</a:t>
            </a:r>
            <a:endParaRPr/>
          </a:p>
        </p:txBody>
      </p:sp>
      <p:sp>
        <p:nvSpPr>
          <p:cNvPr id="162" name="Google Shape;162;p22"/>
          <p:cNvSpPr txBox="1"/>
          <p:nvPr>
            <p:ph idx="1" type="body"/>
          </p:nvPr>
        </p:nvSpPr>
        <p:spPr>
          <a:xfrm>
            <a:off x="805542" y="2218439"/>
            <a:ext cx="5589577" cy="3181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✔"/>
            </a:pPr>
            <a:r>
              <a:rPr lang="en-NZ"/>
              <a:t> Describe the combination of inputs that will produce a 1 as the output from a logic circuit.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✔"/>
            </a:pPr>
            <a:r>
              <a:rPr lang="en-NZ"/>
              <a:t> The written form of a logic circuit.</a:t>
            </a:r>
            <a:endParaRPr/>
          </a:p>
        </p:txBody>
      </p:sp>
      <p:sp>
        <p:nvSpPr>
          <p:cNvPr id="163" name="Google Shape;163;p22"/>
          <p:cNvSpPr/>
          <p:nvPr/>
        </p:nvSpPr>
        <p:spPr>
          <a:xfrm flipH="1">
            <a:off x="6713914" y="581159"/>
            <a:ext cx="5478085" cy="6276841"/>
          </a:xfrm>
          <a:custGeom>
            <a:rect b="b" l="l" r="r" t="t"/>
            <a:pathLst>
              <a:path extrusionOk="0" h="6276841" w="5478085">
                <a:moveTo>
                  <a:pt x="2178155" y="0"/>
                </a:moveTo>
                <a:cubicBezTo>
                  <a:pt x="4000656" y="0"/>
                  <a:pt x="5478085" y="1477429"/>
                  <a:pt x="5478085" y="3299930"/>
                </a:cubicBezTo>
                <a:cubicBezTo>
                  <a:pt x="5478085" y="4552900"/>
                  <a:pt x="4779769" y="5642769"/>
                  <a:pt x="3751098" y="6201577"/>
                </a:cubicBezTo>
                <a:lnTo>
                  <a:pt x="3594858" y="6276841"/>
                </a:lnTo>
                <a:lnTo>
                  <a:pt x="761453" y="6276841"/>
                </a:lnTo>
                <a:lnTo>
                  <a:pt x="605213" y="6201577"/>
                </a:lnTo>
                <a:cubicBezTo>
                  <a:pt x="418182" y="6099975"/>
                  <a:pt x="242071" y="5980818"/>
                  <a:pt x="79093" y="5846317"/>
                </a:cubicBezTo>
                <a:lnTo>
                  <a:pt x="0" y="5774432"/>
                </a:lnTo>
                <a:lnTo>
                  <a:pt x="0" y="825429"/>
                </a:lnTo>
                <a:lnTo>
                  <a:pt x="79093" y="753544"/>
                </a:lnTo>
                <a:cubicBezTo>
                  <a:pt x="649516" y="282789"/>
                  <a:pt x="1380811" y="0"/>
                  <a:pt x="217815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22"/>
          <p:cNvPicPr preferRelativeResize="0"/>
          <p:nvPr/>
        </p:nvPicPr>
        <p:blipFill rotWithShape="1">
          <a:blip r:embed="rId3">
            <a:alphaModFix/>
          </a:blip>
          <a:srcRect b="4201" l="0" r="0" t="0"/>
          <a:stretch/>
        </p:blipFill>
        <p:spPr>
          <a:xfrm>
            <a:off x="6893317" y="760562"/>
            <a:ext cx="5298683" cy="6097438"/>
          </a:xfrm>
          <a:custGeom>
            <a:rect b="b" l="l" r="r" t="t"/>
            <a:pathLst>
              <a:path extrusionOk="0" h="6097438" w="5298683">
                <a:moveTo>
                  <a:pt x="3120528" y="0"/>
                </a:moveTo>
                <a:cubicBezTo>
                  <a:pt x="3874524" y="0"/>
                  <a:pt x="4566062" y="267415"/>
                  <a:pt x="5105473" y="712577"/>
                </a:cubicBezTo>
                <a:lnTo>
                  <a:pt x="5298683" y="888178"/>
                </a:lnTo>
                <a:lnTo>
                  <a:pt x="5298683" y="5352876"/>
                </a:lnTo>
                <a:lnTo>
                  <a:pt x="5105473" y="5528477"/>
                </a:lnTo>
                <a:cubicBezTo>
                  <a:pt x="4874296" y="5719261"/>
                  <a:pt x="4615179" y="5877397"/>
                  <a:pt x="4335177" y="5995828"/>
                </a:cubicBezTo>
                <a:lnTo>
                  <a:pt x="4057556" y="6097438"/>
                </a:lnTo>
                <a:lnTo>
                  <a:pt x="2183499" y="6097438"/>
                </a:lnTo>
                <a:lnTo>
                  <a:pt x="1905878" y="5995828"/>
                </a:lnTo>
                <a:cubicBezTo>
                  <a:pt x="785873" y="5522106"/>
                  <a:pt x="0" y="4413092"/>
                  <a:pt x="0" y="3120527"/>
                </a:cubicBezTo>
                <a:cubicBezTo>
                  <a:pt x="0" y="1397108"/>
                  <a:pt x="1397108" y="0"/>
                  <a:pt x="312052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731526" y="402376"/>
            <a:ext cx="500633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ourier New"/>
              <a:buNone/>
            </a:pPr>
            <a:r>
              <a:rPr lang="en-NZ" sz="4400"/>
              <a:t>Examples…</a:t>
            </a:r>
            <a:endParaRPr/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731525" y="1838157"/>
            <a:ext cx="6524039" cy="4522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NZ"/>
              <a:t>X = A AND B</a:t>
            </a:r>
            <a:endParaRPr/>
          </a:p>
          <a:p>
            <a:pPr indent="1397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NZ"/>
              <a:t>X = A OR B</a:t>
            </a:r>
            <a:endParaRPr/>
          </a:p>
          <a:p>
            <a:pPr indent="1397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NZ"/>
              <a:t>X = NOT(A) OR (A AND NOT(B))</a:t>
            </a:r>
            <a:endParaRPr/>
          </a:p>
          <a:p>
            <a:pPr indent="1397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NZ"/>
              <a:t>X = NOT(A OR B)</a:t>
            </a:r>
            <a:endParaRPr/>
          </a:p>
          <a:p>
            <a:pPr indent="1397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NZ"/>
              <a:t>X = A OR (NOT(B) OR C)</a:t>
            </a:r>
            <a:endParaRPr/>
          </a:p>
        </p:txBody>
      </p:sp>
      <p:sp>
        <p:nvSpPr>
          <p:cNvPr id="172" name="Google Shape;172;p23"/>
          <p:cNvSpPr/>
          <p:nvPr/>
        </p:nvSpPr>
        <p:spPr>
          <a:xfrm>
            <a:off x="6019218" y="0"/>
            <a:ext cx="6172782" cy="6858000"/>
          </a:xfrm>
          <a:custGeom>
            <a:rect b="b" l="l" r="r" t="t"/>
            <a:pathLst>
              <a:path extrusionOk="0" h="6858000" w="6172782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toy&#10;&#10;Description generated with high confidence" id="173" name="Google Shape;173;p23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5229" l="0" r="2" t="0"/>
          <a:stretch/>
        </p:blipFill>
        <p:spPr>
          <a:xfrm>
            <a:off x="6167846" y="10"/>
            <a:ext cx="6024154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