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y="13716000" cx="24377650"/>
  <p:notesSz cx="6858000" cy="9144000"/>
  <p:embeddedFontLst>
    <p:embeddedFont>
      <p:font typeface="Poppins"/>
      <p:regular r:id="rId19"/>
      <p:bold r:id="rId20"/>
      <p:italic r:id="rId21"/>
      <p:boldItalic r:id="rId22"/>
    </p:embeddedFont>
    <p:embeddedFont>
      <p:font typeface="Lato Light"/>
      <p:regular r:id="rId23"/>
      <p:bold r:id="rId24"/>
      <p:italic r:id="rId25"/>
      <p:boldItalic r:id="rId26"/>
    </p:embeddedFont>
    <p:embeddedFont>
      <p:font typeface="Poppins Medium"/>
      <p:regular r:id="rId27"/>
      <p:bold r:id="rId28"/>
      <p:italic r:id="rId29"/>
      <p:boldItalic r:id="rId30"/>
    </p:embeddedFont>
    <p:embeddedFont>
      <p:font typeface="Open Sans Light"/>
      <p:regular r:id="rId31"/>
      <p:bold r:id="rId32"/>
      <p:italic r:id="rId33"/>
      <p:boldItalic r:id="rId3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958">
          <p15:clr>
            <a:srgbClr val="A4A3A4"/>
          </p15:clr>
        </p15:guide>
        <p15:guide id="2" orient="horz" pos="480">
          <p15:clr>
            <a:srgbClr val="A4A3A4"/>
          </p15:clr>
        </p15:guide>
        <p15:guide id="3" pos="14398">
          <p15:clr>
            <a:srgbClr val="A4A3A4"/>
          </p15:clr>
        </p15:guide>
        <p15:guide id="4" orient="horz" pos="8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958"/>
        <p:guide pos="480" orient="horz"/>
        <p:guide pos="14398"/>
        <p:guide pos="8160"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Poppins-bold.fntdata"/><Relationship Id="rId22" Type="http://schemas.openxmlformats.org/officeDocument/2006/relationships/font" Target="fonts/Poppins-boldItalic.fntdata"/><Relationship Id="rId21" Type="http://schemas.openxmlformats.org/officeDocument/2006/relationships/font" Target="fonts/Poppins-italic.fntdata"/><Relationship Id="rId24" Type="http://schemas.openxmlformats.org/officeDocument/2006/relationships/font" Target="fonts/LatoLight-bold.fntdata"/><Relationship Id="rId23" Type="http://schemas.openxmlformats.org/officeDocument/2006/relationships/font" Target="fonts/LatoLight-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LatoLight-boldItalic.fntdata"/><Relationship Id="rId25" Type="http://schemas.openxmlformats.org/officeDocument/2006/relationships/font" Target="fonts/LatoLight-italic.fntdata"/><Relationship Id="rId28" Type="http://schemas.openxmlformats.org/officeDocument/2006/relationships/font" Target="fonts/PoppinsMedium-bold.fntdata"/><Relationship Id="rId27" Type="http://schemas.openxmlformats.org/officeDocument/2006/relationships/font" Target="fonts/PoppinsMedium-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PoppinsMedium-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OpenSansLight-regular.fntdata"/><Relationship Id="rId30" Type="http://schemas.openxmlformats.org/officeDocument/2006/relationships/font" Target="fonts/PoppinsMedium-boldItalic.fntdata"/><Relationship Id="rId11" Type="http://schemas.openxmlformats.org/officeDocument/2006/relationships/slide" Target="slides/slide6.xml"/><Relationship Id="rId33" Type="http://schemas.openxmlformats.org/officeDocument/2006/relationships/font" Target="fonts/OpenSansLight-italic.fntdata"/><Relationship Id="rId10" Type="http://schemas.openxmlformats.org/officeDocument/2006/relationships/slide" Target="slides/slide5.xml"/><Relationship Id="rId32" Type="http://schemas.openxmlformats.org/officeDocument/2006/relationships/font" Target="fonts/OpenSansLight-bold.fntdata"/><Relationship Id="rId13" Type="http://schemas.openxmlformats.org/officeDocument/2006/relationships/slide" Target="slides/slide8.xml"/><Relationship Id="rId12" Type="http://schemas.openxmlformats.org/officeDocument/2006/relationships/slide" Target="slides/slide7.xml"/><Relationship Id="rId34" Type="http://schemas.openxmlformats.org/officeDocument/2006/relationships/font" Target="fonts/OpenSansLight-boldItalic.fnt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font" Target="fonts/Poppins-regular.fntdata"/><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Lato Light"/>
                <a:ea typeface="Lato Light"/>
                <a:cs typeface="Lato Light"/>
                <a:sym typeface="Lato Light"/>
              </a:defRPr>
            </a:lvl1pPr>
            <a:lvl2pPr lvl="1"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Lato Light"/>
                <a:ea typeface="Lato Light"/>
                <a:cs typeface="Lato Light"/>
                <a:sym typeface="Lato Light"/>
              </a:defRPr>
            </a:lvl1pPr>
            <a:lvl2pPr lvl="1"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2400" u="none" cap="none" strike="noStrike">
                <a:solidFill>
                  <a:schemeClr val="dk1"/>
                </a:solidFill>
                <a:latin typeface="Lato Light"/>
                <a:ea typeface="Lato Light"/>
                <a:cs typeface="Lato Light"/>
                <a:sym typeface="Lato Light"/>
              </a:defRPr>
            </a:lvl1pPr>
            <a:lvl2pPr indent="-228600" lvl="1" marL="914400" marR="0" rtl="0" algn="l">
              <a:spcBef>
                <a:spcPts val="0"/>
              </a:spcBef>
              <a:spcAft>
                <a:spcPts val="0"/>
              </a:spcAft>
              <a:buSzPts val="1400"/>
              <a:buNone/>
              <a:defRPr b="0" i="0" sz="2400" u="none" cap="none" strike="noStrike">
                <a:solidFill>
                  <a:schemeClr val="dk1"/>
                </a:solidFill>
                <a:latin typeface="Lato Light"/>
                <a:ea typeface="Lato Light"/>
                <a:cs typeface="Lato Light"/>
                <a:sym typeface="Lato Light"/>
              </a:defRPr>
            </a:lvl2pPr>
            <a:lvl3pPr indent="-228600" lvl="2" marL="1371600" marR="0" rtl="0" algn="l">
              <a:spcBef>
                <a:spcPts val="0"/>
              </a:spcBef>
              <a:spcAft>
                <a:spcPts val="0"/>
              </a:spcAft>
              <a:buSzPts val="1400"/>
              <a:buNone/>
              <a:defRPr b="0" i="0" sz="2400" u="none" cap="none" strike="noStrike">
                <a:solidFill>
                  <a:schemeClr val="dk1"/>
                </a:solidFill>
                <a:latin typeface="Lato Light"/>
                <a:ea typeface="Lato Light"/>
                <a:cs typeface="Lato Light"/>
                <a:sym typeface="Lato Light"/>
              </a:defRPr>
            </a:lvl3pPr>
            <a:lvl4pPr indent="-228600" lvl="3" marL="1828800" marR="0" rtl="0" algn="l">
              <a:spcBef>
                <a:spcPts val="0"/>
              </a:spcBef>
              <a:spcAft>
                <a:spcPts val="0"/>
              </a:spcAft>
              <a:buSzPts val="1400"/>
              <a:buNone/>
              <a:defRPr b="0" i="0" sz="2400" u="none" cap="none" strike="noStrike">
                <a:solidFill>
                  <a:schemeClr val="dk1"/>
                </a:solidFill>
                <a:latin typeface="Lato Light"/>
                <a:ea typeface="Lato Light"/>
                <a:cs typeface="Lato Light"/>
                <a:sym typeface="Lato Light"/>
              </a:defRPr>
            </a:lvl4pPr>
            <a:lvl5pPr indent="-228600" lvl="4" marL="2286000" marR="0" rtl="0" algn="l">
              <a:spcBef>
                <a:spcPts val="0"/>
              </a:spcBef>
              <a:spcAft>
                <a:spcPts val="0"/>
              </a:spcAft>
              <a:buSzPts val="1400"/>
              <a:buNone/>
              <a:defRPr b="0" i="0" sz="2400" u="none" cap="none" strike="noStrike">
                <a:solidFill>
                  <a:schemeClr val="dk1"/>
                </a:solidFill>
                <a:latin typeface="Lato Light"/>
                <a:ea typeface="Lato Light"/>
                <a:cs typeface="Lato Light"/>
                <a:sym typeface="Lato Light"/>
              </a:defRPr>
            </a:lvl5pPr>
            <a:lvl6pPr indent="-228600" lvl="5" marL="27432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Lato Light"/>
                <a:ea typeface="Lato Light"/>
                <a:cs typeface="Lato Light"/>
                <a:sym typeface="Lato Light"/>
              </a:defRPr>
            </a:lvl1pPr>
            <a:lvl2pPr lvl="1"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Lato Light"/>
                <a:ea typeface="Lato Light"/>
                <a:cs typeface="Lato Light"/>
                <a:sym typeface="Lato Light"/>
              </a:rPr>
              <a:t>‹#›</a:t>
            </a:fld>
            <a:endParaRPr b="0" i="0" sz="1200" u="none" cap="none" strike="noStrike">
              <a:solidFill>
                <a:schemeClr val="dk1"/>
              </a:solidFill>
              <a:latin typeface="Lato Light"/>
              <a:ea typeface="Lato Light"/>
              <a:cs typeface="Lato Light"/>
              <a:sym typeface="Lato Light"/>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1: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 name="Google Shape;24;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 name="Google Shape;30;p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 name="Google Shape;31;p2: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 name="Google Shape;41;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p4: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 name="Google Shape;49;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 name="Google Shape;58;p5: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6: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 name="Google Shape;67;p6: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7: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 name="Google Shape;77;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 name="Google Shape;99;p8: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0" name="Google Shape;100;p8: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7" name="Google Shape;107;p9: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 name="Google Shape;114;p1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5" name="Google Shape;115;p10: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 name="Google Shape;134;p1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5" name="Google Shape;135;p11: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 name="Google Shape;152;p1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3: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5" name="Google Shape;165;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2"/>
          <p:cNvSpPr txBox="1"/>
          <p:nvPr>
            <p:ph type="title"/>
          </p:nvPr>
        </p:nvSpPr>
        <p:spPr>
          <a:xfrm>
            <a:off x="1675964" y="730251"/>
            <a:ext cx="21025723" cy="2651126"/>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 name="Google Shape;16;p2"/>
          <p:cNvSpPr txBox="1"/>
          <p:nvPr>
            <p:ph idx="1" type="body"/>
          </p:nvPr>
        </p:nvSpPr>
        <p:spPr>
          <a:xfrm>
            <a:off x="1675964" y="3651250"/>
            <a:ext cx="21025723" cy="8702676"/>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2000"/>
              </a:spcBef>
              <a:spcAft>
                <a:spcPts val="0"/>
              </a:spcAft>
              <a:buClr>
                <a:schemeClr val="dk1"/>
              </a:buClr>
              <a:buSzPts val="1800"/>
              <a:buNone/>
              <a:defRPr/>
            </a:lvl1pPr>
            <a:lvl2pPr indent="-228600" lvl="1" marL="914400" algn="l">
              <a:lnSpc>
                <a:spcPct val="90000"/>
              </a:lnSpc>
              <a:spcBef>
                <a:spcPts val="1000"/>
              </a:spcBef>
              <a:spcAft>
                <a:spcPts val="0"/>
              </a:spcAft>
              <a:buClr>
                <a:schemeClr val="dk1"/>
              </a:buClr>
              <a:buSzPts val="1800"/>
              <a:buNone/>
              <a:defRPr/>
            </a:lvl2pPr>
            <a:lvl3pPr indent="-228600" lvl="2" marL="1371600" algn="l">
              <a:lnSpc>
                <a:spcPct val="90000"/>
              </a:lnSpc>
              <a:spcBef>
                <a:spcPts val="1000"/>
              </a:spcBef>
              <a:spcAft>
                <a:spcPts val="0"/>
              </a:spcAft>
              <a:buClr>
                <a:schemeClr val="dk1"/>
              </a:buClr>
              <a:buSzPts val="1800"/>
              <a:buNone/>
              <a:defRPr/>
            </a:lvl3pPr>
            <a:lvl4pPr indent="-228600" lvl="3" marL="1828800" algn="l">
              <a:lnSpc>
                <a:spcPct val="90000"/>
              </a:lnSpc>
              <a:spcBef>
                <a:spcPts val="1000"/>
              </a:spcBef>
              <a:spcAft>
                <a:spcPts val="0"/>
              </a:spcAft>
              <a:buClr>
                <a:schemeClr val="dk1"/>
              </a:buClr>
              <a:buSzPts val="1800"/>
              <a:buNone/>
              <a:defRPr/>
            </a:lvl4pPr>
            <a:lvl5pPr indent="-228600" lvl="4" marL="2286000" algn="l">
              <a:lnSpc>
                <a:spcPct val="90000"/>
              </a:lnSpc>
              <a:spcBef>
                <a:spcPts val="1000"/>
              </a:spcBef>
              <a:spcAft>
                <a:spcPts val="0"/>
              </a:spcAft>
              <a:buClr>
                <a:schemeClr val="dk1"/>
              </a:buClr>
              <a:buSzPts val="1800"/>
              <a:buNone/>
              <a:defRPr/>
            </a:lvl5pPr>
            <a:lvl6pPr indent="-342900" lvl="5" marL="2743200" algn="l">
              <a:lnSpc>
                <a:spcPct val="90000"/>
              </a:lnSpc>
              <a:spcBef>
                <a:spcPts val="1000"/>
              </a:spcBef>
              <a:spcAft>
                <a:spcPts val="0"/>
              </a:spcAft>
              <a:buClr>
                <a:schemeClr val="dk1"/>
              </a:buClr>
              <a:buSzPts val="1800"/>
              <a:buChar char="•"/>
              <a:defRPr/>
            </a:lvl6pPr>
            <a:lvl7pPr indent="-342900" lvl="6" marL="3200400" algn="l">
              <a:lnSpc>
                <a:spcPct val="90000"/>
              </a:lnSpc>
              <a:spcBef>
                <a:spcPts val="1000"/>
              </a:spcBef>
              <a:spcAft>
                <a:spcPts val="0"/>
              </a:spcAft>
              <a:buClr>
                <a:schemeClr val="dk1"/>
              </a:buClr>
              <a:buSzPts val="1800"/>
              <a:buChar char="•"/>
              <a:defRPr/>
            </a:lvl7pPr>
            <a:lvl8pPr indent="-342900" lvl="7" marL="3657600" algn="l">
              <a:lnSpc>
                <a:spcPct val="90000"/>
              </a:lnSpc>
              <a:spcBef>
                <a:spcPts val="1000"/>
              </a:spcBef>
              <a:spcAft>
                <a:spcPts val="0"/>
              </a:spcAft>
              <a:buClr>
                <a:schemeClr val="dk1"/>
              </a:buClr>
              <a:buSzPts val="1800"/>
              <a:buChar char="•"/>
              <a:defRPr/>
            </a:lvl8pPr>
            <a:lvl9pPr indent="-342900" lvl="8" marL="4114800" algn="l">
              <a:lnSpc>
                <a:spcPct val="90000"/>
              </a:lnSpc>
              <a:spcBef>
                <a:spcPts val="1000"/>
              </a:spcBef>
              <a:spcAft>
                <a:spcPts val="0"/>
              </a:spcAft>
              <a:buClr>
                <a:schemeClr val="dk1"/>
              </a:buClr>
              <a:buSzPts val="1800"/>
              <a:buChar char="•"/>
              <a:defRPr/>
            </a:lvl9pPr>
          </a:lstStyle>
          <a:p/>
        </p:txBody>
      </p:sp>
      <p:sp>
        <p:nvSpPr>
          <p:cNvPr id="17" name="Google Shape;17;p2"/>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9pPr>
          </a:lstStyle>
          <a:p/>
        </p:txBody>
      </p:sp>
      <p:sp>
        <p:nvSpPr>
          <p:cNvPr id="18" name="Google Shape;18;p2"/>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3600" u="none" cap="none" strike="noStrike">
                <a:solidFill>
                  <a:schemeClr val="dk1"/>
                </a:solidFill>
                <a:latin typeface="Calibri"/>
                <a:ea typeface="Calibri"/>
                <a:cs typeface="Calibri"/>
                <a:sym typeface="Calibri"/>
              </a:defRPr>
            </a:lvl9pPr>
          </a:lstStyle>
          <a:p/>
        </p:txBody>
      </p:sp>
      <p:sp>
        <p:nvSpPr>
          <p:cNvPr id="19" name="Google Shape;19;p2"/>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3600" u="none" cap="none" strike="noStrike">
                <a:solidFill>
                  <a:schemeClr val="dk1"/>
                </a:solidFill>
                <a:latin typeface="Calibri"/>
                <a:ea typeface="Calibri"/>
                <a:cs typeface="Calibri"/>
                <a:sym typeface="Calibri"/>
              </a:defRPr>
            </a:lvl1pPr>
            <a:lvl2pPr indent="0" lvl="1" marL="0" marR="0" rtl="0" algn="l">
              <a:spcBef>
                <a:spcPts val="0"/>
              </a:spcBef>
              <a:buNone/>
              <a:defRPr b="0" i="0" sz="3600" u="none" cap="none" strike="noStrike">
                <a:solidFill>
                  <a:schemeClr val="dk1"/>
                </a:solidFill>
                <a:latin typeface="Calibri"/>
                <a:ea typeface="Calibri"/>
                <a:cs typeface="Calibri"/>
                <a:sym typeface="Calibri"/>
              </a:defRPr>
            </a:lvl2pPr>
            <a:lvl3pPr indent="0" lvl="2" marL="0" marR="0" rtl="0" algn="l">
              <a:spcBef>
                <a:spcPts val="0"/>
              </a:spcBef>
              <a:buNone/>
              <a:defRPr b="0" i="0" sz="3600" u="none" cap="none" strike="noStrike">
                <a:solidFill>
                  <a:schemeClr val="dk1"/>
                </a:solidFill>
                <a:latin typeface="Calibri"/>
                <a:ea typeface="Calibri"/>
                <a:cs typeface="Calibri"/>
                <a:sym typeface="Calibri"/>
              </a:defRPr>
            </a:lvl3pPr>
            <a:lvl4pPr indent="0" lvl="3" marL="0" marR="0" rtl="0" algn="l">
              <a:spcBef>
                <a:spcPts val="0"/>
              </a:spcBef>
              <a:buNone/>
              <a:defRPr b="0" i="0" sz="3600" u="none" cap="none" strike="noStrike">
                <a:solidFill>
                  <a:schemeClr val="dk1"/>
                </a:solidFill>
                <a:latin typeface="Calibri"/>
                <a:ea typeface="Calibri"/>
                <a:cs typeface="Calibri"/>
                <a:sym typeface="Calibri"/>
              </a:defRPr>
            </a:lvl4pPr>
            <a:lvl5pPr indent="0" lvl="4" marL="0" marR="0" rtl="0" algn="l">
              <a:spcBef>
                <a:spcPts val="0"/>
              </a:spcBef>
              <a:buNone/>
              <a:defRPr b="0" i="0" sz="3600" u="none" cap="none" strike="noStrike">
                <a:solidFill>
                  <a:schemeClr val="dk1"/>
                </a:solidFill>
                <a:latin typeface="Calibri"/>
                <a:ea typeface="Calibri"/>
                <a:cs typeface="Calibri"/>
                <a:sym typeface="Calibri"/>
              </a:defRPr>
            </a:lvl5pPr>
            <a:lvl6pPr indent="0" lvl="5" marL="0" marR="0" rtl="0" algn="l">
              <a:spcBef>
                <a:spcPts val="0"/>
              </a:spcBef>
              <a:buNone/>
              <a:defRPr b="0" i="0" sz="3600" u="none" cap="none" strike="noStrike">
                <a:solidFill>
                  <a:schemeClr val="dk1"/>
                </a:solidFill>
                <a:latin typeface="Calibri"/>
                <a:ea typeface="Calibri"/>
                <a:cs typeface="Calibri"/>
                <a:sym typeface="Calibri"/>
              </a:defRPr>
            </a:lvl6pPr>
            <a:lvl7pPr indent="0" lvl="6" marL="0" marR="0" rtl="0" algn="l">
              <a:spcBef>
                <a:spcPts val="0"/>
              </a:spcBef>
              <a:buNone/>
              <a:defRPr b="0" i="0" sz="3600" u="none" cap="none" strike="noStrike">
                <a:solidFill>
                  <a:schemeClr val="dk1"/>
                </a:solidFill>
                <a:latin typeface="Calibri"/>
                <a:ea typeface="Calibri"/>
                <a:cs typeface="Calibri"/>
                <a:sym typeface="Calibri"/>
              </a:defRPr>
            </a:lvl7pPr>
            <a:lvl8pPr indent="0" lvl="7" marL="0" marR="0" rtl="0" algn="l">
              <a:spcBef>
                <a:spcPts val="0"/>
              </a:spcBef>
              <a:buNone/>
              <a:defRPr b="0" i="0" sz="3600" u="none" cap="none" strike="noStrike">
                <a:solidFill>
                  <a:schemeClr val="dk1"/>
                </a:solidFill>
                <a:latin typeface="Calibri"/>
                <a:ea typeface="Calibri"/>
                <a:cs typeface="Calibri"/>
                <a:sym typeface="Calibri"/>
              </a:defRPr>
            </a:lvl8pPr>
            <a:lvl9pPr indent="0" lvl="8" marL="0" marR="0" rtl="0" algn="l">
              <a:spcBef>
                <a:spcPts val="0"/>
              </a:spcBef>
              <a:buNone/>
              <a:defRPr b="0" i="0" sz="36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Slide">
  <p:cSld name="Default Slide">
    <p:spTree>
      <p:nvGrpSpPr>
        <p:cNvPr id="20" name="Shape 20"/>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1" name="Shape 2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9" name="Shape 9"/>
        <p:cNvGrpSpPr/>
        <p:nvPr/>
      </p:nvGrpSpPr>
      <p:grpSpPr>
        <a:xfrm>
          <a:off x="0" y="0"/>
          <a:ext cx="0" cy="0"/>
          <a:chOff x="0" y="0"/>
          <a:chExt cx="0" cy="0"/>
        </a:xfrm>
      </p:grpSpPr>
      <p:sp>
        <p:nvSpPr>
          <p:cNvPr id="10" name="Google Shape;10;p1"/>
          <p:cNvSpPr/>
          <p:nvPr/>
        </p:nvSpPr>
        <p:spPr>
          <a:xfrm>
            <a:off x="22137628" y="738460"/>
            <a:ext cx="701749" cy="701749"/>
          </a:xfrm>
          <a:prstGeom prst="ellipse">
            <a:avLst/>
          </a:prstGeom>
          <a:solidFill>
            <a:srgbClr val="FFD25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3600" u="none" cap="none" strike="noStrike">
              <a:solidFill>
                <a:schemeClr val="lt1"/>
              </a:solidFill>
              <a:latin typeface="Calibri"/>
              <a:ea typeface="Calibri"/>
              <a:cs typeface="Calibri"/>
              <a:sym typeface="Calibri"/>
            </a:endParaRPr>
          </a:p>
        </p:txBody>
      </p:sp>
      <p:sp>
        <p:nvSpPr>
          <p:cNvPr id="11" name="Google Shape;11;p1"/>
          <p:cNvSpPr txBox="1"/>
          <p:nvPr>
            <p:ph type="title"/>
          </p:nvPr>
        </p:nvSpPr>
        <p:spPr>
          <a:xfrm>
            <a:off x="1675964" y="730251"/>
            <a:ext cx="21025723" cy="2651126"/>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2"/>
              </a:buClr>
              <a:buSzPts val="8798"/>
              <a:buFont typeface="Poppins"/>
              <a:buNone/>
              <a:defRPr b="1" i="0" sz="8798" u="none" cap="none" strike="noStrike">
                <a:solidFill>
                  <a:schemeClr val="dk2"/>
                </a:solidFill>
                <a:latin typeface="Poppins"/>
                <a:ea typeface="Poppins"/>
                <a:cs typeface="Poppins"/>
                <a:sym typeface="Poppi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2" name="Google Shape;12;p1"/>
          <p:cNvSpPr txBox="1"/>
          <p:nvPr>
            <p:ph idx="1" type="body"/>
          </p:nvPr>
        </p:nvSpPr>
        <p:spPr>
          <a:xfrm>
            <a:off x="1675964" y="3651250"/>
            <a:ext cx="21025723" cy="8702676"/>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2000"/>
              </a:spcBef>
              <a:spcAft>
                <a:spcPts val="0"/>
              </a:spcAft>
              <a:buClr>
                <a:schemeClr val="dk1"/>
              </a:buClr>
              <a:buSzPts val="5599"/>
              <a:buFont typeface="Arial"/>
              <a:buNone/>
              <a:defRPr b="0" i="0" sz="5599" u="none" cap="none" strike="noStrike">
                <a:solidFill>
                  <a:schemeClr val="dk1"/>
                </a:solidFill>
                <a:latin typeface="Lato Light"/>
                <a:ea typeface="Lato Light"/>
                <a:cs typeface="Lato Light"/>
                <a:sym typeface="Lato Light"/>
              </a:defRPr>
            </a:lvl1pPr>
            <a:lvl2pPr indent="-228600" lvl="1" marL="914400" marR="0" rtl="0" algn="l">
              <a:lnSpc>
                <a:spcPct val="90000"/>
              </a:lnSpc>
              <a:spcBef>
                <a:spcPts val="1000"/>
              </a:spcBef>
              <a:spcAft>
                <a:spcPts val="0"/>
              </a:spcAft>
              <a:buClr>
                <a:schemeClr val="dk1"/>
              </a:buClr>
              <a:buSzPts val="4799"/>
              <a:buFont typeface="Arial"/>
              <a:buNone/>
              <a:defRPr b="0" i="0" sz="4799" u="none" cap="none" strike="noStrike">
                <a:solidFill>
                  <a:schemeClr val="dk1"/>
                </a:solidFill>
                <a:latin typeface="Lato Light"/>
                <a:ea typeface="Lato Light"/>
                <a:cs typeface="Lato Light"/>
                <a:sym typeface="Lato Light"/>
              </a:defRPr>
            </a:lvl2pPr>
            <a:lvl3pPr indent="-228600" lvl="2" marL="1371600" marR="0" rtl="0" algn="l">
              <a:lnSpc>
                <a:spcPct val="90000"/>
              </a:lnSpc>
              <a:spcBef>
                <a:spcPts val="1000"/>
              </a:spcBef>
              <a:spcAft>
                <a:spcPts val="0"/>
              </a:spcAft>
              <a:buClr>
                <a:schemeClr val="dk1"/>
              </a:buClr>
              <a:buSzPts val="3999"/>
              <a:buFont typeface="Arial"/>
              <a:buNone/>
              <a:defRPr b="0" i="0" sz="3999" u="none" cap="none" strike="noStrike">
                <a:solidFill>
                  <a:schemeClr val="dk1"/>
                </a:solidFill>
                <a:latin typeface="Lato Light"/>
                <a:ea typeface="Lato Light"/>
                <a:cs typeface="Lato Light"/>
                <a:sym typeface="Lato Light"/>
              </a:defRPr>
            </a:lvl3pPr>
            <a:lvl4pPr indent="-228600" lvl="3" marL="1828800" marR="0" rtl="0" algn="l">
              <a:lnSpc>
                <a:spcPct val="90000"/>
              </a:lnSpc>
              <a:spcBef>
                <a:spcPts val="1000"/>
              </a:spcBef>
              <a:spcAft>
                <a:spcPts val="0"/>
              </a:spcAft>
              <a:buClr>
                <a:schemeClr val="dk1"/>
              </a:buClr>
              <a:buSzPts val="3599"/>
              <a:buFont typeface="Arial"/>
              <a:buNone/>
              <a:defRPr b="0" i="0" sz="3599" u="none" cap="none" strike="noStrike">
                <a:solidFill>
                  <a:schemeClr val="dk1"/>
                </a:solidFill>
                <a:latin typeface="Lato Light"/>
                <a:ea typeface="Lato Light"/>
                <a:cs typeface="Lato Light"/>
                <a:sym typeface="Lato Light"/>
              </a:defRPr>
            </a:lvl4pPr>
            <a:lvl5pPr indent="-228600" lvl="4" marL="2286000" marR="0" rtl="0" algn="l">
              <a:lnSpc>
                <a:spcPct val="90000"/>
              </a:lnSpc>
              <a:spcBef>
                <a:spcPts val="1000"/>
              </a:spcBef>
              <a:spcAft>
                <a:spcPts val="0"/>
              </a:spcAft>
              <a:buClr>
                <a:schemeClr val="dk1"/>
              </a:buClr>
              <a:buSzPts val="3599"/>
              <a:buFont typeface="Arial"/>
              <a:buNone/>
              <a:defRPr b="0" i="0" sz="3599" u="none" cap="none" strike="noStrike">
                <a:solidFill>
                  <a:schemeClr val="dk1"/>
                </a:solidFill>
                <a:latin typeface="Lato Light"/>
                <a:ea typeface="Lato Light"/>
                <a:cs typeface="Lato Light"/>
                <a:sym typeface="Lato Light"/>
              </a:defRPr>
            </a:lvl5pPr>
            <a:lvl6pPr indent="-457136" lvl="5" marL="2743200" marR="0" rtl="0" algn="l">
              <a:lnSpc>
                <a:spcPct val="90000"/>
              </a:lnSpc>
              <a:spcBef>
                <a:spcPts val="1000"/>
              </a:spcBef>
              <a:spcAft>
                <a:spcPts val="0"/>
              </a:spcAft>
              <a:buClr>
                <a:schemeClr val="dk1"/>
              </a:buClr>
              <a:buSzPts val="3599"/>
              <a:buFont typeface="Arial"/>
              <a:buChar char="•"/>
              <a:defRPr b="0" i="0" sz="3599" u="none" cap="none" strike="noStrike">
                <a:solidFill>
                  <a:schemeClr val="dk1"/>
                </a:solidFill>
                <a:latin typeface="Calibri"/>
                <a:ea typeface="Calibri"/>
                <a:cs typeface="Calibri"/>
                <a:sym typeface="Calibri"/>
              </a:defRPr>
            </a:lvl6pPr>
            <a:lvl7pPr indent="-457136" lvl="6" marL="3200400" marR="0" rtl="0" algn="l">
              <a:lnSpc>
                <a:spcPct val="90000"/>
              </a:lnSpc>
              <a:spcBef>
                <a:spcPts val="1000"/>
              </a:spcBef>
              <a:spcAft>
                <a:spcPts val="0"/>
              </a:spcAft>
              <a:buClr>
                <a:schemeClr val="dk1"/>
              </a:buClr>
              <a:buSzPts val="3599"/>
              <a:buFont typeface="Arial"/>
              <a:buChar char="•"/>
              <a:defRPr b="0" i="0" sz="3599" u="none" cap="none" strike="noStrike">
                <a:solidFill>
                  <a:schemeClr val="dk1"/>
                </a:solidFill>
                <a:latin typeface="Calibri"/>
                <a:ea typeface="Calibri"/>
                <a:cs typeface="Calibri"/>
                <a:sym typeface="Calibri"/>
              </a:defRPr>
            </a:lvl7pPr>
            <a:lvl8pPr indent="-457136" lvl="7" marL="3657600" marR="0" rtl="0" algn="l">
              <a:lnSpc>
                <a:spcPct val="90000"/>
              </a:lnSpc>
              <a:spcBef>
                <a:spcPts val="1000"/>
              </a:spcBef>
              <a:spcAft>
                <a:spcPts val="0"/>
              </a:spcAft>
              <a:buClr>
                <a:schemeClr val="dk1"/>
              </a:buClr>
              <a:buSzPts val="3599"/>
              <a:buFont typeface="Arial"/>
              <a:buChar char="•"/>
              <a:defRPr b="0" i="0" sz="3599" u="none" cap="none" strike="noStrike">
                <a:solidFill>
                  <a:schemeClr val="dk1"/>
                </a:solidFill>
                <a:latin typeface="Calibri"/>
                <a:ea typeface="Calibri"/>
                <a:cs typeface="Calibri"/>
                <a:sym typeface="Calibri"/>
              </a:defRPr>
            </a:lvl8pPr>
            <a:lvl9pPr indent="-457136" lvl="8" marL="4114800" marR="0" rtl="0" algn="l">
              <a:lnSpc>
                <a:spcPct val="90000"/>
              </a:lnSpc>
              <a:spcBef>
                <a:spcPts val="1000"/>
              </a:spcBef>
              <a:spcAft>
                <a:spcPts val="0"/>
              </a:spcAft>
              <a:buClr>
                <a:schemeClr val="dk1"/>
              </a:buClr>
              <a:buSzPts val="3599"/>
              <a:buFont typeface="Arial"/>
              <a:buChar char="•"/>
              <a:defRPr b="0" i="0" sz="3599" u="none" cap="none" strike="noStrike">
                <a:solidFill>
                  <a:schemeClr val="dk1"/>
                </a:solidFill>
                <a:latin typeface="Calibri"/>
                <a:ea typeface="Calibri"/>
                <a:cs typeface="Calibri"/>
                <a:sym typeface="Calibri"/>
              </a:defRPr>
            </a:lvl9pPr>
          </a:lstStyle>
          <a:p/>
        </p:txBody>
      </p:sp>
      <p:sp>
        <p:nvSpPr>
          <p:cNvPr id="13" name="Google Shape;13;p1"/>
          <p:cNvSpPr/>
          <p:nvPr/>
        </p:nvSpPr>
        <p:spPr>
          <a:xfrm>
            <a:off x="22137628" y="719470"/>
            <a:ext cx="731520" cy="731520"/>
          </a:xfrm>
          <a:prstGeom prst="ellipse">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fld id="{00000000-1234-1234-1234-123412341234}" type="slidenum">
              <a:rPr b="0" i="0" lang="en-US" sz="2400" u="none" cap="none" strike="noStrike">
                <a:solidFill>
                  <a:schemeClr val="lt1"/>
                </a:solidFill>
                <a:latin typeface="Poppins Medium"/>
                <a:ea typeface="Poppins Medium"/>
                <a:cs typeface="Poppins Medium"/>
                <a:sym typeface="Poppins Medium"/>
              </a:rPr>
              <a:t>‹#›</a:t>
            </a:fld>
            <a:endParaRPr b="0" i="0" sz="2800" u="none" cap="none" strike="noStrike">
              <a:solidFill>
                <a:schemeClr val="lt1"/>
              </a:solidFill>
              <a:latin typeface="Poppins Medium"/>
              <a:ea typeface="Poppins Medium"/>
              <a:cs typeface="Poppins Medium"/>
              <a:sym typeface="Poppins Medium"/>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480">
          <p15:clr>
            <a:srgbClr val="A4A3A4"/>
          </p15:clr>
        </p15:guide>
        <p15:guide id="2" pos="14398">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5"/>
          <p:cNvSpPr txBox="1"/>
          <p:nvPr>
            <p:ph type="title"/>
          </p:nvPr>
        </p:nvSpPr>
        <p:spPr>
          <a:xfrm>
            <a:off x="1892532" y="4523874"/>
            <a:ext cx="21025723" cy="4632661"/>
          </a:xfrm>
          <a:prstGeom prst="rect">
            <a:avLst/>
          </a:prstGeom>
          <a:noFill/>
          <a:ln>
            <a:noFill/>
          </a:ln>
        </p:spPr>
        <p:txBody>
          <a:bodyPr anchorCtr="0" anchor="ctr" bIns="45700" lIns="91425" spcFirstLastPara="1" rIns="91425" wrap="square" tIns="45700">
            <a:noAutofit/>
          </a:bodyPr>
          <a:lstStyle/>
          <a:p>
            <a:pPr indent="0" lvl="0" marL="0" rtl="0" algn="ctr">
              <a:lnSpc>
                <a:spcPct val="90000"/>
              </a:lnSpc>
              <a:spcBef>
                <a:spcPts val="0"/>
              </a:spcBef>
              <a:spcAft>
                <a:spcPts val="0"/>
              </a:spcAft>
              <a:buClr>
                <a:schemeClr val="dk2"/>
              </a:buClr>
              <a:buSzPts val="23500"/>
              <a:buFont typeface="Poppins"/>
              <a:buNone/>
            </a:pPr>
            <a:r>
              <a:rPr lang="en-US" sz="23500"/>
              <a:t>1</a:t>
            </a:r>
            <a:br>
              <a:rPr lang="en-US" sz="11300"/>
            </a:br>
            <a:br>
              <a:rPr lang="en-US" sz="11300"/>
            </a:br>
            <a:r>
              <a:rPr lang="en-US" sz="11300">
                <a:solidFill>
                  <a:srgbClr val="0070C0"/>
                </a:solidFill>
              </a:rPr>
              <a:t>Kahoot link: </a:t>
            </a:r>
            <a:r>
              <a:rPr lang="en-US" sz="11300"/>
              <a:t> https://create.kahoot.it/share/y10-sol-3-learning-objective-1/460d8f75-6f10-416a-967a-b118b62073ba</a:t>
            </a:r>
            <a:endParaRPr/>
          </a:p>
        </p:txBody>
      </p:sp>
      <p:sp>
        <p:nvSpPr>
          <p:cNvPr id="27" name="Google Shape;27;p5"/>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 name="Shape 32"/>
        <p:cNvGrpSpPr/>
        <p:nvPr/>
      </p:nvGrpSpPr>
      <p:grpSpPr>
        <a:xfrm>
          <a:off x="0" y="0"/>
          <a:ext cx="0" cy="0"/>
          <a:chOff x="0" y="0"/>
          <a:chExt cx="0" cy="0"/>
        </a:xfrm>
      </p:grpSpPr>
      <p:sp>
        <p:nvSpPr>
          <p:cNvPr id="33" name="Google Shape;33;p6"/>
          <p:cNvSpPr txBox="1"/>
          <p:nvPr/>
        </p:nvSpPr>
        <p:spPr>
          <a:xfrm>
            <a:off x="223547" y="5081176"/>
            <a:ext cx="7842767" cy="4161396"/>
          </a:xfrm>
          <a:prstGeom prst="rect">
            <a:avLst/>
          </a:prstGeom>
          <a:solidFill>
            <a:schemeClr val="lt1"/>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3600">
                <a:solidFill>
                  <a:schemeClr val="dk2"/>
                </a:solidFill>
                <a:latin typeface="Calibri"/>
                <a:ea typeface="Calibri"/>
                <a:cs typeface="Calibri"/>
                <a:sym typeface="Calibri"/>
              </a:rPr>
              <a:t>SI</a:t>
            </a:r>
            <a:endParaRPr/>
          </a:p>
          <a:p>
            <a:pPr indent="-571500" lvl="0" marL="571500" marR="0" rtl="0" algn="l">
              <a:lnSpc>
                <a:spcPct val="150000"/>
              </a:lnSpc>
              <a:spcBef>
                <a:spcPts val="0"/>
              </a:spcBef>
              <a:spcAft>
                <a:spcPts val="0"/>
              </a:spcAft>
              <a:buClr>
                <a:schemeClr val="dk2"/>
              </a:buClr>
              <a:buSzPts val="3600"/>
              <a:buFont typeface="Arial"/>
              <a:buChar char="•"/>
            </a:pPr>
            <a:r>
              <a:rPr lang="en-US" sz="3600">
                <a:solidFill>
                  <a:schemeClr val="dk2"/>
                </a:solidFill>
                <a:latin typeface="Calibri"/>
                <a:ea typeface="Calibri"/>
                <a:cs typeface="Calibri"/>
                <a:sym typeface="Calibri"/>
              </a:rPr>
              <a:t>1 </a:t>
            </a:r>
            <a:r>
              <a:rPr lang="en-US" sz="3600">
                <a:solidFill>
                  <a:srgbClr val="0070C0"/>
                </a:solidFill>
                <a:latin typeface="Calibri"/>
                <a:ea typeface="Calibri"/>
                <a:cs typeface="Calibri"/>
                <a:sym typeface="Calibri"/>
              </a:rPr>
              <a:t>Kilobyte</a:t>
            </a:r>
            <a:r>
              <a:rPr lang="en-US" sz="3600">
                <a:solidFill>
                  <a:schemeClr val="dk2"/>
                </a:solidFill>
                <a:latin typeface="Calibri"/>
                <a:ea typeface="Calibri"/>
                <a:cs typeface="Calibri"/>
                <a:sym typeface="Calibri"/>
              </a:rPr>
              <a:t> (KB) is 1000 bytes</a:t>
            </a:r>
            <a:endParaRPr/>
          </a:p>
          <a:p>
            <a:pPr indent="-571500" lvl="0" marL="571500" marR="0" rtl="0" algn="l">
              <a:lnSpc>
                <a:spcPct val="150000"/>
              </a:lnSpc>
              <a:spcBef>
                <a:spcPts val="0"/>
              </a:spcBef>
              <a:spcAft>
                <a:spcPts val="0"/>
              </a:spcAft>
              <a:buClr>
                <a:schemeClr val="dk2"/>
              </a:buClr>
              <a:buSzPts val="3600"/>
              <a:buFont typeface="Arial"/>
              <a:buChar char="•"/>
            </a:pPr>
            <a:r>
              <a:rPr lang="en-US" sz="3600">
                <a:solidFill>
                  <a:schemeClr val="dk2"/>
                </a:solidFill>
                <a:latin typeface="Calibri"/>
                <a:ea typeface="Calibri"/>
                <a:cs typeface="Calibri"/>
                <a:sym typeface="Calibri"/>
              </a:rPr>
              <a:t>1 </a:t>
            </a:r>
            <a:r>
              <a:rPr lang="en-US" sz="3600">
                <a:solidFill>
                  <a:srgbClr val="0070C0"/>
                </a:solidFill>
                <a:latin typeface="Calibri"/>
                <a:ea typeface="Calibri"/>
                <a:cs typeface="Calibri"/>
                <a:sym typeface="Calibri"/>
              </a:rPr>
              <a:t>Megabyte</a:t>
            </a:r>
            <a:r>
              <a:rPr lang="en-US" sz="3600">
                <a:solidFill>
                  <a:schemeClr val="dk2"/>
                </a:solidFill>
                <a:latin typeface="Calibri"/>
                <a:ea typeface="Calibri"/>
                <a:cs typeface="Calibri"/>
                <a:sym typeface="Calibri"/>
              </a:rPr>
              <a:t> (MB) is 1000 kilobytes</a:t>
            </a:r>
            <a:endParaRPr/>
          </a:p>
          <a:p>
            <a:pPr indent="-571500" lvl="0" marL="571500" marR="0" rtl="0" algn="l">
              <a:lnSpc>
                <a:spcPct val="150000"/>
              </a:lnSpc>
              <a:spcBef>
                <a:spcPts val="0"/>
              </a:spcBef>
              <a:spcAft>
                <a:spcPts val="0"/>
              </a:spcAft>
              <a:buClr>
                <a:schemeClr val="dk2"/>
              </a:buClr>
              <a:buSzPts val="3600"/>
              <a:buFont typeface="Arial"/>
              <a:buChar char="•"/>
            </a:pPr>
            <a:r>
              <a:rPr lang="en-US" sz="3600">
                <a:solidFill>
                  <a:schemeClr val="dk2"/>
                </a:solidFill>
                <a:latin typeface="Calibri"/>
                <a:ea typeface="Calibri"/>
                <a:cs typeface="Calibri"/>
                <a:sym typeface="Calibri"/>
              </a:rPr>
              <a:t>1 </a:t>
            </a:r>
            <a:r>
              <a:rPr lang="en-US" sz="3600">
                <a:solidFill>
                  <a:srgbClr val="0070C0"/>
                </a:solidFill>
                <a:latin typeface="Calibri"/>
                <a:ea typeface="Calibri"/>
                <a:cs typeface="Calibri"/>
                <a:sym typeface="Calibri"/>
              </a:rPr>
              <a:t>Gigabyte</a:t>
            </a:r>
            <a:r>
              <a:rPr lang="en-US" sz="3600">
                <a:solidFill>
                  <a:schemeClr val="dk2"/>
                </a:solidFill>
                <a:latin typeface="Calibri"/>
                <a:ea typeface="Calibri"/>
                <a:cs typeface="Calibri"/>
                <a:sym typeface="Calibri"/>
              </a:rPr>
              <a:t> (GB) is 1000 megabytes</a:t>
            </a:r>
            <a:endParaRPr/>
          </a:p>
          <a:p>
            <a:pPr indent="-571500" lvl="0" marL="571500" marR="0" rtl="0" algn="l">
              <a:lnSpc>
                <a:spcPct val="150000"/>
              </a:lnSpc>
              <a:spcBef>
                <a:spcPts val="0"/>
              </a:spcBef>
              <a:spcAft>
                <a:spcPts val="0"/>
              </a:spcAft>
              <a:buClr>
                <a:schemeClr val="dk2"/>
              </a:buClr>
              <a:buSzPts val="3600"/>
              <a:buFont typeface="Arial"/>
              <a:buChar char="•"/>
            </a:pPr>
            <a:r>
              <a:rPr lang="en-US" sz="3600">
                <a:solidFill>
                  <a:schemeClr val="dk2"/>
                </a:solidFill>
                <a:latin typeface="Calibri"/>
                <a:ea typeface="Calibri"/>
                <a:cs typeface="Calibri"/>
                <a:sym typeface="Calibri"/>
              </a:rPr>
              <a:t>1 </a:t>
            </a:r>
            <a:r>
              <a:rPr lang="en-US" sz="3600">
                <a:solidFill>
                  <a:srgbClr val="0070C0"/>
                </a:solidFill>
                <a:latin typeface="Calibri"/>
                <a:ea typeface="Calibri"/>
                <a:cs typeface="Calibri"/>
                <a:sym typeface="Calibri"/>
              </a:rPr>
              <a:t>Terabyte</a:t>
            </a:r>
            <a:r>
              <a:rPr lang="en-US" sz="3600">
                <a:solidFill>
                  <a:schemeClr val="dk2"/>
                </a:solidFill>
                <a:latin typeface="Calibri"/>
                <a:ea typeface="Calibri"/>
                <a:cs typeface="Calibri"/>
                <a:sym typeface="Calibri"/>
              </a:rPr>
              <a:t> (TB) is 1000 gigabytes</a:t>
            </a:r>
            <a:endParaRPr/>
          </a:p>
        </p:txBody>
      </p:sp>
      <p:sp>
        <p:nvSpPr>
          <p:cNvPr id="34" name="Google Shape;34;p6"/>
          <p:cNvSpPr txBox="1"/>
          <p:nvPr/>
        </p:nvSpPr>
        <p:spPr>
          <a:xfrm>
            <a:off x="223548" y="9470470"/>
            <a:ext cx="7842767" cy="4161396"/>
          </a:xfrm>
          <a:prstGeom prst="rect">
            <a:avLst/>
          </a:prstGeom>
          <a:solidFill>
            <a:schemeClr val="lt1"/>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3600">
                <a:solidFill>
                  <a:schemeClr val="dk2"/>
                </a:solidFill>
                <a:latin typeface="Calibri"/>
                <a:ea typeface="Calibri"/>
                <a:cs typeface="Calibri"/>
                <a:sym typeface="Calibri"/>
              </a:rPr>
              <a:t>IEC</a:t>
            </a:r>
            <a:endParaRPr/>
          </a:p>
          <a:p>
            <a:pPr indent="-571500" lvl="0" marL="571500" marR="0" rtl="0" algn="l">
              <a:lnSpc>
                <a:spcPct val="150000"/>
              </a:lnSpc>
              <a:spcBef>
                <a:spcPts val="0"/>
              </a:spcBef>
              <a:spcAft>
                <a:spcPts val="0"/>
              </a:spcAft>
              <a:buClr>
                <a:schemeClr val="dk2"/>
              </a:buClr>
              <a:buSzPts val="3600"/>
              <a:buFont typeface="Arial"/>
              <a:buChar char="•"/>
            </a:pPr>
            <a:r>
              <a:rPr lang="en-US" sz="3600">
                <a:solidFill>
                  <a:schemeClr val="dk2"/>
                </a:solidFill>
                <a:latin typeface="Calibri"/>
                <a:ea typeface="Calibri"/>
                <a:cs typeface="Calibri"/>
                <a:sym typeface="Calibri"/>
              </a:rPr>
              <a:t>1 </a:t>
            </a:r>
            <a:r>
              <a:rPr lang="en-US" sz="3600">
                <a:solidFill>
                  <a:srgbClr val="7030A0"/>
                </a:solidFill>
                <a:latin typeface="Calibri"/>
                <a:ea typeface="Calibri"/>
                <a:cs typeface="Calibri"/>
                <a:sym typeface="Calibri"/>
              </a:rPr>
              <a:t>Kibibyte</a:t>
            </a:r>
            <a:r>
              <a:rPr lang="en-US" sz="3600">
                <a:solidFill>
                  <a:schemeClr val="dk2"/>
                </a:solidFill>
                <a:latin typeface="Calibri"/>
                <a:ea typeface="Calibri"/>
                <a:cs typeface="Calibri"/>
                <a:sym typeface="Calibri"/>
              </a:rPr>
              <a:t> (KiB) is 1024 bytes</a:t>
            </a:r>
            <a:endParaRPr/>
          </a:p>
          <a:p>
            <a:pPr indent="-571500" lvl="0" marL="571500" marR="0" rtl="0" algn="l">
              <a:lnSpc>
                <a:spcPct val="150000"/>
              </a:lnSpc>
              <a:spcBef>
                <a:spcPts val="0"/>
              </a:spcBef>
              <a:spcAft>
                <a:spcPts val="0"/>
              </a:spcAft>
              <a:buClr>
                <a:schemeClr val="dk2"/>
              </a:buClr>
              <a:buSzPts val="3600"/>
              <a:buFont typeface="Arial"/>
              <a:buChar char="•"/>
            </a:pPr>
            <a:r>
              <a:rPr lang="en-US" sz="3600">
                <a:solidFill>
                  <a:schemeClr val="dk2"/>
                </a:solidFill>
                <a:latin typeface="Calibri"/>
                <a:ea typeface="Calibri"/>
                <a:cs typeface="Calibri"/>
                <a:sym typeface="Calibri"/>
              </a:rPr>
              <a:t>1 </a:t>
            </a:r>
            <a:r>
              <a:rPr lang="en-US" sz="3600">
                <a:solidFill>
                  <a:srgbClr val="7030A0"/>
                </a:solidFill>
                <a:latin typeface="Calibri"/>
                <a:ea typeface="Calibri"/>
                <a:cs typeface="Calibri"/>
                <a:sym typeface="Calibri"/>
              </a:rPr>
              <a:t>Mebibyte</a:t>
            </a:r>
            <a:r>
              <a:rPr lang="en-US" sz="3600">
                <a:solidFill>
                  <a:schemeClr val="dk2"/>
                </a:solidFill>
                <a:latin typeface="Calibri"/>
                <a:ea typeface="Calibri"/>
                <a:cs typeface="Calibri"/>
                <a:sym typeface="Calibri"/>
              </a:rPr>
              <a:t> (MiB) is 1024 kibibytes</a:t>
            </a:r>
            <a:endParaRPr/>
          </a:p>
          <a:p>
            <a:pPr indent="-571500" lvl="0" marL="571500" marR="0" rtl="0" algn="l">
              <a:lnSpc>
                <a:spcPct val="150000"/>
              </a:lnSpc>
              <a:spcBef>
                <a:spcPts val="0"/>
              </a:spcBef>
              <a:spcAft>
                <a:spcPts val="0"/>
              </a:spcAft>
              <a:buClr>
                <a:schemeClr val="dk2"/>
              </a:buClr>
              <a:buSzPts val="3600"/>
              <a:buFont typeface="Arial"/>
              <a:buChar char="•"/>
            </a:pPr>
            <a:r>
              <a:rPr lang="en-US" sz="3600">
                <a:solidFill>
                  <a:schemeClr val="dk2"/>
                </a:solidFill>
                <a:latin typeface="Calibri"/>
                <a:ea typeface="Calibri"/>
                <a:cs typeface="Calibri"/>
                <a:sym typeface="Calibri"/>
              </a:rPr>
              <a:t>1 </a:t>
            </a:r>
            <a:r>
              <a:rPr lang="en-US" sz="3600">
                <a:solidFill>
                  <a:srgbClr val="7030A0"/>
                </a:solidFill>
                <a:latin typeface="Calibri"/>
                <a:ea typeface="Calibri"/>
                <a:cs typeface="Calibri"/>
                <a:sym typeface="Calibri"/>
              </a:rPr>
              <a:t>Gibibyte</a:t>
            </a:r>
            <a:r>
              <a:rPr lang="en-US" sz="3600">
                <a:solidFill>
                  <a:schemeClr val="dk2"/>
                </a:solidFill>
                <a:latin typeface="Calibri"/>
                <a:ea typeface="Calibri"/>
                <a:cs typeface="Calibri"/>
                <a:sym typeface="Calibri"/>
              </a:rPr>
              <a:t> (GiB) is 1024 mebibytes</a:t>
            </a:r>
            <a:endParaRPr/>
          </a:p>
          <a:p>
            <a:pPr indent="-571500" lvl="0" marL="571500" marR="0" rtl="0" algn="l">
              <a:lnSpc>
                <a:spcPct val="150000"/>
              </a:lnSpc>
              <a:spcBef>
                <a:spcPts val="0"/>
              </a:spcBef>
              <a:spcAft>
                <a:spcPts val="0"/>
              </a:spcAft>
              <a:buClr>
                <a:schemeClr val="dk2"/>
              </a:buClr>
              <a:buSzPts val="3600"/>
              <a:buFont typeface="Arial"/>
              <a:buChar char="•"/>
            </a:pPr>
            <a:r>
              <a:rPr lang="en-US" sz="3600">
                <a:solidFill>
                  <a:schemeClr val="dk2"/>
                </a:solidFill>
                <a:latin typeface="Calibri"/>
                <a:ea typeface="Calibri"/>
                <a:cs typeface="Calibri"/>
                <a:sym typeface="Calibri"/>
              </a:rPr>
              <a:t>1 </a:t>
            </a:r>
            <a:r>
              <a:rPr lang="en-US" sz="3600">
                <a:solidFill>
                  <a:srgbClr val="7030A0"/>
                </a:solidFill>
                <a:latin typeface="Calibri"/>
                <a:ea typeface="Calibri"/>
                <a:cs typeface="Calibri"/>
                <a:sym typeface="Calibri"/>
              </a:rPr>
              <a:t>Tebibyte</a:t>
            </a:r>
            <a:r>
              <a:rPr lang="en-US" sz="3600">
                <a:solidFill>
                  <a:schemeClr val="dk2"/>
                </a:solidFill>
                <a:latin typeface="Calibri"/>
                <a:ea typeface="Calibri"/>
                <a:cs typeface="Calibri"/>
                <a:sym typeface="Calibri"/>
              </a:rPr>
              <a:t> (TiB) is 1024 gibibytes</a:t>
            </a:r>
            <a:endParaRPr/>
          </a:p>
        </p:txBody>
      </p:sp>
      <p:sp>
        <p:nvSpPr>
          <p:cNvPr id="35" name="Google Shape;35;p6"/>
          <p:cNvSpPr txBox="1"/>
          <p:nvPr/>
        </p:nvSpPr>
        <p:spPr>
          <a:xfrm>
            <a:off x="6095999" y="2291841"/>
            <a:ext cx="18102885" cy="2580706"/>
          </a:xfrm>
          <a:prstGeom prst="rect">
            <a:avLst/>
          </a:prstGeom>
          <a:solidFill>
            <a:srgbClr val="FFF5DC"/>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5400" u="sng">
                <a:solidFill>
                  <a:schemeClr val="dk2"/>
                </a:solidFill>
                <a:latin typeface="Calibri"/>
                <a:ea typeface="Calibri"/>
                <a:cs typeface="Calibri"/>
                <a:sym typeface="Calibri"/>
              </a:rPr>
              <a:t>Easy Task</a:t>
            </a:r>
            <a:endParaRPr sz="5400">
              <a:solidFill>
                <a:schemeClr val="dk2"/>
              </a:solidFill>
              <a:latin typeface="Calibri"/>
              <a:ea typeface="Calibri"/>
              <a:cs typeface="Calibri"/>
              <a:sym typeface="Calibri"/>
            </a:endParaRPr>
          </a:p>
          <a:p>
            <a:pPr indent="0" lvl="0" marL="0" marR="0" rtl="0" algn="l">
              <a:lnSpc>
                <a:spcPct val="150000"/>
              </a:lnSpc>
              <a:spcBef>
                <a:spcPts val="0"/>
              </a:spcBef>
              <a:spcAft>
                <a:spcPts val="0"/>
              </a:spcAft>
              <a:buNone/>
            </a:pPr>
            <a:r>
              <a:rPr b="1" lang="en-US" sz="6000">
                <a:solidFill>
                  <a:schemeClr val="dk2"/>
                </a:solidFill>
                <a:latin typeface="Lato Light"/>
                <a:ea typeface="Lato Light"/>
                <a:cs typeface="Lato Light"/>
                <a:sym typeface="Lato Light"/>
              </a:rPr>
              <a:t>Define</a:t>
            </a:r>
            <a:r>
              <a:rPr lang="en-US" sz="6000">
                <a:solidFill>
                  <a:schemeClr val="dk2"/>
                </a:solidFill>
                <a:latin typeface="Lato Light"/>
                <a:ea typeface="Lato Light"/>
                <a:cs typeface="Lato Light"/>
                <a:sym typeface="Lato Light"/>
              </a:rPr>
              <a:t> the </a:t>
            </a:r>
            <a:r>
              <a:rPr lang="en-US" sz="6000">
                <a:solidFill>
                  <a:srgbClr val="7030A0"/>
                </a:solidFill>
                <a:latin typeface="Lato Light"/>
                <a:ea typeface="Lato Light"/>
                <a:cs typeface="Lato Light"/>
                <a:sym typeface="Lato Light"/>
              </a:rPr>
              <a:t>terms</a:t>
            </a:r>
            <a:r>
              <a:rPr lang="en-US" sz="6000">
                <a:solidFill>
                  <a:schemeClr val="dk2"/>
                </a:solidFill>
                <a:latin typeface="Lato Light"/>
                <a:ea typeface="Lato Light"/>
                <a:cs typeface="Lato Light"/>
                <a:sym typeface="Lato Light"/>
              </a:rPr>
              <a:t> ‘Packet Header’, ‘Payload’ and ‘Trailer’.</a:t>
            </a:r>
            <a:endParaRPr/>
          </a:p>
        </p:txBody>
      </p:sp>
      <p:sp>
        <p:nvSpPr>
          <p:cNvPr id="36" name="Google Shape;36;p6"/>
          <p:cNvSpPr txBox="1"/>
          <p:nvPr/>
        </p:nvSpPr>
        <p:spPr>
          <a:xfrm>
            <a:off x="6096000" y="54487"/>
            <a:ext cx="18102885" cy="2059025"/>
          </a:xfrm>
          <a:prstGeom prst="rect">
            <a:avLst/>
          </a:prstGeom>
          <a:solidFill>
            <a:srgbClr val="D2EE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4400"/>
              <a:buFont typeface="Arial"/>
              <a:buNone/>
            </a:pPr>
            <a:r>
              <a:rPr b="1" lang="en-US" sz="4400" u="sng">
                <a:solidFill>
                  <a:schemeClr val="dk2"/>
                </a:solidFill>
                <a:latin typeface="Lato Light"/>
                <a:ea typeface="Lato Light"/>
                <a:cs typeface="Lato Light"/>
                <a:sym typeface="Lato Light"/>
              </a:rPr>
              <a:t>Starter Activity</a:t>
            </a:r>
            <a:endParaRPr b="1" sz="3600" u="sng">
              <a:solidFill>
                <a:schemeClr val="dk2"/>
              </a:solidFill>
              <a:latin typeface="Lato Light"/>
              <a:ea typeface="Lato Light"/>
              <a:cs typeface="Lato Light"/>
              <a:sym typeface="Lato Light"/>
            </a:endParaRPr>
          </a:p>
          <a:p>
            <a:pPr indent="0" lvl="0" marL="0" marR="0" rtl="0" algn="ctr">
              <a:lnSpc>
                <a:spcPct val="150000"/>
              </a:lnSpc>
              <a:spcBef>
                <a:spcPts val="800"/>
              </a:spcBef>
              <a:spcAft>
                <a:spcPts val="0"/>
              </a:spcAft>
              <a:buClr>
                <a:schemeClr val="dk2"/>
              </a:buClr>
              <a:buSzPts val="4000"/>
              <a:buFont typeface="Arial"/>
              <a:buNone/>
            </a:pPr>
            <a:r>
              <a:rPr b="1" lang="en-US" sz="4000" u="sng">
                <a:solidFill>
                  <a:schemeClr val="dk2"/>
                </a:solidFill>
                <a:latin typeface="Lato Light"/>
                <a:ea typeface="Lato Light"/>
                <a:cs typeface="Lato Light"/>
                <a:sym typeface="Lato Light"/>
              </a:rPr>
              <a:t>Instructions</a:t>
            </a:r>
            <a:r>
              <a:rPr b="1" lang="en-US" sz="4000">
                <a:solidFill>
                  <a:schemeClr val="dk2"/>
                </a:solidFill>
                <a:latin typeface="Lato Light"/>
                <a:ea typeface="Lato Light"/>
                <a:cs typeface="Lato Light"/>
                <a:sym typeface="Lato Light"/>
              </a:rPr>
              <a:t>: Complete the tasks below one by one in TEAMS</a:t>
            </a:r>
            <a:endParaRPr b="1" sz="4800">
              <a:solidFill>
                <a:schemeClr val="dk2"/>
              </a:solidFill>
              <a:latin typeface="Lato Light"/>
              <a:ea typeface="Lato Light"/>
              <a:cs typeface="Lato Light"/>
              <a:sym typeface="Lato Light"/>
            </a:endParaRPr>
          </a:p>
        </p:txBody>
      </p:sp>
      <p:sp>
        <p:nvSpPr>
          <p:cNvPr id="37" name="Google Shape;37;p6"/>
          <p:cNvSpPr txBox="1"/>
          <p:nvPr/>
        </p:nvSpPr>
        <p:spPr>
          <a:xfrm>
            <a:off x="6095999" y="4996035"/>
            <a:ext cx="18102885" cy="3841501"/>
          </a:xfrm>
          <a:prstGeom prst="rect">
            <a:avLst/>
          </a:prstGeom>
          <a:solidFill>
            <a:srgbClr val="DEF8ED"/>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6000" u="sng">
                <a:solidFill>
                  <a:schemeClr val="dk2"/>
                </a:solidFill>
                <a:latin typeface="Calibri"/>
                <a:ea typeface="Calibri"/>
                <a:cs typeface="Calibri"/>
                <a:sym typeface="Calibri"/>
              </a:rPr>
              <a:t>Average Task</a:t>
            </a:r>
            <a:endParaRPr sz="6000">
              <a:solidFill>
                <a:schemeClr val="dk2"/>
              </a:solidFill>
              <a:latin typeface="Calibri"/>
              <a:ea typeface="Calibri"/>
              <a:cs typeface="Calibri"/>
              <a:sym typeface="Calibri"/>
            </a:endParaRPr>
          </a:p>
          <a:p>
            <a:pPr indent="0" lvl="0" marL="0" marR="0" rtl="0" algn="l">
              <a:lnSpc>
                <a:spcPct val="150000"/>
              </a:lnSpc>
              <a:spcBef>
                <a:spcPts val="0"/>
              </a:spcBef>
              <a:spcAft>
                <a:spcPts val="0"/>
              </a:spcAft>
              <a:buNone/>
            </a:pPr>
            <a:r>
              <a:rPr b="1" lang="en-US" sz="5400">
                <a:solidFill>
                  <a:schemeClr val="dk2"/>
                </a:solidFill>
                <a:latin typeface="Lato Light"/>
                <a:ea typeface="Lato Light"/>
                <a:cs typeface="Lato Light"/>
                <a:sym typeface="Lato Light"/>
              </a:rPr>
              <a:t>Explain</a:t>
            </a:r>
            <a:r>
              <a:rPr lang="en-US" sz="5400">
                <a:solidFill>
                  <a:schemeClr val="dk2"/>
                </a:solidFill>
                <a:latin typeface="Lato Light"/>
                <a:ea typeface="Lato Light"/>
                <a:cs typeface="Lato Light"/>
                <a:sym typeface="Lato Light"/>
              </a:rPr>
              <a:t> Why ARQ might be </a:t>
            </a:r>
            <a:r>
              <a:rPr lang="en-US" sz="5400">
                <a:solidFill>
                  <a:srgbClr val="7030A0"/>
                </a:solidFill>
                <a:latin typeface="Lato Light"/>
                <a:ea typeface="Lato Light"/>
                <a:cs typeface="Lato Light"/>
                <a:sym typeface="Lato Light"/>
              </a:rPr>
              <a:t>essential</a:t>
            </a:r>
            <a:r>
              <a:rPr lang="en-US" sz="5400">
                <a:solidFill>
                  <a:schemeClr val="dk2"/>
                </a:solidFill>
                <a:latin typeface="Lato Light"/>
                <a:ea typeface="Lato Light"/>
                <a:cs typeface="Lato Light"/>
                <a:sym typeface="Lato Light"/>
              </a:rPr>
              <a:t> in a </a:t>
            </a:r>
            <a:r>
              <a:rPr lang="en-US" sz="5400">
                <a:solidFill>
                  <a:srgbClr val="7030A0"/>
                </a:solidFill>
                <a:latin typeface="Lato Light"/>
                <a:ea typeface="Lato Light"/>
                <a:cs typeface="Lato Light"/>
                <a:sym typeface="Lato Light"/>
              </a:rPr>
              <a:t>noisy communication </a:t>
            </a:r>
            <a:r>
              <a:rPr lang="en-US" sz="5400">
                <a:solidFill>
                  <a:schemeClr val="dk2"/>
                </a:solidFill>
                <a:latin typeface="Lato Light"/>
                <a:ea typeface="Lato Light"/>
                <a:cs typeface="Lato Light"/>
                <a:sym typeface="Lato Light"/>
              </a:rPr>
              <a:t>environment.</a:t>
            </a:r>
            <a:endParaRPr/>
          </a:p>
        </p:txBody>
      </p:sp>
      <p:sp>
        <p:nvSpPr>
          <p:cNvPr id="38" name="Google Shape;38;p6"/>
          <p:cNvSpPr txBox="1"/>
          <p:nvPr/>
        </p:nvSpPr>
        <p:spPr>
          <a:xfrm>
            <a:off x="6095998" y="8993581"/>
            <a:ext cx="18102886" cy="4610429"/>
          </a:xfrm>
          <a:prstGeom prst="rect">
            <a:avLst/>
          </a:prstGeom>
          <a:solidFill>
            <a:srgbClr val="FFE397"/>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4800" u="sng">
                <a:solidFill>
                  <a:schemeClr val="dk2"/>
                </a:solidFill>
                <a:latin typeface="Calibri"/>
                <a:ea typeface="Calibri"/>
                <a:cs typeface="Calibri"/>
                <a:sym typeface="Calibri"/>
              </a:rPr>
              <a:t>Challenge Task</a:t>
            </a:r>
            <a:endParaRPr sz="4800">
              <a:solidFill>
                <a:schemeClr val="dk2"/>
              </a:solidFill>
              <a:latin typeface="Calibri"/>
              <a:ea typeface="Calibri"/>
              <a:cs typeface="Calibri"/>
              <a:sym typeface="Calibri"/>
            </a:endParaRPr>
          </a:p>
          <a:p>
            <a:pPr indent="0" lvl="0" marL="0" marR="0" rtl="0" algn="l">
              <a:lnSpc>
                <a:spcPct val="150000"/>
              </a:lnSpc>
              <a:spcBef>
                <a:spcPts val="0"/>
              </a:spcBef>
              <a:spcAft>
                <a:spcPts val="0"/>
              </a:spcAft>
              <a:buNone/>
            </a:pPr>
            <a:r>
              <a:rPr b="1" lang="en-US" sz="5100">
                <a:solidFill>
                  <a:schemeClr val="dk2"/>
                </a:solidFill>
                <a:latin typeface="Lato Light"/>
                <a:ea typeface="Lato Light"/>
                <a:cs typeface="Lato Light"/>
                <a:sym typeface="Lato Light"/>
              </a:rPr>
              <a:t>Why </a:t>
            </a:r>
            <a:r>
              <a:rPr lang="en-US" sz="5100">
                <a:solidFill>
                  <a:schemeClr val="dk2"/>
                </a:solidFill>
                <a:latin typeface="Lato Light"/>
                <a:ea typeface="Lato Light"/>
                <a:cs typeface="Lato Light"/>
                <a:sym typeface="Lato Light"/>
              </a:rPr>
              <a:t>might it be </a:t>
            </a:r>
            <a:r>
              <a:rPr lang="en-US" sz="5100">
                <a:solidFill>
                  <a:srgbClr val="7030A0"/>
                </a:solidFill>
                <a:latin typeface="Lato Light"/>
                <a:ea typeface="Lato Light"/>
                <a:cs typeface="Lato Light"/>
                <a:sym typeface="Lato Light"/>
              </a:rPr>
              <a:t>useful</a:t>
            </a:r>
            <a:r>
              <a:rPr lang="en-US" sz="5100">
                <a:solidFill>
                  <a:schemeClr val="dk2"/>
                </a:solidFill>
                <a:latin typeface="Lato Light"/>
                <a:ea typeface="Lato Light"/>
                <a:cs typeface="Lato Light"/>
                <a:sym typeface="Lato Light"/>
              </a:rPr>
              <a:t> to have two different systems (SI and IEC) </a:t>
            </a:r>
            <a:r>
              <a:rPr lang="en-US" sz="5100">
                <a:solidFill>
                  <a:srgbClr val="7030A0"/>
                </a:solidFill>
                <a:latin typeface="Lato Light"/>
                <a:ea typeface="Lato Light"/>
                <a:cs typeface="Lato Light"/>
                <a:sym typeface="Lato Light"/>
              </a:rPr>
              <a:t>for measuring data storage</a:t>
            </a:r>
            <a:r>
              <a:rPr lang="en-US" sz="5100">
                <a:solidFill>
                  <a:schemeClr val="dk2"/>
                </a:solidFill>
                <a:latin typeface="Lato Light"/>
                <a:ea typeface="Lato Light"/>
                <a:cs typeface="Lato Light"/>
                <a:sym typeface="Lato Light"/>
              </a:rPr>
              <a:t>? </a:t>
            </a:r>
            <a:r>
              <a:rPr b="1" lang="en-US" sz="5100">
                <a:solidFill>
                  <a:schemeClr val="dk2"/>
                </a:solidFill>
                <a:latin typeface="Lato Light"/>
                <a:ea typeface="Lato Light"/>
                <a:cs typeface="Lato Light"/>
                <a:sym typeface="Lato Light"/>
              </a:rPr>
              <a:t>Give</a:t>
            </a:r>
            <a:r>
              <a:rPr lang="en-US" sz="5100">
                <a:solidFill>
                  <a:schemeClr val="dk2"/>
                </a:solidFill>
                <a:latin typeface="Lato Light"/>
                <a:ea typeface="Lato Light"/>
                <a:cs typeface="Lato Light"/>
                <a:sym typeface="Lato Light"/>
              </a:rPr>
              <a:t> </a:t>
            </a:r>
            <a:r>
              <a:rPr lang="en-US" sz="5100">
                <a:solidFill>
                  <a:srgbClr val="7030A0"/>
                </a:solidFill>
                <a:latin typeface="Lato Light"/>
                <a:ea typeface="Lato Light"/>
                <a:cs typeface="Lato Light"/>
                <a:sym typeface="Lato Light"/>
              </a:rPr>
              <a:t>two</a:t>
            </a:r>
            <a:r>
              <a:rPr lang="en-US" sz="5100">
                <a:solidFill>
                  <a:schemeClr val="dk2"/>
                </a:solidFill>
                <a:latin typeface="Lato Light"/>
                <a:ea typeface="Lato Light"/>
                <a:cs typeface="Lato Light"/>
                <a:sym typeface="Lato Light"/>
              </a:rPr>
              <a:t> examples to support your answer.</a:t>
            </a:r>
            <a:endParaRPr/>
          </a:p>
        </p:txBody>
      </p:sp>
    </p:spTree>
  </p:cSld>
  <p:clrMapOvr>
    <a:masterClrMapping/>
  </p:clrMapOvr>
  <p:transition spd="slow">
    <p:fade thruBlk="1"/>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5"/>
                                        </p:tgtEl>
                                        <p:attrNameLst>
                                          <p:attrName>style.visibility</p:attrName>
                                        </p:attrNameLst>
                                      </p:cBhvr>
                                      <p:to>
                                        <p:strVal val="visible"/>
                                      </p:to>
                                    </p:set>
                                    <p:anim calcmode="lin" valueType="num">
                                      <p:cBhvr additive="base">
                                        <p:cTn dur="500"/>
                                        <p:tgtEl>
                                          <p:spTgt spid="35"/>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37"/>
                                        </p:tgtEl>
                                        <p:attrNameLst>
                                          <p:attrName>style.visibility</p:attrName>
                                        </p:attrNameLst>
                                      </p:cBhvr>
                                      <p:to>
                                        <p:strVal val="visible"/>
                                      </p:to>
                                    </p:set>
                                    <p:anim calcmode="lin" valueType="num">
                                      <p:cBhvr additive="base">
                                        <p:cTn dur="500"/>
                                        <p:tgtEl>
                                          <p:spTgt spid="37"/>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3"/>
                                        </p:tgtEl>
                                        <p:attrNameLst>
                                          <p:attrName>style.visibility</p:attrName>
                                        </p:attrNameLst>
                                      </p:cBhvr>
                                      <p:to>
                                        <p:strVal val="visible"/>
                                      </p:to>
                                    </p:set>
                                    <p:anim calcmode="lin" valueType="num">
                                      <p:cBhvr additive="base">
                                        <p:cTn dur="500"/>
                                        <p:tgtEl>
                                          <p:spTgt spid="33"/>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34"/>
                                        </p:tgtEl>
                                        <p:attrNameLst>
                                          <p:attrName>style.visibility</p:attrName>
                                        </p:attrNameLst>
                                      </p:cBhvr>
                                      <p:to>
                                        <p:strVal val="visible"/>
                                      </p:to>
                                    </p:set>
                                    <p:anim calcmode="lin" valueType="num">
                                      <p:cBhvr additive="base">
                                        <p:cTn dur="500"/>
                                        <p:tgtEl>
                                          <p:spTgt spid="34"/>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4">
                                  <p:stCondLst>
                                    <p:cond delay="0"/>
                                  </p:stCondLst>
                                  <p:childTnLst>
                                    <p:set>
                                      <p:cBhvr>
                                        <p:cTn dur="1" fill="hold">
                                          <p:stCondLst>
                                            <p:cond delay="0"/>
                                          </p:stCondLst>
                                        </p:cTn>
                                        <p:tgtEl>
                                          <p:spTgt spid="38"/>
                                        </p:tgtEl>
                                        <p:attrNameLst>
                                          <p:attrName>style.visibility</p:attrName>
                                        </p:attrNameLst>
                                      </p:cBhvr>
                                      <p:to>
                                        <p:strVal val="visible"/>
                                      </p:to>
                                    </p:set>
                                    <p:anim calcmode="lin" valueType="num">
                                      <p:cBhvr additive="base">
                                        <p:cTn dur="500"/>
                                        <p:tgtEl>
                                          <p:spTgt spid="38"/>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 name="Shape 42"/>
        <p:cNvGrpSpPr/>
        <p:nvPr/>
      </p:nvGrpSpPr>
      <p:grpSpPr>
        <a:xfrm>
          <a:off x="0" y="0"/>
          <a:ext cx="0" cy="0"/>
          <a:chOff x="0" y="0"/>
          <a:chExt cx="0" cy="0"/>
        </a:xfrm>
      </p:grpSpPr>
      <p:sp>
        <p:nvSpPr>
          <p:cNvPr id="43" name="Google Shape;43;p7"/>
          <p:cNvSpPr/>
          <p:nvPr/>
        </p:nvSpPr>
        <p:spPr>
          <a:xfrm>
            <a:off x="12615748" y="0"/>
            <a:ext cx="11761902" cy="13716000"/>
          </a:xfrm>
          <a:custGeom>
            <a:rect b="b" l="l" r="r" t="t"/>
            <a:pathLst>
              <a:path extrusionOk="0" h="15172" w="15172">
                <a:moveTo>
                  <a:pt x="15171" y="15171"/>
                </a:moveTo>
                <a:lnTo>
                  <a:pt x="0" y="15171"/>
                </a:lnTo>
                <a:lnTo>
                  <a:pt x="0" y="0"/>
                </a:lnTo>
                <a:lnTo>
                  <a:pt x="15171" y="0"/>
                </a:lnTo>
                <a:lnTo>
                  <a:pt x="15171" y="15171"/>
                </a:lnTo>
              </a:path>
            </a:pathLst>
          </a:custGeom>
          <a:solidFill>
            <a:srgbClr val="F2F2F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2800">
              <a:solidFill>
                <a:schemeClr val="dk1"/>
              </a:solidFill>
              <a:latin typeface="Poppins"/>
              <a:ea typeface="Poppins"/>
              <a:cs typeface="Poppins"/>
              <a:sym typeface="Poppins"/>
            </a:endParaRPr>
          </a:p>
        </p:txBody>
      </p:sp>
      <p:sp>
        <p:nvSpPr>
          <p:cNvPr id="44" name="Google Shape;44;p7"/>
          <p:cNvSpPr txBox="1"/>
          <p:nvPr/>
        </p:nvSpPr>
        <p:spPr>
          <a:xfrm>
            <a:off x="1382503" y="787273"/>
            <a:ext cx="10566718" cy="6463308"/>
          </a:xfrm>
          <a:prstGeom prst="rect">
            <a:avLst/>
          </a:prstGeom>
          <a:noFill/>
          <a:ln>
            <a:noFill/>
          </a:ln>
        </p:spPr>
        <p:txBody>
          <a:bodyPr anchorCtr="0" anchor="b" bIns="45700" lIns="91425" spcFirstLastPara="1" rIns="91425" wrap="square" tIns="45700">
            <a:spAutoFit/>
          </a:bodyPr>
          <a:lstStyle/>
          <a:p>
            <a:pPr indent="0" lvl="0" marL="0" marR="0" rtl="0" algn="l">
              <a:spcBef>
                <a:spcPts val="0"/>
              </a:spcBef>
              <a:spcAft>
                <a:spcPts val="0"/>
              </a:spcAft>
              <a:buNone/>
            </a:pPr>
            <a:r>
              <a:rPr b="1" lang="en-US" sz="13800">
                <a:solidFill>
                  <a:schemeClr val="dk2"/>
                </a:solidFill>
                <a:latin typeface="Poppins"/>
                <a:ea typeface="Poppins"/>
                <a:cs typeface="Poppins"/>
                <a:sym typeface="Poppins"/>
              </a:rPr>
              <a:t>Year 10 GCSE:</a:t>
            </a:r>
            <a:endParaRPr/>
          </a:p>
          <a:p>
            <a:pPr indent="0" lvl="0" marL="0" marR="0" rtl="0" algn="l">
              <a:spcBef>
                <a:spcPts val="0"/>
              </a:spcBef>
              <a:spcAft>
                <a:spcPts val="0"/>
              </a:spcAft>
              <a:buNone/>
            </a:pPr>
            <a:r>
              <a:rPr b="1" lang="en-US" sz="13800">
                <a:solidFill>
                  <a:schemeClr val="dk2"/>
                </a:solidFill>
                <a:latin typeface="Poppins"/>
                <a:ea typeface="Poppins"/>
                <a:cs typeface="Poppins"/>
                <a:sym typeface="Poppins"/>
              </a:rPr>
              <a:t>Computer Science</a:t>
            </a:r>
            <a:endParaRPr b="1" sz="9600">
              <a:solidFill>
                <a:schemeClr val="dk2"/>
              </a:solidFill>
              <a:latin typeface="Poppins"/>
              <a:ea typeface="Poppins"/>
              <a:cs typeface="Poppins"/>
              <a:sym typeface="Poppins"/>
            </a:endParaRPr>
          </a:p>
        </p:txBody>
      </p:sp>
      <p:sp>
        <p:nvSpPr>
          <p:cNvPr id="45" name="Google Shape;45;p7"/>
          <p:cNvSpPr txBox="1"/>
          <p:nvPr/>
        </p:nvSpPr>
        <p:spPr>
          <a:xfrm>
            <a:off x="1382503" y="7364788"/>
            <a:ext cx="10763192" cy="5517793"/>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4800">
                <a:solidFill>
                  <a:srgbClr val="415D79"/>
                </a:solidFill>
                <a:latin typeface="Poppins"/>
                <a:ea typeface="Poppins"/>
                <a:cs typeface="Poppins"/>
                <a:sym typeface="Poppins"/>
              </a:rPr>
              <a:t>Unit 3 of 6: Hardware</a:t>
            </a:r>
            <a:endParaRPr/>
          </a:p>
          <a:p>
            <a:pPr indent="0" lvl="0" marL="0" marR="0" rtl="0" algn="l">
              <a:lnSpc>
                <a:spcPct val="150000"/>
              </a:lnSpc>
              <a:spcBef>
                <a:spcPts val="0"/>
              </a:spcBef>
              <a:spcAft>
                <a:spcPts val="0"/>
              </a:spcAft>
              <a:buNone/>
            </a:pPr>
            <a:r>
              <a:rPr lang="en-US" sz="4800">
                <a:solidFill>
                  <a:srgbClr val="415D79"/>
                </a:solidFill>
                <a:latin typeface="Poppins"/>
                <a:ea typeface="Poppins"/>
                <a:cs typeface="Poppins"/>
                <a:sym typeface="Poppins"/>
              </a:rPr>
              <a:t>Topic 1: Computer architecture</a:t>
            </a:r>
            <a:endParaRPr/>
          </a:p>
          <a:p>
            <a:pPr indent="0" lvl="0" marL="0" marR="0" rtl="0" algn="l">
              <a:lnSpc>
                <a:spcPct val="150000"/>
              </a:lnSpc>
              <a:spcBef>
                <a:spcPts val="0"/>
              </a:spcBef>
              <a:spcAft>
                <a:spcPts val="0"/>
              </a:spcAft>
              <a:buNone/>
            </a:pPr>
            <a:r>
              <a:rPr lang="en-US" sz="4800">
                <a:solidFill>
                  <a:srgbClr val="415D79"/>
                </a:solidFill>
                <a:latin typeface="Poppins"/>
                <a:ea typeface="Poppins"/>
                <a:cs typeface="Poppins"/>
                <a:sym typeface="Poppins"/>
              </a:rPr>
              <a:t>Topic 2: Input and output devices</a:t>
            </a:r>
            <a:endParaRPr/>
          </a:p>
          <a:p>
            <a:pPr indent="0" lvl="0" marL="0" marR="0" rtl="0" algn="l">
              <a:lnSpc>
                <a:spcPct val="150000"/>
              </a:lnSpc>
              <a:spcBef>
                <a:spcPts val="0"/>
              </a:spcBef>
              <a:spcAft>
                <a:spcPts val="0"/>
              </a:spcAft>
              <a:buNone/>
            </a:pPr>
            <a:r>
              <a:rPr lang="en-US" sz="4800">
                <a:solidFill>
                  <a:srgbClr val="415D79"/>
                </a:solidFill>
                <a:latin typeface="Poppins"/>
                <a:ea typeface="Poppins"/>
                <a:cs typeface="Poppins"/>
                <a:sym typeface="Poppins"/>
              </a:rPr>
              <a:t>Topic 3: Data storage</a:t>
            </a:r>
            <a:endParaRPr/>
          </a:p>
          <a:p>
            <a:pPr indent="0" lvl="0" marL="0" marR="0" rtl="0" algn="l">
              <a:lnSpc>
                <a:spcPct val="150000"/>
              </a:lnSpc>
              <a:spcBef>
                <a:spcPts val="0"/>
              </a:spcBef>
              <a:spcAft>
                <a:spcPts val="0"/>
              </a:spcAft>
              <a:buNone/>
            </a:pPr>
            <a:r>
              <a:rPr lang="en-US" sz="4800">
                <a:solidFill>
                  <a:srgbClr val="415D79"/>
                </a:solidFill>
                <a:latin typeface="Poppins"/>
                <a:ea typeface="Poppins"/>
                <a:cs typeface="Poppins"/>
                <a:sym typeface="Poppins"/>
              </a:rPr>
              <a:t>Topic 4: Network hardware</a:t>
            </a:r>
            <a:endParaRPr/>
          </a:p>
        </p:txBody>
      </p:sp>
      <p:sp>
        <p:nvSpPr>
          <p:cNvPr id="46" name="Google Shape;46;p7"/>
          <p:cNvSpPr/>
          <p:nvPr/>
        </p:nvSpPr>
        <p:spPr>
          <a:xfrm>
            <a:off x="13282275" y="1103796"/>
            <a:ext cx="10428848" cy="11508407"/>
          </a:xfrm>
          <a:custGeom>
            <a:rect b="b" l="l" r="r" t="t"/>
            <a:pathLst>
              <a:path extrusionOk="0" h="9130576" w="8776827">
                <a:moveTo>
                  <a:pt x="0" y="0"/>
                </a:moveTo>
                <a:cubicBezTo>
                  <a:pt x="280911" y="13334"/>
                  <a:pt x="303180" y="-953"/>
                  <a:pt x="587372" y="0"/>
                </a:cubicBezTo>
                <a:cubicBezTo>
                  <a:pt x="871564" y="953"/>
                  <a:pt x="800350" y="6090"/>
                  <a:pt x="999208" y="0"/>
                </a:cubicBezTo>
                <a:cubicBezTo>
                  <a:pt x="1198066" y="-6090"/>
                  <a:pt x="1425755" y="36116"/>
                  <a:pt x="1849885" y="0"/>
                </a:cubicBezTo>
                <a:cubicBezTo>
                  <a:pt x="2274015" y="-36116"/>
                  <a:pt x="2222520" y="29011"/>
                  <a:pt x="2437257" y="0"/>
                </a:cubicBezTo>
                <a:cubicBezTo>
                  <a:pt x="2651994" y="-29011"/>
                  <a:pt x="2778495" y="19386"/>
                  <a:pt x="3024630" y="0"/>
                </a:cubicBezTo>
                <a:cubicBezTo>
                  <a:pt x="3270765" y="-19386"/>
                  <a:pt x="3527267" y="-7171"/>
                  <a:pt x="3875307" y="0"/>
                </a:cubicBezTo>
                <a:cubicBezTo>
                  <a:pt x="4223347" y="7171"/>
                  <a:pt x="4166503" y="-9317"/>
                  <a:pt x="4374911" y="0"/>
                </a:cubicBezTo>
                <a:cubicBezTo>
                  <a:pt x="4583319" y="9317"/>
                  <a:pt x="4879084" y="-23955"/>
                  <a:pt x="5225588" y="0"/>
                </a:cubicBezTo>
                <a:cubicBezTo>
                  <a:pt x="5572092" y="23955"/>
                  <a:pt x="5874540" y="-9521"/>
                  <a:pt x="6076265" y="0"/>
                </a:cubicBezTo>
                <a:cubicBezTo>
                  <a:pt x="6277990" y="9521"/>
                  <a:pt x="6612510" y="27926"/>
                  <a:pt x="6751405" y="0"/>
                </a:cubicBezTo>
                <a:cubicBezTo>
                  <a:pt x="6890300" y="-27926"/>
                  <a:pt x="7425688" y="19764"/>
                  <a:pt x="7602082" y="0"/>
                </a:cubicBezTo>
                <a:cubicBezTo>
                  <a:pt x="7778476" y="-19764"/>
                  <a:pt x="7970820" y="8455"/>
                  <a:pt x="8189455" y="0"/>
                </a:cubicBezTo>
                <a:cubicBezTo>
                  <a:pt x="8408090" y="-8455"/>
                  <a:pt x="8586466" y="4676"/>
                  <a:pt x="8776827" y="0"/>
                </a:cubicBezTo>
                <a:cubicBezTo>
                  <a:pt x="8770292" y="349883"/>
                  <a:pt x="8741022" y="531333"/>
                  <a:pt x="8776827" y="743490"/>
                </a:cubicBezTo>
                <a:cubicBezTo>
                  <a:pt x="8812633" y="955647"/>
                  <a:pt x="8785529" y="1124382"/>
                  <a:pt x="8776827" y="1395674"/>
                </a:cubicBezTo>
                <a:cubicBezTo>
                  <a:pt x="8768125" y="1666966"/>
                  <a:pt x="8770900" y="1819720"/>
                  <a:pt x="8776827" y="2047858"/>
                </a:cubicBezTo>
                <a:cubicBezTo>
                  <a:pt x="8782754" y="2275996"/>
                  <a:pt x="8792232" y="2610230"/>
                  <a:pt x="8776827" y="2791348"/>
                </a:cubicBezTo>
                <a:cubicBezTo>
                  <a:pt x="8761423" y="2972466"/>
                  <a:pt x="8784919" y="3337375"/>
                  <a:pt x="8776827" y="3534837"/>
                </a:cubicBezTo>
                <a:cubicBezTo>
                  <a:pt x="8768735" y="3732299"/>
                  <a:pt x="8750294" y="4025240"/>
                  <a:pt x="8776827" y="4278327"/>
                </a:cubicBezTo>
                <a:cubicBezTo>
                  <a:pt x="8803361" y="4531414"/>
                  <a:pt x="8774512" y="4573068"/>
                  <a:pt x="8776827" y="4656594"/>
                </a:cubicBezTo>
                <a:cubicBezTo>
                  <a:pt x="8779142" y="4740120"/>
                  <a:pt x="8793977" y="4968035"/>
                  <a:pt x="8776827" y="5126166"/>
                </a:cubicBezTo>
                <a:cubicBezTo>
                  <a:pt x="8759677" y="5284297"/>
                  <a:pt x="8813678" y="5720639"/>
                  <a:pt x="8776827" y="5869656"/>
                </a:cubicBezTo>
                <a:cubicBezTo>
                  <a:pt x="8739977" y="6018673"/>
                  <a:pt x="8788213" y="6293145"/>
                  <a:pt x="8776827" y="6430534"/>
                </a:cubicBezTo>
                <a:cubicBezTo>
                  <a:pt x="8765441" y="6567923"/>
                  <a:pt x="8799326" y="6711596"/>
                  <a:pt x="8776827" y="6900107"/>
                </a:cubicBezTo>
                <a:cubicBezTo>
                  <a:pt x="8754328" y="7088618"/>
                  <a:pt x="8750700" y="7486407"/>
                  <a:pt x="8776827" y="7643596"/>
                </a:cubicBezTo>
                <a:cubicBezTo>
                  <a:pt x="8802954" y="7800785"/>
                  <a:pt x="8751810" y="7976087"/>
                  <a:pt x="8776827" y="8295780"/>
                </a:cubicBezTo>
                <a:cubicBezTo>
                  <a:pt x="8801844" y="8615473"/>
                  <a:pt x="8809621" y="8855047"/>
                  <a:pt x="8776827" y="9130576"/>
                </a:cubicBezTo>
                <a:cubicBezTo>
                  <a:pt x="8371310" y="9151031"/>
                  <a:pt x="8172975" y="9091074"/>
                  <a:pt x="7926150" y="9130576"/>
                </a:cubicBezTo>
                <a:cubicBezTo>
                  <a:pt x="7679325" y="9170078"/>
                  <a:pt x="7414540" y="9145788"/>
                  <a:pt x="7163241" y="9130576"/>
                </a:cubicBezTo>
                <a:cubicBezTo>
                  <a:pt x="6911942" y="9115364"/>
                  <a:pt x="6904804" y="9154547"/>
                  <a:pt x="6663637" y="9130576"/>
                </a:cubicBezTo>
                <a:cubicBezTo>
                  <a:pt x="6422470" y="9106605"/>
                  <a:pt x="6109054" y="9163591"/>
                  <a:pt x="5900728" y="9130576"/>
                </a:cubicBezTo>
                <a:cubicBezTo>
                  <a:pt x="5692402" y="9097561"/>
                  <a:pt x="5645202" y="9150575"/>
                  <a:pt x="5488893" y="9130576"/>
                </a:cubicBezTo>
                <a:cubicBezTo>
                  <a:pt x="5332585" y="9110577"/>
                  <a:pt x="5087692" y="9149840"/>
                  <a:pt x="4725984" y="9130576"/>
                </a:cubicBezTo>
                <a:cubicBezTo>
                  <a:pt x="4364276" y="9111312"/>
                  <a:pt x="4447345" y="9110127"/>
                  <a:pt x="4226380" y="9130576"/>
                </a:cubicBezTo>
                <a:cubicBezTo>
                  <a:pt x="4005415" y="9151025"/>
                  <a:pt x="4005135" y="9143041"/>
                  <a:pt x="3814544" y="9130576"/>
                </a:cubicBezTo>
                <a:cubicBezTo>
                  <a:pt x="3623953" y="9118111"/>
                  <a:pt x="3554213" y="9111234"/>
                  <a:pt x="3314940" y="9130576"/>
                </a:cubicBezTo>
                <a:cubicBezTo>
                  <a:pt x="3075667" y="9149918"/>
                  <a:pt x="2779762" y="9106832"/>
                  <a:pt x="2552031" y="9130576"/>
                </a:cubicBezTo>
                <a:cubicBezTo>
                  <a:pt x="2324300" y="9154320"/>
                  <a:pt x="2291317" y="9132086"/>
                  <a:pt x="2052427" y="9130576"/>
                </a:cubicBezTo>
                <a:cubicBezTo>
                  <a:pt x="1813537" y="9129066"/>
                  <a:pt x="1823321" y="9130360"/>
                  <a:pt x="1640592" y="9130576"/>
                </a:cubicBezTo>
                <a:cubicBezTo>
                  <a:pt x="1457864" y="9130792"/>
                  <a:pt x="1257271" y="9116577"/>
                  <a:pt x="1140988" y="9130576"/>
                </a:cubicBezTo>
                <a:cubicBezTo>
                  <a:pt x="1024705" y="9144575"/>
                  <a:pt x="483831" y="9170044"/>
                  <a:pt x="0" y="9130576"/>
                </a:cubicBezTo>
                <a:cubicBezTo>
                  <a:pt x="7697" y="8843983"/>
                  <a:pt x="17688" y="8676523"/>
                  <a:pt x="0" y="8478392"/>
                </a:cubicBezTo>
                <a:cubicBezTo>
                  <a:pt x="-17688" y="8280261"/>
                  <a:pt x="-4389" y="8022086"/>
                  <a:pt x="0" y="7826208"/>
                </a:cubicBezTo>
                <a:cubicBezTo>
                  <a:pt x="4389" y="7630330"/>
                  <a:pt x="7080" y="7562687"/>
                  <a:pt x="0" y="7356636"/>
                </a:cubicBezTo>
                <a:cubicBezTo>
                  <a:pt x="-7080" y="7150585"/>
                  <a:pt x="-23924" y="6955363"/>
                  <a:pt x="0" y="6704452"/>
                </a:cubicBezTo>
                <a:cubicBezTo>
                  <a:pt x="23924" y="6453541"/>
                  <a:pt x="-15975" y="6229576"/>
                  <a:pt x="0" y="6052268"/>
                </a:cubicBezTo>
                <a:cubicBezTo>
                  <a:pt x="15975" y="5874960"/>
                  <a:pt x="13086" y="5602828"/>
                  <a:pt x="0" y="5400084"/>
                </a:cubicBezTo>
                <a:cubicBezTo>
                  <a:pt x="-13086" y="5197340"/>
                  <a:pt x="-28967" y="5027951"/>
                  <a:pt x="0" y="4747900"/>
                </a:cubicBezTo>
                <a:cubicBezTo>
                  <a:pt x="28967" y="4467849"/>
                  <a:pt x="25180" y="4447355"/>
                  <a:pt x="0" y="4187021"/>
                </a:cubicBezTo>
                <a:cubicBezTo>
                  <a:pt x="-25180" y="3926687"/>
                  <a:pt x="15742" y="3787139"/>
                  <a:pt x="0" y="3443532"/>
                </a:cubicBezTo>
                <a:cubicBezTo>
                  <a:pt x="-15742" y="3099925"/>
                  <a:pt x="-1242" y="3050835"/>
                  <a:pt x="0" y="2791348"/>
                </a:cubicBezTo>
                <a:cubicBezTo>
                  <a:pt x="1242" y="2531861"/>
                  <a:pt x="25035" y="2135600"/>
                  <a:pt x="0" y="1956552"/>
                </a:cubicBezTo>
                <a:cubicBezTo>
                  <a:pt x="-25035" y="1777504"/>
                  <a:pt x="-23023" y="1386343"/>
                  <a:pt x="0" y="1121756"/>
                </a:cubicBezTo>
                <a:cubicBezTo>
                  <a:pt x="23023" y="857169"/>
                  <a:pt x="-42106" y="525896"/>
                  <a:pt x="0" y="0"/>
                </a:cubicBezTo>
                <a:close/>
              </a:path>
            </a:pathLst>
          </a:custGeom>
          <a:solidFill>
            <a:schemeClr val="lt1"/>
          </a:solidFill>
          <a:ln cap="flat" cmpd="sng" w="28575">
            <a:solidFill>
              <a:schemeClr val="dk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lang="en-US" sz="6000" u="sng">
                <a:solidFill>
                  <a:schemeClr val="dk2"/>
                </a:solidFill>
                <a:latin typeface="Arial"/>
                <a:ea typeface="Arial"/>
                <a:cs typeface="Arial"/>
                <a:sym typeface="Arial"/>
              </a:rPr>
              <a:t>Starter Questions</a:t>
            </a:r>
            <a:endParaRPr/>
          </a:p>
          <a:p>
            <a:pPr indent="0" lvl="0" marL="0" marR="0" rtl="0" algn="l">
              <a:lnSpc>
                <a:spcPct val="150000"/>
              </a:lnSpc>
              <a:spcBef>
                <a:spcPts val="0"/>
              </a:spcBef>
              <a:spcAft>
                <a:spcPts val="0"/>
              </a:spcAft>
              <a:buNone/>
            </a:pPr>
            <a:r>
              <a:t/>
            </a:r>
            <a:endParaRPr sz="4400">
              <a:solidFill>
                <a:srgbClr val="868686"/>
              </a:solidFill>
              <a:latin typeface="Arial"/>
              <a:ea typeface="Arial"/>
              <a:cs typeface="Arial"/>
              <a:sym typeface="Arial"/>
            </a:endParaRPr>
          </a:p>
          <a:p>
            <a:pPr indent="0" lvl="0" marL="0" marR="0" rtl="0" algn="l">
              <a:lnSpc>
                <a:spcPct val="150000"/>
              </a:lnSpc>
              <a:spcBef>
                <a:spcPts val="0"/>
              </a:spcBef>
              <a:spcAft>
                <a:spcPts val="0"/>
              </a:spcAft>
              <a:buNone/>
            </a:pPr>
            <a:r>
              <a:rPr b="1" lang="en-US" sz="4400">
                <a:solidFill>
                  <a:schemeClr val="dk2"/>
                </a:solidFill>
                <a:latin typeface="Arial"/>
                <a:ea typeface="Arial"/>
                <a:cs typeface="Arial"/>
                <a:sym typeface="Arial"/>
              </a:rPr>
              <a:t>Instructions</a:t>
            </a:r>
            <a:endParaRPr/>
          </a:p>
          <a:p>
            <a:pPr indent="0" lvl="0" marL="0" marR="0" rtl="0" algn="l">
              <a:lnSpc>
                <a:spcPct val="150000"/>
              </a:lnSpc>
              <a:spcBef>
                <a:spcPts val="0"/>
              </a:spcBef>
              <a:spcAft>
                <a:spcPts val="0"/>
              </a:spcAft>
              <a:buNone/>
            </a:pPr>
            <a:r>
              <a:rPr lang="en-US" sz="4400">
                <a:solidFill>
                  <a:srgbClr val="0070C0"/>
                </a:solidFill>
                <a:latin typeface="Arial"/>
                <a:ea typeface="Arial"/>
                <a:cs typeface="Arial"/>
                <a:sym typeface="Arial"/>
              </a:rPr>
              <a:t>Read</a:t>
            </a:r>
            <a:r>
              <a:rPr lang="en-US" sz="4400">
                <a:solidFill>
                  <a:schemeClr val="dk2"/>
                </a:solidFill>
                <a:latin typeface="Arial"/>
                <a:ea typeface="Arial"/>
                <a:cs typeface="Arial"/>
                <a:sym typeface="Arial"/>
              </a:rPr>
              <a:t> the text to the left and </a:t>
            </a:r>
            <a:r>
              <a:rPr lang="en-US" sz="4400">
                <a:solidFill>
                  <a:srgbClr val="0070C0"/>
                </a:solidFill>
                <a:latin typeface="Arial"/>
                <a:ea typeface="Arial"/>
                <a:cs typeface="Arial"/>
                <a:sym typeface="Arial"/>
              </a:rPr>
              <a:t>answer</a:t>
            </a:r>
            <a:r>
              <a:rPr lang="en-US" sz="4400">
                <a:solidFill>
                  <a:schemeClr val="dk2"/>
                </a:solidFill>
                <a:latin typeface="Arial"/>
                <a:ea typeface="Arial"/>
                <a:cs typeface="Arial"/>
                <a:sym typeface="Arial"/>
              </a:rPr>
              <a:t> the questions below.</a:t>
            </a:r>
            <a:endParaRPr/>
          </a:p>
          <a:p>
            <a:pPr indent="0" lvl="0" marL="0" marR="0" rtl="0" algn="l">
              <a:lnSpc>
                <a:spcPct val="150000"/>
              </a:lnSpc>
              <a:spcBef>
                <a:spcPts val="0"/>
              </a:spcBef>
              <a:spcAft>
                <a:spcPts val="0"/>
              </a:spcAft>
              <a:buNone/>
            </a:pPr>
            <a:r>
              <a:t/>
            </a:r>
            <a:endParaRPr sz="4400">
              <a:solidFill>
                <a:schemeClr val="dk2"/>
              </a:solidFill>
              <a:latin typeface="Arial"/>
              <a:ea typeface="Arial"/>
              <a:cs typeface="Arial"/>
              <a:sym typeface="Arial"/>
            </a:endParaRPr>
          </a:p>
          <a:p>
            <a:pPr indent="0" lvl="0" marL="0" marR="0" rtl="0" algn="l">
              <a:lnSpc>
                <a:spcPct val="150000"/>
              </a:lnSpc>
              <a:spcBef>
                <a:spcPts val="0"/>
              </a:spcBef>
              <a:spcAft>
                <a:spcPts val="0"/>
              </a:spcAft>
              <a:buNone/>
            </a:pPr>
            <a:r>
              <a:rPr b="1" lang="en-US" sz="4400">
                <a:solidFill>
                  <a:schemeClr val="dk2"/>
                </a:solidFill>
                <a:latin typeface="Arial"/>
                <a:ea typeface="Arial"/>
                <a:cs typeface="Arial"/>
                <a:sym typeface="Arial"/>
              </a:rPr>
              <a:t>Questions</a:t>
            </a:r>
            <a:endParaRPr/>
          </a:p>
          <a:p>
            <a:pPr indent="-742950" lvl="0" marL="742950" marR="0" rtl="0" algn="l">
              <a:lnSpc>
                <a:spcPct val="150000"/>
              </a:lnSpc>
              <a:spcBef>
                <a:spcPts val="0"/>
              </a:spcBef>
              <a:spcAft>
                <a:spcPts val="0"/>
              </a:spcAft>
              <a:buClr>
                <a:schemeClr val="dk2"/>
              </a:buClr>
              <a:buSzPts val="4400"/>
              <a:buFont typeface="Arial"/>
              <a:buAutoNum type="arabicPeriod"/>
            </a:pPr>
            <a:r>
              <a:rPr lang="en-US" sz="4400">
                <a:solidFill>
                  <a:schemeClr val="dk2"/>
                </a:solidFill>
                <a:latin typeface="Arial"/>
                <a:ea typeface="Arial"/>
                <a:cs typeface="Arial"/>
                <a:sym typeface="Arial"/>
              </a:rPr>
              <a:t>What’s our third </a:t>
            </a:r>
            <a:r>
              <a:rPr lang="en-US" sz="4400">
                <a:solidFill>
                  <a:srgbClr val="0070C0"/>
                </a:solidFill>
                <a:latin typeface="Arial"/>
                <a:ea typeface="Arial"/>
                <a:cs typeface="Arial"/>
                <a:sym typeface="Arial"/>
              </a:rPr>
              <a:t>unit</a:t>
            </a:r>
            <a:r>
              <a:rPr lang="en-US" sz="4400">
                <a:solidFill>
                  <a:schemeClr val="dk2"/>
                </a:solidFill>
                <a:latin typeface="Arial"/>
                <a:ea typeface="Arial"/>
                <a:cs typeface="Arial"/>
                <a:sym typeface="Arial"/>
              </a:rPr>
              <a:t> of study?</a:t>
            </a:r>
            <a:endParaRPr/>
          </a:p>
          <a:p>
            <a:pPr indent="-742950" lvl="0" marL="742950" marR="0" rtl="0" algn="l">
              <a:lnSpc>
                <a:spcPct val="150000"/>
              </a:lnSpc>
              <a:spcBef>
                <a:spcPts val="0"/>
              </a:spcBef>
              <a:spcAft>
                <a:spcPts val="0"/>
              </a:spcAft>
              <a:buClr>
                <a:schemeClr val="dk2"/>
              </a:buClr>
              <a:buSzPts val="4400"/>
              <a:buFont typeface="Arial"/>
              <a:buAutoNum type="arabicPeriod"/>
            </a:pPr>
            <a:r>
              <a:rPr lang="en-US" sz="4400">
                <a:solidFill>
                  <a:schemeClr val="dk2"/>
                </a:solidFill>
                <a:latin typeface="Arial"/>
                <a:ea typeface="Arial"/>
                <a:cs typeface="Arial"/>
                <a:sym typeface="Arial"/>
              </a:rPr>
              <a:t>How many </a:t>
            </a:r>
            <a:r>
              <a:rPr lang="en-US" sz="4400">
                <a:solidFill>
                  <a:srgbClr val="0070C0"/>
                </a:solidFill>
                <a:latin typeface="Arial"/>
                <a:ea typeface="Arial"/>
                <a:cs typeface="Arial"/>
                <a:sym typeface="Arial"/>
              </a:rPr>
              <a:t>topics</a:t>
            </a:r>
            <a:r>
              <a:rPr lang="en-US" sz="4400">
                <a:solidFill>
                  <a:schemeClr val="dk2"/>
                </a:solidFill>
                <a:latin typeface="Arial"/>
                <a:ea typeface="Arial"/>
                <a:cs typeface="Arial"/>
                <a:sym typeface="Arial"/>
              </a:rPr>
              <a:t> are there in this unit?</a:t>
            </a:r>
            <a:endParaRPr/>
          </a:p>
          <a:p>
            <a:pPr indent="-742950" lvl="0" marL="742950" marR="0" rtl="0" algn="l">
              <a:lnSpc>
                <a:spcPct val="150000"/>
              </a:lnSpc>
              <a:spcBef>
                <a:spcPts val="0"/>
              </a:spcBef>
              <a:spcAft>
                <a:spcPts val="0"/>
              </a:spcAft>
              <a:buClr>
                <a:schemeClr val="dk2"/>
              </a:buClr>
              <a:buSzPts val="4400"/>
              <a:buFont typeface="Arial"/>
              <a:buAutoNum type="arabicPeriod"/>
            </a:pPr>
            <a:r>
              <a:rPr lang="en-US" sz="4400">
                <a:solidFill>
                  <a:schemeClr val="dk2"/>
                </a:solidFill>
                <a:latin typeface="Arial"/>
                <a:ea typeface="Arial"/>
                <a:cs typeface="Arial"/>
                <a:sym typeface="Arial"/>
              </a:rPr>
              <a:t>What’s the </a:t>
            </a:r>
            <a:r>
              <a:rPr lang="en-US" sz="4400">
                <a:solidFill>
                  <a:srgbClr val="0070C0"/>
                </a:solidFill>
                <a:latin typeface="Arial"/>
                <a:ea typeface="Arial"/>
                <a:cs typeface="Arial"/>
                <a:sym typeface="Arial"/>
              </a:rPr>
              <a:t>first</a:t>
            </a:r>
            <a:r>
              <a:rPr lang="en-US" sz="4400">
                <a:solidFill>
                  <a:schemeClr val="dk2"/>
                </a:solidFill>
                <a:latin typeface="Arial"/>
                <a:ea typeface="Arial"/>
                <a:cs typeface="Arial"/>
                <a:sym typeface="Arial"/>
              </a:rPr>
              <a:t> topic we’re studying?</a:t>
            </a:r>
            <a:endParaRPr sz="4000">
              <a:solidFill>
                <a:schemeClr val="dk2"/>
              </a:solidFill>
              <a:latin typeface="Arial"/>
              <a:ea typeface="Arial"/>
              <a:cs typeface="Arial"/>
              <a:sym typeface="Arial"/>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8"/>
          <p:cNvSpPr/>
          <p:nvPr/>
        </p:nvSpPr>
        <p:spPr>
          <a:xfrm>
            <a:off x="12615748" y="0"/>
            <a:ext cx="11761902" cy="13716000"/>
          </a:xfrm>
          <a:custGeom>
            <a:rect b="b" l="l" r="r" t="t"/>
            <a:pathLst>
              <a:path extrusionOk="0" h="15172" w="15172">
                <a:moveTo>
                  <a:pt x="15171" y="15171"/>
                </a:moveTo>
                <a:lnTo>
                  <a:pt x="0" y="15171"/>
                </a:lnTo>
                <a:lnTo>
                  <a:pt x="0" y="0"/>
                </a:lnTo>
                <a:lnTo>
                  <a:pt x="15171" y="0"/>
                </a:lnTo>
                <a:lnTo>
                  <a:pt x="15171" y="15171"/>
                </a:lnTo>
              </a:path>
            </a:pathLst>
          </a:custGeom>
          <a:solidFill>
            <a:srgbClr val="F2F2F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2800">
              <a:solidFill>
                <a:schemeClr val="dk1"/>
              </a:solidFill>
              <a:latin typeface="Poppins"/>
              <a:ea typeface="Poppins"/>
              <a:cs typeface="Poppins"/>
              <a:sym typeface="Poppins"/>
            </a:endParaRPr>
          </a:p>
        </p:txBody>
      </p:sp>
      <p:sp>
        <p:nvSpPr>
          <p:cNvPr id="52" name="Google Shape;52;p8"/>
          <p:cNvSpPr/>
          <p:nvPr/>
        </p:nvSpPr>
        <p:spPr>
          <a:xfrm>
            <a:off x="13537695" y="1039163"/>
            <a:ext cx="9918007" cy="11637673"/>
          </a:xfrm>
          <a:custGeom>
            <a:rect b="b" l="l" r="r" t="t"/>
            <a:pathLst>
              <a:path extrusionOk="0" fill="none" h="1339726" w="18044903">
                <a:moveTo>
                  <a:pt x="0" y="0"/>
                </a:moveTo>
                <a:cubicBezTo>
                  <a:pt x="72603" y="-5356"/>
                  <a:pt x="86259" y="3921"/>
                  <a:pt x="152688" y="0"/>
                </a:cubicBezTo>
                <a:cubicBezTo>
                  <a:pt x="219117" y="-3921"/>
                  <a:pt x="535621" y="22533"/>
                  <a:pt x="846722" y="0"/>
                </a:cubicBezTo>
                <a:cubicBezTo>
                  <a:pt x="1157823" y="-22533"/>
                  <a:pt x="967617" y="400"/>
                  <a:pt x="999410" y="0"/>
                </a:cubicBezTo>
                <a:cubicBezTo>
                  <a:pt x="1031203" y="-400"/>
                  <a:pt x="1083000" y="-1950"/>
                  <a:pt x="1152098" y="0"/>
                </a:cubicBezTo>
                <a:cubicBezTo>
                  <a:pt x="1221196" y="1950"/>
                  <a:pt x="1439657" y="15980"/>
                  <a:pt x="1665683" y="0"/>
                </a:cubicBezTo>
                <a:cubicBezTo>
                  <a:pt x="1891710" y="-15980"/>
                  <a:pt x="2036370" y="12197"/>
                  <a:pt x="2359718" y="0"/>
                </a:cubicBezTo>
                <a:cubicBezTo>
                  <a:pt x="2683067" y="-12197"/>
                  <a:pt x="2445758" y="-5117"/>
                  <a:pt x="2512406" y="0"/>
                </a:cubicBezTo>
                <a:cubicBezTo>
                  <a:pt x="2579054" y="5117"/>
                  <a:pt x="2962087" y="43606"/>
                  <a:pt x="3386889" y="0"/>
                </a:cubicBezTo>
                <a:cubicBezTo>
                  <a:pt x="3811691" y="-43606"/>
                  <a:pt x="4052910" y="20763"/>
                  <a:pt x="4261373" y="0"/>
                </a:cubicBezTo>
                <a:cubicBezTo>
                  <a:pt x="4469836" y="-20763"/>
                  <a:pt x="4651618" y="-22748"/>
                  <a:pt x="4774959" y="0"/>
                </a:cubicBezTo>
                <a:cubicBezTo>
                  <a:pt x="4898300" y="22748"/>
                  <a:pt x="5418961" y="30760"/>
                  <a:pt x="5829892" y="0"/>
                </a:cubicBezTo>
                <a:cubicBezTo>
                  <a:pt x="6240823" y="-30760"/>
                  <a:pt x="6266258" y="-23696"/>
                  <a:pt x="6523926" y="0"/>
                </a:cubicBezTo>
                <a:cubicBezTo>
                  <a:pt x="6781594" y="23696"/>
                  <a:pt x="6602060" y="655"/>
                  <a:pt x="6676614" y="0"/>
                </a:cubicBezTo>
                <a:cubicBezTo>
                  <a:pt x="6751168" y="-655"/>
                  <a:pt x="7195856" y="17579"/>
                  <a:pt x="7370649" y="0"/>
                </a:cubicBezTo>
                <a:cubicBezTo>
                  <a:pt x="7545442" y="-17579"/>
                  <a:pt x="7735004" y="-15166"/>
                  <a:pt x="7884235" y="0"/>
                </a:cubicBezTo>
                <a:cubicBezTo>
                  <a:pt x="8033466" y="15166"/>
                  <a:pt x="8054789" y="-1240"/>
                  <a:pt x="8217371" y="0"/>
                </a:cubicBezTo>
                <a:cubicBezTo>
                  <a:pt x="8379953" y="1240"/>
                  <a:pt x="8811071" y="19879"/>
                  <a:pt x="9091855" y="0"/>
                </a:cubicBezTo>
                <a:cubicBezTo>
                  <a:pt x="9372639" y="-19879"/>
                  <a:pt x="9697964" y="6853"/>
                  <a:pt x="9966339" y="0"/>
                </a:cubicBezTo>
                <a:cubicBezTo>
                  <a:pt x="10234714" y="-6853"/>
                  <a:pt x="10291006" y="-9999"/>
                  <a:pt x="10479924" y="0"/>
                </a:cubicBezTo>
                <a:cubicBezTo>
                  <a:pt x="10668843" y="9999"/>
                  <a:pt x="10949046" y="-41527"/>
                  <a:pt x="11354408" y="0"/>
                </a:cubicBezTo>
                <a:cubicBezTo>
                  <a:pt x="11759770" y="41527"/>
                  <a:pt x="11622159" y="9742"/>
                  <a:pt x="11867994" y="0"/>
                </a:cubicBezTo>
                <a:cubicBezTo>
                  <a:pt x="12113829" y="-9742"/>
                  <a:pt x="12322284" y="38624"/>
                  <a:pt x="12742478" y="0"/>
                </a:cubicBezTo>
                <a:cubicBezTo>
                  <a:pt x="13162672" y="-38624"/>
                  <a:pt x="12936102" y="-4255"/>
                  <a:pt x="13075614" y="0"/>
                </a:cubicBezTo>
                <a:cubicBezTo>
                  <a:pt x="13215126" y="4255"/>
                  <a:pt x="13423822" y="1838"/>
                  <a:pt x="13589200" y="0"/>
                </a:cubicBezTo>
                <a:cubicBezTo>
                  <a:pt x="13754578" y="-1838"/>
                  <a:pt x="13762600" y="6835"/>
                  <a:pt x="13922337" y="0"/>
                </a:cubicBezTo>
                <a:cubicBezTo>
                  <a:pt x="14082074" y="-6835"/>
                  <a:pt x="14560074" y="40110"/>
                  <a:pt x="14977269" y="0"/>
                </a:cubicBezTo>
                <a:cubicBezTo>
                  <a:pt x="15394464" y="-40110"/>
                  <a:pt x="15093941" y="6150"/>
                  <a:pt x="15129957" y="0"/>
                </a:cubicBezTo>
                <a:cubicBezTo>
                  <a:pt x="15165973" y="-6150"/>
                  <a:pt x="15514052" y="-14837"/>
                  <a:pt x="15643543" y="0"/>
                </a:cubicBezTo>
                <a:cubicBezTo>
                  <a:pt x="15773034" y="14837"/>
                  <a:pt x="15758376" y="6951"/>
                  <a:pt x="15796230" y="0"/>
                </a:cubicBezTo>
                <a:cubicBezTo>
                  <a:pt x="15834084" y="-6951"/>
                  <a:pt x="16394295" y="-27209"/>
                  <a:pt x="16670714" y="0"/>
                </a:cubicBezTo>
                <a:cubicBezTo>
                  <a:pt x="16947133" y="27209"/>
                  <a:pt x="17767869" y="-33735"/>
                  <a:pt x="18044903" y="0"/>
                </a:cubicBezTo>
                <a:cubicBezTo>
                  <a:pt x="18042266" y="193080"/>
                  <a:pt x="18018765" y="467008"/>
                  <a:pt x="18044903" y="629671"/>
                </a:cubicBezTo>
                <a:cubicBezTo>
                  <a:pt x="18071041" y="792334"/>
                  <a:pt x="18035407" y="1011626"/>
                  <a:pt x="18044903" y="1339726"/>
                </a:cubicBezTo>
                <a:cubicBezTo>
                  <a:pt x="17906905" y="1332592"/>
                  <a:pt x="17809864" y="1335833"/>
                  <a:pt x="17711766" y="1339726"/>
                </a:cubicBezTo>
                <a:cubicBezTo>
                  <a:pt x="17613668" y="1343619"/>
                  <a:pt x="16935700" y="1392102"/>
                  <a:pt x="16656834" y="1339726"/>
                </a:cubicBezTo>
                <a:cubicBezTo>
                  <a:pt x="16377968" y="1287350"/>
                  <a:pt x="16092282" y="1316098"/>
                  <a:pt x="15601901" y="1339726"/>
                </a:cubicBezTo>
                <a:cubicBezTo>
                  <a:pt x="15111520" y="1363354"/>
                  <a:pt x="15093790" y="1366802"/>
                  <a:pt x="14907866" y="1339726"/>
                </a:cubicBezTo>
                <a:cubicBezTo>
                  <a:pt x="14721942" y="1312650"/>
                  <a:pt x="14504814" y="1317345"/>
                  <a:pt x="14394280" y="1339726"/>
                </a:cubicBezTo>
                <a:cubicBezTo>
                  <a:pt x="14283746" y="1362107"/>
                  <a:pt x="14144545" y="1349072"/>
                  <a:pt x="14061144" y="1339726"/>
                </a:cubicBezTo>
                <a:cubicBezTo>
                  <a:pt x="13977743" y="1330380"/>
                  <a:pt x="13962406" y="1334458"/>
                  <a:pt x="13908456" y="1339726"/>
                </a:cubicBezTo>
                <a:cubicBezTo>
                  <a:pt x="13854506" y="1344994"/>
                  <a:pt x="13391142" y="1341047"/>
                  <a:pt x="13033972" y="1339726"/>
                </a:cubicBezTo>
                <a:cubicBezTo>
                  <a:pt x="12676802" y="1338405"/>
                  <a:pt x="12382410" y="1319785"/>
                  <a:pt x="12159488" y="1339726"/>
                </a:cubicBezTo>
                <a:cubicBezTo>
                  <a:pt x="11936566" y="1359667"/>
                  <a:pt x="11868375" y="1331089"/>
                  <a:pt x="11645903" y="1339726"/>
                </a:cubicBezTo>
                <a:cubicBezTo>
                  <a:pt x="11423431" y="1348363"/>
                  <a:pt x="11439083" y="1323705"/>
                  <a:pt x="11312766" y="1339726"/>
                </a:cubicBezTo>
                <a:cubicBezTo>
                  <a:pt x="11186449" y="1355747"/>
                  <a:pt x="11055495" y="1332789"/>
                  <a:pt x="10799180" y="1339726"/>
                </a:cubicBezTo>
                <a:cubicBezTo>
                  <a:pt x="10542865" y="1346663"/>
                  <a:pt x="10405311" y="1331267"/>
                  <a:pt x="10285595" y="1339726"/>
                </a:cubicBezTo>
                <a:cubicBezTo>
                  <a:pt x="10165880" y="1348185"/>
                  <a:pt x="9486418" y="1290669"/>
                  <a:pt x="9230662" y="1339726"/>
                </a:cubicBezTo>
                <a:cubicBezTo>
                  <a:pt x="8974906" y="1388783"/>
                  <a:pt x="8880392" y="1337182"/>
                  <a:pt x="8536627" y="1339726"/>
                </a:cubicBezTo>
                <a:cubicBezTo>
                  <a:pt x="8192862" y="1342270"/>
                  <a:pt x="8169175" y="1331548"/>
                  <a:pt x="8023041" y="1339726"/>
                </a:cubicBezTo>
                <a:cubicBezTo>
                  <a:pt x="7876907" y="1347904"/>
                  <a:pt x="7251750" y="1367936"/>
                  <a:pt x="6968109" y="1339726"/>
                </a:cubicBezTo>
                <a:cubicBezTo>
                  <a:pt x="6684468" y="1311516"/>
                  <a:pt x="6878641" y="1335128"/>
                  <a:pt x="6815421" y="1339726"/>
                </a:cubicBezTo>
                <a:cubicBezTo>
                  <a:pt x="6752201" y="1344324"/>
                  <a:pt x="6052797" y="1391696"/>
                  <a:pt x="5760488" y="1339726"/>
                </a:cubicBezTo>
                <a:cubicBezTo>
                  <a:pt x="5468179" y="1287756"/>
                  <a:pt x="5221026" y="1316253"/>
                  <a:pt x="5066454" y="1339726"/>
                </a:cubicBezTo>
                <a:cubicBezTo>
                  <a:pt x="4911882" y="1363199"/>
                  <a:pt x="4984701" y="1337009"/>
                  <a:pt x="4913766" y="1339726"/>
                </a:cubicBezTo>
                <a:cubicBezTo>
                  <a:pt x="4842831" y="1342443"/>
                  <a:pt x="4331835" y="1312581"/>
                  <a:pt x="3858833" y="1339726"/>
                </a:cubicBezTo>
                <a:cubicBezTo>
                  <a:pt x="3385831" y="1366871"/>
                  <a:pt x="3774702" y="1335519"/>
                  <a:pt x="3706145" y="1339726"/>
                </a:cubicBezTo>
                <a:cubicBezTo>
                  <a:pt x="3637588" y="1343933"/>
                  <a:pt x="3457477" y="1341846"/>
                  <a:pt x="3373009" y="1339726"/>
                </a:cubicBezTo>
                <a:cubicBezTo>
                  <a:pt x="3288541" y="1337606"/>
                  <a:pt x="3112846" y="1335646"/>
                  <a:pt x="2859423" y="1339726"/>
                </a:cubicBezTo>
                <a:cubicBezTo>
                  <a:pt x="2606000" y="1343806"/>
                  <a:pt x="2603404" y="1323382"/>
                  <a:pt x="2526286" y="1339726"/>
                </a:cubicBezTo>
                <a:cubicBezTo>
                  <a:pt x="2449168" y="1356070"/>
                  <a:pt x="2219922" y="1345168"/>
                  <a:pt x="2012701" y="1339726"/>
                </a:cubicBezTo>
                <a:cubicBezTo>
                  <a:pt x="1805481" y="1334284"/>
                  <a:pt x="1666918" y="1334900"/>
                  <a:pt x="1499115" y="1339726"/>
                </a:cubicBezTo>
                <a:cubicBezTo>
                  <a:pt x="1331312" y="1344552"/>
                  <a:pt x="562325" y="1338625"/>
                  <a:pt x="0" y="1339726"/>
                </a:cubicBezTo>
                <a:cubicBezTo>
                  <a:pt x="8210" y="1113699"/>
                  <a:pt x="15786" y="993228"/>
                  <a:pt x="0" y="710055"/>
                </a:cubicBezTo>
                <a:cubicBezTo>
                  <a:pt x="-15786" y="426882"/>
                  <a:pt x="-13334" y="306413"/>
                  <a:pt x="0" y="0"/>
                </a:cubicBezTo>
                <a:close/>
              </a:path>
              <a:path extrusionOk="0" h="1339726" w="18044903">
                <a:moveTo>
                  <a:pt x="0" y="0"/>
                </a:moveTo>
                <a:cubicBezTo>
                  <a:pt x="160996" y="-3503"/>
                  <a:pt x="299176" y="18913"/>
                  <a:pt x="513586" y="0"/>
                </a:cubicBezTo>
                <a:cubicBezTo>
                  <a:pt x="727996" y="-18913"/>
                  <a:pt x="954908" y="30963"/>
                  <a:pt x="1207620" y="0"/>
                </a:cubicBezTo>
                <a:cubicBezTo>
                  <a:pt x="1460332" y="-30963"/>
                  <a:pt x="1864554" y="-42667"/>
                  <a:pt x="2082104" y="0"/>
                </a:cubicBezTo>
                <a:cubicBezTo>
                  <a:pt x="2299654" y="42667"/>
                  <a:pt x="2867495" y="41553"/>
                  <a:pt x="3137037" y="0"/>
                </a:cubicBezTo>
                <a:cubicBezTo>
                  <a:pt x="3406579" y="-41553"/>
                  <a:pt x="3426095" y="22030"/>
                  <a:pt x="3650623" y="0"/>
                </a:cubicBezTo>
                <a:cubicBezTo>
                  <a:pt x="3875151" y="-22030"/>
                  <a:pt x="4023632" y="-17975"/>
                  <a:pt x="4164208" y="0"/>
                </a:cubicBezTo>
                <a:cubicBezTo>
                  <a:pt x="4304784" y="17975"/>
                  <a:pt x="4485024" y="-23395"/>
                  <a:pt x="4677794" y="0"/>
                </a:cubicBezTo>
                <a:cubicBezTo>
                  <a:pt x="4870564" y="23395"/>
                  <a:pt x="5336551" y="30474"/>
                  <a:pt x="5552278" y="0"/>
                </a:cubicBezTo>
                <a:cubicBezTo>
                  <a:pt x="5768005" y="-30474"/>
                  <a:pt x="5660269" y="-2485"/>
                  <a:pt x="5704965" y="0"/>
                </a:cubicBezTo>
                <a:cubicBezTo>
                  <a:pt x="5749661" y="2485"/>
                  <a:pt x="5813562" y="7407"/>
                  <a:pt x="5857653" y="0"/>
                </a:cubicBezTo>
                <a:cubicBezTo>
                  <a:pt x="5901744" y="-7407"/>
                  <a:pt x="6416574" y="-3365"/>
                  <a:pt x="6732137" y="0"/>
                </a:cubicBezTo>
                <a:cubicBezTo>
                  <a:pt x="7047700" y="3365"/>
                  <a:pt x="6945420" y="-8039"/>
                  <a:pt x="7065274" y="0"/>
                </a:cubicBezTo>
                <a:cubicBezTo>
                  <a:pt x="7185128" y="8039"/>
                  <a:pt x="7767550" y="37535"/>
                  <a:pt x="8120206" y="0"/>
                </a:cubicBezTo>
                <a:cubicBezTo>
                  <a:pt x="8472862" y="-37535"/>
                  <a:pt x="8630250" y="26901"/>
                  <a:pt x="8994690" y="0"/>
                </a:cubicBezTo>
                <a:cubicBezTo>
                  <a:pt x="9359130" y="-26901"/>
                  <a:pt x="9733962" y="-6357"/>
                  <a:pt x="10049623" y="0"/>
                </a:cubicBezTo>
                <a:cubicBezTo>
                  <a:pt x="10365284" y="6357"/>
                  <a:pt x="10148621" y="-7474"/>
                  <a:pt x="10202311" y="0"/>
                </a:cubicBezTo>
                <a:cubicBezTo>
                  <a:pt x="10256001" y="7474"/>
                  <a:pt x="10877148" y="1394"/>
                  <a:pt x="11076794" y="0"/>
                </a:cubicBezTo>
                <a:cubicBezTo>
                  <a:pt x="11276440" y="-1394"/>
                  <a:pt x="11611765" y="-11793"/>
                  <a:pt x="11770829" y="0"/>
                </a:cubicBezTo>
                <a:cubicBezTo>
                  <a:pt x="11929894" y="11793"/>
                  <a:pt x="12273213" y="-17585"/>
                  <a:pt x="12645313" y="0"/>
                </a:cubicBezTo>
                <a:cubicBezTo>
                  <a:pt x="13017413" y="17585"/>
                  <a:pt x="12917474" y="14415"/>
                  <a:pt x="13158898" y="0"/>
                </a:cubicBezTo>
                <a:cubicBezTo>
                  <a:pt x="13400323" y="-14415"/>
                  <a:pt x="13837051" y="-46738"/>
                  <a:pt x="14213831" y="0"/>
                </a:cubicBezTo>
                <a:cubicBezTo>
                  <a:pt x="14590611" y="46738"/>
                  <a:pt x="14422734" y="-6788"/>
                  <a:pt x="14546968" y="0"/>
                </a:cubicBezTo>
                <a:cubicBezTo>
                  <a:pt x="14671202" y="6788"/>
                  <a:pt x="14897679" y="-6844"/>
                  <a:pt x="15060554" y="0"/>
                </a:cubicBezTo>
                <a:cubicBezTo>
                  <a:pt x="15223429" y="6844"/>
                  <a:pt x="15758299" y="-4365"/>
                  <a:pt x="16115486" y="0"/>
                </a:cubicBezTo>
                <a:cubicBezTo>
                  <a:pt x="16472673" y="4365"/>
                  <a:pt x="16227338" y="-7090"/>
                  <a:pt x="16268174" y="0"/>
                </a:cubicBezTo>
                <a:cubicBezTo>
                  <a:pt x="16309010" y="7090"/>
                  <a:pt x="16947008" y="7313"/>
                  <a:pt x="17142658" y="0"/>
                </a:cubicBezTo>
                <a:cubicBezTo>
                  <a:pt x="17338308" y="-7313"/>
                  <a:pt x="17844408" y="-42994"/>
                  <a:pt x="18044903" y="0"/>
                </a:cubicBezTo>
                <a:cubicBezTo>
                  <a:pt x="18030870" y="238390"/>
                  <a:pt x="18072204" y="425121"/>
                  <a:pt x="18044903" y="669863"/>
                </a:cubicBezTo>
                <a:cubicBezTo>
                  <a:pt x="18017602" y="914605"/>
                  <a:pt x="18024155" y="1011428"/>
                  <a:pt x="18044903" y="1339726"/>
                </a:cubicBezTo>
                <a:cubicBezTo>
                  <a:pt x="17730546" y="1367720"/>
                  <a:pt x="17491476" y="1378843"/>
                  <a:pt x="17170419" y="1339726"/>
                </a:cubicBezTo>
                <a:cubicBezTo>
                  <a:pt x="16849362" y="1300609"/>
                  <a:pt x="16659742" y="1319749"/>
                  <a:pt x="16476385" y="1339726"/>
                </a:cubicBezTo>
                <a:cubicBezTo>
                  <a:pt x="16293028" y="1359703"/>
                  <a:pt x="15677965" y="1385857"/>
                  <a:pt x="15421452" y="1339726"/>
                </a:cubicBezTo>
                <a:cubicBezTo>
                  <a:pt x="15164939" y="1293595"/>
                  <a:pt x="15216974" y="1346541"/>
                  <a:pt x="15088315" y="1339726"/>
                </a:cubicBezTo>
                <a:cubicBezTo>
                  <a:pt x="14959656" y="1332911"/>
                  <a:pt x="15005506" y="1340298"/>
                  <a:pt x="14935627" y="1339726"/>
                </a:cubicBezTo>
                <a:cubicBezTo>
                  <a:pt x="14865748" y="1339154"/>
                  <a:pt x="14594812" y="1323651"/>
                  <a:pt x="14422042" y="1339726"/>
                </a:cubicBezTo>
                <a:cubicBezTo>
                  <a:pt x="14249273" y="1355801"/>
                  <a:pt x="13924136" y="1314144"/>
                  <a:pt x="13728007" y="1339726"/>
                </a:cubicBezTo>
                <a:cubicBezTo>
                  <a:pt x="13531879" y="1365308"/>
                  <a:pt x="13609441" y="1342959"/>
                  <a:pt x="13575319" y="1339726"/>
                </a:cubicBezTo>
                <a:cubicBezTo>
                  <a:pt x="13541197" y="1336493"/>
                  <a:pt x="13493334" y="1334635"/>
                  <a:pt x="13422632" y="1339726"/>
                </a:cubicBezTo>
                <a:cubicBezTo>
                  <a:pt x="13351930" y="1344817"/>
                  <a:pt x="13156389" y="1348055"/>
                  <a:pt x="13089495" y="1339726"/>
                </a:cubicBezTo>
                <a:cubicBezTo>
                  <a:pt x="13022601" y="1331397"/>
                  <a:pt x="12714618" y="1361904"/>
                  <a:pt x="12575909" y="1339726"/>
                </a:cubicBezTo>
                <a:cubicBezTo>
                  <a:pt x="12437200" y="1317548"/>
                  <a:pt x="11734237" y="1339448"/>
                  <a:pt x="11520977" y="1339726"/>
                </a:cubicBezTo>
                <a:cubicBezTo>
                  <a:pt x="11307717" y="1340004"/>
                  <a:pt x="11272522" y="1344337"/>
                  <a:pt x="11187840" y="1339726"/>
                </a:cubicBezTo>
                <a:cubicBezTo>
                  <a:pt x="11103158" y="1335115"/>
                  <a:pt x="11005474" y="1346390"/>
                  <a:pt x="10854703" y="1339726"/>
                </a:cubicBezTo>
                <a:cubicBezTo>
                  <a:pt x="10703932" y="1333062"/>
                  <a:pt x="10511556" y="1314886"/>
                  <a:pt x="10341117" y="1339726"/>
                </a:cubicBezTo>
                <a:cubicBezTo>
                  <a:pt x="10170678" y="1364566"/>
                  <a:pt x="10112101" y="1323618"/>
                  <a:pt x="10007981" y="1339726"/>
                </a:cubicBezTo>
                <a:cubicBezTo>
                  <a:pt x="9903861" y="1355834"/>
                  <a:pt x="9715062" y="1349468"/>
                  <a:pt x="9494395" y="1339726"/>
                </a:cubicBezTo>
                <a:cubicBezTo>
                  <a:pt x="9273728" y="1329984"/>
                  <a:pt x="8654347" y="1354501"/>
                  <a:pt x="8439462" y="1339726"/>
                </a:cubicBezTo>
                <a:cubicBezTo>
                  <a:pt x="8224577" y="1324951"/>
                  <a:pt x="7636560" y="1333528"/>
                  <a:pt x="7384530" y="1339726"/>
                </a:cubicBezTo>
                <a:cubicBezTo>
                  <a:pt x="7132500" y="1345924"/>
                  <a:pt x="7305019" y="1334310"/>
                  <a:pt x="7231842" y="1339726"/>
                </a:cubicBezTo>
                <a:cubicBezTo>
                  <a:pt x="7158665" y="1345142"/>
                  <a:pt x="6864653" y="1337037"/>
                  <a:pt x="6718256" y="1339726"/>
                </a:cubicBezTo>
                <a:cubicBezTo>
                  <a:pt x="6571859" y="1342415"/>
                  <a:pt x="6617146" y="1339744"/>
                  <a:pt x="6565569" y="1339726"/>
                </a:cubicBezTo>
                <a:cubicBezTo>
                  <a:pt x="6513992" y="1339708"/>
                  <a:pt x="6475702" y="1334300"/>
                  <a:pt x="6412881" y="1339726"/>
                </a:cubicBezTo>
                <a:cubicBezTo>
                  <a:pt x="6350060" y="1345152"/>
                  <a:pt x="5724301" y="1374802"/>
                  <a:pt x="5538397" y="1339726"/>
                </a:cubicBezTo>
                <a:cubicBezTo>
                  <a:pt x="5352493" y="1304650"/>
                  <a:pt x="5075240" y="1327820"/>
                  <a:pt x="4663913" y="1339726"/>
                </a:cubicBezTo>
                <a:cubicBezTo>
                  <a:pt x="4252586" y="1351632"/>
                  <a:pt x="4159682" y="1365998"/>
                  <a:pt x="3789430" y="1339726"/>
                </a:cubicBezTo>
                <a:cubicBezTo>
                  <a:pt x="3419178" y="1313454"/>
                  <a:pt x="3393313" y="1345949"/>
                  <a:pt x="3095395" y="1339726"/>
                </a:cubicBezTo>
                <a:cubicBezTo>
                  <a:pt x="2797477" y="1333503"/>
                  <a:pt x="2994312" y="1346468"/>
                  <a:pt x="2942707" y="1339726"/>
                </a:cubicBezTo>
                <a:cubicBezTo>
                  <a:pt x="2891102" y="1332984"/>
                  <a:pt x="2827455" y="1334460"/>
                  <a:pt x="2790020" y="1339726"/>
                </a:cubicBezTo>
                <a:cubicBezTo>
                  <a:pt x="2752585" y="1344992"/>
                  <a:pt x="2669243" y="1345687"/>
                  <a:pt x="2637332" y="1339726"/>
                </a:cubicBezTo>
                <a:cubicBezTo>
                  <a:pt x="2605421" y="1333765"/>
                  <a:pt x="2532313" y="1346348"/>
                  <a:pt x="2484644" y="1339726"/>
                </a:cubicBezTo>
                <a:cubicBezTo>
                  <a:pt x="2436975" y="1333104"/>
                  <a:pt x="2393474" y="1343399"/>
                  <a:pt x="2331957" y="1339726"/>
                </a:cubicBezTo>
                <a:cubicBezTo>
                  <a:pt x="2270440" y="1336053"/>
                  <a:pt x="2215651" y="1337790"/>
                  <a:pt x="2179269" y="1339726"/>
                </a:cubicBezTo>
                <a:cubicBezTo>
                  <a:pt x="2142887" y="1341662"/>
                  <a:pt x="1489736" y="1350474"/>
                  <a:pt x="1124336" y="1339726"/>
                </a:cubicBezTo>
                <a:cubicBezTo>
                  <a:pt x="758936" y="1328978"/>
                  <a:pt x="1012910" y="1332723"/>
                  <a:pt x="971649" y="1339726"/>
                </a:cubicBezTo>
                <a:cubicBezTo>
                  <a:pt x="930388" y="1346729"/>
                  <a:pt x="288504" y="1364047"/>
                  <a:pt x="0" y="1339726"/>
                </a:cubicBezTo>
                <a:cubicBezTo>
                  <a:pt x="-25589" y="1091085"/>
                  <a:pt x="6174" y="923759"/>
                  <a:pt x="0" y="710055"/>
                </a:cubicBezTo>
                <a:cubicBezTo>
                  <a:pt x="-6174" y="496351"/>
                  <a:pt x="-3030" y="254614"/>
                  <a:pt x="0" y="0"/>
                </a:cubicBezTo>
                <a:close/>
              </a:path>
            </a:pathLst>
          </a:custGeom>
          <a:solidFill>
            <a:schemeClr val="lt1"/>
          </a:solidFill>
          <a:ln cap="flat" cmpd="sng" w="38100">
            <a:solidFill>
              <a:schemeClr val="dk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200000"/>
              </a:lnSpc>
              <a:spcBef>
                <a:spcPts val="0"/>
              </a:spcBef>
              <a:spcAft>
                <a:spcPts val="0"/>
              </a:spcAft>
              <a:buClr>
                <a:schemeClr val="dk2"/>
              </a:buClr>
              <a:buSzPts val="6000"/>
              <a:buFont typeface="Arial"/>
              <a:buNone/>
            </a:pPr>
            <a:r>
              <a:rPr b="1" lang="en-US" sz="6000">
                <a:solidFill>
                  <a:schemeClr val="dk2"/>
                </a:solidFill>
                <a:latin typeface="Lato Light"/>
                <a:ea typeface="Lato Light"/>
                <a:cs typeface="Lato Light"/>
                <a:sym typeface="Lato Light"/>
              </a:rPr>
              <a:t>Learning Objectives</a:t>
            </a:r>
            <a:r>
              <a:rPr b="1" lang="en-US" sz="6000">
                <a:solidFill>
                  <a:srgbClr val="595959"/>
                </a:solidFill>
                <a:latin typeface="Lato Light"/>
                <a:ea typeface="Lato Light"/>
                <a:cs typeface="Lato Light"/>
                <a:sym typeface="Lato Light"/>
              </a:rPr>
              <a:t>: </a:t>
            </a:r>
            <a:endParaRPr/>
          </a:p>
          <a:p>
            <a:pPr indent="-857250" lvl="0" marL="857250" marR="0" rtl="0" algn="l">
              <a:lnSpc>
                <a:spcPct val="200000"/>
              </a:lnSpc>
              <a:spcBef>
                <a:spcPts val="1040"/>
              </a:spcBef>
              <a:spcAft>
                <a:spcPts val="0"/>
              </a:spcAft>
              <a:buClr>
                <a:srgbClr val="7F7F7F"/>
              </a:buClr>
              <a:buSzPts val="5200"/>
              <a:buFont typeface="Arial"/>
              <a:buChar char="•"/>
            </a:pPr>
            <a:r>
              <a:rPr lang="en-US" sz="5200">
                <a:solidFill>
                  <a:srgbClr val="7F7F7F"/>
                </a:solidFill>
                <a:latin typeface="Open Sans Light"/>
                <a:ea typeface="Open Sans Light"/>
                <a:cs typeface="Open Sans Light"/>
                <a:sym typeface="Open Sans Light"/>
              </a:rPr>
              <a:t>To </a:t>
            </a:r>
            <a:r>
              <a:rPr lang="en-US" sz="5200">
                <a:solidFill>
                  <a:schemeClr val="dk2"/>
                </a:solidFill>
                <a:latin typeface="Open Sans Light"/>
                <a:ea typeface="Open Sans Light"/>
                <a:cs typeface="Open Sans Light"/>
                <a:sym typeface="Open Sans Light"/>
              </a:rPr>
              <a:t>understand</a:t>
            </a:r>
            <a:r>
              <a:rPr lang="en-US" sz="5200">
                <a:solidFill>
                  <a:srgbClr val="7F7F7F"/>
                </a:solidFill>
                <a:latin typeface="Open Sans Light"/>
                <a:ea typeface="Open Sans Light"/>
                <a:cs typeface="Open Sans Light"/>
                <a:sym typeface="Open Sans Light"/>
              </a:rPr>
              <a:t> the role of the Central Processing Unit (CPU) in a computer system.</a:t>
            </a:r>
            <a:endParaRPr/>
          </a:p>
          <a:p>
            <a:pPr indent="-857250" lvl="0" marL="857250" marR="0" rtl="0" algn="l">
              <a:lnSpc>
                <a:spcPct val="200000"/>
              </a:lnSpc>
              <a:spcBef>
                <a:spcPts val="1040"/>
              </a:spcBef>
              <a:spcAft>
                <a:spcPts val="0"/>
              </a:spcAft>
              <a:buClr>
                <a:srgbClr val="7F7F7F"/>
              </a:buClr>
              <a:buSzPts val="5200"/>
              <a:buFont typeface="Arial"/>
              <a:buChar char="•"/>
            </a:pPr>
            <a:r>
              <a:rPr lang="en-US" sz="5200">
                <a:solidFill>
                  <a:srgbClr val="7F7F7F"/>
                </a:solidFill>
                <a:latin typeface="Open Sans Light"/>
                <a:ea typeface="Open Sans Light"/>
                <a:cs typeface="Open Sans Light"/>
                <a:sym typeface="Open Sans Light"/>
              </a:rPr>
              <a:t>To </a:t>
            </a:r>
            <a:r>
              <a:rPr lang="en-US" sz="5200">
                <a:solidFill>
                  <a:schemeClr val="dk2"/>
                </a:solidFill>
                <a:latin typeface="Open Sans Light"/>
                <a:ea typeface="Open Sans Light"/>
                <a:cs typeface="Open Sans Light"/>
                <a:sym typeface="Open Sans Light"/>
              </a:rPr>
              <a:t>analyse</a:t>
            </a:r>
            <a:r>
              <a:rPr lang="en-US" sz="5200">
                <a:solidFill>
                  <a:srgbClr val="7F7F7F"/>
                </a:solidFill>
                <a:latin typeface="Open Sans Light"/>
                <a:ea typeface="Open Sans Light"/>
                <a:cs typeface="Open Sans Light"/>
                <a:sym typeface="Open Sans Light"/>
              </a:rPr>
              <a:t> different types of processor cores and their impact on computing performance.</a:t>
            </a:r>
            <a:endParaRPr/>
          </a:p>
        </p:txBody>
      </p:sp>
      <p:sp>
        <p:nvSpPr>
          <p:cNvPr id="53" name="Google Shape;53;p8"/>
          <p:cNvSpPr txBox="1"/>
          <p:nvPr/>
        </p:nvSpPr>
        <p:spPr>
          <a:xfrm>
            <a:off x="1382503" y="787273"/>
            <a:ext cx="10566718" cy="6463308"/>
          </a:xfrm>
          <a:prstGeom prst="rect">
            <a:avLst/>
          </a:prstGeom>
          <a:noFill/>
          <a:ln>
            <a:noFill/>
          </a:ln>
        </p:spPr>
        <p:txBody>
          <a:bodyPr anchorCtr="0" anchor="b" bIns="45700" lIns="91425" spcFirstLastPara="1" rIns="91425" wrap="square" tIns="45700">
            <a:spAutoFit/>
          </a:bodyPr>
          <a:lstStyle/>
          <a:p>
            <a:pPr indent="0" lvl="0" marL="0" marR="0" rtl="0" algn="l">
              <a:spcBef>
                <a:spcPts val="0"/>
              </a:spcBef>
              <a:spcAft>
                <a:spcPts val="0"/>
              </a:spcAft>
              <a:buNone/>
            </a:pPr>
            <a:r>
              <a:rPr b="1" lang="en-US" sz="13800">
                <a:solidFill>
                  <a:schemeClr val="dk2"/>
                </a:solidFill>
                <a:latin typeface="Poppins"/>
                <a:ea typeface="Poppins"/>
                <a:cs typeface="Poppins"/>
                <a:sym typeface="Poppins"/>
              </a:rPr>
              <a:t>Year 10 GCSE:</a:t>
            </a:r>
            <a:endParaRPr/>
          </a:p>
          <a:p>
            <a:pPr indent="0" lvl="0" marL="0" marR="0" rtl="0" algn="l">
              <a:spcBef>
                <a:spcPts val="0"/>
              </a:spcBef>
              <a:spcAft>
                <a:spcPts val="0"/>
              </a:spcAft>
              <a:buNone/>
            </a:pPr>
            <a:r>
              <a:rPr b="1" lang="en-US" sz="13800">
                <a:solidFill>
                  <a:schemeClr val="dk2"/>
                </a:solidFill>
                <a:latin typeface="Poppins"/>
                <a:ea typeface="Poppins"/>
                <a:cs typeface="Poppins"/>
                <a:sym typeface="Poppins"/>
              </a:rPr>
              <a:t>Computer Science</a:t>
            </a:r>
            <a:endParaRPr b="1" sz="9600">
              <a:solidFill>
                <a:schemeClr val="dk2"/>
              </a:solidFill>
              <a:latin typeface="Poppins"/>
              <a:ea typeface="Poppins"/>
              <a:cs typeface="Poppins"/>
              <a:sym typeface="Poppins"/>
            </a:endParaRPr>
          </a:p>
        </p:txBody>
      </p:sp>
      <p:sp>
        <p:nvSpPr>
          <p:cNvPr id="54" name="Google Shape;54;p8"/>
          <p:cNvSpPr txBox="1"/>
          <p:nvPr/>
        </p:nvSpPr>
        <p:spPr>
          <a:xfrm>
            <a:off x="1382503" y="7364788"/>
            <a:ext cx="10763192" cy="5517793"/>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4800">
                <a:solidFill>
                  <a:srgbClr val="415D79"/>
                </a:solidFill>
                <a:latin typeface="Poppins"/>
                <a:ea typeface="Poppins"/>
                <a:cs typeface="Poppins"/>
                <a:sym typeface="Poppins"/>
              </a:rPr>
              <a:t>Unit 3 of 6: Hardware</a:t>
            </a:r>
            <a:endParaRPr/>
          </a:p>
          <a:p>
            <a:pPr indent="0" lvl="0" marL="0" marR="0" rtl="0" algn="l">
              <a:lnSpc>
                <a:spcPct val="150000"/>
              </a:lnSpc>
              <a:spcBef>
                <a:spcPts val="0"/>
              </a:spcBef>
              <a:spcAft>
                <a:spcPts val="0"/>
              </a:spcAft>
              <a:buNone/>
            </a:pPr>
            <a:r>
              <a:rPr lang="en-US" sz="4800" u="sng">
                <a:solidFill>
                  <a:srgbClr val="415D79"/>
                </a:solidFill>
                <a:latin typeface="Poppins"/>
                <a:ea typeface="Poppins"/>
                <a:cs typeface="Poppins"/>
                <a:sym typeface="Poppins"/>
              </a:rPr>
              <a:t>Topic 1: Computer architecture</a:t>
            </a:r>
            <a:endParaRPr/>
          </a:p>
          <a:p>
            <a:pPr indent="0" lvl="0" marL="0" marR="0" rtl="0" algn="l">
              <a:lnSpc>
                <a:spcPct val="150000"/>
              </a:lnSpc>
              <a:spcBef>
                <a:spcPts val="0"/>
              </a:spcBef>
              <a:spcAft>
                <a:spcPts val="0"/>
              </a:spcAft>
              <a:buNone/>
            </a:pPr>
            <a:r>
              <a:rPr lang="en-US" sz="4800">
                <a:solidFill>
                  <a:srgbClr val="415D79"/>
                </a:solidFill>
                <a:latin typeface="Poppins"/>
                <a:ea typeface="Poppins"/>
                <a:cs typeface="Poppins"/>
                <a:sym typeface="Poppins"/>
              </a:rPr>
              <a:t>Topic 2: Input and output devices</a:t>
            </a:r>
            <a:endParaRPr/>
          </a:p>
          <a:p>
            <a:pPr indent="0" lvl="0" marL="0" marR="0" rtl="0" algn="l">
              <a:lnSpc>
                <a:spcPct val="150000"/>
              </a:lnSpc>
              <a:spcBef>
                <a:spcPts val="0"/>
              </a:spcBef>
              <a:spcAft>
                <a:spcPts val="0"/>
              </a:spcAft>
              <a:buNone/>
            </a:pPr>
            <a:r>
              <a:rPr lang="en-US" sz="4800">
                <a:solidFill>
                  <a:srgbClr val="415D79"/>
                </a:solidFill>
                <a:latin typeface="Poppins"/>
                <a:ea typeface="Poppins"/>
                <a:cs typeface="Poppins"/>
                <a:sym typeface="Poppins"/>
              </a:rPr>
              <a:t>Topic 3: Data storage</a:t>
            </a:r>
            <a:endParaRPr/>
          </a:p>
          <a:p>
            <a:pPr indent="0" lvl="0" marL="0" marR="0" rtl="0" algn="l">
              <a:lnSpc>
                <a:spcPct val="150000"/>
              </a:lnSpc>
              <a:spcBef>
                <a:spcPts val="0"/>
              </a:spcBef>
              <a:spcAft>
                <a:spcPts val="0"/>
              </a:spcAft>
              <a:buNone/>
            </a:pPr>
            <a:r>
              <a:rPr lang="en-US" sz="4800">
                <a:solidFill>
                  <a:srgbClr val="415D79"/>
                </a:solidFill>
                <a:latin typeface="Poppins"/>
                <a:ea typeface="Poppins"/>
                <a:cs typeface="Poppins"/>
                <a:sym typeface="Poppins"/>
              </a:rPr>
              <a:t>Topic 4: Network hardware</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9"/>
          <p:cNvSpPr txBox="1"/>
          <p:nvPr/>
        </p:nvSpPr>
        <p:spPr>
          <a:xfrm>
            <a:off x="13787863" y="528170"/>
            <a:ext cx="10365677" cy="2646878"/>
          </a:xfrm>
          <a:prstGeom prst="rect">
            <a:avLst/>
          </a:prstGeom>
          <a:solidFill>
            <a:srgbClr val="C1E8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2"/>
              </a:buClr>
              <a:buSzPts val="16600"/>
              <a:buFont typeface="Arial"/>
              <a:buNone/>
            </a:pPr>
            <a:r>
              <a:rPr b="1" lang="en-US" sz="16600">
                <a:solidFill>
                  <a:schemeClr val="dk2"/>
                </a:solidFill>
                <a:latin typeface="Open Sans Light"/>
                <a:ea typeface="Open Sans Light"/>
                <a:cs typeface="Open Sans Light"/>
                <a:sym typeface="Open Sans Light"/>
              </a:rPr>
              <a:t>Yes or No</a:t>
            </a:r>
            <a:endParaRPr sz="8000">
              <a:solidFill>
                <a:schemeClr val="dk2"/>
              </a:solidFill>
              <a:latin typeface="Open Sans Light"/>
              <a:ea typeface="Open Sans Light"/>
              <a:cs typeface="Open Sans Light"/>
              <a:sym typeface="Open Sans Light"/>
            </a:endParaRPr>
          </a:p>
        </p:txBody>
      </p:sp>
      <p:sp>
        <p:nvSpPr>
          <p:cNvPr id="61" name="Google Shape;61;p9"/>
          <p:cNvSpPr txBox="1"/>
          <p:nvPr/>
        </p:nvSpPr>
        <p:spPr>
          <a:xfrm>
            <a:off x="13787864" y="3308079"/>
            <a:ext cx="10365677" cy="6134115"/>
          </a:xfrm>
          <a:prstGeom prst="rect">
            <a:avLst/>
          </a:prstGeom>
          <a:solidFill>
            <a:srgbClr val="FFECBA"/>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13800"/>
              <a:buFont typeface="Arial"/>
              <a:buNone/>
            </a:pPr>
            <a:r>
              <a:rPr lang="en-US" sz="13800">
                <a:solidFill>
                  <a:schemeClr val="dk2"/>
                </a:solidFill>
                <a:latin typeface="Open Sans Light"/>
                <a:ea typeface="Open Sans Light"/>
                <a:cs typeface="Open Sans Light"/>
                <a:sym typeface="Open Sans Light"/>
              </a:rPr>
              <a:t>Do </a:t>
            </a:r>
            <a:r>
              <a:rPr lang="en-US" sz="13800">
                <a:solidFill>
                  <a:srgbClr val="0070C0"/>
                </a:solidFill>
                <a:latin typeface="Open Sans Light"/>
                <a:ea typeface="Open Sans Light"/>
                <a:cs typeface="Open Sans Light"/>
                <a:sym typeface="Open Sans Light"/>
              </a:rPr>
              <a:t>you</a:t>
            </a:r>
            <a:r>
              <a:rPr lang="en-US" sz="13800">
                <a:solidFill>
                  <a:schemeClr val="dk2"/>
                </a:solidFill>
                <a:latin typeface="Open Sans Light"/>
                <a:ea typeface="Open Sans Light"/>
                <a:cs typeface="Open Sans Light"/>
                <a:sym typeface="Open Sans Light"/>
              </a:rPr>
              <a:t> know what this is?</a:t>
            </a:r>
            <a:endParaRPr/>
          </a:p>
        </p:txBody>
      </p:sp>
      <p:pic>
        <p:nvPicPr>
          <p:cNvPr id="62" name="Google Shape;62;p9"/>
          <p:cNvPicPr preferRelativeResize="0"/>
          <p:nvPr/>
        </p:nvPicPr>
        <p:blipFill rotWithShape="1">
          <a:blip r:embed="rId3">
            <a:alphaModFix/>
          </a:blip>
          <a:srcRect b="0" l="0" r="0" t="0"/>
          <a:stretch/>
        </p:blipFill>
        <p:spPr>
          <a:xfrm>
            <a:off x="705653" y="362375"/>
            <a:ext cx="12921136" cy="12819794"/>
          </a:xfrm>
          <a:prstGeom prst="rect">
            <a:avLst/>
          </a:prstGeom>
          <a:noFill/>
          <a:ln cap="flat" cmpd="sng" w="9525">
            <a:solidFill>
              <a:schemeClr val="dk2"/>
            </a:solidFill>
            <a:prstDash val="solid"/>
            <a:round/>
            <a:headEnd len="sm" w="sm" type="none"/>
            <a:tailEnd len="sm" w="sm" type="none"/>
          </a:ln>
        </p:spPr>
      </p:pic>
      <p:sp>
        <p:nvSpPr>
          <p:cNvPr id="63" name="Google Shape;63;p9"/>
          <p:cNvSpPr txBox="1"/>
          <p:nvPr/>
        </p:nvSpPr>
        <p:spPr>
          <a:xfrm>
            <a:off x="13787863" y="9575225"/>
            <a:ext cx="10365677" cy="3154710"/>
          </a:xfrm>
          <a:prstGeom prst="rect">
            <a:avLst/>
          </a:prstGeom>
          <a:solidFill>
            <a:srgbClr val="DEF8ED"/>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2"/>
              </a:buClr>
              <a:buSzPts val="19900"/>
              <a:buFont typeface="Arial"/>
              <a:buNone/>
            </a:pPr>
            <a:r>
              <a:rPr lang="en-US" sz="19900">
                <a:solidFill>
                  <a:schemeClr val="dk2"/>
                </a:solidFill>
                <a:latin typeface="Open Sans Light"/>
                <a:ea typeface="Open Sans Light"/>
                <a:cs typeface="Open Sans Light"/>
                <a:sym typeface="Open Sans Light"/>
              </a:rPr>
              <a:t>The </a:t>
            </a:r>
            <a:r>
              <a:rPr lang="en-US" sz="19900">
                <a:solidFill>
                  <a:srgbClr val="0070C0"/>
                </a:solidFill>
                <a:latin typeface="Open Sans Light"/>
                <a:ea typeface="Open Sans Light"/>
                <a:cs typeface="Open Sans Light"/>
                <a:sym typeface="Open Sans Light"/>
              </a:rPr>
              <a:t>CPU</a:t>
            </a:r>
            <a:r>
              <a:rPr lang="en-US" sz="19900">
                <a:solidFill>
                  <a:schemeClr val="dk2"/>
                </a:solidFill>
                <a:latin typeface="Open Sans Light"/>
                <a:ea typeface="Open Sans Light"/>
                <a:cs typeface="Open Sans Light"/>
                <a:sym typeface="Open Sans Light"/>
              </a:rPr>
              <a:t>!</a:t>
            </a:r>
            <a:endParaRPr/>
          </a:p>
        </p:txBody>
      </p:sp>
    </p:spTree>
  </p:cSld>
  <p:clrMapOvr>
    <a:masterClrMapping/>
  </p:clrMapOvr>
  <p:transition spd="slow">
    <p:push/>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1">
                                            <p:txEl>
                                              <p:pRg end="0" st="0"/>
                                            </p:txEl>
                                          </p:spTgt>
                                        </p:tgtEl>
                                        <p:attrNameLst>
                                          <p:attrName>style.visibility</p:attrName>
                                        </p:attrNameLst>
                                      </p:cBhvr>
                                      <p:to>
                                        <p:strVal val="visible"/>
                                      </p:to>
                                    </p:set>
                                    <p:animEffect filter="fade" transition="in">
                                      <p:cBhvr>
                                        <p:cTn dur="500"/>
                                        <p:tgtEl>
                                          <p:spTgt spid="61">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
                                            <p:txEl>
                                              <p:pRg end="0" st="0"/>
                                            </p:txEl>
                                          </p:spTgt>
                                        </p:tgtEl>
                                        <p:attrNameLst>
                                          <p:attrName>style.visibility</p:attrName>
                                        </p:attrNameLst>
                                      </p:cBhvr>
                                      <p:to>
                                        <p:strVal val="visible"/>
                                      </p:to>
                                    </p:set>
                                    <p:animEffect filter="fade" transition="in">
                                      <p:cBhvr>
                                        <p:cTn dur="500"/>
                                        <p:tgtEl>
                                          <p:spTgt spid="63">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0"/>
          <p:cNvSpPr txBox="1"/>
          <p:nvPr/>
        </p:nvSpPr>
        <p:spPr>
          <a:xfrm>
            <a:off x="197740" y="1581773"/>
            <a:ext cx="16838976" cy="2918107"/>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lang="en-US" sz="2500">
                <a:solidFill>
                  <a:schemeClr val="dk2"/>
                </a:solidFill>
                <a:latin typeface="Calibri"/>
                <a:ea typeface="Calibri"/>
                <a:cs typeface="Calibri"/>
                <a:sym typeface="Calibri"/>
              </a:rPr>
              <a:t>Introduction to the </a:t>
            </a:r>
            <a:r>
              <a:rPr b="1" lang="en-US" sz="2500">
                <a:solidFill>
                  <a:srgbClr val="0070C0"/>
                </a:solidFill>
                <a:latin typeface="Calibri"/>
                <a:ea typeface="Calibri"/>
                <a:cs typeface="Calibri"/>
                <a:sym typeface="Calibri"/>
              </a:rPr>
              <a:t>CPU</a:t>
            </a:r>
            <a:endParaRPr sz="2500">
              <a:solidFill>
                <a:srgbClr val="0070C0"/>
              </a:solidFill>
              <a:latin typeface="Calibri"/>
              <a:ea typeface="Calibri"/>
              <a:cs typeface="Calibri"/>
              <a:sym typeface="Calibri"/>
            </a:endParaRPr>
          </a:p>
          <a:p>
            <a:pPr indent="0" lvl="0" marL="0" marR="0" rtl="0" algn="l">
              <a:lnSpc>
                <a:spcPct val="150000"/>
              </a:lnSpc>
              <a:spcBef>
                <a:spcPts val="0"/>
              </a:spcBef>
              <a:spcAft>
                <a:spcPts val="0"/>
              </a:spcAft>
              <a:buNone/>
            </a:pPr>
            <a:r>
              <a:rPr b="1" lang="en-US" sz="2500">
                <a:solidFill>
                  <a:schemeClr val="dk2"/>
                </a:solidFill>
                <a:latin typeface="Calibri"/>
                <a:ea typeface="Calibri"/>
                <a:cs typeface="Calibri"/>
                <a:sym typeface="Calibri"/>
              </a:rPr>
              <a:t>Definition</a:t>
            </a:r>
            <a:r>
              <a:rPr lang="en-US" sz="2500">
                <a:solidFill>
                  <a:schemeClr val="dk2"/>
                </a:solidFill>
                <a:latin typeface="Calibri"/>
                <a:ea typeface="Calibri"/>
                <a:cs typeface="Calibri"/>
                <a:sym typeface="Calibri"/>
              </a:rPr>
              <a:t>: The </a:t>
            </a:r>
            <a:r>
              <a:rPr lang="en-US" sz="2500">
                <a:solidFill>
                  <a:srgbClr val="0070C0"/>
                </a:solidFill>
                <a:latin typeface="Calibri"/>
                <a:ea typeface="Calibri"/>
                <a:cs typeface="Calibri"/>
                <a:sym typeface="Calibri"/>
              </a:rPr>
              <a:t>Central Processing Unit </a:t>
            </a:r>
            <a:r>
              <a:rPr lang="en-US" sz="2500">
                <a:solidFill>
                  <a:schemeClr val="dk2"/>
                </a:solidFill>
                <a:latin typeface="Calibri"/>
                <a:ea typeface="Calibri"/>
                <a:cs typeface="Calibri"/>
                <a:sym typeface="Calibri"/>
              </a:rPr>
              <a:t>(CPU) is often referred to as the </a:t>
            </a:r>
            <a:r>
              <a:rPr b="1" lang="en-US" sz="2500">
                <a:solidFill>
                  <a:srgbClr val="0070C0"/>
                </a:solidFill>
                <a:latin typeface="Calibri"/>
                <a:ea typeface="Calibri"/>
                <a:cs typeface="Calibri"/>
                <a:sym typeface="Calibri"/>
              </a:rPr>
              <a:t>brain of the computer</a:t>
            </a:r>
            <a:r>
              <a:rPr lang="en-US" sz="2500">
                <a:solidFill>
                  <a:schemeClr val="dk2"/>
                </a:solidFill>
                <a:latin typeface="Calibri"/>
                <a:ea typeface="Calibri"/>
                <a:cs typeface="Calibri"/>
                <a:sym typeface="Calibri"/>
              </a:rPr>
              <a:t>. It's a crucial component that interprets and executes (does) most of the commands from the computer's other hardware and software.</a:t>
            </a:r>
            <a:endParaRPr/>
          </a:p>
          <a:p>
            <a:pPr indent="0" lvl="0" marL="0" marR="0" rtl="0" algn="l">
              <a:lnSpc>
                <a:spcPct val="150000"/>
              </a:lnSpc>
              <a:spcBef>
                <a:spcPts val="0"/>
              </a:spcBef>
              <a:spcAft>
                <a:spcPts val="0"/>
              </a:spcAft>
              <a:buNone/>
            </a:pPr>
            <a:r>
              <a:rPr b="1" lang="en-US" sz="2500">
                <a:solidFill>
                  <a:schemeClr val="dk2"/>
                </a:solidFill>
                <a:latin typeface="Calibri"/>
                <a:ea typeface="Calibri"/>
                <a:cs typeface="Calibri"/>
                <a:sym typeface="Calibri"/>
              </a:rPr>
              <a:t>Analogy</a:t>
            </a:r>
            <a:r>
              <a:rPr lang="en-US" sz="2500">
                <a:solidFill>
                  <a:schemeClr val="dk2"/>
                </a:solidFill>
                <a:latin typeface="Calibri"/>
                <a:ea typeface="Calibri"/>
                <a:cs typeface="Calibri"/>
                <a:sym typeface="Calibri"/>
              </a:rPr>
              <a:t>: Think of the </a:t>
            </a:r>
            <a:r>
              <a:rPr lang="en-US" sz="2500">
                <a:solidFill>
                  <a:srgbClr val="0070C0"/>
                </a:solidFill>
                <a:latin typeface="Calibri"/>
                <a:ea typeface="Calibri"/>
                <a:cs typeface="Calibri"/>
                <a:sym typeface="Calibri"/>
              </a:rPr>
              <a:t>CPU</a:t>
            </a:r>
            <a:r>
              <a:rPr lang="en-US" sz="2500">
                <a:solidFill>
                  <a:schemeClr val="dk2"/>
                </a:solidFill>
                <a:latin typeface="Calibri"/>
                <a:ea typeface="Calibri"/>
                <a:cs typeface="Calibri"/>
                <a:sym typeface="Calibri"/>
              </a:rPr>
              <a:t> as </a:t>
            </a:r>
            <a:r>
              <a:rPr lang="en-US" sz="2500">
                <a:solidFill>
                  <a:srgbClr val="0070C0"/>
                </a:solidFill>
                <a:latin typeface="Calibri"/>
                <a:ea typeface="Calibri"/>
                <a:cs typeface="Calibri"/>
                <a:sym typeface="Calibri"/>
              </a:rPr>
              <a:t>the conductor of an orchestra</a:t>
            </a:r>
            <a:r>
              <a:rPr lang="en-US" sz="2500">
                <a:solidFill>
                  <a:schemeClr val="dk2"/>
                </a:solidFill>
                <a:latin typeface="Calibri"/>
                <a:ea typeface="Calibri"/>
                <a:cs typeface="Calibri"/>
                <a:sym typeface="Calibri"/>
              </a:rPr>
              <a:t>. Just as the conductor directs all the musicians to play in harmony, the </a:t>
            </a:r>
            <a:r>
              <a:rPr b="1" lang="en-US" sz="2500">
                <a:solidFill>
                  <a:srgbClr val="0070C0"/>
                </a:solidFill>
                <a:latin typeface="Calibri"/>
                <a:ea typeface="Calibri"/>
                <a:cs typeface="Calibri"/>
                <a:sym typeface="Calibri"/>
              </a:rPr>
              <a:t>CPU directs the computer's operations</a:t>
            </a:r>
            <a:r>
              <a:rPr lang="en-US" sz="2500">
                <a:solidFill>
                  <a:schemeClr val="dk2"/>
                </a:solidFill>
                <a:latin typeface="Calibri"/>
                <a:ea typeface="Calibri"/>
                <a:cs typeface="Calibri"/>
                <a:sym typeface="Calibri"/>
              </a:rPr>
              <a:t>.</a:t>
            </a:r>
            <a:endParaRPr/>
          </a:p>
        </p:txBody>
      </p:sp>
      <p:sp>
        <p:nvSpPr>
          <p:cNvPr id="70" name="Google Shape;70;p10"/>
          <p:cNvSpPr txBox="1"/>
          <p:nvPr/>
        </p:nvSpPr>
        <p:spPr>
          <a:xfrm>
            <a:off x="197740" y="140023"/>
            <a:ext cx="12638520" cy="1323439"/>
          </a:xfrm>
          <a:prstGeom prst="rect">
            <a:avLst/>
          </a:prstGeom>
          <a:solidFill>
            <a:srgbClr val="E0F5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8000">
                <a:solidFill>
                  <a:schemeClr val="dk2"/>
                </a:solidFill>
                <a:latin typeface="Lato Light"/>
                <a:ea typeface="Lato Light"/>
                <a:cs typeface="Lato Light"/>
                <a:sym typeface="Lato Light"/>
              </a:rPr>
              <a:t>The CPU and Its Functions</a:t>
            </a:r>
            <a:endParaRPr sz="8000">
              <a:solidFill>
                <a:schemeClr val="dk2"/>
              </a:solidFill>
              <a:latin typeface="Lato Light"/>
              <a:ea typeface="Lato Light"/>
              <a:cs typeface="Lato Light"/>
              <a:sym typeface="Lato Light"/>
            </a:endParaRPr>
          </a:p>
        </p:txBody>
      </p:sp>
      <p:sp>
        <p:nvSpPr>
          <p:cNvPr id="71" name="Google Shape;71;p10"/>
          <p:cNvSpPr txBox="1"/>
          <p:nvPr/>
        </p:nvSpPr>
        <p:spPr>
          <a:xfrm>
            <a:off x="17246218" y="178401"/>
            <a:ext cx="6954626" cy="13283316"/>
          </a:xfrm>
          <a:prstGeom prst="rect">
            <a:avLst/>
          </a:prstGeom>
          <a:solidFill>
            <a:srgbClr val="FFF5DC"/>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4800" u="sng">
                <a:solidFill>
                  <a:schemeClr val="dk2"/>
                </a:solidFill>
                <a:latin typeface="Calibri"/>
                <a:ea typeface="Calibri"/>
                <a:cs typeface="Calibri"/>
                <a:sym typeface="Calibri"/>
              </a:rPr>
              <a:t>Comprehension Questions</a:t>
            </a:r>
            <a:endParaRPr/>
          </a:p>
          <a:p>
            <a:pPr indent="-1028443" lvl="0" marL="1028443" marR="0" rtl="0" algn="l">
              <a:lnSpc>
                <a:spcPct val="150000"/>
              </a:lnSpc>
              <a:spcBef>
                <a:spcPts val="0"/>
              </a:spcBef>
              <a:spcAft>
                <a:spcPts val="0"/>
              </a:spcAft>
              <a:buClr>
                <a:schemeClr val="dk2"/>
              </a:buClr>
              <a:buSzPts val="4400"/>
              <a:buFont typeface="Calibri"/>
              <a:buAutoNum type="arabicPeriod"/>
            </a:pPr>
            <a:r>
              <a:rPr b="1" lang="en-US" sz="4400">
                <a:solidFill>
                  <a:schemeClr val="dk2"/>
                </a:solidFill>
                <a:latin typeface="Calibri"/>
                <a:ea typeface="Calibri"/>
                <a:cs typeface="Calibri"/>
                <a:sym typeface="Calibri"/>
              </a:rPr>
              <a:t>What</a:t>
            </a:r>
            <a:r>
              <a:rPr lang="en-US" sz="4400">
                <a:solidFill>
                  <a:schemeClr val="dk2"/>
                </a:solidFill>
                <a:latin typeface="Calibri"/>
                <a:ea typeface="Calibri"/>
                <a:cs typeface="Calibri"/>
                <a:sym typeface="Calibri"/>
              </a:rPr>
              <a:t> is the </a:t>
            </a:r>
            <a:r>
              <a:rPr lang="en-US" sz="4400">
                <a:solidFill>
                  <a:srgbClr val="1C8256"/>
                </a:solidFill>
                <a:latin typeface="Calibri"/>
                <a:ea typeface="Calibri"/>
                <a:cs typeface="Calibri"/>
                <a:sym typeface="Calibri"/>
              </a:rPr>
              <a:t>main role </a:t>
            </a:r>
            <a:r>
              <a:rPr lang="en-US" sz="4400">
                <a:solidFill>
                  <a:schemeClr val="dk2"/>
                </a:solidFill>
                <a:latin typeface="Calibri"/>
                <a:ea typeface="Calibri"/>
                <a:cs typeface="Calibri"/>
                <a:sym typeface="Calibri"/>
              </a:rPr>
              <a:t>of the CPU?</a:t>
            </a:r>
            <a:endParaRPr/>
          </a:p>
          <a:p>
            <a:pPr indent="-1028443" lvl="0" marL="1028443" marR="0" rtl="0" algn="l">
              <a:lnSpc>
                <a:spcPct val="150000"/>
              </a:lnSpc>
              <a:spcBef>
                <a:spcPts val="0"/>
              </a:spcBef>
              <a:spcAft>
                <a:spcPts val="0"/>
              </a:spcAft>
              <a:buClr>
                <a:schemeClr val="dk2"/>
              </a:buClr>
              <a:buSzPts val="4400"/>
              <a:buFont typeface="Calibri"/>
              <a:buAutoNum type="arabicPeriod"/>
            </a:pPr>
            <a:r>
              <a:rPr b="1" lang="en-US" sz="4400">
                <a:solidFill>
                  <a:schemeClr val="dk2"/>
                </a:solidFill>
                <a:latin typeface="Calibri"/>
                <a:ea typeface="Calibri"/>
                <a:cs typeface="Calibri"/>
                <a:sym typeface="Calibri"/>
              </a:rPr>
              <a:t>How </a:t>
            </a:r>
            <a:r>
              <a:rPr lang="en-US" sz="4400">
                <a:solidFill>
                  <a:schemeClr val="dk2"/>
                </a:solidFill>
                <a:latin typeface="Calibri"/>
                <a:ea typeface="Calibri"/>
                <a:cs typeface="Calibri"/>
                <a:sym typeface="Calibri"/>
              </a:rPr>
              <a:t>is the CPU </a:t>
            </a:r>
            <a:r>
              <a:rPr lang="en-US" sz="4400">
                <a:solidFill>
                  <a:srgbClr val="1C8256"/>
                </a:solidFill>
                <a:latin typeface="Calibri"/>
                <a:ea typeface="Calibri"/>
                <a:cs typeface="Calibri"/>
                <a:sym typeface="Calibri"/>
              </a:rPr>
              <a:t>similar</a:t>
            </a:r>
            <a:r>
              <a:rPr lang="en-US" sz="4400">
                <a:solidFill>
                  <a:schemeClr val="dk2"/>
                </a:solidFill>
                <a:latin typeface="Calibri"/>
                <a:ea typeface="Calibri"/>
                <a:cs typeface="Calibri"/>
                <a:sym typeface="Calibri"/>
              </a:rPr>
              <a:t> to the conductor of an orchestra?</a:t>
            </a:r>
            <a:endParaRPr/>
          </a:p>
          <a:p>
            <a:pPr indent="-1028443" lvl="0" marL="1028443" marR="0" rtl="0" algn="l">
              <a:lnSpc>
                <a:spcPct val="150000"/>
              </a:lnSpc>
              <a:spcBef>
                <a:spcPts val="0"/>
              </a:spcBef>
              <a:spcAft>
                <a:spcPts val="0"/>
              </a:spcAft>
              <a:buClr>
                <a:schemeClr val="dk2"/>
              </a:buClr>
              <a:buSzPts val="4400"/>
              <a:buFont typeface="Calibri"/>
              <a:buAutoNum type="arabicPeriod"/>
            </a:pPr>
            <a:r>
              <a:rPr b="1" lang="en-US" sz="4400">
                <a:solidFill>
                  <a:schemeClr val="dk2"/>
                </a:solidFill>
                <a:latin typeface="Calibri"/>
                <a:ea typeface="Calibri"/>
                <a:cs typeface="Calibri"/>
                <a:sym typeface="Calibri"/>
              </a:rPr>
              <a:t>What </a:t>
            </a:r>
            <a:r>
              <a:rPr lang="en-US" sz="4400">
                <a:solidFill>
                  <a:schemeClr val="dk2"/>
                </a:solidFill>
                <a:latin typeface="Calibri"/>
                <a:ea typeface="Calibri"/>
                <a:cs typeface="Calibri"/>
                <a:sym typeface="Calibri"/>
              </a:rPr>
              <a:t>is the </a:t>
            </a:r>
            <a:r>
              <a:rPr lang="en-US" sz="4400">
                <a:solidFill>
                  <a:srgbClr val="1C8256"/>
                </a:solidFill>
                <a:latin typeface="Calibri"/>
                <a:ea typeface="Calibri"/>
                <a:cs typeface="Calibri"/>
                <a:sym typeface="Calibri"/>
              </a:rPr>
              <a:t>role</a:t>
            </a:r>
            <a:r>
              <a:rPr lang="en-US" sz="4400">
                <a:solidFill>
                  <a:schemeClr val="dk2"/>
                </a:solidFill>
                <a:latin typeface="Calibri"/>
                <a:ea typeface="Calibri"/>
                <a:cs typeface="Calibri"/>
                <a:sym typeface="Calibri"/>
              </a:rPr>
              <a:t> of Arithmetic Logic Unit (ALU) </a:t>
            </a:r>
            <a:r>
              <a:rPr lang="en-US" sz="4400">
                <a:solidFill>
                  <a:srgbClr val="1C8256"/>
                </a:solidFill>
                <a:latin typeface="Calibri"/>
                <a:ea typeface="Calibri"/>
                <a:cs typeface="Calibri"/>
                <a:sym typeface="Calibri"/>
              </a:rPr>
              <a:t>in the </a:t>
            </a:r>
            <a:r>
              <a:rPr lang="en-US" sz="4400">
                <a:solidFill>
                  <a:schemeClr val="dk2"/>
                </a:solidFill>
                <a:latin typeface="Calibri"/>
                <a:ea typeface="Calibri"/>
                <a:cs typeface="Calibri"/>
                <a:sym typeface="Calibri"/>
              </a:rPr>
              <a:t>CPU?</a:t>
            </a:r>
            <a:endParaRPr/>
          </a:p>
          <a:p>
            <a:pPr indent="-1028443" lvl="0" marL="1028443" marR="0" rtl="0" algn="l">
              <a:lnSpc>
                <a:spcPct val="150000"/>
              </a:lnSpc>
              <a:spcBef>
                <a:spcPts val="0"/>
              </a:spcBef>
              <a:spcAft>
                <a:spcPts val="0"/>
              </a:spcAft>
              <a:buClr>
                <a:schemeClr val="dk2"/>
              </a:buClr>
              <a:buSzPts val="4400"/>
              <a:buFont typeface="Calibri"/>
              <a:buAutoNum type="arabicPeriod"/>
            </a:pPr>
            <a:r>
              <a:rPr b="1" lang="en-US" sz="4400">
                <a:solidFill>
                  <a:schemeClr val="dk2"/>
                </a:solidFill>
                <a:latin typeface="Calibri"/>
                <a:ea typeface="Calibri"/>
                <a:cs typeface="Calibri"/>
                <a:sym typeface="Calibri"/>
              </a:rPr>
              <a:t>What </a:t>
            </a:r>
            <a:r>
              <a:rPr lang="en-US" sz="4400">
                <a:solidFill>
                  <a:schemeClr val="dk2"/>
                </a:solidFill>
                <a:latin typeface="Calibri"/>
                <a:ea typeface="Calibri"/>
                <a:cs typeface="Calibri"/>
                <a:sym typeface="Calibri"/>
              </a:rPr>
              <a:t>does the fetch-decode-execute cycle </a:t>
            </a:r>
            <a:r>
              <a:rPr lang="en-US" sz="4400">
                <a:solidFill>
                  <a:srgbClr val="1C8256"/>
                </a:solidFill>
                <a:latin typeface="Calibri"/>
                <a:ea typeface="Calibri"/>
                <a:cs typeface="Calibri"/>
                <a:sym typeface="Calibri"/>
              </a:rPr>
              <a:t>do</a:t>
            </a:r>
            <a:r>
              <a:rPr lang="en-US" sz="4400">
                <a:solidFill>
                  <a:schemeClr val="dk2"/>
                </a:solidFill>
                <a:latin typeface="Calibri"/>
                <a:ea typeface="Calibri"/>
                <a:cs typeface="Calibri"/>
                <a:sym typeface="Calibri"/>
              </a:rPr>
              <a:t> to </a:t>
            </a:r>
            <a:r>
              <a:rPr lang="en-US" sz="4400">
                <a:solidFill>
                  <a:srgbClr val="1C8256"/>
                </a:solidFill>
                <a:latin typeface="Calibri"/>
                <a:ea typeface="Calibri"/>
                <a:cs typeface="Calibri"/>
                <a:sym typeface="Calibri"/>
              </a:rPr>
              <a:t>help</a:t>
            </a:r>
            <a:r>
              <a:rPr lang="en-US" sz="4400">
                <a:solidFill>
                  <a:schemeClr val="dk2"/>
                </a:solidFill>
                <a:latin typeface="Calibri"/>
                <a:ea typeface="Calibri"/>
                <a:cs typeface="Calibri"/>
                <a:sym typeface="Calibri"/>
              </a:rPr>
              <a:t> the CPU run properly?</a:t>
            </a:r>
            <a:endParaRPr/>
          </a:p>
        </p:txBody>
      </p:sp>
      <p:sp>
        <p:nvSpPr>
          <p:cNvPr id="72" name="Google Shape;72;p10"/>
          <p:cNvSpPr txBox="1"/>
          <p:nvPr/>
        </p:nvSpPr>
        <p:spPr>
          <a:xfrm>
            <a:off x="197740" y="4649525"/>
            <a:ext cx="5362856" cy="9074151"/>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2800">
                <a:solidFill>
                  <a:schemeClr val="dk2"/>
                </a:solidFill>
                <a:latin typeface="Calibri"/>
                <a:ea typeface="Calibri"/>
                <a:cs typeface="Calibri"/>
                <a:sym typeface="Calibri"/>
              </a:rPr>
              <a:t>Basic </a:t>
            </a:r>
            <a:r>
              <a:rPr b="1" lang="en-US" sz="2800">
                <a:solidFill>
                  <a:srgbClr val="7030A0"/>
                </a:solidFill>
                <a:latin typeface="Calibri"/>
                <a:ea typeface="Calibri"/>
                <a:cs typeface="Calibri"/>
                <a:sym typeface="Calibri"/>
              </a:rPr>
              <a:t>Function</a:t>
            </a:r>
            <a:r>
              <a:rPr b="1" lang="en-US" sz="2800">
                <a:solidFill>
                  <a:schemeClr val="dk2"/>
                </a:solidFill>
                <a:latin typeface="Calibri"/>
                <a:ea typeface="Calibri"/>
                <a:cs typeface="Calibri"/>
                <a:sym typeface="Calibri"/>
              </a:rPr>
              <a:t> of the </a:t>
            </a:r>
            <a:r>
              <a:rPr b="1" lang="en-US" sz="2800">
                <a:solidFill>
                  <a:srgbClr val="0070C0"/>
                </a:solidFill>
                <a:latin typeface="Calibri"/>
                <a:ea typeface="Calibri"/>
                <a:cs typeface="Calibri"/>
                <a:sym typeface="Calibri"/>
              </a:rPr>
              <a:t>CPU</a:t>
            </a:r>
            <a:endParaRPr sz="2800">
              <a:solidFill>
                <a:srgbClr val="0070C0"/>
              </a:solidFill>
              <a:latin typeface="Calibri"/>
              <a:ea typeface="Calibri"/>
              <a:cs typeface="Calibri"/>
              <a:sym typeface="Calibri"/>
            </a:endParaRPr>
          </a:p>
          <a:p>
            <a:pPr indent="0" lvl="0" marL="0" marR="0" rtl="0" algn="l">
              <a:lnSpc>
                <a:spcPct val="150000"/>
              </a:lnSpc>
              <a:spcBef>
                <a:spcPts val="0"/>
              </a:spcBef>
              <a:spcAft>
                <a:spcPts val="0"/>
              </a:spcAft>
              <a:buNone/>
            </a:pPr>
            <a:r>
              <a:rPr b="1" lang="en-US" sz="2800">
                <a:solidFill>
                  <a:schemeClr val="dk2"/>
                </a:solidFill>
                <a:latin typeface="Calibri"/>
                <a:ea typeface="Calibri"/>
                <a:cs typeface="Calibri"/>
                <a:sym typeface="Calibri"/>
              </a:rPr>
              <a:t>Processing Instructions</a:t>
            </a:r>
            <a:r>
              <a:rPr lang="en-US" sz="2800">
                <a:solidFill>
                  <a:schemeClr val="dk2"/>
                </a:solidFill>
                <a:latin typeface="Calibri"/>
                <a:ea typeface="Calibri"/>
                <a:cs typeface="Calibri"/>
                <a:sym typeface="Calibri"/>
              </a:rPr>
              <a:t>: The </a:t>
            </a:r>
            <a:r>
              <a:rPr lang="en-US" sz="2800">
                <a:solidFill>
                  <a:srgbClr val="0070C0"/>
                </a:solidFill>
                <a:latin typeface="Calibri"/>
                <a:ea typeface="Calibri"/>
                <a:cs typeface="Calibri"/>
                <a:sym typeface="Calibri"/>
              </a:rPr>
              <a:t>CPU</a:t>
            </a:r>
            <a:r>
              <a:rPr lang="en-US" sz="2800">
                <a:solidFill>
                  <a:schemeClr val="dk2"/>
                </a:solidFill>
                <a:latin typeface="Calibri"/>
                <a:ea typeface="Calibri"/>
                <a:cs typeface="Calibri"/>
                <a:sym typeface="Calibri"/>
              </a:rPr>
              <a:t> </a:t>
            </a:r>
            <a:r>
              <a:rPr lang="en-US" sz="2800">
                <a:solidFill>
                  <a:srgbClr val="7030A0"/>
                </a:solidFill>
                <a:latin typeface="Calibri"/>
                <a:ea typeface="Calibri"/>
                <a:cs typeface="Calibri"/>
                <a:sym typeface="Calibri"/>
              </a:rPr>
              <a:t>processes instructions it receives from the computer's memory</a:t>
            </a:r>
            <a:r>
              <a:rPr lang="en-US" sz="2800">
                <a:solidFill>
                  <a:schemeClr val="dk2"/>
                </a:solidFill>
                <a:latin typeface="Calibri"/>
                <a:ea typeface="Calibri"/>
                <a:cs typeface="Calibri"/>
                <a:sym typeface="Calibri"/>
              </a:rPr>
              <a:t>. These instructions are basic commands that tell the CPU what operations to perform.</a:t>
            </a:r>
            <a:endParaRPr/>
          </a:p>
          <a:p>
            <a:pPr indent="0" lvl="0" marL="0" marR="0" rtl="0" algn="l">
              <a:lnSpc>
                <a:spcPct val="150000"/>
              </a:lnSpc>
              <a:spcBef>
                <a:spcPts val="0"/>
              </a:spcBef>
              <a:spcAft>
                <a:spcPts val="0"/>
              </a:spcAft>
              <a:buNone/>
            </a:pPr>
            <a:r>
              <a:rPr b="1" lang="en-US" sz="2800">
                <a:solidFill>
                  <a:schemeClr val="dk2"/>
                </a:solidFill>
                <a:latin typeface="Calibri"/>
                <a:ea typeface="Calibri"/>
                <a:cs typeface="Calibri"/>
                <a:sym typeface="Calibri"/>
              </a:rPr>
              <a:t>Performing Calculations</a:t>
            </a:r>
            <a:r>
              <a:rPr lang="en-US" sz="2800">
                <a:solidFill>
                  <a:schemeClr val="dk2"/>
                </a:solidFill>
                <a:latin typeface="Calibri"/>
                <a:ea typeface="Calibri"/>
                <a:cs typeface="Calibri"/>
                <a:sym typeface="Calibri"/>
              </a:rPr>
              <a:t>: One of the CPU's main tasks is to </a:t>
            </a:r>
            <a:r>
              <a:rPr lang="en-US" sz="2800">
                <a:solidFill>
                  <a:srgbClr val="7030A0"/>
                </a:solidFill>
                <a:latin typeface="Calibri"/>
                <a:ea typeface="Calibri"/>
                <a:cs typeface="Calibri"/>
                <a:sym typeface="Calibri"/>
              </a:rPr>
              <a:t>perform calculations</a:t>
            </a:r>
            <a:r>
              <a:rPr lang="en-US" sz="2800">
                <a:solidFill>
                  <a:schemeClr val="dk2"/>
                </a:solidFill>
                <a:latin typeface="Calibri"/>
                <a:ea typeface="Calibri"/>
                <a:cs typeface="Calibri"/>
                <a:sym typeface="Calibri"/>
              </a:rPr>
              <a:t>. Whether it's adding numbers in a spreadsheet or determining the next move in a video game</a:t>
            </a:r>
            <a:r>
              <a:rPr lang="en-US" sz="2800">
                <a:solidFill>
                  <a:srgbClr val="7030A0"/>
                </a:solidFill>
                <a:latin typeface="Calibri"/>
                <a:ea typeface="Calibri"/>
                <a:cs typeface="Calibri"/>
                <a:sym typeface="Calibri"/>
              </a:rPr>
              <a:t>, the CPU handles these calculations</a:t>
            </a:r>
            <a:r>
              <a:rPr lang="en-US" sz="2800">
                <a:solidFill>
                  <a:schemeClr val="dk2"/>
                </a:solidFill>
                <a:latin typeface="Calibri"/>
                <a:ea typeface="Calibri"/>
                <a:cs typeface="Calibri"/>
                <a:sym typeface="Calibri"/>
              </a:rPr>
              <a:t>.</a:t>
            </a:r>
            <a:endParaRPr/>
          </a:p>
        </p:txBody>
      </p:sp>
      <p:sp>
        <p:nvSpPr>
          <p:cNvPr id="73" name="Google Shape;73;p10"/>
          <p:cNvSpPr txBox="1"/>
          <p:nvPr/>
        </p:nvSpPr>
        <p:spPr>
          <a:xfrm>
            <a:off x="5770098" y="4649525"/>
            <a:ext cx="5446024" cy="9074151"/>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2800">
                <a:solidFill>
                  <a:srgbClr val="1C8256"/>
                </a:solidFill>
                <a:latin typeface="Calibri"/>
                <a:ea typeface="Calibri"/>
                <a:cs typeface="Calibri"/>
                <a:sym typeface="Calibri"/>
              </a:rPr>
              <a:t>Components</a:t>
            </a:r>
            <a:r>
              <a:rPr b="1" lang="en-US" sz="2800">
                <a:solidFill>
                  <a:schemeClr val="dk2"/>
                </a:solidFill>
                <a:latin typeface="Calibri"/>
                <a:ea typeface="Calibri"/>
                <a:cs typeface="Calibri"/>
                <a:sym typeface="Calibri"/>
              </a:rPr>
              <a:t> of the </a:t>
            </a:r>
            <a:r>
              <a:rPr b="1" lang="en-US" sz="2800">
                <a:solidFill>
                  <a:srgbClr val="0070C0"/>
                </a:solidFill>
                <a:latin typeface="Calibri"/>
                <a:ea typeface="Calibri"/>
                <a:cs typeface="Calibri"/>
                <a:sym typeface="Calibri"/>
              </a:rPr>
              <a:t>CPU</a:t>
            </a:r>
            <a:endParaRPr sz="2800">
              <a:solidFill>
                <a:srgbClr val="0070C0"/>
              </a:solidFill>
              <a:latin typeface="Calibri"/>
              <a:ea typeface="Calibri"/>
              <a:cs typeface="Calibri"/>
              <a:sym typeface="Calibri"/>
            </a:endParaRPr>
          </a:p>
          <a:p>
            <a:pPr indent="-457200" lvl="0" marL="457200" marR="0" rtl="0" algn="l">
              <a:lnSpc>
                <a:spcPct val="150000"/>
              </a:lnSpc>
              <a:spcBef>
                <a:spcPts val="0"/>
              </a:spcBef>
              <a:spcAft>
                <a:spcPts val="0"/>
              </a:spcAft>
              <a:buClr>
                <a:srgbClr val="1C8256"/>
              </a:buClr>
              <a:buSzPts val="2800"/>
              <a:buFont typeface="Arial"/>
              <a:buChar char="•"/>
            </a:pPr>
            <a:r>
              <a:rPr b="1" lang="en-US" sz="2800">
                <a:solidFill>
                  <a:srgbClr val="1C8256"/>
                </a:solidFill>
                <a:latin typeface="Calibri"/>
                <a:ea typeface="Calibri"/>
                <a:cs typeface="Calibri"/>
                <a:sym typeface="Calibri"/>
              </a:rPr>
              <a:t>Arithmetic Logic Unit </a:t>
            </a:r>
            <a:r>
              <a:rPr b="1" lang="en-US" sz="2800">
                <a:solidFill>
                  <a:schemeClr val="dk2"/>
                </a:solidFill>
                <a:latin typeface="Calibri"/>
                <a:ea typeface="Calibri"/>
                <a:cs typeface="Calibri"/>
                <a:sym typeface="Calibri"/>
              </a:rPr>
              <a:t>(ALU)</a:t>
            </a:r>
            <a:r>
              <a:rPr lang="en-US" sz="2800">
                <a:solidFill>
                  <a:schemeClr val="dk2"/>
                </a:solidFill>
                <a:latin typeface="Calibri"/>
                <a:ea typeface="Calibri"/>
                <a:cs typeface="Calibri"/>
                <a:sym typeface="Calibri"/>
              </a:rPr>
              <a:t>: This part of the CPU is responsible for all the </a:t>
            </a:r>
            <a:r>
              <a:rPr lang="en-US" sz="2800">
                <a:solidFill>
                  <a:srgbClr val="1C8256"/>
                </a:solidFill>
                <a:latin typeface="Calibri"/>
                <a:ea typeface="Calibri"/>
                <a:cs typeface="Calibri"/>
                <a:sym typeface="Calibri"/>
              </a:rPr>
              <a:t>arithmetic and logical operations</a:t>
            </a:r>
            <a:r>
              <a:rPr lang="en-US" sz="2800">
                <a:solidFill>
                  <a:schemeClr val="dk2"/>
                </a:solidFill>
                <a:latin typeface="Calibri"/>
                <a:ea typeface="Calibri"/>
                <a:cs typeface="Calibri"/>
                <a:sym typeface="Calibri"/>
              </a:rPr>
              <a:t>, like addition, subtraction, and comparing numbers.</a:t>
            </a:r>
            <a:endParaRPr/>
          </a:p>
          <a:p>
            <a:pPr indent="-457200" lvl="0" marL="457200" marR="0" rtl="0" algn="l">
              <a:lnSpc>
                <a:spcPct val="150000"/>
              </a:lnSpc>
              <a:spcBef>
                <a:spcPts val="0"/>
              </a:spcBef>
              <a:spcAft>
                <a:spcPts val="0"/>
              </a:spcAft>
              <a:buClr>
                <a:srgbClr val="1C8256"/>
              </a:buClr>
              <a:buSzPts val="2800"/>
              <a:buFont typeface="Arial"/>
              <a:buChar char="•"/>
            </a:pPr>
            <a:r>
              <a:rPr b="1" lang="en-US" sz="2800">
                <a:solidFill>
                  <a:srgbClr val="1C8256"/>
                </a:solidFill>
                <a:latin typeface="Calibri"/>
                <a:ea typeface="Calibri"/>
                <a:cs typeface="Calibri"/>
                <a:sym typeface="Calibri"/>
              </a:rPr>
              <a:t>Control Unit </a:t>
            </a:r>
            <a:r>
              <a:rPr b="1" lang="en-US" sz="2800">
                <a:solidFill>
                  <a:schemeClr val="dk2"/>
                </a:solidFill>
                <a:latin typeface="Calibri"/>
                <a:ea typeface="Calibri"/>
                <a:cs typeface="Calibri"/>
                <a:sym typeface="Calibri"/>
              </a:rPr>
              <a:t>(CU)</a:t>
            </a:r>
            <a:r>
              <a:rPr lang="en-US" sz="2800">
                <a:solidFill>
                  <a:schemeClr val="dk2"/>
                </a:solidFill>
                <a:latin typeface="Calibri"/>
                <a:ea typeface="Calibri"/>
                <a:cs typeface="Calibri"/>
                <a:sym typeface="Calibri"/>
              </a:rPr>
              <a:t>: The CU </a:t>
            </a:r>
            <a:r>
              <a:rPr lang="en-US" sz="2800">
                <a:solidFill>
                  <a:srgbClr val="1C8256"/>
                </a:solidFill>
                <a:latin typeface="Calibri"/>
                <a:ea typeface="Calibri"/>
                <a:cs typeface="Calibri"/>
                <a:sym typeface="Calibri"/>
              </a:rPr>
              <a:t>directs the operations of the processor</a:t>
            </a:r>
            <a:r>
              <a:rPr lang="en-US" sz="2800">
                <a:solidFill>
                  <a:schemeClr val="dk2"/>
                </a:solidFill>
                <a:latin typeface="Calibri"/>
                <a:ea typeface="Calibri"/>
                <a:cs typeface="Calibri"/>
                <a:sym typeface="Calibri"/>
              </a:rPr>
              <a:t>. It tells the computer’s memory, ALU, and input/output devices </a:t>
            </a:r>
            <a:r>
              <a:rPr lang="en-US" sz="2800">
                <a:solidFill>
                  <a:srgbClr val="1C8256"/>
                </a:solidFill>
                <a:latin typeface="Calibri"/>
                <a:ea typeface="Calibri"/>
                <a:cs typeface="Calibri"/>
                <a:sym typeface="Calibri"/>
              </a:rPr>
              <a:t>how to respond to the instructions </a:t>
            </a:r>
            <a:r>
              <a:rPr lang="en-US" sz="2800">
                <a:solidFill>
                  <a:schemeClr val="dk2"/>
                </a:solidFill>
                <a:latin typeface="Calibri"/>
                <a:ea typeface="Calibri"/>
                <a:cs typeface="Calibri"/>
                <a:sym typeface="Calibri"/>
              </a:rPr>
              <a:t>that have been sent to the processor.</a:t>
            </a:r>
            <a:endParaRPr/>
          </a:p>
        </p:txBody>
      </p:sp>
      <p:sp>
        <p:nvSpPr>
          <p:cNvPr id="74" name="Google Shape;74;p10"/>
          <p:cNvSpPr txBox="1"/>
          <p:nvPr/>
        </p:nvSpPr>
        <p:spPr>
          <a:xfrm>
            <a:off x="11425624" y="4649525"/>
            <a:ext cx="5611092" cy="8940396"/>
          </a:xfrm>
          <a:prstGeom prst="rect">
            <a:avLst/>
          </a:prstGeom>
          <a:no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2400">
                <a:solidFill>
                  <a:schemeClr val="dk2"/>
                </a:solidFill>
                <a:latin typeface="Calibri"/>
                <a:ea typeface="Calibri"/>
                <a:cs typeface="Calibri"/>
                <a:sym typeface="Calibri"/>
              </a:rPr>
              <a:t>The </a:t>
            </a:r>
            <a:r>
              <a:rPr b="1" lang="en-US" sz="2400">
                <a:solidFill>
                  <a:srgbClr val="C00000"/>
                </a:solidFill>
                <a:latin typeface="Calibri"/>
                <a:ea typeface="Calibri"/>
                <a:cs typeface="Calibri"/>
                <a:sym typeface="Calibri"/>
              </a:rPr>
              <a:t>Role</a:t>
            </a:r>
            <a:r>
              <a:rPr b="1" lang="en-US" sz="2400">
                <a:solidFill>
                  <a:schemeClr val="dk2"/>
                </a:solidFill>
                <a:latin typeface="Calibri"/>
                <a:ea typeface="Calibri"/>
                <a:cs typeface="Calibri"/>
                <a:sym typeface="Calibri"/>
              </a:rPr>
              <a:t> in Processing Instructions and Controlling Other Components</a:t>
            </a:r>
            <a:endParaRPr sz="2400">
              <a:solidFill>
                <a:schemeClr val="dk2"/>
              </a:solidFill>
              <a:latin typeface="Calibri"/>
              <a:ea typeface="Calibri"/>
              <a:cs typeface="Calibri"/>
              <a:sym typeface="Calibri"/>
            </a:endParaRPr>
          </a:p>
          <a:p>
            <a:pPr indent="0" lvl="0" marL="0" marR="0" rtl="0" algn="l">
              <a:lnSpc>
                <a:spcPct val="150000"/>
              </a:lnSpc>
              <a:spcBef>
                <a:spcPts val="0"/>
              </a:spcBef>
              <a:spcAft>
                <a:spcPts val="0"/>
              </a:spcAft>
              <a:buNone/>
            </a:pPr>
            <a:r>
              <a:rPr b="1" lang="en-US" sz="2600">
                <a:solidFill>
                  <a:srgbClr val="C00000"/>
                </a:solidFill>
                <a:latin typeface="Calibri"/>
                <a:ea typeface="Calibri"/>
                <a:cs typeface="Calibri"/>
                <a:sym typeface="Calibri"/>
              </a:rPr>
              <a:t>Executing</a:t>
            </a:r>
            <a:r>
              <a:rPr b="1" lang="en-US" sz="2600">
                <a:solidFill>
                  <a:schemeClr val="dk2"/>
                </a:solidFill>
                <a:latin typeface="Calibri"/>
                <a:ea typeface="Calibri"/>
                <a:cs typeface="Calibri"/>
                <a:sym typeface="Calibri"/>
              </a:rPr>
              <a:t> Instructions</a:t>
            </a:r>
            <a:r>
              <a:rPr lang="en-US" sz="2600">
                <a:solidFill>
                  <a:schemeClr val="dk2"/>
                </a:solidFill>
                <a:latin typeface="Calibri"/>
                <a:ea typeface="Calibri"/>
                <a:cs typeface="Calibri"/>
                <a:sym typeface="Calibri"/>
              </a:rPr>
              <a:t>: The CPU </a:t>
            </a:r>
            <a:r>
              <a:rPr lang="en-US" sz="2600">
                <a:solidFill>
                  <a:srgbClr val="C00000"/>
                </a:solidFill>
                <a:latin typeface="Calibri"/>
                <a:ea typeface="Calibri"/>
                <a:cs typeface="Calibri"/>
                <a:sym typeface="Calibri"/>
              </a:rPr>
              <a:t>executes instructions </a:t>
            </a:r>
            <a:r>
              <a:rPr lang="en-US" sz="2600">
                <a:solidFill>
                  <a:schemeClr val="dk2"/>
                </a:solidFill>
                <a:latin typeface="Calibri"/>
                <a:ea typeface="Calibri"/>
                <a:cs typeface="Calibri"/>
                <a:sym typeface="Calibri"/>
              </a:rPr>
              <a:t>based on a cycle called the </a:t>
            </a:r>
            <a:r>
              <a:rPr b="1" lang="en-US" sz="2600">
                <a:solidFill>
                  <a:srgbClr val="C00000"/>
                </a:solidFill>
                <a:latin typeface="Calibri"/>
                <a:ea typeface="Calibri"/>
                <a:cs typeface="Calibri"/>
                <a:sym typeface="Calibri"/>
              </a:rPr>
              <a:t>fetch-decode-execute cycle</a:t>
            </a:r>
            <a:r>
              <a:rPr lang="en-US" sz="2600">
                <a:solidFill>
                  <a:schemeClr val="dk2"/>
                </a:solidFill>
                <a:latin typeface="Calibri"/>
                <a:ea typeface="Calibri"/>
                <a:cs typeface="Calibri"/>
                <a:sym typeface="Calibri"/>
              </a:rPr>
              <a:t>. It fetches the instruction from memory, decodes what the instruction means, and then executes it.</a:t>
            </a:r>
            <a:endParaRPr/>
          </a:p>
          <a:p>
            <a:pPr indent="0" lvl="0" marL="0" marR="0" rtl="0" algn="l">
              <a:lnSpc>
                <a:spcPct val="150000"/>
              </a:lnSpc>
              <a:spcBef>
                <a:spcPts val="0"/>
              </a:spcBef>
              <a:spcAft>
                <a:spcPts val="0"/>
              </a:spcAft>
              <a:buNone/>
            </a:pPr>
            <a:r>
              <a:rPr b="1" lang="en-US" sz="2600">
                <a:solidFill>
                  <a:srgbClr val="C00000"/>
                </a:solidFill>
                <a:latin typeface="Calibri"/>
                <a:ea typeface="Calibri"/>
                <a:cs typeface="Calibri"/>
                <a:sym typeface="Calibri"/>
              </a:rPr>
              <a:t>Controlling</a:t>
            </a:r>
            <a:r>
              <a:rPr b="1" lang="en-US" sz="2600">
                <a:solidFill>
                  <a:schemeClr val="dk2"/>
                </a:solidFill>
                <a:latin typeface="Calibri"/>
                <a:ea typeface="Calibri"/>
                <a:cs typeface="Calibri"/>
                <a:sym typeface="Calibri"/>
              </a:rPr>
              <a:t> Other Components</a:t>
            </a:r>
            <a:r>
              <a:rPr lang="en-US" sz="2600">
                <a:solidFill>
                  <a:schemeClr val="dk2"/>
                </a:solidFill>
                <a:latin typeface="Calibri"/>
                <a:ea typeface="Calibri"/>
                <a:cs typeface="Calibri"/>
                <a:sym typeface="Calibri"/>
              </a:rPr>
              <a:t>: The CPU </a:t>
            </a:r>
            <a:r>
              <a:rPr lang="en-US" sz="2600">
                <a:solidFill>
                  <a:srgbClr val="C00000"/>
                </a:solidFill>
                <a:latin typeface="Calibri"/>
                <a:ea typeface="Calibri"/>
                <a:cs typeface="Calibri"/>
                <a:sym typeface="Calibri"/>
              </a:rPr>
              <a:t>communicates with other parts of the computer</a:t>
            </a:r>
            <a:r>
              <a:rPr lang="en-US" sz="2600">
                <a:solidFill>
                  <a:schemeClr val="dk2"/>
                </a:solidFill>
                <a:latin typeface="Calibri"/>
                <a:ea typeface="Calibri"/>
                <a:cs typeface="Calibri"/>
                <a:sym typeface="Calibri"/>
              </a:rPr>
              <a:t>, like memory, input devices, and output devices. It sends and receives the necessary information to and from these components to carry out tasks.</a:t>
            </a:r>
            <a:endParaRPr/>
          </a:p>
        </p:txBody>
      </p:sp>
    </p:spTree>
  </p:cSld>
  <p:clrMapOvr>
    <a:masterClrMapping/>
  </p:clrMapOvr>
  <p:transition spd="slow">
    <p:push/>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9"/>
                                        </p:tgtEl>
                                        <p:attrNameLst>
                                          <p:attrName>style.visibility</p:attrName>
                                        </p:attrNameLst>
                                      </p:cBhvr>
                                      <p:to>
                                        <p:strVal val="visible"/>
                                      </p:to>
                                    </p:set>
                                    <p:animEffect filter="fade" transition="in">
                                      <p:cBhvr>
                                        <p:cTn dur="500"/>
                                        <p:tgtEl>
                                          <p:spTgt spid="6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
                                        </p:tgtEl>
                                        <p:attrNameLst>
                                          <p:attrName>style.visibility</p:attrName>
                                        </p:attrNameLst>
                                      </p:cBhvr>
                                      <p:to>
                                        <p:strVal val="visible"/>
                                      </p:to>
                                    </p:set>
                                    <p:animEffect filter="fade" transition="in">
                                      <p:cBhvr>
                                        <p:cTn dur="500"/>
                                        <p:tgtEl>
                                          <p:spTgt spid="7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3"/>
                                        </p:tgtEl>
                                        <p:attrNameLst>
                                          <p:attrName>style.visibility</p:attrName>
                                        </p:attrNameLst>
                                      </p:cBhvr>
                                      <p:to>
                                        <p:strVal val="visible"/>
                                      </p:to>
                                    </p:set>
                                    <p:animEffect filter="fade" transition="in">
                                      <p:cBhvr>
                                        <p:cTn dur="500"/>
                                        <p:tgtEl>
                                          <p:spTgt spid="7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4"/>
                                        </p:tgtEl>
                                        <p:attrNameLst>
                                          <p:attrName>style.visibility</p:attrName>
                                        </p:attrNameLst>
                                      </p:cBhvr>
                                      <p:to>
                                        <p:strVal val="visible"/>
                                      </p:to>
                                    </p:set>
                                    <p:animEffect filter="fade" transition="in">
                                      <p:cBhvr>
                                        <p:cTn dur="500"/>
                                        <p:tgtEl>
                                          <p:spTgt spid="7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1"/>
          <p:cNvSpPr txBox="1"/>
          <p:nvPr/>
        </p:nvSpPr>
        <p:spPr>
          <a:xfrm>
            <a:off x="775482" y="271626"/>
            <a:ext cx="19257964" cy="132343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8000">
                <a:solidFill>
                  <a:schemeClr val="dk2"/>
                </a:solidFill>
                <a:latin typeface="Poppins"/>
                <a:ea typeface="Poppins"/>
                <a:cs typeface="Poppins"/>
                <a:sym typeface="Poppins"/>
              </a:rPr>
              <a:t>CPU Application &amp; Understanding Processors</a:t>
            </a:r>
            <a:endParaRPr/>
          </a:p>
        </p:txBody>
      </p:sp>
      <p:grpSp>
        <p:nvGrpSpPr>
          <p:cNvPr id="80" name="Google Shape;80;p11"/>
          <p:cNvGrpSpPr/>
          <p:nvPr/>
        </p:nvGrpSpPr>
        <p:grpSpPr>
          <a:xfrm>
            <a:off x="279169" y="2661290"/>
            <a:ext cx="15385947" cy="5176599"/>
            <a:chOff x="7245939" y="7953814"/>
            <a:chExt cx="13204684" cy="2384558"/>
          </a:xfrm>
        </p:grpSpPr>
        <p:sp>
          <p:nvSpPr>
            <p:cNvPr id="81" name="Google Shape;81;p11"/>
            <p:cNvSpPr/>
            <p:nvPr/>
          </p:nvSpPr>
          <p:spPr>
            <a:xfrm>
              <a:off x="8292491" y="8007402"/>
              <a:ext cx="12158132" cy="2305772"/>
            </a:xfrm>
            <a:prstGeom prst="roundRect">
              <a:avLst>
                <a:gd fmla="val 16667" name="adj"/>
              </a:avLst>
            </a:prstGeom>
            <a:solidFill>
              <a:schemeClr val="accent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2">
                <a:solidFill>
                  <a:schemeClr val="dk1"/>
                </a:solidFill>
                <a:latin typeface="Calibri"/>
                <a:ea typeface="Calibri"/>
                <a:cs typeface="Calibri"/>
                <a:sym typeface="Calibri"/>
              </a:endParaRPr>
            </a:p>
          </p:txBody>
        </p:sp>
        <p:sp>
          <p:nvSpPr>
            <p:cNvPr id="82" name="Google Shape;82;p11"/>
            <p:cNvSpPr/>
            <p:nvPr/>
          </p:nvSpPr>
          <p:spPr>
            <a:xfrm>
              <a:off x="7698436" y="8032600"/>
              <a:ext cx="2289841" cy="2280574"/>
            </a:xfrm>
            <a:custGeom>
              <a:rect b="b" l="l" r="r" t="t"/>
              <a:pathLst>
                <a:path extrusionOk="0" h="3296" w="3506">
                  <a:moveTo>
                    <a:pt x="2923" y="0"/>
                  </a:moveTo>
                  <a:lnTo>
                    <a:pt x="594" y="0"/>
                  </a:lnTo>
                  <a:lnTo>
                    <a:pt x="594" y="0"/>
                  </a:lnTo>
                  <a:cubicBezTo>
                    <a:pt x="266" y="0"/>
                    <a:pt x="0" y="266"/>
                    <a:pt x="0" y="594"/>
                  </a:cubicBezTo>
                  <a:lnTo>
                    <a:pt x="0" y="2702"/>
                  </a:lnTo>
                  <a:lnTo>
                    <a:pt x="0" y="2702"/>
                  </a:lnTo>
                  <a:cubicBezTo>
                    <a:pt x="0" y="3029"/>
                    <a:pt x="266" y="3295"/>
                    <a:pt x="594" y="3295"/>
                  </a:cubicBezTo>
                  <a:lnTo>
                    <a:pt x="2902" y="3295"/>
                  </a:lnTo>
                  <a:lnTo>
                    <a:pt x="2902" y="3295"/>
                  </a:lnTo>
                  <a:cubicBezTo>
                    <a:pt x="3279" y="2846"/>
                    <a:pt x="3505" y="2267"/>
                    <a:pt x="3505" y="1635"/>
                  </a:cubicBezTo>
                  <a:lnTo>
                    <a:pt x="3505" y="1635"/>
                  </a:lnTo>
                  <a:cubicBezTo>
                    <a:pt x="3505" y="1015"/>
                    <a:pt x="3287" y="446"/>
                    <a:pt x="2923" y="0"/>
                  </a:cubicBezTo>
                </a:path>
              </a:pathLst>
            </a:custGeom>
            <a:solidFill>
              <a:srgbClr val="1B0E00">
                <a:alpha val="9804"/>
              </a:srgbClr>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2">
                <a:solidFill>
                  <a:schemeClr val="dk1"/>
                </a:solidFill>
                <a:latin typeface="Calibri"/>
                <a:ea typeface="Calibri"/>
                <a:cs typeface="Calibri"/>
                <a:sym typeface="Calibri"/>
              </a:endParaRPr>
            </a:p>
          </p:txBody>
        </p:sp>
        <p:sp>
          <p:nvSpPr>
            <p:cNvPr id="83" name="Google Shape;83;p11"/>
            <p:cNvSpPr/>
            <p:nvPr/>
          </p:nvSpPr>
          <p:spPr>
            <a:xfrm>
              <a:off x="7245939" y="7953814"/>
              <a:ext cx="2543308" cy="2384558"/>
            </a:xfrm>
            <a:custGeom>
              <a:rect b="b" l="l" r="r" t="t"/>
              <a:pathLst>
                <a:path extrusionOk="0" h="3893" w="3895">
                  <a:moveTo>
                    <a:pt x="3894" y="1946"/>
                  </a:moveTo>
                  <a:lnTo>
                    <a:pt x="3894" y="1946"/>
                  </a:lnTo>
                  <a:cubicBezTo>
                    <a:pt x="3894" y="3021"/>
                    <a:pt x="3022" y="3892"/>
                    <a:pt x="1947" y="3892"/>
                  </a:cubicBezTo>
                  <a:lnTo>
                    <a:pt x="1947" y="3892"/>
                  </a:lnTo>
                  <a:cubicBezTo>
                    <a:pt x="872" y="3892"/>
                    <a:pt x="0" y="3021"/>
                    <a:pt x="0" y="1946"/>
                  </a:cubicBezTo>
                  <a:lnTo>
                    <a:pt x="0" y="1946"/>
                  </a:lnTo>
                  <a:cubicBezTo>
                    <a:pt x="0" y="871"/>
                    <a:pt x="872" y="0"/>
                    <a:pt x="1947" y="0"/>
                  </a:cubicBezTo>
                  <a:lnTo>
                    <a:pt x="1947" y="0"/>
                  </a:lnTo>
                  <a:cubicBezTo>
                    <a:pt x="3022" y="0"/>
                    <a:pt x="3894" y="871"/>
                    <a:pt x="3894" y="1946"/>
                  </a:cubicBezTo>
                </a:path>
              </a:pathLst>
            </a:custGeom>
            <a:solidFill>
              <a:schemeClr val="accent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2">
                <a:solidFill>
                  <a:schemeClr val="dk1"/>
                </a:solidFill>
                <a:latin typeface="Calibri"/>
                <a:ea typeface="Calibri"/>
                <a:cs typeface="Calibri"/>
                <a:sym typeface="Calibri"/>
              </a:endParaRPr>
            </a:p>
          </p:txBody>
        </p:sp>
      </p:grpSp>
      <p:sp>
        <p:nvSpPr>
          <p:cNvPr id="84" name="Google Shape;84;p11"/>
          <p:cNvSpPr txBox="1"/>
          <p:nvPr/>
        </p:nvSpPr>
        <p:spPr>
          <a:xfrm>
            <a:off x="3665364" y="2801911"/>
            <a:ext cx="11822721" cy="4789324"/>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4400"/>
              <a:buFont typeface="Arial"/>
              <a:buNone/>
            </a:pPr>
            <a:r>
              <a:rPr b="1" lang="en-US" sz="4400">
                <a:solidFill>
                  <a:schemeClr val="dk2"/>
                </a:solidFill>
                <a:latin typeface="Calibri"/>
                <a:ea typeface="Calibri"/>
                <a:cs typeface="Calibri"/>
                <a:sym typeface="Calibri"/>
              </a:rPr>
              <a:t>Application Activity</a:t>
            </a:r>
            <a:endParaRPr/>
          </a:p>
          <a:p>
            <a:pPr indent="-742950" lvl="0" marL="742950" marR="0" rtl="0" algn="l">
              <a:lnSpc>
                <a:spcPct val="150000"/>
              </a:lnSpc>
              <a:spcBef>
                <a:spcPts val="720"/>
              </a:spcBef>
              <a:spcAft>
                <a:spcPts val="0"/>
              </a:spcAft>
              <a:buClr>
                <a:schemeClr val="dk2"/>
              </a:buClr>
              <a:buSzPts val="3600"/>
              <a:buFont typeface="Calibri"/>
              <a:buAutoNum type="arabicPeriod"/>
            </a:pPr>
            <a:r>
              <a:rPr b="1" lang="en-US" sz="3600">
                <a:solidFill>
                  <a:schemeClr val="dk2"/>
                </a:solidFill>
                <a:latin typeface="Calibri"/>
                <a:ea typeface="Calibri"/>
                <a:cs typeface="Calibri"/>
                <a:sym typeface="Calibri"/>
              </a:rPr>
              <a:t>Take </a:t>
            </a:r>
            <a:r>
              <a:rPr lang="en-US" sz="3600">
                <a:solidFill>
                  <a:schemeClr val="dk2"/>
                </a:solidFill>
                <a:latin typeface="Calibri"/>
                <a:ea typeface="Calibri"/>
                <a:cs typeface="Calibri"/>
                <a:sym typeface="Calibri"/>
              </a:rPr>
              <a:t>the sheet titled ‘</a:t>
            </a:r>
            <a:r>
              <a:rPr lang="en-US" sz="3600">
                <a:solidFill>
                  <a:srgbClr val="7030A0"/>
                </a:solidFill>
                <a:latin typeface="Calibri"/>
                <a:ea typeface="Calibri"/>
                <a:cs typeface="Calibri"/>
                <a:sym typeface="Calibri"/>
              </a:rPr>
              <a:t>CPU Graphic Organiser</a:t>
            </a:r>
            <a:r>
              <a:rPr lang="en-US" sz="3600">
                <a:solidFill>
                  <a:schemeClr val="dk2"/>
                </a:solidFill>
                <a:latin typeface="Calibri"/>
                <a:ea typeface="Calibri"/>
                <a:cs typeface="Calibri"/>
                <a:sym typeface="Calibri"/>
              </a:rPr>
              <a:t>’</a:t>
            </a:r>
            <a:endParaRPr/>
          </a:p>
          <a:p>
            <a:pPr indent="-742950" lvl="0" marL="742950" marR="0" rtl="0" algn="l">
              <a:lnSpc>
                <a:spcPct val="150000"/>
              </a:lnSpc>
              <a:spcBef>
                <a:spcPts val="720"/>
              </a:spcBef>
              <a:spcAft>
                <a:spcPts val="0"/>
              </a:spcAft>
              <a:buClr>
                <a:schemeClr val="dk2"/>
              </a:buClr>
              <a:buSzPts val="3600"/>
              <a:buFont typeface="Calibri"/>
              <a:buAutoNum type="arabicPeriod"/>
            </a:pPr>
            <a:r>
              <a:rPr b="1" lang="en-US" sz="3600">
                <a:solidFill>
                  <a:schemeClr val="dk2"/>
                </a:solidFill>
                <a:latin typeface="Open Sans Light"/>
                <a:ea typeface="Open Sans Light"/>
                <a:cs typeface="Open Sans Light"/>
                <a:sym typeface="Open Sans Light"/>
              </a:rPr>
              <a:t>Stick </a:t>
            </a:r>
            <a:r>
              <a:rPr lang="en-US" sz="3600">
                <a:solidFill>
                  <a:schemeClr val="dk2"/>
                </a:solidFill>
                <a:latin typeface="Open Sans Light"/>
                <a:ea typeface="Open Sans Light"/>
                <a:cs typeface="Open Sans Light"/>
                <a:sym typeface="Open Sans Light"/>
              </a:rPr>
              <a:t>the sheet in your </a:t>
            </a:r>
            <a:r>
              <a:rPr lang="en-US" sz="3600">
                <a:solidFill>
                  <a:srgbClr val="7030A0"/>
                </a:solidFill>
                <a:latin typeface="Open Sans Light"/>
                <a:ea typeface="Open Sans Light"/>
                <a:cs typeface="Open Sans Light"/>
                <a:sym typeface="Open Sans Light"/>
              </a:rPr>
              <a:t>workbooks</a:t>
            </a:r>
            <a:r>
              <a:rPr lang="en-US" sz="3600">
                <a:solidFill>
                  <a:schemeClr val="dk2"/>
                </a:solidFill>
                <a:latin typeface="Calibri"/>
                <a:ea typeface="Calibri"/>
                <a:cs typeface="Calibri"/>
                <a:sym typeface="Calibri"/>
              </a:rPr>
              <a:t> </a:t>
            </a:r>
            <a:endParaRPr/>
          </a:p>
          <a:p>
            <a:pPr indent="-742950" lvl="0" marL="742950" marR="0" rtl="0" algn="l">
              <a:lnSpc>
                <a:spcPct val="150000"/>
              </a:lnSpc>
              <a:spcBef>
                <a:spcPts val="720"/>
              </a:spcBef>
              <a:spcAft>
                <a:spcPts val="0"/>
              </a:spcAft>
              <a:buClr>
                <a:schemeClr val="dk2"/>
              </a:buClr>
              <a:buSzPts val="3600"/>
              <a:buFont typeface="Calibri"/>
              <a:buAutoNum type="arabicPeriod"/>
            </a:pPr>
            <a:r>
              <a:rPr b="1" lang="en-US" sz="3600">
                <a:solidFill>
                  <a:schemeClr val="dk2"/>
                </a:solidFill>
                <a:latin typeface="Calibri"/>
                <a:ea typeface="Calibri"/>
                <a:cs typeface="Calibri"/>
                <a:sym typeface="Calibri"/>
              </a:rPr>
              <a:t>Complete </a:t>
            </a:r>
            <a:r>
              <a:rPr lang="en-US" sz="3600">
                <a:solidFill>
                  <a:schemeClr val="dk2"/>
                </a:solidFill>
                <a:latin typeface="Calibri"/>
                <a:ea typeface="Calibri"/>
                <a:cs typeface="Calibri"/>
                <a:sym typeface="Calibri"/>
              </a:rPr>
              <a:t>the ‘What are two functions of the CPU’ section</a:t>
            </a:r>
            <a:endParaRPr/>
          </a:p>
          <a:p>
            <a:pPr indent="-742950" lvl="0" marL="742950" marR="0" rtl="0" algn="l">
              <a:lnSpc>
                <a:spcPct val="150000"/>
              </a:lnSpc>
              <a:spcBef>
                <a:spcPts val="720"/>
              </a:spcBef>
              <a:spcAft>
                <a:spcPts val="0"/>
              </a:spcAft>
              <a:buClr>
                <a:schemeClr val="dk2"/>
              </a:buClr>
              <a:buSzPts val="3600"/>
              <a:buFont typeface="Calibri"/>
              <a:buAutoNum type="arabicPeriod"/>
            </a:pPr>
            <a:r>
              <a:rPr b="1" lang="en-US" sz="3600">
                <a:solidFill>
                  <a:schemeClr val="dk2"/>
                </a:solidFill>
                <a:latin typeface="Open Sans Light"/>
                <a:ea typeface="Open Sans Light"/>
                <a:cs typeface="Open Sans Light"/>
                <a:sym typeface="Open Sans Light"/>
              </a:rPr>
              <a:t>Complete </a:t>
            </a:r>
            <a:r>
              <a:rPr lang="en-US" sz="3600">
                <a:solidFill>
                  <a:schemeClr val="dk2"/>
                </a:solidFill>
                <a:latin typeface="Open Sans Light"/>
                <a:ea typeface="Open Sans Light"/>
                <a:cs typeface="Open Sans Light"/>
                <a:sym typeface="Open Sans Light"/>
              </a:rPr>
              <a:t>the ‘CU’ and ‘ALU’ sections</a:t>
            </a:r>
            <a:endParaRPr/>
          </a:p>
        </p:txBody>
      </p:sp>
      <p:sp>
        <p:nvSpPr>
          <p:cNvPr id="85" name="Google Shape;85;p11"/>
          <p:cNvSpPr/>
          <p:nvPr/>
        </p:nvSpPr>
        <p:spPr>
          <a:xfrm>
            <a:off x="1229175" y="4295512"/>
            <a:ext cx="1063419" cy="1848904"/>
          </a:xfrm>
          <a:custGeom>
            <a:rect b="b" l="l" r="r" t="t"/>
            <a:pathLst>
              <a:path extrusionOk="0" h="283803" w="285387">
                <a:moveTo>
                  <a:pt x="273766" y="243567"/>
                </a:moveTo>
                <a:lnTo>
                  <a:pt x="242171" y="243927"/>
                </a:lnTo>
                <a:lnTo>
                  <a:pt x="258150" y="270870"/>
                </a:lnTo>
                <a:lnTo>
                  <a:pt x="273766" y="243567"/>
                </a:lnTo>
                <a:close/>
                <a:moveTo>
                  <a:pt x="84891" y="230187"/>
                </a:moveTo>
                <a:lnTo>
                  <a:pt x="147757" y="230187"/>
                </a:lnTo>
                <a:cubicBezTo>
                  <a:pt x="149900" y="230187"/>
                  <a:pt x="152043" y="232092"/>
                  <a:pt x="152043" y="234378"/>
                </a:cubicBezTo>
                <a:cubicBezTo>
                  <a:pt x="152043" y="237045"/>
                  <a:pt x="149900" y="239331"/>
                  <a:pt x="147757" y="239331"/>
                </a:cubicBezTo>
                <a:lnTo>
                  <a:pt x="84891" y="239331"/>
                </a:lnTo>
                <a:cubicBezTo>
                  <a:pt x="82748" y="239331"/>
                  <a:pt x="80962" y="237045"/>
                  <a:pt x="80962" y="234378"/>
                </a:cubicBezTo>
                <a:cubicBezTo>
                  <a:pt x="80962" y="232092"/>
                  <a:pt x="82748" y="230187"/>
                  <a:pt x="84891" y="230187"/>
                </a:cubicBezTo>
                <a:close/>
                <a:moveTo>
                  <a:pt x="47443" y="208734"/>
                </a:moveTo>
                <a:cubicBezTo>
                  <a:pt x="41638" y="208734"/>
                  <a:pt x="37283" y="213088"/>
                  <a:pt x="37283" y="218531"/>
                </a:cubicBezTo>
                <a:cubicBezTo>
                  <a:pt x="37283" y="224336"/>
                  <a:pt x="41638" y="229054"/>
                  <a:pt x="47443" y="229054"/>
                </a:cubicBezTo>
                <a:cubicBezTo>
                  <a:pt x="52886" y="229054"/>
                  <a:pt x="57603" y="224336"/>
                  <a:pt x="57603" y="218531"/>
                </a:cubicBezTo>
                <a:cubicBezTo>
                  <a:pt x="57603" y="213088"/>
                  <a:pt x="52886" y="208734"/>
                  <a:pt x="47443" y="208734"/>
                </a:cubicBezTo>
                <a:close/>
                <a:moveTo>
                  <a:pt x="131358" y="200025"/>
                </a:moveTo>
                <a:lnTo>
                  <a:pt x="177841" y="200025"/>
                </a:lnTo>
                <a:cubicBezTo>
                  <a:pt x="180020" y="200025"/>
                  <a:pt x="182199" y="201930"/>
                  <a:pt x="182199" y="204597"/>
                </a:cubicBezTo>
                <a:cubicBezTo>
                  <a:pt x="182199" y="207264"/>
                  <a:pt x="180020" y="209169"/>
                  <a:pt x="177841" y="209169"/>
                </a:cubicBezTo>
                <a:lnTo>
                  <a:pt x="131358" y="209169"/>
                </a:lnTo>
                <a:cubicBezTo>
                  <a:pt x="128816" y="209169"/>
                  <a:pt x="127000" y="207264"/>
                  <a:pt x="127000" y="204597"/>
                </a:cubicBezTo>
                <a:cubicBezTo>
                  <a:pt x="127000" y="201930"/>
                  <a:pt x="128816" y="200025"/>
                  <a:pt x="131358" y="200025"/>
                </a:cubicBezTo>
                <a:close/>
                <a:moveTo>
                  <a:pt x="84931" y="200025"/>
                </a:moveTo>
                <a:lnTo>
                  <a:pt x="108022" y="200025"/>
                </a:lnTo>
                <a:cubicBezTo>
                  <a:pt x="110547" y="200025"/>
                  <a:pt x="112351" y="201930"/>
                  <a:pt x="112351" y="204597"/>
                </a:cubicBezTo>
                <a:cubicBezTo>
                  <a:pt x="112351" y="207264"/>
                  <a:pt x="110547" y="209169"/>
                  <a:pt x="108022" y="209169"/>
                </a:cubicBezTo>
                <a:lnTo>
                  <a:pt x="84931" y="209169"/>
                </a:lnTo>
                <a:cubicBezTo>
                  <a:pt x="82766" y="209169"/>
                  <a:pt x="80962" y="207264"/>
                  <a:pt x="80962" y="204597"/>
                </a:cubicBezTo>
                <a:cubicBezTo>
                  <a:pt x="80962" y="201930"/>
                  <a:pt x="82766" y="200025"/>
                  <a:pt x="84931" y="200025"/>
                </a:cubicBezTo>
                <a:close/>
                <a:moveTo>
                  <a:pt x="47443" y="200025"/>
                </a:moveTo>
                <a:cubicBezTo>
                  <a:pt x="57603" y="200025"/>
                  <a:pt x="66312" y="208371"/>
                  <a:pt x="66312" y="218531"/>
                </a:cubicBezTo>
                <a:cubicBezTo>
                  <a:pt x="66312" y="229054"/>
                  <a:pt x="57603" y="237762"/>
                  <a:pt x="47443" y="237762"/>
                </a:cubicBezTo>
                <a:cubicBezTo>
                  <a:pt x="36920" y="237762"/>
                  <a:pt x="28575" y="229054"/>
                  <a:pt x="28575" y="218531"/>
                </a:cubicBezTo>
                <a:cubicBezTo>
                  <a:pt x="28575" y="208371"/>
                  <a:pt x="36920" y="200025"/>
                  <a:pt x="47443" y="200025"/>
                </a:cubicBezTo>
                <a:close/>
                <a:moveTo>
                  <a:pt x="153506" y="171450"/>
                </a:moveTo>
                <a:lnTo>
                  <a:pt x="176338" y="171450"/>
                </a:lnTo>
                <a:cubicBezTo>
                  <a:pt x="178478" y="171450"/>
                  <a:pt x="180619" y="173355"/>
                  <a:pt x="180619" y="176022"/>
                </a:cubicBezTo>
                <a:cubicBezTo>
                  <a:pt x="180619" y="178689"/>
                  <a:pt x="178478" y="180594"/>
                  <a:pt x="176338" y="180594"/>
                </a:cubicBezTo>
                <a:lnTo>
                  <a:pt x="153506" y="180594"/>
                </a:lnTo>
                <a:cubicBezTo>
                  <a:pt x="151009" y="180594"/>
                  <a:pt x="149225" y="178689"/>
                  <a:pt x="149225" y="176022"/>
                </a:cubicBezTo>
                <a:cubicBezTo>
                  <a:pt x="149225" y="173355"/>
                  <a:pt x="151009" y="171450"/>
                  <a:pt x="153506" y="171450"/>
                </a:cubicBezTo>
                <a:close/>
                <a:moveTo>
                  <a:pt x="84868" y="171450"/>
                </a:moveTo>
                <a:lnTo>
                  <a:pt x="130321" y="171450"/>
                </a:lnTo>
                <a:cubicBezTo>
                  <a:pt x="132807" y="171450"/>
                  <a:pt x="134582" y="173355"/>
                  <a:pt x="134582" y="176022"/>
                </a:cubicBezTo>
                <a:cubicBezTo>
                  <a:pt x="134582" y="178689"/>
                  <a:pt x="132807" y="180594"/>
                  <a:pt x="130321" y="180594"/>
                </a:cubicBezTo>
                <a:lnTo>
                  <a:pt x="84868" y="180594"/>
                </a:lnTo>
                <a:cubicBezTo>
                  <a:pt x="82738" y="180594"/>
                  <a:pt x="80962" y="178689"/>
                  <a:pt x="80962" y="176022"/>
                </a:cubicBezTo>
                <a:cubicBezTo>
                  <a:pt x="80962" y="173355"/>
                  <a:pt x="82738" y="171450"/>
                  <a:pt x="84868" y="171450"/>
                </a:cubicBezTo>
                <a:close/>
                <a:moveTo>
                  <a:pt x="47443" y="151584"/>
                </a:moveTo>
                <a:cubicBezTo>
                  <a:pt x="41638" y="151584"/>
                  <a:pt x="37283" y="155938"/>
                  <a:pt x="37283" y="161744"/>
                </a:cubicBezTo>
                <a:cubicBezTo>
                  <a:pt x="37283" y="167549"/>
                  <a:pt x="41638" y="171904"/>
                  <a:pt x="47443" y="171904"/>
                </a:cubicBezTo>
                <a:cubicBezTo>
                  <a:pt x="52886" y="171904"/>
                  <a:pt x="57603" y="167549"/>
                  <a:pt x="57603" y="161744"/>
                </a:cubicBezTo>
                <a:cubicBezTo>
                  <a:pt x="57603" y="155938"/>
                  <a:pt x="52886" y="151584"/>
                  <a:pt x="47443" y="151584"/>
                </a:cubicBezTo>
                <a:close/>
                <a:moveTo>
                  <a:pt x="131358" y="142875"/>
                </a:moveTo>
                <a:lnTo>
                  <a:pt x="177841" y="142875"/>
                </a:lnTo>
                <a:cubicBezTo>
                  <a:pt x="180020" y="142875"/>
                  <a:pt x="182199" y="145161"/>
                  <a:pt x="182199" y="147447"/>
                </a:cubicBezTo>
                <a:cubicBezTo>
                  <a:pt x="182199" y="150114"/>
                  <a:pt x="180020" y="152019"/>
                  <a:pt x="177841" y="152019"/>
                </a:cubicBezTo>
                <a:lnTo>
                  <a:pt x="131358" y="152019"/>
                </a:lnTo>
                <a:cubicBezTo>
                  <a:pt x="128816" y="152019"/>
                  <a:pt x="127000" y="150114"/>
                  <a:pt x="127000" y="147447"/>
                </a:cubicBezTo>
                <a:cubicBezTo>
                  <a:pt x="127000" y="145161"/>
                  <a:pt x="128816" y="142875"/>
                  <a:pt x="131358" y="142875"/>
                </a:cubicBezTo>
                <a:close/>
                <a:moveTo>
                  <a:pt x="84931" y="142875"/>
                </a:moveTo>
                <a:lnTo>
                  <a:pt x="108022" y="142875"/>
                </a:lnTo>
                <a:cubicBezTo>
                  <a:pt x="110547" y="142875"/>
                  <a:pt x="112351" y="145161"/>
                  <a:pt x="112351" y="147447"/>
                </a:cubicBezTo>
                <a:cubicBezTo>
                  <a:pt x="112351" y="150114"/>
                  <a:pt x="110547" y="152019"/>
                  <a:pt x="108022" y="152019"/>
                </a:cubicBezTo>
                <a:lnTo>
                  <a:pt x="84931" y="152019"/>
                </a:lnTo>
                <a:cubicBezTo>
                  <a:pt x="82766" y="152019"/>
                  <a:pt x="80962" y="150114"/>
                  <a:pt x="80962" y="147447"/>
                </a:cubicBezTo>
                <a:cubicBezTo>
                  <a:pt x="80962" y="145161"/>
                  <a:pt x="82766" y="142875"/>
                  <a:pt x="84931" y="142875"/>
                </a:cubicBezTo>
                <a:close/>
                <a:moveTo>
                  <a:pt x="47443" y="142875"/>
                </a:moveTo>
                <a:cubicBezTo>
                  <a:pt x="57603" y="142875"/>
                  <a:pt x="66312" y="151221"/>
                  <a:pt x="66312" y="161744"/>
                </a:cubicBezTo>
                <a:cubicBezTo>
                  <a:pt x="66312" y="171904"/>
                  <a:pt x="57603" y="180612"/>
                  <a:pt x="47443" y="180612"/>
                </a:cubicBezTo>
                <a:cubicBezTo>
                  <a:pt x="36920" y="180612"/>
                  <a:pt x="28575" y="171904"/>
                  <a:pt x="28575" y="161744"/>
                </a:cubicBezTo>
                <a:cubicBezTo>
                  <a:pt x="28575" y="151221"/>
                  <a:pt x="36920" y="142875"/>
                  <a:pt x="47443" y="142875"/>
                </a:cubicBezTo>
                <a:close/>
                <a:moveTo>
                  <a:pt x="84943" y="114300"/>
                </a:moveTo>
                <a:lnTo>
                  <a:pt x="125471" y="114300"/>
                </a:lnTo>
                <a:cubicBezTo>
                  <a:pt x="128004" y="114300"/>
                  <a:pt x="129813" y="115954"/>
                  <a:pt x="129813" y="117938"/>
                </a:cubicBezTo>
                <a:cubicBezTo>
                  <a:pt x="129813" y="120253"/>
                  <a:pt x="128004" y="121906"/>
                  <a:pt x="125471" y="121906"/>
                </a:cubicBezTo>
                <a:lnTo>
                  <a:pt x="84943" y="121906"/>
                </a:lnTo>
                <a:cubicBezTo>
                  <a:pt x="82772" y="121906"/>
                  <a:pt x="80962" y="120253"/>
                  <a:pt x="80962" y="117938"/>
                </a:cubicBezTo>
                <a:cubicBezTo>
                  <a:pt x="80962" y="115954"/>
                  <a:pt x="82772" y="114300"/>
                  <a:pt x="84943" y="114300"/>
                </a:cubicBezTo>
                <a:close/>
                <a:moveTo>
                  <a:pt x="47443" y="94151"/>
                </a:moveTo>
                <a:cubicBezTo>
                  <a:pt x="41638" y="94151"/>
                  <a:pt x="37283" y="98913"/>
                  <a:pt x="37283" y="104409"/>
                </a:cubicBezTo>
                <a:cubicBezTo>
                  <a:pt x="37283" y="110270"/>
                  <a:pt x="41638" y="115033"/>
                  <a:pt x="47443" y="115033"/>
                </a:cubicBezTo>
                <a:cubicBezTo>
                  <a:pt x="52886" y="115033"/>
                  <a:pt x="57603" y="110270"/>
                  <a:pt x="57603" y="104409"/>
                </a:cubicBezTo>
                <a:cubicBezTo>
                  <a:pt x="57603" y="98913"/>
                  <a:pt x="52886" y="94151"/>
                  <a:pt x="47443" y="94151"/>
                </a:cubicBezTo>
                <a:close/>
                <a:moveTo>
                  <a:pt x="160011" y="85725"/>
                </a:moveTo>
                <a:lnTo>
                  <a:pt x="177756" y="85725"/>
                </a:lnTo>
                <a:cubicBezTo>
                  <a:pt x="179974" y="85725"/>
                  <a:pt x="182193" y="87379"/>
                  <a:pt x="182193" y="89693"/>
                </a:cubicBezTo>
                <a:cubicBezTo>
                  <a:pt x="182193" y="91678"/>
                  <a:pt x="179974" y="93331"/>
                  <a:pt x="177756" y="93331"/>
                </a:cubicBezTo>
                <a:lnTo>
                  <a:pt x="160011" y="93331"/>
                </a:lnTo>
                <a:cubicBezTo>
                  <a:pt x="157424" y="93331"/>
                  <a:pt x="155575" y="91678"/>
                  <a:pt x="155575" y="89693"/>
                </a:cubicBezTo>
                <a:cubicBezTo>
                  <a:pt x="155575" y="87379"/>
                  <a:pt x="157424" y="85725"/>
                  <a:pt x="160011" y="85725"/>
                </a:cubicBezTo>
                <a:close/>
                <a:moveTo>
                  <a:pt x="84912" y="85725"/>
                </a:moveTo>
                <a:lnTo>
                  <a:pt x="136619" y="85725"/>
                </a:lnTo>
                <a:cubicBezTo>
                  <a:pt x="139133" y="85725"/>
                  <a:pt x="140928" y="87379"/>
                  <a:pt x="140928" y="89693"/>
                </a:cubicBezTo>
                <a:cubicBezTo>
                  <a:pt x="140928" y="91678"/>
                  <a:pt x="139133" y="93331"/>
                  <a:pt x="136619" y="93331"/>
                </a:cubicBezTo>
                <a:lnTo>
                  <a:pt x="84912" y="93331"/>
                </a:lnTo>
                <a:cubicBezTo>
                  <a:pt x="82758" y="93331"/>
                  <a:pt x="80962" y="91678"/>
                  <a:pt x="80962" y="89693"/>
                </a:cubicBezTo>
                <a:cubicBezTo>
                  <a:pt x="80962" y="87379"/>
                  <a:pt x="82758" y="85725"/>
                  <a:pt x="84912" y="85725"/>
                </a:cubicBezTo>
                <a:close/>
                <a:moveTo>
                  <a:pt x="47443" y="85725"/>
                </a:moveTo>
                <a:cubicBezTo>
                  <a:pt x="57603" y="85725"/>
                  <a:pt x="66312" y="94151"/>
                  <a:pt x="66312" y="104409"/>
                </a:cubicBezTo>
                <a:cubicBezTo>
                  <a:pt x="66312" y="115033"/>
                  <a:pt x="57603" y="123459"/>
                  <a:pt x="47443" y="123459"/>
                </a:cubicBezTo>
                <a:cubicBezTo>
                  <a:pt x="36920" y="123459"/>
                  <a:pt x="28575" y="115033"/>
                  <a:pt x="28575" y="104409"/>
                </a:cubicBezTo>
                <a:cubicBezTo>
                  <a:pt x="28575" y="94151"/>
                  <a:pt x="36920" y="85725"/>
                  <a:pt x="47443" y="85725"/>
                </a:cubicBezTo>
                <a:close/>
                <a:moveTo>
                  <a:pt x="32861" y="57150"/>
                </a:moveTo>
                <a:lnTo>
                  <a:pt x="95369" y="57150"/>
                </a:lnTo>
                <a:cubicBezTo>
                  <a:pt x="97869" y="57150"/>
                  <a:pt x="99655" y="59055"/>
                  <a:pt x="99655" y="61722"/>
                </a:cubicBezTo>
                <a:cubicBezTo>
                  <a:pt x="99655" y="64008"/>
                  <a:pt x="97869" y="66294"/>
                  <a:pt x="95369" y="66294"/>
                </a:cubicBezTo>
                <a:lnTo>
                  <a:pt x="32861" y="66294"/>
                </a:lnTo>
                <a:cubicBezTo>
                  <a:pt x="30361" y="66294"/>
                  <a:pt x="28575" y="64008"/>
                  <a:pt x="28575" y="61722"/>
                </a:cubicBezTo>
                <a:cubicBezTo>
                  <a:pt x="28575" y="59055"/>
                  <a:pt x="30361" y="57150"/>
                  <a:pt x="32861" y="57150"/>
                </a:cubicBezTo>
                <a:close/>
                <a:moveTo>
                  <a:pt x="262145" y="37721"/>
                </a:moveTo>
                <a:lnTo>
                  <a:pt x="262145" y="234946"/>
                </a:lnTo>
                <a:lnTo>
                  <a:pt x="276671" y="234946"/>
                </a:lnTo>
                <a:lnTo>
                  <a:pt x="276671" y="37721"/>
                </a:lnTo>
                <a:lnTo>
                  <a:pt x="262145" y="37721"/>
                </a:lnTo>
                <a:close/>
                <a:moveTo>
                  <a:pt x="238903" y="37721"/>
                </a:moveTo>
                <a:lnTo>
                  <a:pt x="238903" y="234946"/>
                </a:lnTo>
                <a:lnTo>
                  <a:pt x="253429" y="234946"/>
                </a:lnTo>
                <a:lnTo>
                  <a:pt x="253429" y="37721"/>
                </a:lnTo>
                <a:lnTo>
                  <a:pt x="238903" y="37721"/>
                </a:lnTo>
                <a:close/>
                <a:moveTo>
                  <a:pt x="83677" y="28575"/>
                </a:moveTo>
                <a:lnTo>
                  <a:pt x="119165" y="28575"/>
                </a:lnTo>
                <a:cubicBezTo>
                  <a:pt x="121674" y="28575"/>
                  <a:pt x="123467" y="30480"/>
                  <a:pt x="123467" y="33147"/>
                </a:cubicBezTo>
                <a:cubicBezTo>
                  <a:pt x="123467" y="35814"/>
                  <a:pt x="121674" y="37719"/>
                  <a:pt x="119165" y="37719"/>
                </a:cubicBezTo>
                <a:lnTo>
                  <a:pt x="83677" y="37719"/>
                </a:lnTo>
                <a:cubicBezTo>
                  <a:pt x="81168" y="37719"/>
                  <a:pt x="79375" y="35814"/>
                  <a:pt x="79375" y="33147"/>
                </a:cubicBezTo>
                <a:cubicBezTo>
                  <a:pt x="79375" y="30480"/>
                  <a:pt x="81168" y="28575"/>
                  <a:pt x="83677" y="28575"/>
                </a:cubicBezTo>
                <a:close/>
                <a:moveTo>
                  <a:pt x="32913" y="28575"/>
                </a:moveTo>
                <a:lnTo>
                  <a:pt x="60387" y="28575"/>
                </a:lnTo>
                <a:cubicBezTo>
                  <a:pt x="62918" y="28575"/>
                  <a:pt x="64725" y="30480"/>
                  <a:pt x="64725" y="33147"/>
                </a:cubicBezTo>
                <a:cubicBezTo>
                  <a:pt x="64725" y="35814"/>
                  <a:pt x="62918" y="37719"/>
                  <a:pt x="60387" y="37719"/>
                </a:cubicBezTo>
                <a:lnTo>
                  <a:pt x="32913" y="37719"/>
                </a:lnTo>
                <a:cubicBezTo>
                  <a:pt x="30382" y="37719"/>
                  <a:pt x="28575" y="35814"/>
                  <a:pt x="28575" y="33147"/>
                </a:cubicBezTo>
                <a:cubicBezTo>
                  <a:pt x="28575" y="30480"/>
                  <a:pt x="30382" y="28575"/>
                  <a:pt x="32913" y="28575"/>
                </a:cubicBezTo>
                <a:close/>
                <a:moveTo>
                  <a:pt x="152041" y="14729"/>
                </a:moveTo>
                <a:lnTo>
                  <a:pt x="152041" y="57479"/>
                </a:lnTo>
                <a:lnTo>
                  <a:pt x="194454" y="57479"/>
                </a:lnTo>
                <a:lnTo>
                  <a:pt x="152041" y="14729"/>
                </a:lnTo>
                <a:close/>
                <a:moveTo>
                  <a:pt x="246166" y="8622"/>
                </a:moveTo>
                <a:cubicBezTo>
                  <a:pt x="242171" y="8622"/>
                  <a:pt x="238903" y="11855"/>
                  <a:pt x="238903" y="15807"/>
                </a:cubicBezTo>
                <a:lnTo>
                  <a:pt x="238903" y="29099"/>
                </a:lnTo>
                <a:lnTo>
                  <a:pt x="276671" y="29099"/>
                </a:lnTo>
                <a:lnTo>
                  <a:pt x="276671" y="15807"/>
                </a:lnTo>
                <a:cubicBezTo>
                  <a:pt x="276671" y="14010"/>
                  <a:pt x="275582" y="12214"/>
                  <a:pt x="274492" y="10777"/>
                </a:cubicBezTo>
                <a:cubicBezTo>
                  <a:pt x="273040" y="9340"/>
                  <a:pt x="271224" y="8622"/>
                  <a:pt x="269408" y="8622"/>
                </a:cubicBezTo>
                <a:lnTo>
                  <a:pt x="246166" y="8622"/>
                </a:lnTo>
                <a:close/>
                <a:moveTo>
                  <a:pt x="8626" y="8622"/>
                </a:moveTo>
                <a:lnTo>
                  <a:pt x="8626" y="275181"/>
                </a:lnTo>
                <a:lnTo>
                  <a:pt x="200564" y="275181"/>
                </a:lnTo>
                <a:lnTo>
                  <a:pt x="200564" y="66101"/>
                </a:lnTo>
                <a:lnTo>
                  <a:pt x="147728" y="66101"/>
                </a:lnTo>
                <a:cubicBezTo>
                  <a:pt x="145571" y="66101"/>
                  <a:pt x="143414" y="63945"/>
                  <a:pt x="143414" y="61790"/>
                </a:cubicBezTo>
                <a:lnTo>
                  <a:pt x="143414" y="8622"/>
                </a:lnTo>
                <a:lnTo>
                  <a:pt x="8626" y="8622"/>
                </a:lnTo>
                <a:close/>
                <a:moveTo>
                  <a:pt x="246166" y="0"/>
                </a:moveTo>
                <a:lnTo>
                  <a:pt x="269408" y="0"/>
                </a:lnTo>
                <a:cubicBezTo>
                  <a:pt x="273766" y="0"/>
                  <a:pt x="277398" y="1796"/>
                  <a:pt x="280303" y="4670"/>
                </a:cubicBezTo>
                <a:cubicBezTo>
                  <a:pt x="283571" y="7544"/>
                  <a:pt x="285024" y="11855"/>
                  <a:pt x="285024" y="15807"/>
                </a:cubicBezTo>
                <a:lnTo>
                  <a:pt x="285387" y="239257"/>
                </a:lnTo>
                <a:cubicBezTo>
                  <a:pt x="285387" y="240334"/>
                  <a:pt x="285024" y="240694"/>
                  <a:pt x="284661" y="241412"/>
                </a:cubicBezTo>
                <a:lnTo>
                  <a:pt x="261782" y="281647"/>
                </a:lnTo>
                <a:cubicBezTo>
                  <a:pt x="261056" y="283084"/>
                  <a:pt x="259603" y="283803"/>
                  <a:pt x="258150" y="283803"/>
                </a:cubicBezTo>
                <a:cubicBezTo>
                  <a:pt x="256335" y="283803"/>
                  <a:pt x="254882" y="283084"/>
                  <a:pt x="254156" y="281647"/>
                </a:cubicBezTo>
                <a:lnTo>
                  <a:pt x="230914" y="241412"/>
                </a:lnTo>
                <a:cubicBezTo>
                  <a:pt x="230550" y="240694"/>
                  <a:pt x="230550" y="240334"/>
                  <a:pt x="230550" y="239257"/>
                </a:cubicBezTo>
                <a:lnTo>
                  <a:pt x="230187" y="15807"/>
                </a:lnTo>
                <a:cubicBezTo>
                  <a:pt x="230187" y="7185"/>
                  <a:pt x="237450" y="0"/>
                  <a:pt x="246166" y="0"/>
                </a:cubicBezTo>
                <a:close/>
                <a:moveTo>
                  <a:pt x="4313" y="0"/>
                </a:moveTo>
                <a:lnTo>
                  <a:pt x="147728" y="0"/>
                </a:lnTo>
                <a:cubicBezTo>
                  <a:pt x="148806" y="0"/>
                  <a:pt x="149884" y="359"/>
                  <a:pt x="150603" y="1437"/>
                </a:cubicBezTo>
                <a:lnTo>
                  <a:pt x="208113" y="58916"/>
                </a:lnTo>
                <a:cubicBezTo>
                  <a:pt x="208831" y="59634"/>
                  <a:pt x="209191" y="60712"/>
                  <a:pt x="209191" y="61790"/>
                </a:cubicBezTo>
                <a:lnTo>
                  <a:pt x="209191" y="279492"/>
                </a:lnTo>
                <a:cubicBezTo>
                  <a:pt x="209191" y="282007"/>
                  <a:pt x="207394" y="283803"/>
                  <a:pt x="205237" y="283803"/>
                </a:cubicBezTo>
                <a:lnTo>
                  <a:pt x="4313" y="283803"/>
                </a:lnTo>
                <a:cubicBezTo>
                  <a:pt x="1797" y="283803"/>
                  <a:pt x="0" y="282007"/>
                  <a:pt x="0" y="279492"/>
                </a:cubicBezTo>
                <a:lnTo>
                  <a:pt x="0" y="4670"/>
                </a:lnTo>
                <a:cubicBezTo>
                  <a:pt x="0" y="1796"/>
                  <a:pt x="1797" y="0"/>
                  <a:pt x="4313"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3600">
              <a:solidFill>
                <a:schemeClr val="dk1"/>
              </a:solidFill>
              <a:latin typeface="Calibri"/>
              <a:ea typeface="Calibri"/>
              <a:cs typeface="Calibri"/>
              <a:sym typeface="Calibri"/>
            </a:endParaRPr>
          </a:p>
        </p:txBody>
      </p:sp>
      <p:sp>
        <p:nvSpPr>
          <p:cNvPr id="86" name="Google Shape;86;p11"/>
          <p:cNvSpPr txBox="1"/>
          <p:nvPr/>
        </p:nvSpPr>
        <p:spPr>
          <a:xfrm>
            <a:off x="775482" y="1716789"/>
            <a:ext cx="6750246" cy="70788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4000">
                <a:solidFill>
                  <a:srgbClr val="BFBFBF"/>
                </a:solidFill>
                <a:latin typeface="Calibri"/>
                <a:ea typeface="Calibri"/>
                <a:cs typeface="Calibri"/>
                <a:sym typeface="Calibri"/>
              </a:rPr>
              <a:t>Year 10 GCSE Computer Science</a:t>
            </a:r>
            <a:endParaRPr/>
          </a:p>
        </p:txBody>
      </p:sp>
      <p:grpSp>
        <p:nvGrpSpPr>
          <p:cNvPr id="87" name="Google Shape;87;p11"/>
          <p:cNvGrpSpPr/>
          <p:nvPr/>
        </p:nvGrpSpPr>
        <p:grpSpPr>
          <a:xfrm>
            <a:off x="279169" y="8074504"/>
            <a:ext cx="15385947" cy="5176599"/>
            <a:chOff x="7245939" y="7953814"/>
            <a:chExt cx="13204684" cy="2384558"/>
          </a:xfrm>
        </p:grpSpPr>
        <p:sp>
          <p:nvSpPr>
            <p:cNvPr id="88" name="Google Shape;88;p11"/>
            <p:cNvSpPr/>
            <p:nvPr/>
          </p:nvSpPr>
          <p:spPr>
            <a:xfrm>
              <a:off x="8292491" y="8007402"/>
              <a:ext cx="12158132" cy="2305772"/>
            </a:xfrm>
            <a:prstGeom prst="roundRect">
              <a:avLst>
                <a:gd fmla="val 16667" name="adj"/>
              </a:avLst>
            </a:prstGeom>
            <a:solidFill>
              <a:schemeClr val="accent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2">
                <a:solidFill>
                  <a:schemeClr val="dk1"/>
                </a:solidFill>
                <a:latin typeface="Calibri"/>
                <a:ea typeface="Calibri"/>
                <a:cs typeface="Calibri"/>
                <a:sym typeface="Calibri"/>
              </a:endParaRPr>
            </a:p>
          </p:txBody>
        </p:sp>
        <p:sp>
          <p:nvSpPr>
            <p:cNvPr id="89" name="Google Shape;89;p11"/>
            <p:cNvSpPr/>
            <p:nvPr/>
          </p:nvSpPr>
          <p:spPr>
            <a:xfrm>
              <a:off x="7698436" y="8032600"/>
              <a:ext cx="2289841" cy="2280574"/>
            </a:xfrm>
            <a:custGeom>
              <a:rect b="b" l="l" r="r" t="t"/>
              <a:pathLst>
                <a:path extrusionOk="0" h="3296" w="3506">
                  <a:moveTo>
                    <a:pt x="2923" y="0"/>
                  </a:moveTo>
                  <a:lnTo>
                    <a:pt x="594" y="0"/>
                  </a:lnTo>
                  <a:lnTo>
                    <a:pt x="594" y="0"/>
                  </a:lnTo>
                  <a:cubicBezTo>
                    <a:pt x="266" y="0"/>
                    <a:pt x="0" y="266"/>
                    <a:pt x="0" y="594"/>
                  </a:cubicBezTo>
                  <a:lnTo>
                    <a:pt x="0" y="2702"/>
                  </a:lnTo>
                  <a:lnTo>
                    <a:pt x="0" y="2702"/>
                  </a:lnTo>
                  <a:cubicBezTo>
                    <a:pt x="0" y="3029"/>
                    <a:pt x="266" y="3295"/>
                    <a:pt x="594" y="3295"/>
                  </a:cubicBezTo>
                  <a:lnTo>
                    <a:pt x="2902" y="3295"/>
                  </a:lnTo>
                  <a:lnTo>
                    <a:pt x="2902" y="3295"/>
                  </a:lnTo>
                  <a:cubicBezTo>
                    <a:pt x="3279" y="2846"/>
                    <a:pt x="3505" y="2267"/>
                    <a:pt x="3505" y="1635"/>
                  </a:cubicBezTo>
                  <a:lnTo>
                    <a:pt x="3505" y="1635"/>
                  </a:lnTo>
                  <a:cubicBezTo>
                    <a:pt x="3505" y="1015"/>
                    <a:pt x="3287" y="446"/>
                    <a:pt x="2923" y="0"/>
                  </a:cubicBezTo>
                </a:path>
              </a:pathLst>
            </a:custGeom>
            <a:solidFill>
              <a:srgbClr val="1B0E00">
                <a:alpha val="9804"/>
              </a:srgbClr>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2">
                <a:solidFill>
                  <a:schemeClr val="dk1"/>
                </a:solidFill>
                <a:latin typeface="Calibri"/>
                <a:ea typeface="Calibri"/>
                <a:cs typeface="Calibri"/>
                <a:sym typeface="Calibri"/>
              </a:endParaRPr>
            </a:p>
          </p:txBody>
        </p:sp>
        <p:sp>
          <p:nvSpPr>
            <p:cNvPr id="90" name="Google Shape;90;p11"/>
            <p:cNvSpPr/>
            <p:nvPr/>
          </p:nvSpPr>
          <p:spPr>
            <a:xfrm>
              <a:off x="7245939" y="7953814"/>
              <a:ext cx="2543308" cy="2384558"/>
            </a:xfrm>
            <a:custGeom>
              <a:rect b="b" l="l" r="r" t="t"/>
              <a:pathLst>
                <a:path extrusionOk="0" h="3893" w="3895">
                  <a:moveTo>
                    <a:pt x="3894" y="1946"/>
                  </a:moveTo>
                  <a:lnTo>
                    <a:pt x="3894" y="1946"/>
                  </a:lnTo>
                  <a:cubicBezTo>
                    <a:pt x="3894" y="3021"/>
                    <a:pt x="3022" y="3892"/>
                    <a:pt x="1947" y="3892"/>
                  </a:cubicBezTo>
                  <a:lnTo>
                    <a:pt x="1947" y="3892"/>
                  </a:lnTo>
                  <a:cubicBezTo>
                    <a:pt x="872" y="3892"/>
                    <a:pt x="0" y="3021"/>
                    <a:pt x="0" y="1946"/>
                  </a:cubicBezTo>
                  <a:lnTo>
                    <a:pt x="0" y="1946"/>
                  </a:lnTo>
                  <a:cubicBezTo>
                    <a:pt x="0" y="871"/>
                    <a:pt x="872" y="0"/>
                    <a:pt x="1947" y="0"/>
                  </a:cubicBezTo>
                  <a:lnTo>
                    <a:pt x="1947" y="0"/>
                  </a:lnTo>
                  <a:cubicBezTo>
                    <a:pt x="3022" y="0"/>
                    <a:pt x="3894" y="871"/>
                    <a:pt x="3894" y="1946"/>
                  </a:cubicBezTo>
                </a:path>
              </a:pathLst>
            </a:custGeom>
            <a:solidFill>
              <a:schemeClr val="accent3"/>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2">
                <a:solidFill>
                  <a:schemeClr val="dk1"/>
                </a:solidFill>
                <a:latin typeface="Calibri"/>
                <a:ea typeface="Calibri"/>
                <a:cs typeface="Calibri"/>
                <a:sym typeface="Calibri"/>
              </a:endParaRPr>
            </a:p>
          </p:txBody>
        </p:sp>
      </p:grpSp>
      <p:sp>
        <p:nvSpPr>
          <p:cNvPr id="91" name="Google Shape;91;p11"/>
          <p:cNvSpPr txBox="1"/>
          <p:nvPr/>
        </p:nvSpPr>
        <p:spPr>
          <a:xfrm>
            <a:off x="3658452" y="8293915"/>
            <a:ext cx="11822721" cy="4678525"/>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4400"/>
              <a:buFont typeface="Arial"/>
              <a:buNone/>
            </a:pPr>
            <a:r>
              <a:rPr b="1" lang="en-US" sz="4400">
                <a:solidFill>
                  <a:schemeClr val="dk2"/>
                </a:solidFill>
                <a:latin typeface="Calibri"/>
                <a:ea typeface="Calibri"/>
                <a:cs typeface="Calibri"/>
                <a:sym typeface="Calibri"/>
              </a:rPr>
              <a:t>Understanding Activity</a:t>
            </a:r>
            <a:endParaRPr/>
          </a:p>
          <a:p>
            <a:pPr indent="-742950" lvl="0" marL="742950" marR="0" rtl="0" algn="l">
              <a:lnSpc>
                <a:spcPct val="150000"/>
              </a:lnSpc>
              <a:spcBef>
                <a:spcPts val="720"/>
              </a:spcBef>
              <a:spcAft>
                <a:spcPts val="0"/>
              </a:spcAft>
              <a:buClr>
                <a:schemeClr val="dk2"/>
              </a:buClr>
              <a:buSzPts val="3600"/>
              <a:buFont typeface="Calibri"/>
              <a:buAutoNum type="arabicPeriod"/>
            </a:pPr>
            <a:r>
              <a:rPr b="1" lang="en-US" sz="3600">
                <a:solidFill>
                  <a:schemeClr val="dk2"/>
                </a:solidFill>
                <a:latin typeface="Calibri"/>
                <a:ea typeface="Calibri"/>
                <a:cs typeface="Calibri"/>
                <a:sym typeface="Calibri"/>
              </a:rPr>
              <a:t>Take </a:t>
            </a:r>
            <a:r>
              <a:rPr lang="en-US" sz="3600">
                <a:solidFill>
                  <a:srgbClr val="7030A0"/>
                </a:solidFill>
                <a:latin typeface="Calibri"/>
                <a:ea typeface="Calibri"/>
                <a:cs typeface="Calibri"/>
                <a:sym typeface="Calibri"/>
              </a:rPr>
              <a:t>one</a:t>
            </a:r>
            <a:r>
              <a:rPr lang="en-US" sz="3600">
                <a:solidFill>
                  <a:schemeClr val="dk2"/>
                </a:solidFill>
                <a:latin typeface="Calibri"/>
                <a:ea typeface="Calibri"/>
                <a:cs typeface="Calibri"/>
                <a:sym typeface="Calibri"/>
              </a:rPr>
              <a:t> copy of the ‘The History of Processors’ sheet</a:t>
            </a:r>
            <a:endParaRPr/>
          </a:p>
          <a:p>
            <a:pPr indent="-742950" lvl="0" marL="742950" marR="0" rtl="0" algn="l">
              <a:lnSpc>
                <a:spcPct val="150000"/>
              </a:lnSpc>
              <a:spcBef>
                <a:spcPts val="720"/>
              </a:spcBef>
              <a:spcAft>
                <a:spcPts val="0"/>
              </a:spcAft>
              <a:buClr>
                <a:schemeClr val="dk2"/>
              </a:buClr>
              <a:buSzPts val="3600"/>
              <a:buFont typeface="Calibri"/>
              <a:buAutoNum type="arabicPeriod"/>
            </a:pPr>
            <a:r>
              <a:rPr b="1" lang="en-US" sz="3600">
                <a:solidFill>
                  <a:schemeClr val="dk2"/>
                </a:solidFill>
                <a:latin typeface="Calibri"/>
                <a:ea typeface="Calibri"/>
                <a:cs typeface="Calibri"/>
                <a:sym typeface="Calibri"/>
              </a:rPr>
              <a:t>Read </a:t>
            </a:r>
            <a:r>
              <a:rPr lang="en-US" sz="3600">
                <a:solidFill>
                  <a:schemeClr val="dk2"/>
                </a:solidFill>
                <a:latin typeface="Calibri"/>
                <a:ea typeface="Calibri"/>
                <a:cs typeface="Calibri"/>
                <a:sym typeface="Calibri"/>
              </a:rPr>
              <a:t>all the </a:t>
            </a:r>
            <a:r>
              <a:rPr lang="en-US" sz="3600">
                <a:solidFill>
                  <a:srgbClr val="7030A0"/>
                </a:solidFill>
                <a:latin typeface="Calibri"/>
                <a:ea typeface="Calibri"/>
                <a:cs typeface="Calibri"/>
                <a:sym typeface="Calibri"/>
              </a:rPr>
              <a:t>information</a:t>
            </a:r>
            <a:r>
              <a:rPr lang="en-US" sz="3600">
                <a:solidFill>
                  <a:schemeClr val="dk2"/>
                </a:solidFill>
                <a:latin typeface="Calibri"/>
                <a:ea typeface="Calibri"/>
                <a:cs typeface="Calibri"/>
                <a:sym typeface="Calibri"/>
              </a:rPr>
              <a:t> in the history</a:t>
            </a:r>
            <a:endParaRPr/>
          </a:p>
          <a:p>
            <a:pPr indent="-742950" lvl="0" marL="742950" marR="0" rtl="0" algn="l">
              <a:lnSpc>
                <a:spcPct val="150000"/>
              </a:lnSpc>
              <a:spcBef>
                <a:spcPts val="720"/>
              </a:spcBef>
              <a:spcAft>
                <a:spcPts val="0"/>
              </a:spcAft>
              <a:buClr>
                <a:schemeClr val="dk2"/>
              </a:buClr>
              <a:buSzPts val="3600"/>
              <a:buFont typeface="Calibri"/>
              <a:buAutoNum type="arabicPeriod"/>
            </a:pPr>
            <a:r>
              <a:rPr b="1" lang="en-US" sz="3600">
                <a:solidFill>
                  <a:schemeClr val="dk2"/>
                </a:solidFill>
                <a:latin typeface="Open Sans Light"/>
                <a:ea typeface="Open Sans Light"/>
                <a:cs typeface="Open Sans Light"/>
                <a:sym typeface="Open Sans Light"/>
              </a:rPr>
              <a:t>Answer </a:t>
            </a:r>
            <a:r>
              <a:rPr lang="en-US" sz="3600">
                <a:solidFill>
                  <a:schemeClr val="dk2"/>
                </a:solidFill>
                <a:latin typeface="Open Sans Light"/>
                <a:ea typeface="Open Sans Light"/>
                <a:cs typeface="Open Sans Light"/>
                <a:sym typeface="Open Sans Light"/>
              </a:rPr>
              <a:t>all 10 </a:t>
            </a:r>
            <a:r>
              <a:rPr lang="en-US" sz="3600">
                <a:solidFill>
                  <a:srgbClr val="7030A0"/>
                </a:solidFill>
                <a:latin typeface="Open Sans Light"/>
                <a:ea typeface="Open Sans Light"/>
                <a:cs typeface="Open Sans Light"/>
                <a:sym typeface="Open Sans Light"/>
              </a:rPr>
              <a:t>questions</a:t>
            </a:r>
            <a:r>
              <a:rPr lang="en-US" sz="3600">
                <a:solidFill>
                  <a:schemeClr val="dk2"/>
                </a:solidFill>
                <a:latin typeface="Open Sans Light"/>
                <a:ea typeface="Open Sans Light"/>
                <a:cs typeface="Open Sans Light"/>
                <a:sym typeface="Open Sans Light"/>
              </a:rPr>
              <a:t> to prove you understand the information</a:t>
            </a:r>
            <a:endParaRPr sz="3200">
              <a:solidFill>
                <a:schemeClr val="dk2"/>
              </a:solidFill>
              <a:latin typeface="Open Sans Light"/>
              <a:ea typeface="Open Sans Light"/>
              <a:cs typeface="Open Sans Light"/>
              <a:sym typeface="Open Sans Light"/>
            </a:endParaRPr>
          </a:p>
        </p:txBody>
      </p:sp>
      <p:sp>
        <p:nvSpPr>
          <p:cNvPr id="92" name="Google Shape;92;p11"/>
          <p:cNvSpPr/>
          <p:nvPr/>
        </p:nvSpPr>
        <p:spPr>
          <a:xfrm>
            <a:off x="1229175" y="9708726"/>
            <a:ext cx="1063419" cy="1848904"/>
          </a:xfrm>
          <a:custGeom>
            <a:rect b="b" l="l" r="r" t="t"/>
            <a:pathLst>
              <a:path extrusionOk="0" h="283803" w="285387">
                <a:moveTo>
                  <a:pt x="273766" y="243567"/>
                </a:moveTo>
                <a:lnTo>
                  <a:pt x="242171" y="243927"/>
                </a:lnTo>
                <a:lnTo>
                  <a:pt x="258150" y="270870"/>
                </a:lnTo>
                <a:lnTo>
                  <a:pt x="273766" y="243567"/>
                </a:lnTo>
                <a:close/>
                <a:moveTo>
                  <a:pt x="84891" y="230187"/>
                </a:moveTo>
                <a:lnTo>
                  <a:pt x="147757" y="230187"/>
                </a:lnTo>
                <a:cubicBezTo>
                  <a:pt x="149900" y="230187"/>
                  <a:pt x="152043" y="232092"/>
                  <a:pt x="152043" y="234378"/>
                </a:cubicBezTo>
                <a:cubicBezTo>
                  <a:pt x="152043" y="237045"/>
                  <a:pt x="149900" y="239331"/>
                  <a:pt x="147757" y="239331"/>
                </a:cubicBezTo>
                <a:lnTo>
                  <a:pt x="84891" y="239331"/>
                </a:lnTo>
                <a:cubicBezTo>
                  <a:pt x="82748" y="239331"/>
                  <a:pt x="80962" y="237045"/>
                  <a:pt x="80962" y="234378"/>
                </a:cubicBezTo>
                <a:cubicBezTo>
                  <a:pt x="80962" y="232092"/>
                  <a:pt x="82748" y="230187"/>
                  <a:pt x="84891" y="230187"/>
                </a:cubicBezTo>
                <a:close/>
                <a:moveTo>
                  <a:pt x="47443" y="208734"/>
                </a:moveTo>
                <a:cubicBezTo>
                  <a:pt x="41638" y="208734"/>
                  <a:pt x="37283" y="213088"/>
                  <a:pt x="37283" y="218531"/>
                </a:cubicBezTo>
                <a:cubicBezTo>
                  <a:pt x="37283" y="224336"/>
                  <a:pt x="41638" y="229054"/>
                  <a:pt x="47443" y="229054"/>
                </a:cubicBezTo>
                <a:cubicBezTo>
                  <a:pt x="52886" y="229054"/>
                  <a:pt x="57603" y="224336"/>
                  <a:pt x="57603" y="218531"/>
                </a:cubicBezTo>
                <a:cubicBezTo>
                  <a:pt x="57603" y="213088"/>
                  <a:pt x="52886" y="208734"/>
                  <a:pt x="47443" y="208734"/>
                </a:cubicBezTo>
                <a:close/>
                <a:moveTo>
                  <a:pt x="131358" y="200025"/>
                </a:moveTo>
                <a:lnTo>
                  <a:pt x="177841" y="200025"/>
                </a:lnTo>
                <a:cubicBezTo>
                  <a:pt x="180020" y="200025"/>
                  <a:pt x="182199" y="201930"/>
                  <a:pt x="182199" y="204597"/>
                </a:cubicBezTo>
                <a:cubicBezTo>
                  <a:pt x="182199" y="207264"/>
                  <a:pt x="180020" y="209169"/>
                  <a:pt x="177841" y="209169"/>
                </a:cubicBezTo>
                <a:lnTo>
                  <a:pt x="131358" y="209169"/>
                </a:lnTo>
                <a:cubicBezTo>
                  <a:pt x="128816" y="209169"/>
                  <a:pt x="127000" y="207264"/>
                  <a:pt x="127000" y="204597"/>
                </a:cubicBezTo>
                <a:cubicBezTo>
                  <a:pt x="127000" y="201930"/>
                  <a:pt x="128816" y="200025"/>
                  <a:pt x="131358" y="200025"/>
                </a:cubicBezTo>
                <a:close/>
                <a:moveTo>
                  <a:pt x="84931" y="200025"/>
                </a:moveTo>
                <a:lnTo>
                  <a:pt x="108022" y="200025"/>
                </a:lnTo>
                <a:cubicBezTo>
                  <a:pt x="110547" y="200025"/>
                  <a:pt x="112351" y="201930"/>
                  <a:pt x="112351" y="204597"/>
                </a:cubicBezTo>
                <a:cubicBezTo>
                  <a:pt x="112351" y="207264"/>
                  <a:pt x="110547" y="209169"/>
                  <a:pt x="108022" y="209169"/>
                </a:cubicBezTo>
                <a:lnTo>
                  <a:pt x="84931" y="209169"/>
                </a:lnTo>
                <a:cubicBezTo>
                  <a:pt x="82766" y="209169"/>
                  <a:pt x="80962" y="207264"/>
                  <a:pt x="80962" y="204597"/>
                </a:cubicBezTo>
                <a:cubicBezTo>
                  <a:pt x="80962" y="201930"/>
                  <a:pt x="82766" y="200025"/>
                  <a:pt x="84931" y="200025"/>
                </a:cubicBezTo>
                <a:close/>
                <a:moveTo>
                  <a:pt x="47443" y="200025"/>
                </a:moveTo>
                <a:cubicBezTo>
                  <a:pt x="57603" y="200025"/>
                  <a:pt x="66312" y="208371"/>
                  <a:pt x="66312" y="218531"/>
                </a:cubicBezTo>
                <a:cubicBezTo>
                  <a:pt x="66312" y="229054"/>
                  <a:pt x="57603" y="237762"/>
                  <a:pt x="47443" y="237762"/>
                </a:cubicBezTo>
                <a:cubicBezTo>
                  <a:pt x="36920" y="237762"/>
                  <a:pt x="28575" y="229054"/>
                  <a:pt x="28575" y="218531"/>
                </a:cubicBezTo>
                <a:cubicBezTo>
                  <a:pt x="28575" y="208371"/>
                  <a:pt x="36920" y="200025"/>
                  <a:pt x="47443" y="200025"/>
                </a:cubicBezTo>
                <a:close/>
                <a:moveTo>
                  <a:pt x="153506" y="171450"/>
                </a:moveTo>
                <a:lnTo>
                  <a:pt x="176338" y="171450"/>
                </a:lnTo>
                <a:cubicBezTo>
                  <a:pt x="178478" y="171450"/>
                  <a:pt x="180619" y="173355"/>
                  <a:pt x="180619" y="176022"/>
                </a:cubicBezTo>
                <a:cubicBezTo>
                  <a:pt x="180619" y="178689"/>
                  <a:pt x="178478" y="180594"/>
                  <a:pt x="176338" y="180594"/>
                </a:cubicBezTo>
                <a:lnTo>
                  <a:pt x="153506" y="180594"/>
                </a:lnTo>
                <a:cubicBezTo>
                  <a:pt x="151009" y="180594"/>
                  <a:pt x="149225" y="178689"/>
                  <a:pt x="149225" y="176022"/>
                </a:cubicBezTo>
                <a:cubicBezTo>
                  <a:pt x="149225" y="173355"/>
                  <a:pt x="151009" y="171450"/>
                  <a:pt x="153506" y="171450"/>
                </a:cubicBezTo>
                <a:close/>
                <a:moveTo>
                  <a:pt x="84868" y="171450"/>
                </a:moveTo>
                <a:lnTo>
                  <a:pt x="130321" y="171450"/>
                </a:lnTo>
                <a:cubicBezTo>
                  <a:pt x="132807" y="171450"/>
                  <a:pt x="134582" y="173355"/>
                  <a:pt x="134582" y="176022"/>
                </a:cubicBezTo>
                <a:cubicBezTo>
                  <a:pt x="134582" y="178689"/>
                  <a:pt x="132807" y="180594"/>
                  <a:pt x="130321" y="180594"/>
                </a:cubicBezTo>
                <a:lnTo>
                  <a:pt x="84868" y="180594"/>
                </a:lnTo>
                <a:cubicBezTo>
                  <a:pt x="82738" y="180594"/>
                  <a:pt x="80962" y="178689"/>
                  <a:pt x="80962" y="176022"/>
                </a:cubicBezTo>
                <a:cubicBezTo>
                  <a:pt x="80962" y="173355"/>
                  <a:pt x="82738" y="171450"/>
                  <a:pt x="84868" y="171450"/>
                </a:cubicBezTo>
                <a:close/>
                <a:moveTo>
                  <a:pt x="47443" y="151584"/>
                </a:moveTo>
                <a:cubicBezTo>
                  <a:pt x="41638" y="151584"/>
                  <a:pt x="37283" y="155938"/>
                  <a:pt x="37283" y="161744"/>
                </a:cubicBezTo>
                <a:cubicBezTo>
                  <a:pt x="37283" y="167549"/>
                  <a:pt x="41638" y="171904"/>
                  <a:pt x="47443" y="171904"/>
                </a:cubicBezTo>
                <a:cubicBezTo>
                  <a:pt x="52886" y="171904"/>
                  <a:pt x="57603" y="167549"/>
                  <a:pt x="57603" y="161744"/>
                </a:cubicBezTo>
                <a:cubicBezTo>
                  <a:pt x="57603" y="155938"/>
                  <a:pt x="52886" y="151584"/>
                  <a:pt x="47443" y="151584"/>
                </a:cubicBezTo>
                <a:close/>
                <a:moveTo>
                  <a:pt x="131358" y="142875"/>
                </a:moveTo>
                <a:lnTo>
                  <a:pt x="177841" y="142875"/>
                </a:lnTo>
                <a:cubicBezTo>
                  <a:pt x="180020" y="142875"/>
                  <a:pt x="182199" y="145161"/>
                  <a:pt x="182199" y="147447"/>
                </a:cubicBezTo>
                <a:cubicBezTo>
                  <a:pt x="182199" y="150114"/>
                  <a:pt x="180020" y="152019"/>
                  <a:pt x="177841" y="152019"/>
                </a:cubicBezTo>
                <a:lnTo>
                  <a:pt x="131358" y="152019"/>
                </a:lnTo>
                <a:cubicBezTo>
                  <a:pt x="128816" y="152019"/>
                  <a:pt x="127000" y="150114"/>
                  <a:pt x="127000" y="147447"/>
                </a:cubicBezTo>
                <a:cubicBezTo>
                  <a:pt x="127000" y="145161"/>
                  <a:pt x="128816" y="142875"/>
                  <a:pt x="131358" y="142875"/>
                </a:cubicBezTo>
                <a:close/>
                <a:moveTo>
                  <a:pt x="84931" y="142875"/>
                </a:moveTo>
                <a:lnTo>
                  <a:pt x="108022" y="142875"/>
                </a:lnTo>
                <a:cubicBezTo>
                  <a:pt x="110547" y="142875"/>
                  <a:pt x="112351" y="145161"/>
                  <a:pt x="112351" y="147447"/>
                </a:cubicBezTo>
                <a:cubicBezTo>
                  <a:pt x="112351" y="150114"/>
                  <a:pt x="110547" y="152019"/>
                  <a:pt x="108022" y="152019"/>
                </a:cubicBezTo>
                <a:lnTo>
                  <a:pt x="84931" y="152019"/>
                </a:lnTo>
                <a:cubicBezTo>
                  <a:pt x="82766" y="152019"/>
                  <a:pt x="80962" y="150114"/>
                  <a:pt x="80962" y="147447"/>
                </a:cubicBezTo>
                <a:cubicBezTo>
                  <a:pt x="80962" y="145161"/>
                  <a:pt x="82766" y="142875"/>
                  <a:pt x="84931" y="142875"/>
                </a:cubicBezTo>
                <a:close/>
                <a:moveTo>
                  <a:pt x="47443" y="142875"/>
                </a:moveTo>
                <a:cubicBezTo>
                  <a:pt x="57603" y="142875"/>
                  <a:pt x="66312" y="151221"/>
                  <a:pt x="66312" y="161744"/>
                </a:cubicBezTo>
                <a:cubicBezTo>
                  <a:pt x="66312" y="171904"/>
                  <a:pt x="57603" y="180612"/>
                  <a:pt x="47443" y="180612"/>
                </a:cubicBezTo>
                <a:cubicBezTo>
                  <a:pt x="36920" y="180612"/>
                  <a:pt x="28575" y="171904"/>
                  <a:pt x="28575" y="161744"/>
                </a:cubicBezTo>
                <a:cubicBezTo>
                  <a:pt x="28575" y="151221"/>
                  <a:pt x="36920" y="142875"/>
                  <a:pt x="47443" y="142875"/>
                </a:cubicBezTo>
                <a:close/>
                <a:moveTo>
                  <a:pt x="84943" y="114300"/>
                </a:moveTo>
                <a:lnTo>
                  <a:pt x="125471" y="114300"/>
                </a:lnTo>
                <a:cubicBezTo>
                  <a:pt x="128004" y="114300"/>
                  <a:pt x="129813" y="115954"/>
                  <a:pt x="129813" y="117938"/>
                </a:cubicBezTo>
                <a:cubicBezTo>
                  <a:pt x="129813" y="120253"/>
                  <a:pt x="128004" y="121906"/>
                  <a:pt x="125471" y="121906"/>
                </a:cubicBezTo>
                <a:lnTo>
                  <a:pt x="84943" y="121906"/>
                </a:lnTo>
                <a:cubicBezTo>
                  <a:pt x="82772" y="121906"/>
                  <a:pt x="80962" y="120253"/>
                  <a:pt x="80962" y="117938"/>
                </a:cubicBezTo>
                <a:cubicBezTo>
                  <a:pt x="80962" y="115954"/>
                  <a:pt x="82772" y="114300"/>
                  <a:pt x="84943" y="114300"/>
                </a:cubicBezTo>
                <a:close/>
                <a:moveTo>
                  <a:pt x="47443" y="94151"/>
                </a:moveTo>
                <a:cubicBezTo>
                  <a:pt x="41638" y="94151"/>
                  <a:pt x="37283" y="98913"/>
                  <a:pt x="37283" y="104409"/>
                </a:cubicBezTo>
                <a:cubicBezTo>
                  <a:pt x="37283" y="110270"/>
                  <a:pt x="41638" y="115033"/>
                  <a:pt x="47443" y="115033"/>
                </a:cubicBezTo>
                <a:cubicBezTo>
                  <a:pt x="52886" y="115033"/>
                  <a:pt x="57603" y="110270"/>
                  <a:pt x="57603" y="104409"/>
                </a:cubicBezTo>
                <a:cubicBezTo>
                  <a:pt x="57603" y="98913"/>
                  <a:pt x="52886" y="94151"/>
                  <a:pt x="47443" y="94151"/>
                </a:cubicBezTo>
                <a:close/>
                <a:moveTo>
                  <a:pt x="160011" y="85725"/>
                </a:moveTo>
                <a:lnTo>
                  <a:pt x="177756" y="85725"/>
                </a:lnTo>
                <a:cubicBezTo>
                  <a:pt x="179974" y="85725"/>
                  <a:pt x="182193" y="87379"/>
                  <a:pt x="182193" y="89693"/>
                </a:cubicBezTo>
                <a:cubicBezTo>
                  <a:pt x="182193" y="91678"/>
                  <a:pt x="179974" y="93331"/>
                  <a:pt x="177756" y="93331"/>
                </a:cubicBezTo>
                <a:lnTo>
                  <a:pt x="160011" y="93331"/>
                </a:lnTo>
                <a:cubicBezTo>
                  <a:pt x="157424" y="93331"/>
                  <a:pt x="155575" y="91678"/>
                  <a:pt x="155575" y="89693"/>
                </a:cubicBezTo>
                <a:cubicBezTo>
                  <a:pt x="155575" y="87379"/>
                  <a:pt x="157424" y="85725"/>
                  <a:pt x="160011" y="85725"/>
                </a:cubicBezTo>
                <a:close/>
                <a:moveTo>
                  <a:pt x="84912" y="85725"/>
                </a:moveTo>
                <a:lnTo>
                  <a:pt x="136619" y="85725"/>
                </a:lnTo>
                <a:cubicBezTo>
                  <a:pt x="139133" y="85725"/>
                  <a:pt x="140928" y="87379"/>
                  <a:pt x="140928" y="89693"/>
                </a:cubicBezTo>
                <a:cubicBezTo>
                  <a:pt x="140928" y="91678"/>
                  <a:pt x="139133" y="93331"/>
                  <a:pt x="136619" y="93331"/>
                </a:cubicBezTo>
                <a:lnTo>
                  <a:pt x="84912" y="93331"/>
                </a:lnTo>
                <a:cubicBezTo>
                  <a:pt x="82758" y="93331"/>
                  <a:pt x="80962" y="91678"/>
                  <a:pt x="80962" y="89693"/>
                </a:cubicBezTo>
                <a:cubicBezTo>
                  <a:pt x="80962" y="87379"/>
                  <a:pt x="82758" y="85725"/>
                  <a:pt x="84912" y="85725"/>
                </a:cubicBezTo>
                <a:close/>
                <a:moveTo>
                  <a:pt x="47443" y="85725"/>
                </a:moveTo>
                <a:cubicBezTo>
                  <a:pt x="57603" y="85725"/>
                  <a:pt x="66312" y="94151"/>
                  <a:pt x="66312" y="104409"/>
                </a:cubicBezTo>
                <a:cubicBezTo>
                  <a:pt x="66312" y="115033"/>
                  <a:pt x="57603" y="123459"/>
                  <a:pt x="47443" y="123459"/>
                </a:cubicBezTo>
                <a:cubicBezTo>
                  <a:pt x="36920" y="123459"/>
                  <a:pt x="28575" y="115033"/>
                  <a:pt x="28575" y="104409"/>
                </a:cubicBezTo>
                <a:cubicBezTo>
                  <a:pt x="28575" y="94151"/>
                  <a:pt x="36920" y="85725"/>
                  <a:pt x="47443" y="85725"/>
                </a:cubicBezTo>
                <a:close/>
                <a:moveTo>
                  <a:pt x="32861" y="57150"/>
                </a:moveTo>
                <a:lnTo>
                  <a:pt x="95369" y="57150"/>
                </a:lnTo>
                <a:cubicBezTo>
                  <a:pt x="97869" y="57150"/>
                  <a:pt x="99655" y="59055"/>
                  <a:pt x="99655" y="61722"/>
                </a:cubicBezTo>
                <a:cubicBezTo>
                  <a:pt x="99655" y="64008"/>
                  <a:pt x="97869" y="66294"/>
                  <a:pt x="95369" y="66294"/>
                </a:cubicBezTo>
                <a:lnTo>
                  <a:pt x="32861" y="66294"/>
                </a:lnTo>
                <a:cubicBezTo>
                  <a:pt x="30361" y="66294"/>
                  <a:pt x="28575" y="64008"/>
                  <a:pt x="28575" y="61722"/>
                </a:cubicBezTo>
                <a:cubicBezTo>
                  <a:pt x="28575" y="59055"/>
                  <a:pt x="30361" y="57150"/>
                  <a:pt x="32861" y="57150"/>
                </a:cubicBezTo>
                <a:close/>
                <a:moveTo>
                  <a:pt x="262145" y="37721"/>
                </a:moveTo>
                <a:lnTo>
                  <a:pt x="262145" y="234946"/>
                </a:lnTo>
                <a:lnTo>
                  <a:pt x="276671" y="234946"/>
                </a:lnTo>
                <a:lnTo>
                  <a:pt x="276671" y="37721"/>
                </a:lnTo>
                <a:lnTo>
                  <a:pt x="262145" y="37721"/>
                </a:lnTo>
                <a:close/>
                <a:moveTo>
                  <a:pt x="238903" y="37721"/>
                </a:moveTo>
                <a:lnTo>
                  <a:pt x="238903" y="234946"/>
                </a:lnTo>
                <a:lnTo>
                  <a:pt x="253429" y="234946"/>
                </a:lnTo>
                <a:lnTo>
                  <a:pt x="253429" y="37721"/>
                </a:lnTo>
                <a:lnTo>
                  <a:pt x="238903" y="37721"/>
                </a:lnTo>
                <a:close/>
                <a:moveTo>
                  <a:pt x="83677" y="28575"/>
                </a:moveTo>
                <a:lnTo>
                  <a:pt x="119165" y="28575"/>
                </a:lnTo>
                <a:cubicBezTo>
                  <a:pt x="121674" y="28575"/>
                  <a:pt x="123467" y="30480"/>
                  <a:pt x="123467" y="33147"/>
                </a:cubicBezTo>
                <a:cubicBezTo>
                  <a:pt x="123467" y="35814"/>
                  <a:pt x="121674" y="37719"/>
                  <a:pt x="119165" y="37719"/>
                </a:cubicBezTo>
                <a:lnTo>
                  <a:pt x="83677" y="37719"/>
                </a:lnTo>
                <a:cubicBezTo>
                  <a:pt x="81168" y="37719"/>
                  <a:pt x="79375" y="35814"/>
                  <a:pt x="79375" y="33147"/>
                </a:cubicBezTo>
                <a:cubicBezTo>
                  <a:pt x="79375" y="30480"/>
                  <a:pt x="81168" y="28575"/>
                  <a:pt x="83677" y="28575"/>
                </a:cubicBezTo>
                <a:close/>
                <a:moveTo>
                  <a:pt x="32913" y="28575"/>
                </a:moveTo>
                <a:lnTo>
                  <a:pt x="60387" y="28575"/>
                </a:lnTo>
                <a:cubicBezTo>
                  <a:pt x="62918" y="28575"/>
                  <a:pt x="64725" y="30480"/>
                  <a:pt x="64725" y="33147"/>
                </a:cubicBezTo>
                <a:cubicBezTo>
                  <a:pt x="64725" y="35814"/>
                  <a:pt x="62918" y="37719"/>
                  <a:pt x="60387" y="37719"/>
                </a:cubicBezTo>
                <a:lnTo>
                  <a:pt x="32913" y="37719"/>
                </a:lnTo>
                <a:cubicBezTo>
                  <a:pt x="30382" y="37719"/>
                  <a:pt x="28575" y="35814"/>
                  <a:pt x="28575" y="33147"/>
                </a:cubicBezTo>
                <a:cubicBezTo>
                  <a:pt x="28575" y="30480"/>
                  <a:pt x="30382" y="28575"/>
                  <a:pt x="32913" y="28575"/>
                </a:cubicBezTo>
                <a:close/>
                <a:moveTo>
                  <a:pt x="152041" y="14729"/>
                </a:moveTo>
                <a:lnTo>
                  <a:pt x="152041" y="57479"/>
                </a:lnTo>
                <a:lnTo>
                  <a:pt x="194454" y="57479"/>
                </a:lnTo>
                <a:lnTo>
                  <a:pt x="152041" y="14729"/>
                </a:lnTo>
                <a:close/>
                <a:moveTo>
                  <a:pt x="246166" y="8622"/>
                </a:moveTo>
                <a:cubicBezTo>
                  <a:pt x="242171" y="8622"/>
                  <a:pt x="238903" y="11855"/>
                  <a:pt x="238903" y="15807"/>
                </a:cubicBezTo>
                <a:lnTo>
                  <a:pt x="238903" y="29099"/>
                </a:lnTo>
                <a:lnTo>
                  <a:pt x="276671" y="29099"/>
                </a:lnTo>
                <a:lnTo>
                  <a:pt x="276671" y="15807"/>
                </a:lnTo>
                <a:cubicBezTo>
                  <a:pt x="276671" y="14010"/>
                  <a:pt x="275582" y="12214"/>
                  <a:pt x="274492" y="10777"/>
                </a:cubicBezTo>
                <a:cubicBezTo>
                  <a:pt x="273040" y="9340"/>
                  <a:pt x="271224" y="8622"/>
                  <a:pt x="269408" y="8622"/>
                </a:cubicBezTo>
                <a:lnTo>
                  <a:pt x="246166" y="8622"/>
                </a:lnTo>
                <a:close/>
                <a:moveTo>
                  <a:pt x="8626" y="8622"/>
                </a:moveTo>
                <a:lnTo>
                  <a:pt x="8626" y="275181"/>
                </a:lnTo>
                <a:lnTo>
                  <a:pt x="200564" y="275181"/>
                </a:lnTo>
                <a:lnTo>
                  <a:pt x="200564" y="66101"/>
                </a:lnTo>
                <a:lnTo>
                  <a:pt x="147728" y="66101"/>
                </a:lnTo>
                <a:cubicBezTo>
                  <a:pt x="145571" y="66101"/>
                  <a:pt x="143414" y="63945"/>
                  <a:pt x="143414" y="61790"/>
                </a:cubicBezTo>
                <a:lnTo>
                  <a:pt x="143414" y="8622"/>
                </a:lnTo>
                <a:lnTo>
                  <a:pt x="8626" y="8622"/>
                </a:lnTo>
                <a:close/>
                <a:moveTo>
                  <a:pt x="246166" y="0"/>
                </a:moveTo>
                <a:lnTo>
                  <a:pt x="269408" y="0"/>
                </a:lnTo>
                <a:cubicBezTo>
                  <a:pt x="273766" y="0"/>
                  <a:pt x="277398" y="1796"/>
                  <a:pt x="280303" y="4670"/>
                </a:cubicBezTo>
                <a:cubicBezTo>
                  <a:pt x="283571" y="7544"/>
                  <a:pt x="285024" y="11855"/>
                  <a:pt x="285024" y="15807"/>
                </a:cubicBezTo>
                <a:lnTo>
                  <a:pt x="285387" y="239257"/>
                </a:lnTo>
                <a:cubicBezTo>
                  <a:pt x="285387" y="240334"/>
                  <a:pt x="285024" y="240694"/>
                  <a:pt x="284661" y="241412"/>
                </a:cubicBezTo>
                <a:lnTo>
                  <a:pt x="261782" y="281647"/>
                </a:lnTo>
                <a:cubicBezTo>
                  <a:pt x="261056" y="283084"/>
                  <a:pt x="259603" y="283803"/>
                  <a:pt x="258150" y="283803"/>
                </a:cubicBezTo>
                <a:cubicBezTo>
                  <a:pt x="256335" y="283803"/>
                  <a:pt x="254882" y="283084"/>
                  <a:pt x="254156" y="281647"/>
                </a:cubicBezTo>
                <a:lnTo>
                  <a:pt x="230914" y="241412"/>
                </a:lnTo>
                <a:cubicBezTo>
                  <a:pt x="230550" y="240694"/>
                  <a:pt x="230550" y="240334"/>
                  <a:pt x="230550" y="239257"/>
                </a:cubicBezTo>
                <a:lnTo>
                  <a:pt x="230187" y="15807"/>
                </a:lnTo>
                <a:cubicBezTo>
                  <a:pt x="230187" y="7185"/>
                  <a:pt x="237450" y="0"/>
                  <a:pt x="246166" y="0"/>
                </a:cubicBezTo>
                <a:close/>
                <a:moveTo>
                  <a:pt x="4313" y="0"/>
                </a:moveTo>
                <a:lnTo>
                  <a:pt x="147728" y="0"/>
                </a:lnTo>
                <a:cubicBezTo>
                  <a:pt x="148806" y="0"/>
                  <a:pt x="149884" y="359"/>
                  <a:pt x="150603" y="1437"/>
                </a:cubicBezTo>
                <a:lnTo>
                  <a:pt x="208113" y="58916"/>
                </a:lnTo>
                <a:cubicBezTo>
                  <a:pt x="208831" y="59634"/>
                  <a:pt x="209191" y="60712"/>
                  <a:pt x="209191" y="61790"/>
                </a:cubicBezTo>
                <a:lnTo>
                  <a:pt x="209191" y="279492"/>
                </a:lnTo>
                <a:cubicBezTo>
                  <a:pt x="209191" y="282007"/>
                  <a:pt x="207394" y="283803"/>
                  <a:pt x="205237" y="283803"/>
                </a:cubicBezTo>
                <a:lnTo>
                  <a:pt x="4313" y="283803"/>
                </a:lnTo>
                <a:cubicBezTo>
                  <a:pt x="1797" y="283803"/>
                  <a:pt x="0" y="282007"/>
                  <a:pt x="0" y="279492"/>
                </a:cubicBezTo>
                <a:lnTo>
                  <a:pt x="0" y="4670"/>
                </a:lnTo>
                <a:cubicBezTo>
                  <a:pt x="0" y="1796"/>
                  <a:pt x="1797" y="0"/>
                  <a:pt x="4313"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3600">
              <a:solidFill>
                <a:schemeClr val="dk1"/>
              </a:solidFill>
              <a:latin typeface="Calibri"/>
              <a:ea typeface="Calibri"/>
              <a:cs typeface="Calibri"/>
              <a:sym typeface="Calibri"/>
            </a:endParaRPr>
          </a:p>
        </p:txBody>
      </p:sp>
      <p:pic>
        <p:nvPicPr>
          <p:cNvPr id="93" name="Google Shape;93;p11"/>
          <p:cNvPicPr preferRelativeResize="0"/>
          <p:nvPr/>
        </p:nvPicPr>
        <p:blipFill rotWithShape="1">
          <a:blip r:embed="rId3">
            <a:alphaModFix/>
          </a:blip>
          <a:srcRect b="0" l="0" r="0" t="0"/>
          <a:stretch/>
        </p:blipFill>
        <p:spPr>
          <a:xfrm>
            <a:off x="15910847" y="3030484"/>
            <a:ext cx="8134812" cy="4554544"/>
          </a:xfrm>
          <a:prstGeom prst="rect">
            <a:avLst/>
          </a:prstGeom>
          <a:noFill/>
          <a:ln cap="flat" cmpd="sng" w="9525">
            <a:solidFill>
              <a:schemeClr val="dk2"/>
            </a:solidFill>
            <a:prstDash val="solid"/>
            <a:round/>
            <a:headEnd len="sm" w="sm" type="none"/>
            <a:tailEnd len="sm" w="sm" type="none"/>
          </a:ln>
        </p:spPr>
      </p:pic>
      <p:pic>
        <p:nvPicPr>
          <p:cNvPr id="94" name="Google Shape;94;p11"/>
          <p:cNvPicPr preferRelativeResize="0"/>
          <p:nvPr/>
        </p:nvPicPr>
        <p:blipFill rotWithShape="1">
          <a:blip r:embed="rId4">
            <a:alphaModFix/>
          </a:blip>
          <a:srcRect b="0" l="0" r="0" t="0"/>
          <a:stretch/>
        </p:blipFill>
        <p:spPr>
          <a:xfrm>
            <a:off x="15934540" y="7938668"/>
            <a:ext cx="3716688" cy="5158985"/>
          </a:xfrm>
          <a:prstGeom prst="rect">
            <a:avLst/>
          </a:prstGeom>
          <a:noFill/>
          <a:ln cap="flat" cmpd="sng" w="9525">
            <a:solidFill>
              <a:schemeClr val="dk2"/>
            </a:solidFill>
            <a:prstDash val="solid"/>
            <a:round/>
            <a:headEnd len="sm" w="sm" type="none"/>
            <a:tailEnd len="sm" w="sm" type="none"/>
          </a:ln>
        </p:spPr>
      </p:pic>
      <p:pic>
        <p:nvPicPr>
          <p:cNvPr id="95" name="Google Shape;95;p11"/>
          <p:cNvPicPr preferRelativeResize="0"/>
          <p:nvPr/>
        </p:nvPicPr>
        <p:blipFill rotWithShape="1">
          <a:blip r:embed="rId5">
            <a:alphaModFix/>
          </a:blip>
          <a:srcRect b="0" l="0" r="0" t="0"/>
          <a:stretch/>
        </p:blipFill>
        <p:spPr>
          <a:xfrm>
            <a:off x="20339824" y="7921168"/>
            <a:ext cx="3705835" cy="5143921"/>
          </a:xfrm>
          <a:prstGeom prst="rect">
            <a:avLst/>
          </a:prstGeom>
          <a:noFill/>
          <a:ln cap="flat" cmpd="sng" w="9525">
            <a:solidFill>
              <a:schemeClr val="dk2"/>
            </a:solidFill>
            <a:prstDash val="solid"/>
            <a:round/>
            <a:headEnd len="sm" w="sm" type="none"/>
            <a:tailEnd len="sm" w="sm" type="none"/>
          </a:ln>
        </p:spPr>
      </p:pic>
      <p:sp>
        <p:nvSpPr>
          <p:cNvPr id="96" name="Google Shape;96;p11"/>
          <p:cNvSpPr txBox="1"/>
          <p:nvPr/>
        </p:nvSpPr>
        <p:spPr>
          <a:xfrm>
            <a:off x="15934540" y="5322458"/>
            <a:ext cx="8111119" cy="7817846"/>
          </a:xfrm>
          <a:prstGeom prst="rect">
            <a:avLst/>
          </a:prstGeom>
          <a:solidFill>
            <a:srgbClr val="E0F5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3600"/>
              <a:buFont typeface="Arial"/>
              <a:buNone/>
            </a:pPr>
            <a:r>
              <a:rPr b="1" lang="en-US" sz="3600" u="sng">
                <a:solidFill>
                  <a:schemeClr val="dk2"/>
                </a:solidFill>
                <a:latin typeface="Open Sans Light"/>
                <a:ea typeface="Open Sans Light"/>
                <a:cs typeface="Open Sans Light"/>
                <a:sym typeface="Open Sans Light"/>
              </a:rPr>
              <a:t>Challenge Activity: Lost Packets </a:t>
            </a:r>
            <a:endParaRPr/>
          </a:p>
          <a:p>
            <a:pPr indent="-571500" lvl="0" marL="571500" marR="0" rtl="0" algn="l">
              <a:lnSpc>
                <a:spcPct val="150000"/>
              </a:lnSpc>
              <a:spcBef>
                <a:spcPts val="720"/>
              </a:spcBef>
              <a:spcAft>
                <a:spcPts val="0"/>
              </a:spcAft>
              <a:buClr>
                <a:schemeClr val="dk2"/>
              </a:buClr>
              <a:buSzPts val="3600"/>
              <a:buFont typeface="Arial"/>
              <a:buChar char="•"/>
            </a:pPr>
            <a:r>
              <a:rPr b="1" lang="en-US" sz="3600">
                <a:solidFill>
                  <a:schemeClr val="dk2"/>
                </a:solidFill>
                <a:latin typeface="Open Sans Light"/>
                <a:ea typeface="Open Sans Light"/>
                <a:cs typeface="Open Sans Light"/>
                <a:sym typeface="Open Sans Light"/>
              </a:rPr>
              <a:t>Answer these questions in your workbooks</a:t>
            </a:r>
            <a:endParaRPr/>
          </a:p>
          <a:p>
            <a:pPr indent="-742950" lvl="0" marL="742950" marR="0" rtl="0" algn="l">
              <a:lnSpc>
                <a:spcPct val="150000"/>
              </a:lnSpc>
              <a:spcBef>
                <a:spcPts val="720"/>
              </a:spcBef>
              <a:spcAft>
                <a:spcPts val="0"/>
              </a:spcAft>
              <a:buClr>
                <a:srgbClr val="1C8256"/>
              </a:buClr>
              <a:buSzPts val="3600"/>
              <a:buFont typeface="Calibri"/>
              <a:buAutoNum type="arabicPeriod"/>
            </a:pPr>
            <a:r>
              <a:rPr lang="en-US" sz="3600">
                <a:solidFill>
                  <a:srgbClr val="1C8256"/>
                </a:solidFill>
                <a:latin typeface="Lato Light"/>
                <a:ea typeface="Lato Light"/>
                <a:cs typeface="Lato Light"/>
                <a:sym typeface="Lato Light"/>
              </a:rPr>
              <a:t>Define</a:t>
            </a:r>
            <a:r>
              <a:rPr lang="en-US" sz="3600">
                <a:solidFill>
                  <a:schemeClr val="dk2"/>
                </a:solidFill>
                <a:latin typeface="Lato Light"/>
                <a:ea typeface="Lato Light"/>
                <a:cs typeface="Lato Light"/>
                <a:sym typeface="Lato Light"/>
              </a:rPr>
              <a:t> encryption and </a:t>
            </a:r>
            <a:r>
              <a:rPr lang="en-US" sz="3600">
                <a:solidFill>
                  <a:srgbClr val="1C8256"/>
                </a:solidFill>
                <a:latin typeface="Lato Light"/>
                <a:ea typeface="Lato Light"/>
                <a:cs typeface="Lato Light"/>
                <a:sym typeface="Lato Light"/>
              </a:rPr>
              <a:t>explain</a:t>
            </a:r>
            <a:r>
              <a:rPr lang="en-US" sz="3600">
                <a:solidFill>
                  <a:schemeClr val="dk2"/>
                </a:solidFill>
                <a:latin typeface="Lato Light"/>
                <a:ea typeface="Lato Light"/>
                <a:cs typeface="Lato Light"/>
                <a:sym typeface="Lato Light"/>
              </a:rPr>
              <a:t> its main purpose in data transmission.</a:t>
            </a:r>
            <a:endParaRPr/>
          </a:p>
          <a:p>
            <a:pPr indent="-742950" lvl="0" marL="742950" marR="0" rtl="0" algn="l">
              <a:lnSpc>
                <a:spcPct val="150000"/>
              </a:lnSpc>
              <a:spcBef>
                <a:spcPts val="720"/>
              </a:spcBef>
              <a:spcAft>
                <a:spcPts val="0"/>
              </a:spcAft>
              <a:buClr>
                <a:srgbClr val="7030A0"/>
              </a:buClr>
              <a:buSzPts val="3600"/>
              <a:buFont typeface="Calibri"/>
              <a:buAutoNum type="arabicPeriod"/>
            </a:pPr>
            <a:r>
              <a:rPr lang="en-US" sz="3600">
                <a:solidFill>
                  <a:srgbClr val="7030A0"/>
                </a:solidFill>
                <a:latin typeface="Lato Light"/>
                <a:ea typeface="Lato Light"/>
                <a:cs typeface="Lato Light"/>
                <a:sym typeface="Lato Light"/>
              </a:rPr>
              <a:t>Differentiate</a:t>
            </a:r>
            <a:r>
              <a:rPr lang="en-US" sz="3600">
                <a:solidFill>
                  <a:schemeClr val="dk2"/>
                </a:solidFill>
                <a:latin typeface="Lato Light"/>
                <a:ea typeface="Lato Light"/>
                <a:cs typeface="Lato Light"/>
                <a:sym typeface="Lato Light"/>
              </a:rPr>
              <a:t> between Symmetric and asymmetric encryption. </a:t>
            </a:r>
            <a:r>
              <a:rPr lang="en-US" sz="3600">
                <a:solidFill>
                  <a:srgbClr val="7030A0"/>
                </a:solidFill>
                <a:latin typeface="Lato Light"/>
                <a:ea typeface="Lato Light"/>
                <a:cs typeface="Lato Light"/>
                <a:sym typeface="Lato Light"/>
              </a:rPr>
              <a:t>Explain</a:t>
            </a:r>
            <a:r>
              <a:rPr lang="en-US" sz="3600">
                <a:solidFill>
                  <a:schemeClr val="dk2"/>
                </a:solidFill>
                <a:latin typeface="Lato Light"/>
                <a:ea typeface="Lato Light"/>
                <a:cs typeface="Lato Light"/>
                <a:sym typeface="Lato Light"/>
              </a:rPr>
              <a:t> the role of public and private keys in Asymmetric encryption.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84"/>
                                        </p:tgtEl>
                                        <p:attrNameLst>
                                          <p:attrName>style.visibility</p:attrName>
                                        </p:attrNameLst>
                                      </p:cBhvr>
                                      <p:to>
                                        <p:strVal val="visible"/>
                                      </p:to>
                                    </p:set>
                                    <p:anim calcmode="lin" valueType="num">
                                      <p:cBhvr additive="base">
                                        <p:cTn dur="500"/>
                                        <p:tgtEl>
                                          <p:spTgt spid="84"/>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2">
                                  <p:stCondLst>
                                    <p:cond delay="0"/>
                                  </p:stCondLst>
                                  <p:childTnLst>
                                    <p:set>
                                      <p:cBhvr>
                                        <p:cTn dur="1" fill="hold">
                                          <p:stCondLst>
                                            <p:cond delay="0"/>
                                          </p:stCondLst>
                                        </p:cTn>
                                        <p:tgtEl>
                                          <p:spTgt spid="93"/>
                                        </p:tgtEl>
                                        <p:attrNameLst>
                                          <p:attrName>style.visibility</p:attrName>
                                        </p:attrNameLst>
                                      </p:cBhvr>
                                      <p:to>
                                        <p:strVal val="visible"/>
                                      </p:to>
                                    </p:set>
                                    <p:anim calcmode="lin" valueType="num">
                                      <p:cBhvr additive="base">
                                        <p:cTn dur="500"/>
                                        <p:tgtEl>
                                          <p:spTgt spid="9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91"/>
                                        </p:tgtEl>
                                        <p:attrNameLst>
                                          <p:attrName>style.visibility</p:attrName>
                                        </p:attrNameLst>
                                      </p:cBhvr>
                                      <p:to>
                                        <p:strVal val="visible"/>
                                      </p:to>
                                    </p:set>
                                    <p:anim calcmode="lin" valueType="num">
                                      <p:cBhvr additive="base">
                                        <p:cTn dur="500"/>
                                        <p:tgtEl>
                                          <p:spTgt spid="91"/>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4">
                                  <p:stCondLst>
                                    <p:cond delay="0"/>
                                  </p:stCondLst>
                                  <p:childTnLst>
                                    <p:set>
                                      <p:cBhvr>
                                        <p:cTn dur="1" fill="hold">
                                          <p:stCondLst>
                                            <p:cond delay="0"/>
                                          </p:stCondLst>
                                        </p:cTn>
                                        <p:tgtEl>
                                          <p:spTgt spid="94"/>
                                        </p:tgtEl>
                                        <p:attrNameLst>
                                          <p:attrName>style.visibility</p:attrName>
                                        </p:attrNameLst>
                                      </p:cBhvr>
                                      <p:to>
                                        <p:strVal val="visible"/>
                                      </p:to>
                                    </p:set>
                                    <p:anim calcmode="lin" valueType="num">
                                      <p:cBhvr additive="base">
                                        <p:cTn dur="500"/>
                                        <p:tgtEl>
                                          <p:spTgt spid="94"/>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4">
                                  <p:stCondLst>
                                    <p:cond delay="0"/>
                                  </p:stCondLst>
                                  <p:childTnLst>
                                    <p:set>
                                      <p:cBhvr>
                                        <p:cTn dur="1" fill="hold">
                                          <p:stCondLst>
                                            <p:cond delay="0"/>
                                          </p:stCondLst>
                                        </p:cTn>
                                        <p:tgtEl>
                                          <p:spTgt spid="95"/>
                                        </p:tgtEl>
                                        <p:attrNameLst>
                                          <p:attrName>style.visibility</p:attrName>
                                        </p:attrNameLst>
                                      </p:cBhvr>
                                      <p:to>
                                        <p:strVal val="visible"/>
                                      </p:to>
                                    </p:set>
                                    <p:anim calcmode="lin" valueType="num">
                                      <p:cBhvr additive="base">
                                        <p:cTn dur="500"/>
                                        <p:tgtEl>
                                          <p:spTgt spid="95"/>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6"/>
                                        </p:tgtEl>
                                        <p:attrNameLst>
                                          <p:attrName>style.visibility</p:attrName>
                                        </p:attrNameLst>
                                      </p:cBhvr>
                                      <p:to>
                                        <p:strVal val="visible"/>
                                      </p:to>
                                    </p:set>
                                    <p:animEffect filter="fade" transition="in">
                                      <p:cBhvr>
                                        <p:cTn dur="500"/>
                                        <p:tgtEl>
                                          <p:spTgt spid="9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2"/>
          <p:cNvSpPr txBox="1"/>
          <p:nvPr/>
        </p:nvSpPr>
        <p:spPr>
          <a:xfrm>
            <a:off x="932093" y="290312"/>
            <a:ext cx="23120601" cy="2862322"/>
          </a:xfrm>
          <a:prstGeom prst="rect">
            <a:avLst/>
          </a:prstGeom>
          <a:solidFill>
            <a:srgbClr val="C1E8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2"/>
              </a:buClr>
              <a:buSzPts val="18000"/>
              <a:buFont typeface="Arial"/>
              <a:buNone/>
            </a:pPr>
            <a:r>
              <a:rPr b="1" lang="en-US" sz="18000">
                <a:solidFill>
                  <a:schemeClr val="dk2"/>
                </a:solidFill>
                <a:latin typeface="Open Sans Light"/>
                <a:ea typeface="Open Sans Light"/>
                <a:cs typeface="Open Sans Light"/>
                <a:sym typeface="Open Sans Light"/>
              </a:rPr>
              <a:t>Turn and Talk</a:t>
            </a:r>
            <a:endParaRPr sz="18000">
              <a:solidFill>
                <a:schemeClr val="dk2"/>
              </a:solidFill>
              <a:latin typeface="Open Sans Light"/>
              <a:ea typeface="Open Sans Light"/>
              <a:cs typeface="Open Sans Light"/>
              <a:sym typeface="Open Sans Light"/>
            </a:endParaRPr>
          </a:p>
        </p:txBody>
      </p:sp>
      <p:sp>
        <p:nvSpPr>
          <p:cNvPr id="103" name="Google Shape;103;p12"/>
          <p:cNvSpPr txBox="1"/>
          <p:nvPr/>
        </p:nvSpPr>
        <p:spPr>
          <a:xfrm>
            <a:off x="932092" y="3433591"/>
            <a:ext cx="23120601" cy="9787679"/>
          </a:xfrm>
          <a:prstGeom prst="rect">
            <a:avLst/>
          </a:prstGeom>
          <a:solidFill>
            <a:srgbClr val="FFECBA"/>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14500"/>
              <a:buFont typeface="Arial"/>
              <a:buNone/>
            </a:pPr>
            <a:r>
              <a:rPr lang="en-US" sz="14500">
                <a:solidFill>
                  <a:schemeClr val="dk2"/>
                </a:solidFill>
                <a:latin typeface="Calibri"/>
                <a:ea typeface="Calibri"/>
                <a:cs typeface="Calibri"/>
                <a:sym typeface="Calibri"/>
              </a:rPr>
              <a:t>What </a:t>
            </a:r>
            <a:r>
              <a:rPr lang="en-US" sz="14500">
                <a:solidFill>
                  <a:srgbClr val="7030A0"/>
                </a:solidFill>
                <a:latin typeface="Calibri"/>
                <a:ea typeface="Calibri"/>
                <a:cs typeface="Calibri"/>
                <a:sym typeface="Calibri"/>
              </a:rPr>
              <a:t>behaviour rules </a:t>
            </a:r>
            <a:r>
              <a:rPr lang="en-US" sz="14500">
                <a:solidFill>
                  <a:schemeClr val="dk2"/>
                </a:solidFill>
                <a:latin typeface="Calibri"/>
                <a:ea typeface="Calibri"/>
                <a:cs typeface="Calibri"/>
                <a:sym typeface="Calibri"/>
              </a:rPr>
              <a:t>do we have when using </a:t>
            </a:r>
            <a:r>
              <a:rPr lang="en-US" sz="14500">
                <a:solidFill>
                  <a:srgbClr val="7030A0"/>
                </a:solidFill>
                <a:latin typeface="Calibri"/>
                <a:ea typeface="Calibri"/>
                <a:cs typeface="Calibri"/>
                <a:sym typeface="Calibri"/>
              </a:rPr>
              <a:t>your teacher’s </a:t>
            </a:r>
            <a:r>
              <a:rPr lang="en-US" sz="14500">
                <a:solidFill>
                  <a:schemeClr val="dk2"/>
                </a:solidFill>
                <a:latin typeface="Calibri"/>
                <a:ea typeface="Calibri"/>
                <a:cs typeface="Calibri"/>
                <a:sym typeface="Calibri"/>
              </a:rPr>
              <a:t>computers?</a:t>
            </a:r>
            <a:endParaRPr i="1" sz="14500">
              <a:solidFill>
                <a:schemeClr val="dk2"/>
              </a:solidFill>
              <a:latin typeface="Calibri"/>
              <a:ea typeface="Calibri"/>
              <a:cs typeface="Calibri"/>
              <a:sym typeface="Calibri"/>
            </a:endParaRPr>
          </a:p>
        </p:txBody>
      </p:sp>
    </p:spTree>
  </p:cSld>
  <p:clrMapOvr>
    <a:masterClrMapping/>
  </p:clrMapOvr>
  <p:transition spd="slow">
    <p:push/>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3">
                                            <p:txEl>
                                              <p:pRg end="0" st="0"/>
                                            </p:txEl>
                                          </p:spTgt>
                                        </p:tgtEl>
                                        <p:attrNameLst>
                                          <p:attrName>style.visibility</p:attrName>
                                        </p:attrNameLst>
                                      </p:cBhvr>
                                      <p:to>
                                        <p:strVal val="visible"/>
                                      </p:to>
                                    </p:set>
                                    <p:animEffect filter="fade" transition="in">
                                      <p:cBhvr>
                                        <p:cTn dur="500"/>
                                        <p:tgtEl>
                                          <p:spTgt spid="103">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13"/>
          <p:cNvSpPr txBox="1"/>
          <p:nvPr/>
        </p:nvSpPr>
        <p:spPr>
          <a:xfrm>
            <a:off x="892338" y="1363738"/>
            <a:ext cx="9603386" cy="2400657"/>
          </a:xfrm>
          <a:prstGeom prst="rect">
            <a:avLst/>
          </a:prstGeom>
          <a:solidFill>
            <a:srgbClr val="C1E8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2"/>
              </a:buClr>
              <a:buSzPts val="15000"/>
              <a:buFont typeface="Arial"/>
              <a:buNone/>
            </a:pPr>
            <a:r>
              <a:rPr b="1" lang="en-US" sz="15000">
                <a:solidFill>
                  <a:schemeClr val="dk2"/>
                </a:solidFill>
                <a:latin typeface="Open Sans Light"/>
                <a:ea typeface="Open Sans Light"/>
                <a:cs typeface="Open Sans Light"/>
                <a:sym typeface="Open Sans Light"/>
              </a:rPr>
              <a:t>Instructions</a:t>
            </a:r>
            <a:endParaRPr sz="15000">
              <a:solidFill>
                <a:schemeClr val="dk2"/>
              </a:solidFill>
              <a:latin typeface="Open Sans Light"/>
              <a:ea typeface="Open Sans Light"/>
              <a:cs typeface="Open Sans Light"/>
              <a:sym typeface="Open Sans Light"/>
            </a:endParaRPr>
          </a:p>
        </p:txBody>
      </p:sp>
      <p:sp>
        <p:nvSpPr>
          <p:cNvPr id="110" name="Google Shape;110;p13"/>
          <p:cNvSpPr txBox="1"/>
          <p:nvPr/>
        </p:nvSpPr>
        <p:spPr>
          <a:xfrm>
            <a:off x="892338" y="4109452"/>
            <a:ext cx="9603386" cy="8135689"/>
          </a:xfrm>
          <a:prstGeom prst="rect">
            <a:avLst/>
          </a:prstGeom>
          <a:solidFill>
            <a:srgbClr val="DEF8ED"/>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1143000" lvl="0" marL="1143000" marR="0" rtl="0" algn="l">
              <a:lnSpc>
                <a:spcPct val="150000"/>
              </a:lnSpc>
              <a:spcBef>
                <a:spcPts val="0"/>
              </a:spcBef>
              <a:spcAft>
                <a:spcPts val="0"/>
              </a:spcAft>
              <a:buClr>
                <a:schemeClr val="dk2"/>
              </a:buClr>
              <a:buSzPts val="11500"/>
              <a:buFont typeface="Arial"/>
              <a:buChar char="•"/>
            </a:pPr>
            <a:r>
              <a:rPr b="1" lang="en-US" sz="11500">
                <a:solidFill>
                  <a:schemeClr val="dk2"/>
                </a:solidFill>
                <a:latin typeface="Calibri"/>
                <a:ea typeface="Calibri"/>
                <a:cs typeface="Calibri"/>
                <a:sym typeface="Calibri"/>
              </a:rPr>
              <a:t>Log</a:t>
            </a:r>
            <a:r>
              <a:rPr lang="en-US" sz="11500">
                <a:solidFill>
                  <a:schemeClr val="dk2"/>
                </a:solidFill>
                <a:latin typeface="Calibri"/>
                <a:ea typeface="Calibri"/>
                <a:cs typeface="Calibri"/>
                <a:sym typeface="Calibri"/>
              </a:rPr>
              <a:t> onto your </a:t>
            </a:r>
            <a:r>
              <a:rPr lang="en-US" sz="11500">
                <a:solidFill>
                  <a:srgbClr val="7030A0"/>
                </a:solidFill>
                <a:latin typeface="Calibri"/>
                <a:ea typeface="Calibri"/>
                <a:cs typeface="Calibri"/>
                <a:sym typeface="Calibri"/>
              </a:rPr>
              <a:t>computers</a:t>
            </a:r>
            <a:r>
              <a:rPr lang="en-US" sz="11500">
                <a:solidFill>
                  <a:schemeClr val="dk2"/>
                </a:solidFill>
                <a:latin typeface="Calibri"/>
                <a:ea typeface="Calibri"/>
                <a:cs typeface="Calibri"/>
                <a:sym typeface="Calibri"/>
              </a:rPr>
              <a:t>.</a:t>
            </a:r>
            <a:endParaRPr/>
          </a:p>
          <a:p>
            <a:pPr indent="-1143000" lvl="0" marL="1143000" marR="0" rtl="0" algn="l">
              <a:lnSpc>
                <a:spcPct val="150000"/>
              </a:lnSpc>
              <a:spcBef>
                <a:spcPts val="2300"/>
              </a:spcBef>
              <a:spcAft>
                <a:spcPts val="0"/>
              </a:spcAft>
              <a:buClr>
                <a:schemeClr val="dk2"/>
              </a:buClr>
              <a:buSzPts val="11500"/>
              <a:buFont typeface="Arial"/>
              <a:buChar char="•"/>
            </a:pPr>
            <a:r>
              <a:rPr b="1" lang="en-US" sz="11500">
                <a:solidFill>
                  <a:schemeClr val="dk2"/>
                </a:solidFill>
                <a:latin typeface="Calibri"/>
                <a:ea typeface="Calibri"/>
                <a:cs typeface="Calibri"/>
                <a:sym typeface="Calibri"/>
              </a:rPr>
              <a:t>Open</a:t>
            </a:r>
            <a:r>
              <a:rPr lang="en-US" sz="11500">
                <a:solidFill>
                  <a:schemeClr val="dk2"/>
                </a:solidFill>
                <a:latin typeface="Calibri"/>
                <a:ea typeface="Calibri"/>
                <a:cs typeface="Calibri"/>
                <a:sym typeface="Calibri"/>
              </a:rPr>
              <a:t> </a:t>
            </a:r>
            <a:r>
              <a:rPr lang="en-US" sz="11500">
                <a:solidFill>
                  <a:srgbClr val="7030A0"/>
                </a:solidFill>
                <a:latin typeface="Calibri"/>
                <a:ea typeface="Calibri"/>
                <a:cs typeface="Calibri"/>
                <a:sym typeface="Calibri"/>
              </a:rPr>
              <a:t>Kahoot</a:t>
            </a:r>
            <a:r>
              <a:rPr lang="en-US" sz="11500">
                <a:solidFill>
                  <a:schemeClr val="dk2"/>
                </a:solidFill>
                <a:latin typeface="Calibri"/>
                <a:ea typeface="Calibri"/>
                <a:cs typeface="Calibri"/>
                <a:sym typeface="Calibri"/>
              </a:rPr>
              <a:t>.</a:t>
            </a:r>
            <a:endParaRPr/>
          </a:p>
        </p:txBody>
      </p:sp>
      <p:pic>
        <p:nvPicPr>
          <p:cNvPr id="111" name="Google Shape;111;p13"/>
          <p:cNvPicPr preferRelativeResize="0"/>
          <p:nvPr/>
        </p:nvPicPr>
        <p:blipFill rotWithShape="1">
          <a:blip r:embed="rId3">
            <a:alphaModFix/>
          </a:blip>
          <a:srcRect b="0" l="0" r="0" t="0"/>
          <a:stretch/>
        </p:blipFill>
        <p:spPr>
          <a:xfrm>
            <a:off x="11302169" y="3180522"/>
            <a:ext cx="12121323" cy="6818244"/>
          </a:xfrm>
          <a:prstGeom prst="rect">
            <a:avLst/>
          </a:prstGeom>
          <a:noFill/>
          <a:ln>
            <a:noFill/>
          </a:ln>
        </p:spPr>
      </p:pic>
    </p:spTree>
  </p:cSld>
  <p:clrMapOvr>
    <a:masterClrMapping/>
  </p:clrMapOvr>
  <p:transition spd="slow">
    <p:push/>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0">
                                            <p:txEl>
                                              <p:pRg end="0" st="0"/>
                                            </p:txEl>
                                          </p:spTgt>
                                        </p:tgtEl>
                                        <p:attrNameLst>
                                          <p:attrName>style.visibility</p:attrName>
                                        </p:attrNameLst>
                                      </p:cBhvr>
                                      <p:to>
                                        <p:strVal val="visible"/>
                                      </p:to>
                                    </p:set>
                                    <p:animEffect filter="fade" transition="in">
                                      <p:cBhvr>
                                        <p:cTn dur="500"/>
                                        <p:tgtEl>
                                          <p:spTgt spid="110">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0">
                                            <p:txEl>
                                              <p:pRg end="1" st="1"/>
                                            </p:txEl>
                                          </p:spTgt>
                                        </p:tgtEl>
                                        <p:attrNameLst>
                                          <p:attrName>style.visibility</p:attrName>
                                        </p:attrNameLst>
                                      </p:cBhvr>
                                      <p:to>
                                        <p:strVal val="visible"/>
                                      </p:to>
                                    </p:set>
                                    <p:animEffect filter="fade" transition="in">
                                      <p:cBhvr>
                                        <p:cTn dur="500"/>
                                        <p:tgtEl>
                                          <p:spTgt spid="110">
                                            <p:txEl>
                                              <p:pRg end="1" st="1"/>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14"/>
          <p:cNvSpPr/>
          <p:nvPr/>
        </p:nvSpPr>
        <p:spPr>
          <a:xfrm>
            <a:off x="646235" y="153309"/>
            <a:ext cx="23455239" cy="1755004"/>
          </a:xfrm>
          <a:prstGeom prst="roundRect">
            <a:avLst>
              <a:gd fmla="val 16667" name="adj"/>
            </a:avLst>
          </a:prstGeom>
          <a:solidFill>
            <a:schemeClr val="accent3"/>
          </a:solidFill>
          <a:ln cap="flat" cmpd="sng" w="9525">
            <a:solidFill>
              <a:schemeClr val="dk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5400">
              <a:solidFill>
                <a:schemeClr val="dk1"/>
              </a:solidFill>
              <a:latin typeface="Calibri"/>
              <a:ea typeface="Calibri"/>
              <a:cs typeface="Calibri"/>
              <a:sym typeface="Calibri"/>
            </a:endParaRPr>
          </a:p>
        </p:txBody>
      </p:sp>
      <p:sp>
        <p:nvSpPr>
          <p:cNvPr id="118" name="Google Shape;118;p14"/>
          <p:cNvSpPr txBox="1"/>
          <p:nvPr/>
        </p:nvSpPr>
        <p:spPr>
          <a:xfrm>
            <a:off x="1074582" y="270424"/>
            <a:ext cx="22598544" cy="1334211"/>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000"/>
              <a:buFont typeface="Arial"/>
              <a:buNone/>
            </a:pPr>
            <a:r>
              <a:rPr b="1" lang="en-US" sz="6000" u="sng">
                <a:solidFill>
                  <a:schemeClr val="dk2"/>
                </a:solidFill>
                <a:latin typeface="Calibri"/>
                <a:ea typeface="Calibri"/>
                <a:cs typeface="Calibri"/>
                <a:sym typeface="Calibri"/>
              </a:rPr>
              <a:t>Target Task: Reflective Writing or Exam Practice</a:t>
            </a:r>
            <a:endParaRPr/>
          </a:p>
        </p:txBody>
      </p:sp>
      <p:cxnSp>
        <p:nvCxnSpPr>
          <p:cNvPr id="119" name="Google Shape;119;p14"/>
          <p:cNvCxnSpPr/>
          <p:nvPr/>
        </p:nvCxnSpPr>
        <p:spPr>
          <a:xfrm>
            <a:off x="10859432" y="2047026"/>
            <a:ext cx="0" cy="11389526"/>
          </a:xfrm>
          <a:prstGeom prst="straightConnector1">
            <a:avLst/>
          </a:prstGeom>
          <a:noFill/>
          <a:ln cap="flat" cmpd="sng" w="9525">
            <a:solidFill>
              <a:schemeClr val="dk2"/>
            </a:solidFill>
            <a:prstDash val="solid"/>
            <a:miter lim="800000"/>
            <a:headEnd len="sm" w="sm" type="none"/>
            <a:tailEnd len="sm" w="sm" type="none"/>
          </a:ln>
        </p:spPr>
      </p:cxnSp>
      <p:sp>
        <p:nvSpPr>
          <p:cNvPr id="120" name="Google Shape;120;p14"/>
          <p:cNvSpPr/>
          <p:nvPr/>
        </p:nvSpPr>
        <p:spPr>
          <a:xfrm>
            <a:off x="646236" y="2047026"/>
            <a:ext cx="9771394" cy="11389526"/>
          </a:xfrm>
          <a:prstGeom prst="roundRect">
            <a:avLst>
              <a:gd fmla="val 16667" name="adj"/>
            </a:avLst>
          </a:prstGeom>
          <a:solidFill>
            <a:srgbClr val="E0F5F9"/>
          </a:solidFill>
          <a:ln cap="flat" cmpd="sng" w="9525">
            <a:solidFill>
              <a:schemeClr val="dk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4400">
              <a:solidFill>
                <a:schemeClr val="dk1"/>
              </a:solidFill>
              <a:latin typeface="Calibri"/>
              <a:ea typeface="Calibri"/>
              <a:cs typeface="Calibri"/>
              <a:sym typeface="Calibri"/>
            </a:endParaRPr>
          </a:p>
        </p:txBody>
      </p:sp>
      <p:sp>
        <p:nvSpPr>
          <p:cNvPr id="121" name="Google Shape;121;p14"/>
          <p:cNvSpPr txBox="1"/>
          <p:nvPr/>
        </p:nvSpPr>
        <p:spPr>
          <a:xfrm>
            <a:off x="2756683" y="2266295"/>
            <a:ext cx="6437168" cy="923330"/>
          </a:xfrm>
          <a:prstGeom prst="rect">
            <a:avLst/>
          </a:prstGeom>
          <a:noFill/>
          <a:ln>
            <a:noFill/>
          </a:ln>
        </p:spPr>
        <p:txBody>
          <a:bodyPr anchorCtr="0" anchor="b" bIns="45700" lIns="91425" spcFirstLastPara="1" rIns="91425" wrap="square" tIns="45700">
            <a:spAutoFit/>
          </a:bodyPr>
          <a:lstStyle/>
          <a:p>
            <a:pPr indent="0" lvl="0" marL="0" marR="0" rtl="0" algn="ctr">
              <a:spcBef>
                <a:spcPts val="0"/>
              </a:spcBef>
              <a:spcAft>
                <a:spcPts val="0"/>
              </a:spcAft>
              <a:buNone/>
            </a:pPr>
            <a:r>
              <a:rPr b="1" lang="en-US" sz="5400" u="sng">
                <a:solidFill>
                  <a:schemeClr val="dk2"/>
                </a:solidFill>
                <a:latin typeface="Poppins"/>
                <a:ea typeface="Poppins"/>
                <a:cs typeface="Poppins"/>
                <a:sym typeface="Poppins"/>
              </a:rPr>
              <a:t>Option 1: Reflective</a:t>
            </a:r>
            <a:endParaRPr/>
          </a:p>
        </p:txBody>
      </p:sp>
      <p:sp>
        <p:nvSpPr>
          <p:cNvPr id="122" name="Google Shape;122;p14"/>
          <p:cNvSpPr txBox="1"/>
          <p:nvPr/>
        </p:nvSpPr>
        <p:spPr>
          <a:xfrm>
            <a:off x="1074582" y="3284709"/>
            <a:ext cx="9141741" cy="9747925"/>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3600"/>
              <a:buFont typeface="Arial"/>
              <a:buNone/>
            </a:pPr>
            <a:r>
              <a:rPr b="1" lang="en-US" sz="3600" u="sng">
                <a:solidFill>
                  <a:schemeClr val="dk2"/>
                </a:solidFill>
                <a:latin typeface="Open Sans Light"/>
                <a:ea typeface="Open Sans Light"/>
                <a:cs typeface="Open Sans Light"/>
                <a:sym typeface="Open Sans Light"/>
              </a:rPr>
              <a:t>Instructions </a:t>
            </a:r>
            <a:r>
              <a:rPr b="1" lang="en-US" sz="3600">
                <a:solidFill>
                  <a:schemeClr val="dk2"/>
                </a:solidFill>
                <a:latin typeface="Open Sans Light"/>
                <a:ea typeface="Open Sans Light"/>
                <a:cs typeface="Open Sans Light"/>
                <a:sym typeface="Open Sans Light"/>
              </a:rPr>
              <a:t>– </a:t>
            </a:r>
            <a:r>
              <a:rPr i="1" lang="en-US" sz="3600">
                <a:solidFill>
                  <a:schemeClr val="dk2"/>
                </a:solidFill>
                <a:latin typeface="Open Sans Light"/>
                <a:ea typeface="Open Sans Light"/>
                <a:cs typeface="Open Sans Light"/>
                <a:sym typeface="Open Sans Light"/>
              </a:rPr>
              <a:t>Write a </a:t>
            </a:r>
            <a:r>
              <a:rPr i="1" lang="en-US" sz="3600" u="sng">
                <a:solidFill>
                  <a:schemeClr val="dk2"/>
                </a:solidFill>
                <a:latin typeface="Open Sans Light"/>
                <a:ea typeface="Open Sans Light"/>
                <a:cs typeface="Open Sans Light"/>
                <a:sym typeface="Open Sans Light"/>
              </a:rPr>
              <a:t>short essay </a:t>
            </a:r>
            <a:r>
              <a:rPr i="1" lang="en-US" sz="3600">
                <a:solidFill>
                  <a:schemeClr val="dk2"/>
                </a:solidFill>
                <a:latin typeface="Open Sans Light"/>
                <a:ea typeface="Open Sans Light"/>
                <a:cs typeface="Open Sans Light"/>
                <a:sym typeface="Open Sans Light"/>
              </a:rPr>
              <a:t>reflecting on this question – Will quantum processors replace tradition microprocessors in the next two decades?</a:t>
            </a:r>
            <a:endParaRPr/>
          </a:p>
          <a:p>
            <a:pPr indent="0" lvl="0" marL="0" marR="0" rtl="0" algn="ctr">
              <a:lnSpc>
                <a:spcPct val="150000"/>
              </a:lnSpc>
              <a:spcBef>
                <a:spcPts val="720"/>
              </a:spcBef>
              <a:spcAft>
                <a:spcPts val="0"/>
              </a:spcAft>
              <a:buClr>
                <a:schemeClr val="dk2"/>
              </a:buClr>
              <a:buSzPts val="3600"/>
              <a:buFont typeface="Arial"/>
              <a:buNone/>
            </a:pPr>
            <a:r>
              <a:rPr b="1" lang="en-US" sz="3600" u="sng">
                <a:solidFill>
                  <a:schemeClr val="dk2"/>
                </a:solidFill>
                <a:latin typeface="Lato Light"/>
                <a:ea typeface="Lato Light"/>
                <a:cs typeface="Lato Light"/>
                <a:sym typeface="Lato Light"/>
              </a:rPr>
              <a:t>Success Criteria</a:t>
            </a:r>
            <a:endParaRPr/>
          </a:p>
          <a:p>
            <a:pPr indent="-571500" lvl="0" marL="571500" marR="0" rtl="0" algn="l">
              <a:lnSpc>
                <a:spcPct val="150000"/>
              </a:lnSpc>
              <a:spcBef>
                <a:spcPts val="640"/>
              </a:spcBef>
              <a:spcAft>
                <a:spcPts val="0"/>
              </a:spcAft>
              <a:buClr>
                <a:schemeClr val="dk2"/>
              </a:buClr>
              <a:buSzPts val="3200"/>
              <a:buFont typeface="Arial"/>
              <a:buChar char="•"/>
            </a:pPr>
            <a:r>
              <a:rPr lang="en-US" sz="3200">
                <a:solidFill>
                  <a:schemeClr val="dk2"/>
                </a:solidFill>
                <a:latin typeface="Lato Light"/>
                <a:ea typeface="Lato Light"/>
                <a:cs typeface="Lato Light"/>
                <a:sym typeface="Lato Light"/>
              </a:rPr>
              <a:t>Demonstrate an </a:t>
            </a:r>
            <a:r>
              <a:rPr lang="en-US" sz="3200">
                <a:solidFill>
                  <a:srgbClr val="1C8256"/>
                </a:solidFill>
                <a:latin typeface="Lato Light"/>
                <a:ea typeface="Lato Light"/>
                <a:cs typeface="Lato Light"/>
                <a:sym typeface="Lato Light"/>
              </a:rPr>
              <a:t>understanding</a:t>
            </a:r>
            <a:r>
              <a:rPr lang="en-US" sz="3200">
                <a:solidFill>
                  <a:schemeClr val="dk2"/>
                </a:solidFill>
                <a:latin typeface="Lato Light"/>
                <a:ea typeface="Lato Light"/>
                <a:cs typeface="Lato Light"/>
                <a:sym typeface="Lato Light"/>
              </a:rPr>
              <a:t> of </a:t>
            </a:r>
            <a:r>
              <a:rPr lang="en-US" sz="3200">
                <a:solidFill>
                  <a:srgbClr val="1C8256"/>
                </a:solidFill>
                <a:latin typeface="Lato Light"/>
                <a:ea typeface="Lato Light"/>
                <a:cs typeface="Lato Light"/>
                <a:sym typeface="Lato Light"/>
              </a:rPr>
              <a:t>both </a:t>
            </a:r>
            <a:r>
              <a:rPr lang="en-US" sz="3200">
                <a:solidFill>
                  <a:schemeClr val="dk2"/>
                </a:solidFill>
                <a:latin typeface="Lato Light"/>
                <a:ea typeface="Lato Light"/>
                <a:cs typeface="Lato Light"/>
                <a:sym typeface="Lato Light"/>
              </a:rPr>
              <a:t>quantum processors and traditional microprocessors.</a:t>
            </a:r>
            <a:endParaRPr i="1" sz="3200">
              <a:solidFill>
                <a:schemeClr val="dk2"/>
              </a:solidFill>
              <a:latin typeface="Lato Light"/>
              <a:ea typeface="Lato Light"/>
              <a:cs typeface="Lato Light"/>
              <a:sym typeface="Lato Light"/>
            </a:endParaRPr>
          </a:p>
          <a:p>
            <a:pPr indent="-571500" lvl="0" marL="571500" marR="0" rtl="0" algn="l">
              <a:lnSpc>
                <a:spcPct val="150000"/>
              </a:lnSpc>
              <a:spcBef>
                <a:spcPts val="640"/>
              </a:spcBef>
              <a:spcAft>
                <a:spcPts val="0"/>
              </a:spcAft>
              <a:buClr>
                <a:schemeClr val="dk2"/>
              </a:buClr>
              <a:buSzPts val="3200"/>
              <a:buFont typeface="Arial"/>
              <a:buChar char="•"/>
            </a:pPr>
            <a:r>
              <a:rPr lang="en-US" sz="3200">
                <a:solidFill>
                  <a:schemeClr val="dk2"/>
                </a:solidFill>
                <a:latin typeface="Lato Light"/>
                <a:ea typeface="Lato Light"/>
                <a:cs typeface="Lato Light"/>
                <a:sym typeface="Lato Light"/>
              </a:rPr>
              <a:t>Show that you </a:t>
            </a:r>
            <a:r>
              <a:rPr lang="en-US" sz="3200">
                <a:solidFill>
                  <a:srgbClr val="7030A0"/>
                </a:solidFill>
                <a:latin typeface="Lato Light"/>
                <a:ea typeface="Lato Light"/>
                <a:cs typeface="Lato Light"/>
                <a:sym typeface="Lato Light"/>
              </a:rPr>
              <a:t>analyse</a:t>
            </a:r>
            <a:r>
              <a:rPr lang="en-US" sz="3200">
                <a:solidFill>
                  <a:schemeClr val="dk2"/>
                </a:solidFill>
                <a:latin typeface="Lato Light"/>
                <a:ea typeface="Lato Light"/>
                <a:cs typeface="Lato Light"/>
                <a:sym typeface="Lato Light"/>
              </a:rPr>
              <a:t> the positives and negatives of each side of the argument.</a:t>
            </a:r>
            <a:endParaRPr/>
          </a:p>
          <a:p>
            <a:pPr indent="-571500" lvl="0" marL="571500" marR="0" rtl="0" algn="l">
              <a:lnSpc>
                <a:spcPct val="150000"/>
              </a:lnSpc>
              <a:spcBef>
                <a:spcPts val="640"/>
              </a:spcBef>
              <a:spcAft>
                <a:spcPts val="0"/>
              </a:spcAft>
              <a:buClr>
                <a:schemeClr val="dk2"/>
              </a:buClr>
              <a:buSzPts val="3200"/>
              <a:buFont typeface="Arial"/>
              <a:buChar char="•"/>
            </a:pPr>
            <a:r>
              <a:rPr lang="en-US" sz="3200">
                <a:solidFill>
                  <a:schemeClr val="dk2"/>
                </a:solidFill>
                <a:latin typeface="Lato Light"/>
                <a:ea typeface="Lato Light"/>
                <a:cs typeface="Lato Light"/>
                <a:sym typeface="Lato Light"/>
              </a:rPr>
              <a:t>Present your work </a:t>
            </a:r>
            <a:r>
              <a:rPr lang="en-US" sz="3200">
                <a:solidFill>
                  <a:srgbClr val="0070C0"/>
                </a:solidFill>
                <a:latin typeface="Lato Light"/>
                <a:ea typeface="Lato Light"/>
                <a:cs typeface="Lato Light"/>
                <a:sym typeface="Lato Light"/>
              </a:rPr>
              <a:t>clearly and persuasively</a:t>
            </a:r>
            <a:r>
              <a:rPr lang="en-US" sz="3200">
                <a:solidFill>
                  <a:schemeClr val="dk2"/>
                </a:solidFill>
                <a:latin typeface="Lato Light"/>
                <a:ea typeface="Lato Light"/>
                <a:cs typeface="Lato Light"/>
                <a:sym typeface="Lato Light"/>
              </a:rPr>
              <a:t> </a:t>
            </a:r>
            <a:r>
              <a:rPr i="1" lang="en-US" sz="3200">
                <a:solidFill>
                  <a:schemeClr val="dk2"/>
                </a:solidFill>
                <a:latin typeface="Lato Light"/>
                <a:ea typeface="Lato Light"/>
                <a:cs typeface="Lato Light"/>
                <a:sym typeface="Lato Light"/>
              </a:rPr>
              <a:t>(e.g., examples to support your argument, clear communication)</a:t>
            </a:r>
            <a:endParaRPr/>
          </a:p>
        </p:txBody>
      </p:sp>
      <p:sp>
        <p:nvSpPr>
          <p:cNvPr id="123" name="Google Shape;123;p14"/>
          <p:cNvSpPr/>
          <p:nvPr/>
        </p:nvSpPr>
        <p:spPr>
          <a:xfrm>
            <a:off x="11301236" y="2047025"/>
            <a:ext cx="12817700" cy="1002081"/>
          </a:xfrm>
          <a:prstGeom prst="roundRect">
            <a:avLst>
              <a:gd fmla="val 16667" name="adj"/>
            </a:avLst>
          </a:prstGeom>
          <a:solidFill>
            <a:srgbClr val="E0F5F9"/>
          </a:solidFill>
          <a:ln cap="flat" cmpd="sng" w="9525">
            <a:solidFill>
              <a:schemeClr val="dk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5400">
              <a:solidFill>
                <a:schemeClr val="dk1"/>
              </a:solidFill>
              <a:latin typeface="Calibri"/>
              <a:ea typeface="Calibri"/>
              <a:cs typeface="Calibri"/>
              <a:sym typeface="Calibri"/>
            </a:endParaRPr>
          </a:p>
        </p:txBody>
      </p:sp>
      <p:sp>
        <p:nvSpPr>
          <p:cNvPr id="124" name="Google Shape;124;p14"/>
          <p:cNvSpPr txBox="1"/>
          <p:nvPr/>
        </p:nvSpPr>
        <p:spPr>
          <a:xfrm>
            <a:off x="12962157" y="1982311"/>
            <a:ext cx="10710969" cy="1023678"/>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4500"/>
              <a:buFont typeface="Arial"/>
              <a:buNone/>
            </a:pPr>
            <a:r>
              <a:rPr b="1" lang="en-US" sz="4500" u="sng">
                <a:solidFill>
                  <a:schemeClr val="dk2"/>
                </a:solidFill>
                <a:latin typeface="Calibri"/>
                <a:ea typeface="Calibri"/>
                <a:cs typeface="Calibri"/>
                <a:sym typeface="Calibri"/>
              </a:rPr>
              <a:t>Option 2: Exam Practice</a:t>
            </a:r>
            <a:endParaRPr/>
          </a:p>
        </p:txBody>
      </p:sp>
      <p:sp>
        <p:nvSpPr>
          <p:cNvPr id="125" name="Google Shape;125;p14"/>
          <p:cNvSpPr/>
          <p:nvPr/>
        </p:nvSpPr>
        <p:spPr>
          <a:xfrm>
            <a:off x="11301236" y="3243639"/>
            <a:ext cx="12817700" cy="2804086"/>
          </a:xfrm>
          <a:prstGeom prst="rect">
            <a:avLst/>
          </a:prstGeom>
          <a:solidFill>
            <a:srgbClr val="FFE7CF"/>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2800">
              <a:solidFill>
                <a:schemeClr val="lt1"/>
              </a:solidFill>
              <a:latin typeface="Calibri"/>
              <a:ea typeface="Calibri"/>
              <a:cs typeface="Calibri"/>
              <a:sym typeface="Calibri"/>
            </a:endParaRPr>
          </a:p>
        </p:txBody>
      </p:sp>
      <p:sp>
        <p:nvSpPr>
          <p:cNvPr id="126" name="Google Shape;126;p14"/>
          <p:cNvSpPr txBox="1"/>
          <p:nvPr/>
        </p:nvSpPr>
        <p:spPr>
          <a:xfrm>
            <a:off x="11301235" y="3284709"/>
            <a:ext cx="12817701" cy="2523448"/>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000"/>
              <a:buFont typeface="Arial"/>
              <a:buNone/>
            </a:pPr>
            <a:r>
              <a:rPr b="1" lang="en-US" sz="6000">
                <a:solidFill>
                  <a:schemeClr val="dk2"/>
                </a:solidFill>
                <a:latin typeface="Lato Light"/>
                <a:ea typeface="Lato Light"/>
                <a:cs typeface="Lato Light"/>
                <a:sym typeface="Lato Light"/>
              </a:rPr>
              <a:t>Bronze (1 mark):</a:t>
            </a:r>
            <a:endParaRPr/>
          </a:p>
          <a:p>
            <a:pPr indent="-457200" lvl="0" marL="457200" marR="0" rtl="0" algn="l">
              <a:lnSpc>
                <a:spcPct val="150000"/>
              </a:lnSpc>
              <a:spcBef>
                <a:spcPts val="880"/>
              </a:spcBef>
              <a:spcAft>
                <a:spcPts val="0"/>
              </a:spcAft>
              <a:buClr>
                <a:srgbClr val="1C8256"/>
              </a:buClr>
              <a:buSzPts val="4400"/>
              <a:buFont typeface="Arial"/>
              <a:buChar char="•"/>
            </a:pPr>
            <a:r>
              <a:rPr lang="en-US" sz="4400">
                <a:solidFill>
                  <a:srgbClr val="1C8256"/>
                </a:solidFill>
                <a:latin typeface="Lato Light"/>
                <a:ea typeface="Lato Light"/>
                <a:cs typeface="Lato Light"/>
                <a:sym typeface="Lato Light"/>
              </a:rPr>
              <a:t>Describe </a:t>
            </a:r>
            <a:r>
              <a:rPr lang="en-US" sz="4400">
                <a:solidFill>
                  <a:schemeClr val="dk2"/>
                </a:solidFill>
                <a:latin typeface="Lato Light"/>
                <a:ea typeface="Lato Light"/>
                <a:cs typeface="Lato Light"/>
                <a:sym typeface="Lato Light"/>
              </a:rPr>
              <a:t>one</a:t>
            </a:r>
            <a:r>
              <a:rPr lang="en-US" sz="4400">
                <a:solidFill>
                  <a:srgbClr val="1C8256"/>
                </a:solidFill>
                <a:latin typeface="Lato Light"/>
                <a:ea typeface="Lato Light"/>
                <a:cs typeface="Lato Light"/>
                <a:sym typeface="Lato Light"/>
              </a:rPr>
              <a:t> function</a:t>
            </a:r>
            <a:r>
              <a:rPr lang="en-US" sz="4400">
                <a:solidFill>
                  <a:schemeClr val="dk2"/>
                </a:solidFill>
                <a:latin typeface="Lato Light"/>
                <a:ea typeface="Lato Light"/>
                <a:cs typeface="Lato Light"/>
                <a:sym typeface="Lato Light"/>
              </a:rPr>
              <a:t> of the CPU in a computer</a:t>
            </a:r>
            <a:endParaRPr/>
          </a:p>
        </p:txBody>
      </p:sp>
      <p:sp>
        <p:nvSpPr>
          <p:cNvPr id="127" name="Google Shape;127;p14"/>
          <p:cNvSpPr/>
          <p:nvPr/>
        </p:nvSpPr>
        <p:spPr>
          <a:xfrm>
            <a:off x="11259958" y="6271738"/>
            <a:ext cx="12858977" cy="2964912"/>
          </a:xfrm>
          <a:prstGeom prst="rect">
            <a:avLst/>
          </a:prstGeom>
          <a:solidFill>
            <a:srgbClr val="F2F2F2"/>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2000">
              <a:solidFill>
                <a:schemeClr val="lt1"/>
              </a:solidFill>
              <a:latin typeface="Calibri"/>
              <a:ea typeface="Calibri"/>
              <a:cs typeface="Calibri"/>
              <a:sym typeface="Calibri"/>
            </a:endParaRPr>
          </a:p>
        </p:txBody>
      </p:sp>
      <p:sp>
        <p:nvSpPr>
          <p:cNvPr id="128" name="Google Shape;128;p14"/>
          <p:cNvSpPr txBox="1"/>
          <p:nvPr/>
        </p:nvSpPr>
        <p:spPr>
          <a:xfrm>
            <a:off x="11402431" y="6065794"/>
            <a:ext cx="12699043" cy="3164264"/>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000"/>
              <a:buFont typeface="Arial"/>
              <a:buNone/>
            </a:pPr>
            <a:r>
              <a:rPr b="1" lang="en-US" sz="6000">
                <a:solidFill>
                  <a:schemeClr val="dk2"/>
                </a:solidFill>
                <a:latin typeface="Lato Light"/>
                <a:ea typeface="Lato Light"/>
                <a:cs typeface="Lato Light"/>
                <a:sym typeface="Lato Light"/>
              </a:rPr>
              <a:t>Silver (2 marks): </a:t>
            </a:r>
            <a:endParaRPr/>
          </a:p>
          <a:p>
            <a:pPr indent="-457200" lvl="0" marL="457200" marR="0" rtl="0" algn="l">
              <a:lnSpc>
                <a:spcPct val="150000"/>
              </a:lnSpc>
              <a:spcBef>
                <a:spcPts val="720"/>
              </a:spcBef>
              <a:spcAft>
                <a:spcPts val="0"/>
              </a:spcAft>
              <a:buClr>
                <a:srgbClr val="7030A0"/>
              </a:buClr>
              <a:buSzPts val="3600"/>
              <a:buFont typeface="Arial"/>
              <a:buChar char="•"/>
            </a:pPr>
            <a:r>
              <a:rPr lang="en-US" sz="3600">
                <a:solidFill>
                  <a:srgbClr val="7030A0"/>
                </a:solidFill>
                <a:latin typeface="Lato Light"/>
                <a:ea typeface="Lato Light"/>
                <a:cs typeface="Lato Light"/>
                <a:sym typeface="Lato Light"/>
              </a:rPr>
              <a:t>Explain</a:t>
            </a:r>
            <a:r>
              <a:rPr lang="en-US" sz="3600">
                <a:solidFill>
                  <a:schemeClr val="dk2"/>
                </a:solidFill>
                <a:latin typeface="Lato Light"/>
                <a:ea typeface="Lato Light"/>
                <a:cs typeface="Lato Light"/>
                <a:sym typeface="Lato Light"/>
              </a:rPr>
              <a:t> the </a:t>
            </a:r>
            <a:r>
              <a:rPr lang="en-US" sz="3600">
                <a:solidFill>
                  <a:srgbClr val="7030A0"/>
                </a:solidFill>
                <a:latin typeface="Lato Light"/>
                <a:ea typeface="Lato Light"/>
                <a:cs typeface="Lato Light"/>
                <a:sym typeface="Lato Light"/>
              </a:rPr>
              <a:t>difference</a:t>
            </a:r>
            <a:r>
              <a:rPr lang="en-US" sz="3600">
                <a:solidFill>
                  <a:schemeClr val="dk2"/>
                </a:solidFill>
                <a:latin typeface="Lato Light"/>
                <a:ea typeface="Lato Light"/>
                <a:cs typeface="Lato Light"/>
                <a:sym typeface="Lato Light"/>
              </a:rPr>
              <a:t> between a single-core and a dual-core processor.</a:t>
            </a:r>
            <a:endParaRPr/>
          </a:p>
        </p:txBody>
      </p:sp>
      <p:sp>
        <p:nvSpPr>
          <p:cNvPr id="129" name="Google Shape;129;p14"/>
          <p:cNvSpPr/>
          <p:nvPr/>
        </p:nvSpPr>
        <p:spPr>
          <a:xfrm>
            <a:off x="11281829" y="9455301"/>
            <a:ext cx="12817701" cy="3117564"/>
          </a:xfrm>
          <a:prstGeom prst="rect">
            <a:avLst/>
          </a:prstGeom>
          <a:solidFill>
            <a:srgbClr val="FFECBA"/>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2000">
              <a:solidFill>
                <a:schemeClr val="lt1"/>
              </a:solidFill>
              <a:latin typeface="Calibri"/>
              <a:ea typeface="Calibri"/>
              <a:cs typeface="Calibri"/>
              <a:sym typeface="Calibri"/>
            </a:endParaRPr>
          </a:p>
        </p:txBody>
      </p:sp>
      <p:sp>
        <p:nvSpPr>
          <p:cNvPr id="130" name="Google Shape;130;p14"/>
          <p:cNvSpPr txBox="1"/>
          <p:nvPr/>
        </p:nvSpPr>
        <p:spPr>
          <a:xfrm>
            <a:off x="11366291" y="9362194"/>
            <a:ext cx="12625744" cy="3164264"/>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000"/>
              <a:buFont typeface="Arial"/>
              <a:buNone/>
            </a:pPr>
            <a:r>
              <a:rPr b="1" lang="en-US" sz="6000">
                <a:solidFill>
                  <a:schemeClr val="dk2"/>
                </a:solidFill>
                <a:latin typeface="Lato Light"/>
                <a:ea typeface="Lato Light"/>
                <a:cs typeface="Lato Light"/>
                <a:sym typeface="Lato Light"/>
              </a:rPr>
              <a:t>Gold (3 marks): </a:t>
            </a:r>
            <a:endParaRPr/>
          </a:p>
          <a:p>
            <a:pPr indent="-457200" lvl="0" marL="457200" marR="0" rtl="0" algn="l">
              <a:lnSpc>
                <a:spcPct val="150000"/>
              </a:lnSpc>
              <a:spcBef>
                <a:spcPts val="720"/>
              </a:spcBef>
              <a:spcAft>
                <a:spcPts val="0"/>
              </a:spcAft>
              <a:buClr>
                <a:srgbClr val="0070C0"/>
              </a:buClr>
              <a:buSzPts val="3600"/>
              <a:buFont typeface="Arial"/>
              <a:buChar char="•"/>
            </a:pPr>
            <a:r>
              <a:rPr lang="en-US" sz="3600">
                <a:solidFill>
                  <a:srgbClr val="0070C0"/>
                </a:solidFill>
                <a:latin typeface="Lato Light"/>
                <a:ea typeface="Lato Light"/>
                <a:cs typeface="Lato Light"/>
                <a:sym typeface="Lato Light"/>
              </a:rPr>
              <a:t>Discuss</a:t>
            </a:r>
            <a:r>
              <a:rPr lang="en-US" sz="3600">
                <a:solidFill>
                  <a:schemeClr val="dk2"/>
                </a:solidFill>
                <a:latin typeface="Lato Light"/>
                <a:ea typeface="Lato Light"/>
                <a:cs typeface="Lato Light"/>
                <a:sym typeface="Lato Light"/>
              </a:rPr>
              <a:t> how </a:t>
            </a:r>
            <a:r>
              <a:rPr lang="en-US" sz="3600">
                <a:solidFill>
                  <a:srgbClr val="0070C0"/>
                </a:solidFill>
                <a:latin typeface="Lato Light"/>
                <a:ea typeface="Lato Light"/>
                <a:cs typeface="Lato Light"/>
                <a:sym typeface="Lato Light"/>
              </a:rPr>
              <a:t>advancements</a:t>
            </a:r>
            <a:r>
              <a:rPr lang="en-US" sz="3600">
                <a:solidFill>
                  <a:schemeClr val="dk2"/>
                </a:solidFill>
                <a:latin typeface="Lato Light"/>
                <a:ea typeface="Lato Light"/>
                <a:cs typeface="Lato Light"/>
                <a:sym typeface="Lato Light"/>
              </a:rPr>
              <a:t> in microprocessors have impacted modern computing</a:t>
            </a:r>
            <a:endParaRPr/>
          </a:p>
        </p:txBody>
      </p:sp>
      <p:sp>
        <p:nvSpPr>
          <p:cNvPr id="131" name="Google Shape;131;p14"/>
          <p:cNvSpPr txBox="1"/>
          <p:nvPr/>
        </p:nvSpPr>
        <p:spPr>
          <a:xfrm>
            <a:off x="11338020" y="12781788"/>
            <a:ext cx="12780916" cy="775340"/>
          </a:xfrm>
          <a:prstGeom prst="rect">
            <a:avLst/>
          </a:prstGeom>
          <a:solidFill>
            <a:srgbClr val="E0F5F9"/>
          </a:solidFill>
          <a:ln cap="flat" cmpd="sng" w="9525">
            <a:solidFill>
              <a:schemeClr val="dk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3300"/>
              <a:buFont typeface="Arial"/>
              <a:buNone/>
            </a:pPr>
            <a:r>
              <a:rPr b="1" lang="en-US" sz="3300" u="sng">
                <a:solidFill>
                  <a:schemeClr val="dk2"/>
                </a:solidFill>
                <a:latin typeface="Open Sans Light"/>
                <a:ea typeface="Open Sans Light"/>
                <a:cs typeface="Open Sans Light"/>
                <a:sym typeface="Open Sans Light"/>
              </a:rPr>
              <a:t>Challenge Activity</a:t>
            </a:r>
            <a:r>
              <a:rPr b="1" lang="en-US" sz="3300">
                <a:solidFill>
                  <a:schemeClr val="dk2"/>
                </a:solidFill>
                <a:latin typeface="Open Sans Light"/>
                <a:ea typeface="Open Sans Light"/>
                <a:cs typeface="Open Sans Light"/>
                <a:sym typeface="Open Sans Light"/>
              </a:rPr>
              <a:t> </a:t>
            </a:r>
            <a:r>
              <a:rPr lang="en-US" sz="3300">
                <a:solidFill>
                  <a:schemeClr val="dk2"/>
                </a:solidFill>
                <a:latin typeface="Open Sans Light"/>
                <a:ea typeface="Open Sans Light"/>
                <a:cs typeface="Open Sans Light"/>
                <a:sym typeface="Open Sans Light"/>
              </a:rPr>
              <a:t>Complete </a:t>
            </a:r>
            <a:r>
              <a:rPr lang="en-US" sz="3300" u="sng">
                <a:solidFill>
                  <a:schemeClr val="dk2"/>
                </a:solidFill>
                <a:latin typeface="Open Sans Light"/>
                <a:ea typeface="Open Sans Light"/>
                <a:cs typeface="Open Sans Light"/>
                <a:sym typeface="Open Sans Light"/>
              </a:rPr>
              <a:t>all three </a:t>
            </a:r>
            <a:r>
              <a:rPr lang="en-US" sz="3300">
                <a:solidFill>
                  <a:schemeClr val="dk2"/>
                </a:solidFill>
                <a:latin typeface="Open Sans Light"/>
                <a:ea typeface="Open Sans Light"/>
                <a:cs typeface="Open Sans Light"/>
                <a:sym typeface="Open Sans Light"/>
              </a:rPr>
              <a:t>questions for a house point.</a:t>
            </a:r>
            <a:endParaRPr sz="3300">
              <a:solidFill>
                <a:schemeClr val="dk2"/>
              </a:solidFill>
              <a:latin typeface="Open Sans Light"/>
              <a:ea typeface="Open Sans Light"/>
              <a:cs typeface="Open Sans Light"/>
              <a:sym typeface="Open Sans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3"/>
                                        </p:tgtEl>
                                        <p:attrNameLst>
                                          <p:attrName>style.visibility</p:attrName>
                                        </p:attrNameLst>
                                      </p:cBhvr>
                                      <p:to>
                                        <p:strVal val="visible"/>
                                      </p:to>
                                    </p:set>
                                    <p:animEffect filter="fade" transition="in">
                                      <p:cBhvr>
                                        <p:cTn dur="500"/>
                                        <p:tgtEl>
                                          <p:spTgt spid="123"/>
                                        </p:tgtEl>
                                      </p:cBhvr>
                                    </p:animEffect>
                                  </p:childTnLst>
                                </p:cTn>
                              </p:par>
                              <p:par>
                                <p:cTn fill="hold" nodeType="withEffect" presetClass="entr" presetID="10" presetSubtype="0">
                                  <p:stCondLst>
                                    <p:cond delay="0"/>
                                  </p:stCondLst>
                                  <p:childTnLst>
                                    <p:set>
                                      <p:cBhvr>
                                        <p:cTn dur="1" fill="hold">
                                          <p:stCondLst>
                                            <p:cond delay="0"/>
                                          </p:stCondLst>
                                        </p:cTn>
                                        <p:tgtEl>
                                          <p:spTgt spid="124"/>
                                        </p:tgtEl>
                                        <p:attrNameLst>
                                          <p:attrName>style.visibility</p:attrName>
                                        </p:attrNameLst>
                                      </p:cBhvr>
                                      <p:to>
                                        <p:strVal val="visible"/>
                                      </p:to>
                                    </p:set>
                                    <p:animEffect filter="fade" transition="in">
                                      <p:cBhvr>
                                        <p:cTn dur="500"/>
                                        <p:tgtEl>
                                          <p:spTgt spid="12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125"/>
                                        </p:tgtEl>
                                        <p:attrNameLst>
                                          <p:attrName>style.visibility</p:attrName>
                                        </p:attrNameLst>
                                      </p:cBhvr>
                                      <p:to>
                                        <p:strVal val="visible"/>
                                      </p:to>
                                    </p:set>
                                    <p:anim calcmode="lin" valueType="num">
                                      <p:cBhvr additive="base">
                                        <p:cTn dur="500"/>
                                        <p:tgtEl>
                                          <p:spTgt spid="125"/>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4">
                                  <p:stCondLst>
                                    <p:cond delay="0"/>
                                  </p:stCondLst>
                                  <p:childTnLst>
                                    <p:set>
                                      <p:cBhvr>
                                        <p:cTn dur="1" fill="hold">
                                          <p:stCondLst>
                                            <p:cond delay="0"/>
                                          </p:stCondLst>
                                        </p:cTn>
                                        <p:tgtEl>
                                          <p:spTgt spid="126"/>
                                        </p:tgtEl>
                                        <p:attrNameLst>
                                          <p:attrName>style.visibility</p:attrName>
                                        </p:attrNameLst>
                                      </p:cBhvr>
                                      <p:to>
                                        <p:strVal val="visible"/>
                                      </p:to>
                                    </p:set>
                                    <p:anim calcmode="lin" valueType="num">
                                      <p:cBhvr additive="base">
                                        <p:cTn dur="500"/>
                                        <p:tgtEl>
                                          <p:spTgt spid="126"/>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4">
                                  <p:stCondLst>
                                    <p:cond delay="0"/>
                                  </p:stCondLst>
                                  <p:childTnLst>
                                    <p:set>
                                      <p:cBhvr>
                                        <p:cTn dur="1" fill="hold">
                                          <p:stCondLst>
                                            <p:cond delay="0"/>
                                          </p:stCondLst>
                                        </p:cTn>
                                        <p:tgtEl>
                                          <p:spTgt spid="127"/>
                                        </p:tgtEl>
                                        <p:attrNameLst>
                                          <p:attrName>style.visibility</p:attrName>
                                        </p:attrNameLst>
                                      </p:cBhvr>
                                      <p:to>
                                        <p:strVal val="visible"/>
                                      </p:to>
                                    </p:set>
                                    <p:anim calcmode="lin" valueType="num">
                                      <p:cBhvr additive="base">
                                        <p:cTn dur="500"/>
                                        <p:tgtEl>
                                          <p:spTgt spid="127"/>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4">
                                  <p:stCondLst>
                                    <p:cond delay="0"/>
                                  </p:stCondLst>
                                  <p:childTnLst>
                                    <p:set>
                                      <p:cBhvr>
                                        <p:cTn dur="1" fill="hold">
                                          <p:stCondLst>
                                            <p:cond delay="0"/>
                                          </p:stCondLst>
                                        </p:cTn>
                                        <p:tgtEl>
                                          <p:spTgt spid="128"/>
                                        </p:tgtEl>
                                        <p:attrNameLst>
                                          <p:attrName>style.visibility</p:attrName>
                                        </p:attrNameLst>
                                      </p:cBhvr>
                                      <p:to>
                                        <p:strVal val="visible"/>
                                      </p:to>
                                    </p:set>
                                    <p:anim calcmode="lin" valueType="num">
                                      <p:cBhvr additive="base">
                                        <p:cTn dur="500"/>
                                        <p:tgtEl>
                                          <p:spTgt spid="128"/>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4">
                                  <p:stCondLst>
                                    <p:cond delay="0"/>
                                  </p:stCondLst>
                                  <p:childTnLst>
                                    <p:set>
                                      <p:cBhvr>
                                        <p:cTn dur="1" fill="hold">
                                          <p:stCondLst>
                                            <p:cond delay="0"/>
                                          </p:stCondLst>
                                        </p:cTn>
                                        <p:tgtEl>
                                          <p:spTgt spid="129"/>
                                        </p:tgtEl>
                                        <p:attrNameLst>
                                          <p:attrName>style.visibility</p:attrName>
                                        </p:attrNameLst>
                                      </p:cBhvr>
                                      <p:to>
                                        <p:strVal val="visible"/>
                                      </p:to>
                                    </p:set>
                                    <p:anim calcmode="lin" valueType="num">
                                      <p:cBhvr additive="base">
                                        <p:cTn dur="500"/>
                                        <p:tgtEl>
                                          <p:spTgt spid="129"/>
                                        </p:tgtEl>
                                        <p:attrNameLst>
                                          <p:attrName>ppt_y</p:attrName>
                                        </p:attrNameLst>
                                      </p:cBhvr>
                                      <p:tavLst>
                                        <p:tav fmla="" tm="0">
                                          <p:val>
                                            <p:strVal val="#ppt_y+1"/>
                                          </p:val>
                                        </p:tav>
                                        <p:tav fmla="" tm="100000">
                                          <p:val>
                                            <p:strVal val="#ppt_y"/>
                                          </p:val>
                                        </p:tav>
                                      </p:tavLst>
                                    </p:anim>
                                  </p:childTnLst>
                                </p:cTn>
                              </p:par>
                              <p:par>
                                <p:cTn fill="hold" nodeType="withEffect" presetClass="entr" presetID="2" presetSubtype="4">
                                  <p:stCondLst>
                                    <p:cond delay="0"/>
                                  </p:stCondLst>
                                  <p:childTnLst>
                                    <p:set>
                                      <p:cBhvr>
                                        <p:cTn dur="1" fill="hold">
                                          <p:stCondLst>
                                            <p:cond delay="0"/>
                                          </p:stCondLst>
                                        </p:cTn>
                                        <p:tgtEl>
                                          <p:spTgt spid="130"/>
                                        </p:tgtEl>
                                        <p:attrNameLst>
                                          <p:attrName>style.visibility</p:attrName>
                                        </p:attrNameLst>
                                      </p:cBhvr>
                                      <p:to>
                                        <p:strVal val="visible"/>
                                      </p:to>
                                    </p:set>
                                    <p:anim calcmode="lin" valueType="num">
                                      <p:cBhvr additive="base">
                                        <p:cTn dur="500"/>
                                        <p:tgtEl>
                                          <p:spTgt spid="130"/>
                                        </p:tgtEl>
                                        <p:attrNameLst>
                                          <p:attrName>ppt_y</p:attrName>
                                        </p:attrNameLst>
                                      </p:cBhvr>
                                      <p:tavLst>
                                        <p:tav fmla="" tm="0">
                                          <p:val>
                                            <p:strVal val="#ppt_y+1"/>
                                          </p:val>
                                        </p:tav>
                                        <p:tav fmla="" tm="100000">
                                          <p:val>
                                            <p:strVal val="#ppt_y"/>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1"/>
                                        </p:tgtEl>
                                        <p:attrNameLst>
                                          <p:attrName>style.visibility</p:attrName>
                                        </p:attrNameLst>
                                      </p:cBhvr>
                                      <p:to>
                                        <p:strVal val="visible"/>
                                      </p:to>
                                    </p:set>
                                    <p:animEffect filter="fade" transition="in">
                                      <p:cBhvr>
                                        <p:cTn dur="500"/>
                                        <p:tgtEl>
                                          <p:spTgt spid="1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0"/>
                                        </p:tgtEl>
                                        <p:attrNameLst>
                                          <p:attrName>style.visibility</p:attrName>
                                        </p:attrNameLst>
                                      </p:cBhvr>
                                      <p:to>
                                        <p:strVal val="visible"/>
                                      </p:to>
                                    </p:set>
                                    <p:animEffect filter="fade" transition="in">
                                      <p:cBhvr>
                                        <p:cTn dur="500"/>
                                        <p:tgtEl>
                                          <p:spTgt spid="120"/>
                                        </p:tgtEl>
                                      </p:cBhvr>
                                    </p:animEffect>
                                  </p:childTnLst>
                                </p:cTn>
                              </p:par>
                              <p:par>
                                <p:cTn fill="hold" nodeType="withEffect" presetClass="entr" presetID="10" presetSubtype="0">
                                  <p:stCondLst>
                                    <p:cond delay="0"/>
                                  </p:stCondLst>
                                  <p:childTnLst>
                                    <p:set>
                                      <p:cBhvr>
                                        <p:cTn dur="1" fill="hold">
                                          <p:stCondLst>
                                            <p:cond delay="0"/>
                                          </p:stCondLst>
                                        </p:cTn>
                                        <p:tgtEl>
                                          <p:spTgt spid="121"/>
                                        </p:tgtEl>
                                        <p:attrNameLst>
                                          <p:attrName>style.visibility</p:attrName>
                                        </p:attrNameLst>
                                      </p:cBhvr>
                                      <p:to>
                                        <p:strVal val="visible"/>
                                      </p:to>
                                    </p:set>
                                    <p:animEffect filter="fade" transition="in">
                                      <p:cBhvr>
                                        <p:cTn dur="500"/>
                                        <p:tgtEl>
                                          <p:spTgt spid="12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2">
                                            <p:txEl>
                                              <p:pRg end="0" st="0"/>
                                            </p:txEl>
                                          </p:spTgt>
                                        </p:tgtEl>
                                        <p:attrNameLst>
                                          <p:attrName>style.visibility</p:attrName>
                                        </p:attrNameLst>
                                      </p:cBhvr>
                                      <p:to>
                                        <p:strVal val="visible"/>
                                      </p:to>
                                    </p:set>
                                    <p:animEffect filter="fade" transition="in">
                                      <p:cBhvr>
                                        <p:cTn dur="500"/>
                                        <p:tgtEl>
                                          <p:spTgt spid="122">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2">
                                            <p:txEl>
                                              <p:pRg end="1" st="1"/>
                                            </p:txEl>
                                          </p:spTgt>
                                        </p:tgtEl>
                                        <p:attrNameLst>
                                          <p:attrName>style.visibility</p:attrName>
                                        </p:attrNameLst>
                                      </p:cBhvr>
                                      <p:to>
                                        <p:strVal val="visible"/>
                                      </p:to>
                                    </p:set>
                                    <p:animEffect filter="fade" transition="in">
                                      <p:cBhvr>
                                        <p:cTn dur="500"/>
                                        <p:tgtEl>
                                          <p:spTgt spid="122">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2">
                                            <p:txEl>
                                              <p:pRg end="2" st="2"/>
                                            </p:txEl>
                                          </p:spTgt>
                                        </p:tgtEl>
                                        <p:attrNameLst>
                                          <p:attrName>style.visibility</p:attrName>
                                        </p:attrNameLst>
                                      </p:cBhvr>
                                      <p:to>
                                        <p:strVal val="visible"/>
                                      </p:to>
                                    </p:set>
                                    <p:animEffect filter="fade" transition="in">
                                      <p:cBhvr>
                                        <p:cTn dur="500"/>
                                        <p:tgtEl>
                                          <p:spTgt spid="122">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2">
                                            <p:txEl>
                                              <p:pRg end="3" st="3"/>
                                            </p:txEl>
                                          </p:spTgt>
                                        </p:tgtEl>
                                        <p:attrNameLst>
                                          <p:attrName>style.visibility</p:attrName>
                                        </p:attrNameLst>
                                      </p:cBhvr>
                                      <p:to>
                                        <p:strVal val="visible"/>
                                      </p:to>
                                    </p:set>
                                    <p:animEffect filter="fade" transition="in">
                                      <p:cBhvr>
                                        <p:cTn dur="500"/>
                                        <p:tgtEl>
                                          <p:spTgt spid="122">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2">
                                            <p:txEl>
                                              <p:pRg end="4" st="4"/>
                                            </p:txEl>
                                          </p:spTgt>
                                        </p:tgtEl>
                                        <p:attrNameLst>
                                          <p:attrName>style.visibility</p:attrName>
                                        </p:attrNameLst>
                                      </p:cBhvr>
                                      <p:to>
                                        <p:strVal val="visible"/>
                                      </p:to>
                                    </p:set>
                                    <p:animEffect filter="fade" transition="in">
                                      <p:cBhvr>
                                        <p:cTn dur="500"/>
                                        <p:tgtEl>
                                          <p:spTgt spid="122">
                                            <p:txEl>
                                              <p:pRg end="4" st="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15"/>
          <p:cNvSpPr/>
          <p:nvPr/>
        </p:nvSpPr>
        <p:spPr>
          <a:xfrm>
            <a:off x="294044" y="1365354"/>
            <a:ext cx="7808556" cy="3943643"/>
          </a:xfrm>
          <a:prstGeom prst="rect">
            <a:avLst/>
          </a:prstGeom>
          <a:solidFill>
            <a:srgbClr val="FFE7CF"/>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4400">
              <a:solidFill>
                <a:schemeClr val="lt1"/>
              </a:solidFill>
              <a:latin typeface="Calibri"/>
              <a:ea typeface="Calibri"/>
              <a:cs typeface="Calibri"/>
              <a:sym typeface="Calibri"/>
            </a:endParaRPr>
          </a:p>
        </p:txBody>
      </p:sp>
      <p:sp>
        <p:nvSpPr>
          <p:cNvPr id="138" name="Google Shape;138;p15"/>
          <p:cNvSpPr txBox="1"/>
          <p:nvPr/>
        </p:nvSpPr>
        <p:spPr>
          <a:xfrm>
            <a:off x="294043" y="1409313"/>
            <a:ext cx="7808557" cy="3726533"/>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000"/>
              <a:buFont typeface="Arial"/>
              <a:buNone/>
            </a:pPr>
            <a:r>
              <a:rPr b="1" lang="en-US" sz="6000">
                <a:solidFill>
                  <a:schemeClr val="dk2"/>
                </a:solidFill>
                <a:latin typeface="Lato Light"/>
                <a:ea typeface="Lato Light"/>
                <a:cs typeface="Lato Light"/>
                <a:sym typeface="Lato Light"/>
              </a:rPr>
              <a:t>Bronze (1 mark):</a:t>
            </a:r>
            <a:endParaRPr/>
          </a:p>
          <a:p>
            <a:pPr indent="-457200" lvl="0" marL="457200" marR="0" rtl="0" algn="l">
              <a:lnSpc>
                <a:spcPct val="150000"/>
              </a:lnSpc>
              <a:spcBef>
                <a:spcPts val="960"/>
              </a:spcBef>
              <a:spcAft>
                <a:spcPts val="0"/>
              </a:spcAft>
              <a:buClr>
                <a:srgbClr val="1C8256"/>
              </a:buClr>
              <a:buSzPts val="4800"/>
              <a:buFont typeface="Arial"/>
              <a:buChar char="•"/>
            </a:pPr>
            <a:r>
              <a:rPr lang="en-US" sz="4800">
                <a:solidFill>
                  <a:srgbClr val="1C8256"/>
                </a:solidFill>
                <a:latin typeface="Lato Light"/>
                <a:ea typeface="Lato Light"/>
                <a:cs typeface="Lato Light"/>
                <a:sym typeface="Lato Light"/>
              </a:rPr>
              <a:t>Describe </a:t>
            </a:r>
            <a:r>
              <a:rPr lang="en-US" sz="4800">
                <a:solidFill>
                  <a:schemeClr val="dk2"/>
                </a:solidFill>
                <a:latin typeface="Lato Light"/>
                <a:ea typeface="Lato Light"/>
                <a:cs typeface="Lato Light"/>
                <a:sym typeface="Lato Light"/>
              </a:rPr>
              <a:t>one</a:t>
            </a:r>
            <a:r>
              <a:rPr lang="en-US" sz="4800">
                <a:solidFill>
                  <a:srgbClr val="1C8256"/>
                </a:solidFill>
                <a:latin typeface="Lato Light"/>
                <a:ea typeface="Lato Light"/>
                <a:cs typeface="Lato Light"/>
                <a:sym typeface="Lato Light"/>
              </a:rPr>
              <a:t> function</a:t>
            </a:r>
            <a:r>
              <a:rPr lang="en-US" sz="4800">
                <a:solidFill>
                  <a:schemeClr val="dk2"/>
                </a:solidFill>
                <a:latin typeface="Lato Light"/>
                <a:ea typeface="Lato Light"/>
                <a:cs typeface="Lato Light"/>
                <a:sym typeface="Lato Light"/>
              </a:rPr>
              <a:t> of the CPU in a computer</a:t>
            </a:r>
            <a:endParaRPr/>
          </a:p>
        </p:txBody>
      </p:sp>
      <p:sp>
        <p:nvSpPr>
          <p:cNvPr id="139" name="Google Shape;139;p15"/>
          <p:cNvSpPr/>
          <p:nvPr/>
        </p:nvSpPr>
        <p:spPr>
          <a:xfrm>
            <a:off x="8230012" y="1365354"/>
            <a:ext cx="7761661" cy="3943643"/>
          </a:xfrm>
          <a:prstGeom prst="rect">
            <a:avLst/>
          </a:prstGeom>
          <a:solidFill>
            <a:srgbClr val="F2F2F2"/>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3600">
              <a:solidFill>
                <a:schemeClr val="lt1"/>
              </a:solidFill>
              <a:latin typeface="Calibri"/>
              <a:ea typeface="Calibri"/>
              <a:cs typeface="Calibri"/>
              <a:sym typeface="Calibri"/>
            </a:endParaRPr>
          </a:p>
        </p:txBody>
      </p:sp>
      <p:sp>
        <p:nvSpPr>
          <p:cNvPr id="140" name="Google Shape;140;p15"/>
          <p:cNvSpPr txBox="1"/>
          <p:nvPr/>
        </p:nvSpPr>
        <p:spPr>
          <a:xfrm>
            <a:off x="8334672" y="1419606"/>
            <a:ext cx="7732358" cy="3926652"/>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5400"/>
              <a:buFont typeface="Arial"/>
              <a:buNone/>
            </a:pPr>
            <a:r>
              <a:rPr b="1" lang="en-US" sz="5400">
                <a:solidFill>
                  <a:schemeClr val="dk2"/>
                </a:solidFill>
                <a:latin typeface="Lato Light"/>
                <a:ea typeface="Lato Light"/>
                <a:cs typeface="Lato Light"/>
                <a:sym typeface="Lato Light"/>
              </a:rPr>
              <a:t>Silver (2 marks): </a:t>
            </a:r>
            <a:endParaRPr/>
          </a:p>
          <a:p>
            <a:pPr indent="-457200" lvl="0" marL="457200" marR="0" rtl="0" algn="l">
              <a:lnSpc>
                <a:spcPct val="150000"/>
              </a:lnSpc>
              <a:spcBef>
                <a:spcPts val="740"/>
              </a:spcBef>
              <a:spcAft>
                <a:spcPts val="0"/>
              </a:spcAft>
              <a:buClr>
                <a:srgbClr val="7030A0"/>
              </a:buClr>
              <a:buSzPts val="3700"/>
              <a:buFont typeface="Arial"/>
              <a:buChar char="•"/>
            </a:pPr>
            <a:r>
              <a:rPr lang="en-US" sz="3700">
                <a:solidFill>
                  <a:srgbClr val="7030A0"/>
                </a:solidFill>
                <a:latin typeface="Lato Light"/>
                <a:ea typeface="Lato Light"/>
                <a:cs typeface="Lato Light"/>
                <a:sym typeface="Lato Light"/>
              </a:rPr>
              <a:t>Explain</a:t>
            </a:r>
            <a:r>
              <a:rPr lang="en-US" sz="3700">
                <a:solidFill>
                  <a:schemeClr val="dk2"/>
                </a:solidFill>
                <a:latin typeface="Lato Light"/>
                <a:ea typeface="Lato Light"/>
                <a:cs typeface="Lato Light"/>
                <a:sym typeface="Lato Light"/>
              </a:rPr>
              <a:t> the </a:t>
            </a:r>
            <a:r>
              <a:rPr lang="en-US" sz="3700">
                <a:solidFill>
                  <a:srgbClr val="7030A0"/>
                </a:solidFill>
                <a:latin typeface="Lato Light"/>
                <a:ea typeface="Lato Light"/>
                <a:cs typeface="Lato Light"/>
                <a:sym typeface="Lato Light"/>
              </a:rPr>
              <a:t>difference</a:t>
            </a:r>
            <a:r>
              <a:rPr lang="en-US" sz="3700">
                <a:solidFill>
                  <a:schemeClr val="dk2"/>
                </a:solidFill>
                <a:latin typeface="Lato Light"/>
                <a:ea typeface="Lato Light"/>
                <a:cs typeface="Lato Light"/>
                <a:sym typeface="Lato Light"/>
              </a:rPr>
              <a:t> between a single-core and a dual-core processor.</a:t>
            </a:r>
            <a:endParaRPr/>
          </a:p>
        </p:txBody>
      </p:sp>
      <p:sp>
        <p:nvSpPr>
          <p:cNvPr id="141" name="Google Shape;141;p15"/>
          <p:cNvSpPr/>
          <p:nvPr/>
        </p:nvSpPr>
        <p:spPr>
          <a:xfrm>
            <a:off x="16194442" y="1377667"/>
            <a:ext cx="7808558" cy="3896678"/>
          </a:xfrm>
          <a:prstGeom prst="rect">
            <a:avLst/>
          </a:prstGeom>
          <a:solidFill>
            <a:srgbClr val="FFECBA"/>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sp>
        <p:nvSpPr>
          <p:cNvPr id="142" name="Google Shape;142;p15"/>
          <p:cNvSpPr txBox="1"/>
          <p:nvPr/>
        </p:nvSpPr>
        <p:spPr>
          <a:xfrm>
            <a:off x="16269799" y="1307713"/>
            <a:ext cx="7691618" cy="3995261"/>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000"/>
              <a:buFont typeface="Arial"/>
              <a:buNone/>
            </a:pPr>
            <a:r>
              <a:rPr b="1" lang="en-US" sz="6000">
                <a:solidFill>
                  <a:schemeClr val="dk2"/>
                </a:solidFill>
                <a:latin typeface="Lato Light"/>
                <a:ea typeface="Lato Light"/>
                <a:cs typeface="Lato Light"/>
                <a:sym typeface="Lato Light"/>
              </a:rPr>
              <a:t>Gold (3 marks): </a:t>
            </a:r>
            <a:endParaRPr/>
          </a:p>
          <a:p>
            <a:pPr indent="-457200" lvl="0" marL="457200" marR="0" rtl="0" algn="l">
              <a:lnSpc>
                <a:spcPct val="150000"/>
              </a:lnSpc>
              <a:spcBef>
                <a:spcPts val="720"/>
              </a:spcBef>
              <a:spcAft>
                <a:spcPts val="0"/>
              </a:spcAft>
              <a:buClr>
                <a:srgbClr val="0070C0"/>
              </a:buClr>
              <a:buSzPts val="3600"/>
              <a:buFont typeface="Arial"/>
              <a:buChar char="•"/>
            </a:pPr>
            <a:r>
              <a:rPr lang="en-US" sz="3600">
                <a:solidFill>
                  <a:srgbClr val="0070C0"/>
                </a:solidFill>
                <a:latin typeface="Lato Light"/>
                <a:ea typeface="Lato Light"/>
                <a:cs typeface="Lato Light"/>
                <a:sym typeface="Lato Light"/>
              </a:rPr>
              <a:t>Discuss</a:t>
            </a:r>
            <a:r>
              <a:rPr lang="en-US" sz="3600">
                <a:solidFill>
                  <a:schemeClr val="dk2"/>
                </a:solidFill>
                <a:latin typeface="Lato Light"/>
                <a:ea typeface="Lato Light"/>
                <a:cs typeface="Lato Light"/>
                <a:sym typeface="Lato Light"/>
              </a:rPr>
              <a:t> how </a:t>
            </a:r>
            <a:r>
              <a:rPr lang="en-US" sz="3600">
                <a:solidFill>
                  <a:srgbClr val="0070C0"/>
                </a:solidFill>
                <a:latin typeface="Lato Light"/>
                <a:ea typeface="Lato Light"/>
                <a:cs typeface="Lato Light"/>
                <a:sym typeface="Lato Light"/>
              </a:rPr>
              <a:t>advancements</a:t>
            </a:r>
            <a:r>
              <a:rPr lang="en-US" sz="3600">
                <a:solidFill>
                  <a:schemeClr val="dk2"/>
                </a:solidFill>
                <a:latin typeface="Lato Light"/>
                <a:ea typeface="Lato Light"/>
                <a:cs typeface="Lato Light"/>
                <a:sym typeface="Lato Light"/>
              </a:rPr>
              <a:t> in microprocessors have impacted modern computing</a:t>
            </a:r>
            <a:endParaRPr/>
          </a:p>
        </p:txBody>
      </p:sp>
      <p:sp>
        <p:nvSpPr>
          <p:cNvPr id="143" name="Google Shape;143;p15"/>
          <p:cNvSpPr txBox="1"/>
          <p:nvPr/>
        </p:nvSpPr>
        <p:spPr>
          <a:xfrm>
            <a:off x="8102600" y="-127711"/>
            <a:ext cx="7808557" cy="1458413"/>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6600"/>
              <a:buFont typeface="Arial"/>
              <a:buNone/>
            </a:pPr>
            <a:r>
              <a:rPr b="1" lang="en-US" sz="6600" u="sng">
                <a:solidFill>
                  <a:schemeClr val="dk2"/>
                </a:solidFill>
                <a:latin typeface="Lato Light"/>
                <a:ea typeface="Lato Light"/>
                <a:cs typeface="Lato Light"/>
                <a:sym typeface="Lato Light"/>
              </a:rPr>
              <a:t>Answers</a:t>
            </a:r>
            <a:endParaRPr sz="4800" u="sng">
              <a:solidFill>
                <a:schemeClr val="dk2"/>
              </a:solidFill>
              <a:latin typeface="Lato Light"/>
              <a:ea typeface="Lato Light"/>
              <a:cs typeface="Lato Light"/>
              <a:sym typeface="Lato Light"/>
            </a:endParaRPr>
          </a:p>
        </p:txBody>
      </p:sp>
      <p:sp>
        <p:nvSpPr>
          <p:cNvPr id="144" name="Google Shape;144;p15"/>
          <p:cNvSpPr/>
          <p:nvPr/>
        </p:nvSpPr>
        <p:spPr>
          <a:xfrm>
            <a:off x="294044" y="5404574"/>
            <a:ext cx="7808556" cy="8032026"/>
          </a:xfrm>
          <a:prstGeom prst="rect">
            <a:avLst/>
          </a:prstGeom>
          <a:solidFill>
            <a:srgbClr val="FFE7CF"/>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4400">
              <a:solidFill>
                <a:schemeClr val="lt1"/>
              </a:solidFill>
              <a:latin typeface="Calibri"/>
              <a:ea typeface="Calibri"/>
              <a:cs typeface="Calibri"/>
              <a:sym typeface="Calibri"/>
            </a:endParaRPr>
          </a:p>
        </p:txBody>
      </p:sp>
      <p:sp>
        <p:nvSpPr>
          <p:cNvPr id="145" name="Google Shape;145;p15"/>
          <p:cNvSpPr txBox="1"/>
          <p:nvPr/>
        </p:nvSpPr>
        <p:spPr>
          <a:xfrm>
            <a:off x="295298" y="5482756"/>
            <a:ext cx="7808557" cy="8316379"/>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3500"/>
              <a:buFont typeface="Arial"/>
              <a:buNone/>
            </a:pPr>
            <a:r>
              <a:rPr lang="en-US" sz="3500">
                <a:solidFill>
                  <a:schemeClr val="dk2"/>
                </a:solidFill>
                <a:latin typeface="Open Sans Light"/>
                <a:ea typeface="Open Sans Light"/>
                <a:cs typeface="Open Sans Light"/>
                <a:sym typeface="Open Sans Light"/>
              </a:rPr>
              <a:t>The CPU (Central Processing Unit) serves as the </a:t>
            </a:r>
            <a:r>
              <a:rPr lang="en-US" sz="3500" u="sng">
                <a:solidFill>
                  <a:schemeClr val="dk2"/>
                </a:solidFill>
                <a:latin typeface="Open Sans Light"/>
                <a:ea typeface="Open Sans Light"/>
                <a:cs typeface="Open Sans Light"/>
                <a:sym typeface="Open Sans Light"/>
              </a:rPr>
              <a:t>primary component of a computer that performs most of the processing inside the computer</a:t>
            </a:r>
            <a:r>
              <a:rPr lang="en-US" sz="3500">
                <a:solidFill>
                  <a:schemeClr val="dk2"/>
                </a:solidFill>
                <a:latin typeface="Open Sans Light"/>
                <a:ea typeface="Open Sans Light"/>
                <a:cs typeface="Open Sans Light"/>
                <a:sym typeface="Open Sans Light"/>
              </a:rPr>
              <a:t>. One of its key functions is to </a:t>
            </a:r>
            <a:r>
              <a:rPr lang="en-US" sz="3500" u="sng">
                <a:solidFill>
                  <a:schemeClr val="dk2"/>
                </a:solidFill>
                <a:latin typeface="Open Sans Light"/>
                <a:ea typeface="Open Sans Light"/>
                <a:cs typeface="Open Sans Light"/>
                <a:sym typeface="Open Sans Light"/>
              </a:rPr>
              <a:t>execute instructions</a:t>
            </a:r>
            <a:r>
              <a:rPr lang="en-US" sz="3500">
                <a:solidFill>
                  <a:schemeClr val="dk2"/>
                </a:solidFill>
                <a:latin typeface="Open Sans Light"/>
                <a:ea typeface="Open Sans Light"/>
                <a:cs typeface="Open Sans Light"/>
                <a:sym typeface="Open Sans Light"/>
              </a:rPr>
              <a:t> from both the software and hardware. It </a:t>
            </a:r>
            <a:r>
              <a:rPr lang="en-US" sz="3500" u="sng">
                <a:solidFill>
                  <a:schemeClr val="dk2"/>
                </a:solidFill>
                <a:latin typeface="Open Sans Light"/>
                <a:ea typeface="Open Sans Light"/>
                <a:cs typeface="Open Sans Light"/>
                <a:sym typeface="Open Sans Light"/>
              </a:rPr>
              <a:t>processes data </a:t>
            </a:r>
            <a:r>
              <a:rPr lang="en-US" sz="3500">
                <a:solidFill>
                  <a:schemeClr val="dk2"/>
                </a:solidFill>
                <a:latin typeface="Open Sans Light"/>
                <a:ea typeface="Open Sans Light"/>
                <a:cs typeface="Open Sans Light"/>
                <a:sym typeface="Open Sans Light"/>
              </a:rPr>
              <a:t>and </a:t>
            </a:r>
            <a:r>
              <a:rPr lang="en-US" sz="3500" u="sng">
                <a:solidFill>
                  <a:schemeClr val="dk2"/>
                </a:solidFill>
                <a:latin typeface="Open Sans Light"/>
                <a:ea typeface="Open Sans Light"/>
                <a:cs typeface="Open Sans Light"/>
                <a:sym typeface="Open Sans Light"/>
              </a:rPr>
              <a:t>coordinates the activities</a:t>
            </a:r>
            <a:r>
              <a:rPr lang="en-US" sz="3500">
                <a:solidFill>
                  <a:schemeClr val="dk2"/>
                </a:solidFill>
                <a:latin typeface="Open Sans Light"/>
                <a:ea typeface="Open Sans Light"/>
                <a:cs typeface="Open Sans Light"/>
                <a:sym typeface="Open Sans Light"/>
              </a:rPr>
              <a:t> of all other hardware and software components of the computer system.</a:t>
            </a:r>
            <a:endParaRPr/>
          </a:p>
        </p:txBody>
      </p:sp>
      <p:sp>
        <p:nvSpPr>
          <p:cNvPr id="146" name="Google Shape;146;p15"/>
          <p:cNvSpPr/>
          <p:nvPr/>
        </p:nvSpPr>
        <p:spPr>
          <a:xfrm>
            <a:off x="8320297" y="5404574"/>
            <a:ext cx="7671376" cy="8032026"/>
          </a:xfrm>
          <a:prstGeom prst="rect">
            <a:avLst/>
          </a:prstGeom>
          <a:solidFill>
            <a:srgbClr val="F2F2F2"/>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4400">
              <a:solidFill>
                <a:schemeClr val="lt1"/>
              </a:solidFill>
              <a:latin typeface="Calibri"/>
              <a:ea typeface="Calibri"/>
              <a:cs typeface="Calibri"/>
              <a:sym typeface="Calibri"/>
            </a:endParaRPr>
          </a:p>
        </p:txBody>
      </p:sp>
      <p:sp>
        <p:nvSpPr>
          <p:cNvPr id="147" name="Google Shape;147;p15"/>
          <p:cNvSpPr txBox="1"/>
          <p:nvPr/>
        </p:nvSpPr>
        <p:spPr>
          <a:xfrm>
            <a:off x="8321552" y="5408538"/>
            <a:ext cx="7670121" cy="7644209"/>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2750"/>
              <a:buFont typeface="Arial"/>
              <a:buNone/>
            </a:pPr>
            <a:r>
              <a:rPr lang="en-US" sz="2750">
                <a:solidFill>
                  <a:schemeClr val="dk2"/>
                </a:solidFill>
                <a:latin typeface="Open Sans Light"/>
                <a:ea typeface="Open Sans Light"/>
                <a:cs typeface="Open Sans Light"/>
                <a:sym typeface="Open Sans Light"/>
              </a:rPr>
              <a:t>The primary difference between a single-core and a dual-core processor lies in the number of processing units within the CPU. </a:t>
            </a:r>
            <a:r>
              <a:rPr lang="en-US" sz="2750" u="sng">
                <a:solidFill>
                  <a:schemeClr val="dk2"/>
                </a:solidFill>
                <a:latin typeface="Open Sans Light"/>
                <a:ea typeface="Open Sans Light"/>
                <a:cs typeface="Open Sans Light"/>
                <a:sym typeface="Open Sans Light"/>
              </a:rPr>
              <a:t>A single-core processor has one processing unit, meaning it can handle only one set of instructions at a time</a:t>
            </a:r>
            <a:r>
              <a:rPr lang="en-US" sz="2750">
                <a:solidFill>
                  <a:schemeClr val="dk2"/>
                </a:solidFill>
                <a:latin typeface="Open Sans Light"/>
                <a:ea typeface="Open Sans Light"/>
                <a:cs typeface="Open Sans Light"/>
                <a:sym typeface="Open Sans Light"/>
              </a:rPr>
              <a:t>. On the other hand, a </a:t>
            </a:r>
            <a:r>
              <a:rPr lang="en-US" sz="2750" u="sng">
                <a:solidFill>
                  <a:schemeClr val="dk2"/>
                </a:solidFill>
                <a:latin typeface="Open Sans Light"/>
                <a:ea typeface="Open Sans Light"/>
                <a:cs typeface="Open Sans Light"/>
                <a:sym typeface="Open Sans Light"/>
              </a:rPr>
              <a:t>dual-core processor contains two separate cores in the same CPU, allowing it to handle multiple instructions simultaneously</a:t>
            </a:r>
            <a:r>
              <a:rPr lang="en-US" sz="2750">
                <a:solidFill>
                  <a:schemeClr val="dk2"/>
                </a:solidFill>
                <a:latin typeface="Open Sans Light"/>
                <a:ea typeface="Open Sans Light"/>
                <a:cs typeface="Open Sans Light"/>
                <a:sym typeface="Open Sans Light"/>
              </a:rPr>
              <a:t>. This parallel processing capability of dual-core processors enables better multitasking, improved performance, and greater efficiency, especially in applications that can utilize multiple cores simultaneously.</a:t>
            </a:r>
            <a:endParaRPr/>
          </a:p>
        </p:txBody>
      </p:sp>
      <p:sp>
        <p:nvSpPr>
          <p:cNvPr id="148" name="Google Shape;148;p15"/>
          <p:cNvSpPr/>
          <p:nvPr/>
        </p:nvSpPr>
        <p:spPr>
          <a:xfrm>
            <a:off x="16236730" y="5429974"/>
            <a:ext cx="7724687" cy="8032026"/>
          </a:xfrm>
          <a:prstGeom prst="rect">
            <a:avLst/>
          </a:prstGeom>
          <a:solidFill>
            <a:srgbClr val="FFECBA"/>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4400">
              <a:solidFill>
                <a:schemeClr val="lt1"/>
              </a:solidFill>
              <a:latin typeface="Calibri"/>
              <a:ea typeface="Calibri"/>
              <a:cs typeface="Calibri"/>
              <a:sym typeface="Calibri"/>
            </a:endParaRPr>
          </a:p>
        </p:txBody>
      </p:sp>
      <p:sp>
        <p:nvSpPr>
          <p:cNvPr id="149" name="Google Shape;149;p15"/>
          <p:cNvSpPr txBox="1"/>
          <p:nvPr/>
        </p:nvSpPr>
        <p:spPr>
          <a:xfrm>
            <a:off x="16350315" y="5395061"/>
            <a:ext cx="7611102" cy="8230523"/>
          </a:xfrm>
          <a:prstGeom prst="rect">
            <a:avLst/>
          </a:prstGeom>
          <a:noFill/>
          <a:ln>
            <a:noFill/>
          </a:ln>
        </p:spPr>
        <p:txBody>
          <a:bodyPr anchorCtr="0" anchor="t" bIns="45700" lIns="91425" spcFirstLastPara="1" rIns="91425" wrap="square" tIns="45700">
            <a:spAutoFit/>
          </a:bodyPr>
          <a:lstStyle/>
          <a:p>
            <a:pPr indent="-342900" lvl="0" marL="342900" marR="0" rtl="0" algn="l">
              <a:lnSpc>
                <a:spcPct val="120000"/>
              </a:lnSpc>
              <a:spcBef>
                <a:spcPts val="0"/>
              </a:spcBef>
              <a:spcAft>
                <a:spcPts val="0"/>
              </a:spcAft>
              <a:buClr>
                <a:schemeClr val="dk2"/>
              </a:buClr>
              <a:buSzPts val="1950"/>
              <a:buFont typeface="Arial"/>
              <a:buChar char="•"/>
            </a:pPr>
            <a:r>
              <a:rPr b="1" lang="en-US" sz="1950" u="sng">
                <a:solidFill>
                  <a:schemeClr val="dk2"/>
                </a:solidFill>
                <a:latin typeface="Open Sans Light"/>
                <a:ea typeface="Open Sans Light"/>
                <a:cs typeface="Open Sans Light"/>
                <a:sym typeface="Open Sans Light"/>
              </a:rPr>
              <a:t>Increased Processing Power and Speed</a:t>
            </a:r>
            <a:r>
              <a:rPr lang="en-US" sz="1950">
                <a:solidFill>
                  <a:schemeClr val="dk2"/>
                </a:solidFill>
                <a:latin typeface="Open Sans Light"/>
                <a:ea typeface="Open Sans Light"/>
                <a:cs typeface="Open Sans Light"/>
                <a:sym typeface="Open Sans Light"/>
              </a:rPr>
              <a:t>: Modern microprocessors are much faster and more powerful than their predecessors. This has led to the development of complex software applications, advanced gaming, and the ability to process large amounts of data quickly.</a:t>
            </a:r>
            <a:endParaRPr/>
          </a:p>
          <a:p>
            <a:pPr indent="-342900" lvl="0" marL="342900" marR="0" rtl="0" algn="l">
              <a:lnSpc>
                <a:spcPct val="120000"/>
              </a:lnSpc>
              <a:spcBef>
                <a:spcPts val="390"/>
              </a:spcBef>
              <a:spcAft>
                <a:spcPts val="0"/>
              </a:spcAft>
              <a:buClr>
                <a:schemeClr val="dk2"/>
              </a:buClr>
              <a:buSzPts val="1950"/>
              <a:buFont typeface="Arial"/>
              <a:buChar char="•"/>
            </a:pPr>
            <a:r>
              <a:rPr b="1" lang="en-US" sz="1950" u="sng">
                <a:solidFill>
                  <a:schemeClr val="dk2"/>
                </a:solidFill>
                <a:latin typeface="Open Sans Light"/>
                <a:ea typeface="Open Sans Light"/>
                <a:cs typeface="Open Sans Light"/>
                <a:sym typeface="Open Sans Light"/>
              </a:rPr>
              <a:t>Miniaturization and Mobile Com</a:t>
            </a:r>
            <a:r>
              <a:rPr b="1" lang="en-US" sz="1950">
                <a:solidFill>
                  <a:schemeClr val="dk2"/>
                </a:solidFill>
                <a:latin typeface="Open Sans Light"/>
                <a:ea typeface="Open Sans Light"/>
                <a:cs typeface="Open Sans Light"/>
                <a:sym typeface="Open Sans Light"/>
              </a:rPr>
              <a:t>puting</a:t>
            </a:r>
            <a:r>
              <a:rPr lang="en-US" sz="1950">
                <a:solidFill>
                  <a:schemeClr val="dk2"/>
                </a:solidFill>
                <a:latin typeface="Open Sans Light"/>
                <a:ea typeface="Open Sans Light"/>
                <a:cs typeface="Open Sans Light"/>
                <a:sym typeface="Open Sans Light"/>
              </a:rPr>
              <a:t>: The evolution of microprocessors has enabled the miniaturization of devices. Smartphones, laptops, and tablets with powerful processing capabilities are now common, making computing portable and more accessible.</a:t>
            </a:r>
            <a:endParaRPr/>
          </a:p>
          <a:p>
            <a:pPr indent="-342900" lvl="0" marL="342900" marR="0" rtl="0" algn="l">
              <a:lnSpc>
                <a:spcPct val="120000"/>
              </a:lnSpc>
              <a:spcBef>
                <a:spcPts val="390"/>
              </a:spcBef>
              <a:spcAft>
                <a:spcPts val="0"/>
              </a:spcAft>
              <a:buClr>
                <a:schemeClr val="dk2"/>
              </a:buClr>
              <a:buSzPts val="1950"/>
              <a:buFont typeface="Arial"/>
              <a:buChar char="•"/>
            </a:pPr>
            <a:r>
              <a:rPr b="1" lang="en-US" sz="1950" u="sng">
                <a:solidFill>
                  <a:schemeClr val="dk2"/>
                </a:solidFill>
                <a:latin typeface="Open Sans Light"/>
                <a:ea typeface="Open Sans Light"/>
                <a:cs typeface="Open Sans Light"/>
                <a:sym typeface="Open Sans Light"/>
              </a:rPr>
              <a:t>Enhanced Multitasking and Efficie</a:t>
            </a:r>
            <a:r>
              <a:rPr b="1" lang="en-US" sz="1950">
                <a:solidFill>
                  <a:schemeClr val="dk2"/>
                </a:solidFill>
                <a:latin typeface="Open Sans Light"/>
                <a:ea typeface="Open Sans Light"/>
                <a:cs typeface="Open Sans Light"/>
                <a:sym typeface="Open Sans Light"/>
              </a:rPr>
              <a:t>ncy</a:t>
            </a:r>
            <a:r>
              <a:rPr lang="en-US" sz="1950">
                <a:solidFill>
                  <a:schemeClr val="dk2"/>
                </a:solidFill>
                <a:latin typeface="Open Sans Light"/>
                <a:ea typeface="Open Sans Light"/>
                <a:cs typeface="Open Sans Light"/>
                <a:sym typeface="Open Sans Light"/>
              </a:rPr>
              <a:t>: With the introduction of multi-core processors, computers can handle multiple tasks simultaneously with greater efficiency. This multitasking capability has improved the performance of both consumer and business computing.</a:t>
            </a:r>
            <a:endParaRPr/>
          </a:p>
          <a:p>
            <a:pPr indent="-342900" lvl="0" marL="342900" marR="0" rtl="0" algn="l">
              <a:lnSpc>
                <a:spcPct val="120000"/>
              </a:lnSpc>
              <a:spcBef>
                <a:spcPts val="390"/>
              </a:spcBef>
              <a:spcAft>
                <a:spcPts val="0"/>
              </a:spcAft>
              <a:buClr>
                <a:schemeClr val="dk2"/>
              </a:buClr>
              <a:buSzPts val="1950"/>
              <a:buFont typeface="Arial"/>
              <a:buChar char="•"/>
            </a:pPr>
            <a:r>
              <a:rPr b="1" lang="en-US" sz="1950" u="sng">
                <a:solidFill>
                  <a:schemeClr val="dk2"/>
                </a:solidFill>
                <a:latin typeface="Open Sans Light"/>
                <a:ea typeface="Open Sans Light"/>
                <a:cs typeface="Open Sans Light"/>
                <a:sym typeface="Open Sans Light"/>
              </a:rPr>
              <a:t>Impact on Artificial Intelligence and Machine Learning</a:t>
            </a:r>
            <a:r>
              <a:rPr lang="en-US" sz="1950">
                <a:solidFill>
                  <a:schemeClr val="dk2"/>
                </a:solidFill>
                <a:latin typeface="Open Sans Light"/>
                <a:ea typeface="Open Sans Light"/>
                <a:cs typeface="Open Sans Light"/>
                <a:sym typeface="Open Sans Light"/>
              </a:rPr>
              <a:t>: Advanced microprocessors have been pivotal in the growth of AI and machine learning. They provide the necessary computational power to process large datasets and perform complex algorithms, leading to innovations in various fields like healthcare, automotive, and finance.</a:t>
            </a:r>
            <a:endParaRPr/>
          </a:p>
          <a:p>
            <a:pPr indent="-342900" lvl="0" marL="342900" marR="0" rtl="0" algn="l">
              <a:lnSpc>
                <a:spcPct val="120000"/>
              </a:lnSpc>
              <a:spcBef>
                <a:spcPts val="390"/>
              </a:spcBef>
              <a:spcAft>
                <a:spcPts val="0"/>
              </a:spcAft>
              <a:buClr>
                <a:schemeClr val="dk2"/>
              </a:buClr>
              <a:buSzPts val="1950"/>
              <a:buFont typeface="Arial"/>
              <a:buChar char="•"/>
            </a:pPr>
            <a:r>
              <a:rPr b="1" lang="en-US" sz="1950" u="sng">
                <a:solidFill>
                  <a:schemeClr val="dk2"/>
                </a:solidFill>
                <a:latin typeface="Open Sans Light"/>
                <a:ea typeface="Open Sans Light"/>
                <a:cs typeface="Open Sans Light"/>
                <a:sym typeface="Open Sans Light"/>
              </a:rPr>
              <a:t>Energy Efficiency and Sustainability</a:t>
            </a:r>
            <a:r>
              <a:rPr lang="en-US" sz="1950">
                <a:solidFill>
                  <a:schemeClr val="dk2"/>
                </a:solidFill>
                <a:latin typeface="Open Sans Light"/>
                <a:ea typeface="Open Sans Light"/>
                <a:cs typeface="Open Sans Light"/>
                <a:sym typeface="Open Sans Light"/>
              </a:rPr>
              <a:t>: Newer microprocessors are designed to be more energy-efficient, reducing the environmental impact of computing and enabling longer battery life in portable devices.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4"/>
                                        </p:tgtEl>
                                        <p:attrNameLst>
                                          <p:attrName>style.visibility</p:attrName>
                                        </p:attrNameLst>
                                      </p:cBhvr>
                                      <p:to>
                                        <p:strVal val="visible"/>
                                      </p:to>
                                    </p:set>
                                    <p:animEffect filter="fade" transition="in">
                                      <p:cBhvr>
                                        <p:cTn dur="500"/>
                                        <p:tgtEl>
                                          <p:spTgt spid="144"/>
                                        </p:tgtEl>
                                      </p:cBhvr>
                                    </p:animEffect>
                                  </p:childTnLst>
                                </p:cTn>
                              </p:par>
                              <p:par>
                                <p:cTn fill="hold" nodeType="withEffect" presetClass="entr" presetID="10" presetSubtype="0">
                                  <p:stCondLst>
                                    <p:cond delay="0"/>
                                  </p:stCondLst>
                                  <p:childTnLst>
                                    <p:set>
                                      <p:cBhvr>
                                        <p:cTn dur="1" fill="hold">
                                          <p:stCondLst>
                                            <p:cond delay="0"/>
                                          </p:stCondLst>
                                        </p:cTn>
                                        <p:tgtEl>
                                          <p:spTgt spid="145"/>
                                        </p:tgtEl>
                                        <p:attrNameLst>
                                          <p:attrName>style.visibility</p:attrName>
                                        </p:attrNameLst>
                                      </p:cBhvr>
                                      <p:to>
                                        <p:strVal val="visible"/>
                                      </p:to>
                                    </p:set>
                                    <p:animEffect filter="fade" transition="in">
                                      <p:cBhvr>
                                        <p:cTn dur="500"/>
                                        <p:tgtEl>
                                          <p:spTgt spid="1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6"/>
                                        </p:tgtEl>
                                        <p:attrNameLst>
                                          <p:attrName>style.visibility</p:attrName>
                                        </p:attrNameLst>
                                      </p:cBhvr>
                                      <p:to>
                                        <p:strVal val="visible"/>
                                      </p:to>
                                    </p:set>
                                    <p:animEffect filter="fade" transition="in">
                                      <p:cBhvr>
                                        <p:cTn dur="500"/>
                                        <p:tgtEl>
                                          <p:spTgt spid="146"/>
                                        </p:tgtEl>
                                      </p:cBhvr>
                                    </p:animEffect>
                                  </p:childTnLst>
                                </p:cTn>
                              </p:par>
                              <p:par>
                                <p:cTn fill="hold" nodeType="withEffect" presetClass="entr" presetID="10" presetSubtype="0">
                                  <p:stCondLst>
                                    <p:cond delay="0"/>
                                  </p:stCondLst>
                                  <p:childTnLst>
                                    <p:set>
                                      <p:cBhvr>
                                        <p:cTn dur="1" fill="hold">
                                          <p:stCondLst>
                                            <p:cond delay="0"/>
                                          </p:stCondLst>
                                        </p:cTn>
                                        <p:tgtEl>
                                          <p:spTgt spid="147"/>
                                        </p:tgtEl>
                                        <p:attrNameLst>
                                          <p:attrName>style.visibility</p:attrName>
                                        </p:attrNameLst>
                                      </p:cBhvr>
                                      <p:to>
                                        <p:strVal val="visible"/>
                                      </p:to>
                                    </p:set>
                                    <p:animEffect filter="fade" transition="in">
                                      <p:cBhvr>
                                        <p:cTn dur="500"/>
                                        <p:tgtEl>
                                          <p:spTgt spid="14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8"/>
                                        </p:tgtEl>
                                        <p:attrNameLst>
                                          <p:attrName>style.visibility</p:attrName>
                                        </p:attrNameLst>
                                      </p:cBhvr>
                                      <p:to>
                                        <p:strVal val="visible"/>
                                      </p:to>
                                    </p:set>
                                    <p:animEffect filter="fade" transition="in">
                                      <p:cBhvr>
                                        <p:cTn dur="500"/>
                                        <p:tgtEl>
                                          <p:spTgt spid="148"/>
                                        </p:tgtEl>
                                      </p:cBhvr>
                                    </p:animEffect>
                                  </p:childTnLst>
                                </p:cTn>
                              </p:par>
                              <p:par>
                                <p:cTn fill="hold" nodeType="withEffect" presetClass="entr" presetID="10" presetSubtype="0">
                                  <p:stCondLst>
                                    <p:cond delay="0"/>
                                  </p:stCondLst>
                                  <p:childTnLst>
                                    <p:set>
                                      <p:cBhvr>
                                        <p:cTn dur="1" fill="hold">
                                          <p:stCondLst>
                                            <p:cond delay="0"/>
                                          </p:stCondLst>
                                        </p:cTn>
                                        <p:tgtEl>
                                          <p:spTgt spid="149"/>
                                        </p:tgtEl>
                                        <p:attrNameLst>
                                          <p:attrName>style.visibility</p:attrName>
                                        </p:attrNameLst>
                                      </p:cBhvr>
                                      <p:to>
                                        <p:strVal val="visible"/>
                                      </p:to>
                                    </p:set>
                                    <p:animEffect filter="fade" transition="in">
                                      <p:cBhvr>
                                        <p:cTn dur="500"/>
                                        <p:tgtEl>
                                          <p:spTgt spid="14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6"/>
          <p:cNvSpPr/>
          <p:nvPr/>
        </p:nvSpPr>
        <p:spPr>
          <a:xfrm>
            <a:off x="646235" y="153309"/>
            <a:ext cx="23455239" cy="1755004"/>
          </a:xfrm>
          <a:prstGeom prst="roundRect">
            <a:avLst>
              <a:gd fmla="val 16667" name="adj"/>
            </a:avLst>
          </a:prstGeom>
          <a:solidFill>
            <a:schemeClr val="accent3"/>
          </a:solidFill>
          <a:ln cap="flat" cmpd="sng" w="9525">
            <a:solidFill>
              <a:schemeClr val="dk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5400">
              <a:solidFill>
                <a:schemeClr val="dk1"/>
              </a:solidFill>
              <a:latin typeface="Calibri"/>
              <a:ea typeface="Calibri"/>
              <a:cs typeface="Calibri"/>
              <a:sym typeface="Calibri"/>
            </a:endParaRPr>
          </a:p>
        </p:txBody>
      </p:sp>
      <p:sp>
        <p:nvSpPr>
          <p:cNvPr id="156" name="Google Shape;156;p16"/>
          <p:cNvSpPr txBox="1"/>
          <p:nvPr/>
        </p:nvSpPr>
        <p:spPr>
          <a:xfrm>
            <a:off x="1074582" y="307536"/>
            <a:ext cx="22598544" cy="144655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2"/>
              </a:buClr>
              <a:buSzPts val="8800"/>
              <a:buFont typeface="Arial"/>
              <a:buNone/>
            </a:pPr>
            <a:r>
              <a:rPr b="1" lang="en-US" sz="8800" u="sng">
                <a:solidFill>
                  <a:schemeClr val="dk2"/>
                </a:solidFill>
                <a:latin typeface="Calibri"/>
                <a:ea typeface="Calibri"/>
                <a:cs typeface="Calibri"/>
                <a:sym typeface="Calibri"/>
              </a:rPr>
              <a:t>Model Answer</a:t>
            </a:r>
            <a:endParaRPr/>
          </a:p>
        </p:txBody>
      </p:sp>
      <p:cxnSp>
        <p:nvCxnSpPr>
          <p:cNvPr id="157" name="Google Shape;157;p16"/>
          <p:cNvCxnSpPr/>
          <p:nvPr/>
        </p:nvCxnSpPr>
        <p:spPr>
          <a:xfrm>
            <a:off x="10859432" y="2047026"/>
            <a:ext cx="0" cy="11389526"/>
          </a:xfrm>
          <a:prstGeom prst="straightConnector1">
            <a:avLst/>
          </a:prstGeom>
          <a:noFill/>
          <a:ln cap="flat" cmpd="sng" w="9525">
            <a:solidFill>
              <a:schemeClr val="dk2"/>
            </a:solidFill>
            <a:prstDash val="solid"/>
            <a:miter lim="800000"/>
            <a:headEnd len="sm" w="sm" type="none"/>
            <a:tailEnd len="sm" w="sm" type="none"/>
          </a:ln>
        </p:spPr>
      </p:cxnSp>
      <p:sp>
        <p:nvSpPr>
          <p:cNvPr id="158" name="Google Shape;158;p16"/>
          <p:cNvSpPr/>
          <p:nvPr/>
        </p:nvSpPr>
        <p:spPr>
          <a:xfrm>
            <a:off x="646236" y="2047026"/>
            <a:ext cx="9771394" cy="11389526"/>
          </a:xfrm>
          <a:prstGeom prst="roundRect">
            <a:avLst>
              <a:gd fmla="val 16667" name="adj"/>
            </a:avLst>
          </a:prstGeom>
          <a:solidFill>
            <a:srgbClr val="E0F5F9"/>
          </a:solidFill>
          <a:ln cap="flat" cmpd="sng" w="9525">
            <a:solidFill>
              <a:schemeClr val="dk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4400">
              <a:solidFill>
                <a:schemeClr val="dk1"/>
              </a:solidFill>
              <a:latin typeface="Calibri"/>
              <a:ea typeface="Calibri"/>
              <a:cs typeface="Calibri"/>
              <a:sym typeface="Calibri"/>
            </a:endParaRPr>
          </a:p>
        </p:txBody>
      </p:sp>
      <p:sp>
        <p:nvSpPr>
          <p:cNvPr id="159" name="Google Shape;159;p16"/>
          <p:cNvSpPr txBox="1"/>
          <p:nvPr/>
        </p:nvSpPr>
        <p:spPr>
          <a:xfrm>
            <a:off x="2756683" y="2266295"/>
            <a:ext cx="6437168" cy="923330"/>
          </a:xfrm>
          <a:prstGeom prst="rect">
            <a:avLst/>
          </a:prstGeom>
          <a:noFill/>
          <a:ln>
            <a:noFill/>
          </a:ln>
        </p:spPr>
        <p:txBody>
          <a:bodyPr anchorCtr="0" anchor="b" bIns="45700" lIns="91425" spcFirstLastPara="1" rIns="91425" wrap="square" tIns="45700">
            <a:spAutoFit/>
          </a:bodyPr>
          <a:lstStyle/>
          <a:p>
            <a:pPr indent="0" lvl="0" marL="0" marR="0" rtl="0" algn="ctr">
              <a:spcBef>
                <a:spcPts val="0"/>
              </a:spcBef>
              <a:spcAft>
                <a:spcPts val="0"/>
              </a:spcAft>
              <a:buNone/>
            </a:pPr>
            <a:r>
              <a:rPr b="1" lang="en-US" sz="5400" u="sng">
                <a:solidFill>
                  <a:schemeClr val="dk2"/>
                </a:solidFill>
                <a:latin typeface="Poppins"/>
                <a:ea typeface="Poppins"/>
                <a:cs typeface="Poppins"/>
                <a:sym typeface="Poppins"/>
              </a:rPr>
              <a:t>Option 1: Reflective</a:t>
            </a:r>
            <a:endParaRPr/>
          </a:p>
        </p:txBody>
      </p:sp>
      <p:sp>
        <p:nvSpPr>
          <p:cNvPr id="160" name="Google Shape;160;p16"/>
          <p:cNvSpPr txBox="1"/>
          <p:nvPr/>
        </p:nvSpPr>
        <p:spPr>
          <a:xfrm>
            <a:off x="1074582" y="3284709"/>
            <a:ext cx="9141741" cy="9747925"/>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2"/>
              </a:buClr>
              <a:buSzPts val="3600"/>
              <a:buFont typeface="Arial"/>
              <a:buNone/>
            </a:pPr>
            <a:r>
              <a:rPr b="1" lang="en-US" sz="3600" u="sng">
                <a:solidFill>
                  <a:schemeClr val="dk2"/>
                </a:solidFill>
                <a:latin typeface="Open Sans Light"/>
                <a:ea typeface="Open Sans Light"/>
                <a:cs typeface="Open Sans Light"/>
                <a:sym typeface="Open Sans Light"/>
              </a:rPr>
              <a:t>Instructions </a:t>
            </a:r>
            <a:r>
              <a:rPr b="1" lang="en-US" sz="3600">
                <a:solidFill>
                  <a:schemeClr val="dk2"/>
                </a:solidFill>
                <a:latin typeface="Open Sans Light"/>
                <a:ea typeface="Open Sans Light"/>
                <a:cs typeface="Open Sans Light"/>
                <a:sym typeface="Open Sans Light"/>
              </a:rPr>
              <a:t>– </a:t>
            </a:r>
            <a:r>
              <a:rPr i="1" lang="en-US" sz="3600">
                <a:solidFill>
                  <a:schemeClr val="dk2"/>
                </a:solidFill>
                <a:latin typeface="Open Sans Light"/>
                <a:ea typeface="Open Sans Light"/>
                <a:cs typeface="Open Sans Light"/>
                <a:sym typeface="Open Sans Light"/>
              </a:rPr>
              <a:t>Write a </a:t>
            </a:r>
            <a:r>
              <a:rPr i="1" lang="en-US" sz="3600" u="sng">
                <a:solidFill>
                  <a:schemeClr val="dk2"/>
                </a:solidFill>
                <a:latin typeface="Open Sans Light"/>
                <a:ea typeface="Open Sans Light"/>
                <a:cs typeface="Open Sans Light"/>
                <a:sym typeface="Open Sans Light"/>
              </a:rPr>
              <a:t>short essay </a:t>
            </a:r>
            <a:r>
              <a:rPr i="1" lang="en-US" sz="3600">
                <a:solidFill>
                  <a:schemeClr val="dk2"/>
                </a:solidFill>
                <a:latin typeface="Open Sans Light"/>
                <a:ea typeface="Open Sans Light"/>
                <a:cs typeface="Open Sans Light"/>
                <a:sym typeface="Open Sans Light"/>
              </a:rPr>
              <a:t>reflecting on this question – Will quantum processors replace tradition microprocessors in the next two decades?</a:t>
            </a:r>
            <a:endParaRPr/>
          </a:p>
          <a:p>
            <a:pPr indent="0" lvl="0" marL="0" marR="0" rtl="0" algn="ctr">
              <a:lnSpc>
                <a:spcPct val="150000"/>
              </a:lnSpc>
              <a:spcBef>
                <a:spcPts val="720"/>
              </a:spcBef>
              <a:spcAft>
                <a:spcPts val="0"/>
              </a:spcAft>
              <a:buClr>
                <a:schemeClr val="dk2"/>
              </a:buClr>
              <a:buSzPts val="3600"/>
              <a:buFont typeface="Arial"/>
              <a:buNone/>
            </a:pPr>
            <a:r>
              <a:rPr b="1" lang="en-US" sz="3600" u="sng">
                <a:solidFill>
                  <a:schemeClr val="dk2"/>
                </a:solidFill>
                <a:latin typeface="Lato Light"/>
                <a:ea typeface="Lato Light"/>
                <a:cs typeface="Lato Light"/>
                <a:sym typeface="Lato Light"/>
              </a:rPr>
              <a:t>Success Criteria</a:t>
            </a:r>
            <a:endParaRPr/>
          </a:p>
          <a:p>
            <a:pPr indent="-571500" lvl="0" marL="571500" marR="0" rtl="0" algn="l">
              <a:lnSpc>
                <a:spcPct val="150000"/>
              </a:lnSpc>
              <a:spcBef>
                <a:spcPts val="640"/>
              </a:spcBef>
              <a:spcAft>
                <a:spcPts val="0"/>
              </a:spcAft>
              <a:buClr>
                <a:schemeClr val="dk2"/>
              </a:buClr>
              <a:buSzPts val="3200"/>
              <a:buFont typeface="Arial"/>
              <a:buChar char="•"/>
            </a:pPr>
            <a:r>
              <a:rPr lang="en-US" sz="3200">
                <a:solidFill>
                  <a:schemeClr val="dk2"/>
                </a:solidFill>
                <a:latin typeface="Lato Light"/>
                <a:ea typeface="Lato Light"/>
                <a:cs typeface="Lato Light"/>
                <a:sym typeface="Lato Light"/>
              </a:rPr>
              <a:t>Demonstrate an </a:t>
            </a:r>
            <a:r>
              <a:rPr lang="en-US" sz="3200">
                <a:solidFill>
                  <a:srgbClr val="1C8256"/>
                </a:solidFill>
                <a:latin typeface="Lato Light"/>
                <a:ea typeface="Lato Light"/>
                <a:cs typeface="Lato Light"/>
                <a:sym typeface="Lato Light"/>
              </a:rPr>
              <a:t>understanding</a:t>
            </a:r>
            <a:r>
              <a:rPr lang="en-US" sz="3200">
                <a:solidFill>
                  <a:schemeClr val="dk2"/>
                </a:solidFill>
                <a:latin typeface="Lato Light"/>
                <a:ea typeface="Lato Light"/>
                <a:cs typeface="Lato Light"/>
                <a:sym typeface="Lato Light"/>
              </a:rPr>
              <a:t> of </a:t>
            </a:r>
            <a:r>
              <a:rPr lang="en-US" sz="3200">
                <a:solidFill>
                  <a:srgbClr val="1C8256"/>
                </a:solidFill>
                <a:latin typeface="Lato Light"/>
                <a:ea typeface="Lato Light"/>
                <a:cs typeface="Lato Light"/>
                <a:sym typeface="Lato Light"/>
              </a:rPr>
              <a:t>both </a:t>
            </a:r>
            <a:r>
              <a:rPr lang="en-US" sz="3200">
                <a:solidFill>
                  <a:schemeClr val="dk2"/>
                </a:solidFill>
                <a:latin typeface="Lato Light"/>
                <a:ea typeface="Lato Light"/>
                <a:cs typeface="Lato Light"/>
                <a:sym typeface="Lato Light"/>
              </a:rPr>
              <a:t>quantum processors and traditional microprocessors.</a:t>
            </a:r>
            <a:endParaRPr i="1" sz="3200">
              <a:solidFill>
                <a:schemeClr val="dk2"/>
              </a:solidFill>
              <a:latin typeface="Lato Light"/>
              <a:ea typeface="Lato Light"/>
              <a:cs typeface="Lato Light"/>
              <a:sym typeface="Lato Light"/>
            </a:endParaRPr>
          </a:p>
          <a:p>
            <a:pPr indent="-571500" lvl="0" marL="571500" marR="0" rtl="0" algn="l">
              <a:lnSpc>
                <a:spcPct val="150000"/>
              </a:lnSpc>
              <a:spcBef>
                <a:spcPts val="640"/>
              </a:spcBef>
              <a:spcAft>
                <a:spcPts val="0"/>
              </a:spcAft>
              <a:buClr>
                <a:schemeClr val="dk2"/>
              </a:buClr>
              <a:buSzPts val="3200"/>
              <a:buFont typeface="Arial"/>
              <a:buChar char="•"/>
            </a:pPr>
            <a:r>
              <a:rPr lang="en-US" sz="3200">
                <a:solidFill>
                  <a:schemeClr val="dk2"/>
                </a:solidFill>
                <a:latin typeface="Lato Light"/>
                <a:ea typeface="Lato Light"/>
                <a:cs typeface="Lato Light"/>
                <a:sym typeface="Lato Light"/>
              </a:rPr>
              <a:t>Show that you </a:t>
            </a:r>
            <a:r>
              <a:rPr lang="en-US" sz="3200">
                <a:solidFill>
                  <a:srgbClr val="7030A0"/>
                </a:solidFill>
                <a:latin typeface="Lato Light"/>
                <a:ea typeface="Lato Light"/>
                <a:cs typeface="Lato Light"/>
                <a:sym typeface="Lato Light"/>
              </a:rPr>
              <a:t>analyse</a:t>
            </a:r>
            <a:r>
              <a:rPr lang="en-US" sz="3200">
                <a:solidFill>
                  <a:schemeClr val="dk2"/>
                </a:solidFill>
                <a:latin typeface="Lato Light"/>
                <a:ea typeface="Lato Light"/>
                <a:cs typeface="Lato Light"/>
                <a:sym typeface="Lato Light"/>
              </a:rPr>
              <a:t> the positives and negatives of each side of the argument.</a:t>
            </a:r>
            <a:endParaRPr/>
          </a:p>
          <a:p>
            <a:pPr indent="-571500" lvl="0" marL="571500" marR="0" rtl="0" algn="l">
              <a:lnSpc>
                <a:spcPct val="150000"/>
              </a:lnSpc>
              <a:spcBef>
                <a:spcPts val="640"/>
              </a:spcBef>
              <a:spcAft>
                <a:spcPts val="0"/>
              </a:spcAft>
              <a:buClr>
                <a:schemeClr val="dk2"/>
              </a:buClr>
              <a:buSzPts val="3200"/>
              <a:buFont typeface="Arial"/>
              <a:buChar char="•"/>
            </a:pPr>
            <a:r>
              <a:rPr lang="en-US" sz="3200">
                <a:solidFill>
                  <a:schemeClr val="dk2"/>
                </a:solidFill>
                <a:latin typeface="Lato Light"/>
                <a:ea typeface="Lato Light"/>
                <a:cs typeface="Lato Light"/>
                <a:sym typeface="Lato Light"/>
              </a:rPr>
              <a:t>Present your work </a:t>
            </a:r>
            <a:r>
              <a:rPr lang="en-US" sz="3200">
                <a:solidFill>
                  <a:srgbClr val="0070C0"/>
                </a:solidFill>
                <a:latin typeface="Lato Light"/>
                <a:ea typeface="Lato Light"/>
                <a:cs typeface="Lato Light"/>
                <a:sym typeface="Lato Light"/>
              </a:rPr>
              <a:t>clearly and persuasively</a:t>
            </a:r>
            <a:r>
              <a:rPr lang="en-US" sz="3200">
                <a:solidFill>
                  <a:schemeClr val="dk2"/>
                </a:solidFill>
                <a:latin typeface="Lato Light"/>
                <a:ea typeface="Lato Light"/>
                <a:cs typeface="Lato Light"/>
                <a:sym typeface="Lato Light"/>
              </a:rPr>
              <a:t> </a:t>
            </a:r>
            <a:r>
              <a:rPr i="1" lang="en-US" sz="3200">
                <a:solidFill>
                  <a:schemeClr val="dk2"/>
                </a:solidFill>
                <a:latin typeface="Lato Light"/>
                <a:ea typeface="Lato Light"/>
                <a:cs typeface="Lato Light"/>
                <a:sym typeface="Lato Light"/>
              </a:rPr>
              <a:t>(e.g., examples to support your argument, clear communication)</a:t>
            </a:r>
            <a:endParaRPr/>
          </a:p>
        </p:txBody>
      </p:sp>
      <p:sp>
        <p:nvSpPr>
          <p:cNvPr id="161" name="Google Shape;161;p16"/>
          <p:cNvSpPr/>
          <p:nvPr/>
        </p:nvSpPr>
        <p:spPr>
          <a:xfrm>
            <a:off x="11110726" y="2047026"/>
            <a:ext cx="12989491" cy="11389526"/>
          </a:xfrm>
          <a:prstGeom prst="rect">
            <a:avLst/>
          </a:prstGeom>
          <a:solidFill>
            <a:srgbClr val="E0F5F9"/>
          </a:solidFill>
          <a:ln cap="flat" cmpd="sng" w="12700">
            <a:solidFill>
              <a:srgbClr val="0B537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7200">
              <a:solidFill>
                <a:schemeClr val="lt1"/>
              </a:solidFill>
              <a:latin typeface="Calibri"/>
              <a:ea typeface="Calibri"/>
              <a:cs typeface="Calibri"/>
              <a:sym typeface="Calibri"/>
            </a:endParaRPr>
          </a:p>
        </p:txBody>
      </p:sp>
      <p:sp>
        <p:nvSpPr>
          <p:cNvPr id="162" name="Google Shape;162;p16"/>
          <p:cNvSpPr txBox="1"/>
          <p:nvPr/>
        </p:nvSpPr>
        <p:spPr>
          <a:xfrm>
            <a:off x="11111981" y="2125208"/>
            <a:ext cx="12989493" cy="11745651"/>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2"/>
              </a:buClr>
              <a:buSzPts val="2700"/>
              <a:buFont typeface="Arial"/>
              <a:buNone/>
            </a:pPr>
            <a:r>
              <a:rPr lang="en-US" sz="2700">
                <a:solidFill>
                  <a:schemeClr val="dk2"/>
                </a:solidFill>
                <a:latin typeface="Open Sans Light"/>
                <a:ea typeface="Open Sans Light"/>
                <a:cs typeface="Open Sans Light"/>
                <a:sym typeface="Open Sans Light"/>
              </a:rPr>
              <a:t>Quantum processors and traditional microprocessors are like </a:t>
            </a:r>
            <a:r>
              <a:rPr b="1" lang="en-US" sz="2700">
                <a:solidFill>
                  <a:srgbClr val="1C8256"/>
                </a:solidFill>
                <a:latin typeface="Open Sans Light"/>
                <a:ea typeface="Open Sans Light"/>
                <a:cs typeface="Open Sans Light"/>
                <a:sym typeface="Open Sans Light"/>
              </a:rPr>
              <a:t>two different types of brains for computers</a:t>
            </a:r>
            <a:r>
              <a:rPr lang="en-US" sz="2700">
                <a:solidFill>
                  <a:srgbClr val="1C8256"/>
                </a:solidFill>
                <a:latin typeface="Open Sans Light"/>
                <a:ea typeface="Open Sans Light"/>
                <a:cs typeface="Open Sans Light"/>
                <a:sym typeface="Open Sans Light"/>
              </a:rPr>
              <a:t>, each with their own special skills</a:t>
            </a:r>
            <a:r>
              <a:rPr lang="en-US" sz="2700">
                <a:solidFill>
                  <a:schemeClr val="dk2"/>
                </a:solidFill>
                <a:latin typeface="Open Sans Light"/>
                <a:ea typeface="Open Sans Light"/>
                <a:cs typeface="Open Sans Light"/>
                <a:sym typeface="Open Sans Light"/>
              </a:rPr>
              <a:t>. </a:t>
            </a:r>
            <a:r>
              <a:rPr b="1" lang="en-US" sz="2700">
                <a:solidFill>
                  <a:srgbClr val="7030A0"/>
                </a:solidFill>
                <a:latin typeface="Open Sans Light"/>
                <a:ea typeface="Open Sans Light"/>
                <a:cs typeface="Open Sans Light"/>
                <a:sym typeface="Open Sans Light"/>
              </a:rPr>
              <a:t>Traditional microprocessors </a:t>
            </a:r>
            <a:r>
              <a:rPr lang="en-US" sz="2700">
                <a:solidFill>
                  <a:schemeClr val="dk2"/>
                </a:solidFill>
                <a:latin typeface="Open Sans Light"/>
                <a:ea typeface="Open Sans Light"/>
                <a:cs typeface="Open Sans Light"/>
                <a:sym typeface="Open Sans Light"/>
              </a:rPr>
              <a:t>are the kind we use in our everyday computers and gadgets. They work </a:t>
            </a:r>
            <a:r>
              <a:rPr lang="en-US" sz="2700">
                <a:solidFill>
                  <a:srgbClr val="7030A0"/>
                </a:solidFill>
                <a:latin typeface="Open Sans Light"/>
                <a:ea typeface="Open Sans Light"/>
                <a:cs typeface="Open Sans Light"/>
                <a:sym typeface="Open Sans Light"/>
              </a:rPr>
              <a:t>using simple 0s and 1s to do all sorts of tasks, like helping us browse the internet or play video games</a:t>
            </a:r>
            <a:r>
              <a:rPr lang="en-US" sz="2700">
                <a:solidFill>
                  <a:schemeClr val="dk2"/>
                </a:solidFill>
                <a:latin typeface="Open Sans Light"/>
                <a:ea typeface="Open Sans Light"/>
                <a:cs typeface="Open Sans Light"/>
                <a:sym typeface="Open Sans Light"/>
              </a:rPr>
              <a:t>. </a:t>
            </a:r>
            <a:r>
              <a:rPr b="1" lang="en-US" sz="2700">
                <a:solidFill>
                  <a:srgbClr val="7030A0"/>
                </a:solidFill>
                <a:latin typeface="Open Sans Light"/>
                <a:ea typeface="Open Sans Light"/>
                <a:cs typeface="Open Sans Light"/>
                <a:sym typeface="Open Sans Light"/>
              </a:rPr>
              <a:t>Quantum processors</a:t>
            </a:r>
            <a:r>
              <a:rPr lang="en-US" sz="2700">
                <a:solidFill>
                  <a:schemeClr val="dk2"/>
                </a:solidFill>
                <a:latin typeface="Open Sans Light"/>
                <a:ea typeface="Open Sans Light"/>
                <a:cs typeface="Open Sans Light"/>
                <a:sym typeface="Open Sans Light"/>
              </a:rPr>
              <a:t>, on the other hand, are a new kind of technology. </a:t>
            </a:r>
            <a:r>
              <a:rPr lang="en-US" sz="2700">
                <a:solidFill>
                  <a:srgbClr val="7030A0"/>
                </a:solidFill>
                <a:latin typeface="Open Sans Light"/>
                <a:ea typeface="Open Sans Light"/>
                <a:cs typeface="Open Sans Light"/>
                <a:sym typeface="Open Sans Light"/>
              </a:rPr>
              <a:t>They use the rules of quantum physics, which means they can do some calculations really fast</a:t>
            </a:r>
            <a:r>
              <a:rPr lang="en-US" sz="2700">
                <a:solidFill>
                  <a:schemeClr val="dk2"/>
                </a:solidFill>
                <a:latin typeface="Open Sans Light"/>
                <a:ea typeface="Open Sans Light"/>
                <a:cs typeface="Open Sans Light"/>
                <a:sym typeface="Open Sans Light"/>
              </a:rPr>
              <a:t>, much faster than traditional processors. This makes them super good at solving really tricky problems, like breaking codes or helping scientists discover new medicines.</a:t>
            </a:r>
            <a:endParaRPr/>
          </a:p>
          <a:p>
            <a:pPr indent="0" lvl="0" marL="0" marR="0" rtl="0" algn="l">
              <a:lnSpc>
                <a:spcPct val="150000"/>
              </a:lnSpc>
              <a:spcBef>
                <a:spcPts val="540"/>
              </a:spcBef>
              <a:spcAft>
                <a:spcPts val="0"/>
              </a:spcAft>
              <a:buClr>
                <a:srgbClr val="0070C0"/>
              </a:buClr>
              <a:buSzPts val="2700"/>
              <a:buFont typeface="Arial"/>
              <a:buNone/>
            </a:pPr>
            <a:r>
              <a:rPr lang="en-US" sz="2700">
                <a:solidFill>
                  <a:srgbClr val="0070C0"/>
                </a:solidFill>
                <a:latin typeface="Open Sans Light"/>
                <a:ea typeface="Open Sans Light"/>
                <a:cs typeface="Open Sans Light"/>
                <a:sym typeface="Open Sans Light"/>
              </a:rPr>
              <a:t>But the question of whether quantum processors will replace the regular ones in our computers in the next 20 years is pretty tough</a:t>
            </a:r>
            <a:r>
              <a:rPr lang="en-US" sz="2700">
                <a:solidFill>
                  <a:schemeClr val="dk2"/>
                </a:solidFill>
                <a:latin typeface="Open Sans Light"/>
                <a:ea typeface="Open Sans Light"/>
                <a:cs typeface="Open Sans Light"/>
                <a:sym typeface="Open Sans Light"/>
              </a:rPr>
              <a:t>. Quantum processors are still very new and have a lot of problems to fix. For example, they make more mistakes than traditional processors and need very cold temperatures to work. Plus, all the stuff we use now, like games, apps, and other software, are made for traditional processors. So, it's not easy to just switch everything over to quantum ones. Most likely, quantum processors won't replace traditional ones completely but will be used alongside them. They'll be used for special jobs that need their super-fast skills, while traditional processors will keep doing the everyday tasks. So, in the next 20 years, we might see both types of processors being used together, each doing what they're best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8"/>
                                        </p:tgtEl>
                                        <p:attrNameLst>
                                          <p:attrName>style.visibility</p:attrName>
                                        </p:attrNameLst>
                                      </p:cBhvr>
                                      <p:to>
                                        <p:strVal val="visible"/>
                                      </p:to>
                                    </p:set>
                                    <p:animEffect filter="fade" transition="in">
                                      <p:cBhvr>
                                        <p:cTn dur="500"/>
                                        <p:tgtEl>
                                          <p:spTgt spid="158"/>
                                        </p:tgtEl>
                                      </p:cBhvr>
                                    </p:animEffect>
                                  </p:childTnLst>
                                </p:cTn>
                              </p:par>
                              <p:par>
                                <p:cTn fill="hold" nodeType="withEffect" presetClass="entr" presetID="10" presetSubtype="0">
                                  <p:stCondLst>
                                    <p:cond delay="0"/>
                                  </p:stCondLst>
                                  <p:childTnLst>
                                    <p:set>
                                      <p:cBhvr>
                                        <p:cTn dur="1" fill="hold">
                                          <p:stCondLst>
                                            <p:cond delay="0"/>
                                          </p:stCondLst>
                                        </p:cTn>
                                        <p:tgtEl>
                                          <p:spTgt spid="159"/>
                                        </p:tgtEl>
                                        <p:attrNameLst>
                                          <p:attrName>style.visibility</p:attrName>
                                        </p:attrNameLst>
                                      </p:cBhvr>
                                      <p:to>
                                        <p:strVal val="visible"/>
                                      </p:to>
                                    </p:set>
                                    <p:animEffect filter="fade" transition="in">
                                      <p:cBhvr>
                                        <p:cTn dur="500"/>
                                        <p:tgtEl>
                                          <p:spTgt spid="15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0">
                                            <p:txEl>
                                              <p:pRg end="0" st="0"/>
                                            </p:txEl>
                                          </p:spTgt>
                                        </p:tgtEl>
                                        <p:attrNameLst>
                                          <p:attrName>style.visibility</p:attrName>
                                        </p:attrNameLst>
                                      </p:cBhvr>
                                      <p:to>
                                        <p:strVal val="visible"/>
                                      </p:to>
                                    </p:set>
                                    <p:animEffect filter="fade" transition="in">
                                      <p:cBhvr>
                                        <p:cTn dur="500"/>
                                        <p:tgtEl>
                                          <p:spTgt spid="160">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0">
                                            <p:txEl>
                                              <p:pRg end="1" st="1"/>
                                            </p:txEl>
                                          </p:spTgt>
                                        </p:tgtEl>
                                        <p:attrNameLst>
                                          <p:attrName>style.visibility</p:attrName>
                                        </p:attrNameLst>
                                      </p:cBhvr>
                                      <p:to>
                                        <p:strVal val="visible"/>
                                      </p:to>
                                    </p:set>
                                    <p:animEffect filter="fade" transition="in">
                                      <p:cBhvr>
                                        <p:cTn dur="500"/>
                                        <p:tgtEl>
                                          <p:spTgt spid="160">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0">
                                            <p:txEl>
                                              <p:pRg end="2" st="2"/>
                                            </p:txEl>
                                          </p:spTgt>
                                        </p:tgtEl>
                                        <p:attrNameLst>
                                          <p:attrName>style.visibility</p:attrName>
                                        </p:attrNameLst>
                                      </p:cBhvr>
                                      <p:to>
                                        <p:strVal val="visible"/>
                                      </p:to>
                                    </p:set>
                                    <p:animEffect filter="fade" transition="in">
                                      <p:cBhvr>
                                        <p:cTn dur="500"/>
                                        <p:tgtEl>
                                          <p:spTgt spid="160">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0">
                                            <p:txEl>
                                              <p:pRg end="3" st="3"/>
                                            </p:txEl>
                                          </p:spTgt>
                                        </p:tgtEl>
                                        <p:attrNameLst>
                                          <p:attrName>style.visibility</p:attrName>
                                        </p:attrNameLst>
                                      </p:cBhvr>
                                      <p:to>
                                        <p:strVal val="visible"/>
                                      </p:to>
                                    </p:set>
                                    <p:animEffect filter="fade" transition="in">
                                      <p:cBhvr>
                                        <p:cTn dur="500"/>
                                        <p:tgtEl>
                                          <p:spTgt spid="160">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0">
                                            <p:txEl>
                                              <p:pRg end="4" st="4"/>
                                            </p:txEl>
                                          </p:spTgt>
                                        </p:tgtEl>
                                        <p:attrNameLst>
                                          <p:attrName>style.visibility</p:attrName>
                                        </p:attrNameLst>
                                      </p:cBhvr>
                                      <p:to>
                                        <p:strVal val="visible"/>
                                      </p:to>
                                    </p:set>
                                    <p:animEffect filter="fade" transition="in">
                                      <p:cBhvr>
                                        <p:cTn dur="500"/>
                                        <p:tgtEl>
                                          <p:spTgt spid="160">
                                            <p:txEl>
                                              <p:pRg end="4" st="4"/>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1"/>
                                        </p:tgtEl>
                                        <p:attrNameLst>
                                          <p:attrName>style.visibility</p:attrName>
                                        </p:attrNameLst>
                                      </p:cBhvr>
                                      <p:to>
                                        <p:strVal val="visible"/>
                                      </p:to>
                                    </p:set>
                                    <p:animEffect filter="fade" transition="in">
                                      <p:cBhvr>
                                        <p:cTn dur="500"/>
                                        <p:tgtEl>
                                          <p:spTgt spid="161"/>
                                        </p:tgtEl>
                                      </p:cBhvr>
                                    </p:animEffect>
                                  </p:childTnLst>
                                </p:cTn>
                              </p:par>
                              <p:par>
                                <p:cTn fill="hold" nodeType="withEffect" presetClass="entr" presetID="10" presetSubtype="0">
                                  <p:stCondLst>
                                    <p:cond delay="0"/>
                                  </p:stCondLst>
                                  <p:childTnLst>
                                    <p:set>
                                      <p:cBhvr>
                                        <p:cTn dur="1" fill="hold">
                                          <p:stCondLst>
                                            <p:cond delay="0"/>
                                          </p:stCondLst>
                                        </p:cTn>
                                        <p:tgtEl>
                                          <p:spTgt spid="162"/>
                                        </p:tgtEl>
                                        <p:attrNameLst>
                                          <p:attrName>style.visibility</p:attrName>
                                        </p:attrNameLst>
                                      </p:cBhvr>
                                      <p:to>
                                        <p:strVal val="visible"/>
                                      </p:to>
                                    </p:set>
                                    <p:animEffect filter="fade" transition="in">
                                      <p:cBhvr>
                                        <p:cTn dur="500"/>
                                        <p:tgtEl>
                                          <p:spTgt spid="16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17"/>
          <p:cNvSpPr/>
          <p:nvPr/>
        </p:nvSpPr>
        <p:spPr>
          <a:xfrm>
            <a:off x="12615748" y="0"/>
            <a:ext cx="11761902" cy="13716000"/>
          </a:xfrm>
          <a:custGeom>
            <a:rect b="b" l="l" r="r" t="t"/>
            <a:pathLst>
              <a:path extrusionOk="0" h="15172" w="15172">
                <a:moveTo>
                  <a:pt x="15171" y="15171"/>
                </a:moveTo>
                <a:lnTo>
                  <a:pt x="0" y="15171"/>
                </a:lnTo>
                <a:lnTo>
                  <a:pt x="0" y="0"/>
                </a:lnTo>
                <a:lnTo>
                  <a:pt x="15171" y="0"/>
                </a:lnTo>
                <a:lnTo>
                  <a:pt x="15171" y="15171"/>
                </a:lnTo>
              </a:path>
            </a:pathLst>
          </a:custGeom>
          <a:solidFill>
            <a:srgbClr val="F2F2F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2800">
              <a:solidFill>
                <a:schemeClr val="dk1"/>
              </a:solidFill>
              <a:latin typeface="Poppins"/>
              <a:ea typeface="Poppins"/>
              <a:cs typeface="Poppins"/>
              <a:sym typeface="Poppins"/>
            </a:endParaRPr>
          </a:p>
        </p:txBody>
      </p:sp>
      <p:sp>
        <p:nvSpPr>
          <p:cNvPr id="168" name="Google Shape;168;p17"/>
          <p:cNvSpPr/>
          <p:nvPr/>
        </p:nvSpPr>
        <p:spPr>
          <a:xfrm>
            <a:off x="13537695" y="1039163"/>
            <a:ext cx="9918007" cy="11637673"/>
          </a:xfrm>
          <a:custGeom>
            <a:rect b="b" l="l" r="r" t="t"/>
            <a:pathLst>
              <a:path extrusionOk="0" fill="none" h="1339726" w="18044903">
                <a:moveTo>
                  <a:pt x="0" y="0"/>
                </a:moveTo>
                <a:cubicBezTo>
                  <a:pt x="72603" y="-5356"/>
                  <a:pt x="86259" y="3921"/>
                  <a:pt x="152688" y="0"/>
                </a:cubicBezTo>
                <a:cubicBezTo>
                  <a:pt x="219117" y="-3921"/>
                  <a:pt x="535621" y="22533"/>
                  <a:pt x="846722" y="0"/>
                </a:cubicBezTo>
                <a:cubicBezTo>
                  <a:pt x="1157823" y="-22533"/>
                  <a:pt x="967617" y="400"/>
                  <a:pt x="999410" y="0"/>
                </a:cubicBezTo>
                <a:cubicBezTo>
                  <a:pt x="1031203" y="-400"/>
                  <a:pt x="1083000" y="-1950"/>
                  <a:pt x="1152098" y="0"/>
                </a:cubicBezTo>
                <a:cubicBezTo>
                  <a:pt x="1221196" y="1950"/>
                  <a:pt x="1439657" y="15980"/>
                  <a:pt x="1665683" y="0"/>
                </a:cubicBezTo>
                <a:cubicBezTo>
                  <a:pt x="1891710" y="-15980"/>
                  <a:pt x="2036370" y="12197"/>
                  <a:pt x="2359718" y="0"/>
                </a:cubicBezTo>
                <a:cubicBezTo>
                  <a:pt x="2683067" y="-12197"/>
                  <a:pt x="2445758" y="-5117"/>
                  <a:pt x="2512406" y="0"/>
                </a:cubicBezTo>
                <a:cubicBezTo>
                  <a:pt x="2579054" y="5117"/>
                  <a:pt x="2962087" y="43606"/>
                  <a:pt x="3386889" y="0"/>
                </a:cubicBezTo>
                <a:cubicBezTo>
                  <a:pt x="3811691" y="-43606"/>
                  <a:pt x="4052910" y="20763"/>
                  <a:pt x="4261373" y="0"/>
                </a:cubicBezTo>
                <a:cubicBezTo>
                  <a:pt x="4469836" y="-20763"/>
                  <a:pt x="4651618" y="-22748"/>
                  <a:pt x="4774959" y="0"/>
                </a:cubicBezTo>
                <a:cubicBezTo>
                  <a:pt x="4898300" y="22748"/>
                  <a:pt x="5418961" y="30760"/>
                  <a:pt x="5829892" y="0"/>
                </a:cubicBezTo>
                <a:cubicBezTo>
                  <a:pt x="6240823" y="-30760"/>
                  <a:pt x="6266258" y="-23696"/>
                  <a:pt x="6523926" y="0"/>
                </a:cubicBezTo>
                <a:cubicBezTo>
                  <a:pt x="6781594" y="23696"/>
                  <a:pt x="6602060" y="655"/>
                  <a:pt x="6676614" y="0"/>
                </a:cubicBezTo>
                <a:cubicBezTo>
                  <a:pt x="6751168" y="-655"/>
                  <a:pt x="7195856" y="17579"/>
                  <a:pt x="7370649" y="0"/>
                </a:cubicBezTo>
                <a:cubicBezTo>
                  <a:pt x="7545442" y="-17579"/>
                  <a:pt x="7735004" y="-15166"/>
                  <a:pt x="7884235" y="0"/>
                </a:cubicBezTo>
                <a:cubicBezTo>
                  <a:pt x="8033466" y="15166"/>
                  <a:pt x="8054789" y="-1240"/>
                  <a:pt x="8217371" y="0"/>
                </a:cubicBezTo>
                <a:cubicBezTo>
                  <a:pt x="8379953" y="1240"/>
                  <a:pt x="8811071" y="19879"/>
                  <a:pt x="9091855" y="0"/>
                </a:cubicBezTo>
                <a:cubicBezTo>
                  <a:pt x="9372639" y="-19879"/>
                  <a:pt x="9697964" y="6853"/>
                  <a:pt x="9966339" y="0"/>
                </a:cubicBezTo>
                <a:cubicBezTo>
                  <a:pt x="10234714" y="-6853"/>
                  <a:pt x="10291006" y="-9999"/>
                  <a:pt x="10479924" y="0"/>
                </a:cubicBezTo>
                <a:cubicBezTo>
                  <a:pt x="10668843" y="9999"/>
                  <a:pt x="10949046" y="-41527"/>
                  <a:pt x="11354408" y="0"/>
                </a:cubicBezTo>
                <a:cubicBezTo>
                  <a:pt x="11759770" y="41527"/>
                  <a:pt x="11622159" y="9742"/>
                  <a:pt x="11867994" y="0"/>
                </a:cubicBezTo>
                <a:cubicBezTo>
                  <a:pt x="12113829" y="-9742"/>
                  <a:pt x="12322284" y="38624"/>
                  <a:pt x="12742478" y="0"/>
                </a:cubicBezTo>
                <a:cubicBezTo>
                  <a:pt x="13162672" y="-38624"/>
                  <a:pt x="12936102" y="-4255"/>
                  <a:pt x="13075614" y="0"/>
                </a:cubicBezTo>
                <a:cubicBezTo>
                  <a:pt x="13215126" y="4255"/>
                  <a:pt x="13423822" y="1838"/>
                  <a:pt x="13589200" y="0"/>
                </a:cubicBezTo>
                <a:cubicBezTo>
                  <a:pt x="13754578" y="-1838"/>
                  <a:pt x="13762600" y="6835"/>
                  <a:pt x="13922337" y="0"/>
                </a:cubicBezTo>
                <a:cubicBezTo>
                  <a:pt x="14082074" y="-6835"/>
                  <a:pt x="14560074" y="40110"/>
                  <a:pt x="14977269" y="0"/>
                </a:cubicBezTo>
                <a:cubicBezTo>
                  <a:pt x="15394464" y="-40110"/>
                  <a:pt x="15093941" y="6150"/>
                  <a:pt x="15129957" y="0"/>
                </a:cubicBezTo>
                <a:cubicBezTo>
                  <a:pt x="15165973" y="-6150"/>
                  <a:pt x="15514052" y="-14837"/>
                  <a:pt x="15643543" y="0"/>
                </a:cubicBezTo>
                <a:cubicBezTo>
                  <a:pt x="15773034" y="14837"/>
                  <a:pt x="15758376" y="6951"/>
                  <a:pt x="15796230" y="0"/>
                </a:cubicBezTo>
                <a:cubicBezTo>
                  <a:pt x="15834084" y="-6951"/>
                  <a:pt x="16394295" y="-27209"/>
                  <a:pt x="16670714" y="0"/>
                </a:cubicBezTo>
                <a:cubicBezTo>
                  <a:pt x="16947133" y="27209"/>
                  <a:pt x="17767869" y="-33735"/>
                  <a:pt x="18044903" y="0"/>
                </a:cubicBezTo>
                <a:cubicBezTo>
                  <a:pt x="18042266" y="193080"/>
                  <a:pt x="18018765" y="467008"/>
                  <a:pt x="18044903" y="629671"/>
                </a:cubicBezTo>
                <a:cubicBezTo>
                  <a:pt x="18071041" y="792334"/>
                  <a:pt x="18035407" y="1011626"/>
                  <a:pt x="18044903" y="1339726"/>
                </a:cubicBezTo>
                <a:cubicBezTo>
                  <a:pt x="17906905" y="1332592"/>
                  <a:pt x="17809864" y="1335833"/>
                  <a:pt x="17711766" y="1339726"/>
                </a:cubicBezTo>
                <a:cubicBezTo>
                  <a:pt x="17613668" y="1343619"/>
                  <a:pt x="16935700" y="1392102"/>
                  <a:pt x="16656834" y="1339726"/>
                </a:cubicBezTo>
                <a:cubicBezTo>
                  <a:pt x="16377968" y="1287350"/>
                  <a:pt x="16092282" y="1316098"/>
                  <a:pt x="15601901" y="1339726"/>
                </a:cubicBezTo>
                <a:cubicBezTo>
                  <a:pt x="15111520" y="1363354"/>
                  <a:pt x="15093790" y="1366802"/>
                  <a:pt x="14907866" y="1339726"/>
                </a:cubicBezTo>
                <a:cubicBezTo>
                  <a:pt x="14721942" y="1312650"/>
                  <a:pt x="14504814" y="1317345"/>
                  <a:pt x="14394280" y="1339726"/>
                </a:cubicBezTo>
                <a:cubicBezTo>
                  <a:pt x="14283746" y="1362107"/>
                  <a:pt x="14144545" y="1349072"/>
                  <a:pt x="14061144" y="1339726"/>
                </a:cubicBezTo>
                <a:cubicBezTo>
                  <a:pt x="13977743" y="1330380"/>
                  <a:pt x="13962406" y="1334458"/>
                  <a:pt x="13908456" y="1339726"/>
                </a:cubicBezTo>
                <a:cubicBezTo>
                  <a:pt x="13854506" y="1344994"/>
                  <a:pt x="13391142" y="1341047"/>
                  <a:pt x="13033972" y="1339726"/>
                </a:cubicBezTo>
                <a:cubicBezTo>
                  <a:pt x="12676802" y="1338405"/>
                  <a:pt x="12382410" y="1319785"/>
                  <a:pt x="12159488" y="1339726"/>
                </a:cubicBezTo>
                <a:cubicBezTo>
                  <a:pt x="11936566" y="1359667"/>
                  <a:pt x="11868375" y="1331089"/>
                  <a:pt x="11645903" y="1339726"/>
                </a:cubicBezTo>
                <a:cubicBezTo>
                  <a:pt x="11423431" y="1348363"/>
                  <a:pt x="11439083" y="1323705"/>
                  <a:pt x="11312766" y="1339726"/>
                </a:cubicBezTo>
                <a:cubicBezTo>
                  <a:pt x="11186449" y="1355747"/>
                  <a:pt x="11055495" y="1332789"/>
                  <a:pt x="10799180" y="1339726"/>
                </a:cubicBezTo>
                <a:cubicBezTo>
                  <a:pt x="10542865" y="1346663"/>
                  <a:pt x="10405311" y="1331267"/>
                  <a:pt x="10285595" y="1339726"/>
                </a:cubicBezTo>
                <a:cubicBezTo>
                  <a:pt x="10165880" y="1348185"/>
                  <a:pt x="9486418" y="1290669"/>
                  <a:pt x="9230662" y="1339726"/>
                </a:cubicBezTo>
                <a:cubicBezTo>
                  <a:pt x="8974906" y="1388783"/>
                  <a:pt x="8880392" y="1337182"/>
                  <a:pt x="8536627" y="1339726"/>
                </a:cubicBezTo>
                <a:cubicBezTo>
                  <a:pt x="8192862" y="1342270"/>
                  <a:pt x="8169175" y="1331548"/>
                  <a:pt x="8023041" y="1339726"/>
                </a:cubicBezTo>
                <a:cubicBezTo>
                  <a:pt x="7876907" y="1347904"/>
                  <a:pt x="7251750" y="1367936"/>
                  <a:pt x="6968109" y="1339726"/>
                </a:cubicBezTo>
                <a:cubicBezTo>
                  <a:pt x="6684468" y="1311516"/>
                  <a:pt x="6878641" y="1335128"/>
                  <a:pt x="6815421" y="1339726"/>
                </a:cubicBezTo>
                <a:cubicBezTo>
                  <a:pt x="6752201" y="1344324"/>
                  <a:pt x="6052797" y="1391696"/>
                  <a:pt x="5760488" y="1339726"/>
                </a:cubicBezTo>
                <a:cubicBezTo>
                  <a:pt x="5468179" y="1287756"/>
                  <a:pt x="5221026" y="1316253"/>
                  <a:pt x="5066454" y="1339726"/>
                </a:cubicBezTo>
                <a:cubicBezTo>
                  <a:pt x="4911882" y="1363199"/>
                  <a:pt x="4984701" y="1337009"/>
                  <a:pt x="4913766" y="1339726"/>
                </a:cubicBezTo>
                <a:cubicBezTo>
                  <a:pt x="4842831" y="1342443"/>
                  <a:pt x="4331835" y="1312581"/>
                  <a:pt x="3858833" y="1339726"/>
                </a:cubicBezTo>
                <a:cubicBezTo>
                  <a:pt x="3385831" y="1366871"/>
                  <a:pt x="3774702" y="1335519"/>
                  <a:pt x="3706145" y="1339726"/>
                </a:cubicBezTo>
                <a:cubicBezTo>
                  <a:pt x="3637588" y="1343933"/>
                  <a:pt x="3457477" y="1341846"/>
                  <a:pt x="3373009" y="1339726"/>
                </a:cubicBezTo>
                <a:cubicBezTo>
                  <a:pt x="3288541" y="1337606"/>
                  <a:pt x="3112846" y="1335646"/>
                  <a:pt x="2859423" y="1339726"/>
                </a:cubicBezTo>
                <a:cubicBezTo>
                  <a:pt x="2606000" y="1343806"/>
                  <a:pt x="2603404" y="1323382"/>
                  <a:pt x="2526286" y="1339726"/>
                </a:cubicBezTo>
                <a:cubicBezTo>
                  <a:pt x="2449168" y="1356070"/>
                  <a:pt x="2219922" y="1345168"/>
                  <a:pt x="2012701" y="1339726"/>
                </a:cubicBezTo>
                <a:cubicBezTo>
                  <a:pt x="1805481" y="1334284"/>
                  <a:pt x="1666918" y="1334900"/>
                  <a:pt x="1499115" y="1339726"/>
                </a:cubicBezTo>
                <a:cubicBezTo>
                  <a:pt x="1331312" y="1344552"/>
                  <a:pt x="562325" y="1338625"/>
                  <a:pt x="0" y="1339726"/>
                </a:cubicBezTo>
                <a:cubicBezTo>
                  <a:pt x="8210" y="1113699"/>
                  <a:pt x="15786" y="993228"/>
                  <a:pt x="0" y="710055"/>
                </a:cubicBezTo>
                <a:cubicBezTo>
                  <a:pt x="-15786" y="426882"/>
                  <a:pt x="-13334" y="306413"/>
                  <a:pt x="0" y="0"/>
                </a:cubicBezTo>
                <a:close/>
              </a:path>
              <a:path extrusionOk="0" h="1339726" w="18044903">
                <a:moveTo>
                  <a:pt x="0" y="0"/>
                </a:moveTo>
                <a:cubicBezTo>
                  <a:pt x="160996" y="-3503"/>
                  <a:pt x="299176" y="18913"/>
                  <a:pt x="513586" y="0"/>
                </a:cubicBezTo>
                <a:cubicBezTo>
                  <a:pt x="727996" y="-18913"/>
                  <a:pt x="954908" y="30963"/>
                  <a:pt x="1207620" y="0"/>
                </a:cubicBezTo>
                <a:cubicBezTo>
                  <a:pt x="1460332" y="-30963"/>
                  <a:pt x="1864554" y="-42667"/>
                  <a:pt x="2082104" y="0"/>
                </a:cubicBezTo>
                <a:cubicBezTo>
                  <a:pt x="2299654" y="42667"/>
                  <a:pt x="2867495" y="41553"/>
                  <a:pt x="3137037" y="0"/>
                </a:cubicBezTo>
                <a:cubicBezTo>
                  <a:pt x="3406579" y="-41553"/>
                  <a:pt x="3426095" y="22030"/>
                  <a:pt x="3650623" y="0"/>
                </a:cubicBezTo>
                <a:cubicBezTo>
                  <a:pt x="3875151" y="-22030"/>
                  <a:pt x="4023632" y="-17975"/>
                  <a:pt x="4164208" y="0"/>
                </a:cubicBezTo>
                <a:cubicBezTo>
                  <a:pt x="4304784" y="17975"/>
                  <a:pt x="4485024" y="-23395"/>
                  <a:pt x="4677794" y="0"/>
                </a:cubicBezTo>
                <a:cubicBezTo>
                  <a:pt x="4870564" y="23395"/>
                  <a:pt x="5336551" y="30474"/>
                  <a:pt x="5552278" y="0"/>
                </a:cubicBezTo>
                <a:cubicBezTo>
                  <a:pt x="5768005" y="-30474"/>
                  <a:pt x="5660269" y="-2485"/>
                  <a:pt x="5704965" y="0"/>
                </a:cubicBezTo>
                <a:cubicBezTo>
                  <a:pt x="5749661" y="2485"/>
                  <a:pt x="5813562" y="7407"/>
                  <a:pt x="5857653" y="0"/>
                </a:cubicBezTo>
                <a:cubicBezTo>
                  <a:pt x="5901744" y="-7407"/>
                  <a:pt x="6416574" y="-3365"/>
                  <a:pt x="6732137" y="0"/>
                </a:cubicBezTo>
                <a:cubicBezTo>
                  <a:pt x="7047700" y="3365"/>
                  <a:pt x="6945420" y="-8039"/>
                  <a:pt x="7065274" y="0"/>
                </a:cubicBezTo>
                <a:cubicBezTo>
                  <a:pt x="7185128" y="8039"/>
                  <a:pt x="7767550" y="37535"/>
                  <a:pt x="8120206" y="0"/>
                </a:cubicBezTo>
                <a:cubicBezTo>
                  <a:pt x="8472862" y="-37535"/>
                  <a:pt x="8630250" y="26901"/>
                  <a:pt x="8994690" y="0"/>
                </a:cubicBezTo>
                <a:cubicBezTo>
                  <a:pt x="9359130" y="-26901"/>
                  <a:pt x="9733962" y="-6357"/>
                  <a:pt x="10049623" y="0"/>
                </a:cubicBezTo>
                <a:cubicBezTo>
                  <a:pt x="10365284" y="6357"/>
                  <a:pt x="10148621" y="-7474"/>
                  <a:pt x="10202311" y="0"/>
                </a:cubicBezTo>
                <a:cubicBezTo>
                  <a:pt x="10256001" y="7474"/>
                  <a:pt x="10877148" y="1394"/>
                  <a:pt x="11076794" y="0"/>
                </a:cubicBezTo>
                <a:cubicBezTo>
                  <a:pt x="11276440" y="-1394"/>
                  <a:pt x="11611765" y="-11793"/>
                  <a:pt x="11770829" y="0"/>
                </a:cubicBezTo>
                <a:cubicBezTo>
                  <a:pt x="11929894" y="11793"/>
                  <a:pt x="12273213" y="-17585"/>
                  <a:pt x="12645313" y="0"/>
                </a:cubicBezTo>
                <a:cubicBezTo>
                  <a:pt x="13017413" y="17585"/>
                  <a:pt x="12917474" y="14415"/>
                  <a:pt x="13158898" y="0"/>
                </a:cubicBezTo>
                <a:cubicBezTo>
                  <a:pt x="13400323" y="-14415"/>
                  <a:pt x="13837051" y="-46738"/>
                  <a:pt x="14213831" y="0"/>
                </a:cubicBezTo>
                <a:cubicBezTo>
                  <a:pt x="14590611" y="46738"/>
                  <a:pt x="14422734" y="-6788"/>
                  <a:pt x="14546968" y="0"/>
                </a:cubicBezTo>
                <a:cubicBezTo>
                  <a:pt x="14671202" y="6788"/>
                  <a:pt x="14897679" y="-6844"/>
                  <a:pt x="15060554" y="0"/>
                </a:cubicBezTo>
                <a:cubicBezTo>
                  <a:pt x="15223429" y="6844"/>
                  <a:pt x="15758299" y="-4365"/>
                  <a:pt x="16115486" y="0"/>
                </a:cubicBezTo>
                <a:cubicBezTo>
                  <a:pt x="16472673" y="4365"/>
                  <a:pt x="16227338" y="-7090"/>
                  <a:pt x="16268174" y="0"/>
                </a:cubicBezTo>
                <a:cubicBezTo>
                  <a:pt x="16309010" y="7090"/>
                  <a:pt x="16947008" y="7313"/>
                  <a:pt x="17142658" y="0"/>
                </a:cubicBezTo>
                <a:cubicBezTo>
                  <a:pt x="17338308" y="-7313"/>
                  <a:pt x="17844408" y="-42994"/>
                  <a:pt x="18044903" y="0"/>
                </a:cubicBezTo>
                <a:cubicBezTo>
                  <a:pt x="18030870" y="238390"/>
                  <a:pt x="18072204" y="425121"/>
                  <a:pt x="18044903" y="669863"/>
                </a:cubicBezTo>
                <a:cubicBezTo>
                  <a:pt x="18017602" y="914605"/>
                  <a:pt x="18024155" y="1011428"/>
                  <a:pt x="18044903" y="1339726"/>
                </a:cubicBezTo>
                <a:cubicBezTo>
                  <a:pt x="17730546" y="1367720"/>
                  <a:pt x="17491476" y="1378843"/>
                  <a:pt x="17170419" y="1339726"/>
                </a:cubicBezTo>
                <a:cubicBezTo>
                  <a:pt x="16849362" y="1300609"/>
                  <a:pt x="16659742" y="1319749"/>
                  <a:pt x="16476385" y="1339726"/>
                </a:cubicBezTo>
                <a:cubicBezTo>
                  <a:pt x="16293028" y="1359703"/>
                  <a:pt x="15677965" y="1385857"/>
                  <a:pt x="15421452" y="1339726"/>
                </a:cubicBezTo>
                <a:cubicBezTo>
                  <a:pt x="15164939" y="1293595"/>
                  <a:pt x="15216974" y="1346541"/>
                  <a:pt x="15088315" y="1339726"/>
                </a:cubicBezTo>
                <a:cubicBezTo>
                  <a:pt x="14959656" y="1332911"/>
                  <a:pt x="15005506" y="1340298"/>
                  <a:pt x="14935627" y="1339726"/>
                </a:cubicBezTo>
                <a:cubicBezTo>
                  <a:pt x="14865748" y="1339154"/>
                  <a:pt x="14594812" y="1323651"/>
                  <a:pt x="14422042" y="1339726"/>
                </a:cubicBezTo>
                <a:cubicBezTo>
                  <a:pt x="14249273" y="1355801"/>
                  <a:pt x="13924136" y="1314144"/>
                  <a:pt x="13728007" y="1339726"/>
                </a:cubicBezTo>
                <a:cubicBezTo>
                  <a:pt x="13531879" y="1365308"/>
                  <a:pt x="13609441" y="1342959"/>
                  <a:pt x="13575319" y="1339726"/>
                </a:cubicBezTo>
                <a:cubicBezTo>
                  <a:pt x="13541197" y="1336493"/>
                  <a:pt x="13493334" y="1334635"/>
                  <a:pt x="13422632" y="1339726"/>
                </a:cubicBezTo>
                <a:cubicBezTo>
                  <a:pt x="13351930" y="1344817"/>
                  <a:pt x="13156389" y="1348055"/>
                  <a:pt x="13089495" y="1339726"/>
                </a:cubicBezTo>
                <a:cubicBezTo>
                  <a:pt x="13022601" y="1331397"/>
                  <a:pt x="12714618" y="1361904"/>
                  <a:pt x="12575909" y="1339726"/>
                </a:cubicBezTo>
                <a:cubicBezTo>
                  <a:pt x="12437200" y="1317548"/>
                  <a:pt x="11734237" y="1339448"/>
                  <a:pt x="11520977" y="1339726"/>
                </a:cubicBezTo>
                <a:cubicBezTo>
                  <a:pt x="11307717" y="1340004"/>
                  <a:pt x="11272522" y="1344337"/>
                  <a:pt x="11187840" y="1339726"/>
                </a:cubicBezTo>
                <a:cubicBezTo>
                  <a:pt x="11103158" y="1335115"/>
                  <a:pt x="11005474" y="1346390"/>
                  <a:pt x="10854703" y="1339726"/>
                </a:cubicBezTo>
                <a:cubicBezTo>
                  <a:pt x="10703932" y="1333062"/>
                  <a:pt x="10511556" y="1314886"/>
                  <a:pt x="10341117" y="1339726"/>
                </a:cubicBezTo>
                <a:cubicBezTo>
                  <a:pt x="10170678" y="1364566"/>
                  <a:pt x="10112101" y="1323618"/>
                  <a:pt x="10007981" y="1339726"/>
                </a:cubicBezTo>
                <a:cubicBezTo>
                  <a:pt x="9903861" y="1355834"/>
                  <a:pt x="9715062" y="1349468"/>
                  <a:pt x="9494395" y="1339726"/>
                </a:cubicBezTo>
                <a:cubicBezTo>
                  <a:pt x="9273728" y="1329984"/>
                  <a:pt x="8654347" y="1354501"/>
                  <a:pt x="8439462" y="1339726"/>
                </a:cubicBezTo>
                <a:cubicBezTo>
                  <a:pt x="8224577" y="1324951"/>
                  <a:pt x="7636560" y="1333528"/>
                  <a:pt x="7384530" y="1339726"/>
                </a:cubicBezTo>
                <a:cubicBezTo>
                  <a:pt x="7132500" y="1345924"/>
                  <a:pt x="7305019" y="1334310"/>
                  <a:pt x="7231842" y="1339726"/>
                </a:cubicBezTo>
                <a:cubicBezTo>
                  <a:pt x="7158665" y="1345142"/>
                  <a:pt x="6864653" y="1337037"/>
                  <a:pt x="6718256" y="1339726"/>
                </a:cubicBezTo>
                <a:cubicBezTo>
                  <a:pt x="6571859" y="1342415"/>
                  <a:pt x="6617146" y="1339744"/>
                  <a:pt x="6565569" y="1339726"/>
                </a:cubicBezTo>
                <a:cubicBezTo>
                  <a:pt x="6513992" y="1339708"/>
                  <a:pt x="6475702" y="1334300"/>
                  <a:pt x="6412881" y="1339726"/>
                </a:cubicBezTo>
                <a:cubicBezTo>
                  <a:pt x="6350060" y="1345152"/>
                  <a:pt x="5724301" y="1374802"/>
                  <a:pt x="5538397" y="1339726"/>
                </a:cubicBezTo>
                <a:cubicBezTo>
                  <a:pt x="5352493" y="1304650"/>
                  <a:pt x="5075240" y="1327820"/>
                  <a:pt x="4663913" y="1339726"/>
                </a:cubicBezTo>
                <a:cubicBezTo>
                  <a:pt x="4252586" y="1351632"/>
                  <a:pt x="4159682" y="1365998"/>
                  <a:pt x="3789430" y="1339726"/>
                </a:cubicBezTo>
                <a:cubicBezTo>
                  <a:pt x="3419178" y="1313454"/>
                  <a:pt x="3393313" y="1345949"/>
                  <a:pt x="3095395" y="1339726"/>
                </a:cubicBezTo>
                <a:cubicBezTo>
                  <a:pt x="2797477" y="1333503"/>
                  <a:pt x="2994312" y="1346468"/>
                  <a:pt x="2942707" y="1339726"/>
                </a:cubicBezTo>
                <a:cubicBezTo>
                  <a:pt x="2891102" y="1332984"/>
                  <a:pt x="2827455" y="1334460"/>
                  <a:pt x="2790020" y="1339726"/>
                </a:cubicBezTo>
                <a:cubicBezTo>
                  <a:pt x="2752585" y="1344992"/>
                  <a:pt x="2669243" y="1345687"/>
                  <a:pt x="2637332" y="1339726"/>
                </a:cubicBezTo>
                <a:cubicBezTo>
                  <a:pt x="2605421" y="1333765"/>
                  <a:pt x="2532313" y="1346348"/>
                  <a:pt x="2484644" y="1339726"/>
                </a:cubicBezTo>
                <a:cubicBezTo>
                  <a:pt x="2436975" y="1333104"/>
                  <a:pt x="2393474" y="1343399"/>
                  <a:pt x="2331957" y="1339726"/>
                </a:cubicBezTo>
                <a:cubicBezTo>
                  <a:pt x="2270440" y="1336053"/>
                  <a:pt x="2215651" y="1337790"/>
                  <a:pt x="2179269" y="1339726"/>
                </a:cubicBezTo>
                <a:cubicBezTo>
                  <a:pt x="2142887" y="1341662"/>
                  <a:pt x="1489736" y="1350474"/>
                  <a:pt x="1124336" y="1339726"/>
                </a:cubicBezTo>
                <a:cubicBezTo>
                  <a:pt x="758936" y="1328978"/>
                  <a:pt x="1012910" y="1332723"/>
                  <a:pt x="971649" y="1339726"/>
                </a:cubicBezTo>
                <a:cubicBezTo>
                  <a:pt x="930388" y="1346729"/>
                  <a:pt x="288504" y="1364047"/>
                  <a:pt x="0" y="1339726"/>
                </a:cubicBezTo>
                <a:cubicBezTo>
                  <a:pt x="-25589" y="1091085"/>
                  <a:pt x="6174" y="923759"/>
                  <a:pt x="0" y="710055"/>
                </a:cubicBezTo>
                <a:cubicBezTo>
                  <a:pt x="-6174" y="496351"/>
                  <a:pt x="-3030" y="254614"/>
                  <a:pt x="0" y="0"/>
                </a:cubicBezTo>
                <a:close/>
              </a:path>
            </a:pathLst>
          </a:custGeom>
          <a:solidFill>
            <a:schemeClr val="lt1"/>
          </a:solidFill>
          <a:ln cap="flat" cmpd="sng" w="38100">
            <a:solidFill>
              <a:schemeClr val="dk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lnSpc>
                <a:spcPct val="200000"/>
              </a:lnSpc>
              <a:spcBef>
                <a:spcPts val="0"/>
              </a:spcBef>
              <a:spcAft>
                <a:spcPts val="0"/>
              </a:spcAft>
              <a:buClr>
                <a:schemeClr val="dk2"/>
              </a:buClr>
              <a:buSzPts val="6000"/>
              <a:buFont typeface="Arial"/>
              <a:buNone/>
            </a:pPr>
            <a:r>
              <a:rPr b="1" lang="en-US" sz="6000">
                <a:solidFill>
                  <a:schemeClr val="dk2"/>
                </a:solidFill>
                <a:latin typeface="Lato Light"/>
                <a:ea typeface="Lato Light"/>
                <a:cs typeface="Lato Light"/>
                <a:sym typeface="Lato Light"/>
              </a:rPr>
              <a:t>Learning Objectives</a:t>
            </a:r>
            <a:r>
              <a:rPr b="1" lang="en-US" sz="6000">
                <a:solidFill>
                  <a:srgbClr val="595959"/>
                </a:solidFill>
                <a:latin typeface="Lato Light"/>
                <a:ea typeface="Lato Light"/>
                <a:cs typeface="Lato Light"/>
                <a:sym typeface="Lato Light"/>
              </a:rPr>
              <a:t>: </a:t>
            </a:r>
            <a:endParaRPr/>
          </a:p>
          <a:p>
            <a:pPr indent="-857250" lvl="0" marL="857250" marR="0" rtl="0" algn="l">
              <a:lnSpc>
                <a:spcPct val="200000"/>
              </a:lnSpc>
              <a:spcBef>
                <a:spcPts val="1040"/>
              </a:spcBef>
              <a:spcAft>
                <a:spcPts val="0"/>
              </a:spcAft>
              <a:buClr>
                <a:srgbClr val="7F7F7F"/>
              </a:buClr>
              <a:buSzPts val="5200"/>
              <a:buFont typeface="Arial"/>
              <a:buChar char="•"/>
            </a:pPr>
            <a:r>
              <a:rPr lang="en-US" sz="5200">
                <a:solidFill>
                  <a:srgbClr val="7F7F7F"/>
                </a:solidFill>
                <a:latin typeface="Open Sans Light"/>
                <a:ea typeface="Open Sans Light"/>
                <a:cs typeface="Open Sans Light"/>
                <a:sym typeface="Open Sans Light"/>
              </a:rPr>
              <a:t>To </a:t>
            </a:r>
            <a:r>
              <a:rPr lang="en-US" sz="5200">
                <a:solidFill>
                  <a:schemeClr val="dk2"/>
                </a:solidFill>
                <a:latin typeface="Open Sans Light"/>
                <a:ea typeface="Open Sans Light"/>
                <a:cs typeface="Open Sans Light"/>
                <a:sym typeface="Open Sans Light"/>
              </a:rPr>
              <a:t>understand</a:t>
            </a:r>
            <a:r>
              <a:rPr lang="en-US" sz="5200">
                <a:solidFill>
                  <a:srgbClr val="7F7F7F"/>
                </a:solidFill>
                <a:latin typeface="Open Sans Light"/>
                <a:ea typeface="Open Sans Light"/>
                <a:cs typeface="Open Sans Light"/>
                <a:sym typeface="Open Sans Light"/>
              </a:rPr>
              <a:t> the role of the Central Processing Unit (CPU) in a computer system.</a:t>
            </a:r>
            <a:endParaRPr/>
          </a:p>
          <a:p>
            <a:pPr indent="-857250" lvl="0" marL="857250" marR="0" rtl="0" algn="l">
              <a:lnSpc>
                <a:spcPct val="200000"/>
              </a:lnSpc>
              <a:spcBef>
                <a:spcPts val="1040"/>
              </a:spcBef>
              <a:spcAft>
                <a:spcPts val="0"/>
              </a:spcAft>
              <a:buClr>
                <a:srgbClr val="7F7F7F"/>
              </a:buClr>
              <a:buSzPts val="5200"/>
              <a:buFont typeface="Arial"/>
              <a:buChar char="•"/>
            </a:pPr>
            <a:r>
              <a:rPr lang="en-US" sz="5200">
                <a:solidFill>
                  <a:srgbClr val="7F7F7F"/>
                </a:solidFill>
                <a:latin typeface="Open Sans Light"/>
                <a:ea typeface="Open Sans Light"/>
                <a:cs typeface="Open Sans Light"/>
                <a:sym typeface="Open Sans Light"/>
              </a:rPr>
              <a:t>To </a:t>
            </a:r>
            <a:r>
              <a:rPr lang="en-US" sz="5200">
                <a:solidFill>
                  <a:schemeClr val="dk2"/>
                </a:solidFill>
                <a:latin typeface="Open Sans Light"/>
                <a:ea typeface="Open Sans Light"/>
                <a:cs typeface="Open Sans Light"/>
                <a:sym typeface="Open Sans Light"/>
              </a:rPr>
              <a:t>analyse</a:t>
            </a:r>
            <a:r>
              <a:rPr lang="en-US" sz="5200">
                <a:solidFill>
                  <a:srgbClr val="7F7F7F"/>
                </a:solidFill>
                <a:latin typeface="Open Sans Light"/>
                <a:ea typeface="Open Sans Light"/>
                <a:cs typeface="Open Sans Light"/>
                <a:sym typeface="Open Sans Light"/>
              </a:rPr>
              <a:t> different types of processor cores and their impact on computing performance.</a:t>
            </a:r>
            <a:endParaRPr/>
          </a:p>
        </p:txBody>
      </p:sp>
      <p:sp>
        <p:nvSpPr>
          <p:cNvPr id="169" name="Google Shape;169;p17"/>
          <p:cNvSpPr/>
          <p:nvPr/>
        </p:nvSpPr>
        <p:spPr>
          <a:xfrm>
            <a:off x="1894114" y="1186910"/>
            <a:ext cx="8360229" cy="8480153"/>
          </a:xfrm>
          <a:custGeom>
            <a:rect b="b" l="l" r="r" t="t"/>
            <a:pathLst>
              <a:path extrusionOk="0" h="3888" w="3889">
                <a:moveTo>
                  <a:pt x="3888" y="1945"/>
                </a:moveTo>
                <a:lnTo>
                  <a:pt x="3888" y="1945"/>
                </a:lnTo>
                <a:cubicBezTo>
                  <a:pt x="3888" y="3017"/>
                  <a:pt x="3018" y="3887"/>
                  <a:pt x="1944" y="3887"/>
                </a:cubicBezTo>
                <a:lnTo>
                  <a:pt x="1944" y="3887"/>
                </a:lnTo>
                <a:cubicBezTo>
                  <a:pt x="870" y="3887"/>
                  <a:pt x="0" y="3017"/>
                  <a:pt x="0" y="1945"/>
                </a:cubicBezTo>
                <a:lnTo>
                  <a:pt x="0" y="1945"/>
                </a:lnTo>
                <a:cubicBezTo>
                  <a:pt x="0" y="871"/>
                  <a:pt x="870" y="0"/>
                  <a:pt x="1944" y="0"/>
                </a:cubicBezTo>
                <a:lnTo>
                  <a:pt x="1944" y="0"/>
                </a:lnTo>
                <a:cubicBezTo>
                  <a:pt x="3018" y="0"/>
                  <a:pt x="3888" y="871"/>
                  <a:pt x="3888" y="1945"/>
                </a:cubicBezTo>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0">
              <a:solidFill>
                <a:schemeClr val="dk1"/>
              </a:solidFill>
              <a:latin typeface="Lato Light"/>
              <a:ea typeface="Lato Light"/>
              <a:cs typeface="Lato Light"/>
              <a:sym typeface="Lato Light"/>
            </a:endParaRPr>
          </a:p>
        </p:txBody>
      </p:sp>
      <p:sp>
        <p:nvSpPr>
          <p:cNvPr id="170" name="Google Shape;170;p17"/>
          <p:cNvSpPr/>
          <p:nvPr/>
        </p:nvSpPr>
        <p:spPr>
          <a:xfrm>
            <a:off x="2351314" y="1502229"/>
            <a:ext cx="7543800" cy="7674774"/>
          </a:xfrm>
          <a:custGeom>
            <a:rect b="b" l="l" r="r" t="t"/>
            <a:pathLst>
              <a:path extrusionOk="0" h="3294" w="3295">
                <a:moveTo>
                  <a:pt x="3294" y="1648"/>
                </a:moveTo>
                <a:lnTo>
                  <a:pt x="3294" y="1648"/>
                </a:lnTo>
                <a:cubicBezTo>
                  <a:pt x="3294" y="2556"/>
                  <a:pt x="2557" y="3293"/>
                  <a:pt x="1647" y="3293"/>
                </a:cubicBezTo>
                <a:lnTo>
                  <a:pt x="1647" y="3293"/>
                </a:lnTo>
                <a:cubicBezTo>
                  <a:pt x="737" y="3293"/>
                  <a:pt x="0" y="2556"/>
                  <a:pt x="0" y="1648"/>
                </a:cubicBezTo>
                <a:lnTo>
                  <a:pt x="0" y="1648"/>
                </a:lnTo>
                <a:cubicBezTo>
                  <a:pt x="0" y="738"/>
                  <a:pt x="737" y="0"/>
                  <a:pt x="1647" y="0"/>
                </a:cubicBezTo>
                <a:lnTo>
                  <a:pt x="1647" y="0"/>
                </a:lnTo>
                <a:cubicBezTo>
                  <a:pt x="2557" y="0"/>
                  <a:pt x="3294" y="738"/>
                  <a:pt x="3294" y="1648"/>
                </a:cubicBezTo>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0">
              <a:solidFill>
                <a:schemeClr val="dk1"/>
              </a:solidFill>
              <a:latin typeface="Lato Light"/>
              <a:ea typeface="Lato Light"/>
              <a:cs typeface="Lato Light"/>
              <a:sym typeface="Lato Light"/>
            </a:endParaRPr>
          </a:p>
        </p:txBody>
      </p:sp>
      <p:sp>
        <p:nvSpPr>
          <p:cNvPr id="171" name="Google Shape;171;p17"/>
          <p:cNvSpPr/>
          <p:nvPr/>
        </p:nvSpPr>
        <p:spPr>
          <a:xfrm>
            <a:off x="5639685" y="11035491"/>
            <a:ext cx="785589" cy="785586"/>
          </a:xfrm>
          <a:custGeom>
            <a:rect b="b" l="l" r="r" t="t"/>
            <a:pathLst>
              <a:path extrusionOk="0" h="630" w="631">
                <a:moveTo>
                  <a:pt x="630" y="315"/>
                </a:moveTo>
                <a:lnTo>
                  <a:pt x="630" y="315"/>
                </a:lnTo>
                <a:cubicBezTo>
                  <a:pt x="630" y="489"/>
                  <a:pt x="489" y="629"/>
                  <a:pt x="315" y="629"/>
                </a:cubicBezTo>
                <a:lnTo>
                  <a:pt x="315" y="629"/>
                </a:lnTo>
                <a:cubicBezTo>
                  <a:pt x="141" y="629"/>
                  <a:pt x="0" y="489"/>
                  <a:pt x="0" y="315"/>
                </a:cubicBezTo>
                <a:lnTo>
                  <a:pt x="0" y="315"/>
                </a:lnTo>
                <a:cubicBezTo>
                  <a:pt x="0" y="140"/>
                  <a:pt x="141" y="0"/>
                  <a:pt x="315" y="0"/>
                </a:cubicBezTo>
                <a:lnTo>
                  <a:pt x="315" y="0"/>
                </a:lnTo>
                <a:cubicBezTo>
                  <a:pt x="489" y="0"/>
                  <a:pt x="630" y="140"/>
                  <a:pt x="630" y="315"/>
                </a:cubicBezTo>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0">
              <a:solidFill>
                <a:schemeClr val="dk1"/>
              </a:solidFill>
              <a:latin typeface="Lato Light"/>
              <a:ea typeface="Lato Light"/>
              <a:cs typeface="Lato Light"/>
              <a:sym typeface="Lato Light"/>
            </a:endParaRPr>
          </a:p>
        </p:txBody>
      </p:sp>
      <p:sp>
        <p:nvSpPr>
          <p:cNvPr id="172" name="Google Shape;172;p17"/>
          <p:cNvSpPr/>
          <p:nvPr/>
        </p:nvSpPr>
        <p:spPr>
          <a:xfrm>
            <a:off x="5884153" y="9374657"/>
            <a:ext cx="296655" cy="1801907"/>
          </a:xfrm>
          <a:custGeom>
            <a:rect b="b" l="l" r="r" t="t"/>
            <a:pathLst>
              <a:path extrusionOk="0" h="1445" w="240">
                <a:moveTo>
                  <a:pt x="239" y="1444"/>
                </a:moveTo>
                <a:lnTo>
                  <a:pt x="0" y="1444"/>
                </a:lnTo>
                <a:lnTo>
                  <a:pt x="0" y="0"/>
                </a:lnTo>
                <a:lnTo>
                  <a:pt x="239" y="0"/>
                </a:lnTo>
                <a:lnTo>
                  <a:pt x="239" y="1444"/>
                </a:lnTo>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6530">
              <a:solidFill>
                <a:schemeClr val="dk1"/>
              </a:solidFill>
              <a:latin typeface="Lato Light"/>
              <a:ea typeface="Lato Light"/>
              <a:cs typeface="Lato Light"/>
              <a:sym typeface="Lato Light"/>
            </a:endParaRPr>
          </a:p>
        </p:txBody>
      </p:sp>
      <p:grpSp>
        <p:nvGrpSpPr>
          <p:cNvPr id="173" name="Google Shape;173;p17"/>
          <p:cNvGrpSpPr/>
          <p:nvPr/>
        </p:nvGrpSpPr>
        <p:grpSpPr>
          <a:xfrm>
            <a:off x="2950274" y="1532374"/>
            <a:ext cx="6041570" cy="6808691"/>
            <a:chOff x="1428459" y="4222984"/>
            <a:chExt cx="4621531" cy="5208348"/>
          </a:xfrm>
        </p:grpSpPr>
        <p:sp>
          <p:nvSpPr>
            <p:cNvPr id="174" name="Google Shape;174;p17"/>
            <p:cNvSpPr txBox="1"/>
            <p:nvPr/>
          </p:nvSpPr>
          <p:spPr>
            <a:xfrm>
              <a:off x="1428459" y="5240826"/>
              <a:ext cx="4621531" cy="4190506"/>
            </a:xfrm>
            <a:prstGeom prst="rect">
              <a:avLst/>
            </a:prstGeom>
            <a:noFill/>
            <a:ln>
              <a:noFill/>
            </a:ln>
          </p:spPr>
          <p:txBody>
            <a:bodyPr anchorCtr="0" anchor="t" bIns="45700" lIns="91425" spcFirstLastPara="1" rIns="91425" wrap="square" tIns="45700">
              <a:spAutoFit/>
            </a:bodyPr>
            <a:lstStyle/>
            <a:p>
              <a:pPr indent="-685800" lvl="0" marL="685800" marR="0" rtl="0" algn="ctr">
                <a:lnSpc>
                  <a:spcPct val="150000"/>
                </a:lnSpc>
                <a:spcBef>
                  <a:spcPts val="0"/>
                </a:spcBef>
                <a:spcAft>
                  <a:spcPts val="0"/>
                </a:spcAft>
                <a:buClr>
                  <a:schemeClr val="dk2"/>
                </a:buClr>
                <a:buSzPts val="4800"/>
                <a:buFont typeface="Arial"/>
                <a:buChar char="•"/>
              </a:pPr>
              <a:r>
                <a:rPr lang="en-US" sz="4800">
                  <a:solidFill>
                    <a:schemeClr val="dk2"/>
                  </a:solidFill>
                  <a:latin typeface="Open Sans Light"/>
                  <a:ea typeface="Open Sans Light"/>
                  <a:cs typeface="Open Sans Light"/>
                  <a:sym typeface="Open Sans Light"/>
                </a:rPr>
                <a:t>What’s</a:t>
              </a:r>
              <a:r>
                <a:rPr lang="en-US" sz="4800">
                  <a:solidFill>
                    <a:srgbClr val="7F7F7F"/>
                  </a:solidFill>
                  <a:latin typeface="Open Sans Light"/>
                  <a:ea typeface="Open Sans Light"/>
                  <a:cs typeface="Open Sans Light"/>
                  <a:sym typeface="Open Sans Light"/>
                </a:rPr>
                <a:t> </a:t>
              </a:r>
              <a:r>
                <a:rPr lang="en-US" sz="4800">
                  <a:solidFill>
                    <a:srgbClr val="7030A0"/>
                  </a:solidFill>
                  <a:latin typeface="Open Sans Light"/>
                  <a:ea typeface="Open Sans Light"/>
                  <a:cs typeface="Open Sans Light"/>
                  <a:sym typeface="Open Sans Light"/>
                </a:rPr>
                <a:t>one thing </a:t>
              </a:r>
              <a:r>
                <a:rPr lang="en-US" sz="4800">
                  <a:solidFill>
                    <a:schemeClr val="dk2"/>
                  </a:solidFill>
                  <a:latin typeface="Open Sans Light"/>
                  <a:ea typeface="Open Sans Light"/>
                  <a:cs typeface="Open Sans Light"/>
                  <a:sym typeface="Open Sans Light"/>
                </a:rPr>
                <a:t>you</a:t>
              </a:r>
              <a:r>
                <a:rPr lang="en-US" sz="4800">
                  <a:solidFill>
                    <a:srgbClr val="7F7F7F"/>
                  </a:solidFill>
                  <a:latin typeface="Open Sans Light"/>
                  <a:ea typeface="Open Sans Light"/>
                  <a:cs typeface="Open Sans Light"/>
                  <a:sym typeface="Open Sans Light"/>
                </a:rPr>
                <a:t> </a:t>
              </a:r>
              <a:r>
                <a:rPr lang="en-US" sz="4800">
                  <a:solidFill>
                    <a:srgbClr val="7030A0"/>
                  </a:solidFill>
                  <a:latin typeface="Open Sans Light"/>
                  <a:ea typeface="Open Sans Light"/>
                  <a:cs typeface="Open Sans Light"/>
                  <a:sym typeface="Open Sans Light"/>
                </a:rPr>
                <a:t>learnt</a:t>
              </a:r>
              <a:r>
                <a:rPr lang="en-US" sz="4800">
                  <a:solidFill>
                    <a:srgbClr val="7F7F7F"/>
                  </a:solidFill>
                  <a:latin typeface="Open Sans Light"/>
                  <a:ea typeface="Open Sans Light"/>
                  <a:cs typeface="Open Sans Light"/>
                  <a:sym typeface="Open Sans Light"/>
                </a:rPr>
                <a:t> </a:t>
              </a:r>
              <a:r>
                <a:rPr lang="en-US" sz="4800">
                  <a:solidFill>
                    <a:schemeClr val="dk2"/>
                  </a:solidFill>
                  <a:latin typeface="Open Sans Light"/>
                  <a:ea typeface="Open Sans Light"/>
                  <a:cs typeface="Open Sans Light"/>
                  <a:sym typeface="Open Sans Light"/>
                </a:rPr>
                <a:t>about the</a:t>
              </a:r>
              <a:r>
                <a:rPr lang="en-US" sz="4800">
                  <a:solidFill>
                    <a:srgbClr val="7F7F7F"/>
                  </a:solidFill>
                  <a:latin typeface="Open Sans Light"/>
                  <a:ea typeface="Open Sans Light"/>
                  <a:cs typeface="Open Sans Light"/>
                  <a:sym typeface="Open Sans Light"/>
                </a:rPr>
                <a:t> </a:t>
              </a:r>
              <a:r>
                <a:rPr lang="en-US" sz="4800">
                  <a:solidFill>
                    <a:srgbClr val="7030A0"/>
                  </a:solidFill>
                  <a:latin typeface="Open Sans Light"/>
                  <a:ea typeface="Open Sans Light"/>
                  <a:cs typeface="Open Sans Light"/>
                  <a:sym typeface="Open Sans Light"/>
                </a:rPr>
                <a:t>CPU</a:t>
              </a:r>
              <a:r>
                <a:rPr lang="en-US" sz="4800">
                  <a:solidFill>
                    <a:schemeClr val="dk2"/>
                  </a:solidFill>
                  <a:latin typeface="Open Sans Light"/>
                  <a:ea typeface="Open Sans Light"/>
                  <a:cs typeface="Open Sans Light"/>
                  <a:sym typeface="Open Sans Light"/>
                </a:rPr>
                <a:t>?</a:t>
              </a:r>
              <a:endParaRPr/>
            </a:p>
            <a:p>
              <a:pPr indent="-571500" lvl="0" marL="571500" marR="0" rtl="0" algn="ctr">
                <a:lnSpc>
                  <a:spcPct val="150000"/>
                </a:lnSpc>
                <a:spcBef>
                  <a:spcPts val="880"/>
                </a:spcBef>
                <a:spcAft>
                  <a:spcPts val="0"/>
                </a:spcAft>
                <a:buClr>
                  <a:schemeClr val="dk2"/>
                </a:buClr>
                <a:buSzPts val="4400"/>
                <a:buFont typeface="Arial"/>
                <a:buChar char="•"/>
              </a:pPr>
              <a:r>
                <a:rPr lang="en-US" sz="4400">
                  <a:solidFill>
                    <a:schemeClr val="dk2"/>
                  </a:solidFill>
                  <a:latin typeface="Open Sans Light"/>
                  <a:ea typeface="Open Sans Light"/>
                  <a:cs typeface="Open Sans Light"/>
                  <a:sym typeface="Open Sans Light"/>
                </a:rPr>
                <a:t>What’s</a:t>
              </a:r>
              <a:r>
                <a:rPr lang="en-US" sz="4400">
                  <a:solidFill>
                    <a:srgbClr val="7F7F7F"/>
                  </a:solidFill>
                  <a:latin typeface="Open Sans Light"/>
                  <a:ea typeface="Open Sans Light"/>
                  <a:cs typeface="Open Sans Light"/>
                  <a:sym typeface="Open Sans Light"/>
                </a:rPr>
                <a:t> </a:t>
              </a:r>
              <a:r>
                <a:rPr lang="en-US" sz="4400">
                  <a:solidFill>
                    <a:srgbClr val="7030A0"/>
                  </a:solidFill>
                  <a:latin typeface="Open Sans Light"/>
                  <a:ea typeface="Open Sans Light"/>
                  <a:cs typeface="Open Sans Light"/>
                  <a:sym typeface="Open Sans Light"/>
                </a:rPr>
                <a:t>one thing </a:t>
              </a:r>
              <a:r>
                <a:rPr lang="en-US" sz="4400">
                  <a:solidFill>
                    <a:schemeClr val="dk2"/>
                  </a:solidFill>
                  <a:latin typeface="Open Sans Light"/>
                  <a:ea typeface="Open Sans Light"/>
                  <a:cs typeface="Open Sans Light"/>
                  <a:sym typeface="Open Sans Light"/>
                </a:rPr>
                <a:t>you</a:t>
              </a:r>
              <a:r>
                <a:rPr lang="en-US" sz="4400">
                  <a:solidFill>
                    <a:srgbClr val="7F7F7F"/>
                  </a:solidFill>
                  <a:latin typeface="Open Sans Light"/>
                  <a:ea typeface="Open Sans Light"/>
                  <a:cs typeface="Open Sans Light"/>
                  <a:sym typeface="Open Sans Light"/>
                </a:rPr>
                <a:t> </a:t>
              </a:r>
              <a:r>
                <a:rPr lang="en-US" sz="4400">
                  <a:solidFill>
                    <a:srgbClr val="7030A0"/>
                  </a:solidFill>
                  <a:latin typeface="Open Sans Light"/>
                  <a:ea typeface="Open Sans Light"/>
                  <a:cs typeface="Open Sans Light"/>
                  <a:sym typeface="Open Sans Light"/>
                </a:rPr>
                <a:t>learnt</a:t>
              </a:r>
              <a:r>
                <a:rPr lang="en-US" sz="4400">
                  <a:solidFill>
                    <a:srgbClr val="7F7F7F"/>
                  </a:solidFill>
                  <a:latin typeface="Open Sans Light"/>
                  <a:ea typeface="Open Sans Light"/>
                  <a:cs typeface="Open Sans Light"/>
                  <a:sym typeface="Open Sans Light"/>
                </a:rPr>
                <a:t> </a:t>
              </a:r>
              <a:r>
                <a:rPr lang="en-US" sz="4400">
                  <a:solidFill>
                    <a:schemeClr val="dk2"/>
                  </a:solidFill>
                  <a:latin typeface="Open Sans Light"/>
                  <a:ea typeface="Open Sans Light"/>
                  <a:cs typeface="Open Sans Light"/>
                  <a:sym typeface="Open Sans Light"/>
                </a:rPr>
                <a:t>the</a:t>
              </a:r>
              <a:r>
                <a:rPr lang="en-US" sz="4400">
                  <a:solidFill>
                    <a:srgbClr val="7F7F7F"/>
                  </a:solidFill>
                  <a:latin typeface="Open Sans Light"/>
                  <a:ea typeface="Open Sans Light"/>
                  <a:cs typeface="Open Sans Light"/>
                  <a:sym typeface="Open Sans Light"/>
                </a:rPr>
                <a:t> </a:t>
              </a:r>
              <a:r>
                <a:rPr lang="en-US" sz="4400">
                  <a:solidFill>
                    <a:srgbClr val="7030A0"/>
                  </a:solidFill>
                  <a:latin typeface="Open Sans Light"/>
                  <a:ea typeface="Open Sans Light"/>
                  <a:cs typeface="Open Sans Light"/>
                  <a:sym typeface="Open Sans Light"/>
                </a:rPr>
                <a:t>processors</a:t>
              </a:r>
              <a:r>
                <a:rPr lang="en-US" sz="4400">
                  <a:solidFill>
                    <a:schemeClr val="dk2"/>
                  </a:solidFill>
                  <a:latin typeface="Open Sans Light"/>
                  <a:ea typeface="Open Sans Light"/>
                  <a:cs typeface="Open Sans Light"/>
                  <a:sym typeface="Open Sans Light"/>
                </a:rPr>
                <a:t>?</a:t>
              </a:r>
              <a:endParaRPr sz="4000">
                <a:solidFill>
                  <a:schemeClr val="dk2"/>
                </a:solidFill>
                <a:latin typeface="Lato Light"/>
                <a:ea typeface="Lato Light"/>
                <a:cs typeface="Lato Light"/>
                <a:sym typeface="Lato Light"/>
              </a:endParaRPr>
            </a:p>
          </p:txBody>
        </p:sp>
        <p:sp>
          <p:nvSpPr>
            <p:cNvPr id="175" name="Google Shape;175;p17"/>
            <p:cNvSpPr txBox="1"/>
            <p:nvPr/>
          </p:nvSpPr>
          <p:spPr>
            <a:xfrm>
              <a:off x="2478749" y="4222984"/>
              <a:ext cx="2608857" cy="1341982"/>
            </a:xfrm>
            <a:prstGeom prst="rect">
              <a:avLst/>
            </a:prstGeom>
            <a:noFill/>
            <a:ln>
              <a:noFill/>
            </a:ln>
          </p:spPr>
          <p:txBody>
            <a:bodyPr anchorCtr="0" anchor="b" bIns="45700" lIns="91425" spcFirstLastPara="1" rIns="91425" wrap="square" tIns="45700">
              <a:spAutoFit/>
            </a:bodyPr>
            <a:lstStyle/>
            <a:p>
              <a:pPr indent="0" lvl="0" marL="0" marR="0" rtl="0" algn="ctr">
                <a:spcBef>
                  <a:spcPts val="0"/>
                </a:spcBef>
                <a:spcAft>
                  <a:spcPts val="0"/>
                </a:spcAft>
                <a:buNone/>
              </a:pPr>
              <a:r>
                <a:rPr b="1" lang="en-US" sz="5400">
                  <a:solidFill>
                    <a:schemeClr val="dk2"/>
                  </a:solidFill>
                  <a:latin typeface="Poppins"/>
                  <a:ea typeface="Poppins"/>
                  <a:cs typeface="Poppins"/>
                  <a:sym typeface="Poppins"/>
                </a:rPr>
                <a:t>Review Question</a:t>
              </a:r>
              <a:endParaRPr/>
            </a:p>
          </p:txBody>
        </p:sp>
      </p:grpSp>
      <p:sp>
        <p:nvSpPr>
          <p:cNvPr id="176" name="Google Shape;176;p17"/>
          <p:cNvSpPr txBox="1"/>
          <p:nvPr/>
        </p:nvSpPr>
        <p:spPr>
          <a:xfrm>
            <a:off x="4041152" y="12266175"/>
            <a:ext cx="3968179" cy="923330"/>
          </a:xfrm>
          <a:prstGeom prst="rect">
            <a:avLst/>
          </a:prstGeom>
          <a:noFill/>
          <a:ln>
            <a:noFill/>
          </a:ln>
        </p:spPr>
        <p:txBody>
          <a:bodyPr anchorCtr="0" anchor="b" bIns="45700" lIns="91425" spcFirstLastPara="1" rIns="91425" wrap="square" tIns="45700">
            <a:spAutoFit/>
          </a:bodyPr>
          <a:lstStyle/>
          <a:p>
            <a:pPr indent="0" lvl="0" marL="0" marR="0" rtl="0" algn="ctr">
              <a:spcBef>
                <a:spcPts val="0"/>
              </a:spcBef>
              <a:spcAft>
                <a:spcPts val="0"/>
              </a:spcAft>
              <a:buNone/>
            </a:pPr>
            <a:r>
              <a:rPr b="1" lang="en-US" sz="5400" u="sng">
                <a:solidFill>
                  <a:schemeClr val="dk2"/>
                </a:solidFill>
                <a:latin typeface="Poppins"/>
                <a:ea typeface="Poppins"/>
                <a:cs typeface="Poppins"/>
                <a:sym typeface="Poppins"/>
              </a:rPr>
              <a:t>Reflection</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IGPIA - Theme 06 - Light">
      <a:dk1>
        <a:srgbClr val="B3B3B3"/>
      </a:dk1>
      <a:lt1>
        <a:srgbClr val="FFFFFF"/>
      </a:lt1>
      <a:dk2>
        <a:srgbClr val="1C2835"/>
      </a:dk2>
      <a:lt2>
        <a:srgbClr val="FFFFFF"/>
      </a:lt2>
      <a:accent1>
        <a:srgbClr val="1073A3"/>
      </a:accent1>
      <a:accent2>
        <a:srgbClr val="2DADE0"/>
      </a:accent2>
      <a:accent3>
        <a:srgbClr val="6ACEE3"/>
      </a:accent3>
      <a:accent4>
        <a:srgbClr val="61DDA8"/>
      </a:accent4>
      <a:accent5>
        <a:srgbClr val="FFD253"/>
      </a:accent5>
      <a:accent6>
        <a:srgbClr val="FF8F10"/>
      </a:accent6>
      <a:hlink>
        <a:srgbClr val="F33B48"/>
      </a:hlink>
      <a:folHlink>
        <a:srgbClr val="FFC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