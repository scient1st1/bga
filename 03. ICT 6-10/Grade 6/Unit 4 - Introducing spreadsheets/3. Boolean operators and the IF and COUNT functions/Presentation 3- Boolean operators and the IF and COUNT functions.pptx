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7E864F-81B2-4587-B8AB-D55D79837270}">
  <a:tblStyle styleId="{0B7E864F-81B2-4587-B8AB-D55D798372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BF1E8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BF1E8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956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813732" y="3010438"/>
            <a:ext cx="706238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Introducing spreadsheets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235648" y="3926288"/>
            <a:ext cx="66404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94C11F"/>
                </a:solidFill>
                <a:latin typeface="Calibri"/>
                <a:ea typeface="Calibri"/>
                <a:cs typeface="Calibri"/>
                <a:sym typeface="Calibri"/>
              </a:rPr>
              <a:t>Lesson 3: Boolean operators and the IF and COUNT functions</a:t>
            </a:r>
            <a:endParaRPr b="1" sz="2000">
              <a:solidFill>
                <a:srgbClr val="94C1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068" y="2704324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93635" y="832060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93635" y="2582614"/>
            <a:ext cx="10194174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 you will learn: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Boolean operators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write functions using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write functions to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number of items in a range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difference between the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COUNTA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80322" y="828048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IF game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80322" y="2075600"/>
            <a:ext cx="7379120" cy="3954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 up IF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… you have a birthday in December.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 down IF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… you have at least one sister.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 up IF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… you like chocolate.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 your finger on your nose IF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… you can explain an absolute cell reference.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578133" y="829598"/>
            <a:ext cx="9733721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1578132" y="2445238"/>
            <a:ext cx="7733647" cy="2582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is used to make choices.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has the following structure: </a:t>
            </a:r>
            <a:r>
              <a:rPr lang="en-GB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=IF( Question, Do this if True, Do this if False )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question is a </a:t>
            </a: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logical test</a:t>
            </a:r>
            <a:r>
              <a:rPr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logical expression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which the answer can be either True or False.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591812" y="819659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Boolean operators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1591812" y="1960468"/>
            <a:ext cx="8667924" cy="545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logical test in an </a:t>
            </a:r>
            <a:r>
              <a:rPr lang="en-GB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uses </a:t>
            </a:r>
            <a:r>
              <a:rPr b="1" lang="en-GB" sz="28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Boolean operators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17"/>
          <p:cNvGraphicFramePr/>
          <p:nvPr/>
        </p:nvGraphicFramePr>
        <p:xfrm>
          <a:off x="3755734" y="29800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{0B7E864F-81B2-4587-B8AB-D55D79837270}</a:tableStyleId>
              </a:tblPr>
              <a:tblGrid>
                <a:gridCol w="1073800"/>
                <a:gridCol w="3606750"/>
              </a:tblGrid>
              <a:tr h="3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</a:rPr>
                        <a:t>greater than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</a:rPr>
                        <a:t>less than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</a:rPr>
                        <a:t>equal 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&gt;=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</a:rPr>
                        <a:t>greater than or equal 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</a:rPr>
                        <a:t>less than or equal 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&lt;&gt;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400">
                          <a:solidFill>
                            <a:schemeClr val="dk1"/>
                          </a:solidFill>
                        </a:rPr>
                        <a:t>not equal to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able&#10;&#10;Description automatically generated"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0095" y="3150986"/>
            <a:ext cx="5577483" cy="296104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type="title"/>
          </p:nvPr>
        </p:nvSpPr>
        <p:spPr>
          <a:xfrm>
            <a:off x="1560442" y="83488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1859736" y="2040735"/>
            <a:ext cx="1233182" cy="369332"/>
          </a:xfrm>
          <a:prstGeom prst="rect">
            <a:avLst/>
          </a:prstGeom>
          <a:solidFill>
            <a:srgbClr val="BBE3F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test</a:t>
            </a:r>
            <a:endParaRPr/>
          </a:p>
        </p:txBody>
      </p:sp>
      <p:cxnSp>
        <p:nvCxnSpPr>
          <p:cNvPr id="115" name="Google Shape;115;p18"/>
          <p:cNvCxnSpPr>
            <a:stCxn id="114" idx="3"/>
          </p:cNvCxnSpPr>
          <p:nvPr/>
        </p:nvCxnSpPr>
        <p:spPr>
          <a:xfrm>
            <a:off x="3092918" y="2225401"/>
            <a:ext cx="1746000" cy="101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6" name="Google Shape;116;p18"/>
          <p:cNvSpPr/>
          <p:nvPr/>
        </p:nvSpPr>
        <p:spPr>
          <a:xfrm>
            <a:off x="3690833" y="1889922"/>
            <a:ext cx="4364913" cy="369332"/>
          </a:xfrm>
          <a:prstGeom prst="rect">
            <a:avLst/>
          </a:prstGeom>
          <a:solidFill>
            <a:srgbClr val="BBE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to be returned if the condition is True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18"/>
          <p:cNvCxnSpPr>
            <a:endCxn id="116" idx="2"/>
          </p:cNvCxnSpPr>
          <p:nvPr/>
        </p:nvCxnSpPr>
        <p:spPr>
          <a:xfrm flipH="1" rot="10800000">
            <a:off x="5436790" y="2259254"/>
            <a:ext cx="436500" cy="97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8" name="Google Shape;118;p18"/>
          <p:cNvSpPr/>
          <p:nvPr/>
        </p:nvSpPr>
        <p:spPr>
          <a:xfrm>
            <a:off x="8153241" y="2259254"/>
            <a:ext cx="2435192" cy="646331"/>
          </a:xfrm>
          <a:prstGeom prst="rect">
            <a:avLst/>
          </a:prstGeom>
          <a:solidFill>
            <a:srgbClr val="BBE3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to be returned if the condition is False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8"/>
          <p:cNvCxnSpPr>
            <a:endCxn id="118" idx="1"/>
          </p:cNvCxnSpPr>
          <p:nvPr/>
        </p:nvCxnSpPr>
        <p:spPr>
          <a:xfrm flipH="1" rot="10800000">
            <a:off x="5996541" y="2582420"/>
            <a:ext cx="2156700" cy="65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0" name="Google Shape;120;p18"/>
          <p:cNvSpPr/>
          <p:nvPr/>
        </p:nvSpPr>
        <p:spPr>
          <a:xfrm>
            <a:off x="8654442" y="4154454"/>
            <a:ext cx="193399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3.1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3.1: Test marks 1</a:t>
            </a:r>
            <a:endParaRPr/>
          </a:p>
        </p:txBody>
      </p:sp>
      <p:pic>
        <p:nvPicPr>
          <p:cNvPr descr="A picture containing athletic game, basketball, sport&#10;&#10;Description automatically generated"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1600200" y="815009"/>
            <a:ext cx="9753600" cy="875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COUNTIF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1600199" y="2146433"/>
            <a:ext cx="9122344" cy="3148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COUNTIF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counts the number of cells in a selected range that meet a specific criterion.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has the following structure: </a:t>
            </a: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=COUNTIF( Range, Criterion )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range selects the cells to be checked.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GB" sz="24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criterion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condition that determines which cells will be counted. It can be a number, a mathematical expression or text that needs to be matched.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1610138" y="774303"/>
            <a:ext cx="9743661" cy="916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Using 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COUNTIF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3047998" y="4862198"/>
            <a:ext cx="6096000" cy="978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out how many students got a B- use: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=COUNTIF( B2:B5, "B-" )</a:t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4257311" y="5941197"/>
            <a:ext cx="36773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3.2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able&#10;&#10;Description automatically generated" id="140" name="Google Shape;1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8999" y="1976761"/>
            <a:ext cx="5793998" cy="281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1589632" y="844198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3.2: Test marks 2</a:t>
            </a:r>
            <a:endParaRPr/>
          </a:p>
        </p:txBody>
      </p:sp>
      <p:pic>
        <p:nvPicPr>
          <p:cNvPr descr="A picture containing athletic game, basketball, sport&#10;&#10;Description automatically generated" id="146" name="Google Shape;1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1590260" y="824948"/>
            <a:ext cx="9763539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1590260" y="2627697"/>
            <a:ext cx="4164588" cy="217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counts the number of cells in a selected range that contain a number.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, text, application, table&#10;&#10;Description automatically generated" id="153" name="Google Shape;1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8" y="2120062"/>
            <a:ext cx="5499707" cy="31920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/>
          <p:nvPr/>
        </p:nvSpPr>
        <p:spPr>
          <a:xfrm>
            <a:off x="4257310" y="5741456"/>
            <a:ext cx="36773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3.3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1590260" y="824948"/>
            <a:ext cx="9763539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 </a:t>
            </a:r>
            <a:r>
              <a:rPr b="1" lang="en-GB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COUNTA</a:t>
            </a:r>
            <a:r>
              <a:rPr b="1" lang="en-GB">
                <a:solidFill>
                  <a:schemeClr val="lt1"/>
                </a:solidFill>
              </a:rPr>
              <a:t> function</a:t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1590260" y="2414231"/>
            <a:ext cx="4136772" cy="2703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GB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COUNTA</a:t>
            </a: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counts the number of cells in a selected range that contain a value (text or a number).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4257309" y="5841464"/>
            <a:ext cx="36773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3.4</a:t>
            </a:r>
            <a:endParaRPr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able&#10;&#10;Description automatically generated" id="162" name="Google Shape;1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6" y="2317940"/>
            <a:ext cx="5029357" cy="2896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1589632" y="844198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3.3: Ifcity Zoo</a:t>
            </a:r>
            <a:endParaRPr/>
          </a:p>
        </p:txBody>
      </p:sp>
      <p:pic>
        <p:nvPicPr>
          <p:cNvPr descr="A picture containing athletic game, basketball, sport&#10;&#10;Description automatically generated" id="168" name="Google Shape;16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