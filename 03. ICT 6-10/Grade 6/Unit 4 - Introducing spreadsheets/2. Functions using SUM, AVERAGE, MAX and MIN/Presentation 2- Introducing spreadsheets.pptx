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813732" y="3010438"/>
            <a:ext cx="706238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Introducing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683656" y="3936559"/>
            <a:ext cx="61924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GB" sz="2000" u="none" cap="none" strike="noStrike">
                <a:solidFill>
                  <a:srgbClr val="94C11F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2000">
              <a:solidFill>
                <a:srgbClr val="94C11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068" y="27043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3635" y="832060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20337" y="2308078"/>
            <a:ext cx="8951326" cy="2896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 you will learn how to: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functions to: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up the values in a range of cells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average of a set of values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largest value in a range of cells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smallest value in a range of cells.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the appropriate function to complete a task.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359191" y="277171"/>
            <a:ext cx="61924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1580322" y="828048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a formula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2377197" y="4768021"/>
            <a:ext cx="7955152" cy="1302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cell H3, you could use the formula: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=A3+B3+C3+D3+E3+F3+G3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e, calendar&#10;&#10;Description automatically generated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9647" y="2336923"/>
            <a:ext cx="8472702" cy="218415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1487011" y="343535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1578133" y="829598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Functions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578133" y="2301063"/>
            <a:ext cx="8114508" cy="22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pre-programmed into spreadsheets.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allow us to perform longer or more complex calculations with ease.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Today, we will be concentrating on four functions:</a:t>
            </a:r>
            <a:r>
              <a:rPr lang="en-GB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485615" y="460266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591812" y="819659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a function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1591811" y="2117557"/>
            <a:ext cx="9753599" cy="335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functions start with an equals sign </a:t>
            </a:r>
            <a:r>
              <a:rPr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followed by the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function name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to be used by the function is referenced using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cell references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cell range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enclosed within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parentheses</a:t>
            </a:r>
            <a:r>
              <a:rPr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( )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=SUM(A3:G3)              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function will add together the values in the cell range A3 to G3.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4677877" y="3570972"/>
            <a:ext cx="1126157" cy="369332"/>
          </a:xfrm>
          <a:prstGeom prst="rect">
            <a:avLst/>
          </a:prstGeom>
          <a:solidFill>
            <a:srgbClr val="BBE3F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 range</a:t>
            </a:r>
            <a:endParaRPr/>
          </a:p>
        </p:txBody>
      </p:sp>
      <p:cxnSp>
        <p:nvCxnSpPr>
          <p:cNvPr id="112" name="Google Shape;112;p17"/>
          <p:cNvCxnSpPr/>
          <p:nvPr/>
        </p:nvCxnSpPr>
        <p:spPr>
          <a:xfrm flipH="1" rot="10800000">
            <a:off x="3965608" y="3750411"/>
            <a:ext cx="712269" cy="3158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17"/>
          <p:cNvSpPr txBox="1"/>
          <p:nvPr/>
        </p:nvSpPr>
        <p:spPr>
          <a:xfrm>
            <a:off x="3041583" y="4601885"/>
            <a:ext cx="1599399" cy="369332"/>
          </a:xfrm>
          <a:prstGeom prst="rect">
            <a:avLst/>
          </a:prstGeom>
          <a:solidFill>
            <a:srgbClr val="BBE3F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name</a:t>
            </a:r>
            <a:endParaRPr/>
          </a:p>
        </p:txBody>
      </p:sp>
      <p:cxnSp>
        <p:nvCxnSpPr>
          <p:cNvPr id="114" name="Google Shape;114;p17"/>
          <p:cNvCxnSpPr/>
          <p:nvPr/>
        </p:nvCxnSpPr>
        <p:spPr>
          <a:xfrm rot="10800000">
            <a:off x="3041583" y="4398746"/>
            <a:ext cx="799699" cy="2031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17"/>
          <p:cNvSpPr/>
          <p:nvPr/>
        </p:nvSpPr>
        <p:spPr>
          <a:xfrm>
            <a:off x="6848937" y="3940304"/>
            <a:ext cx="4896323" cy="481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=A3+B3+C3+D3+E3+F3+G3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591811" y="360608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How to write a function in Excel: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1589632" y="353651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963561" y="2967335"/>
            <a:ext cx="7600336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lang="en-GB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cell where to write a function 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lang="en-GB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 =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name of the function with parenthesis 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cell range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enclosed within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parentheses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sz="2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357419" y="3565002"/>
            <a:ext cx="3057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SUM(A3:G3)</a:t>
            </a:r>
            <a:endParaRPr/>
          </a:p>
        </p:txBody>
      </p:sp>
      <p:cxnSp>
        <p:nvCxnSpPr>
          <p:cNvPr id="125" name="Google Shape;125;p18"/>
          <p:cNvCxnSpPr>
            <a:endCxn id="124" idx="1"/>
          </p:cNvCxnSpPr>
          <p:nvPr/>
        </p:nvCxnSpPr>
        <p:spPr>
          <a:xfrm flipH="1" rot="10800000">
            <a:off x="3136519" y="3888168"/>
            <a:ext cx="5220900" cy="18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6" name="Google Shape;126;p18"/>
          <p:cNvCxnSpPr/>
          <p:nvPr/>
        </p:nvCxnSpPr>
        <p:spPr>
          <a:xfrm flipH="1" rot="10800000">
            <a:off x="8062452" y="4211333"/>
            <a:ext cx="1052051" cy="56714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7" name="Google Shape;127;p18"/>
          <p:cNvCxnSpPr/>
          <p:nvPr/>
        </p:nvCxnSpPr>
        <p:spPr>
          <a:xfrm flipH="1" rot="10800000">
            <a:off x="8224684" y="4070555"/>
            <a:ext cx="2109019" cy="1267022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1560442" y="83488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a function</a:t>
            </a:r>
            <a:endParaRPr/>
          </a:p>
        </p:txBody>
      </p:sp>
      <p:pic>
        <p:nvPicPr>
          <p:cNvPr descr="Table&#10;&#10;Description automatically generated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2685" y="1913182"/>
            <a:ext cx="2366629" cy="463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1652763" y="354308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1600200" y="815009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2578026" y="5781381"/>
            <a:ext cx="32412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2.1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1600200" y="2160363"/>
            <a:ext cx="5196924" cy="2806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</a:t>
            </a: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 the values in a range of cells.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up the total score for the group use the formula: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=SUM(B4:B7)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descr="Table&#10;&#10;Description automatically generated"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5800" y="2137193"/>
            <a:ext cx="4242629" cy="328570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1600200" y="345334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2.1: Using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endParaRPr/>
          </a:p>
        </p:txBody>
      </p:sp>
      <p:pic>
        <p:nvPicPr>
          <p:cNvPr descr="A picture containing athletic game, basketball, sport&#10;&#10;Description automatically generated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1672428" y="396133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1610138" y="774303"/>
            <a:ext cx="9743661" cy="916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1610138" y="2177305"/>
            <a:ext cx="4762566" cy="3347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works in much the same way as the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work out the average mark use the formula: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=AVERAGE(B4:B7)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2578026" y="5781381"/>
            <a:ext cx="32412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2.2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2704" y="2177305"/>
            <a:ext cx="5066573" cy="368304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/>
          <p:nvPr/>
        </p:nvSpPr>
        <p:spPr>
          <a:xfrm>
            <a:off x="1610138" y="404971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1589632" y="844198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2.2: Using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endParaRPr/>
          </a:p>
        </p:txBody>
      </p:sp>
      <p:pic>
        <p:nvPicPr>
          <p:cNvPr descr="A picture containing athletic game, basketball, sport&#10;&#10;Description automatically generated"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1589632" y="402443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1590260" y="824948"/>
            <a:ext cx="9763539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>
                <a:solidFill>
                  <a:schemeClr val="lt1"/>
                </a:solidFill>
              </a:rPr>
              <a:t> and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1" lang="en-GB">
                <a:solidFill>
                  <a:schemeClr val="lt1"/>
                </a:solidFill>
              </a:rPr>
              <a:t> functions</a:t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1590260" y="2240550"/>
            <a:ext cx="5224426" cy="3543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largest value in a range, use the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highest exam mark is found using the formula: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=MAX(B4:B7)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smallest value in a range, use the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lowest exam mark is found using the formula: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=MIN(B4:B7)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3230757" y="6019687"/>
            <a:ext cx="32412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2.3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ble&#10;&#10;Description automatically generated"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385" y="2240550"/>
            <a:ext cx="4475573" cy="354398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1475880" y="338040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2.3: Using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>
                <a:solidFill>
                  <a:schemeClr val="lt1"/>
                </a:solidFill>
              </a:rPr>
              <a:t> and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/>
          </a:p>
        </p:txBody>
      </p:sp>
      <p:pic>
        <p:nvPicPr>
          <p:cNvPr descr="A picture containing athletic game, basketball, sport&#10;&#10;Description automatically generated"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1589632" y="331884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2.4: Basic functions</a:t>
            </a:r>
            <a:endParaRPr/>
          </a:p>
        </p:txBody>
      </p:sp>
      <p:pic>
        <p:nvPicPr>
          <p:cNvPr descr="A picture containing athletic game, basketball, sport&#10;&#10;Description automatically generated"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1589632" y="396133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2.5: Cinema tickets</a:t>
            </a:r>
            <a:endParaRPr/>
          </a:p>
        </p:txBody>
      </p:sp>
      <p:pic>
        <p:nvPicPr>
          <p:cNvPr descr="A picture containing athletic game, basketball, sport&#10;&#10;Description automatically generated" id="195" name="Google Shape;1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89845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/>
          <p:nvPr/>
        </p:nvSpPr>
        <p:spPr>
          <a:xfrm>
            <a:off x="1485615" y="373315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2.6: Pocket money</a:t>
            </a:r>
            <a:endParaRPr/>
          </a:p>
        </p:txBody>
      </p:sp>
      <p:pic>
        <p:nvPicPr>
          <p:cNvPr descr="A picture containing athletic game, basketball, sport&#10;&#10;Description automatically generated"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/>
          <p:nvPr/>
        </p:nvSpPr>
        <p:spPr>
          <a:xfrm>
            <a:off x="1751086" y="383193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2.7: Birthday Cake</a:t>
            </a:r>
            <a:endParaRPr/>
          </a:p>
        </p:txBody>
      </p:sp>
      <p:pic>
        <p:nvPicPr>
          <p:cNvPr descr="A picture containing athletic game, basketball, sport&#10;&#10;Description automatically generated" id="209" name="Google Shape;2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184" y="1811903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/>
          <p:nvPr/>
        </p:nvSpPr>
        <p:spPr>
          <a:xfrm>
            <a:off x="1589632" y="353651"/>
            <a:ext cx="5543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Functions using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AVERAGE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