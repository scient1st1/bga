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" name="Google Shape;23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" name="Google Shape;31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6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5" name="Google Shape;35;p6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6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6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" name="Google Shape;39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0" name="Google Shape;40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4" name="Google Shape;44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5" name="Google Shape;45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8" name="Google Shape;48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3" name="Google Shape;53;p9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4" name="Google Shape;54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6" name="Google Shape;56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0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0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1" name="Google Shape;61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2" name="Google Shape;62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3" name="Google Shape;63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8" name="Google Shape;68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9" name="Google Shape;69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2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2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3" name="Google Shape;73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4" name="Google Shape;74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5" name="Google Shape;75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1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/>
        </p:nvSpPr>
        <p:spPr>
          <a:xfrm>
            <a:off x="7547114" y="638019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© Hodder &amp; Stoughton Limited 2021</a:t>
            </a:r>
            <a:endParaRPr/>
          </a:p>
        </p:txBody>
      </p:sp>
      <p:pic>
        <p:nvPicPr>
          <p:cNvPr descr="Shape, rectangle&#10;&#10;Description automatically generated" id="9" name="Google Shape;9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0" y="0"/>
            <a:ext cx="12192000" cy="169561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3"/>
          <p:cNvSpPr txBox="1"/>
          <p:nvPr>
            <p:ph type="ctrTitle"/>
          </p:nvPr>
        </p:nvSpPr>
        <p:spPr>
          <a:xfrm>
            <a:off x="813732" y="3010438"/>
            <a:ext cx="7062388" cy="9158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r>
              <a:rPr b="1" lang="en-GB"/>
              <a:t>Introducing spreadsheets</a:t>
            </a:r>
            <a:endParaRPr/>
          </a:p>
        </p:txBody>
      </p:sp>
      <p:sp>
        <p:nvSpPr>
          <p:cNvPr id="81" name="Google Shape;81;p13"/>
          <p:cNvSpPr/>
          <p:nvPr/>
        </p:nvSpPr>
        <p:spPr>
          <a:xfrm>
            <a:off x="3473120" y="3926288"/>
            <a:ext cx="44030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94C11F"/>
                </a:solidFill>
                <a:latin typeface="Calibri"/>
                <a:ea typeface="Calibri"/>
                <a:cs typeface="Calibri"/>
                <a:sym typeface="Calibri"/>
              </a:rPr>
              <a:t>Lesson 4: Formatting, graphs and charts</a:t>
            </a:r>
            <a:endParaRPr b="1" i="0" sz="2000" u="none" cap="none" strike="noStrike">
              <a:solidFill>
                <a:srgbClr val="94C11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2" name="Google Shape;82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69068" y="2704324"/>
            <a:ext cx="2937413" cy="2443928"/>
          </a:xfrm>
          <a:prstGeom prst="rect">
            <a:avLst/>
          </a:prstGeom>
          <a:noFill/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 txBox="1"/>
          <p:nvPr>
            <p:ph type="title"/>
          </p:nvPr>
        </p:nvSpPr>
        <p:spPr>
          <a:xfrm>
            <a:off x="1593635" y="832060"/>
            <a:ext cx="9634330" cy="76634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Objectives</a:t>
            </a:r>
            <a:endParaRPr/>
          </a:p>
        </p:txBody>
      </p:sp>
      <p:sp>
        <p:nvSpPr>
          <p:cNvPr id="88" name="Google Shape;88;p14"/>
          <p:cNvSpPr/>
          <p:nvPr/>
        </p:nvSpPr>
        <p:spPr>
          <a:xfrm>
            <a:off x="1593635" y="2397948"/>
            <a:ext cx="10124600" cy="28007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this lesson you will learn: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Char char="∙"/>
            </a:pPr>
            <a:r>
              <a:rPr lang="en-GB"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about different types of formatting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how to format cells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how to add conditional formatting to a spreadsheet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uses of different types of graph and chart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how to create graphs and charts in spreadsheets.</a:t>
            </a:r>
            <a:endParaRPr sz="2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/>
          <p:nvPr/>
        </p:nvSpPr>
        <p:spPr>
          <a:xfrm>
            <a:off x="1610139" y="803998"/>
            <a:ext cx="3796617" cy="7694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Formatting cells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Table&#10;&#10;Description automatically generated" id="94" name="Google Shape;94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739706" y="2606246"/>
            <a:ext cx="8712587" cy="28711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6"/>
          <p:cNvSpPr txBox="1"/>
          <p:nvPr/>
        </p:nvSpPr>
        <p:spPr>
          <a:xfrm>
            <a:off x="1620077" y="844826"/>
            <a:ext cx="3796617" cy="7694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Formatting cells</a:t>
            </a: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Table&#10;&#10;Description automatically generated" id="100" name="Google Shape;100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45705" y="2463156"/>
            <a:ext cx="8900589" cy="32761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7"/>
          <p:cNvSpPr txBox="1"/>
          <p:nvPr>
            <p:ph type="title"/>
          </p:nvPr>
        </p:nvSpPr>
        <p:spPr>
          <a:xfrm>
            <a:off x="1591812" y="819659"/>
            <a:ext cx="9753599" cy="8458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Formatting cells</a:t>
            </a:r>
            <a:endParaRPr/>
          </a:p>
        </p:txBody>
      </p:sp>
      <p:sp>
        <p:nvSpPr>
          <p:cNvPr id="106" name="Google Shape;106;p17"/>
          <p:cNvSpPr/>
          <p:nvPr/>
        </p:nvSpPr>
        <p:spPr>
          <a:xfrm>
            <a:off x="1591811" y="2117557"/>
            <a:ext cx="9053729" cy="256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Formatting cells helps to make a spreadsheet easier to read.</a:t>
            </a:r>
            <a:endParaRPr/>
          </a:p>
          <a:p>
            <a:pPr indent="0" lvl="0" marL="0" marR="0" rtl="0" algn="l">
              <a:lnSpc>
                <a:spcPct val="107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 can change the:</a:t>
            </a:r>
            <a:endParaRPr/>
          </a:p>
          <a:p>
            <a:pPr indent="0" lvl="0" marL="0" marR="0" rtl="0" algn="l">
              <a:lnSpc>
                <a:spcPct val="107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7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7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7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 can format cells using the tools in the ribbon on the Home tab.</a:t>
            </a:r>
            <a:endParaRPr/>
          </a:p>
        </p:txBody>
      </p:sp>
      <p:pic>
        <p:nvPicPr>
          <p:cNvPr descr="Graphical user interface, application, Word&#10;&#10;Description automatically generated" id="107" name="Google Shape;10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031051" y="4915051"/>
            <a:ext cx="6423451" cy="1284690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7"/>
          <p:cNvSpPr/>
          <p:nvPr/>
        </p:nvSpPr>
        <p:spPr>
          <a:xfrm>
            <a:off x="1591811" y="3117252"/>
            <a:ext cx="7301932" cy="115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</a:pP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font, text size and text colour</a:t>
            </a:r>
            <a:endParaRPr/>
          </a:p>
          <a:p>
            <a:pPr indent="-342900" lvl="0" marL="34290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</a:pP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fill colour</a:t>
            </a:r>
            <a:endParaRPr/>
          </a:p>
          <a:p>
            <a:pPr indent="-342900" lvl="0" marL="34290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</a:pP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number format</a:t>
            </a:r>
            <a:endParaRPr/>
          </a:p>
          <a:p>
            <a:pPr indent="-342900" lvl="0" marL="34290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</a:pP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text alignment</a:t>
            </a:r>
            <a:endParaRPr/>
          </a:p>
          <a:p>
            <a:pPr indent="-342900" lvl="0" marL="34290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</a:pP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border.</a:t>
            </a:r>
            <a:endParaRPr/>
          </a:p>
        </p:txBody>
      </p:sp>
      <p:sp>
        <p:nvSpPr>
          <p:cNvPr id="109" name="Google Shape;109;p17"/>
          <p:cNvSpPr/>
          <p:nvPr/>
        </p:nvSpPr>
        <p:spPr>
          <a:xfrm>
            <a:off x="9411420" y="3429000"/>
            <a:ext cx="1933991" cy="9541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i="1"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Now watch video 4.1</a:t>
            </a:r>
            <a:endParaRPr i="1"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8"/>
          <p:cNvSpPr txBox="1"/>
          <p:nvPr>
            <p:ph type="title"/>
          </p:nvPr>
        </p:nvSpPr>
        <p:spPr>
          <a:xfrm>
            <a:off x="1589632" y="824949"/>
            <a:ext cx="10037685" cy="86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Activity 4.1: Formatting practice</a:t>
            </a:r>
            <a:endParaRPr/>
          </a:p>
        </p:txBody>
      </p:sp>
      <p:pic>
        <p:nvPicPr>
          <p:cNvPr descr="A picture containing athletic game, basketball, sport&#10;&#10;Description automatically generated" id="115" name="Google Shape;115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02216" y="1967027"/>
            <a:ext cx="4587567" cy="4494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 txBox="1"/>
          <p:nvPr>
            <p:ph type="title"/>
          </p:nvPr>
        </p:nvSpPr>
        <p:spPr>
          <a:xfrm>
            <a:off x="1560442" y="834887"/>
            <a:ext cx="9793357" cy="855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Conditional formatting</a:t>
            </a:r>
            <a:endParaRPr/>
          </a:p>
        </p:txBody>
      </p:sp>
      <p:sp>
        <p:nvSpPr>
          <p:cNvPr id="121" name="Google Shape;121;p19"/>
          <p:cNvSpPr/>
          <p:nvPr/>
        </p:nvSpPr>
        <p:spPr>
          <a:xfrm>
            <a:off x="1560441" y="1916256"/>
            <a:ext cx="7249574" cy="73635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Conditional formatting allows you to alter the appearance of a cell depending on the value it contains.</a:t>
            </a:r>
            <a:endParaRPr/>
          </a:p>
        </p:txBody>
      </p:sp>
      <p:sp>
        <p:nvSpPr>
          <p:cNvPr id="122" name="Google Shape;122;p19"/>
          <p:cNvSpPr/>
          <p:nvPr/>
        </p:nvSpPr>
        <p:spPr>
          <a:xfrm>
            <a:off x="1560441" y="4843045"/>
            <a:ext cx="9575987" cy="73635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Here, conditional formatting has been applied to column C so that any cell containing a number:</a:t>
            </a:r>
            <a:endParaRPr/>
          </a:p>
        </p:txBody>
      </p:sp>
      <p:pic>
        <p:nvPicPr>
          <p:cNvPr descr="Table&#10;&#10;Description automatically generated" id="123" name="Google Shape;123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006656" y="2754781"/>
            <a:ext cx="5203569" cy="1986094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19"/>
          <p:cNvSpPr/>
          <p:nvPr/>
        </p:nvSpPr>
        <p:spPr>
          <a:xfrm>
            <a:off x="8251353" y="3168938"/>
            <a:ext cx="1933991" cy="9541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i="1"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Now watch video 4.2</a:t>
            </a:r>
            <a:endParaRPr i="1"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5" name="Google Shape;125;p19"/>
          <p:cNvSpPr/>
          <p:nvPr/>
        </p:nvSpPr>
        <p:spPr>
          <a:xfrm>
            <a:off x="1560441" y="5579400"/>
            <a:ext cx="9071118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</a:pP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greater than 10 has a green fill</a:t>
            </a:r>
            <a:endParaRPr/>
          </a:p>
          <a:p>
            <a:pPr indent="-342900" lvl="0" marL="34290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•"/>
            </a:pP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less than 8 has a red fill.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0"/>
          <p:cNvSpPr txBox="1"/>
          <p:nvPr>
            <p:ph type="title"/>
          </p:nvPr>
        </p:nvSpPr>
        <p:spPr>
          <a:xfrm>
            <a:off x="1589632" y="844198"/>
            <a:ext cx="10037685" cy="86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Activities</a:t>
            </a:r>
            <a:endParaRPr/>
          </a:p>
        </p:txBody>
      </p:sp>
      <p:pic>
        <p:nvPicPr>
          <p:cNvPr descr="A picture containing athletic game, basketball, sport&#10;&#10;Description automatically generated" id="131" name="Google Shape;131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9632" y="1976653"/>
            <a:ext cx="4587567" cy="4494840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20"/>
          <p:cNvSpPr/>
          <p:nvPr/>
        </p:nvSpPr>
        <p:spPr>
          <a:xfrm>
            <a:off x="7325106" y="3394006"/>
            <a:ext cx="3277262" cy="166013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Activity 4.2: Picture 1</a:t>
            </a:r>
            <a:endParaRPr/>
          </a:p>
          <a:p>
            <a:pPr indent="0" lvl="0" marL="0" marR="0" rtl="0" algn="l">
              <a:lnSpc>
                <a:spcPct val="107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Activity 4.3: Picture 2</a:t>
            </a:r>
            <a:endParaRPr/>
          </a:p>
          <a:p>
            <a:pPr indent="0" lvl="0" marL="0" marR="0" rtl="0" algn="l">
              <a:lnSpc>
                <a:spcPct val="107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Activity 4.4: Picture 3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1"/>
          <p:cNvSpPr txBox="1"/>
          <p:nvPr>
            <p:ph type="title"/>
          </p:nvPr>
        </p:nvSpPr>
        <p:spPr>
          <a:xfrm>
            <a:off x="1600200" y="815009"/>
            <a:ext cx="9753600" cy="87567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Graphs and charts</a:t>
            </a:r>
            <a:endParaRPr/>
          </a:p>
        </p:txBody>
      </p:sp>
      <p:sp>
        <p:nvSpPr>
          <p:cNvPr id="138" name="Google Shape;138;p21"/>
          <p:cNvSpPr/>
          <p:nvPr/>
        </p:nvSpPr>
        <p:spPr>
          <a:xfrm>
            <a:off x="1600200" y="2536281"/>
            <a:ext cx="8544827" cy="258218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Graphs and charts give a visual representation of data.</a:t>
            </a:r>
            <a:endParaRPr/>
          </a:p>
          <a:p>
            <a:pPr indent="0" lvl="0" marL="0" marR="0" rtl="0" algn="l">
              <a:lnSpc>
                <a:spcPct val="107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Presenting data in graphs or charts can make it easier to understand or interpret.</a:t>
            </a:r>
            <a:endParaRPr/>
          </a:p>
          <a:p>
            <a:pPr indent="0" lvl="0" marL="0" marR="0" rtl="0" algn="l">
              <a:lnSpc>
                <a:spcPct val="107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There are several different types of graph and chart and each is designed to display different types of data.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2"/>
          <p:cNvSpPr txBox="1"/>
          <p:nvPr>
            <p:ph type="title"/>
          </p:nvPr>
        </p:nvSpPr>
        <p:spPr>
          <a:xfrm>
            <a:off x="1610138" y="774303"/>
            <a:ext cx="9743661" cy="91638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Bar chart</a:t>
            </a:r>
            <a:endParaRPr/>
          </a:p>
        </p:txBody>
      </p:sp>
      <p:sp>
        <p:nvSpPr>
          <p:cNvPr id="144" name="Google Shape;144;p22"/>
          <p:cNvSpPr/>
          <p:nvPr/>
        </p:nvSpPr>
        <p:spPr>
          <a:xfrm>
            <a:off x="1610138" y="2001585"/>
            <a:ext cx="9421174" cy="8007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200">
                <a:solidFill>
                  <a:srgbClr val="0069B4"/>
                </a:solidFill>
                <a:latin typeface="Calibri"/>
                <a:ea typeface="Calibri"/>
                <a:cs typeface="Calibri"/>
                <a:sym typeface="Calibri"/>
              </a:rPr>
              <a:t>bar chart </a:t>
            </a:r>
            <a:r>
              <a:rPr lang="en-GB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allows you to </a:t>
            </a:r>
            <a:r>
              <a:rPr b="1" lang="en-GB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compare categories</a:t>
            </a:r>
            <a:r>
              <a:rPr lang="en-GB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of data that are not directly related, for example, the reasons why students were late arriving at school:</a:t>
            </a:r>
            <a:endParaRPr/>
          </a:p>
        </p:txBody>
      </p:sp>
      <p:sp>
        <p:nvSpPr>
          <p:cNvPr id="145" name="Google Shape;145;p22"/>
          <p:cNvSpPr/>
          <p:nvPr/>
        </p:nvSpPr>
        <p:spPr>
          <a:xfrm>
            <a:off x="7498079" y="3623186"/>
            <a:ext cx="3533233" cy="8651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is best to use a bar chart when the labels are long.</a:t>
            </a:r>
            <a:endParaRPr/>
          </a:p>
        </p:txBody>
      </p:sp>
      <p:pic>
        <p:nvPicPr>
          <p:cNvPr descr="Chart, timeline, bar chart&#10;&#10;Description automatically generated" id="146" name="Google Shape;146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10138" y="3113279"/>
            <a:ext cx="5794261" cy="27501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3"/>
          <p:cNvSpPr/>
          <p:nvPr/>
        </p:nvSpPr>
        <p:spPr>
          <a:xfrm>
            <a:off x="1272209" y="2213147"/>
            <a:ext cx="4685829" cy="35419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200">
                <a:solidFill>
                  <a:srgbClr val="0069B4"/>
                </a:solidFill>
                <a:latin typeface="Calibri"/>
                <a:ea typeface="Calibri"/>
                <a:cs typeface="Calibri"/>
                <a:sym typeface="Calibri"/>
              </a:rPr>
              <a:t>column chart </a:t>
            </a:r>
            <a:r>
              <a:rPr lang="en-GB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is essentially the same as a bar chart, but the data is shown using vertical bars.</a:t>
            </a:r>
            <a:endParaRPr/>
          </a:p>
          <a:p>
            <a:pPr indent="0" lvl="0" marL="0" marR="0" rtl="0" algn="l">
              <a:lnSpc>
                <a:spcPct val="107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Column and bar charts allow you to see similarities and differences in the data.</a:t>
            </a:r>
            <a:endParaRPr/>
          </a:p>
          <a:p>
            <a:pPr indent="0" lvl="0" marL="0" marR="0" rtl="0" algn="l">
              <a:lnSpc>
                <a:spcPct val="107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 create a bar chart or column chart, select the data on the spreadsheet, go to the Insert tab and then choose the type of chart you require.</a:t>
            </a:r>
            <a:endParaRPr/>
          </a:p>
        </p:txBody>
      </p:sp>
      <p:sp>
        <p:nvSpPr>
          <p:cNvPr id="152" name="Google Shape;152;p23"/>
          <p:cNvSpPr txBox="1"/>
          <p:nvPr>
            <p:ph type="title"/>
          </p:nvPr>
        </p:nvSpPr>
        <p:spPr>
          <a:xfrm>
            <a:off x="1590260" y="824948"/>
            <a:ext cx="9763539" cy="86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Column chart</a:t>
            </a:r>
            <a:endParaRPr/>
          </a:p>
        </p:txBody>
      </p:sp>
      <p:pic>
        <p:nvPicPr>
          <p:cNvPr descr="Chart, bar chart&#10;&#10;Description automatically generated" id="153" name="Google Shape;153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2213147"/>
            <a:ext cx="5428268" cy="2952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23"/>
          <p:cNvSpPr/>
          <p:nvPr/>
        </p:nvSpPr>
        <p:spPr>
          <a:xfrm>
            <a:off x="7253063" y="5509832"/>
            <a:ext cx="3258342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Now watch video 4.3</a:t>
            </a:r>
            <a:endParaRPr i="1"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4"/>
          <p:cNvSpPr txBox="1"/>
          <p:nvPr>
            <p:ph type="title"/>
          </p:nvPr>
        </p:nvSpPr>
        <p:spPr>
          <a:xfrm>
            <a:off x="1589632" y="844198"/>
            <a:ext cx="10037685" cy="86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Activity 4.5: Temperature</a:t>
            </a:r>
            <a:endParaRPr/>
          </a:p>
        </p:txBody>
      </p:sp>
      <p:pic>
        <p:nvPicPr>
          <p:cNvPr descr="A picture containing athletic game, basketball, sport&#10;&#10;Description automatically generated" id="160" name="Google Shape;160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02216" y="1967027"/>
            <a:ext cx="4587567" cy="4494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5"/>
          <p:cNvSpPr txBox="1"/>
          <p:nvPr>
            <p:ph type="title"/>
          </p:nvPr>
        </p:nvSpPr>
        <p:spPr>
          <a:xfrm>
            <a:off x="1590260" y="824948"/>
            <a:ext cx="9763539" cy="86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Pie chart</a:t>
            </a:r>
            <a:endParaRPr/>
          </a:p>
        </p:txBody>
      </p:sp>
      <p:sp>
        <p:nvSpPr>
          <p:cNvPr id="166" name="Google Shape;166;p25"/>
          <p:cNvSpPr/>
          <p:nvPr/>
        </p:nvSpPr>
        <p:spPr>
          <a:xfrm>
            <a:off x="1590260" y="2112144"/>
            <a:ext cx="4505740" cy="302005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200">
                <a:solidFill>
                  <a:srgbClr val="0069B4"/>
                </a:solidFill>
                <a:latin typeface="Calibri"/>
                <a:ea typeface="Calibri"/>
                <a:cs typeface="Calibri"/>
                <a:sym typeface="Calibri"/>
              </a:rPr>
              <a:t>pie chart </a:t>
            </a:r>
            <a:r>
              <a:rPr lang="en-GB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shows the individual parts that make up a whole.</a:t>
            </a:r>
            <a:endParaRPr/>
          </a:p>
          <a:p>
            <a:pPr indent="0" lvl="0" marL="0" marR="0" rtl="0" algn="l">
              <a:lnSpc>
                <a:spcPct val="107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They are useful to show percentages.</a:t>
            </a:r>
            <a:endParaRPr/>
          </a:p>
          <a:p>
            <a:pPr indent="0" lvl="0" marL="0" marR="0" rtl="0" algn="l">
              <a:lnSpc>
                <a:spcPct val="107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Pie charts are created in a similar way to bar and column charts.</a:t>
            </a:r>
            <a:endParaRPr/>
          </a:p>
          <a:p>
            <a:pPr indent="0" lvl="0" marL="0" marR="0" rtl="0" algn="l">
              <a:lnSpc>
                <a:spcPct val="107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Select the data on the spreadsheet, go to the Insert tab and select Pie from the recommended charts.</a:t>
            </a:r>
            <a:endParaRPr/>
          </a:p>
        </p:txBody>
      </p:sp>
      <p:pic>
        <p:nvPicPr>
          <p:cNvPr descr="Chart, pie chart&#10;&#10;Description automatically generated" id="167" name="Google Shape;16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2112144"/>
            <a:ext cx="5378588" cy="3314785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5"/>
          <p:cNvSpPr/>
          <p:nvPr/>
        </p:nvSpPr>
        <p:spPr>
          <a:xfrm>
            <a:off x="4466829" y="5848385"/>
            <a:ext cx="3258342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Now watch video 4.4</a:t>
            </a:r>
            <a:endParaRPr i="1"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6"/>
          <p:cNvSpPr txBox="1"/>
          <p:nvPr>
            <p:ph type="title"/>
          </p:nvPr>
        </p:nvSpPr>
        <p:spPr>
          <a:xfrm>
            <a:off x="1589632" y="844198"/>
            <a:ext cx="10037685" cy="86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Activity 4.6: Travel</a:t>
            </a:r>
            <a:endParaRPr/>
          </a:p>
        </p:txBody>
      </p:sp>
      <p:pic>
        <p:nvPicPr>
          <p:cNvPr descr="A picture containing athletic game, basketball, sport&#10;&#10;Description automatically generated" id="174" name="Google Shape;174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02216" y="1967027"/>
            <a:ext cx="4587567" cy="4494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7"/>
          <p:cNvSpPr txBox="1"/>
          <p:nvPr>
            <p:ph type="title"/>
          </p:nvPr>
        </p:nvSpPr>
        <p:spPr>
          <a:xfrm>
            <a:off x="1590260" y="824948"/>
            <a:ext cx="9763539" cy="86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Line graph</a:t>
            </a:r>
            <a:endParaRPr/>
          </a:p>
        </p:txBody>
      </p:sp>
      <p:sp>
        <p:nvSpPr>
          <p:cNvPr id="180" name="Google Shape;180;p27"/>
          <p:cNvSpPr/>
          <p:nvPr/>
        </p:nvSpPr>
        <p:spPr>
          <a:xfrm>
            <a:off x="1282149" y="1982668"/>
            <a:ext cx="9863906" cy="90338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200">
                <a:solidFill>
                  <a:srgbClr val="0069B4"/>
                </a:solidFill>
                <a:latin typeface="Calibri"/>
                <a:ea typeface="Calibri"/>
                <a:cs typeface="Calibri"/>
                <a:sym typeface="Calibri"/>
              </a:rPr>
              <a:t>line graph</a:t>
            </a:r>
            <a:r>
              <a:rPr lang="en-GB" sz="2200">
                <a:solidFill>
                  <a:srgbClr val="C4591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GB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is used when you want to show how something has </a:t>
            </a:r>
            <a:r>
              <a:rPr b="1" lang="en-GB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changed over time</a:t>
            </a:r>
            <a:r>
              <a:rPr lang="en-GB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0" marL="0" marR="0" rtl="0" algn="l">
              <a:lnSpc>
                <a:spcPct val="107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 example, a single line to plot the results of an experiment:</a:t>
            </a:r>
            <a:endParaRPr/>
          </a:p>
        </p:txBody>
      </p:sp>
      <p:sp>
        <p:nvSpPr>
          <p:cNvPr id="181" name="Google Shape;181;p27"/>
          <p:cNvSpPr/>
          <p:nvPr/>
        </p:nvSpPr>
        <p:spPr>
          <a:xfrm>
            <a:off x="6642099" y="3429000"/>
            <a:ext cx="4711700" cy="156100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 create a line graph, select the data on the spreadsheet, go to the Insert tab and chose the most appropriate graph from the recommended charts. Depending on the data, this may be a line graph or a scatter graph.</a:t>
            </a:r>
            <a:endParaRPr/>
          </a:p>
        </p:txBody>
      </p:sp>
      <p:pic>
        <p:nvPicPr>
          <p:cNvPr descr="Chart, line chart&#10;&#10;Description automatically generated" id="182" name="Google Shape;182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2149" y="3036660"/>
            <a:ext cx="4813851" cy="2818338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27"/>
          <p:cNvSpPr/>
          <p:nvPr/>
        </p:nvSpPr>
        <p:spPr>
          <a:xfrm>
            <a:off x="4466829" y="6017951"/>
            <a:ext cx="3258342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Now watch video 4.5</a:t>
            </a:r>
            <a:endParaRPr i="1"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8"/>
          <p:cNvSpPr txBox="1"/>
          <p:nvPr>
            <p:ph type="title"/>
          </p:nvPr>
        </p:nvSpPr>
        <p:spPr>
          <a:xfrm>
            <a:off x="1589632" y="844198"/>
            <a:ext cx="10037685" cy="86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Activity 4.7: Height</a:t>
            </a:r>
            <a:endParaRPr/>
          </a:p>
        </p:txBody>
      </p:sp>
      <p:pic>
        <p:nvPicPr>
          <p:cNvPr descr="A picture containing athletic game, basketball, sport&#10;&#10;Description automatically generated" id="189" name="Google Shape;18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02216" y="1967027"/>
            <a:ext cx="4587567" cy="4494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