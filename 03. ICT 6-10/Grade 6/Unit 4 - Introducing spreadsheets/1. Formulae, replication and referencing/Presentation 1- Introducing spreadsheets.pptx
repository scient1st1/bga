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7A70D9-BE8D-469F-81F1-BA0189908036}">
  <a:tblStyle styleId="{267A70D9-BE8D-469F-81F1-BA01899080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BF1E8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BF1E8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813732" y="3010438"/>
            <a:ext cx="706238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Introducing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659179" y="3926288"/>
            <a:ext cx="52169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Lesson 1: Formulae, replication and referencing</a:t>
            </a:r>
            <a:endParaRPr b="1" sz="2000">
              <a:solidFill>
                <a:srgbClr val="94C1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068" y="2704324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3635" y="832060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93635" y="2397948"/>
            <a:ext cx="963433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 you will learn: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elements of a spreadsheet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write formulae using cell references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replicate data and extend data series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difference between relative and absolute cell references.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828048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 spreadsheet</a:t>
            </a:r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2148" l="0" r="719" t="1462"/>
          <a:stretch/>
        </p:blipFill>
        <p:spPr>
          <a:xfrm>
            <a:off x="2130259" y="2439464"/>
            <a:ext cx="7931482" cy="359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78133" y="829598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main elements of a spreadsheet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1578133" y="2164360"/>
            <a:ext cx="4820458" cy="413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 </a:t>
            </a:r>
            <a:r>
              <a:rPr b="1" lang="en-GB">
                <a:solidFill>
                  <a:srgbClr val="0069B4"/>
                </a:solidFill>
              </a:rPr>
              <a:t>spreadsheet</a:t>
            </a:r>
            <a:r>
              <a:rPr lang="en-GB"/>
              <a:t> consists of a grid of cells.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 </a:t>
            </a:r>
            <a:r>
              <a:rPr b="1" lang="en-GB">
                <a:solidFill>
                  <a:srgbClr val="0069B4"/>
                </a:solidFill>
              </a:rPr>
              <a:t>cell</a:t>
            </a:r>
            <a:r>
              <a:rPr lang="en-GB"/>
              <a:t> is a box on the spreadsheet into which you can place numbers, text or calculations.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 spreadsheet is divided into </a:t>
            </a:r>
            <a:r>
              <a:rPr b="1" lang="en-GB">
                <a:solidFill>
                  <a:srgbClr val="0069B4"/>
                </a:solidFill>
              </a:rPr>
              <a:t>rows</a:t>
            </a:r>
            <a:r>
              <a:rPr lang="en-GB"/>
              <a:t> and </a:t>
            </a:r>
            <a:r>
              <a:rPr b="1" lang="en-GB">
                <a:solidFill>
                  <a:srgbClr val="0069B4"/>
                </a:solidFill>
              </a:rPr>
              <a:t>columns</a:t>
            </a:r>
            <a:r>
              <a:rPr lang="en-GB"/>
              <a:t> and these are used to provide each cell with a unique </a:t>
            </a:r>
            <a:r>
              <a:rPr b="1" lang="en-GB">
                <a:solidFill>
                  <a:srgbClr val="0069B4"/>
                </a:solidFill>
              </a:rPr>
              <a:t>cell</a:t>
            </a:r>
            <a:r>
              <a:rPr lang="en-GB">
                <a:solidFill>
                  <a:srgbClr val="0069B4"/>
                </a:solidFill>
              </a:rPr>
              <a:t> </a:t>
            </a:r>
            <a:r>
              <a:rPr b="1" lang="en-GB">
                <a:solidFill>
                  <a:srgbClr val="0069B4"/>
                </a:solidFill>
              </a:rPr>
              <a:t>reference</a:t>
            </a:r>
            <a:r>
              <a:rPr lang="en-GB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Chart&#10;&#10;Description automatically generated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5784" y="3028027"/>
            <a:ext cx="4820458" cy="2408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1591812" y="819659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Calculations 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1591812" y="2350286"/>
            <a:ext cx="8533700" cy="2927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Spreadsheets are often used to perform calculations.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This is done by writing a </a:t>
            </a:r>
            <a:r>
              <a:rPr b="1" lang="en-GB">
                <a:solidFill>
                  <a:srgbClr val="0069B4"/>
                </a:solidFill>
              </a:rPr>
              <a:t>formula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Most formulae use cell references. This means that you can change a value in a cell and the formula automatically recalculates the answer.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1560442" y="83488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Formulae</a:t>
            </a:r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1560442" y="2223083"/>
            <a:ext cx="6860077" cy="2069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Formulae must always start with an </a:t>
            </a:r>
            <a:r>
              <a:rPr b="1" lang="en-GB"/>
              <a:t>equals sign</a:t>
            </a:r>
            <a:r>
              <a:rPr lang="en-GB"/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	For example: =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A1+B2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You use the operators:</a:t>
            </a:r>
            <a:endParaRPr/>
          </a:p>
        </p:txBody>
      </p:sp>
      <p:graphicFrame>
        <p:nvGraphicFramePr>
          <p:cNvPr id="114" name="Google Shape;114;p18"/>
          <p:cNvGraphicFramePr/>
          <p:nvPr/>
        </p:nvGraphicFramePr>
        <p:xfrm>
          <a:off x="2595251" y="4292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{267A70D9-BE8D-469F-81F1-BA0189908036}</a:tableStyleId>
              </a:tblPr>
              <a:tblGrid>
                <a:gridCol w="1880500"/>
                <a:gridCol w="953000"/>
                <a:gridCol w="2396575"/>
              </a:tblGrid>
              <a:tr h="3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/>
                        <a:t>plus sign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/>
                        <a:t>+</a:t>
                      </a:r>
                      <a:endParaRPr b="0" sz="2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/>
                        <a:t>for addition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minus sign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-</a:t>
                      </a:r>
                      <a:endParaRPr b="0" sz="2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for subtraction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asterisk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*</a:t>
                      </a:r>
                      <a:endParaRPr b="0" sz="2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for multiplication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forward slash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/</a:t>
                      </a:r>
                      <a:endParaRPr b="0" sz="2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For division</a:t>
                      </a:r>
                      <a:endParaRPr b="0" sz="2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1600200" y="815009"/>
            <a:ext cx="9753600" cy="875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Creating formulae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1600200" y="2054226"/>
            <a:ext cx="7793334" cy="74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To create a formula to add together two numbers: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343769" y="5519771"/>
            <a:ext cx="35044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1.1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able&#10;&#10;Description automatically generated" id="122" name="Google Shape;122;p19"/>
          <p:cNvPicPr preferRelativeResize="0"/>
          <p:nvPr/>
        </p:nvPicPr>
        <p:blipFill rotWithShape="1">
          <a:blip r:embed="rId3">
            <a:alphaModFix/>
          </a:blip>
          <a:srcRect b="55121" l="0" r="0" t="0"/>
          <a:stretch/>
        </p:blipFill>
        <p:spPr>
          <a:xfrm>
            <a:off x="1186175" y="3161404"/>
            <a:ext cx="9819650" cy="165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1.1: Basic formulae</a:t>
            </a:r>
            <a:endParaRPr/>
          </a:p>
        </p:txBody>
      </p:sp>
      <p:pic>
        <p:nvPicPr>
          <p:cNvPr descr="A picture containing athletic game, basketball, sport&#10;&#10;Description automatically generated"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1610138" y="774303"/>
            <a:ext cx="9743661" cy="916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Replication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1610138" y="1825625"/>
            <a:ext cx="8840148" cy="1801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9B4"/>
              </a:buClr>
              <a:buSzPts val="2800"/>
              <a:buNone/>
            </a:pPr>
            <a:r>
              <a:rPr b="1" lang="en-GB">
                <a:solidFill>
                  <a:srgbClr val="0069B4"/>
                </a:solidFill>
              </a:rPr>
              <a:t>Replication</a:t>
            </a:r>
            <a:r>
              <a:rPr lang="en-GB"/>
              <a:t> is where you copy information from one cell to another using the </a:t>
            </a:r>
            <a:r>
              <a:rPr b="1" lang="en-GB">
                <a:solidFill>
                  <a:srgbClr val="0069B4"/>
                </a:solidFill>
              </a:rPr>
              <a:t>fill handle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This is a great time-saving feature of spreadsheets.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Table&#10;&#10;Description automatically generated" id="135" name="Google Shape;1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138" y="3429000"/>
            <a:ext cx="7840031" cy="287581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/>
          <p:nvPr/>
        </p:nvSpPr>
        <p:spPr>
          <a:xfrm>
            <a:off x="9450169" y="4489083"/>
            <a:ext cx="193399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1.2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590260" y="824948"/>
            <a:ext cx="9763539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Extending a data series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1600418" y="1998217"/>
            <a:ext cx="9001322" cy="1039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The fill handle can be used to </a:t>
            </a:r>
            <a:r>
              <a:rPr b="1" lang="en-GB"/>
              <a:t>extend</a:t>
            </a:r>
            <a:r>
              <a:rPr lang="en-GB"/>
              <a:t> and </a:t>
            </a:r>
            <a:r>
              <a:rPr b="1" lang="en-GB"/>
              <a:t>complete</a:t>
            </a:r>
            <a:r>
              <a:rPr lang="en-GB"/>
              <a:t> a series of numbers, dates or formulae.</a:t>
            </a:r>
            <a:endParaRPr/>
          </a:p>
        </p:txBody>
      </p:sp>
      <p:pic>
        <p:nvPicPr>
          <p:cNvPr descr="Application, table, Excel&#10;&#10;Description automatically generated" id="143" name="Google Shape;1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114" y="3345274"/>
            <a:ext cx="4588781" cy="1699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e&#10;&#10;Description automatically generated" id="144" name="Google Shape;1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2106" y="3322766"/>
            <a:ext cx="4602291" cy="169913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/>
          <p:nvPr/>
        </p:nvSpPr>
        <p:spPr>
          <a:xfrm>
            <a:off x="4343769" y="5509832"/>
            <a:ext cx="35044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1.3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1589632" y="844198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1.2: Times tables</a:t>
            </a:r>
            <a:endParaRPr/>
          </a:p>
        </p:txBody>
      </p:sp>
      <p:pic>
        <p:nvPicPr>
          <p:cNvPr descr="A picture containing athletic game, basketball, sport&#10;&#10;Description automatically generated" id="151" name="Google Shape;1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1580322" y="824948"/>
            <a:ext cx="9773478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Relative cell references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1580322" y="2011679"/>
            <a:ext cx="8891964" cy="4021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If you click on one of the cells where the formula has been copied to, you will see that the cell references have been changed to those for that row.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These are called </a:t>
            </a:r>
            <a:r>
              <a:rPr b="1" lang="en-GB">
                <a:solidFill>
                  <a:srgbClr val="0069B4"/>
                </a:solidFill>
              </a:rPr>
              <a:t>relative cell references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Relative references are very useful if you need to repeat the same calculation across multiple rows or columns.</a:t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4343769" y="6033052"/>
            <a:ext cx="35044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1.4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able&#10;&#10;Description automatically generated"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3066" y="2863781"/>
            <a:ext cx="6365867" cy="1899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1570382" y="824948"/>
            <a:ext cx="9783417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Absolute cell references</a:t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1570382" y="2282220"/>
            <a:ext cx="8930781" cy="304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Sometimes, you do </a:t>
            </a:r>
            <a:r>
              <a:rPr lang="en-GB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want a cell reference to change when copying cells. In this situation, you use an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absolute cell reference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absolute reference is created by adding a </a:t>
            </a:r>
            <a:r>
              <a:rPr b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dollar sign (</a:t>
            </a:r>
            <a:r>
              <a:rPr b="1" lang="en-GB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front of the column reference, the row reference, or both.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r>
              <a:rPr b="1" lang="en-GB" sz="2800">
                <a:solidFill>
                  <a:srgbClr val="0069B4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GB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-GB" sz="2800">
                <a:solidFill>
                  <a:srgbClr val="0069B4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GB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&#10;&#10;Description automatically generated"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438" y="1981626"/>
            <a:ext cx="7703124" cy="1708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e&#10;&#10;Description automatically generated" id="171" name="Google Shape;1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4438" y="4002315"/>
            <a:ext cx="7703124" cy="17086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4343769" y="6023004"/>
            <a:ext cx="35044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1.5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1.3: Any times table</a:t>
            </a:r>
            <a:endParaRPr/>
          </a:p>
        </p:txBody>
      </p:sp>
      <p:pic>
        <p:nvPicPr>
          <p:cNvPr descr="A picture containing athletic game, basketball, sport&#10;&#10;Description automatically generated" id="178" name="Google Shape;1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1.4: Maths chain</a:t>
            </a:r>
            <a:endParaRPr/>
          </a:p>
        </p:txBody>
      </p:sp>
      <p:pic>
        <p:nvPicPr>
          <p:cNvPr descr="A picture containing athletic game, basketball, sport&#10;&#10;Description automatically generated" id="184" name="Google Shape;1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1589632" y="834573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1.5: Cell references</a:t>
            </a:r>
            <a:endParaRPr/>
          </a:p>
        </p:txBody>
      </p:sp>
      <p:pic>
        <p:nvPicPr>
          <p:cNvPr descr="A picture containing athletic game, basketball, sport&#10;&#10;Description automatically generated" id="190" name="Google Shape;1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