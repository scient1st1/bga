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9" name="Google Shape;9;p1"/>
          <p:cNvPicPr preferRelativeResize="0"/>
          <p:nvPr/>
        </p:nvPicPr>
        <p:blipFill rotWithShape="1">
          <a:blip r:embed="rId1">
            <a:alphaModFix/>
          </a:blip>
          <a:srcRect b="0" l="0" r="0" t="0"/>
          <a:stretch/>
        </p:blipFill>
        <p:spPr>
          <a:xfrm>
            <a:off x="0" y="0"/>
            <a:ext cx="12192000" cy="169561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813732" y="3010438"/>
            <a:ext cx="7062388" cy="91585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GB"/>
              <a:t>Introducing spreadsheets</a:t>
            </a:r>
            <a:endParaRPr/>
          </a:p>
        </p:txBody>
      </p:sp>
      <p:sp>
        <p:nvSpPr>
          <p:cNvPr id="81" name="Google Shape;81;p13"/>
          <p:cNvSpPr/>
          <p:nvPr/>
        </p:nvSpPr>
        <p:spPr>
          <a:xfrm>
            <a:off x="5578695" y="3926288"/>
            <a:ext cx="2297425"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GB" sz="2000" u="none" cap="none" strike="noStrike">
                <a:solidFill>
                  <a:srgbClr val="94C11F"/>
                </a:solidFill>
                <a:latin typeface="Calibri"/>
                <a:ea typeface="Calibri"/>
                <a:cs typeface="Calibri"/>
                <a:sym typeface="Calibri"/>
              </a:rPr>
              <a:t>Lesson 5: Modelling</a:t>
            </a:r>
            <a:endParaRPr b="1" i="0" sz="2000" u="none" cap="none" strike="noStrike">
              <a:solidFill>
                <a:srgbClr val="94C11F"/>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8069068" y="2704324"/>
            <a:ext cx="2937413" cy="2443928"/>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93635" y="832060"/>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93635" y="2767280"/>
            <a:ext cx="10285396" cy="169277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sz="32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spreadsheets are used to model different situations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to develop a spreadsheet so that different scenarios can be tested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use Goal Seek to answer what-if questions.</a:t>
            </a:r>
            <a:endParaRPr sz="2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nvSpPr>
        <p:spPr>
          <a:xfrm>
            <a:off x="1580322" y="832515"/>
            <a:ext cx="251223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rgbClr val="FFFFFF"/>
                </a:solidFill>
                <a:latin typeface="Calibri"/>
                <a:ea typeface="Calibri"/>
                <a:cs typeface="Calibri"/>
                <a:sym typeface="Calibri"/>
              </a:rPr>
              <a:t>Modelling</a:t>
            </a:r>
            <a:endParaRPr sz="1800">
              <a:solidFill>
                <a:schemeClr val="dk1"/>
              </a:solidFill>
              <a:latin typeface="Calibri"/>
              <a:ea typeface="Calibri"/>
              <a:cs typeface="Calibri"/>
              <a:sym typeface="Calibri"/>
            </a:endParaRPr>
          </a:p>
        </p:txBody>
      </p:sp>
      <p:pic>
        <p:nvPicPr>
          <p:cNvPr descr="A picture containing website&#10;&#10;Description automatically generated" id="94" name="Google Shape;94;p15"/>
          <p:cNvPicPr preferRelativeResize="0"/>
          <p:nvPr/>
        </p:nvPicPr>
        <p:blipFill rotWithShape="1">
          <a:blip r:embed="rId3">
            <a:alphaModFix/>
          </a:blip>
          <a:srcRect b="0" l="0" r="0" t="0"/>
          <a:stretch/>
        </p:blipFill>
        <p:spPr>
          <a:xfrm>
            <a:off x="2702615" y="1856408"/>
            <a:ext cx="6786770" cy="45245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1591812" y="819659"/>
            <a:ext cx="9753599"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Modelling</a:t>
            </a:r>
            <a:endParaRPr/>
          </a:p>
        </p:txBody>
      </p:sp>
      <p:sp>
        <p:nvSpPr>
          <p:cNvPr id="100" name="Google Shape;100;p16"/>
          <p:cNvSpPr/>
          <p:nvPr/>
        </p:nvSpPr>
        <p:spPr>
          <a:xfrm>
            <a:off x="1591812" y="2168738"/>
            <a:ext cx="8774596" cy="3401637"/>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800">
                <a:solidFill>
                  <a:srgbClr val="0069B4"/>
                </a:solidFill>
                <a:latin typeface="Calibri"/>
                <a:ea typeface="Calibri"/>
                <a:cs typeface="Calibri"/>
                <a:sym typeface="Calibri"/>
              </a:rPr>
              <a:t>Modelling</a:t>
            </a:r>
            <a:r>
              <a:rPr lang="en-GB" sz="2800">
                <a:solidFill>
                  <a:schemeClr val="dk1"/>
                </a:solidFill>
                <a:latin typeface="Calibri"/>
                <a:ea typeface="Calibri"/>
                <a:cs typeface="Calibri"/>
                <a:sym typeface="Calibri"/>
              </a:rPr>
              <a:t> allows us to predict what is likely to happen when something changes, for example, working out how much profit will be made if prices change.</a:t>
            </a:r>
            <a:endParaRPr/>
          </a:p>
          <a:p>
            <a:pPr indent="0" lvl="0" marL="0" marR="0" rtl="0" algn="l">
              <a:lnSpc>
                <a:spcPct val="107000"/>
              </a:lnSpc>
              <a:spcBef>
                <a:spcPts val="800"/>
              </a:spcBef>
              <a:spcAft>
                <a:spcPts val="0"/>
              </a:spcAft>
              <a:buNone/>
            </a:pPr>
            <a:r>
              <a:rPr lang="en-GB" sz="2800">
                <a:solidFill>
                  <a:schemeClr val="dk1"/>
                </a:solidFill>
                <a:latin typeface="Calibri"/>
                <a:ea typeface="Calibri"/>
                <a:cs typeface="Calibri"/>
                <a:sym typeface="Calibri"/>
              </a:rPr>
              <a:t>Spreadsheets are excellent for modelling because it is easy to set them up and perform calculations on data. It is also possible to try out lots of different scenarios to find the best result.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1591812" y="819659"/>
            <a:ext cx="9753599"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Uses of modelling</a:t>
            </a:r>
            <a:endParaRPr/>
          </a:p>
        </p:txBody>
      </p:sp>
      <p:sp>
        <p:nvSpPr>
          <p:cNvPr id="106" name="Google Shape;106;p17"/>
          <p:cNvSpPr/>
          <p:nvPr/>
        </p:nvSpPr>
        <p:spPr>
          <a:xfrm>
            <a:off x="1591811" y="2139978"/>
            <a:ext cx="8245207" cy="4700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Modelling is used for many different purposes, including:</a:t>
            </a:r>
            <a:endParaRPr/>
          </a:p>
        </p:txBody>
      </p:sp>
      <p:sp>
        <p:nvSpPr>
          <p:cNvPr id="107" name="Google Shape;107;p17"/>
          <p:cNvSpPr/>
          <p:nvPr/>
        </p:nvSpPr>
        <p:spPr>
          <a:xfrm>
            <a:off x="1591811" y="2609978"/>
            <a:ext cx="4722362" cy="3646576"/>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7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weather forecasting</a:t>
            </a:r>
            <a:endParaRPr/>
          </a:p>
          <a:p>
            <a:pPr indent="-342900" lvl="0" marL="342900" marR="0" rtl="0" algn="l">
              <a:lnSpc>
                <a:spcPct val="107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financial decision making, including budgeting</a:t>
            </a:r>
            <a:endParaRPr/>
          </a:p>
          <a:p>
            <a:pPr indent="-342900" lvl="0" marL="342900" marR="0" rtl="0" algn="l">
              <a:lnSpc>
                <a:spcPct val="107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science:</a:t>
            </a:r>
            <a:endParaRPr/>
          </a:p>
          <a:p>
            <a:pPr indent="-342900" lvl="1" marL="800100" marR="0" rtl="0" algn="l">
              <a:lnSpc>
                <a:spcPct val="107000"/>
              </a:lnSpc>
              <a:spcBef>
                <a:spcPts val="80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epidemiology</a:t>
            </a:r>
            <a:endParaRPr/>
          </a:p>
          <a:p>
            <a:pPr indent="-342900" lvl="0" marL="342900" marR="0" rtl="0" algn="l">
              <a:lnSpc>
                <a:spcPct val="107000"/>
              </a:lnSpc>
              <a:spcBef>
                <a:spcPts val="80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engineering:</a:t>
            </a:r>
            <a:endParaRPr/>
          </a:p>
          <a:p>
            <a:pPr indent="-342900" lvl="1" marL="800100" marR="0" rtl="0" algn="l">
              <a:lnSpc>
                <a:spcPct val="107000"/>
              </a:lnSpc>
              <a:spcBef>
                <a:spcPts val="80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bridge design</a:t>
            </a:r>
            <a:endParaRPr/>
          </a:p>
          <a:p>
            <a:pPr indent="-342900" lvl="1" marL="800100" marR="0" rtl="0" algn="l">
              <a:lnSpc>
                <a:spcPct val="107000"/>
              </a:lnSpc>
              <a:spcBef>
                <a:spcPts val="80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rollercoaster design.</a:t>
            </a:r>
            <a:endParaRPr/>
          </a:p>
        </p:txBody>
      </p:sp>
      <p:pic>
        <p:nvPicPr>
          <p:cNvPr descr="A picture containing bridge, building, outdoor, ride&#10;&#10;Description automatically generated" id="108" name="Google Shape;108;p17"/>
          <p:cNvPicPr preferRelativeResize="0"/>
          <p:nvPr/>
        </p:nvPicPr>
        <p:blipFill rotWithShape="1">
          <a:blip r:embed="rId3">
            <a:alphaModFix/>
          </a:blip>
          <a:srcRect b="0" l="0" r="0" t="0"/>
          <a:stretch/>
        </p:blipFill>
        <p:spPr>
          <a:xfrm>
            <a:off x="6314173" y="2890100"/>
            <a:ext cx="4722362" cy="31482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1560442" y="834887"/>
            <a:ext cx="9793357" cy="8558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Sweet shop</a:t>
            </a:r>
            <a:endParaRPr/>
          </a:p>
        </p:txBody>
      </p:sp>
      <p:sp>
        <p:nvSpPr>
          <p:cNvPr id="114" name="Google Shape;114;p18"/>
          <p:cNvSpPr/>
          <p:nvPr/>
        </p:nvSpPr>
        <p:spPr>
          <a:xfrm>
            <a:off x="1560442" y="2403655"/>
            <a:ext cx="4052418" cy="205069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This spreadsheet allows us to set a budget and then model how we can best spend the money to buy a wide range of different sweets.</a:t>
            </a:r>
            <a:endParaRPr/>
          </a:p>
        </p:txBody>
      </p:sp>
      <p:pic>
        <p:nvPicPr>
          <p:cNvPr descr="Graphical user interface, table, Excel&#10;&#10;Description automatically generated" id="115" name="Google Shape;115;p18"/>
          <p:cNvPicPr preferRelativeResize="0"/>
          <p:nvPr/>
        </p:nvPicPr>
        <p:blipFill rotWithShape="1">
          <a:blip r:embed="rId3">
            <a:alphaModFix/>
          </a:blip>
          <a:srcRect b="0" l="0" r="0" t="0"/>
          <a:stretch/>
        </p:blipFill>
        <p:spPr>
          <a:xfrm>
            <a:off x="6096000" y="2172512"/>
            <a:ext cx="4535558" cy="3645712"/>
          </a:xfrm>
          <a:prstGeom prst="rect">
            <a:avLst/>
          </a:prstGeom>
          <a:noFill/>
          <a:ln>
            <a:noFill/>
          </a:ln>
        </p:spPr>
      </p:pic>
      <p:sp>
        <p:nvSpPr>
          <p:cNvPr id="116" name="Google Shape;116;p18"/>
          <p:cNvSpPr/>
          <p:nvPr/>
        </p:nvSpPr>
        <p:spPr>
          <a:xfrm>
            <a:off x="1560442" y="5171429"/>
            <a:ext cx="3258342"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GB" sz="2800">
                <a:solidFill>
                  <a:schemeClr val="dk1"/>
                </a:solidFill>
                <a:latin typeface="Calibri"/>
                <a:ea typeface="Calibri"/>
                <a:cs typeface="Calibri"/>
                <a:sym typeface="Calibri"/>
              </a:rPr>
              <a:t>Now watch video 5.1</a:t>
            </a:r>
            <a:endParaRPr i="1" sz="2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500"/>
                                        <p:tgtEl>
                                          <p:spTgt spid="116"/>
                                        </p:tgtEl>
                                        <p:attrNameLst>
                                          <p:attrName>ppt_w</p:attrName>
                                        </p:attrNameLst>
                                      </p:cBhvr>
                                      <p:tavLst>
                                        <p:tav fmla="" tm="0">
                                          <p:val>
                                            <p:strVal val="0"/>
                                          </p:val>
                                        </p:tav>
                                        <p:tav fmla="" tm="100000">
                                          <p:val>
                                            <p:strVal val="#ppt_w"/>
                                          </p:val>
                                        </p:tav>
                                      </p:tavLst>
                                    </p:anim>
                                    <p:anim calcmode="lin" valueType="num">
                                      <p:cBhvr additive="base">
                                        <p:cTn dur="500"/>
                                        <p:tgtEl>
                                          <p:spTgt spid="11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1589632" y="824949"/>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5.1: Sweet shop</a:t>
            </a:r>
            <a:endParaRPr/>
          </a:p>
        </p:txBody>
      </p:sp>
      <p:pic>
        <p:nvPicPr>
          <p:cNvPr descr="A picture containing athletic game, basketball, sport&#10;&#10;Description automatically generated" id="122" name="Google Shape;122;p19"/>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1600200" y="815009"/>
            <a:ext cx="9753600" cy="87567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Goal Seek</a:t>
            </a:r>
            <a:endParaRPr/>
          </a:p>
        </p:txBody>
      </p:sp>
      <p:sp>
        <p:nvSpPr>
          <p:cNvPr id="128" name="Google Shape;128;p20"/>
          <p:cNvSpPr/>
          <p:nvPr/>
        </p:nvSpPr>
        <p:spPr>
          <a:xfrm>
            <a:off x="1600200" y="2125564"/>
            <a:ext cx="8852836" cy="2940613"/>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800">
                <a:solidFill>
                  <a:srgbClr val="0069B4"/>
                </a:solidFill>
                <a:latin typeface="Calibri"/>
                <a:ea typeface="Calibri"/>
                <a:cs typeface="Calibri"/>
                <a:sym typeface="Calibri"/>
              </a:rPr>
              <a:t>Goal Seek </a:t>
            </a:r>
            <a:r>
              <a:rPr lang="en-GB" sz="2800">
                <a:solidFill>
                  <a:schemeClr val="dk1"/>
                </a:solidFill>
                <a:latin typeface="Calibri"/>
                <a:ea typeface="Calibri"/>
                <a:cs typeface="Calibri"/>
                <a:sym typeface="Calibri"/>
              </a:rPr>
              <a:t>is a spreadsheet tool that</a:t>
            </a:r>
            <a:r>
              <a:rPr lang="en-GB" sz="2800">
                <a:solidFill>
                  <a:srgbClr val="C45911"/>
                </a:solidFill>
                <a:latin typeface="Calibri"/>
                <a:ea typeface="Calibri"/>
                <a:cs typeface="Calibri"/>
                <a:sym typeface="Calibri"/>
              </a:rPr>
              <a:t> </a:t>
            </a:r>
            <a:r>
              <a:rPr lang="en-GB" sz="2800">
                <a:solidFill>
                  <a:schemeClr val="dk1"/>
                </a:solidFill>
                <a:latin typeface="Calibri"/>
                <a:ea typeface="Calibri"/>
                <a:cs typeface="Calibri"/>
                <a:sym typeface="Calibri"/>
              </a:rPr>
              <a:t>allows you to see how changing one value in a formula affects another.</a:t>
            </a:r>
            <a:endParaRPr/>
          </a:p>
          <a:p>
            <a:pPr indent="0" lvl="0" marL="0" marR="0" rtl="0" algn="l">
              <a:lnSpc>
                <a:spcPct val="107000"/>
              </a:lnSpc>
              <a:spcBef>
                <a:spcPts val="800"/>
              </a:spcBef>
              <a:spcAft>
                <a:spcPts val="0"/>
              </a:spcAft>
              <a:buNone/>
            </a:pPr>
            <a:r>
              <a:rPr lang="en-GB" sz="2800">
                <a:solidFill>
                  <a:schemeClr val="dk1"/>
                </a:solidFill>
                <a:latin typeface="Calibri"/>
                <a:ea typeface="Calibri"/>
                <a:cs typeface="Calibri"/>
                <a:sym typeface="Calibri"/>
              </a:rPr>
              <a:t>It enables you to ask what-if questions to achieve a </a:t>
            </a:r>
            <a:r>
              <a:rPr b="1" lang="en-GB" sz="2800">
                <a:solidFill>
                  <a:schemeClr val="dk1"/>
                </a:solidFill>
                <a:latin typeface="Calibri"/>
                <a:ea typeface="Calibri"/>
                <a:cs typeface="Calibri"/>
                <a:sym typeface="Calibri"/>
              </a:rPr>
              <a:t>specific goal</a:t>
            </a:r>
            <a:r>
              <a:rPr lang="en-GB" sz="2800">
                <a:solidFill>
                  <a:schemeClr val="dk1"/>
                </a:solidFill>
                <a:latin typeface="Calibri"/>
                <a:ea typeface="Calibri"/>
                <a:cs typeface="Calibri"/>
                <a:sym typeface="Calibri"/>
              </a:rPr>
              <a:t>, for example, you can use it to find out the price you need to sell an item for in order to make a certain amount of profit.</a:t>
            </a:r>
            <a:endParaRPr/>
          </a:p>
        </p:txBody>
      </p:sp>
      <p:sp>
        <p:nvSpPr>
          <p:cNvPr id="129" name="Google Shape;129;p20"/>
          <p:cNvSpPr/>
          <p:nvPr/>
        </p:nvSpPr>
        <p:spPr>
          <a:xfrm>
            <a:off x="4466829" y="5501053"/>
            <a:ext cx="3258342"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GB" sz="2800">
                <a:solidFill>
                  <a:schemeClr val="dk1"/>
                </a:solidFill>
                <a:latin typeface="Calibri"/>
                <a:ea typeface="Calibri"/>
                <a:cs typeface="Calibri"/>
                <a:sym typeface="Calibri"/>
              </a:rPr>
              <a:t>Now watch video 5.2</a:t>
            </a:r>
            <a:endParaRPr i="1" sz="2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500"/>
                                        <p:tgtEl>
                                          <p:spTgt spid="129"/>
                                        </p:tgtEl>
                                        <p:attrNameLst>
                                          <p:attrName>ppt_w</p:attrName>
                                        </p:attrNameLst>
                                      </p:cBhvr>
                                      <p:tavLst>
                                        <p:tav fmla="" tm="0">
                                          <p:val>
                                            <p:strVal val="0"/>
                                          </p:val>
                                        </p:tav>
                                        <p:tav fmla="" tm="100000">
                                          <p:val>
                                            <p:strVal val="#ppt_w"/>
                                          </p:val>
                                        </p:tav>
                                      </p:tavLst>
                                    </p:anim>
                                    <p:anim calcmode="lin" valueType="num">
                                      <p:cBhvr additive="base">
                                        <p:cTn dur="500"/>
                                        <p:tgtEl>
                                          <p:spTgt spid="1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1589632" y="824949"/>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Cupcake challenge</a:t>
            </a:r>
            <a:endParaRPr/>
          </a:p>
        </p:txBody>
      </p:sp>
      <p:pic>
        <p:nvPicPr>
          <p:cNvPr descr="A picture containing athletic game, basketball, sport&#10;&#10;Description automatically generated" id="135" name="Google Shape;135;p21"/>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