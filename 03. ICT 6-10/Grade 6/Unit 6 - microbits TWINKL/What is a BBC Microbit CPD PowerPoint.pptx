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3"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9144000"/>
  <p:notesSz cx="6858000" cy="9144000"/>
  <p:embeddedFontLst>
    <p:embeddedFont>
      <p:font typeface="Roboto"/>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guide id="3" pos="363">
          <p15:clr>
            <a:srgbClr val="A4A3A4"/>
          </p15:clr>
        </p15:guide>
        <p15:guide id="4" orient="horz" pos="3974">
          <p15:clr>
            <a:srgbClr val="A4A3A4"/>
          </p15:clr>
        </p15:guide>
        <p15:guide id="5" pos="5397">
          <p15:clr>
            <a:srgbClr val="A4A3A4"/>
          </p15:clr>
        </p15:guide>
        <p15:guide id="6" orient="horz" pos="346">
          <p15:clr>
            <a:srgbClr val="A4A3A4"/>
          </p15:clr>
        </p15:guide>
        <p15:guide id="7" pos="476">
          <p15:clr>
            <a:srgbClr val="A4A3A4"/>
          </p15:clr>
        </p15:guide>
        <p15:guide id="8" orient="horz" pos="459">
          <p15:clr>
            <a:srgbClr val="A4A3A4"/>
          </p15:clr>
        </p15:guide>
        <p15:guide id="9" orient="horz" pos="3861">
          <p15:clr>
            <a:srgbClr val="A4A3A4"/>
          </p15:clr>
        </p15:guide>
        <p15:guide id="10" pos="528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723C53E-BFF9-41A3-9265-173A0E94BE03}">
  <a:tblStyle styleId="{B723C53E-BFF9-41A3-9265-173A0E94BE0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 pos="363"/>
        <p:guide pos="3974" orient="horz"/>
        <p:guide pos="5397"/>
        <p:guide pos="346" orient="horz"/>
        <p:guide pos="476"/>
        <p:guide pos="459" orient="horz"/>
        <p:guide pos="3861" orient="horz"/>
        <p:guide pos="5284"/>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Roboto-bold.fntdata"/><Relationship Id="rId14" Type="http://schemas.openxmlformats.org/officeDocument/2006/relationships/slide" Target="slides/slide8.xml"/><Relationship Id="rId36" Type="http://schemas.openxmlformats.org/officeDocument/2006/relationships/font" Target="fonts/Roboto-regular.fntdata"/><Relationship Id="rId17" Type="http://schemas.openxmlformats.org/officeDocument/2006/relationships/slide" Target="slides/slide11.xml"/><Relationship Id="rId39" Type="http://schemas.openxmlformats.org/officeDocument/2006/relationships/font" Target="fonts/Roboto-boldItalic.fntdata"/><Relationship Id="rId16" Type="http://schemas.openxmlformats.org/officeDocument/2006/relationships/slide" Target="slides/slide10.xml"/><Relationship Id="rId38" Type="http://schemas.openxmlformats.org/officeDocument/2006/relationships/font" Target="fonts/Roboto-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 name="Google Shape;28;p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 name="Google Shape;41;p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 name="Google Shape;45;p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 name="Google Shape;61;p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 name="Google Shape;68;p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 name="Google Shape;79;p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 name="Google Shape;90;p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 name="Google Shape;98;p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 name="Google Shape;112;p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7" name="Google Shape;12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 name="Google Shape;148;p1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6" name="Google Shape;166;p1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6" name="Google Shape;196;p1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1" name="Google Shape;211;p1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5" name="Google Shape;255;p1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 name="Google Shape;275;p1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0" name="Google Shape;330;p1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1" name="Google Shape;371;p1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8" name="Google Shape;388;p1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8" name="Google Shape;408;p2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2" name="Google Shape;422;p2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9" name="Google Shape;439;p2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2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2" name="Google Shape;452;p2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2" name="Google Shape;462;p2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 name="Google Shape;472;p2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2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1" name="Google Shape;481;p2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p2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p2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2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9" name="Google Shape;509;p2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2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hyperlink" Target="https://www.twinkl.co.uk/resources/twinkl-partnerships/bbc-teach-live-lessons-partnerships/bbc-microbit-bbc-teach"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hyperlink" Target="https://www.twinkl.co.uk/" TargetMode="External"/><Relationship Id="rId4" Type="http://schemas.openxmlformats.org/officeDocument/2006/relationships/hyperlink" Target="https://www.twinkl.co.uk/resources/twinkl-partnerships/bbc-teach-live-lessons-partnerships/bbc-microbit-bbc-teach"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p:cSld name="Content Slide">
    <p:bg>
      <p:bgPr>
        <a:solidFill>
          <a:srgbClr val="6C4BC1"/>
        </a:solidFill>
      </p:bgPr>
    </p:bg>
    <p:spTree>
      <p:nvGrpSpPr>
        <p:cNvPr id="12" name="Shape 12"/>
        <p:cNvGrpSpPr/>
        <p:nvPr/>
      </p:nvGrpSpPr>
      <p:grpSpPr>
        <a:xfrm>
          <a:off x="0" y="0"/>
          <a:ext cx="0" cy="0"/>
          <a:chOff x="0" y="0"/>
          <a:chExt cx="0" cy="0"/>
        </a:xfrm>
      </p:grpSpPr>
      <p:sp>
        <p:nvSpPr>
          <p:cNvPr id="13" name="Google Shape;13;p2"/>
          <p:cNvSpPr/>
          <p:nvPr/>
        </p:nvSpPr>
        <p:spPr>
          <a:xfrm>
            <a:off x="457199" y="438151"/>
            <a:ext cx="8220075" cy="5957887"/>
          </a:xfrm>
          <a:prstGeom prst="roundRect">
            <a:avLst>
              <a:gd fmla="val 2649" name="adj"/>
            </a:avLst>
          </a:prstGeom>
          <a:solidFill>
            <a:schemeClr val="lt1"/>
          </a:solidFill>
          <a:ln cap="rnd" cmpd="sng" w="25400">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350" u="none" cap="none" strike="noStrike">
                <a:solidFill>
                  <a:schemeClr val="lt1"/>
                </a:solidFill>
                <a:latin typeface="Arial"/>
                <a:ea typeface="Arial"/>
                <a:cs typeface="Arial"/>
                <a:sym typeface="Arial"/>
              </a:rPr>
              <a:t>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4" name="Shape 14"/>
        <p:cNvGrpSpPr/>
        <p:nvPr/>
      </p:nvGrpSpPr>
      <p:grpSpPr>
        <a:xfrm>
          <a:off x="0" y="0"/>
          <a:ext cx="0" cy="0"/>
          <a:chOff x="0" y="0"/>
          <a:chExt cx="0" cy="0"/>
        </a:xfrm>
      </p:grpSpPr>
      <p:sp>
        <p:nvSpPr>
          <p:cNvPr id="15" name="Google Shape;15;p3">
            <a:hlinkClick r:id="rId3"/>
          </p:cNvPr>
          <p:cNvSpPr/>
          <p:nvPr/>
        </p:nvSpPr>
        <p:spPr>
          <a:xfrm>
            <a:off x="247199" y="5862827"/>
            <a:ext cx="1042047" cy="75947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p:cSld name="End Slide">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a:hlinkClick r:id="rId3"/>
          </p:cNvPr>
          <p:cNvSpPr/>
          <p:nvPr/>
        </p:nvSpPr>
        <p:spPr>
          <a:xfrm>
            <a:off x="4137660" y="3152488"/>
            <a:ext cx="868680" cy="55302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 name="Google Shape;18;p4">
            <a:hlinkClick r:id="rId4"/>
          </p:cNvPr>
          <p:cNvSpPr/>
          <p:nvPr/>
        </p:nvSpPr>
        <p:spPr>
          <a:xfrm>
            <a:off x="247199" y="5862827"/>
            <a:ext cx="1042047" cy="75947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lanIt Cover Slide">
  <p:cSld name="PlanIt Cover Slide">
    <p:spTree>
      <p:nvGrpSpPr>
        <p:cNvPr id="19" name="Shape 19"/>
        <p:cNvGrpSpPr/>
        <p:nvPr/>
      </p:nvGrpSpPr>
      <p:grpSpPr>
        <a:xfrm>
          <a:off x="0" y="0"/>
          <a:ext cx="0" cy="0"/>
          <a:chOff x="0" y="0"/>
          <a:chExt cx="0" cy="0"/>
        </a:xfrm>
      </p:grpSpPr>
      <p:pic>
        <p:nvPicPr>
          <p:cNvPr id="20" name="Google Shape;20;p5"/>
          <p:cNvPicPr preferRelativeResize="0"/>
          <p:nvPr/>
        </p:nvPicPr>
        <p:blipFill rotWithShape="1">
          <a:blip r:embed="rId2">
            <a:alphaModFix/>
          </a:blip>
          <a:srcRect b="0" l="0" r="0" t="0"/>
          <a:stretch/>
        </p:blipFill>
        <p:spPr>
          <a:xfrm>
            <a:off x="3599" y="-17924"/>
            <a:ext cx="9136802" cy="6881348"/>
          </a:xfrm>
          <a:prstGeom prst="rect">
            <a:avLst/>
          </a:prstGeom>
          <a:noFill/>
          <a:ln>
            <a:noFill/>
          </a:ln>
        </p:spPr>
      </p:pic>
      <p:sp>
        <p:nvSpPr>
          <p:cNvPr id="21" name="Google Shape;21;p5"/>
          <p:cNvSpPr/>
          <p:nvPr/>
        </p:nvSpPr>
        <p:spPr>
          <a:xfrm>
            <a:off x="0" y="6251423"/>
            <a:ext cx="9144000" cy="612000"/>
          </a:xfrm>
          <a:prstGeom prst="rect">
            <a:avLst/>
          </a:prstGeom>
          <a:solidFill>
            <a:srgbClr val="ED7A1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2" name="Google Shape;22;p5"/>
          <p:cNvPicPr preferRelativeResize="0"/>
          <p:nvPr/>
        </p:nvPicPr>
        <p:blipFill rotWithShape="1">
          <a:blip r:embed="rId3">
            <a:alphaModFix/>
          </a:blip>
          <a:srcRect b="0" l="0" r="0" t="0"/>
          <a:stretch/>
        </p:blipFill>
        <p:spPr>
          <a:xfrm>
            <a:off x="3764823" y="982608"/>
            <a:ext cx="1614353" cy="1071343"/>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ims Slide">
  <p:cSld name="Aims Slide">
    <p:spTree>
      <p:nvGrpSpPr>
        <p:cNvPr id="23" name="Shape 23"/>
        <p:cNvGrpSpPr/>
        <p:nvPr/>
      </p:nvGrpSpPr>
      <p:grpSpPr>
        <a:xfrm>
          <a:off x="0" y="0"/>
          <a:ext cx="0" cy="0"/>
          <a:chOff x="0" y="0"/>
          <a:chExt cx="0" cy="0"/>
        </a:xfrm>
      </p:grpSpPr>
      <p:sp>
        <p:nvSpPr>
          <p:cNvPr id="24" name="Google Shape;24;p6"/>
          <p:cNvSpPr/>
          <p:nvPr/>
        </p:nvSpPr>
        <p:spPr>
          <a:xfrm>
            <a:off x="457198" y="2930434"/>
            <a:ext cx="8220076" cy="3465604"/>
          </a:xfrm>
          <a:prstGeom prst="roundRect">
            <a:avLst>
              <a:gd fmla="val 6409" name="adj"/>
            </a:avLst>
          </a:prstGeom>
          <a:solidFill>
            <a:srgbClr val="FFF9E7"/>
          </a:solidFill>
          <a:ln cap="rnd" cmpd="sng" w="25400">
            <a:solidFill>
              <a:srgbClr val="FEFBDA"/>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GB" sz="1350">
                <a:solidFill>
                  <a:schemeClr val="lt1"/>
                </a:solidFill>
                <a:latin typeface="Arial"/>
                <a:ea typeface="Arial"/>
                <a:cs typeface="Arial"/>
                <a:sym typeface="Arial"/>
              </a:rPr>
              <a:t> </a:t>
            </a:r>
            <a:endParaRPr/>
          </a:p>
        </p:txBody>
      </p:sp>
      <p:sp>
        <p:nvSpPr>
          <p:cNvPr id="25" name="Google Shape;25;p6"/>
          <p:cNvSpPr/>
          <p:nvPr/>
        </p:nvSpPr>
        <p:spPr>
          <a:xfrm>
            <a:off x="457200" y="438151"/>
            <a:ext cx="8220074" cy="2267631"/>
          </a:xfrm>
          <a:prstGeom prst="roundRect">
            <a:avLst>
              <a:gd fmla="val 6409" name="adj"/>
            </a:avLst>
          </a:prstGeom>
          <a:solidFill>
            <a:srgbClr val="FFF9E7"/>
          </a:solidFill>
          <a:ln cap="rnd" cmpd="sng" w="25400">
            <a:solidFill>
              <a:srgbClr val="FEFBDA"/>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GB" sz="1350">
                <a:solidFill>
                  <a:schemeClr val="lt1"/>
                </a:solidFill>
                <a:latin typeface="Arial"/>
                <a:ea typeface="Arial"/>
                <a:cs typeface="Arial"/>
                <a:sym typeface="Arial"/>
              </a:rPr>
              <a:t>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
        <p:nvSpPr>
          <p:cNvPr id="10" name="Google Shape;10;p1"/>
          <p:cNvSpPr/>
          <p:nvPr>
            <p:ph type="title"/>
          </p:nvPr>
        </p:nvSpPr>
        <p:spPr>
          <a:xfrm>
            <a:off x="489745" y="695325"/>
            <a:ext cx="8164510" cy="1150938"/>
          </a:xfrm>
          <a:prstGeom prst="roundRect">
            <a:avLst>
              <a:gd fmla="val 9641" name="adj"/>
            </a:avLst>
          </a:prstGeom>
          <a:noFill/>
          <a:ln>
            <a:noFill/>
          </a:ln>
        </p:spPr>
        <p:txBody>
          <a:bodyPr anchorCtr="1" anchor="ctr" bIns="252000" lIns="252000" spcFirstLastPara="1" rIns="252000" wrap="square" tIns="252000">
            <a:noAutofit/>
          </a:bodyPr>
          <a:lstStyle>
            <a:lvl1pPr lvl="0" marR="0" rtl="0" algn="l">
              <a:lnSpc>
                <a:spcPct val="90000"/>
              </a:lnSpc>
              <a:spcBef>
                <a:spcPts val="0"/>
              </a:spcBef>
              <a:spcAft>
                <a:spcPts val="0"/>
              </a:spcAft>
              <a:buClr>
                <a:srgbClr val="1C1C1C"/>
              </a:buClr>
              <a:buSzPts val="4000"/>
              <a:buFont typeface="Arial"/>
              <a:buNone/>
              <a:defRPr b="1" i="0" sz="4000" u="none" cap="none" strike="noStrike">
                <a:solidFill>
                  <a:srgbClr val="1C1C1C"/>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p:nvPr>
            <p:ph idx="1" type="body"/>
          </p:nvPr>
        </p:nvSpPr>
        <p:spPr>
          <a:xfrm>
            <a:off x="489745" y="1957386"/>
            <a:ext cx="8164510" cy="4387851"/>
          </a:xfrm>
          <a:prstGeom prst="roundRect">
            <a:avLst>
              <a:gd fmla="val 2585" name="adj"/>
            </a:avLst>
          </a:prstGeom>
          <a:noFill/>
          <a:ln>
            <a:noFill/>
          </a:ln>
        </p:spPr>
        <p:txBody>
          <a:bodyPr anchorCtr="0" anchor="t" bIns="252000" lIns="252000" spcFirstLastPara="1" rIns="252000" wrap="square" tIns="252000">
            <a:noAutofit/>
          </a:bodyPr>
          <a:lstStyle>
            <a:lvl1pPr indent="-342900" lvl="0" marL="457200" marR="0" rtl="0" algn="l">
              <a:lnSpc>
                <a:spcPct val="90000"/>
              </a:lnSpc>
              <a:spcBef>
                <a:spcPts val="1000"/>
              </a:spcBef>
              <a:spcAft>
                <a:spcPts val="0"/>
              </a:spcAft>
              <a:buClr>
                <a:srgbClr val="1C1C1C"/>
              </a:buClr>
              <a:buSzPts val="1800"/>
              <a:buFont typeface="Arial"/>
              <a:buChar char="•"/>
              <a:defRPr b="0" i="0" sz="1800" u="none" cap="none" strike="noStrike">
                <a:solidFill>
                  <a:srgbClr val="1C1C1C"/>
                </a:solidFill>
                <a:latin typeface="Arial"/>
                <a:ea typeface="Arial"/>
                <a:cs typeface="Arial"/>
                <a:sym typeface="Arial"/>
              </a:defRPr>
            </a:lvl1pPr>
            <a:lvl2pPr indent="-330200" lvl="1" marL="914400" marR="0" rtl="0" algn="l">
              <a:lnSpc>
                <a:spcPct val="90000"/>
              </a:lnSpc>
              <a:spcBef>
                <a:spcPts val="500"/>
              </a:spcBef>
              <a:spcAft>
                <a:spcPts val="0"/>
              </a:spcAft>
              <a:buClr>
                <a:srgbClr val="1C1C1C"/>
              </a:buClr>
              <a:buSzPts val="1600"/>
              <a:buFont typeface="Arial"/>
              <a:buChar char="•"/>
              <a:defRPr b="0" i="0" sz="1600" u="none" cap="none" strike="noStrike">
                <a:solidFill>
                  <a:srgbClr val="1C1C1C"/>
                </a:solidFill>
                <a:latin typeface="Arial"/>
                <a:ea typeface="Arial"/>
                <a:cs typeface="Arial"/>
                <a:sym typeface="Arial"/>
              </a:defRPr>
            </a:lvl2pPr>
            <a:lvl3pPr indent="-317500" lvl="2" marL="1371600" marR="0" rtl="0" algn="l">
              <a:lnSpc>
                <a:spcPct val="90000"/>
              </a:lnSpc>
              <a:spcBef>
                <a:spcPts val="500"/>
              </a:spcBef>
              <a:spcAft>
                <a:spcPts val="0"/>
              </a:spcAft>
              <a:buClr>
                <a:srgbClr val="1C1C1C"/>
              </a:buClr>
              <a:buSzPts val="1400"/>
              <a:buFont typeface="Arial"/>
              <a:buChar char="•"/>
              <a:defRPr b="0" i="0" sz="1400" u="none" cap="none" strike="noStrike">
                <a:solidFill>
                  <a:srgbClr val="1C1C1C"/>
                </a:solidFill>
                <a:latin typeface="Arial"/>
                <a:ea typeface="Arial"/>
                <a:cs typeface="Arial"/>
                <a:sym typeface="Arial"/>
              </a:defRPr>
            </a:lvl3pPr>
            <a:lvl4pPr indent="-317500" lvl="3" marL="1828800" marR="0" rtl="0" algn="l">
              <a:lnSpc>
                <a:spcPct val="90000"/>
              </a:lnSpc>
              <a:spcBef>
                <a:spcPts val="500"/>
              </a:spcBef>
              <a:spcAft>
                <a:spcPts val="0"/>
              </a:spcAft>
              <a:buClr>
                <a:srgbClr val="1C1C1C"/>
              </a:buClr>
              <a:buSzPts val="1400"/>
              <a:buFont typeface="Arial"/>
              <a:buChar char="•"/>
              <a:defRPr b="0" i="0" sz="1400" u="none" cap="none" strike="noStrike">
                <a:solidFill>
                  <a:srgbClr val="1C1C1C"/>
                </a:solidFill>
                <a:latin typeface="Arial"/>
                <a:ea typeface="Arial"/>
                <a:cs typeface="Arial"/>
                <a:sym typeface="Arial"/>
              </a:defRPr>
            </a:lvl4pPr>
            <a:lvl5pPr indent="-317500" lvl="4" marL="2286000" marR="0" rtl="0" algn="l">
              <a:lnSpc>
                <a:spcPct val="90000"/>
              </a:lnSpc>
              <a:spcBef>
                <a:spcPts val="500"/>
              </a:spcBef>
              <a:spcAft>
                <a:spcPts val="0"/>
              </a:spcAft>
              <a:buClr>
                <a:srgbClr val="1C1C1C"/>
              </a:buClr>
              <a:buSzPts val="1400"/>
              <a:buFont typeface="Arial"/>
              <a:buChar char="•"/>
              <a:defRPr b="0" i="0" sz="1400" u="none" cap="none" strike="noStrike">
                <a:solidFill>
                  <a:srgbClr val="1C1C1C"/>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slide" Target="/ppt/slides/slide11.xml"/><Relationship Id="rId8" Type="http://schemas.openxmlformats.org/officeDocument/2006/relationships/slide" Target="/ppt/slid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jpg"/><Relationship Id="rId4" Type="http://schemas.openxmlformats.org/officeDocument/2006/relationships/image" Target="../media/image19.png"/><Relationship Id="rId5" Type="http://schemas.openxmlformats.org/officeDocument/2006/relationships/image" Target="../media/image18.png"/><Relationship Id="rId6"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9" Type="http://schemas.openxmlformats.org/officeDocument/2006/relationships/image" Target="../media/image23.png"/><Relationship Id="rId5" Type="http://schemas.openxmlformats.org/officeDocument/2006/relationships/image" Target="../media/image25.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8.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4.png"/><Relationship Id="rId7" Type="http://schemas.openxmlformats.org/officeDocument/2006/relationships/image" Target="../media/image29.png"/><Relationship Id="rId8"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41.png"/><Relationship Id="rId5" Type="http://schemas.openxmlformats.org/officeDocument/2006/relationships/hyperlink" Target="https://www.twinkl.co.uk/r/smhv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 Target="/ppt/slid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8.png"/><Relationship Id="rId6" Type="http://schemas.openxmlformats.org/officeDocument/2006/relationships/image" Target="../media/image3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image49.png"/><Relationship Id="rId5"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4.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9.png"/><Relationship Id="rId4" Type="http://schemas.openxmlformats.org/officeDocument/2006/relationships/image" Target="../media/image51.png"/><Relationship Id="rId9"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8.png"/><Relationship Id="rId7" Type="http://schemas.openxmlformats.org/officeDocument/2006/relationships/image" Target="../media/image48.png"/><Relationship Id="rId8"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CD0365"/>
        </a:solidFill>
      </p:bgPr>
    </p:bg>
    <p:spTree>
      <p:nvGrpSpPr>
        <p:cNvPr id="29" name="Shape 29"/>
        <p:cNvGrpSpPr/>
        <p:nvPr/>
      </p:nvGrpSpPr>
      <p:grpSpPr>
        <a:xfrm>
          <a:off x="0" y="0"/>
          <a:ext cx="0" cy="0"/>
          <a:chOff x="0" y="0"/>
          <a:chExt cx="0" cy="0"/>
        </a:xfrm>
      </p:grpSpPr>
      <p:sp>
        <p:nvSpPr>
          <p:cNvPr id="30" name="Google Shape;30;p7"/>
          <p:cNvSpPr/>
          <p:nvPr>
            <p:ph idx="4294967295" type="title"/>
          </p:nvPr>
        </p:nvSpPr>
        <p:spPr>
          <a:xfrm>
            <a:off x="576263" y="608013"/>
            <a:ext cx="7991475" cy="652462"/>
          </a:xfrm>
          <a:prstGeom prst="roundRect">
            <a:avLst>
              <a:gd fmla="val 9641" name="adj"/>
            </a:avLst>
          </a:prstGeom>
          <a:noFill/>
          <a:ln>
            <a:noFill/>
          </a:ln>
        </p:spPr>
        <p:txBody>
          <a:bodyPr anchorCtr="1" anchor="ctr" bIns="252000" lIns="252000" spcFirstLastPara="1" rIns="252000" wrap="square" tIns="252000">
            <a:noAutofit/>
          </a:bodyPr>
          <a:lstStyle/>
          <a:p>
            <a:pPr indent="0" lvl="0" marL="0" rtl="0" algn="ctr">
              <a:lnSpc>
                <a:spcPct val="90000"/>
              </a:lnSpc>
              <a:spcBef>
                <a:spcPts val="0"/>
              </a:spcBef>
              <a:spcAft>
                <a:spcPts val="0"/>
              </a:spcAft>
              <a:buClr>
                <a:srgbClr val="7BCDC2"/>
              </a:buClr>
              <a:buSzPts val="2520"/>
              <a:buFont typeface="Roboto"/>
              <a:buNone/>
            </a:pPr>
            <a:r>
              <a:rPr lang="en-GB" sz="2520">
                <a:solidFill>
                  <a:srgbClr val="7BCDC2"/>
                </a:solidFill>
                <a:latin typeface="Roboto"/>
                <a:ea typeface="Roboto"/>
                <a:cs typeface="Roboto"/>
                <a:sym typeface="Roboto"/>
              </a:rPr>
              <a:t>Disclaimers</a:t>
            </a:r>
            <a:endParaRPr/>
          </a:p>
        </p:txBody>
      </p:sp>
      <p:sp>
        <p:nvSpPr>
          <p:cNvPr id="31" name="Google Shape;31;p7"/>
          <p:cNvSpPr/>
          <p:nvPr/>
        </p:nvSpPr>
        <p:spPr>
          <a:xfrm>
            <a:off x="457200" y="6283683"/>
            <a:ext cx="8220075" cy="715963"/>
          </a:xfrm>
          <a:prstGeom prst="roundRect">
            <a:avLst>
              <a:gd fmla="val 9639" name="adj"/>
            </a:avLst>
          </a:prstGeom>
          <a:noFill/>
          <a:ln>
            <a:noFill/>
          </a:ln>
        </p:spPr>
        <p:txBody>
          <a:bodyPr anchorCtr="1" anchor="ctr" bIns="252000" lIns="252000" spcFirstLastPara="1" rIns="252000" wrap="square" tIns="252000">
            <a:noAutofit/>
          </a:bodyPr>
          <a:lstStyle/>
          <a:p>
            <a:pPr indent="0" lvl="0" marL="0" marR="0" rtl="0" algn="ctr">
              <a:lnSpc>
                <a:spcPct val="90000"/>
              </a:lnSpc>
              <a:spcBef>
                <a:spcPts val="0"/>
              </a:spcBef>
              <a:spcAft>
                <a:spcPts val="0"/>
              </a:spcAft>
              <a:buNone/>
            </a:pPr>
            <a:r>
              <a:rPr b="0" i="0" lang="en-GB" sz="1000" u="none" cap="none" strike="noStrike">
                <a:solidFill>
                  <a:schemeClr val="lt1"/>
                </a:solidFill>
                <a:latin typeface="Roboto"/>
                <a:ea typeface="Roboto"/>
                <a:cs typeface="Roboto"/>
                <a:sym typeface="Roboto"/>
              </a:rPr>
              <a:t>You may wish to delete this slide before beginning the presentation.</a:t>
            </a:r>
            <a:endParaRPr/>
          </a:p>
        </p:txBody>
      </p:sp>
      <p:grpSp>
        <p:nvGrpSpPr>
          <p:cNvPr id="32" name="Google Shape;32;p7"/>
          <p:cNvGrpSpPr/>
          <p:nvPr/>
        </p:nvGrpSpPr>
        <p:grpSpPr>
          <a:xfrm>
            <a:off x="743837" y="1401824"/>
            <a:ext cx="7644513" cy="2295228"/>
            <a:chOff x="743837" y="1344834"/>
            <a:chExt cx="7644513" cy="2295228"/>
          </a:xfrm>
        </p:grpSpPr>
        <p:sp>
          <p:nvSpPr>
            <p:cNvPr id="33" name="Google Shape;33;p7"/>
            <p:cNvSpPr/>
            <p:nvPr/>
          </p:nvSpPr>
          <p:spPr>
            <a:xfrm>
              <a:off x="743837" y="1344834"/>
              <a:ext cx="1266195" cy="273960"/>
            </a:xfrm>
            <a:prstGeom prst="rect">
              <a:avLst/>
            </a:prstGeom>
            <a:solidFill>
              <a:srgbClr val="CD0365"/>
            </a:solidFill>
            <a:ln>
              <a:noFill/>
            </a:ln>
          </p:spPr>
          <p:txBody>
            <a:bodyPr anchorCtr="0" anchor="ctr" bIns="108000" lIns="108000" spcFirstLastPara="1" rIns="108000" wrap="square" tIns="108000">
              <a:noAutofit/>
            </a:bodyPr>
            <a:lstStyle/>
            <a:p>
              <a:pPr indent="0" lvl="0" marL="0" marR="0" rtl="0" algn="l">
                <a:spcBef>
                  <a:spcPts val="0"/>
                </a:spcBef>
                <a:spcAft>
                  <a:spcPts val="0"/>
                </a:spcAft>
                <a:buNone/>
              </a:pPr>
              <a:r>
                <a:rPr b="1" i="0" lang="en-GB" sz="1600" u="none" cap="none" strike="noStrike">
                  <a:solidFill>
                    <a:schemeClr val="lt1"/>
                  </a:solidFill>
                  <a:latin typeface="Roboto"/>
                  <a:ea typeface="Roboto"/>
                  <a:cs typeface="Roboto"/>
                  <a:sym typeface="Roboto"/>
                </a:rPr>
                <a:t>Animations</a:t>
              </a:r>
              <a:endParaRPr/>
            </a:p>
          </p:txBody>
        </p:sp>
        <p:sp>
          <p:nvSpPr>
            <p:cNvPr id="34" name="Google Shape;34;p7"/>
            <p:cNvSpPr/>
            <p:nvPr/>
          </p:nvSpPr>
          <p:spPr>
            <a:xfrm>
              <a:off x="755650" y="1618794"/>
              <a:ext cx="7632700" cy="2021268"/>
            </a:xfrm>
            <a:prstGeom prst="rect">
              <a:avLst/>
            </a:prstGeom>
            <a:noFill/>
            <a:ln cap="flat" cmpd="sng" w="19050">
              <a:solidFill>
                <a:srgbClr val="7BCDC2"/>
              </a:solidFill>
              <a:prstDash val="solid"/>
              <a:round/>
              <a:headEnd len="sm" w="sm" type="none"/>
              <a:tailEnd len="sm" w="sm" type="none"/>
            </a:ln>
          </p:spPr>
          <p:txBody>
            <a:bodyPr anchorCtr="0" anchor="t" bIns="216000" lIns="216000" spcFirstLastPara="1" rIns="216000" wrap="square" tIns="216000">
              <a:noAutofit/>
            </a:bodyPr>
            <a:lstStyle/>
            <a:p>
              <a:pPr indent="0" lvl="0" marL="0" marR="0" rtl="0" algn="l">
                <a:spcBef>
                  <a:spcPts val="0"/>
                </a:spcBef>
                <a:spcAft>
                  <a:spcPts val="0"/>
                </a:spcAft>
                <a:buNone/>
              </a:pPr>
              <a:r>
                <a:rPr lang="en-GB" sz="1400">
                  <a:solidFill>
                    <a:schemeClr val="dk1"/>
                  </a:solidFill>
                  <a:latin typeface="Roboto"/>
                  <a:ea typeface="Roboto"/>
                  <a:cs typeface="Roboto"/>
                  <a:sym typeface="Roboto"/>
                </a:rPr>
                <a:t>This resource has been designed with animations to make it as fun and engaging as possible. To view the content in the correct formatting, please view the PowerPoint in ‘slide show mode’. This takes you from desktop to presentation mode. If you view the slides out of ‘slide show mode’, you may find that some of the text and images overlap each other and/or are difficult to read. </a:t>
              </a:r>
              <a:endParaRPr/>
            </a:p>
            <a:p>
              <a:pPr indent="0" lvl="0" marL="0" marR="0" rtl="0" algn="l">
                <a:spcBef>
                  <a:spcPts val="600"/>
                </a:spcBef>
                <a:spcAft>
                  <a:spcPts val="0"/>
                </a:spcAft>
                <a:buNone/>
              </a:pPr>
              <a:r>
                <a:rPr lang="en-GB" sz="1400">
                  <a:solidFill>
                    <a:schemeClr val="dk1"/>
                  </a:solidFill>
                  <a:latin typeface="Roboto"/>
                  <a:ea typeface="Roboto"/>
                  <a:cs typeface="Roboto"/>
                  <a:sym typeface="Roboto"/>
                </a:rPr>
                <a:t>To enter slide show mode, go to the </a:t>
              </a:r>
              <a:r>
                <a:rPr b="1" lang="en-GB" sz="1400">
                  <a:solidFill>
                    <a:schemeClr val="dk1"/>
                  </a:solidFill>
                  <a:latin typeface="Roboto"/>
                  <a:ea typeface="Roboto"/>
                  <a:cs typeface="Roboto"/>
                  <a:sym typeface="Roboto"/>
                </a:rPr>
                <a:t>slide show menu tab </a:t>
              </a:r>
              <a:r>
                <a:rPr lang="en-GB" sz="1400">
                  <a:solidFill>
                    <a:schemeClr val="dk1"/>
                  </a:solidFill>
                  <a:latin typeface="Roboto"/>
                  <a:ea typeface="Roboto"/>
                  <a:cs typeface="Roboto"/>
                  <a:sym typeface="Roboto"/>
                </a:rPr>
                <a:t>and select either </a:t>
              </a:r>
              <a:r>
                <a:rPr b="1" lang="en-GB" sz="1400">
                  <a:solidFill>
                    <a:schemeClr val="dk1"/>
                  </a:solidFill>
                  <a:latin typeface="Roboto"/>
                  <a:ea typeface="Roboto"/>
                  <a:cs typeface="Roboto"/>
                  <a:sym typeface="Roboto"/>
                </a:rPr>
                <a:t>from beginning</a:t>
              </a:r>
              <a:r>
                <a:rPr lang="en-GB" sz="1400">
                  <a:solidFill>
                    <a:schemeClr val="dk1"/>
                  </a:solidFill>
                  <a:latin typeface="Roboto"/>
                  <a:ea typeface="Roboto"/>
                  <a:cs typeface="Roboto"/>
                  <a:sym typeface="Roboto"/>
                </a:rPr>
                <a:t> </a:t>
              </a:r>
              <a:r>
                <a:rPr b="1" lang="en-GB" sz="1400">
                  <a:solidFill>
                    <a:schemeClr val="dk1"/>
                  </a:solidFill>
                  <a:latin typeface="Roboto"/>
                  <a:ea typeface="Roboto"/>
                  <a:cs typeface="Roboto"/>
                  <a:sym typeface="Roboto"/>
                </a:rPr>
                <a:t>or from current slide</a:t>
              </a:r>
              <a:r>
                <a:rPr lang="en-GB" sz="1400">
                  <a:solidFill>
                    <a:schemeClr val="dk1"/>
                  </a:solidFill>
                  <a:latin typeface="Roboto"/>
                  <a:ea typeface="Roboto"/>
                  <a:cs typeface="Roboto"/>
                  <a:sym typeface="Roboto"/>
                </a:rPr>
                <a:t>.</a:t>
              </a:r>
              <a:endParaRPr/>
            </a:p>
          </p:txBody>
        </p:sp>
      </p:grpSp>
      <p:sp>
        <p:nvSpPr>
          <p:cNvPr id="35" name="Google Shape;35;p7"/>
          <p:cNvSpPr/>
          <p:nvPr/>
        </p:nvSpPr>
        <p:spPr>
          <a:xfrm>
            <a:off x="743836" y="1092383"/>
            <a:ext cx="7644513" cy="30777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1400">
                <a:solidFill>
                  <a:schemeClr val="dk1"/>
                </a:solidFill>
                <a:latin typeface="Roboto"/>
                <a:ea typeface="Roboto"/>
                <a:cs typeface="Roboto"/>
                <a:sym typeface="Roboto"/>
              </a:rPr>
              <a:t>We hope you find the information on our website and resources useful. </a:t>
            </a:r>
            <a:endParaRPr sz="1400">
              <a:solidFill>
                <a:schemeClr val="dk1"/>
              </a:solidFill>
              <a:latin typeface="Arial"/>
              <a:ea typeface="Arial"/>
              <a:cs typeface="Arial"/>
              <a:sym typeface="Arial"/>
            </a:endParaRPr>
          </a:p>
        </p:txBody>
      </p:sp>
      <p:sp>
        <p:nvSpPr>
          <p:cNvPr id="36" name="Google Shape;36;p7"/>
          <p:cNvSpPr/>
          <p:nvPr/>
        </p:nvSpPr>
        <p:spPr>
          <a:xfrm>
            <a:off x="743837" y="3829911"/>
            <a:ext cx="2703717" cy="273960"/>
          </a:xfrm>
          <a:prstGeom prst="rect">
            <a:avLst/>
          </a:prstGeom>
          <a:solidFill>
            <a:srgbClr val="CD0365"/>
          </a:solidFill>
          <a:ln>
            <a:noFill/>
          </a:ln>
        </p:spPr>
        <p:txBody>
          <a:bodyPr anchorCtr="0" anchor="ctr" bIns="108000" lIns="108000" spcFirstLastPara="1" rIns="108000" wrap="square" tIns="108000">
            <a:noAutofit/>
          </a:bodyPr>
          <a:lstStyle/>
          <a:p>
            <a:pPr indent="0" lvl="0" marL="0" marR="0" rtl="0" algn="l">
              <a:spcBef>
                <a:spcPts val="0"/>
              </a:spcBef>
              <a:spcAft>
                <a:spcPts val="0"/>
              </a:spcAft>
              <a:buNone/>
            </a:pPr>
            <a:r>
              <a:rPr b="1" lang="en-GB" sz="1600">
                <a:solidFill>
                  <a:schemeClr val="lt1"/>
                </a:solidFill>
                <a:latin typeface="Roboto"/>
                <a:ea typeface="Roboto"/>
                <a:cs typeface="Roboto"/>
                <a:sym typeface="Roboto"/>
              </a:rPr>
              <a:t>Links to External Websites</a:t>
            </a:r>
            <a:endParaRPr/>
          </a:p>
        </p:txBody>
      </p:sp>
      <p:sp>
        <p:nvSpPr>
          <p:cNvPr id="37" name="Google Shape;37;p7"/>
          <p:cNvSpPr/>
          <p:nvPr/>
        </p:nvSpPr>
        <p:spPr>
          <a:xfrm>
            <a:off x="755650" y="4103871"/>
            <a:ext cx="7632700" cy="1728880"/>
          </a:xfrm>
          <a:prstGeom prst="rect">
            <a:avLst/>
          </a:prstGeom>
          <a:solidFill>
            <a:schemeClr val="lt1"/>
          </a:solidFill>
          <a:ln cap="flat" cmpd="sng" w="19050">
            <a:solidFill>
              <a:srgbClr val="7BCDC2"/>
            </a:solidFill>
            <a:prstDash val="solid"/>
            <a:round/>
            <a:headEnd len="sm" w="sm" type="none"/>
            <a:tailEnd len="sm" w="sm" type="none"/>
          </a:ln>
        </p:spPr>
        <p:txBody>
          <a:bodyPr anchorCtr="0" anchor="t" bIns="216000" lIns="216000" spcFirstLastPara="1" rIns="216000" wrap="square" tIns="216000">
            <a:noAutofit/>
          </a:bodyPr>
          <a:lstStyle/>
          <a:p>
            <a:pPr indent="0" lvl="0" marL="0" marR="0" rtl="0" algn="l">
              <a:spcBef>
                <a:spcPts val="0"/>
              </a:spcBef>
              <a:spcAft>
                <a:spcPts val="0"/>
              </a:spcAft>
              <a:buNone/>
            </a:pPr>
            <a:r>
              <a:rPr lang="en-GB" sz="1400">
                <a:solidFill>
                  <a:schemeClr val="dk1"/>
                </a:solidFill>
                <a:latin typeface="Roboto"/>
                <a:ea typeface="Roboto"/>
                <a:cs typeface="Roboto"/>
                <a:sym typeface="Roboto"/>
              </a:rPr>
              <a:t>This resource contains links to external websites. Please be aware that the inclusion of any link in this resource should not be taken as an endorsement of any kind by Twinkl of the linked website or any association with its operators. You should also be aware that we have no control over the availability of the linked pages. If the link is not working, please let us know by contacting TwinklCares and we will try to fix it although we can assume no responsibility if this is the case. We are not responsible for the content of external sites.</a:t>
            </a:r>
            <a:endParaRPr/>
          </a:p>
        </p:txBody>
      </p:sp>
      <p:sp>
        <p:nvSpPr>
          <p:cNvPr id="38" name="Google Shape;38;p7"/>
          <p:cNvSpPr/>
          <p:nvPr/>
        </p:nvSpPr>
        <p:spPr>
          <a:xfrm>
            <a:off x="743835" y="5765617"/>
            <a:ext cx="7644515" cy="715963"/>
          </a:xfrm>
          <a:prstGeom prst="roundRect">
            <a:avLst>
              <a:gd fmla="val 9639" name="adj"/>
            </a:avLst>
          </a:prstGeom>
          <a:noFill/>
          <a:ln>
            <a:noFill/>
          </a:ln>
        </p:spPr>
        <p:txBody>
          <a:bodyPr anchorCtr="1" anchor="ctr" bIns="252000" lIns="252000" spcFirstLastPara="1" rIns="252000" wrap="square" tIns="252000">
            <a:noAutofit/>
          </a:bodyPr>
          <a:lstStyle/>
          <a:p>
            <a:pPr indent="0" lvl="0" marL="0" marR="0" rtl="0" algn="ctr">
              <a:lnSpc>
                <a:spcPct val="90000"/>
              </a:lnSpc>
              <a:spcBef>
                <a:spcPts val="0"/>
              </a:spcBef>
              <a:spcAft>
                <a:spcPts val="0"/>
              </a:spcAft>
              <a:buNone/>
            </a:pPr>
            <a:r>
              <a:rPr b="1" lang="en-GB" sz="1200" u="none">
                <a:solidFill>
                  <a:srgbClr val="7BCDC2"/>
                </a:solidFill>
                <a:latin typeface="Roboto"/>
                <a:ea typeface="Roboto"/>
                <a:cs typeface="Roboto"/>
                <a:sym typeface="Roboto"/>
              </a:rPr>
              <a:t>The following presentation was made in line with the BBC micro:bit v2. </a:t>
            </a:r>
            <a:br>
              <a:rPr b="1" lang="en-GB" sz="1200" u="none">
                <a:solidFill>
                  <a:srgbClr val="7BCDC2"/>
                </a:solidFill>
                <a:latin typeface="Roboto"/>
                <a:ea typeface="Roboto"/>
                <a:cs typeface="Roboto"/>
                <a:sym typeface="Roboto"/>
              </a:rPr>
            </a:br>
            <a:r>
              <a:rPr b="1" lang="en-GB" sz="1200" u="none">
                <a:solidFill>
                  <a:srgbClr val="7BCDC2"/>
                </a:solidFill>
                <a:latin typeface="Roboto"/>
                <a:ea typeface="Roboto"/>
                <a:cs typeface="Roboto"/>
                <a:sym typeface="Roboto"/>
              </a:rPr>
              <a:t>Information in this presentation may not be applicable to other versions of the micro:bit.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C800"/>
        </a:solidFill>
      </p:bgPr>
    </p:bg>
    <p:spTree>
      <p:nvGrpSpPr>
        <p:cNvPr id="46" name="Shape 46"/>
        <p:cNvGrpSpPr/>
        <p:nvPr/>
      </p:nvGrpSpPr>
      <p:grpSpPr>
        <a:xfrm>
          <a:off x="0" y="0"/>
          <a:ext cx="0" cy="0"/>
          <a:chOff x="0" y="0"/>
          <a:chExt cx="0" cy="0"/>
        </a:xfrm>
      </p:grpSpPr>
      <p:sp>
        <p:nvSpPr>
          <p:cNvPr id="47" name="Google Shape;47;p9"/>
          <p:cNvSpPr/>
          <p:nvPr/>
        </p:nvSpPr>
        <p:spPr>
          <a:xfrm>
            <a:off x="845820" y="2088548"/>
            <a:ext cx="3291838"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Micro:bit Educational Foundation is a not-for-profit organisation. Their aim is to inspire children to ‘create their best digital future’. </a:t>
            </a:r>
            <a:endParaRPr/>
          </a:p>
        </p:txBody>
      </p:sp>
      <p:sp>
        <p:nvSpPr>
          <p:cNvPr id="48" name="Google Shape;48;p9"/>
          <p:cNvSpPr txBox="1"/>
          <p:nvPr/>
        </p:nvSpPr>
        <p:spPr>
          <a:xfrm>
            <a:off x="755648" y="738107"/>
            <a:ext cx="3816352"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00C800"/>
              </a:buClr>
              <a:buSzPts val="2400"/>
              <a:buFont typeface="Roboto"/>
              <a:buNone/>
            </a:pPr>
            <a:r>
              <a:rPr b="1" lang="en-GB" sz="2400">
                <a:solidFill>
                  <a:srgbClr val="00C800"/>
                </a:solidFill>
                <a:latin typeface="Roboto"/>
                <a:ea typeface="Roboto"/>
                <a:cs typeface="Roboto"/>
                <a:sym typeface="Roboto"/>
              </a:rPr>
              <a:t>Technology for Everyone</a:t>
            </a:r>
            <a:endParaRPr/>
          </a:p>
        </p:txBody>
      </p:sp>
      <p:sp>
        <p:nvSpPr>
          <p:cNvPr id="49" name="Google Shape;49;p9"/>
          <p:cNvSpPr/>
          <p:nvPr/>
        </p:nvSpPr>
        <p:spPr>
          <a:xfrm>
            <a:off x="4800600" y="2088548"/>
            <a:ext cx="3587750"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Originally the micro:bit was part of BBC’s Make It Digital campaign.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29 partners contributed to create various resources and offer their expertise to the campaign.</a:t>
            </a:r>
            <a:endParaRPr/>
          </a:p>
        </p:txBody>
      </p:sp>
      <p:sp>
        <p:nvSpPr>
          <p:cNvPr id="50" name="Google Shape;50;p9"/>
          <p:cNvSpPr/>
          <p:nvPr/>
        </p:nvSpPr>
        <p:spPr>
          <a:xfrm>
            <a:off x="755648" y="3815735"/>
            <a:ext cx="2924812" cy="22159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From early 2016, a project led by BBC Education distributed micro:bits to</a:t>
            </a:r>
            <a:endParaRPr/>
          </a:p>
          <a:p>
            <a:pPr indent="0" lvl="0" marL="0" marR="0" rtl="0" algn="l">
              <a:spcBef>
                <a:spcPts val="0"/>
              </a:spcBef>
              <a:spcAft>
                <a:spcPts val="0"/>
              </a:spcAft>
              <a:buNone/>
            </a:pPr>
            <a:r>
              <a:rPr lang="en-GB" sz="1800">
                <a:solidFill>
                  <a:schemeClr val="dk1"/>
                </a:solidFill>
                <a:latin typeface="Roboto"/>
                <a:ea typeface="Roboto"/>
                <a:cs typeface="Roboto"/>
                <a:sym typeface="Roboto"/>
              </a:rPr>
              <a:t>children aged 11-12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across the UK. These children were in a variety of settings, from non-formal education to libraries.</a:t>
            </a:r>
            <a:endParaRPr/>
          </a:p>
        </p:txBody>
      </p:sp>
      <p:sp>
        <p:nvSpPr>
          <p:cNvPr id="51" name="Google Shape;51;p9"/>
          <p:cNvSpPr/>
          <p:nvPr/>
        </p:nvSpPr>
        <p:spPr>
          <a:xfrm>
            <a:off x="576263" y="1482374"/>
            <a:ext cx="3898582" cy="389513"/>
          </a:xfrm>
          <a:prstGeom prst="roundRect">
            <a:avLst>
              <a:gd fmla="val 50000" name="adj"/>
            </a:avLst>
          </a:prstGeom>
          <a:noFill/>
          <a:ln cap="flat" cmpd="sng" w="19050">
            <a:solidFill>
              <a:schemeClr val="dk1"/>
            </a:solidFill>
            <a:prstDash val="solid"/>
            <a:round/>
            <a:headEnd len="sm" w="sm" type="none"/>
            <a:tailEnd len="sm" w="sm" type="none"/>
          </a:ln>
        </p:spPr>
        <p:txBody>
          <a:bodyPr anchorCtr="0" anchor="t" bIns="0" lIns="18000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Who is behind the BBC micro:bit?</a:t>
            </a:r>
            <a:endParaRPr sz="1800">
              <a:solidFill>
                <a:schemeClr val="dk1"/>
              </a:solidFill>
              <a:latin typeface="Roboto"/>
              <a:ea typeface="Roboto"/>
              <a:cs typeface="Roboto"/>
              <a:sym typeface="Roboto"/>
            </a:endParaRPr>
          </a:p>
        </p:txBody>
      </p:sp>
      <p:sp>
        <p:nvSpPr>
          <p:cNvPr id="52" name="Google Shape;52;p9"/>
          <p:cNvSpPr/>
          <p:nvPr/>
        </p:nvSpPr>
        <p:spPr>
          <a:xfrm>
            <a:off x="4572001" y="1482374"/>
            <a:ext cx="3816350" cy="389513"/>
          </a:xfrm>
          <a:prstGeom prst="roundRect">
            <a:avLst>
              <a:gd fmla="val 50000" name="adj"/>
            </a:avLst>
          </a:prstGeom>
          <a:noFill/>
          <a:ln cap="flat" cmpd="sng" w="19050">
            <a:solidFill>
              <a:schemeClr val="dk1"/>
            </a:solidFill>
            <a:prstDash val="solid"/>
            <a:round/>
            <a:headEnd len="sm" w="sm" type="none"/>
            <a:tailEnd len="sm" w="sm" type="none"/>
          </a:ln>
        </p:spPr>
        <p:txBody>
          <a:bodyPr anchorCtr="0" anchor="t" bIns="0" lIns="18000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Their story </a:t>
            </a:r>
            <a:endParaRPr/>
          </a:p>
        </p:txBody>
      </p:sp>
      <p:sp>
        <p:nvSpPr>
          <p:cNvPr id="53" name="Google Shape;53;p9"/>
          <p:cNvSpPr/>
          <p:nvPr/>
        </p:nvSpPr>
        <p:spPr>
          <a:xfrm>
            <a:off x="3895163" y="3815735"/>
            <a:ext cx="2285218"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In October 2016, the Micro:bit Educational Foundation was founded, with the aim of inspiring children worldwide.</a:t>
            </a:r>
            <a:endParaRPr/>
          </a:p>
        </p:txBody>
      </p:sp>
      <p:sp>
        <p:nvSpPr>
          <p:cNvPr id="54" name="Google Shape;54;p9"/>
          <p:cNvSpPr/>
          <p:nvPr/>
        </p:nvSpPr>
        <p:spPr>
          <a:xfrm>
            <a:off x="6269355" y="3815735"/>
            <a:ext cx="2196240" cy="19389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Since then, it is estimated 42 million young people have experienced the benefits of learning with micro:bit across over 60 countries.</a:t>
            </a:r>
            <a:endParaRPr/>
          </a:p>
        </p:txBody>
      </p:sp>
      <p:cxnSp>
        <p:nvCxnSpPr>
          <p:cNvPr id="55" name="Google Shape;55;p9"/>
          <p:cNvCxnSpPr/>
          <p:nvPr/>
        </p:nvCxnSpPr>
        <p:spPr>
          <a:xfrm>
            <a:off x="755648" y="3674678"/>
            <a:ext cx="2924812" cy="0"/>
          </a:xfrm>
          <a:prstGeom prst="straightConnector1">
            <a:avLst/>
          </a:prstGeom>
          <a:noFill/>
          <a:ln cap="flat" cmpd="sng" w="28575">
            <a:solidFill>
              <a:srgbClr val="00C800"/>
            </a:solidFill>
            <a:prstDash val="solid"/>
            <a:miter lim="8000"/>
            <a:headEnd len="sm" w="sm" type="none"/>
            <a:tailEnd len="sm" w="sm" type="none"/>
          </a:ln>
        </p:spPr>
      </p:cxnSp>
      <p:cxnSp>
        <p:nvCxnSpPr>
          <p:cNvPr id="56" name="Google Shape;56;p9"/>
          <p:cNvCxnSpPr/>
          <p:nvPr/>
        </p:nvCxnSpPr>
        <p:spPr>
          <a:xfrm>
            <a:off x="3895163" y="3674678"/>
            <a:ext cx="2083827" cy="0"/>
          </a:xfrm>
          <a:prstGeom prst="straightConnector1">
            <a:avLst/>
          </a:prstGeom>
          <a:noFill/>
          <a:ln cap="flat" cmpd="sng" w="28575">
            <a:solidFill>
              <a:srgbClr val="00C800"/>
            </a:solidFill>
            <a:prstDash val="solid"/>
            <a:miter lim="8000"/>
            <a:headEnd len="sm" w="sm" type="none"/>
            <a:tailEnd len="sm" w="sm" type="none"/>
          </a:ln>
        </p:spPr>
      </p:cxnSp>
      <p:cxnSp>
        <p:nvCxnSpPr>
          <p:cNvPr id="57" name="Google Shape;57;p9"/>
          <p:cNvCxnSpPr/>
          <p:nvPr/>
        </p:nvCxnSpPr>
        <p:spPr>
          <a:xfrm>
            <a:off x="6269355" y="3674678"/>
            <a:ext cx="2231782" cy="0"/>
          </a:xfrm>
          <a:prstGeom prst="straightConnector1">
            <a:avLst/>
          </a:prstGeom>
          <a:noFill/>
          <a:ln cap="flat" cmpd="sng" w="28575">
            <a:solidFill>
              <a:srgbClr val="00C800"/>
            </a:solidFill>
            <a:prstDash val="solid"/>
            <a:miter lim="8000"/>
            <a:headEnd len="sm" w="sm" type="none"/>
            <a:tailEnd len="sm" w="sm" type="none"/>
          </a:ln>
        </p:spPr>
      </p:cxnSp>
      <p:pic>
        <p:nvPicPr>
          <p:cNvPr descr="A group of young boys looking at a small device&#10;&#10;Description automatically generated with low confidence" id="58" name="Google Shape;58;p9"/>
          <p:cNvPicPr preferRelativeResize="0"/>
          <p:nvPr/>
        </p:nvPicPr>
        <p:blipFill rotWithShape="1">
          <a:blip r:embed="rId3">
            <a:alphaModFix/>
          </a:blip>
          <a:srcRect b="0" l="0" r="0" t="2830"/>
          <a:stretch/>
        </p:blipFill>
        <p:spPr>
          <a:xfrm>
            <a:off x="761047" y="1267646"/>
            <a:ext cx="7806689" cy="229400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51"/>
                                        </p:tgtEl>
                                        <p:attrNameLst>
                                          <p:attrName>style.visibility</p:attrName>
                                        </p:attrNameLst>
                                      </p:cBhvr>
                                      <p:to>
                                        <p:strVal val="visible"/>
                                      </p:to>
                                    </p:set>
                                    <p:animEffect filter="fade" transition="in">
                                      <p:cBhvr>
                                        <p:cTn dur="500"/>
                                        <p:tgtEl>
                                          <p:spTgt spid="51"/>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7"/>
                                        </p:tgtEl>
                                        <p:attrNameLst>
                                          <p:attrName>style.visibility</p:attrName>
                                        </p:attrNameLst>
                                      </p:cBhvr>
                                      <p:to>
                                        <p:strVal val="visible"/>
                                      </p:to>
                                    </p:set>
                                    <p:animEffect filter="fade" transition="in">
                                      <p:cBhvr>
                                        <p:cTn dur="500"/>
                                        <p:tgtEl>
                                          <p:spTgt spid="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2"/>
                                        </p:tgtEl>
                                        <p:attrNameLst>
                                          <p:attrName>style.visibility</p:attrName>
                                        </p:attrNameLst>
                                      </p:cBhvr>
                                      <p:to>
                                        <p:strVal val="visible"/>
                                      </p:to>
                                    </p:set>
                                    <p:animEffect filter="fade" transition="in">
                                      <p:cBhvr>
                                        <p:cTn dur="500"/>
                                        <p:tgtEl>
                                          <p:spTgt spid="5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9"/>
                                        </p:tgtEl>
                                        <p:attrNameLst>
                                          <p:attrName>style.visibility</p:attrName>
                                        </p:attrNameLst>
                                      </p:cBhvr>
                                      <p:to>
                                        <p:strVal val="visible"/>
                                      </p:to>
                                    </p:set>
                                    <p:animEffect filter="fade" transition="in">
                                      <p:cBhvr>
                                        <p:cTn dur="500"/>
                                        <p:tgtEl>
                                          <p:spTgt spid="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5"/>
                                        </p:tgtEl>
                                        <p:attrNameLst>
                                          <p:attrName>style.visibility</p:attrName>
                                        </p:attrNameLst>
                                      </p:cBhvr>
                                      <p:to>
                                        <p:strVal val="visible"/>
                                      </p:to>
                                    </p:set>
                                    <p:animEffect filter="fade" transition="in">
                                      <p:cBhvr>
                                        <p:cTn dur="500"/>
                                        <p:tgtEl>
                                          <p:spTgt spid="5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50"/>
                                        </p:tgtEl>
                                        <p:attrNameLst>
                                          <p:attrName>style.visibility</p:attrName>
                                        </p:attrNameLst>
                                      </p:cBhvr>
                                      <p:to>
                                        <p:strVal val="visible"/>
                                      </p:to>
                                    </p:set>
                                    <p:animEffect filter="fade" transition="in">
                                      <p:cBhvr>
                                        <p:cTn dur="500"/>
                                        <p:tgtEl>
                                          <p:spTgt spid="50"/>
                                        </p:tgtEl>
                                      </p:cBhvr>
                                    </p:animEffect>
                                  </p:childTnLst>
                                </p:cTn>
                              </p:par>
                              <p:par>
                                <p:cTn fill="hold" nodeType="withEffect" presetClass="exit" presetID="1" presetSubtype="0">
                                  <p:stCondLst>
                                    <p:cond delay="0"/>
                                  </p:stCondLst>
                                  <p:childTnLst>
                                    <p:set>
                                      <p:cBhvr>
                                        <p:cTn dur="1" fill="hold">
                                          <p:stCondLst>
                                            <p:cond delay="1"/>
                                          </p:stCondLst>
                                        </p:cTn>
                                        <p:tgtEl>
                                          <p:spTgt spid="5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47"/>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5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49"/>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58"/>
                                        </p:tgtEl>
                                        <p:attrNameLst>
                                          <p:attrName>style.visibility</p:attrName>
                                        </p:attrNameLst>
                                      </p:cBhvr>
                                      <p:to>
                                        <p:strVal val="visible"/>
                                      </p:to>
                                    </p:set>
                                    <p:animEffect filter="fade" transition="in">
                                      <p:cBhvr>
                                        <p:cTn dur="500"/>
                                        <p:tgtEl>
                                          <p:spTgt spid="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6"/>
                                        </p:tgtEl>
                                        <p:attrNameLst>
                                          <p:attrName>style.visibility</p:attrName>
                                        </p:attrNameLst>
                                      </p:cBhvr>
                                      <p:to>
                                        <p:strVal val="visible"/>
                                      </p:to>
                                    </p:set>
                                    <p:animEffect filter="fade" transition="in">
                                      <p:cBhvr>
                                        <p:cTn dur="500"/>
                                        <p:tgtEl>
                                          <p:spTgt spid="56"/>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53"/>
                                        </p:tgtEl>
                                        <p:attrNameLst>
                                          <p:attrName>style.visibility</p:attrName>
                                        </p:attrNameLst>
                                      </p:cBhvr>
                                      <p:to>
                                        <p:strVal val="visible"/>
                                      </p:to>
                                    </p:set>
                                    <p:animEffect filter="fade" transition="in">
                                      <p:cBhvr>
                                        <p:cTn dur="500"/>
                                        <p:tgtEl>
                                          <p:spTgt spid="5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
                                        </p:tgtEl>
                                        <p:attrNameLst>
                                          <p:attrName>style.visibility</p:attrName>
                                        </p:attrNameLst>
                                      </p:cBhvr>
                                      <p:to>
                                        <p:strVal val="visible"/>
                                      </p:to>
                                    </p:set>
                                    <p:animEffect filter="fade" transition="in">
                                      <p:cBhvr>
                                        <p:cTn dur="500"/>
                                        <p:tgtEl>
                                          <p:spTgt spid="57"/>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54"/>
                                        </p:tgtEl>
                                        <p:attrNameLst>
                                          <p:attrName>style.visibility</p:attrName>
                                        </p:attrNameLst>
                                      </p:cBhvr>
                                      <p:to>
                                        <p:strVal val="visible"/>
                                      </p:to>
                                    </p:set>
                                    <p:animEffect filter="fade" transition="in">
                                      <p:cBhvr>
                                        <p:cTn dur="500"/>
                                        <p:tgtEl>
                                          <p:spTgt spid="5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C800"/>
        </a:solidFill>
      </p:bgPr>
    </p:bg>
    <p:spTree>
      <p:nvGrpSpPr>
        <p:cNvPr id="62" name="Shape 62"/>
        <p:cNvGrpSpPr/>
        <p:nvPr/>
      </p:nvGrpSpPr>
      <p:grpSpPr>
        <a:xfrm>
          <a:off x="0" y="0"/>
          <a:ext cx="0" cy="0"/>
          <a:chOff x="0" y="0"/>
          <a:chExt cx="0" cy="0"/>
        </a:xfrm>
      </p:grpSpPr>
      <p:sp>
        <p:nvSpPr>
          <p:cNvPr id="63" name="Google Shape;63;p10"/>
          <p:cNvSpPr txBox="1"/>
          <p:nvPr/>
        </p:nvSpPr>
        <p:spPr>
          <a:xfrm>
            <a:off x="755648" y="738107"/>
            <a:ext cx="3816352"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00C800"/>
              </a:buClr>
              <a:buSzPts val="2400"/>
              <a:buFont typeface="Roboto"/>
              <a:buNone/>
            </a:pPr>
            <a:r>
              <a:rPr b="1" lang="en-GB" sz="2400">
                <a:solidFill>
                  <a:srgbClr val="00C800"/>
                </a:solidFill>
                <a:latin typeface="Roboto"/>
                <a:ea typeface="Roboto"/>
                <a:cs typeface="Roboto"/>
                <a:sym typeface="Roboto"/>
              </a:rPr>
              <a:t>Technology for Everyone</a:t>
            </a:r>
            <a:endParaRPr/>
          </a:p>
        </p:txBody>
      </p:sp>
      <p:sp>
        <p:nvSpPr>
          <p:cNvPr id="64" name="Google Shape;64;p10"/>
          <p:cNvSpPr/>
          <p:nvPr/>
        </p:nvSpPr>
        <p:spPr>
          <a:xfrm>
            <a:off x="755648" y="1251585"/>
            <a:ext cx="7632702" cy="4877754"/>
          </a:xfrm>
          <a:prstGeom prst="rect">
            <a:avLst/>
          </a:prstGeom>
          <a:solidFill>
            <a:srgbClr val="00C8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65" name="Google Shape;65;p10"/>
          <p:cNvPicPr preferRelativeResize="0"/>
          <p:nvPr/>
        </p:nvPicPr>
        <p:blipFill rotWithShape="1">
          <a:blip r:embed="rId3">
            <a:alphaModFix/>
          </a:blip>
          <a:srcRect b="0" l="0" r="0" t="0"/>
          <a:stretch/>
        </p:blipFill>
        <p:spPr>
          <a:xfrm>
            <a:off x="932178" y="1385887"/>
            <a:ext cx="7279642" cy="409479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
                                        </p:tgtEl>
                                        <p:attrNameLst>
                                          <p:attrName>style.visibility</p:attrName>
                                        </p:attrNameLst>
                                      </p:cBhvr>
                                      <p:to>
                                        <p:strVal val="visible"/>
                                      </p:to>
                                    </p:set>
                                    <p:animEffect filter="fade" transition="in">
                                      <p:cBhvr>
                                        <p:cTn dur="5000"/>
                                        <p:tgtEl>
                                          <p:spTgt spid="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7645C"/>
        </a:solidFill>
      </p:bgPr>
    </p:bg>
    <p:spTree>
      <p:nvGrpSpPr>
        <p:cNvPr id="69" name="Shape 69"/>
        <p:cNvGrpSpPr/>
        <p:nvPr/>
      </p:nvGrpSpPr>
      <p:grpSpPr>
        <a:xfrm>
          <a:off x="0" y="0"/>
          <a:ext cx="0" cy="0"/>
          <a:chOff x="0" y="0"/>
          <a:chExt cx="0" cy="0"/>
        </a:xfrm>
      </p:grpSpPr>
      <p:sp>
        <p:nvSpPr>
          <p:cNvPr id="70" name="Google Shape;70;p11"/>
          <p:cNvSpPr/>
          <p:nvPr/>
        </p:nvSpPr>
        <p:spPr>
          <a:xfrm>
            <a:off x="755650" y="2894045"/>
            <a:ext cx="3125788" cy="19389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micro:bit V2</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USB data cable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safety guide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micro:bit cardboard case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battery pack and connector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2 x AAA batteries</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 Get started manual</a:t>
            </a:r>
            <a:endParaRPr/>
          </a:p>
        </p:txBody>
      </p:sp>
      <p:sp>
        <p:nvSpPr>
          <p:cNvPr id="71" name="Google Shape;71;p11"/>
          <p:cNvSpPr txBox="1"/>
          <p:nvPr/>
        </p:nvSpPr>
        <p:spPr>
          <a:xfrm>
            <a:off x="755648" y="738107"/>
            <a:ext cx="3816352"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E7645C"/>
              </a:buClr>
              <a:buSzPts val="2400"/>
              <a:buFont typeface="Roboto"/>
              <a:buNone/>
            </a:pPr>
            <a:r>
              <a:rPr b="1" lang="en-GB" sz="2400">
                <a:solidFill>
                  <a:srgbClr val="E7645C"/>
                </a:solidFill>
                <a:latin typeface="Roboto"/>
                <a:ea typeface="Roboto"/>
                <a:cs typeface="Roboto"/>
                <a:sym typeface="Roboto"/>
              </a:rPr>
              <a:t>What Is a micro:bit?</a:t>
            </a:r>
            <a:endParaRPr/>
          </a:p>
        </p:txBody>
      </p:sp>
      <p:pic>
        <p:nvPicPr>
          <p:cNvPr descr="A picture containing screenshot, text, number, font&#10;&#10;Description automatically generated" id="72" name="Google Shape;72;p11"/>
          <p:cNvPicPr preferRelativeResize="0"/>
          <p:nvPr/>
        </p:nvPicPr>
        <p:blipFill rotWithShape="1">
          <a:blip r:embed="rId3">
            <a:alphaModFix/>
          </a:blip>
          <a:srcRect b="0" l="0" r="0" t="0"/>
          <a:stretch/>
        </p:blipFill>
        <p:spPr>
          <a:xfrm>
            <a:off x="646112" y="3320360"/>
            <a:ext cx="3325495" cy="2668815"/>
          </a:xfrm>
          <a:prstGeom prst="rect">
            <a:avLst/>
          </a:prstGeom>
          <a:noFill/>
          <a:ln>
            <a:noFill/>
          </a:ln>
        </p:spPr>
      </p:pic>
      <p:sp>
        <p:nvSpPr>
          <p:cNvPr id="73" name="Google Shape;73;p11"/>
          <p:cNvSpPr/>
          <p:nvPr/>
        </p:nvSpPr>
        <p:spPr>
          <a:xfrm>
            <a:off x="755650" y="1482396"/>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When you receive your BBC micro:bit, everything you need to make a good start is included in the cardboard box.</a:t>
            </a:r>
            <a:endParaRPr/>
          </a:p>
        </p:txBody>
      </p:sp>
      <p:sp>
        <p:nvSpPr>
          <p:cNvPr id="74" name="Google Shape;74;p11"/>
          <p:cNvSpPr/>
          <p:nvPr/>
        </p:nvSpPr>
        <p:spPr>
          <a:xfrm>
            <a:off x="745965" y="2377252"/>
            <a:ext cx="3125788" cy="349702"/>
          </a:xfrm>
          <a:prstGeom prst="rect">
            <a:avLst/>
          </a:prstGeom>
          <a:solidFill>
            <a:srgbClr val="E7645C"/>
          </a:solidFill>
          <a:ln>
            <a:noFill/>
          </a:ln>
        </p:spPr>
        <p:txBody>
          <a:bodyPr anchorCtr="0" anchor="t" bIns="36000" lIns="72000" spcFirstLastPara="1" rIns="36000" wrap="square" tIns="36000">
            <a:noAutofit/>
          </a:bodyPr>
          <a:lstStyle/>
          <a:p>
            <a:pPr indent="0" lvl="0" marL="0" marR="0" rtl="0" algn="l">
              <a:spcBef>
                <a:spcPts val="0"/>
              </a:spcBef>
              <a:spcAft>
                <a:spcPts val="0"/>
              </a:spcAft>
              <a:buClr>
                <a:schemeClr val="lt1"/>
              </a:buClr>
              <a:buSzPts val="1800"/>
              <a:buFont typeface="Roboto"/>
              <a:buNone/>
            </a:pPr>
            <a:r>
              <a:rPr lang="en-GB" sz="1800">
                <a:solidFill>
                  <a:schemeClr val="lt1"/>
                </a:solidFill>
                <a:latin typeface="Roboto"/>
                <a:ea typeface="Roboto"/>
                <a:cs typeface="Roboto"/>
                <a:sym typeface="Roboto"/>
              </a:rPr>
              <a:t>The cardboard box contains:</a:t>
            </a:r>
            <a:endParaRPr/>
          </a:p>
        </p:txBody>
      </p:sp>
      <p:pic>
        <p:nvPicPr>
          <p:cNvPr descr="A picture containing text, box&#10;&#10;Description automatically generated" id="75" name="Google Shape;75;p11"/>
          <p:cNvPicPr preferRelativeResize="0"/>
          <p:nvPr/>
        </p:nvPicPr>
        <p:blipFill rotWithShape="1">
          <a:blip r:embed="rId4">
            <a:alphaModFix/>
          </a:blip>
          <a:srcRect b="0" l="0" r="0" t="0"/>
          <a:stretch/>
        </p:blipFill>
        <p:spPr>
          <a:xfrm>
            <a:off x="4572000" y="2102577"/>
            <a:ext cx="4017316" cy="4017316"/>
          </a:xfrm>
          <a:prstGeom prst="rect">
            <a:avLst/>
          </a:prstGeom>
          <a:noFill/>
          <a:ln>
            <a:noFill/>
          </a:ln>
        </p:spPr>
      </p:pic>
      <p:sp>
        <p:nvSpPr>
          <p:cNvPr id="76" name="Google Shape;76;p11"/>
          <p:cNvSpPr/>
          <p:nvPr/>
        </p:nvSpPr>
        <p:spPr>
          <a:xfrm>
            <a:off x="755650" y="1482396"/>
            <a:ext cx="763270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micro:bit is a pocket-sized computer.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It has an LED light display, buttons, microphone, sensors and many input/output features. These features can be programmed to let you physically interact with the world around you.</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76"/>
                                        </p:tgtEl>
                                        <p:attrNameLst>
                                          <p:attrName>style.visibility</p:attrName>
                                        </p:attrNameLst>
                                      </p:cBhvr>
                                      <p:to>
                                        <p:strVal val="visible"/>
                                      </p:to>
                                    </p:set>
                                    <p:animEffect filter="fade" transition="in">
                                      <p:cBhvr>
                                        <p:cTn dur="500"/>
                                        <p:tgtEl>
                                          <p:spTgt spid="76"/>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72"/>
                                        </p:tgtEl>
                                        <p:attrNameLst>
                                          <p:attrName>style.visibility</p:attrName>
                                        </p:attrNameLst>
                                      </p:cBhvr>
                                      <p:to>
                                        <p:strVal val="visible"/>
                                      </p:to>
                                    </p:set>
                                    <p:anim calcmode="lin" valueType="num">
                                      <p:cBhvr additive="base">
                                        <p:cTn dur="500"/>
                                        <p:tgtEl>
                                          <p:spTgt spid="72"/>
                                        </p:tgtEl>
                                        <p:attrNameLst>
                                          <p:attrName>ppt_w</p:attrName>
                                        </p:attrNameLst>
                                      </p:cBhvr>
                                      <p:tavLst>
                                        <p:tav fmla="" tm="0">
                                          <p:val>
                                            <p:strVal val="0"/>
                                          </p:val>
                                        </p:tav>
                                        <p:tav fmla="" tm="100000">
                                          <p:val>
                                            <p:strVal val="#ppt_w"/>
                                          </p:val>
                                        </p:tav>
                                      </p:tavLst>
                                    </p:anim>
                                    <p:anim calcmode="lin" valueType="num">
                                      <p:cBhvr additive="base">
                                        <p:cTn dur="500"/>
                                        <p:tgtEl>
                                          <p:spTgt spid="7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76"/>
                                        </p:tgtEl>
                                      </p:cBhvr>
                                    </p:animEffect>
                                    <p:set>
                                      <p:cBhvr>
                                        <p:cTn dur="1" fill="hold">
                                          <p:stCondLst>
                                            <p:cond delay="500"/>
                                          </p:stCondLst>
                                        </p:cTn>
                                        <p:tgtEl>
                                          <p:spTgt spid="76"/>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72"/>
                                        </p:tgtEl>
                                      </p:cBhvr>
                                    </p:animEffect>
                                    <p:set>
                                      <p:cBhvr>
                                        <p:cTn dur="1" fill="hold">
                                          <p:stCondLst>
                                            <p:cond delay="500"/>
                                          </p:stCondLst>
                                        </p:cTn>
                                        <p:tgtEl>
                                          <p:spTgt spid="72"/>
                                        </p:tgtEl>
                                        <p:attrNameLst>
                                          <p:attrName>style.visibility</p:attrName>
                                        </p:attrNameLst>
                                      </p:cBhvr>
                                      <p:to>
                                        <p:strVal val="hidden"/>
                                      </p:to>
                                    </p:se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75"/>
                                        </p:tgtEl>
                                        <p:attrNameLst>
                                          <p:attrName>style.visibility</p:attrName>
                                        </p:attrNameLst>
                                      </p:cBhvr>
                                      <p:to>
                                        <p:strVal val="visible"/>
                                      </p:to>
                                    </p:set>
                                    <p:animEffect filter="fade" transition="in">
                                      <p:cBhvr>
                                        <p:cTn dur="500"/>
                                        <p:tgtEl>
                                          <p:spTgt spid="75"/>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70">
                                            <p:txEl>
                                              <p:pRg end="0" st="0"/>
                                            </p:txEl>
                                          </p:spTgt>
                                        </p:tgtEl>
                                        <p:attrNameLst>
                                          <p:attrName>style.visibility</p:attrName>
                                        </p:attrNameLst>
                                      </p:cBhvr>
                                      <p:to>
                                        <p:strVal val="visible"/>
                                      </p:to>
                                    </p:set>
                                    <p:animEffect filter="fade" transition="in">
                                      <p:cBhvr>
                                        <p:cTn dur="500"/>
                                        <p:tgtEl>
                                          <p:spTgt spid="70">
                                            <p:txEl>
                                              <p:pRg end="0" st="0"/>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70">
                                            <p:txEl>
                                              <p:pRg end="1" st="1"/>
                                            </p:txEl>
                                          </p:spTgt>
                                        </p:tgtEl>
                                        <p:attrNameLst>
                                          <p:attrName>style.visibility</p:attrName>
                                        </p:attrNameLst>
                                      </p:cBhvr>
                                      <p:to>
                                        <p:strVal val="visible"/>
                                      </p:to>
                                    </p:set>
                                    <p:animEffect filter="fade" transition="in">
                                      <p:cBhvr>
                                        <p:cTn dur="500"/>
                                        <p:tgtEl>
                                          <p:spTgt spid="70">
                                            <p:txEl>
                                              <p:pRg end="1" st="1"/>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70">
                                            <p:txEl>
                                              <p:pRg end="2" st="2"/>
                                            </p:txEl>
                                          </p:spTgt>
                                        </p:tgtEl>
                                        <p:attrNameLst>
                                          <p:attrName>style.visibility</p:attrName>
                                        </p:attrNameLst>
                                      </p:cBhvr>
                                      <p:to>
                                        <p:strVal val="visible"/>
                                      </p:to>
                                    </p:set>
                                    <p:animEffect filter="fade" transition="in">
                                      <p:cBhvr>
                                        <p:cTn dur="500"/>
                                        <p:tgtEl>
                                          <p:spTgt spid="70">
                                            <p:txEl>
                                              <p:pRg end="2" st="2"/>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70">
                                            <p:txEl>
                                              <p:pRg end="3" st="3"/>
                                            </p:txEl>
                                          </p:spTgt>
                                        </p:tgtEl>
                                        <p:attrNameLst>
                                          <p:attrName>style.visibility</p:attrName>
                                        </p:attrNameLst>
                                      </p:cBhvr>
                                      <p:to>
                                        <p:strVal val="visible"/>
                                      </p:to>
                                    </p:set>
                                    <p:animEffect filter="fade" transition="in">
                                      <p:cBhvr>
                                        <p:cTn dur="500"/>
                                        <p:tgtEl>
                                          <p:spTgt spid="70">
                                            <p:txEl>
                                              <p:pRg end="3" st="3"/>
                                            </p:txEl>
                                          </p:spTgt>
                                        </p:tgtEl>
                                      </p:cBhvr>
                                    </p:animEffect>
                                  </p:childTnLst>
                                </p:cTn>
                              </p:par>
                            </p:childTnLst>
                          </p:cTn>
                        </p:par>
                        <p:par>
                          <p:cTn fill="hold">
                            <p:stCondLst>
                              <p:cond delay="4500"/>
                            </p:stCondLst>
                            <p:childTnLst>
                              <p:par>
                                <p:cTn fill="hold" nodeType="afterEffect" presetClass="entr" presetID="10" presetSubtype="0">
                                  <p:stCondLst>
                                    <p:cond delay="0"/>
                                  </p:stCondLst>
                                  <p:childTnLst>
                                    <p:set>
                                      <p:cBhvr>
                                        <p:cTn dur="1" fill="hold">
                                          <p:stCondLst>
                                            <p:cond delay="0"/>
                                          </p:stCondLst>
                                        </p:cTn>
                                        <p:tgtEl>
                                          <p:spTgt spid="70">
                                            <p:txEl>
                                              <p:pRg end="4" st="4"/>
                                            </p:txEl>
                                          </p:spTgt>
                                        </p:tgtEl>
                                        <p:attrNameLst>
                                          <p:attrName>style.visibility</p:attrName>
                                        </p:attrNameLst>
                                      </p:cBhvr>
                                      <p:to>
                                        <p:strVal val="visible"/>
                                      </p:to>
                                    </p:set>
                                    <p:animEffect filter="fade" transition="in">
                                      <p:cBhvr>
                                        <p:cTn dur="500"/>
                                        <p:tgtEl>
                                          <p:spTgt spid="70">
                                            <p:txEl>
                                              <p:pRg end="4" st="4"/>
                                            </p:txEl>
                                          </p:spTgt>
                                        </p:tgtEl>
                                      </p:cBhvr>
                                    </p:animEffect>
                                  </p:childTnLst>
                                </p:cTn>
                              </p:par>
                            </p:childTnLst>
                          </p:cTn>
                        </p:par>
                        <p:par>
                          <p:cTn fill="hold">
                            <p:stCondLst>
                              <p:cond delay="5000"/>
                            </p:stCondLst>
                            <p:childTnLst>
                              <p:par>
                                <p:cTn fill="hold" nodeType="afterEffect" presetClass="entr" presetID="10" presetSubtype="0">
                                  <p:stCondLst>
                                    <p:cond delay="0"/>
                                  </p:stCondLst>
                                  <p:childTnLst>
                                    <p:set>
                                      <p:cBhvr>
                                        <p:cTn dur="1" fill="hold">
                                          <p:stCondLst>
                                            <p:cond delay="0"/>
                                          </p:stCondLst>
                                        </p:cTn>
                                        <p:tgtEl>
                                          <p:spTgt spid="70">
                                            <p:txEl>
                                              <p:pRg end="5" st="5"/>
                                            </p:txEl>
                                          </p:spTgt>
                                        </p:tgtEl>
                                        <p:attrNameLst>
                                          <p:attrName>style.visibility</p:attrName>
                                        </p:attrNameLst>
                                      </p:cBhvr>
                                      <p:to>
                                        <p:strVal val="visible"/>
                                      </p:to>
                                    </p:set>
                                    <p:animEffect filter="fade" transition="in">
                                      <p:cBhvr>
                                        <p:cTn dur="500"/>
                                        <p:tgtEl>
                                          <p:spTgt spid="70">
                                            <p:txEl>
                                              <p:pRg end="5" st="5"/>
                                            </p:txEl>
                                          </p:spTgt>
                                        </p:tgtEl>
                                      </p:cBhvr>
                                    </p:animEffect>
                                  </p:childTnLst>
                                </p:cTn>
                              </p:par>
                            </p:childTnLst>
                          </p:cTn>
                        </p:par>
                        <p:par>
                          <p:cTn fill="hold">
                            <p:stCondLst>
                              <p:cond delay="5500"/>
                            </p:stCondLst>
                            <p:childTnLst>
                              <p:par>
                                <p:cTn fill="hold" nodeType="afterEffect" presetClass="entr" presetID="10" presetSubtype="0">
                                  <p:stCondLst>
                                    <p:cond delay="0"/>
                                  </p:stCondLst>
                                  <p:childTnLst>
                                    <p:set>
                                      <p:cBhvr>
                                        <p:cTn dur="1" fill="hold">
                                          <p:stCondLst>
                                            <p:cond delay="0"/>
                                          </p:stCondLst>
                                        </p:cTn>
                                        <p:tgtEl>
                                          <p:spTgt spid="70">
                                            <p:txEl>
                                              <p:pRg end="6" st="6"/>
                                            </p:txEl>
                                          </p:spTgt>
                                        </p:tgtEl>
                                        <p:attrNameLst>
                                          <p:attrName>style.visibility</p:attrName>
                                        </p:attrNameLst>
                                      </p:cBhvr>
                                      <p:to>
                                        <p:strVal val="visible"/>
                                      </p:to>
                                    </p:set>
                                    <p:animEffect filter="fade" transition="in">
                                      <p:cBhvr>
                                        <p:cTn dur="500"/>
                                        <p:tgtEl>
                                          <p:spTgt spid="70">
                                            <p:txEl>
                                              <p:pRg end="6" st="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7645C"/>
        </a:solidFill>
      </p:bgPr>
    </p:bg>
    <p:spTree>
      <p:nvGrpSpPr>
        <p:cNvPr id="80" name="Shape 80"/>
        <p:cNvGrpSpPr/>
        <p:nvPr/>
      </p:nvGrpSpPr>
      <p:grpSpPr>
        <a:xfrm>
          <a:off x="0" y="0"/>
          <a:ext cx="0" cy="0"/>
          <a:chOff x="0" y="0"/>
          <a:chExt cx="0" cy="0"/>
        </a:xfrm>
      </p:grpSpPr>
      <p:sp>
        <p:nvSpPr>
          <p:cNvPr id="81" name="Google Shape;81;p12"/>
          <p:cNvSpPr/>
          <p:nvPr/>
        </p:nvSpPr>
        <p:spPr>
          <a:xfrm>
            <a:off x="755650" y="1741804"/>
            <a:ext cx="7632700" cy="1326105"/>
          </a:xfrm>
          <a:prstGeom prst="rect">
            <a:avLst/>
          </a:prstGeom>
          <a:solidFill>
            <a:srgbClr val="E7645C"/>
          </a:solidFill>
          <a:ln>
            <a:noFill/>
          </a:ln>
        </p:spPr>
        <p:txBody>
          <a:bodyPr anchorCtr="0" anchor="t" bIns="108000" lIns="108000" spcFirstLastPara="1" rIns="108000" wrap="square" tIns="108000">
            <a:noAutofit/>
          </a:bodyPr>
          <a:lstStyle/>
          <a:p>
            <a:pPr indent="0" lvl="0" marL="0" marR="0" rtl="0" algn="l">
              <a:spcBef>
                <a:spcPts val="0"/>
              </a:spcBef>
              <a:spcAft>
                <a:spcPts val="0"/>
              </a:spcAft>
              <a:buClr>
                <a:schemeClr val="lt1"/>
              </a:buClr>
              <a:buSzPts val="1800"/>
              <a:buFont typeface="Roboto"/>
              <a:buNone/>
            </a:pPr>
            <a:r>
              <a:rPr lang="en-GB" sz="1800">
                <a:solidFill>
                  <a:schemeClr val="lt1"/>
                </a:solidFill>
                <a:latin typeface="Roboto"/>
                <a:ea typeface="Roboto"/>
                <a:cs typeface="Roboto"/>
                <a:sym typeface="Roboto"/>
              </a:rPr>
              <a:t>The micro:bit was developed to inspire higher levels of engagement and creativity. The capabilities of the micro:bit allow for collaborative learning. The hands-on experience will encourage communication amongst children. </a:t>
            </a:r>
            <a:endParaRPr/>
          </a:p>
        </p:txBody>
      </p:sp>
      <p:sp>
        <p:nvSpPr>
          <p:cNvPr id="82" name="Google Shape;82;p12"/>
          <p:cNvSpPr/>
          <p:nvPr/>
        </p:nvSpPr>
        <p:spPr>
          <a:xfrm>
            <a:off x="755650" y="3197767"/>
            <a:ext cx="7632700" cy="1049106"/>
          </a:xfrm>
          <a:prstGeom prst="rect">
            <a:avLst/>
          </a:prstGeom>
          <a:solidFill>
            <a:schemeClr val="lt1"/>
          </a:solidFill>
          <a:ln cap="flat" cmpd="sng" w="19050">
            <a:solidFill>
              <a:srgbClr val="E7645C"/>
            </a:solidFill>
            <a:prstDash val="solid"/>
            <a:round/>
            <a:headEnd len="sm" w="sm" type="none"/>
            <a:tailEnd len="sm" w="sm" type="none"/>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Using a micro:bit is an amazing way to engage children in lessons.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It is a hands-on experience where children are able to be creative whilst building on their computational skills. </a:t>
            </a:r>
            <a:endParaRPr/>
          </a:p>
        </p:txBody>
      </p:sp>
      <p:sp>
        <p:nvSpPr>
          <p:cNvPr id="83" name="Google Shape;83;p12"/>
          <p:cNvSpPr/>
          <p:nvPr/>
        </p:nvSpPr>
        <p:spPr>
          <a:xfrm>
            <a:off x="755650" y="4376731"/>
            <a:ext cx="7632700" cy="1049106"/>
          </a:xfrm>
          <a:prstGeom prst="rect">
            <a:avLst/>
          </a:prstGeom>
          <a:solidFill>
            <a:srgbClr val="E7645C"/>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lt1"/>
                </a:solidFill>
                <a:latin typeface="Roboto"/>
                <a:ea typeface="Roboto"/>
                <a:cs typeface="Roboto"/>
                <a:sym typeface="Roboto"/>
              </a:rPr>
              <a:t>A micro:bit can be accessed by children of all computing abilities. </a:t>
            </a:r>
            <a:br>
              <a:rPr lang="en-GB" sz="1800">
                <a:solidFill>
                  <a:schemeClr val="lt1"/>
                </a:solidFill>
                <a:latin typeface="Roboto"/>
                <a:ea typeface="Roboto"/>
                <a:cs typeface="Roboto"/>
                <a:sym typeface="Roboto"/>
              </a:rPr>
            </a:br>
            <a:r>
              <a:rPr lang="en-GB" sz="1800">
                <a:solidFill>
                  <a:schemeClr val="lt1"/>
                </a:solidFill>
                <a:latin typeface="Roboto"/>
                <a:ea typeface="Roboto"/>
                <a:cs typeface="Roboto"/>
                <a:sym typeface="Roboto"/>
              </a:rPr>
              <a:t>It allows for children to be active learners where they are more likely to retain the information they have learnt.</a:t>
            </a:r>
            <a:endParaRPr/>
          </a:p>
        </p:txBody>
      </p:sp>
      <p:sp>
        <p:nvSpPr>
          <p:cNvPr id="84" name="Google Shape;84;p12"/>
          <p:cNvSpPr/>
          <p:nvPr/>
        </p:nvSpPr>
        <p:spPr>
          <a:xfrm>
            <a:off x="4189094" y="1733563"/>
            <a:ext cx="4096385" cy="1695437"/>
          </a:xfrm>
          <a:prstGeom prst="rect">
            <a:avLst/>
          </a:prstGeom>
          <a:no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b="1" lang="en-GB" sz="3200">
                <a:solidFill>
                  <a:schemeClr val="dk1"/>
                </a:solidFill>
                <a:latin typeface="Roboto"/>
                <a:ea typeface="Roboto"/>
                <a:cs typeface="Roboto"/>
                <a:sym typeface="Roboto"/>
              </a:rPr>
              <a:t>The possibilities </a:t>
            </a:r>
            <a:br>
              <a:rPr b="1" lang="en-GB" sz="3200">
                <a:solidFill>
                  <a:schemeClr val="dk1"/>
                </a:solidFill>
                <a:latin typeface="Roboto"/>
                <a:ea typeface="Roboto"/>
                <a:cs typeface="Roboto"/>
                <a:sym typeface="Roboto"/>
              </a:rPr>
            </a:br>
            <a:r>
              <a:rPr b="1" lang="en-GB" sz="3200">
                <a:solidFill>
                  <a:schemeClr val="dk1"/>
                </a:solidFill>
                <a:latin typeface="Roboto"/>
                <a:ea typeface="Roboto"/>
                <a:cs typeface="Roboto"/>
                <a:sym typeface="Roboto"/>
              </a:rPr>
              <a:t>of the </a:t>
            </a:r>
            <a:r>
              <a:rPr b="1" lang="en-GB" sz="3200">
                <a:solidFill>
                  <a:srgbClr val="E7645C"/>
                </a:solidFill>
                <a:latin typeface="Roboto"/>
                <a:ea typeface="Roboto"/>
                <a:cs typeface="Roboto"/>
                <a:sym typeface="Roboto"/>
              </a:rPr>
              <a:t>micro:bit </a:t>
            </a:r>
            <a:br>
              <a:rPr b="1" lang="en-GB" sz="3200">
                <a:solidFill>
                  <a:srgbClr val="CD0365"/>
                </a:solidFill>
                <a:latin typeface="Roboto"/>
                <a:ea typeface="Roboto"/>
                <a:cs typeface="Roboto"/>
                <a:sym typeface="Roboto"/>
              </a:rPr>
            </a:br>
            <a:r>
              <a:rPr b="1" lang="en-GB" sz="3200">
                <a:solidFill>
                  <a:schemeClr val="dk1"/>
                </a:solidFill>
                <a:latin typeface="Roboto"/>
                <a:ea typeface="Roboto"/>
                <a:cs typeface="Roboto"/>
                <a:sym typeface="Roboto"/>
              </a:rPr>
              <a:t>are almost endless. </a:t>
            </a:r>
            <a:endParaRPr/>
          </a:p>
        </p:txBody>
      </p:sp>
      <p:sp>
        <p:nvSpPr>
          <p:cNvPr id="85" name="Google Shape;85;p12"/>
          <p:cNvSpPr txBox="1"/>
          <p:nvPr/>
        </p:nvSpPr>
        <p:spPr>
          <a:xfrm>
            <a:off x="755647" y="738107"/>
            <a:ext cx="4667887"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E7645C"/>
              </a:buClr>
              <a:buSzPts val="2400"/>
              <a:buFont typeface="Roboto"/>
              <a:buNone/>
            </a:pPr>
            <a:r>
              <a:rPr b="1" lang="en-GB" sz="2400">
                <a:solidFill>
                  <a:srgbClr val="E7645C"/>
                </a:solidFill>
                <a:latin typeface="Roboto"/>
                <a:ea typeface="Roboto"/>
                <a:cs typeface="Roboto"/>
                <a:sym typeface="Roboto"/>
              </a:rPr>
              <a:t>Benefits of Using a BBC micro:bit</a:t>
            </a:r>
            <a:endParaRPr b="1" sz="2400">
              <a:solidFill>
                <a:srgbClr val="E7645C"/>
              </a:solidFill>
              <a:latin typeface="Roboto"/>
              <a:ea typeface="Roboto"/>
              <a:cs typeface="Roboto"/>
              <a:sym typeface="Roboto"/>
            </a:endParaRPr>
          </a:p>
        </p:txBody>
      </p:sp>
      <p:sp>
        <p:nvSpPr>
          <p:cNvPr id="86" name="Google Shape;86;p12"/>
          <p:cNvSpPr/>
          <p:nvPr/>
        </p:nvSpPr>
        <p:spPr>
          <a:xfrm>
            <a:off x="4189094" y="3652776"/>
            <a:ext cx="4096386" cy="2187879"/>
          </a:xfrm>
          <a:prstGeom prst="rect">
            <a:avLst/>
          </a:prstGeom>
          <a:no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b="1" lang="en-GB" sz="3200">
                <a:solidFill>
                  <a:srgbClr val="E7645C"/>
                </a:solidFill>
                <a:latin typeface="Roboto"/>
                <a:ea typeface="Roboto"/>
                <a:cs typeface="Roboto"/>
                <a:sym typeface="Roboto"/>
              </a:rPr>
              <a:t>The only real limitations are deciding on a project to embark on!</a:t>
            </a:r>
            <a:endParaRPr/>
          </a:p>
        </p:txBody>
      </p:sp>
      <p:pic>
        <p:nvPicPr>
          <p:cNvPr descr="A picture containing person, clothing, mobile phone, human face&#10;&#10;Description automatically generated" id="87" name="Google Shape;87;p12"/>
          <p:cNvPicPr preferRelativeResize="0"/>
          <p:nvPr/>
        </p:nvPicPr>
        <p:blipFill rotWithShape="1">
          <a:blip r:embed="rId3">
            <a:alphaModFix/>
          </a:blip>
          <a:srcRect b="0" l="0" r="0" t="0"/>
          <a:stretch/>
        </p:blipFill>
        <p:spPr>
          <a:xfrm>
            <a:off x="755650" y="1514475"/>
            <a:ext cx="3201133" cy="48001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81"/>
                                        </p:tgtEl>
                                        <p:attrNameLst>
                                          <p:attrName>style.visibility</p:attrName>
                                        </p:attrNameLst>
                                      </p:cBhvr>
                                      <p:to>
                                        <p:strVal val="visible"/>
                                      </p:to>
                                    </p:set>
                                    <p:animEffect filter="fade" transition="in">
                                      <p:cBhvr>
                                        <p:cTn dur="500"/>
                                        <p:tgtEl>
                                          <p:spTgt spid="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
                                        </p:tgtEl>
                                        <p:attrNameLst>
                                          <p:attrName>style.visibility</p:attrName>
                                        </p:attrNameLst>
                                      </p:cBhvr>
                                      <p:to>
                                        <p:strVal val="visible"/>
                                      </p:to>
                                    </p:set>
                                    <p:animEffect filter="fade" transition="in">
                                      <p:cBhvr>
                                        <p:cTn dur="500"/>
                                        <p:tgtEl>
                                          <p:spTgt spid="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
                                        </p:tgtEl>
                                        <p:attrNameLst>
                                          <p:attrName>style.visibility</p:attrName>
                                        </p:attrNameLst>
                                      </p:cBhvr>
                                      <p:to>
                                        <p:strVal val="visible"/>
                                      </p:to>
                                    </p:set>
                                    <p:animEffect filter="fade" transition="in">
                                      <p:cBhvr>
                                        <p:cTn dur="500"/>
                                        <p:tgtEl>
                                          <p:spTgt spid="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23" presetSubtype="32">
                                  <p:stCondLst>
                                    <p:cond delay="0"/>
                                  </p:stCondLst>
                                  <p:childTnLst>
                                    <p:anim calcmode="lin" valueType="num">
                                      <p:cBhvr additive="base">
                                        <p:cTn dur="500"/>
                                        <p:tgtEl>
                                          <p:spTgt spid="81"/>
                                        </p:tgtEl>
                                        <p:attrNameLst>
                                          <p:attrName>ppt_w</p:attrName>
                                        </p:attrNameLst>
                                      </p:cBhvr>
                                      <p:tavLst>
                                        <p:tav fmla="" tm="0">
                                          <p:val>
                                            <p:strVal val="#ppt_w"/>
                                          </p:val>
                                        </p:tav>
                                        <p:tav fmla="" tm="100000">
                                          <p:val>
                                            <p:strVal val="0"/>
                                          </p:val>
                                        </p:tav>
                                      </p:tavLst>
                                    </p:anim>
                                    <p:anim calcmode="lin" valueType="num">
                                      <p:cBhvr additive="base">
                                        <p:cTn dur="500"/>
                                        <p:tgtEl>
                                          <p:spTgt spid="81"/>
                                        </p:tgtEl>
                                        <p:attrNameLst>
                                          <p:attrName>ppt_h</p:attrName>
                                        </p:attrNameLst>
                                      </p:cBhvr>
                                      <p:tavLst>
                                        <p:tav fmla="" tm="0">
                                          <p:val>
                                            <p:strVal val="#ppt_h"/>
                                          </p:val>
                                        </p:tav>
                                        <p:tav fmla="" tm="100000">
                                          <p:val>
                                            <p:strVal val="0"/>
                                          </p:val>
                                        </p:tav>
                                      </p:tavLst>
                                    </p:anim>
                                    <p:set>
                                      <p:cBhvr>
                                        <p:cTn dur="1" fill="hold">
                                          <p:stCondLst>
                                            <p:cond delay="500"/>
                                          </p:stCondLst>
                                        </p:cTn>
                                        <p:tgtEl>
                                          <p:spTgt spid="81"/>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82"/>
                                        </p:tgtEl>
                                        <p:attrNameLst>
                                          <p:attrName>ppt_w</p:attrName>
                                        </p:attrNameLst>
                                      </p:cBhvr>
                                      <p:tavLst>
                                        <p:tav fmla="" tm="0">
                                          <p:val>
                                            <p:strVal val="#ppt_w"/>
                                          </p:val>
                                        </p:tav>
                                        <p:tav fmla="" tm="100000">
                                          <p:val>
                                            <p:strVal val="0"/>
                                          </p:val>
                                        </p:tav>
                                      </p:tavLst>
                                    </p:anim>
                                    <p:anim calcmode="lin" valueType="num">
                                      <p:cBhvr additive="base">
                                        <p:cTn dur="500"/>
                                        <p:tgtEl>
                                          <p:spTgt spid="82"/>
                                        </p:tgtEl>
                                        <p:attrNameLst>
                                          <p:attrName>ppt_h</p:attrName>
                                        </p:attrNameLst>
                                      </p:cBhvr>
                                      <p:tavLst>
                                        <p:tav fmla="" tm="0">
                                          <p:val>
                                            <p:strVal val="#ppt_h"/>
                                          </p:val>
                                        </p:tav>
                                        <p:tav fmla="" tm="100000">
                                          <p:val>
                                            <p:strVal val="0"/>
                                          </p:val>
                                        </p:tav>
                                      </p:tavLst>
                                    </p:anim>
                                    <p:set>
                                      <p:cBhvr>
                                        <p:cTn dur="1" fill="hold">
                                          <p:stCondLst>
                                            <p:cond delay="500"/>
                                          </p:stCondLst>
                                        </p:cTn>
                                        <p:tgtEl>
                                          <p:spTgt spid="82"/>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83"/>
                                        </p:tgtEl>
                                        <p:attrNameLst>
                                          <p:attrName>ppt_w</p:attrName>
                                        </p:attrNameLst>
                                      </p:cBhvr>
                                      <p:tavLst>
                                        <p:tav fmla="" tm="0">
                                          <p:val>
                                            <p:strVal val="#ppt_w"/>
                                          </p:val>
                                        </p:tav>
                                        <p:tav fmla="" tm="100000">
                                          <p:val>
                                            <p:strVal val="0"/>
                                          </p:val>
                                        </p:tav>
                                      </p:tavLst>
                                    </p:anim>
                                    <p:anim calcmode="lin" valueType="num">
                                      <p:cBhvr additive="base">
                                        <p:cTn dur="500"/>
                                        <p:tgtEl>
                                          <p:spTgt spid="83"/>
                                        </p:tgtEl>
                                        <p:attrNameLst>
                                          <p:attrName>ppt_h</p:attrName>
                                        </p:attrNameLst>
                                      </p:cBhvr>
                                      <p:tavLst>
                                        <p:tav fmla="" tm="0">
                                          <p:val>
                                            <p:strVal val="#ppt_h"/>
                                          </p:val>
                                        </p:tav>
                                        <p:tav fmla="" tm="100000">
                                          <p:val>
                                            <p:strVal val="0"/>
                                          </p:val>
                                        </p:tav>
                                      </p:tavLst>
                                    </p:anim>
                                    <p:set>
                                      <p:cBhvr>
                                        <p:cTn dur="1" fill="hold">
                                          <p:stCondLst>
                                            <p:cond delay="500"/>
                                          </p:stCondLst>
                                        </p:cTn>
                                        <p:tgtEl>
                                          <p:spTgt spid="83"/>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87"/>
                                        </p:tgtEl>
                                        <p:attrNameLst>
                                          <p:attrName>style.visibility</p:attrName>
                                        </p:attrNameLst>
                                      </p:cBhvr>
                                      <p:to>
                                        <p:strVal val="visible"/>
                                      </p:to>
                                    </p:set>
                                    <p:animEffect filter="fade" transition="in">
                                      <p:cBhvr>
                                        <p:cTn dur="500"/>
                                        <p:tgtEl>
                                          <p:spTgt spid="87"/>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84"/>
                                        </p:tgtEl>
                                        <p:attrNameLst>
                                          <p:attrName>style.visibility</p:attrName>
                                        </p:attrNameLst>
                                      </p:cBhvr>
                                      <p:to>
                                        <p:strVal val="visible"/>
                                      </p:to>
                                    </p:set>
                                    <p:animEffect filter="fade" transition="in">
                                      <p:cBhvr>
                                        <p:cTn dur="500"/>
                                        <p:tgtEl>
                                          <p:spTgt spid="8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6"/>
                                        </p:tgtEl>
                                        <p:attrNameLst>
                                          <p:attrName>style.visibility</p:attrName>
                                        </p:attrNameLst>
                                      </p:cBhvr>
                                      <p:to>
                                        <p:strVal val="visible"/>
                                      </p:to>
                                    </p:set>
                                    <p:animEffect filter="fade" transition="in">
                                      <p:cBhvr>
                                        <p:cTn dur="500"/>
                                        <p:tgtEl>
                                          <p:spTgt spid="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C4BC1"/>
        </a:solidFill>
      </p:bgPr>
    </p:bg>
    <p:spTree>
      <p:nvGrpSpPr>
        <p:cNvPr id="91" name="Shape 91"/>
        <p:cNvGrpSpPr/>
        <p:nvPr/>
      </p:nvGrpSpPr>
      <p:grpSpPr>
        <a:xfrm>
          <a:off x="0" y="0"/>
          <a:ext cx="0" cy="0"/>
          <a:chOff x="0" y="0"/>
          <a:chExt cx="0" cy="0"/>
        </a:xfrm>
      </p:grpSpPr>
      <p:sp>
        <p:nvSpPr>
          <p:cNvPr id="92" name="Google Shape;92;p13"/>
          <p:cNvSpPr/>
          <p:nvPr/>
        </p:nvSpPr>
        <p:spPr>
          <a:xfrm>
            <a:off x="755650" y="1482396"/>
            <a:ext cx="7632700" cy="772107"/>
          </a:xfrm>
          <a:prstGeom prst="rect">
            <a:avLst/>
          </a:prstGeom>
          <a:solidFill>
            <a:srgbClr val="6C4BC1"/>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lt1"/>
                </a:solidFill>
                <a:latin typeface="Roboto"/>
                <a:ea typeface="Roboto"/>
                <a:cs typeface="Roboto"/>
                <a:sym typeface="Roboto"/>
              </a:rPr>
              <a:t>Using a micro:bit will help you to cover aspects of the computing curriculum. </a:t>
            </a:r>
            <a:endParaRPr/>
          </a:p>
        </p:txBody>
      </p:sp>
      <p:sp>
        <p:nvSpPr>
          <p:cNvPr id="93" name="Google Shape;93;p13"/>
          <p:cNvSpPr/>
          <p:nvPr/>
        </p:nvSpPr>
        <p:spPr>
          <a:xfrm>
            <a:off x="755650" y="2425482"/>
            <a:ext cx="7632700" cy="8309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Computer science can be a really tricky subject to cover, especially if you are not a confident coder. With a micro:bit, you will be able to cover the following national curriculum aims with ease:</a:t>
            </a:r>
            <a:endParaRPr/>
          </a:p>
        </p:txBody>
      </p:sp>
      <p:sp>
        <p:nvSpPr>
          <p:cNvPr id="94" name="Google Shape;94;p13"/>
          <p:cNvSpPr/>
          <p:nvPr/>
        </p:nvSpPr>
        <p:spPr>
          <a:xfrm>
            <a:off x="755650" y="3590092"/>
            <a:ext cx="7632700" cy="2492990"/>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design, write and debug programs that accomplish specific goals, including controlling or simulating physical systems; solve problems by decomposing them into smaller parts</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use sequence, selection and repetition in programs; work with various forms of input and output </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use logical reasoning to explain how some simple algorithms work and to detect and correct errors in algorithms and programs</a:t>
            </a:r>
            <a:endParaRPr/>
          </a:p>
        </p:txBody>
      </p:sp>
      <p:sp>
        <p:nvSpPr>
          <p:cNvPr id="95" name="Google Shape;95;p13"/>
          <p:cNvSpPr txBox="1"/>
          <p:nvPr/>
        </p:nvSpPr>
        <p:spPr>
          <a:xfrm>
            <a:off x="755647" y="738107"/>
            <a:ext cx="4667887"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6C4BC1"/>
              </a:buClr>
              <a:buSzPts val="2400"/>
              <a:buFont typeface="Roboto"/>
              <a:buNone/>
            </a:pPr>
            <a:r>
              <a:rPr b="1" lang="en-GB" sz="2400">
                <a:solidFill>
                  <a:srgbClr val="6C4BC1"/>
                </a:solidFill>
                <a:latin typeface="Roboto"/>
                <a:ea typeface="Roboto"/>
                <a:cs typeface="Roboto"/>
                <a:sym typeface="Roboto"/>
              </a:rPr>
              <a:t>Curriculum Links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92"/>
                                        </p:tgtEl>
                                        <p:attrNameLst>
                                          <p:attrName>style.visibility</p:attrName>
                                        </p:attrNameLst>
                                      </p:cBhvr>
                                      <p:to>
                                        <p:strVal val="visible"/>
                                      </p:to>
                                    </p:set>
                                    <p:animEffect filter="fade" transition="in">
                                      <p:cBhvr>
                                        <p:cTn dur="500"/>
                                        <p:tgtEl>
                                          <p:spTgt spid="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
                                        </p:tgtEl>
                                        <p:attrNameLst>
                                          <p:attrName>style.visibility</p:attrName>
                                        </p:attrNameLst>
                                      </p:cBhvr>
                                      <p:to>
                                        <p:strVal val="visible"/>
                                      </p:to>
                                    </p:set>
                                    <p:animEffect filter="fade" transition="in">
                                      <p:cBhvr>
                                        <p:cTn dur="500"/>
                                        <p:tgtEl>
                                          <p:spTgt spid="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xEl>
                                              <p:pRg end="0" st="0"/>
                                            </p:txEl>
                                          </p:spTgt>
                                        </p:tgtEl>
                                        <p:attrNameLst>
                                          <p:attrName>style.visibility</p:attrName>
                                        </p:attrNameLst>
                                      </p:cBhvr>
                                      <p:to>
                                        <p:strVal val="visible"/>
                                      </p:to>
                                    </p:set>
                                    <p:animEffect filter="fade" transition="in">
                                      <p:cBhvr>
                                        <p:cTn dur="500"/>
                                        <p:tgtEl>
                                          <p:spTgt spid="94">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xEl>
                                              <p:pRg end="1" st="1"/>
                                            </p:txEl>
                                          </p:spTgt>
                                        </p:tgtEl>
                                        <p:attrNameLst>
                                          <p:attrName>style.visibility</p:attrName>
                                        </p:attrNameLst>
                                      </p:cBhvr>
                                      <p:to>
                                        <p:strVal val="visible"/>
                                      </p:to>
                                    </p:set>
                                    <p:animEffect filter="fade" transition="in">
                                      <p:cBhvr>
                                        <p:cTn dur="500"/>
                                        <p:tgtEl>
                                          <p:spTgt spid="94">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xEl>
                                              <p:pRg end="2" st="2"/>
                                            </p:txEl>
                                          </p:spTgt>
                                        </p:tgtEl>
                                        <p:attrNameLst>
                                          <p:attrName>style.visibility</p:attrName>
                                        </p:attrNameLst>
                                      </p:cBhvr>
                                      <p:to>
                                        <p:strVal val="visible"/>
                                      </p:to>
                                    </p:set>
                                    <p:animEffect filter="fade" transition="in">
                                      <p:cBhvr>
                                        <p:cTn dur="500"/>
                                        <p:tgtEl>
                                          <p:spTgt spid="94">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xEl>
                                              <p:pRg end="3" st="3"/>
                                            </p:txEl>
                                          </p:spTgt>
                                        </p:tgtEl>
                                        <p:attrNameLst>
                                          <p:attrName>style.visibility</p:attrName>
                                        </p:attrNameLst>
                                      </p:cBhvr>
                                      <p:to>
                                        <p:strVal val="visible"/>
                                      </p:to>
                                    </p:set>
                                    <p:animEffect filter="fade" transition="in">
                                      <p:cBhvr>
                                        <p:cTn dur="500"/>
                                        <p:tgtEl>
                                          <p:spTgt spid="94">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
                                            <p:txEl>
                                              <p:pRg end="4" st="4"/>
                                            </p:txEl>
                                          </p:spTgt>
                                        </p:tgtEl>
                                        <p:attrNameLst>
                                          <p:attrName>style.visibility</p:attrName>
                                        </p:attrNameLst>
                                      </p:cBhvr>
                                      <p:to>
                                        <p:strVal val="visible"/>
                                      </p:to>
                                    </p:set>
                                    <p:animEffect filter="fade" transition="in">
                                      <p:cBhvr>
                                        <p:cTn dur="500"/>
                                        <p:tgtEl>
                                          <p:spTgt spid="94">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C4BC1"/>
        </a:solidFill>
      </p:bgPr>
    </p:bg>
    <p:spTree>
      <p:nvGrpSpPr>
        <p:cNvPr id="99" name="Shape 99"/>
        <p:cNvGrpSpPr/>
        <p:nvPr/>
      </p:nvGrpSpPr>
      <p:grpSpPr>
        <a:xfrm>
          <a:off x="0" y="0"/>
          <a:ext cx="0" cy="0"/>
          <a:chOff x="0" y="0"/>
          <a:chExt cx="0" cy="0"/>
        </a:xfrm>
      </p:grpSpPr>
      <p:sp>
        <p:nvSpPr>
          <p:cNvPr id="100" name="Google Shape;100;p14"/>
          <p:cNvSpPr/>
          <p:nvPr/>
        </p:nvSpPr>
        <p:spPr>
          <a:xfrm>
            <a:off x="755650" y="1482396"/>
            <a:ext cx="7632700" cy="1055064"/>
          </a:xfrm>
          <a:prstGeom prst="rect">
            <a:avLst/>
          </a:prstGeom>
          <a:solidFill>
            <a:srgbClr val="6C4BC1"/>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lt1"/>
                </a:solidFill>
                <a:latin typeface="Roboto"/>
                <a:ea typeface="Roboto"/>
                <a:cs typeface="Roboto"/>
                <a:sym typeface="Roboto"/>
              </a:rPr>
              <a:t>Depending on the program or project you choose to create with your micro:bit, the children could be accessing more than just the computing curriculum. </a:t>
            </a:r>
            <a:endParaRPr/>
          </a:p>
        </p:txBody>
      </p:sp>
      <p:sp>
        <p:nvSpPr>
          <p:cNvPr id="101" name="Google Shape;101;p14"/>
          <p:cNvSpPr/>
          <p:nvPr/>
        </p:nvSpPr>
        <p:spPr>
          <a:xfrm>
            <a:off x="755650" y="2807761"/>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cross-curricular links with a micro:bit are endless.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Embarking on a micro:bit project could allow children to access:</a:t>
            </a:r>
            <a:endParaRPr/>
          </a:p>
        </p:txBody>
      </p:sp>
      <p:sp>
        <p:nvSpPr>
          <p:cNvPr id="102" name="Google Shape;102;p14"/>
          <p:cNvSpPr txBox="1"/>
          <p:nvPr/>
        </p:nvSpPr>
        <p:spPr>
          <a:xfrm>
            <a:off x="755647" y="738107"/>
            <a:ext cx="4667887"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6C4BC1"/>
              </a:buClr>
              <a:buSzPts val="2400"/>
              <a:buFont typeface="Roboto"/>
              <a:buNone/>
            </a:pPr>
            <a:r>
              <a:rPr b="1" lang="en-GB" sz="2400">
                <a:solidFill>
                  <a:srgbClr val="6C4BC1"/>
                </a:solidFill>
                <a:latin typeface="Roboto"/>
                <a:ea typeface="Roboto"/>
                <a:cs typeface="Roboto"/>
                <a:sym typeface="Roboto"/>
              </a:rPr>
              <a:t>Curriculum Links</a:t>
            </a:r>
            <a:endParaRPr/>
          </a:p>
        </p:txBody>
      </p:sp>
      <p:sp>
        <p:nvSpPr>
          <p:cNvPr id="103" name="Google Shape;103;p14"/>
          <p:cNvSpPr/>
          <p:nvPr/>
        </p:nvSpPr>
        <p:spPr>
          <a:xfrm>
            <a:off x="755650" y="3682156"/>
            <a:ext cx="205613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computing</a:t>
            </a:r>
            <a:endParaRPr/>
          </a:p>
        </p:txBody>
      </p:sp>
      <p:sp>
        <p:nvSpPr>
          <p:cNvPr id="104" name="Google Shape;104;p14"/>
          <p:cNvSpPr/>
          <p:nvPr/>
        </p:nvSpPr>
        <p:spPr>
          <a:xfrm>
            <a:off x="3541075" y="3682156"/>
            <a:ext cx="205613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science</a:t>
            </a:r>
            <a:endParaRPr/>
          </a:p>
        </p:txBody>
      </p:sp>
      <p:sp>
        <p:nvSpPr>
          <p:cNvPr id="105" name="Google Shape;105;p14"/>
          <p:cNvSpPr/>
          <p:nvPr/>
        </p:nvSpPr>
        <p:spPr>
          <a:xfrm>
            <a:off x="5875015" y="3682156"/>
            <a:ext cx="205613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mathematics</a:t>
            </a:r>
            <a:endParaRPr/>
          </a:p>
        </p:txBody>
      </p:sp>
      <p:sp>
        <p:nvSpPr>
          <p:cNvPr id="106" name="Google Shape;106;p14"/>
          <p:cNvSpPr/>
          <p:nvPr/>
        </p:nvSpPr>
        <p:spPr>
          <a:xfrm>
            <a:off x="755647" y="4230796"/>
            <a:ext cx="149384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music</a:t>
            </a:r>
            <a:endParaRPr/>
          </a:p>
        </p:txBody>
      </p:sp>
      <p:sp>
        <p:nvSpPr>
          <p:cNvPr id="107" name="Google Shape;107;p14"/>
          <p:cNvSpPr/>
          <p:nvPr/>
        </p:nvSpPr>
        <p:spPr>
          <a:xfrm>
            <a:off x="6595110" y="4230796"/>
            <a:ext cx="179324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art and design</a:t>
            </a:r>
            <a:endParaRPr/>
          </a:p>
        </p:txBody>
      </p:sp>
      <p:sp>
        <p:nvSpPr>
          <p:cNvPr id="108" name="Google Shape;108;p14"/>
          <p:cNvSpPr/>
          <p:nvPr/>
        </p:nvSpPr>
        <p:spPr>
          <a:xfrm>
            <a:off x="2515870" y="4230796"/>
            <a:ext cx="205613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design technology</a:t>
            </a:r>
            <a:endParaRPr/>
          </a:p>
        </p:txBody>
      </p:sp>
      <p:sp>
        <p:nvSpPr>
          <p:cNvPr id="109" name="Google Shape;109;p14"/>
          <p:cNvSpPr/>
          <p:nvPr/>
        </p:nvSpPr>
        <p:spPr>
          <a:xfrm>
            <a:off x="4714875" y="4221062"/>
            <a:ext cx="1736720" cy="386054"/>
          </a:xfrm>
          <a:prstGeom prst="rect">
            <a:avLst/>
          </a:prstGeom>
          <a:solidFill>
            <a:srgbClr val="6C4BC1"/>
          </a:solidFill>
          <a:ln>
            <a:noFill/>
          </a:ln>
        </p:spPr>
        <p:txBody>
          <a:bodyPr anchorCtr="0" anchor="ctr" bIns="72000" lIns="36000" spcFirstLastPara="1" rIns="36000" wrap="square" tIns="360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geography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00"/>
                                        </p:tgtEl>
                                        <p:attrNameLst>
                                          <p:attrName>style.visibility</p:attrName>
                                        </p:attrNameLst>
                                      </p:cBhvr>
                                      <p:to>
                                        <p:strVal val="visible"/>
                                      </p:to>
                                    </p:set>
                                    <p:animEffect filter="fade" transition="in">
                                      <p:cBhvr>
                                        <p:cTn dur="500"/>
                                        <p:tgtEl>
                                          <p:spTgt spid="1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
                                        </p:tgtEl>
                                        <p:attrNameLst>
                                          <p:attrName>style.visibility</p:attrName>
                                        </p:attrNameLst>
                                      </p:cBhvr>
                                      <p:to>
                                        <p:strVal val="visible"/>
                                      </p:to>
                                    </p:set>
                                    <p:animEffect filter="fade" transition="in">
                                      <p:cBhvr>
                                        <p:cTn dur="500"/>
                                        <p:tgtEl>
                                          <p:spTgt spid="101"/>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103"/>
                                        </p:tgtEl>
                                        <p:attrNameLst>
                                          <p:attrName>style.visibility</p:attrName>
                                        </p:attrNameLst>
                                      </p:cBhvr>
                                      <p:to>
                                        <p:strVal val="visible"/>
                                      </p:to>
                                    </p:set>
                                    <p:anim calcmode="lin" valueType="num">
                                      <p:cBhvr additive="base">
                                        <p:cTn dur="500"/>
                                        <p:tgtEl>
                                          <p:spTgt spid="103"/>
                                        </p:tgtEl>
                                        <p:attrNameLst>
                                          <p:attrName>ppt_w</p:attrName>
                                        </p:attrNameLst>
                                      </p:cBhvr>
                                      <p:tavLst>
                                        <p:tav fmla="" tm="0">
                                          <p:val>
                                            <p:strVal val="0"/>
                                          </p:val>
                                        </p:tav>
                                        <p:tav fmla="" tm="100000">
                                          <p:val>
                                            <p:strVal val="#ppt_w"/>
                                          </p:val>
                                        </p:tav>
                                      </p:tavLst>
                                    </p:anim>
                                    <p:anim calcmode="lin" valueType="num">
                                      <p:cBhvr additive="base">
                                        <p:cTn dur="500"/>
                                        <p:tgtEl>
                                          <p:spTgt spid="103"/>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104"/>
                                        </p:tgtEl>
                                        <p:attrNameLst>
                                          <p:attrName>style.visibility</p:attrName>
                                        </p:attrNameLst>
                                      </p:cBhvr>
                                      <p:to>
                                        <p:strVal val="visible"/>
                                      </p:to>
                                    </p:set>
                                    <p:anim calcmode="lin" valueType="num">
                                      <p:cBhvr additive="base">
                                        <p:cTn dur="500"/>
                                        <p:tgtEl>
                                          <p:spTgt spid="104"/>
                                        </p:tgtEl>
                                        <p:attrNameLst>
                                          <p:attrName>ppt_w</p:attrName>
                                        </p:attrNameLst>
                                      </p:cBhvr>
                                      <p:tavLst>
                                        <p:tav fmla="" tm="0">
                                          <p:val>
                                            <p:strVal val="0"/>
                                          </p:val>
                                        </p:tav>
                                        <p:tav fmla="" tm="100000">
                                          <p:val>
                                            <p:strVal val="#ppt_w"/>
                                          </p:val>
                                        </p:tav>
                                      </p:tavLst>
                                    </p:anim>
                                    <p:anim calcmode="lin" valueType="num">
                                      <p:cBhvr additive="base">
                                        <p:cTn dur="500"/>
                                        <p:tgtEl>
                                          <p:spTgt spid="104"/>
                                        </p:tgtEl>
                                        <p:attrNameLst>
                                          <p:attrName>ppt_h</p:attrName>
                                        </p:attrNameLst>
                                      </p:cBhvr>
                                      <p:tavLst>
                                        <p:tav fmla="" tm="0">
                                          <p:val>
                                            <p:strVal val="0"/>
                                          </p:val>
                                        </p:tav>
                                        <p:tav fmla="" tm="100000">
                                          <p:val>
                                            <p:strVal val="#ppt_h"/>
                                          </p:val>
                                        </p:tav>
                                      </p:tavLst>
                                    </p:anim>
                                  </p:childTnLst>
                                </p:cTn>
                              </p:par>
                            </p:childTnLst>
                          </p:cTn>
                        </p:par>
                        <p:par>
                          <p:cTn fill="hold">
                            <p:stCondLst>
                              <p:cond delay="1500"/>
                            </p:stCondLst>
                            <p:childTnLst>
                              <p:par>
                                <p:cTn fill="hold" nodeType="afterEffect" presetClass="entr" presetID="23" presetSubtype="16">
                                  <p:stCondLst>
                                    <p:cond delay="0"/>
                                  </p:stCondLst>
                                  <p:childTnLst>
                                    <p:set>
                                      <p:cBhvr>
                                        <p:cTn dur="1" fill="hold">
                                          <p:stCondLst>
                                            <p:cond delay="0"/>
                                          </p:stCondLst>
                                        </p:cTn>
                                        <p:tgtEl>
                                          <p:spTgt spid="105"/>
                                        </p:tgtEl>
                                        <p:attrNameLst>
                                          <p:attrName>style.visibility</p:attrName>
                                        </p:attrNameLst>
                                      </p:cBhvr>
                                      <p:to>
                                        <p:strVal val="visible"/>
                                      </p:to>
                                    </p:set>
                                    <p:anim calcmode="lin" valueType="num">
                                      <p:cBhvr additive="base">
                                        <p:cTn dur="500"/>
                                        <p:tgtEl>
                                          <p:spTgt spid="105"/>
                                        </p:tgtEl>
                                        <p:attrNameLst>
                                          <p:attrName>ppt_w</p:attrName>
                                        </p:attrNameLst>
                                      </p:cBhvr>
                                      <p:tavLst>
                                        <p:tav fmla="" tm="0">
                                          <p:val>
                                            <p:strVal val="0"/>
                                          </p:val>
                                        </p:tav>
                                        <p:tav fmla="" tm="100000">
                                          <p:val>
                                            <p:strVal val="#ppt_w"/>
                                          </p:val>
                                        </p:tav>
                                      </p:tavLst>
                                    </p:anim>
                                    <p:anim calcmode="lin" valueType="num">
                                      <p:cBhvr additive="base">
                                        <p:cTn dur="500"/>
                                        <p:tgtEl>
                                          <p:spTgt spid="105"/>
                                        </p:tgtEl>
                                        <p:attrNameLst>
                                          <p:attrName>ppt_h</p:attrName>
                                        </p:attrNameLst>
                                      </p:cBhvr>
                                      <p:tavLst>
                                        <p:tav fmla="" tm="0">
                                          <p:val>
                                            <p:strVal val="0"/>
                                          </p:val>
                                        </p:tav>
                                        <p:tav fmla="" tm="100000">
                                          <p:val>
                                            <p:strVal val="#ppt_h"/>
                                          </p:val>
                                        </p:tav>
                                      </p:tavLst>
                                    </p:anim>
                                  </p:childTnLst>
                                </p:cTn>
                              </p:par>
                            </p:childTnLst>
                          </p:cTn>
                        </p:par>
                        <p:par>
                          <p:cTn fill="hold">
                            <p:stCondLst>
                              <p:cond delay="2000"/>
                            </p:stCondLst>
                            <p:childTnLst>
                              <p:par>
                                <p:cTn fill="hold" nodeType="afterEffect" presetClass="entr" presetID="23" presetSubtype="16">
                                  <p:stCondLst>
                                    <p:cond delay="0"/>
                                  </p:stCondLst>
                                  <p:childTnLst>
                                    <p:set>
                                      <p:cBhvr>
                                        <p:cTn dur="1" fill="hold">
                                          <p:stCondLst>
                                            <p:cond delay="0"/>
                                          </p:stCondLst>
                                        </p:cTn>
                                        <p:tgtEl>
                                          <p:spTgt spid="106"/>
                                        </p:tgtEl>
                                        <p:attrNameLst>
                                          <p:attrName>style.visibility</p:attrName>
                                        </p:attrNameLst>
                                      </p:cBhvr>
                                      <p:to>
                                        <p:strVal val="visible"/>
                                      </p:to>
                                    </p:set>
                                    <p:anim calcmode="lin" valueType="num">
                                      <p:cBhvr additive="base">
                                        <p:cTn dur="500"/>
                                        <p:tgtEl>
                                          <p:spTgt spid="106"/>
                                        </p:tgtEl>
                                        <p:attrNameLst>
                                          <p:attrName>ppt_w</p:attrName>
                                        </p:attrNameLst>
                                      </p:cBhvr>
                                      <p:tavLst>
                                        <p:tav fmla="" tm="0">
                                          <p:val>
                                            <p:strVal val="0"/>
                                          </p:val>
                                        </p:tav>
                                        <p:tav fmla="" tm="100000">
                                          <p:val>
                                            <p:strVal val="#ppt_w"/>
                                          </p:val>
                                        </p:tav>
                                      </p:tavLst>
                                    </p:anim>
                                    <p:anim calcmode="lin" valueType="num">
                                      <p:cBhvr additive="base">
                                        <p:cTn dur="500"/>
                                        <p:tgtEl>
                                          <p:spTgt spid="106"/>
                                        </p:tgtEl>
                                        <p:attrNameLst>
                                          <p:attrName>ppt_h</p:attrName>
                                        </p:attrNameLst>
                                      </p:cBhvr>
                                      <p:tavLst>
                                        <p:tav fmla="" tm="0">
                                          <p:val>
                                            <p:strVal val="0"/>
                                          </p:val>
                                        </p:tav>
                                        <p:tav fmla="" tm="100000">
                                          <p:val>
                                            <p:strVal val="#ppt_h"/>
                                          </p:val>
                                        </p:tav>
                                      </p:tavLst>
                                    </p:anim>
                                  </p:childTnLst>
                                </p:cTn>
                              </p:par>
                            </p:childTnLst>
                          </p:cTn>
                        </p:par>
                        <p:par>
                          <p:cTn fill="hold">
                            <p:stCondLst>
                              <p:cond delay="2500"/>
                            </p:stCondLst>
                            <p:childTnLst>
                              <p:par>
                                <p:cTn fill="hold" nodeType="afterEffect" presetClass="entr" presetID="23" presetSubtype="16">
                                  <p:stCondLst>
                                    <p:cond delay="0"/>
                                  </p:stCondLst>
                                  <p:childTnLst>
                                    <p:set>
                                      <p:cBhvr>
                                        <p:cTn dur="1" fill="hold">
                                          <p:stCondLst>
                                            <p:cond delay="0"/>
                                          </p:stCondLst>
                                        </p:cTn>
                                        <p:tgtEl>
                                          <p:spTgt spid="108"/>
                                        </p:tgtEl>
                                        <p:attrNameLst>
                                          <p:attrName>style.visibility</p:attrName>
                                        </p:attrNameLst>
                                      </p:cBhvr>
                                      <p:to>
                                        <p:strVal val="visible"/>
                                      </p:to>
                                    </p:set>
                                    <p:anim calcmode="lin" valueType="num">
                                      <p:cBhvr additive="base">
                                        <p:cTn dur="500"/>
                                        <p:tgtEl>
                                          <p:spTgt spid="108"/>
                                        </p:tgtEl>
                                        <p:attrNameLst>
                                          <p:attrName>ppt_w</p:attrName>
                                        </p:attrNameLst>
                                      </p:cBhvr>
                                      <p:tavLst>
                                        <p:tav fmla="" tm="0">
                                          <p:val>
                                            <p:strVal val="0"/>
                                          </p:val>
                                        </p:tav>
                                        <p:tav fmla="" tm="100000">
                                          <p:val>
                                            <p:strVal val="#ppt_w"/>
                                          </p:val>
                                        </p:tav>
                                      </p:tavLst>
                                    </p:anim>
                                    <p:anim calcmode="lin" valueType="num">
                                      <p:cBhvr additive="base">
                                        <p:cTn dur="500"/>
                                        <p:tgtEl>
                                          <p:spTgt spid="108"/>
                                        </p:tgtEl>
                                        <p:attrNameLst>
                                          <p:attrName>ppt_h</p:attrName>
                                        </p:attrNameLst>
                                      </p:cBhvr>
                                      <p:tavLst>
                                        <p:tav fmla="" tm="0">
                                          <p:val>
                                            <p:strVal val="0"/>
                                          </p:val>
                                        </p:tav>
                                        <p:tav fmla="" tm="100000">
                                          <p:val>
                                            <p:strVal val="#ppt_h"/>
                                          </p:val>
                                        </p:tav>
                                      </p:tavLst>
                                    </p:anim>
                                  </p:childTnLst>
                                </p:cTn>
                              </p:par>
                            </p:childTnLst>
                          </p:cTn>
                        </p:par>
                        <p:par>
                          <p:cTn fill="hold">
                            <p:stCondLst>
                              <p:cond delay="3000"/>
                            </p:stCondLst>
                            <p:childTnLst>
                              <p:par>
                                <p:cTn fill="hold" nodeType="afterEffect" presetClass="entr" presetID="23" presetSubtype="16">
                                  <p:stCondLst>
                                    <p:cond delay="0"/>
                                  </p:stCondLst>
                                  <p:childTnLst>
                                    <p:set>
                                      <p:cBhvr>
                                        <p:cTn dur="1" fill="hold">
                                          <p:stCondLst>
                                            <p:cond delay="0"/>
                                          </p:stCondLst>
                                        </p:cTn>
                                        <p:tgtEl>
                                          <p:spTgt spid="109"/>
                                        </p:tgtEl>
                                        <p:attrNameLst>
                                          <p:attrName>style.visibility</p:attrName>
                                        </p:attrNameLst>
                                      </p:cBhvr>
                                      <p:to>
                                        <p:strVal val="visible"/>
                                      </p:to>
                                    </p:set>
                                    <p:anim calcmode="lin" valueType="num">
                                      <p:cBhvr additive="base">
                                        <p:cTn dur="500"/>
                                        <p:tgtEl>
                                          <p:spTgt spid="109"/>
                                        </p:tgtEl>
                                        <p:attrNameLst>
                                          <p:attrName>ppt_w</p:attrName>
                                        </p:attrNameLst>
                                      </p:cBhvr>
                                      <p:tavLst>
                                        <p:tav fmla="" tm="0">
                                          <p:val>
                                            <p:strVal val="0"/>
                                          </p:val>
                                        </p:tav>
                                        <p:tav fmla="" tm="100000">
                                          <p:val>
                                            <p:strVal val="#ppt_w"/>
                                          </p:val>
                                        </p:tav>
                                      </p:tavLst>
                                    </p:anim>
                                    <p:anim calcmode="lin" valueType="num">
                                      <p:cBhvr additive="base">
                                        <p:cTn dur="500"/>
                                        <p:tgtEl>
                                          <p:spTgt spid="109"/>
                                        </p:tgtEl>
                                        <p:attrNameLst>
                                          <p:attrName>ppt_h</p:attrName>
                                        </p:attrNameLst>
                                      </p:cBhvr>
                                      <p:tavLst>
                                        <p:tav fmla="" tm="0">
                                          <p:val>
                                            <p:strVal val="0"/>
                                          </p:val>
                                        </p:tav>
                                        <p:tav fmla="" tm="100000">
                                          <p:val>
                                            <p:strVal val="#ppt_h"/>
                                          </p:val>
                                        </p:tav>
                                      </p:tavLst>
                                    </p:anim>
                                  </p:childTnLst>
                                </p:cTn>
                              </p:par>
                            </p:childTnLst>
                          </p:cTn>
                        </p:par>
                        <p:par>
                          <p:cTn fill="hold">
                            <p:stCondLst>
                              <p:cond delay="3500"/>
                            </p:stCondLst>
                            <p:childTnLst>
                              <p:par>
                                <p:cTn fill="hold" nodeType="afterEffect" presetClass="entr" presetID="23" presetSubtype="16">
                                  <p:stCondLst>
                                    <p:cond delay="0"/>
                                  </p:stCondLst>
                                  <p:childTnLst>
                                    <p:set>
                                      <p:cBhvr>
                                        <p:cTn dur="1" fill="hold">
                                          <p:stCondLst>
                                            <p:cond delay="0"/>
                                          </p:stCondLst>
                                        </p:cTn>
                                        <p:tgtEl>
                                          <p:spTgt spid="107"/>
                                        </p:tgtEl>
                                        <p:attrNameLst>
                                          <p:attrName>style.visibility</p:attrName>
                                        </p:attrNameLst>
                                      </p:cBhvr>
                                      <p:to>
                                        <p:strVal val="visible"/>
                                      </p:to>
                                    </p:set>
                                    <p:anim calcmode="lin" valueType="num">
                                      <p:cBhvr additive="base">
                                        <p:cTn dur="500"/>
                                        <p:tgtEl>
                                          <p:spTgt spid="107"/>
                                        </p:tgtEl>
                                        <p:attrNameLst>
                                          <p:attrName>ppt_w</p:attrName>
                                        </p:attrNameLst>
                                      </p:cBhvr>
                                      <p:tavLst>
                                        <p:tav fmla="" tm="0">
                                          <p:val>
                                            <p:strVal val="0"/>
                                          </p:val>
                                        </p:tav>
                                        <p:tav fmla="" tm="100000">
                                          <p:val>
                                            <p:strVal val="#ppt_w"/>
                                          </p:val>
                                        </p:tav>
                                      </p:tavLst>
                                    </p:anim>
                                    <p:anim calcmode="lin" valueType="num">
                                      <p:cBhvr additive="base">
                                        <p:cTn dur="500"/>
                                        <p:tgtEl>
                                          <p:spTgt spid="107"/>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7645C"/>
        </a:solidFill>
      </p:bgPr>
    </p:bg>
    <p:spTree>
      <p:nvGrpSpPr>
        <p:cNvPr id="113" name="Shape 113"/>
        <p:cNvGrpSpPr/>
        <p:nvPr/>
      </p:nvGrpSpPr>
      <p:grpSpPr>
        <a:xfrm>
          <a:off x="0" y="0"/>
          <a:ext cx="0" cy="0"/>
          <a:chOff x="0" y="0"/>
          <a:chExt cx="0" cy="0"/>
        </a:xfrm>
      </p:grpSpPr>
      <p:sp>
        <p:nvSpPr>
          <p:cNvPr id="114" name="Google Shape;114;p15"/>
          <p:cNvSpPr/>
          <p:nvPr/>
        </p:nvSpPr>
        <p:spPr>
          <a:xfrm>
            <a:off x="755650" y="1829872"/>
            <a:ext cx="763270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Sometimes, the hardest part of using technology is not setting things up but figuring out what its capabilities are in the first place. The micro:bit is no exception to this. The micro:bit caters for all users, from confident coders to those who may need some support.</a:t>
            </a:r>
            <a:endParaRPr/>
          </a:p>
        </p:txBody>
      </p:sp>
      <p:sp>
        <p:nvSpPr>
          <p:cNvPr id="115" name="Google Shape;115;p15"/>
          <p:cNvSpPr/>
          <p:nvPr/>
        </p:nvSpPr>
        <p:spPr>
          <a:xfrm>
            <a:off x="755650" y="3554730"/>
            <a:ext cx="2261870" cy="276998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645C"/>
              </a:buClr>
              <a:buSzPts val="1800"/>
              <a:buFont typeface="Roboto"/>
              <a:buNone/>
            </a:pPr>
            <a:r>
              <a:rPr b="1" lang="en-GB" sz="1800">
                <a:solidFill>
                  <a:srgbClr val="E7645C"/>
                </a:solidFill>
                <a:latin typeface="Roboto"/>
                <a:ea typeface="Roboto"/>
                <a:cs typeface="Roboto"/>
                <a:sym typeface="Roboto"/>
              </a:rPr>
              <a:t>Beginner programs</a:t>
            </a:r>
            <a:endParaRPr/>
          </a:p>
          <a:p>
            <a:pPr indent="0" lvl="0" marL="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beating heart</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step counter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dice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rock, paper, scissors</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badge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showing emotions</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thermometer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animal tracker</a:t>
            </a:r>
            <a:endParaRPr/>
          </a:p>
        </p:txBody>
      </p:sp>
      <p:sp>
        <p:nvSpPr>
          <p:cNvPr id="116" name="Google Shape;116;p15"/>
          <p:cNvSpPr/>
          <p:nvPr/>
        </p:nvSpPr>
        <p:spPr>
          <a:xfrm>
            <a:off x="3373119" y="3554730"/>
            <a:ext cx="2404745" cy="22159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645C"/>
              </a:buClr>
              <a:buSzPts val="1800"/>
              <a:buFont typeface="Roboto"/>
              <a:buNone/>
            </a:pPr>
            <a:r>
              <a:rPr b="1" lang="en-GB" sz="1800">
                <a:solidFill>
                  <a:srgbClr val="E7645C"/>
                </a:solidFill>
                <a:latin typeface="Roboto"/>
                <a:ea typeface="Roboto"/>
                <a:cs typeface="Roboto"/>
                <a:sym typeface="Roboto"/>
              </a:rPr>
              <a:t>Intermediate programs</a:t>
            </a:r>
            <a:endParaRPr/>
          </a:p>
          <a:p>
            <a:pPr indent="0" lvl="0" marL="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nightlight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headphone connection</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treasure hunt</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touch timer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touch stopwatch</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clap-o-meter</a:t>
            </a:r>
            <a:endParaRPr/>
          </a:p>
        </p:txBody>
      </p:sp>
      <p:sp>
        <p:nvSpPr>
          <p:cNvPr id="117" name="Google Shape;117;p15"/>
          <p:cNvSpPr/>
          <p:nvPr/>
        </p:nvSpPr>
        <p:spPr>
          <a:xfrm>
            <a:off x="6029323" y="3554730"/>
            <a:ext cx="2404745"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645C"/>
              </a:buClr>
              <a:buSzPts val="1800"/>
              <a:buFont typeface="Roboto"/>
              <a:buNone/>
            </a:pPr>
            <a:r>
              <a:rPr b="1" lang="en-GB" sz="1800">
                <a:solidFill>
                  <a:srgbClr val="E7645C"/>
                </a:solidFill>
                <a:latin typeface="Roboto"/>
                <a:ea typeface="Roboto"/>
                <a:cs typeface="Roboto"/>
                <a:sym typeface="Roboto"/>
              </a:rPr>
              <a:t>Advanced programs</a:t>
            </a:r>
            <a:endParaRPr/>
          </a:p>
          <a:p>
            <a:pPr indent="0" lvl="0" marL="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guitar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tilt alarm</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reaction game</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energy cost calculator</a:t>
            </a:r>
            <a:endParaRPr/>
          </a:p>
        </p:txBody>
      </p:sp>
      <p:sp>
        <p:nvSpPr>
          <p:cNvPr id="118" name="Google Shape;118;p15"/>
          <p:cNvSpPr txBox="1"/>
          <p:nvPr/>
        </p:nvSpPr>
        <p:spPr>
          <a:xfrm>
            <a:off x="755647" y="738107"/>
            <a:ext cx="51250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E7645C"/>
              </a:buClr>
              <a:buSzPts val="2400"/>
              <a:buFont typeface="Roboto"/>
              <a:buNone/>
            </a:pPr>
            <a:r>
              <a:rPr b="1" lang="en-GB" sz="2400">
                <a:solidFill>
                  <a:srgbClr val="E7645C"/>
                </a:solidFill>
                <a:latin typeface="Roboto"/>
                <a:ea typeface="Roboto"/>
                <a:cs typeface="Roboto"/>
                <a:sym typeface="Roboto"/>
              </a:rPr>
              <a:t>How Can a BBC micro:bit Be Used?</a:t>
            </a:r>
            <a:endParaRPr/>
          </a:p>
        </p:txBody>
      </p:sp>
      <p:sp>
        <p:nvSpPr>
          <p:cNvPr id="119" name="Google Shape;119;p15"/>
          <p:cNvSpPr/>
          <p:nvPr/>
        </p:nvSpPr>
        <p:spPr>
          <a:xfrm>
            <a:off x="576263" y="1273899"/>
            <a:ext cx="4064317" cy="389513"/>
          </a:xfrm>
          <a:prstGeom prst="roundRect">
            <a:avLst>
              <a:gd fmla="val 50000" name="adj"/>
            </a:avLst>
          </a:prstGeom>
          <a:noFill/>
          <a:ln cap="flat" cmpd="sng" w="19050">
            <a:solidFill>
              <a:schemeClr val="dk1"/>
            </a:solidFill>
            <a:prstDash val="solid"/>
            <a:round/>
            <a:headEnd len="sm" w="sm" type="none"/>
            <a:tailEnd len="sm" w="sm" type="none"/>
          </a:ln>
        </p:spPr>
        <p:txBody>
          <a:bodyPr anchorCtr="0" anchor="t" bIns="0" lIns="180000" spcFirstLastPara="1" rIns="0" wrap="square" tIns="0">
            <a:noAutofit/>
          </a:bodyPr>
          <a:lstStyle/>
          <a:p>
            <a:pPr indent="0" lvl="0" marL="0" marR="0" rtl="0" algn="l">
              <a:spcBef>
                <a:spcPts val="0"/>
              </a:spcBef>
              <a:spcAft>
                <a:spcPts val="0"/>
              </a:spcAft>
              <a:buNone/>
            </a:pPr>
            <a:r>
              <a:rPr b="1" lang="en-GB" sz="1800">
                <a:solidFill>
                  <a:schemeClr val="dk1"/>
                </a:solidFill>
                <a:latin typeface="Roboto"/>
                <a:ea typeface="Roboto"/>
                <a:cs typeface="Roboto"/>
                <a:sym typeface="Roboto"/>
              </a:rPr>
              <a:t>What can I create with a micro:bit?</a:t>
            </a:r>
            <a:endParaRPr/>
          </a:p>
        </p:txBody>
      </p:sp>
      <p:cxnSp>
        <p:nvCxnSpPr>
          <p:cNvPr id="120" name="Google Shape;120;p15"/>
          <p:cNvCxnSpPr/>
          <p:nvPr/>
        </p:nvCxnSpPr>
        <p:spPr>
          <a:xfrm>
            <a:off x="755648" y="3429000"/>
            <a:ext cx="2359027" cy="0"/>
          </a:xfrm>
          <a:prstGeom prst="straightConnector1">
            <a:avLst/>
          </a:prstGeom>
          <a:noFill/>
          <a:ln cap="flat" cmpd="sng" w="28575">
            <a:solidFill>
              <a:srgbClr val="E7645C"/>
            </a:solidFill>
            <a:prstDash val="solid"/>
            <a:miter lim="8000"/>
            <a:headEnd len="sm" w="sm" type="none"/>
            <a:tailEnd len="sm" w="sm" type="none"/>
          </a:ln>
        </p:spPr>
      </p:cxnSp>
      <p:cxnSp>
        <p:nvCxnSpPr>
          <p:cNvPr id="121" name="Google Shape;121;p15"/>
          <p:cNvCxnSpPr/>
          <p:nvPr/>
        </p:nvCxnSpPr>
        <p:spPr>
          <a:xfrm>
            <a:off x="3373118" y="3429000"/>
            <a:ext cx="2359027" cy="0"/>
          </a:xfrm>
          <a:prstGeom prst="straightConnector1">
            <a:avLst/>
          </a:prstGeom>
          <a:noFill/>
          <a:ln cap="flat" cmpd="sng" w="28575">
            <a:solidFill>
              <a:srgbClr val="E7645C"/>
            </a:solidFill>
            <a:prstDash val="solid"/>
            <a:miter lim="8000"/>
            <a:headEnd len="sm" w="sm" type="none"/>
            <a:tailEnd len="sm" w="sm" type="none"/>
          </a:ln>
        </p:spPr>
      </p:cxnSp>
      <p:cxnSp>
        <p:nvCxnSpPr>
          <p:cNvPr id="122" name="Google Shape;122;p15"/>
          <p:cNvCxnSpPr/>
          <p:nvPr/>
        </p:nvCxnSpPr>
        <p:spPr>
          <a:xfrm>
            <a:off x="6029323" y="3429000"/>
            <a:ext cx="2359027" cy="0"/>
          </a:xfrm>
          <a:prstGeom prst="straightConnector1">
            <a:avLst/>
          </a:prstGeom>
          <a:noFill/>
          <a:ln cap="flat" cmpd="sng" w="28575">
            <a:solidFill>
              <a:srgbClr val="E7645C"/>
            </a:solidFill>
            <a:prstDash val="solid"/>
            <a:miter lim="8000"/>
            <a:headEnd len="sm" w="sm" type="none"/>
            <a:tailEnd len="sm" w="sm" type="none"/>
          </a:ln>
        </p:spPr>
      </p:cxnSp>
      <p:sp>
        <p:nvSpPr>
          <p:cNvPr id="123" name="Google Shape;123;p15"/>
          <p:cNvSpPr/>
          <p:nvPr/>
        </p:nvSpPr>
        <p:spPr>
          <a:xfrm>
            <a:off x="736281" y="3026271"/>
            <a:ext cx="7632700"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Here are just a few ideas of some micro:bit projects that you could create: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19"/>
                                        </p:tgtEl>
                                        <p:attrNameLst>
                                          <p:attrName>style.visibility</p:attrName>
                                        </p:attrNameLst>
                                      </p:cBhvr>
                                      <p:to>
                                        <p:strVal val="visible"/>
                                      </p:to>
                                    </p:set>
                                    <p:animEffect filter="fade" transition="in">
                                      <p:cBhvr>
                                        <p:cTn dur="500"/>
                                        <p:tgtEl>
                                          <p:spTgt spid="119"/>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14"/>
                                        </p:tgtEl>
                                        <p:attrNameLst>
                                          <p:attrName>style.visibility</p:attrName>
                                        </p:attrNameLst>
                                      </p:cBhvr>
                                      <p:to>
                                        <p:strVal val="visible"/>
                                      </p:to>
                                    </p:set>
                                    <p:animEffect filter="fade" transition="in">
                                      <p:cBhvr>
                                        <p:cTn dur="500"/>
                                        <p:tgtEl>
                                          <p:spTgt spid="11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3"/>
                                        </p:tgtEl>
                                        <p:attrNameLst>
                                          <p:attrName>style.visibility</p:attrName>
                                        </p:attrNameLst>
                                      </p:cBhvr>
                                      <p:to>
                                        <p:strVal val="visible"/>
                                      </p:to>
                                    </p:set>
                                    <p:animEffect filter="fade" transition="in">
                                      <p:cBhvr>
                                        <p:cTn dur="500"/>
                                        <p:tgtEl>
                                          <p:spTgt spid="12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0"/>
                                        </p:tgtEl>
                                        <p:attrNameLst>
                                          <p:attrName>style.visibility</p:attrName>
                                        </p:attrNameLst>
                                      </p:cBhvr>
                                      <p:to>
                                        <p:strVal val="visible"/>
                                      </p:to>
                                    </p:set>
                                    <p:animEffect filter="fade" transition="in">
                                      <p:cBhvr>
                                        <p:cTn dur="500"/>
                                        <p:tgtEl>
                                          <p:spTgt spid="120"/>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15">
                                            <p:txEl>
                                              <p:pRg end="0" st="0"/>
                                            </p:txEl>
                                          </p:spTgt>
                                        </p:tgtEl>
                                        <p:attrNameLst>
                                          <p:attrName>style.visibility</p:attrName>
                                        </p:attrNameLst>
                                      </p:cBhvr>
                                      <p:to>
                                        <p:strVal val="visible"/>
                                      </p:to>
                                    </p:set>
                                    <p:animEffect filter="fade" transition="in">
                                      <p:cBhvr>
                                        <p:cTn dur="500"/>
                                        <p:tgtEl>
                                          <p:spTgt spid="115">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15">
                                            <p:txEl>
                                              <p:pRg end="1" st="1"/>
                                            </p:txEl>
                                          </p:spTgt>
                                        </p:tgtEl>
                                        <p:attrNameLst>
                                          <p:attrName>style.visibility</p:attrName>
                                        </p:attrNameLst>
                                      </p:cBhvr>
                                      <p:to>
                                        <p:strVal val="visible"/>
                                      </p:to>
                                    </p:set>
                                    <p:animEffect filter="fade" transition="in">
                                      <p:cBhvr>
                                        <p:cTn dur="500"/>
                                        <p:tgtEl>
                                          <p:spTgt spid="115">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115">
                                            <p:txEl>
                                              <p:pRg end="2" st="2"/>
                                            </p:txEl>
                                          </p:spTgt>
                                        </p:tgtEl>
                                        <p:attrNameLst>
                                          <p:attrName>style.visibility</p:attrName>
                                        </p:attrNameLst>
                                      </p:cBhvr>
                                      <p:to>
                                        <p:strVal val="visible"/>
                                      </p:to>
                                    </p:set>
                                    <p:animEffect filter="fade" transition="in">
                                      <p:cBhvr>
                                        <p:cTn dur="500"/>
                                        <p:tgtEl>
                                          <p:spTgt spid="115">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115">
                                            <p:txEl>
                                              <p:pRg end="3" st="3"/>
                                            </p:txEl>
                                          </p:spTgt>
                                        </p:tgtEl>
                                        <p:attrNameLst>
                                          <p:attrName>style.visibility</p:attrName>
                                        </p:attrNameLst>
                                      </p:cBhvr>
                                      <p:to>
                                        <p:strVal val="visible"/>
                                      </p:to>
                                    </p:set>
                                    <p:animEffect filter="fade" transition="in">
                                      <p:cBhvr>
                                        <p:cTn dur="500"/>
                                        <p:tgtEl>
                                          <p:spTgt spid="115">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115">
                                            <p:txEl>
                                              <p:pRg end="4" st="4"/>
                                            </p:txEl>
                                          </p:spTgt>
                                        </p:tgtEl>
                                        <p:attrNameLst>
                                          <p:attrName>style.visibility</p:attrName>
                                        </p:attrNameLst>
                                      </p:cBhvr>
                                      <p:to>
                                        <p:strVal val="visible"/>
                                      </p:to>
                                    </p:set>
                                    <p:animEffect filter="fade" transition="in">
                                      <p:cBhvr>
                                        <p:cTn dur="500"/>
                                        <p:tgtEl>
                                          <p:spTgt spid="115">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115">
                                            <p:txEl>
                                              <p:pRg end="5" st="5"/>
                                            </p:txEl>
                                          </p:spTgt>
                                        </p:tgtEl>
                                        <p:attrNameLst>
                                          <p:attrName>style.visibility</p:attrName>
                                        </p:attrNameLst>
                                      </p:cBhvr>
                                      <p:to>
                                        <p:strVal val="visible"/>
                                      </p:to>
                                    </p:set>
                                    <p:animEffect filter="fade" transition="in">
                                      <p:cBhvr>
                                        <p:cTn dur="500"/>
                                        <p:tgtEl>
                                          <p:spTgt spid="115">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115">
                                            <p:txEl>
                                              <p:pRg end="6" st="6"/>
                                            </p:txEl>
                                          </p:spTgt>
                                        </p:tgtEl>
                                        <p:attrNameLst>
                                          <p:attrName>style.visibility</p:attrName>
                                        </p:attrNameLst>
                                      </p:cBhvr>
                                      <p:to>
                                        <p:strVal val="visible"/>
                                      </p:to>
                                    </p:set>
                                    <p:animEffect filter="fade" transition="in">
                                      <p:cBhvr>
                                        <p:cTn dur="500"/>
                                        <p:tgtEl>
                                          <p:spTgt spid="115">
                                            <p:txEl>
                                              <p:pRg end="6" st="6"/>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115">
                                            <p:txEl>
                                              <p:pRg end="7" st="7"/>
                                            </p:txEl>
                                          </p:spTgt>
                                        </p:tgtEl>
                                        <p:attrNameLst>
                                          <p:attrName>style.visibility</p:attrName>
                                        </p:attrNameLst>
                                      </p:cBhvr>
                                      <p:to>
                                        <p:strVal val="visible"/>
                                      </p:to>
                                    </p:set>
                                    <p:animEffect filter="fade" transition="in">
                                      <p:cBhvr>
                                        <p:cTn dur="500"/>
                                        <p:tgtEl>
                                          <p:spTgt spid="115">
                                            <p:txEl>
                                              <p:pRg end="7" st="7"/>
                                            </p:txEl>
                                          </p:spTgt>
                                        </p:tgtEl>
                                      </p:cBhvr>
                                    </p:animEffect>
                                  </p:childTnLst>
                                </p:cTn>
                              </p:par>
                            </p:childTnLst>
                          </p:cTn>
                        </p:par>
                        <p:par>
                          <p:cTn fill="hold">
                            <p:stCondLst>
                              <p:cond delay="4500"/>
                            </p:stCondLst>
                            <p:childTnLst>
                              <p:par>
                                <p:cTn fill="hold" nodeType="afterEffect" presetClass="entr" presetID="10" presetSubtype="0">
                                  <p:stCondLst>
                                    <p:cond delay="0"/>
                                  </p:stCondLst>
                                  <p:childTnLst>
                                    <p:set>
                                      <p:cBhvr>
                                        <p:cTn dur="1" fill="hold">
                                          <p:stCondLst>
                                            <p:cond delay="0"/>
                                          </p:stCondLst>
                                        </p:cTn>
                                        <p:tgtEl>
                                          <p:spTgt spid="115">
                                            <p:txEl>
                                              <p:pRg end="8" st="8"/>
                                            </p:txEl>
                                          </p:spTgt>
                                        </p:tgtEl>
                                        <p:attrNameLst>
                                          <p:attrName>style.visibility</p:attrName>
                                        </p:attrNameLst>
                                      </p:cBhvr>
                                      <p:to>
                                        <p:strVal val="visible"/>
                                      </p:to>
                                    </p:set>
                                    <p:animEffect filter="fade" transition="in">
                                      <p:cBhvr>
                                        <p:cTn dur="500"/>
                                        <p:tgtEl>
                                          <p:spTgt spid="115">
                                            <p:txEl>
                                              <p:pRg end="8" st="8"/>
                                            </p:txEl>
                                          </p:spTgt>
                                        </p:tgtEl>
                                      </p:cBhvr>
                                    </p:animEffect>
                                  </p:childTnLst>
                                </p:cTn>
                              </p:par>
                            </p:childTnLst>
                          </p:cTn>
                        </p:par>
                        <p:par>
                          <p:cTn fill="hold">
                            <p:stCondLst>
                              <p:cond delay="5000"/>
                            </p:stCondLst>
                            <p:childTnLst>
                              <p:par>
                                <p:cTn fill="hold" nodeType="afterEffect" presetClass="entr" presetID="10" presetSubtype="0">
                                  <p:stCondLst>
                                    <p:cond delay="0"/>
                                  </p:stCondLst>
                                  <p:childTnLst>
                                    <p:set>
                                      <p:cBhvr>
                                        <p:cTn dur="1" fill="hold">
                                          <p:stCondLst>
                                            <p:cond delay="0"/>
                                          </p:stCondLst>
                                        </p:cTn>
                                        <p:tgtEl>
                                          <p:spTgt spid="115">
                                            <p:txEl>
                                              <p:pRg end="9" st="9"/>
                                            </p:txEl>
                                          </p:spTgt>
                                        </p:tgtEl>
                                        <p:attrNameLst>
                                          <p:attrName>style.visibility</p:attrName>
                                        </p:attrNameLst>
                                      </p:cBhvr>
                                      <p:to>
                                        <p:strVal val="visible"/>
                                      </p:to>
                                    </p:set>
                                    <p:animEffect filter="fade" transition="in">
                                      <p:cBhvr>
                                        <p:cTn dur="500"/>
                                        <p:tgtEl>
                                          <p:spTgt spid="115">
                                            <p:txEl>
                                              <p:pRg end="9" st="9"/>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1"/>
                                        </p:tgtEl>
                                        <p:attrNameLst>
                                          <p:attrName>style.visibility</p:attrName>
                                        </p:attrNameLst>
                                      </p:cBhvr>
                                      <p:to>
                                        <p:strVal val="visible"/>
                                      </p:to>
                                    </p:set>
                                    <p:animEffect filter="fade" transition="in">
                                      <p:cBhvr>
                                        <p:cTn dur="500"/>
                                        <p:tgtEl>
                                          <p:spTgt spid="121"/>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16">
                                            <p:txEl>
                                              <p:pRg end="0" st="0"/>
                                            </p:txEl>
                                          </p:spTgt>
                                        </p:tgtEl>
                                        <p:attrNameLst>
                                          <p:attrName>style.visibility</p:attrName>
                                        </p:attrNameLst>
                                      </p:cBhvr>
                                      <p:to>
                                        <p:strVal val="visible"/>
                                      </p:to>
                                    </p:set>
                                    <p:animEffect filter="fade" transition="in">
                                      <p:cBhvr>
                                        <p:cTn dur="500"/>
                                        <p:tgtEl>
                                          <p:spTgt spid="116">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16">
                                            <p:txEl>
                                              <p:pRg end="1" st="1"/>
                                            </p:txEl>
                                          </p:spTgt>
                                        </p:tgtEl>
                                        <p:attrNameLst>
                                          <p:attrName>style.visibility</p:attrName>
                                        </p:attrNameLst>
                                      </p:cBhvr>
                                      <p:to>
                                        <p:strVal val="visible"/>
                                      </p:to>
                                    </p:set>
                                    <p:animEffect filter="fade" transition="in">
                                      <p:cBhvr>
                                        <p:cTn dur="500"/>
                                        <p:tgtEl>
                                          <p:spTgt spid="116">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116">
                                            <p:txEl>
                                              <p:pRg end="2" st="2"/>
                                            </p:txEl>
                                          </p:spTgt>
                                        </p:tgtEl>
                                        <p:attrNameLst>
                                          <p:attrName>style.visibility</p:attrName>
                                        </p:attrNameLst>
                                      </p:cBhvr>
                                      <p:to>
                                        <p:strVal val="visible"/>
                                      </p:to>
                                    </p:set>
                                    <p:animEffect filter="fade" transition="in">
                                      <p:cBhvr>
                                        <p:cTn dur="500"/>
                                        <p:tgtEl>
                                          <p:spTgt spid="116">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116">
                                            <p:txEl>
                                              <p:pRg end="3" st="3"/>
                                            </p:txEl>
                                          </p:spTgt>
                                        </p:tgtEl>
                                        <p:attrNameLst>
                                          <p:attrName>style.visibility</p:attrName>
                                        </p:attrNameLst>
                                      </p:cBhvr>
                                      <p:to>
                                        <p:strVal val="visible"/>
                                      </p:to>
                                    </p:set>
                                    <p:animEffect filter="fade" transition="in">
                                      <p:cBhvr>
                                        <p:cTn dur="500"/>
                                        <p:tgtEl>
                                          <p:spTgt spid="116">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116">
                                            <p:txEl>
                                              <p:pRg end="4" st="4"/>
                                            </p:txEl>
                                          </p:spTgt>
                                        </p:tgtEl>
                                        <p:attrNameLst>
                                          <p:attrName>style.visibility</p:attrName>
                                        </p:attrNameLst>
                                      </p:cBhvr>
                                      <p:to>
                                        <p:strVal val="visible"/>
                                      </p:to>
                                    </p:set>
                                    <p:animEffect filter="fade" transition="in">
                                      <p:cBhvr>
                                        <p:cTn dur="500"/>
                                        <p:tgtEl>
                                          <p:spTgt spid="116">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116">
                                            <p:txEl>
                                              <p:pRg end="5" st="5"/>
                                            </p:txEl>
                                          </p:spTgt>
                                        </p:tgtEl>
                                        <p:attrNameLst>
                                          <p:attrName>style.visibility</p:attrName>
                                        </p:attrNameLst>
                                      </p:cBhvr>
                                      <p:to>
                                        <p:strVal val="visible"/>
                                      </p:to>
                                    </p:set>
                                    <p:animEffect filter="fade" transition="in">
                                      <p:cBhvr>
                                        <p:cTn dur="500"/>
                                        <p:tgtEl>
                                          <p:spTgt spid="116">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116">
                                            <p:txEl>
                                              <p:pRg end="6" st="6"/>
                                            </p:txEl>
                                          </p:spTgt>
                                        </p:tgtEl>
                                        <p:attrNameLst>
                                          <p:attrName>style.visibility</p:attrName>
                                        </p:attrNameLst>
                                      </p:cBhvr>
                                      <p:to>
                                        <p:strVal val="visible"/>
                                      </p:to>
                                    </p:set>
                                    <p:animEffect filter="fade" transition="in">
                                      <p:cBhvr>
                                        <p:cTn dur="500"/>
                                        <p:tgtEl>
                                          <p:spTgt spid="116">
                                            <p:txEl>
                                              <p:pRg end="6" st="6"/>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116">
                                            <p:txEl>
                                              <p:pRg end="7" st="7"/>
                                            </p:txEl>
                                          </p:spTgt>
                                        </p:tgtEl>
                                        <p:attrNameLst>
                                          <p:attrName>style.visibility</p:attrName>
                                        </p:attrNameLst>
                                      </p:cBhvr>
                                      <p:to>
                                        <p:strVal val="visible"/>
                                      </p:to>
                                    </p:set>
                                    <p:animEffect filter="fade" transition="in">
                                      <p:cBhvr>
                                        <p:cTn dur="500"/>
                                        <p:tgtEl>
                                          <p:spTgt spid="116">
                                            <p:txEl>
                                              <p:pRg end="7" st="7"/>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gtEl>
                                        <p:attrNameLst>
                                          <p:attrName>style.visibility</p:attrName>
                                        </p:attrNameLst>
                                      </p:cBhvr>
                                      <p:to>
                                        <p:strVal val="visible"/>
                                      </p:to>
                                    </p:set>
                                    <p:animEffect filter="fade" transition="in">
                                      <p:cBhvr>
                                        <p:cTn dur="500"/>
                                        <p:tgtEl>
                                          <p:spTgt spid="12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animEffect filter="fade" transition="in">
                                      <p:cBhvr>
                                        <p:cTn dur="500"/>
                                        <p:tgtEl>
                                          <p:spTgt spid="117">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animEffect filter="fade" transition="in">
                                      <p:cBhvr>
                                        <p:cTn dur="500"/>
                                        <p:tgtEl>
                                          <p:spTgt spid="117">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animEffect filter="fade" transition="in">
                                      <p:cBhvr>
                                        <p:cTn dur="500"/>
                                        <p:tgtEl>
                                          <p:spTgt spid="117">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117">
                                            <p:txEl>
                                              <p:pRg end="3" st="3"/>
                                            </p:txEl>
                                          </p:spTgt>
                                        </p:tgtEl>
                                        <p:attrNameLst>
                                          <p:attrName>style.visibility</p:attrName>
                                        </p:attrNameLst>
                                      </p:cBhvr>
                                      <p:to>
                                        <p:strVal val="visible"/>
                                      </p:to>
                                    </p:set>
                                    <p:animEffect filter="fade" transition="in">
                                      <p:cBhvr>
                                        <p:cTn dur="500"/>
                                        <p:tgtEl>
                                          <p:spTgt spid="117">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117">
                                            <p:txEl>
                                              <p:pRg end="4" st="4"/>
                                            </p:txEl>
                                          </p:spTgt>
                                        </p:tgtEl>
                                        <p:attrNameLst>
                                          <p:attrName>style.visibility</p:attrName>
                                        </p:attrNameLst>
                                      </p:cBhvr>
                                      <p:to>
                                        <p:strVal val="visible"/>
                                      </p:to>
                                    </p:set>
                                    <p:animEffect filter="fade" transition="in">
                                      <p:cBhvr>
                                        <p:cTn dur="500"/>
                                        <p:tgtEl>
                                          <p:spTgt spid="117">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117">
                                            <p:txEl>
                                              <p:pRg end="5" st="5"/>
                                            </p:txEl>
                                          </p:spTgt>
                                        </p:tgtEl>
                                        <p:attrNameLst>
                                          <p:attrName>style.visibility</p:attrName>
                                        </p:attrNameLst>
                                      </p:cBhvr>
                                      <p:to>
                                        <p:strVal val="visible"/>
                                      </p:to>
                                    </p:set>
                                    <p:animEffect filter="fade" transition="in">
                                      <p:cBhvr>
                                        <p:cTn dur="500"/>
                                        <p:tgtEl>
                                          <p:spTgt spid="117">
                                            <p:txEl>
                                              <p:pRg end="5" st="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128" name="Shape 128"/>
        <p:cNvGrpSpPr/>
        <p:nvPr/>
      </p:nvGrpSpPr>
      <p:grpSpPr>
        <a:xfrm>
          <a:off x="0" y="0"/>
          <a:ext cx="0" cy="0"/>
          <a:chOff x="0" y="0"/>
          <a:chExt cx="0" cy="0"/>
        </a:xfrm>
      </p:grpSpPr>
      <p:sp>
        <p:nvSpPr>
          <p:cNvPr id="129" name="Google Shape;129;p16"/>
          <p:cNvSpPr/>
          <p:nvPr/>
        </p:nvSpPr>
        <p:spPr>
          <a:xfrm>
            <a:off x="4211859" y="3210925"/>
            <a:ext cx="1645791" cy="2918413"/>
          </a:xfrm>
          <a:prstGeom prst="rect">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0" name="Google Shape;130;p16"/>
          <p:cNvSpPr/>
          <p:nvPr/>
        </p:nvSpPr>
        <p:spPr>
          <a:xfrm>
            <a:off x="6477726" y="3210925"/>
            <a:ext cx="1645791" cy="2918413"/>
          </a:xfrm>
          <a:prstGeom prst="rect">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1" name="Google Shape;131;p16"/>
          <p:cNvSpPr/>
          <p:nvPr/>
        </p:nvSpPr>
        <p:spPr>
          <a:xfrm>
            <a:off x="755650" y="2076936"/>
            <a:ext cx="763270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As you might have realised, the micro:bit will not work on its own. It needs someone to program instructions on to it. In computing, those instructions are called algorithms. Algorithms are used to create programs. These programs are written in code. </a:t>
            </a:r>
            <a:endParaRPr/>
          </a:p>
        </p:txBody>
      </p:sp>
      <p:sp>
        <p:nvSpPr>
          <p:cNvPr id="132" name="Google Shape;132;p16"/>
          <p:cNvSpPr/>
          <p:nvPr/>
        </p:nvSpPr>
        <p:spPr>
          <a:xfrm>
            <a:off x="755650" y="4032092"/>
            <a:ext cx="2930525"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To create a program you will need either:</a:t>
            </a:r>
            <a:endParaRPr sz="1800">
              <a:solidFill>
                <a:schemeClr val="dk1"/>
              </a:solidFill>
              <a:latin typeface="Roboto"/>
              <a:ea typeface="Roboto"/>
              <a:cs typeface="Roboto"/>
              <a:sym typeface="Roboto"/>
            </a:endParaRPr>
          </a:p>
        </p:txBody>
      </p:sp>
      <p:sp>
        <p:nvSpPr>
          <p:cNvPr id="133" name="Google Shape;133;p16"/>
          <p:cNvSpPr/>
          <p:nvPr/>
        </p:nvSpPr>
        <p:spPr>
          <a:xfrm>
            <a:off x="755650" y="3633575"/>
            <a:ext cx="228028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How can I set it up?</a:t>
            </a:r>
            <a:endParaRPr/>
          </a:p>
        </p:txBody>
      </p:sp>
      <p:sp>
        <p:nvSpPr>
          <p:cNvPr id="134" name="Google Shape;134;p16"/>
          <p:cNvSpPr txBox="1"/>
          <p:nvPr/>
        </p:nvSpPr>
        <p:spPr>
          <a:xfrm>
            <a:off x="755647" y="738107"/>
            <a:ext cx="51250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How to Get Started</a:t>
            </a:r>
            <a:endParaRPr/>
          </a:p>
        </p:txBody>
      </p:sp>
      <p:sp>
        <p:nvSpPr>
          <p:cNvPr id="135" name="Google Shape;135;p16"/>
          <p:cNvSpPr/>
          <p:nvPr/>
        </p:nvSpPr>
        <p:spPr>
          <a:xfrm>
            <a:off x="576263" y="1482374"/>
            <a:ext cx="3995737" cy="389513"/>
          </a:xfrm>
          <a:prstGeom prst="roundRect">
            <a:avLst>
              <a:gd fmla="val 50000" name="adj"/>
            </a:avLst>
          </a:prstGeom>
          <a:noFill/>
          <a:ln cap="flat" cmpd="sng" w="19050">
            <a:solidFill>
              <a:schemeClr val="dk1"/>
            </a:solidFill>
            <a:prstDash val="solid"/>
            <a:round/>
            <a:headEnd len="sm" w="sm" type="none"/>
            <a:tailEnd len="sm" w="sm" type="none"/>
          </a:ln>
        </p:spPr>
        <p:txBody>
          <a:bodyPr anchorCtr="0" anchor="t" bIns="0" lIns="180000" spcFirstLastPara="1" rIns="0" wrap="square" tIns="0">
            <a:noAutofit/>
          </a:bodyPr>
          <a:lstStyle/>
          <a:p>
            <a:pPr indent="0" lvl="0" marL="0" marR="0" rtl="0" algn="l">
              <a:spcBef>
                <a:spcPts val="0"/>
              </a:spcBef>
              <a:spcAft>
                <a:spcPts val="0"/>
              </a:spcAft>
              <a:buNone/>
            </a:pPr>
            <a:r>
              <a:rPr b="1" lang="en-GB" sz="1800">
                <a:solidFill>
                  <a:schemeClr val="dk1"/>
                </a:solidFill>
                <a:latin typeface="Roboto"/>
                <a:ea typeface="Roboto"/>
                <a:cs typeface="Roboto"/>
                <a:sym typeface="Roboto"/>
              </a:rPr>
              <a:t>What other equipment will I need? </a:t>
            </a:r>
            <a:endParaRPr/>
          </a:p>
        </p:txBody>
      </p:sp>
      <p:pic>
        <p:nvPicPr>
          <p:cNvPr descr="A computer with a keyboard and mouse&#10;&#10;Description automatically generated with medium confidence" id="136" name="Google Shape;136;p16"/>
          <p:cNvPicPr preferRelativeResize="0"/>
          <p:nvPr/>
        </p:nvPicPr>
        <p:blipFill rotWithShape="1">
          <a:blip r:embed="rId3">
            <a:alphaModFix/>
          </a:blip>
          <a:srcRect b="0" l="0" r="0" t="0"/>
          <a:stretch/>
        </p:blipFill>
        <p:spPr>
          <a:xfrm>
            <a:off x="3917559" y="4966065"/>
            <a:ext cx="2347351" cy="1289541"/>
          </a:xfrm>
          <a:prstGeom prst="rect">
            <a:avLst/>
          </a:prstGeom>
          <a:noFill/>
          <a:ln>
            <a:noFill/>
          </a:ln>
        </p:spPr>
      </p:pic>
      <p:pic>
        <p:nvPicPr>
          <p:cNvPr id="137" name="Google Shape;137;p16"/>
          <p:cNvPicPr preferRelativeResize="0"/>
          <p:nvPr/>
        </p:nvPicPr>
        <p:blipFill rotWithShape="1">
          <a:blip r:embed="rId4">
            <a:alphaModFix/>
          </a:blip>
          <a:srcRect b="0" l="0" r="0" t="0"/>
          <a:stretch/>
        </p:blipFill>
        <p:spPr>
          <a:xfrm>
            <a:off x="6439087" y="5000310"/>
            <a:ext cx="1918745" cy="1275103"/>
          </a:xfrm>
          <a:prstGeom prst="rect">
            <a:avLst/>
          </a:prstGeom>
          <a:noFill/>
          <a:ln>
            <a:noFill/>
          </a:ln>
        </p:spPr>
      </p:pic>
      <p:pic>
        <p:nvPicPr>
          <p:cNvPr id="138" name="Google Shape;138;p16"/>
          <p:cNvPicPr preferRelativeResize="0"/>
          <p:nvPr/>
        </p:nvPicPr>
        <p:blipFill rotWithShape="1">
          <a:blip r:embed="rId5">
            <a:alphaModFix/>
          </a:blip>
          <a:srcRect b="0" l="0" r="0" t="0"/>
          <a:stretch/>
        </p:blipFill>
        <p:spPr>
          <a:xfrm>
            <a:off x="6313792" y="5192152"/>
            <a:ext cx="590648" cy="1121886"/>
          </a:xfrm>
          <a:prstGeom prst="rect">
            <a:avLst/>
          </a:prstGeom>
          <a:noFill/>
          <a:ln>
            <a:noFill/>
          </a:ln>
        </p:spPr>
      </p:pic>
      <p:pic>
        <p:nvPicPr>
          <p:cNvPr id="139" name="Google Shape;139;p16"/>
          <p:cNvPicPr preferRelativeResize="0"/>
          <p:nvPr/>
        </p:nvPicPr>
        <p:blipFill rotWithShape="1">
          <a:blip r:embed="rId6">
            <a:alphaModFix/>
          </a:blip>
          <a:srcRect b="0" l="0" r="0" t="0"/>
          <a:stretch/>
        </p:blipFill>
        <p:spPr>
          <a:xfrm flipH="1">
            <a:off x="4756846" y="5239211"/>
            <a:ext cx="1382769" cy="1016395"/>
          </a:xfrm>
          <a:prstGeom prst="rect">
            <a:avLst/>
          </a:prstGeom>
          <a:noFill/>
          <a:ln>
            <a:noFill/>
          </a:ln>
        </p:spPr>
      </p:pic>
      <p:sp>
        <p:nvSpPr>
          <p:cNvPr id="140" name="Google Shape;140;p16"/>
          <p:cNvSpPr/>
          <p:nvPr/>
        </p:nvSpPr>
        <p:spPr>
          <a:xfrm>
            <a:off x="4326695" y="3375881"/>
            <a:ext cx="1421765" cy="107721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GB" sz="1400">
                <a:solidFill>
                  <a:schemeClr val="lt1"/>
                </a:solidFill>
                <a:latin typeface="Roboto"/>
                <a:ea typeface="Roboto"/>
                <a:cs typeface="Roboto"/>
                <a:sym typeface="Roboto"/>
              </a:rPr>
              <a:t>a desktop or laptop computer with a web browser and Internet access</a:t>
            </a:r>
            <a:endParaRPr/>
          </a:p>
        </p:txBody>
      </p:sp>
      <p:sp>
        <p:nvSpPr>
          <p:cNvPr id="141" name="Google Shape;141;p16"/>
          <p:cNvSpPr/>
          <p:nvPr/>
        </p:nvSpPr>
        <p:spPr>
          <a:xfrm>
            <a:off x="6601265" y="3375881"/>
            <a:ext cx="1421765" cy="107721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400"/>
              <a:buFont typeface="Roboto"/>
              <a:buNone/>
            </a:pPr>
            <a:r>
              <a:rPr lang="en-GB" sz="1400">
                <a:solidFill>
                  <a:schemeClr val="lt1"/>
                </a:solidFill>
                <a:latin typeface="Roboto"/>
                <a:ea typeface="Roboto"/>
                <a:cs typeface="Roboto"/>
                <a:sym typeface="Roboto"/>
              </a:rPr>
              <a:t>a phone or tablet with the free micro:bit app for MakeCode coding</a:t>
            </a:r>
            <a:endParaRPr/>
          </a:p>
        </p:txBody>
      </p:sp>
      <p:sp>
        <p:nvSpPr>
          <p:cNvPr id="142" name="Google Shape;142;p16"/>
          <p:cNvSpPr/>
          <p:nvPr/>
        </p:nvSpPr>
        <p:spPr>
          <a:xfrm>
            <a:off x="5921444" y="4278695"/>
            <a:ext cx="516450" cy="43088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645C"/>
              </a:buClr>
              <a:buSzPts val="2800"/>
              <a:buFont typeface="Roboto"/>
              <a:buNone/>
            </a:pPr>
            <a:r>
              <a:rPr b="1" lang="en-GB" sz="2800">
                <a:solidFill>
                  <a:srgbClr val="E7645C"/>
                </a:solidFill>
                <a:latin typeface="Roboto"/>
                <a:ea typeface="Roboto"/>
                <a:cs typeface="Roboto"/>
                <a:sym typeface="Roboto"/>
              </a:rPr>
              <a:t>OR</a:t>
            </a:r>
            <a:endParaRPr/>
          </a:p>
        </p:txBody>
      </p:sp>
      <p:sp>
        <p:nvSpPr>
          <p:cNvPr id="143" name="Google Shape;143;p16"/>
          <p:cNvSpPr/>
          <p:nvPr/>
        </p:nvSpPr>
        <p:spPr>
          <a:xfrm>
            <a:off x="757246" y="3763501"/>
            <a:ext cx="7600586" cy="8309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solidFill>
                <a:schemeClr val="dk1"/>
              </a:solidFill>
              <a:latin typeface="Roboto"/>
              <a:ea typeface="Roboto"/>
              <a:cs typeface="Roboto"/>
              <a:sym typeface="Roboto"/>
            </a:endParaRPr>
          </a:p>
          <a:p>
            <a:pPr indent="0" lvl="0" marL="0" marR="0" rtl="0" algn="l">
              <a:spcBef>
                <a:spcPts val="0"/>
              </a:spcBef>
              <a:spcAft>
                <a:spcPts val="0"/>
              </a:spcAft>
              <a:buNone/>
            </a:pPr>
            <a:r>
              <a:rPr lang="en-GB" sz="1800">
                <a:solidFill>
                  <a:schemeClr val="dk1"/>
                </a:solidFill>
                <a:latin typeface="Roboto"/>
                <a:ea typeface="Roboto"/>
                <a:cs typeface="Roboto"/>
                <a:sym typeface="Roboto"/>
              </a:rPr>
              <a:t>Once you have created your program, you will need to connect your BBC micro:bit to your mobile or your desktop or laptop computer.</a:t>
            </a:r>
            <a:endParaRPr/>
          </a:p>
        </p:txBody>
      </p:sp>
      <p:sp>
        <p:nvSpPr>
          <p:cNvPr id="144" name="Google Shape;144;p16">
            <a:hlinkClick action="ppaction://hlinksldjump" r:id="rId7"/>
          </p:cNvPr>
          <p:cNvSpPr/>
          <p:nvPr/>
        </p:nvSpPr>
        <p:spPr>
          <a:xfrm>
            <a:off x="764362" y="4709582"/>
            <a:ext cx="2408398" cy="1245294"/>
          </a:xfrm>
          <a:prstGeom prst="rect">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Click here </a:t>
            </a:r>
            <a:br>
              <a:rPr lang="en-GB" sz="1800">
                <a:solidFill>
                  <a:schemeClr val="lt1"/>
                </a:solidFill>
                <a:latin typeface="Roboto"/>
                <a:ea typeface="Roboto"/>
                <a:cs typeface="Roboto"/>
                <a:sym typeface="Roboto"/>
              </a:rPr>
            </a:br>
            <a:r>
              <a:rPr lang="en-GB" sz="1800">
                <a:solidFill>
                  <a:schemeClr val="lt1"/>
                </a:solidFill>
                <a:latin typeface="Roboto"/>
                <a:ea typeface="Roboto"/>
                <a:cs typeface="Roboto"/>
                <a:sym typeface="Roboto"/>
              </a:rPr>
              <a:t>if you are connecting </a:t>
            </a:r>
            <a:br>
              <a:rPr lang="en-GB" sz="1800">
                <a:solidFill>
                  <a:schemeClr val="lt1"/>
                </a:solidFill>
                <a:latin typeface="Roboto"/>
                <a:ea typeface="Roboto"/>
                <a:cs typeface="Roboto"/>
                <a:sym typeface="Roboto"/>
              </a:rPr>
            </a:br>
            <a:r>
              <a:rPr b="1" lang="en-GB" sz="1800">
                <a:solidFill>
                  <a:schemeClr val="lt1"/>
                </a:solidFill>
                <a:latin typeface="Roboto"/>
                <a:ea typeface="Roboto"/>
                <a:cs typeface="Roboto"/>
                <a:sym typeface="Roboto"/>
              </a:rPr>
              <a:t>via a desktop or laptop computer.</a:t>
            </a:r>
            <a:endParaRPr/>
          </a:p>
        </p:txBody>
      </p:sp>
      <p:sp>
        <p:nvSpPr>
          <p:cNvPr id="145" name="Google Shape;145;p16">
            <a:hlinkClick action="ppaction://hlinksldjump" r:id="rId8"/>
          </p:cNvPr>
          <p:cNvSpPr/>
          <p:nvPr/>
        </p:nvSpPr>
        <p:spPr>
          <a:xfrm>
            <a:off x="3561359" y="4709582"/>
            <a:ext cx="2408397" cy="1245294"/>
          </a:xfrm>
          <a:prstGeom prst="rect">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GB" sz="1800">
                <a:solidFill>
                  <a:schemeClr val="lt1"/>
                </a:solidFill>
                <a:latin typeface="Roboto"/>
                <a:ea typeface="Roboto"/>
                <a:cs typeface="Roboto"/>
                <a:sym typeface="Roboto"/>
              </a:rPr>
              <a:t>Click here</a:t>
            </a:r>
            <a:br>
              <a:rPr lang="en-GB" sz="1800">
                <a:solidFill>
                  <a:schemeClr val="lt1"/>
                </a:solidFill>
                <a:latin typeface="Roboto"/>
                <a:ea typeface="Roboto"/>
                <a:cs typeface="Roboto"/>
                <a:sym typeface="Roboto"/>
              </a:rPr>
            </a:br>
            <a:r>
              <a:rPr lang="en-GB" sz="1800">
                <a:solidFill>
                  <a:schemeClr val="lt1"/>
                </a:solidFill>
                <a:latin typeface="Roboto"/>
                <a:ea typeface="Roboto"/>
                <a:cs typeface="Roboto"/>
                <a:sym typeface="Roboto"/>
              </a:rPr>
              <a:t>if you are connecting </a:t>
            </a:r>
            <a:br>
              <a:rPr lang="en-GB" sz="1800">
                <a:solidFill>
                  <a:schemeClr val="lt1"/>
                </a:solidFill>
                <a:latin typeface="Roboto"/>
                <a:ea typeface="Roboto"/>
                <a:cs typeface="Roboto"/>
                <a:sym typeface="Roboto"/>
              </a:rPr>
            </a:br>
            <a:r>
              <a:rPr b="1" lang="en-GB" sz="1800">
                <a:solidFill>
                  <a:schemeClr val="lt1"/>
                </a:solidFill>
                <a:latin typeface="Roboto"/>
                <a:ea typeface="Roboto"/>
                <a:cs typeface="Roboto"/>
                <a:sym typeface="Roboto"/>
              </a:rPr>
              <a:t>via a mobile device.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35"/>
                                        </p:tgtEl>
                                        <p:attrNameLst>
                                          <p:attrName>style.visibility</p:attrName>
                                        </p:attrNameLst>
                                      </p:cBhvr>
                                      <p:to>
                                        <p:strVal val="visible"/>
                                      </p:to>
                                    </p:set>
                                    <p:animEffect filter="fade" transition="in">
                                      <p:cBhvr>
                                        <p:cTn dur="500"/>
                                        <p:tgtEl>
                                          <p:spTgt spid="13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31"/>
                                        </p:tgtEl>
                                        <p:attrNameLst>
                                          <p:attrName>style.visibility</p:attrName>
                                        </p:attrNameLst>
                                      </p:cBhvr>
                                      <p:to>
                                        <p:strVal val="visible"/>
                                      </p:to>
                                    </p:set>
                                    <p:animEffect filter="fade" transition="in">
                                      <p:cBhvr>
                                        <p:cTn dur="500"/>
                                        <p:tgtEl>
                                          <p:spTgt spid="1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2"/>
                                        </p:tgtEl>
                                        <p:attrNameLst>
                                          <p:attrName>style.visibility</p:attrName>
                                        </p:attrNameLst>
                                      </p:cBhvr>
                                      <p:to>
                                        <p:strVal val="visible"/>
                                      </p:to>
                                    </p:set>
                                    <p:animEffect filter="fade" transition="in">
                                      <p:cBhvr>
                                        <p:cTn dur="500"/>
                                        <p:tgtEl>
                                          <p:spTgt spid="1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36"/>
                                        </p:tgtEl>
                                        <p:attrNameLst>
                                          <p:attrName>style.visibility</p:attrName>
                                        </p:attrNameLst>
                                      </p:cBhvr>
                                      <p:to>
                                        <p:strVal val="visible"/>
                                      </p:to>
                                    </p:set>
                                    <p:anim calcmode="lin" valueType="num">
                                      <p:cBhvr additive="base">
                                        <p:cTn dur="500"/>
                                        <p:tgtEl>
                                          <p:spTgt spid="136"/>
                                        </p:tgtEl>
                                        <p:attrNameLst>
                                          <p:attrName>ppt_w</p:attrName>
                                        </p:attrNameLst>
                                      </p:cBhvr>
                                      <p:tavLst>
                                        <p:tav fmla="" tm="0">
                                          <p:val>
                                            <p:strVal val="0"/>
                                          </p:val>
                                        </p:tav>
                                        <p:tav fmla="" tm="100000">
                                          <p:val>
                                            <p:strVal val="#ppt_w"/>
                                          </p:val>
                                        </p:tav>
                                      </p:tavLst>
                                    </p:anim>
                                    <p:anim calcmode="lin" valueType="num">
                                      <p:cBhvr additive="base">
                                        <p:cTn dur="500"/>
                                        <p:tgtEl>
                                          <p:spTgt spid="136"/>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139"/>
                                        </p:tgtEl>
                                        <p:attrNameLst>
                                          <p:attrName>style.visibility</p:attrName>
                                        </p:attrNameLst>
                                      </p:cBhvr>
                                      <p:to>
                                        <p:strVal val="visible"/>
                                      </p:to>
                                    </p:set>
                                    <p:anim calcmode="lin" valueType="num">
                                      <p:cBhvr additive="base">
                                        <p:cTn dur="500"/>
                                        <p:tgtEl>
                                          <p:spTgt spid="139"/>
                                        </p:tgtEl>
                                        <p:attrNameLst>
                                          <p:attrName>ppt_w</p:attrName>
                                        </p:attrNameLst>
                                      </p:cBhvr>
                                      <p:tavLst>
                                        <p:tav fmla="" tm="0">
                                          <p:val>
                                            <p:strVal val="0"/>
                                          </p:val>
                                        </p:tav>
                                        <p:tav fmla="" tm="100000">
                                          <p:val>
                                            <p:strVal val="#ppt_w"/>
                                          </p:val>
                                        </p:tav>
                                      </p:tavLst>
                                    </p:anim>
                                    <p:anim calcmode="lin" valueType="num">
                                      <p:cBhvr additive="base">
                                        <p:cTn dur="500"/>
                                        <p:tgtEl>
                                          <p:spTgt spid="139"/>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29"/>
                                        </p:tgtEl>
                                        <p:attrNameLst>
                                          <p:attrName>style.visibility</p:attrName>
                                        </p:attrNameLst>
                                      </p:cBhvr>
                                      <p:to>
                                        <p:strVal val="visible"/>
                                      </p:to>
                                    </p:set>
                                    <p:animEffect filter="fade" transition="in">
                                      <p:cBhvr>
                                        <p:cTn dur="500"/>
                                        <p:tgtEl>
                                          <p:spTgt spid="129"/>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40"/>
                                        </p:tgtEl>
                                        <p:attrNameLst>
                                          <p:attrName>style.visibility</p:attrName>
                                        </p:attrNameLst>
                                      </p:cBhvr>
                                      <p:to>
                                        <p:strVal val="visible"/>
                                      </p:to>
                                    </p:set>
                                    <p:animEffect filter="fade" transition="in">
                                      <p:cBhvr>
                                        <p:cTn dur="500"/>
                                        <p:tgtEl>
                                          <p:spTgt spid="140"/>
                                        </p:tgtEl>
                                      </p:cBhvr>
                                    </p:animEffect>
                                  </p:childTnLst>
                                </p:cTn>
                              </p:par>
                            </p:childTnLst>
                          </p:cTn>
                        </p:par>
                        <p:par>
                          <p:cTn fill="hold">
                            <p:stCondLst>
                              <p:cond delay="1500"/>
                            </p:stCondLst>
                            <p:childTnLst>
                              <p:par>
                                <p:cTn fill="hold" nodeType="afterEffect" presetClass="entr" presetID="23" presetSubtype="16">
                                  <p:stCondLst>
                                    <p:cond delay="0"/>
                                  </p:stCondLst>
                                  <p:childTnLst>
                                    <p:set>
                                      <p:cBhvr>
                                        <p:cTn dur="1" fill="hold">
                                          <p:stCondLst>
                                            <p:cond delay="0"/>
                                          </p:stCondLst>
                                        </p:cTn>
                                        <p:tgtEl>
                                          <p:spTgt spid="142"/>
                                        </p:tgtEl>
                                        <p:attrNameLst>
                                          <p:attrName>style.visibility</p:attrName>
                                        </p:attrNameLst>
                                      </p:cBhvr>
                                      <p:to>
                                        <p:strVal val="visible"/>
                                      </p:to>
                                    </p:set>
                                    <p:anim calcmode="lin" valueType="num">
                                      <p:cBhvr additive="base">
                                        <p:cTn dur="500"/>
                                        <p:tgtEl>
                                          <p:spTgt spid="142"/>
                                        </p:tgtEl>
                                        <p:attrNameLst>
                                          <p:attrName>ppt_w</p:attrName>
                                        </p:attrNameLst>
                                      </p:cBhvr>
                                      <p:tavLst>
                                        <p:tav fmla="" tm="0">
                                          <p:val>
                                            <p:strVal val="0"/>
                                          </p:val>
                                        </p:tav>
                                        <p:tav fmla="" tm="100000">
                                          <p:val>
                                            <p:strVal val="#ppt_w"/>
                                          </p:val>
                                        </p:tav>
                                      </p:tavLst>
                                    </p:anim>
                                    <p:anim calcmode="lin" valueType="num">
                                      <p:cBhvr additive="base">
                                        <p:cTn dur="500"/>
                                        <p:tgtEl>
                                          <p:spTgt spid="14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38"/>
                                        </p:tgtEl>
                                        <p:attrNameLst>
                                          <p:attrName>style.visibility</p:attrName>
                                        </p:attrNameLst>
                                      </p:cBhvr>
                                      <p:to>
                                        <p:strVal val="visible"/>
                                      </p:to>
                                    </p:set>
                                    <p:anim calcmode="lin" valueType="num">
                                      <p:cBhvr additive="base">
                                        <p:cTn dur="500"/>
                                        <p:tgtEl>
                                          <p:spTgt spid="138"/>
                                        </p:tgtEl>
                                        <p:attrNameLst>
                                          <p:attrName>ppt_w</p:attrName>
                                        </p:attrNameLst>
                                      </p:cBhvr>
                                      <p:tavLst>
                                        <p:tav fmla="" tm="0">
                                          <p:val>
                                            <p:strVal val="0"/>
                                          </p:val>
                                        </p:tav>
                                        <p:tav fmla="" tm="100000">
                                          <p:val>
                                            <p:strVal val="#ppt_w"/>
                                          </p:val>
                                        </p:tav>
                                      </p:tavLst>
                                    </p:anim>
                                    <p:anim calcmode="lin" valueType="num">
                                      <p:cBhvr additive="base">
                                        <p:cTn dur="500"/>
                                        <p:tgtEl>
                                          <p:spTgt spid="138"/>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137"/>
                                        </p:tgtEl>
                                        <p:attrNameLst>
                                          <p:attrName>style.visibility</p:attrName>
                                        </p:attrNameLst>
                                      </p:cBhvr>
                                      <p:to>
                                        <p:strVal val="visible"/>
                                      </p:to>
                                    </p:set>
                                    <p:anim calcmode="lin" valueType="num">
                                      <p:cBhvr additive="base">
                                        <p:cTn dur="500"/>
                                        <p:tgtEl>
                                          <p:spTgt spid="137"/>
                                        </p:tgtEl>
                                        <p:attrNameLst>
                                          <p:attrName>ppt_w</p:attrName>
                                        </p:attrNameLst>
                                      </p:cBhvr>
                                      <p:tavLst>
                                        <p:tav fmla="" tm="0">
                                          <p:val>
                                            <p:strVal val="0"/>
                                          </p:val>
                                        </p:tav>
                                        <p:tav fmla="" tm="100000">
                                          <p:val>
                                            <p:strVal val="#ppt_w"/>
                                          </p:val>
                                        </p:tav>
                                      </p:tavLst>
                                    </p:anim>
                                    <p:anim calcmode="lin" valueType="num">
                                      <p:cBhvr additive="base">
                                        <p:cTn dur="500"/>
                                        <p:tgtEl>
                                          <p:spTgt spid="137"/>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30"/>
                                        </p:tgtEl>
                                        <p:attrNameLst>
                                          <p:attrName>style.visibility</p:attrName>
                                        </p:attrNameLst>
                                      </p:cBhvr>
                                      <p:to>
                                        <p:strVal val="visible"/>
                                      </p:to>
                                    </p:set>
                                    <p:animEffect filter="fade" transition="in">
                                      <p:cBhvr>
                                        <p:cTn dur="500"/>
                                        <p:tgtEl>
                                          <p:spTgt spid="130"/>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41"/>
                                        </p:tgtEl>
                                        <p:attrNameLst>
                                          <p:attrName>style.visibility</p:attrName>
                                        </p:attrNameLst>
                                      </p:cBhvr>
                                      <p:to>
                                        <p:strVal val="visible"/>
                                      </p:to>
                                    </p:set>
                                    <p:animEffect filter="fade" transition="in">
                                      <p:cBhvr>
                                        <p:cTn dur="500"/>
                                        <p:tgtEl>
                                          <p:spTgt spid="1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23" presetSubtype="32">
                                  <p:stCondLst>
                                    <p:cond delay="0"/>
                                  </p:stCondLst>
                                  <p:childTnLst>
                                    <p:anim calcmode="lin" valueType="num">
                                      <p:cBhvr additive="base">
                                        <p:cTn dur="500"/>
                                        <p:tgtEl>
                                          <p:spTgt spid="129"/>
                                        </p:tgtEl>
                                        <p:attrNameLst>
                                          <p:attrName>ppt_w</p:attrName>
                                        </p:attrNameLst>
                                      </p:cBhvr>
                                      <p:tavLst>
                                        <p:tav fmla="" tm="0">
                                          <p:val>
                                            <p:strVal val="#ppt_w"/>
                                          </p:val>
                                        </p:tav>
                                        <p:tav fmla="" tm="100000">
                                          <p:val>
                                            <p:strVal val="0"/>
                                          </p:val>
                                        </p:tav>
                                      </p:tavLst>
                                    </p:anim>
                                    <p:anim calcmode="lin" valueType="num">
                                      <p:cBhvr additive="base">
                                        <p:cTn dur="500"/>
                                        <p:tgtEl>
                                          <p:spTgt spid="129"/>
                                        </p:tgtEl>
                                        <p:attrNameLst>
                                          <p:attrName>ppt_h</p:attrName>
                                        </p:attrNameLst>
                                      </p:cBhvr>
                                      <p:tavLst>
                                        <p:tav fmla="" tm="0">
                                          <p:val>
                                            <p:strVal val="#ppt_h"/>
                                          </p:val>
                                        </p:tav>
                                        <p:tav fmla="" tm="100000">
                                          <p:val>
                                            <p:strVal val="0"/>
                                          </p:val>
                                        </p:tav>
                                      </p:tavLst>
                                    </p:anim>
                                    <p:set>
                                      <p:cBhvr>
                                        <p:cTn dur="1" fill="hold">
                                          <p:stCondLst>
                                            <p:cond delay="500"/>
                                          </p:stCondLst>
                                        </p:cTn>
                                        <p:tgtEl>
                                          <p:spTgt spid="129"/>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0"/>
                                        </p:tgtEl>
                                        <p:attrNameLst>
                                          <p:attrName>ppt_w</p:attrName>
                                        </p:attrNameLst>
                                      </p:cBhvr>
                                      <p:tavLst>
                                        <p:tav fmla="" tm="0">
                                          <p:val>
                                            <p:strVal val="#ppt_w"/>
                                          </p:val>
                                        </p:tav>
                                        <p:tav fmla="" tm="100000">
                                          <p:val>
                                            <p:strVal val="0"/>
                                          </p:val>
                                        </p:tav>
                                      </p:tavLst>
                                    </p:anim>
                                    <p:anim calcmode="lin" valueType="num">
                                      <p:cBhvr additive="base">
                                        <p:cTn dur="500"/>
                                        <p:tgtEl>
                                          <p:spTgt spid="130"/>
                                        </p:tgtEl>
                                        <p:attrNameLst>
                                          <p:attrName>ppt_h</p:attrName>
                                        </p:attrNameLst>
                                      </p:cBhvr>
                                      <p:tavLst>
                                        <p:tav fmla="" tm="0">
                                          <p:val>
                                            <p:strVal val="#ppt_h"/>
                                          </p:val>
                                        </p:tav>
                                        <p:tav fmla="" tm="100000">
                                          <p:val>
                                            <p:strVal val="0"/>
                                          </p:val>
                                        </p:tav>
                                      </p:tavLst>
                                    </p:anim>
                                    <p:set>
                                      <p:cBhvr>
                                        <p:cTn dur="1" fill="hold">
                                          <p:stCondLst>
                                            <p:cond delay="500"/>
                                          </p:stCondLst>
                                        </p:cTn>
                                        <p:tgtEl>
                                          <p:spTgt spid="130"/>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2"/>
                                        </p:tgtEl>
                                        <p:attrNameLst>
                                          <p:attrName>ppt_w</p:attrName>
                                        </p:attrNameLst>
                                      </p:cBhvr>
                                      <p:tavLst>
                                        <p:tav fmla="" tm="0">
                                          <p:val>
                                            <p:strVal val="#ppt_w"/>
                                          </p:val>
                                        </p:tav>
                                        <p:tav fmla="" tm="100000">
                                          <p:val>
                                            <p:strVal val="0"/>
                                          </p:val>
                                        </p:tav>
                                      </p:tavLst>
                                    </p:anim>
                                    <p:anim calcmode="lin" valueType="num">
                                      <p:cBhvr additive="base">
                                        <p:cTn dur="500"/>
                                        <p:tgtEl>
                                          <p:spTgt spid="132"/>
                                        </p:tgtEl>
                                        <p:attrNameLst>
                                          <p:attrName>ppt_h</p:attrName>
                                        </p:attrNameLst>
                                      </p:cBhvr>
                                      <p:tavLst>
                                        <p:tav fmla="" tm="0">
                                          <p:val>
                                            <p:strVal val="#ppt_h"/>
                                          </p:val>
                                        </p:tav>
                                        <p:tav fmla="" tm="100000">
                                          <p:val>
                                            <p:strVal val="0"/>
                                          </p:val>
                                        </p:tav>
                                      </p:tavLst>
                                    </p:anim>
                                    <p:set>
                                      <p:cBhvr>
                                        <p:cTn dur="1" fill="hold">
                                          <p:stCondLst>
                                            <p:cond delay="500"/>
                                          </p:stCondLst>
                                        </p:cTn>
                                        <p:tgtEl>
                                          <p:spTgt spid="132"/>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6"/>
                                        </p:tgtEl>
                                        <p:attrNameLst>
                                          <p:attrName>ppt_w</p:attrName>
                                        </p:attrNameLst>
                                      </p:cBhvr>
                                      <p:tavLst>
                                        <p:tav fmla="" tm="0">
                                          <p:val>
                                            <p:strVal val="#ppt_w"/>
                                          </p:val>
                                        </p:tav>
                                        <p:tav fmla="" tm="100000">
                                          <p:val>
                                            <p:strVal val="0"/>
                                          </p:val>
                                        </p:tav>
                                      </p:tavLst>
                                    </p:anim>
                                    <p:anim calcmode="lin" valueType="num">
                                      <p:cBhvr additive="base">
                                        <p:cTn dur="500"/>
                                        <p:tgtEl>
                                          <p:spTgt spid="136"/>
                                        </p:tgtEl>
                                        <p:attrNameLst>
                                          <p:attrName>ppt_h</p:attrName>
                                        </p:attrNameLst>
                                      </p:cBhvr>
                                      <p:tavLst>
                                        <p:tav fmla="" tm="0">
                                          <p:val>
                                            <p:strVal val="#ppt_h"/>
                                          </p:val>
                                        </p:tav>
                                        <p:tav fmla="" tm="100000">
                                          <p:val>
                                            <p:strVal val="0"/>
                                          </p:val>
                                        </p:tav>
                                      </p:tavLst>
                                    </p:anim>
                                    <p:set>
                                      <p:cBhvr>
                                        <p:cTn dur="1" fill="hold">
                                          <p:stCondLst>
                                            <p:cond delay="500"/>
                                          </p:stCondLst>
                                        </p:cTn>
                                        <p:tgtEl>
                                          <p:spTgt spid="136"/>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7"/>
                                        </p:tgtEl>
                                        <p:attrNameLst>
                                          <p:attrName>ppt_w</p:attrName>
                                        </p:attrNameLst>
                                      </p:cBhvr>
                                      <p:tavLst>
                                        <p:tav fmla="" tm="0">
                                          <p:val>
                                            <p:strVal val="#ppt_w"/>
                                          </p:val>
                                        </p:tav>
                                        <p:tav fmla="" tm="100000">
                                          <p:val>
                                            <p:strVal val="0"/>
                                          </p:val>
                                        </p:tav>
                                      </p:tavLst>
                                    </p:anim>
                                    <p:anim calcmode="lin" valueType="num">
                                      <p:cBhvr additive="base">
                                        <p:cTn dur="500"/>
                                        <p:tgtEl>
                                          <p:spTgt spid="137"/>
                                        </p:tgtEl>
                                        <p:attrNameLst>
                                          <p:attrName>ppt_h</p:attrName>
                                        </p:attrNameLst>
                                      </p:cBhvr>
                                      <p:tavLst>
                                        <p:tav fmla="" tm="0">
                                          <p:val>
                                            <p:strVal val="#ppt_h"/>
                                          </p:val>
                                        </p:tav>
                                        <p:tav fmla="" tm="100000">
                                          <p:val>
                                            <p:strVal val="0"/>
                                          </p:val>
                                        </p:tav>
                                      </p:tavLst>
                                    </p:anim>
                                    <p:set>
                                      <p:cBhvr>
                                        <p:cTn dur="1" fill="hold">
                                          <p:stCondLst>
                                            <p:cond delay="500"/>
                                          </p:stCondLst>
                                        </p:cTn>
                                        <p:tgtEl>
                                          <p:spTgt spid="137"/>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8"/>
                                        </p:tgtEl>
                                        <p:attrNameLst>
                                          <p:attrName>ppt_w</p:attrName>
                                        </p:attrNameLst>
                                      </p:cBhvr>
                                      <p:tavLst>
                                        <p:tav fmla="" tm="0">
                                          <p:val>
                                            <p:strVal val="#ppt_w"/>
                                          </p:val>
                                        </p:tav>
                                        <p:tav fmla="" tm="100000">
                                          <p:val>
                                            <p:strVal val="0"/>
                                          </p:val>
                                        </p:tav>
                                      </p:tavLst>
                                    </p:anim>
                                    <p:anim calcmode="lin" valueType="num">
                                      <p:cBhvr additive="base">
                                        <p:cTn dur="500"/>
                                        <p:tgtEl>
                                          <p:spTgt spid="138"/>
                                        </p:tgtEl>
                                        <p:attrNameLst>
                                          <p:attrName>ppt_h</p:attrName>
                                        </p:attrNameLst>
                                      </p:cBhvr>
                                      <p:tavLst>
                                        <p:tav fmla="" tm="0">
                                          <p:val>
                                            <p:strVal val="#ppt_h"/>
                                          </p:val>
                                        </p:tav>
                                        <p:tav fmla="" tm="100000">
                                          <p:val>
                                            <p:strVal val="0"/>
                                          </p:val>
                                        </p:tav>
                                      </p:tavLst>
                                    </p:anim>
                                    <p:set>
                                      <p:cBhvr>
                                        <p:cTn dur="1" fill="hold">
                                          <p:stCondLst>
                                            <p:cond delay="500"/>
                                          </p:stCondLst>
                                        </p:cTn>
                                        <p:tgtEl>
                                          <p:spTgt spid="138"/>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39"/>
                                        </p:tgtEl>
                                        <p:attrNameLst>
                                          <p:attrName>ppt_w</p:attrName>
                                        </p:attrNameLst>
                                      </p:cBhvr>
                                      <p:tavLst>
                                        <p:tav fmla="" tm="0">
                                          <p:val>
                                            <p:strVal val="#ppt_w"/>
                                          </p:val>
                                        </p:tav>
                                        <p:tav fmla="" tm="100000">
                                          <p:val>
                                            <p:strVal val="0"/>
                                          </p:val>
                                        </p:tav>
                                      </p:tavLst>
                                    </p:anim>
                                    <p:anim calcmode="lin" valueType="num">
                                      <p:cBhvr additive="base">
                                        <p:cTn dur="500"/>
                                        <p:tgtEl>
                                          <p:spTgt spid="139"/>
                                        </p:tgtEl>
                                        <p:attrNameLst>
                                          <p:attrName>ppt_h</p:attrName>
                                        </p:attrNameLst>
                                      </p:cBhvr>
                                      <p:tavLst>
                                        <p:tav fmla="" tm="0">
                                          <p:val>
                                            <p:strVal val="#ppt_h"/>
                                          </p:val>
                                        </p:tav>
                                        <p:tav fmla="" tm="100000">
                                          <p:val>
                                            <p:strVal val="0"/>
                                          </p:val>
                                        </p:tav>
                                      </p:tavLst>
                                    </p:anim>
                                    <p:set>
                                      <p:cBhvr>
                                        <p:cTn dur="1" fill="hold">
                                          <p:stCondLst>
                                            <p:cond delay="500"/>
                                          </p:stCondLst>
                                        </p:cTn>
                                        <p:tgtEl>
                                          <p:spTgt spid="139"/>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40"/>
                                        </p:tgtEl>
                                        <p:attrNameLst>
                                          <p:attrName>ppt_w</p:attrName>
                                        </p:attrNameLst>
                                      </p:cBhvr>
                                      <p:tavLst>
                                        <p:tav fmla="" tm="0">
                                          <p:val>
                                            <p:strVal val="#ppt_w"/>
                                          </p:val>
                                        </p:tav>
                                        <p:tav fmla="" tm="100000">
                                          <p:val>
                                            <p:strVal val="0"/>
                                          </p:val>
                                        </p:tav>
                                      </p:tavLst>
                                    </p:anim>
                                    <p:anim calcmode="lin" valueType="num">
                                      <p:cBhvr additive="base">
                                        <p:cTn dur="500"/>
                                        <p:tgtEl>
                                          <p:spTgt spid="140"/>
                                        </p:tgtEl>
                                        <p:attrNameLst>
                                          <p:attrName>ppt_h</p:attrName>
                                        </p:attrNameLst>
                                      </p:cBhvr>
                                      <p:tavLst>
                                        <p:tav fmla="" tm="0">
                                          <p:val>
                                            <p:strVal val="#ppt_h"/>
                                          </p:val>
                                        </p:tav>
                                        <p:tav fmla="" tm="100000">
                                          <p:val>
                                            <p:strVal val="0"/>
                                          </p:val>
                                        </p:tav>
                                      </p:tavLst>
                                    </p:anim>
                                    <p:set>
                                      <p:cBhvr>
                                        <p:cTn dur="1" fill="hold">
                                          <p:stCondLst>
                                            <p:cond delay="500"/>
                                          </p:stCondLst>
                                        </p:cTn>
                                        <p:tgtEl>
                                          <p:spTgt spid="140"/>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41"/>
                                        </p:tgtEl>
                                        <p:attrNameLst>
                                          <p:attrName>ppt_w</p:attrName>
                                        </p:attrNameLst>
                                      </p:cBhvr>
                                      <p:tavLst>
                                        <p:tav fmla="" tm="0">
                                          <p:val>
                                            <p:strVal val="#ppt_w"/>
                                          </p:val>
                                        </p:tav>
                                        <p:tav fmla="" tm="100000">
                                          <p:val>
                                            <p:strVal val="0"/>
                                          </p:val>
                                        </p:tav>
                                      </p:tavLst>
                                    </p:anim>
                                    <p:anim calcmode="lin" valueType="num">
                                      <p:cBhvr additive="base">
                                        <p:cTn dur="500"/>
                                        <p:tgtEl>
                                          <p:spTgt spid="141"/>
                                        </p:tgtEl>
                                        <p:attrNameLst>
                                          <p:attrName>ppt_h</p:attrName>
                                        </p:attrNameLst>
                                      </p:cBhvr>
                                      <p:tavLst>
                                        <p:tav fmla="" tm="0">
                                          <p:val>
                                            <p:strVal val="#ppt_h"/>
                                          </p:val>
                                        </p:tav>
                                        <p:tav fmla="" tm="100000">
                                          <p:val>
                                            <p:strVal val="0"/>
                                          </p:val>
                                        </p:tav>
                                      </p:tavLst>
                                    </p:anim>
                                    <p:set>
                                      <p:cBhvr>
                                        <p:cTn dur="1" fill="hold">
                                          <p:stCondLst>
                                            <p:cond delay="500"/>
                                          </p:stCondLst>
                                        </p:cTn>
                                        <p:tgtEl>
                                          <p:spTgt spid="141"/>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142"/>
                                        </p:tgtEl>
                                        <p:attrNameLst>
                                          <p:attrName>ppt_w</p:attrName>
                                        </p:attrNameLst>
                                      </p:cBhvr>
                                      <p:tavLst>
                                        <p:tav fmla="" tm="0">
                                          <p:val>
                                            <p:strVal val="#ppt_w"/>
                                          </p:val>
                                        </p:tav>
                                        <p:tav fmla="" tm="100000">
                                          <p:val>
                                            <p:strVal val="0"/>
                                          </p:val>
                                        </p:tav>
                                      </p:tavLst>
                                    </p:anim>
                                    <p:anim calcmode="lin" valueType="num">
                                      <p:cBhvr additive="base">
                                        <p:cTn dur="500"/>
                                        <p:tgtEl>
                                          <p:spTgt spid="142"/>
                                        </p:tgtEl>
                                        <p:attrNameLst>
                                          <p:attrName>ppt_h</p:attrName>
                                        </p:attrNameLst>
                                      </p:cBhvr>
                                      <p:tavLst>
                                        <p:tav fmla="" tm="0">
                                          <p:val>
                                            <p:strVal val="#ppt_h"/>
                                          </p:val>
                                        </p:tav>
                                        <p:tav fmla="" tm="100000">
                                          <p:val>
                                            <p:strVal val="0"/>
                                          </p:val>
                                        </p:tav>
                                      </p:tavLst>
                                    </p:anim>
                                    <p:set>
                                      <p:cBhvr>
                                        <p:cTn dur="1" fill="hold">
                                          <p:stCondLst>
                                            <p:cond delay="500"/>
                                          </p:stCondLst>
                                        </p:cTn>
                                        <p:tgtEl>
                                          <p:spTgt spid="142"/>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500"/>
                                        <p:tgtEl>
                                          <p:spTgt spid="1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3"/>
                                        </p:tgtEl>
                                        <p:attrNameLst>
                                          <p:attrName>style.visibility</p:attrName>
                                        </p:attrNameLst>
                                      </p:cBhvr>
                                      <p:to>
                                        <p:strVal val="visible"/>
                                      </p:to>
                                    </p:set>
                                    <p:animEffect filter="fade" transition="in">
                                      <p:cBhvr>
                                        <p:cTn dur="500"/>
                                        <p:tgtEl>
                                          <p:spTgt spid="143"/>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144"/>
                                        </p:tgtEl>
                                        <p:attrNameLst>
                                          <p:attrName>style.visibility</p:attrName>
                                        </p:attrNameLst>
                                      </p:cBhvr>
                                      <p:to>
                                        <p:strVal val="visible"/>
                                      </p:to>
                                    </p:set>
                                    <p:anim calcmode="lin" valueType="num">
                                      <p:cBhvr additive="base">
                                        <p:cTn dur="500"/>
                                        <p:tgtEl>
                                          <p:spTgt spid="144"/>
                                        </p:tgtEl>
                                        <p:attrNameLst>
                                          <p:attrName>ppt_w</p:attrName>
                                        </p:attrNameLst>
                                      </p:cBhvr>
                                      <p:tavLst>
                                        <p:tav fmla="" tm="0">
                                          <p:val>
                                            <p:strVal val="0"/>
                                          </p:val>
                                        </p:tav>
                                        <p:tav fmla="" tm="100000">
                                          <p:val>
                                            <p:strVal val="#ppt_w"/>
                                          </p:val>
                                        </p:tav>
                                      </p:tavLst>
                                    </p:anim>
                                    <p:anim calcmode="lin" valueType="num">
                                      <p:cBhvr additive="base">
                                        <p:cTn dur="500"/>
                                        <p:tgtEl>
                                          <p:spTgt spid="144"/>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145"/>
                                        </p:tgtEl>
                                        <p:attrNameLst>
                                          <p:attrName>style.visibility</p:attrName>
                                        </p:attrNameLst>
                                      </p:cBhvr>
                                      <p:to>
                                        <p:strVal val="visible"/>
                                      </p:to>
                                    </p:set>
                                    <p:anim calcmode="lin" valueType="num">
                                      <p:cBhvr additive="base">
                                        <p:cTn dur="500"/>
                                        <p:tgtEl>
                                          <p:spTgt spid="145"/>
                                        </p:tgtEl>
                                        <p:attrNameLst>
                                          <p:attrName>ppt_w</p:attrName>
                                        </p:attrNameLst>
                                      </p:cBhvr>
                                      <p:tavLst>
                                        <p:tav fmla="" tm="0">
                                          <p:val>
                                            <p:strVal val="0"/>
                                          </p:val>
                                        </p:tav>
                                        <p:tav fmla="" tm="100000">
                                          <p:val>
                                            <p:strVal val="#ppt_w"/>
                                          </p:val>
                                        </p:tav>
                                      </p:tavLst>
                                    </p:anim>
                                    <p:anim calcmode="lin" valueType="num">
                                      <p:cBhvr additive="base">
                                        <p:cTn dur="500"/>
                                        <p:tgtEl>
                                          <p:spTgt spid="145"/>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149" name="Shape 149"/>
        <p:cNvGrpSpPr/>
        <p:nvPr/>
      </p:nvGrpSpPr>
      <p:grpSpPr>
        <a:xfrm>
          <a:off x="0" y="0"/>
          <a:ext cx="0" cy="0"/>
          <a:chOff x="0" y="0"/>
          <a:chExt cx="0" cy="0"/>
        </a:xfrm>
      </p:grpSpPr>
      <p:pic>
        <p:nvPicPr>
          <p:cNvPr descr="A close-up of a usb cable&#10;&#10;Description automatically generated with medium confidence" id="150" name="Google Shape;150;p17"/>
          <p:cNvPicPr preferRelativeResize="0"/>
          <p:nvPr/>
        </p:nvPicPr>
        <p:blipFill rotWithShape="1">
          <a:blip r:embed="rId3">
            <a:alphaModFix/>
          </a:blip>
          <a:srcRect b="0" l="0" r="0" t="0"/>
          <a:stretch/>
        </p:blipFill>
        <p:spPr>
          <a:xfrm>
            <a:off x="5537834" y="3531865"/>
            <a:ext cx="3154681" cy="2728221"/>
          </a:xfrm>
          <a:prstGeom prst="rect">
            <a:avLst/>
          </a:prstGeom>
          <a:noFill/>
          <a:ln>
            <a:noFill/>
          </a:ln>
        </p:spPr>
      </p:pic>
      <p:sp>
        <p:nvSpPr>
          <p:cNvPr id="151" name="Google Shape;151;p17"/>
          <p:cNvSpPr/>
          <p:nvPr/>
        </p:nvSpPr>
        <p:spPr>
          <a:xfrm>
            <a:off x="755650" y="1976568"/>
            <a:ext cx="348488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If you're using a desktop or laptop computer to connect to the micro:bit, you will need a micro USB data cable. </a:t>
            </a:r>
            <a:endParaRPr/>
          </a:p>
        </p:txBody>
      </p:sp>
      <p:sp>
        <p:nvSpPr>
          <p:cNvPr id="152" name="Google Shape;152;p17"/>
          <p:cNvSpPr/>
          <p:nvPr/>
        </p:nvSpPr>
        <p:spPr>
          <a:xfrm>
            <a:off x="755651" y="4342508"/>
            <a:ext cx="4387850" cy="1603104"/>
          </a:xfrm>
          <a:prstGeom prst="rect">
            <a:avLst/>
          </a:prstGeom>
          <a:solidFill>
            <a:srgbClr val="CD0365"/>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lt1"/>
                </a:solidFill>
                <a:latin typeface="Roboto"/>
                <a:ea typeface="Roboto"/>
                <a:cs typeface="Roboto"/>
                <a:sym typeface="Roboto"/>
              </a:rPr>
              <a:t>Plug the micro USB data cable into your micro:bit and then into your desktop or laptop computer. The BBC micro:bit will show up as a disk drive called </a:t>
            </a:r>
            <a:r>
              <a:rPr b="1" lang="en-GB" sz="1800">
                <a:solidFill>
                  <a:schemeClr val="lt1"/>
                </a:solidFill>
                <a:latin typeface="Roboto"/>
                <a:ea typeface="Roboto"/>
                <a:cs typeface="Roboto"/>
                <a:sym typeface="Roboto"/>
              </a:rPr>
              <a:t>MICROBIT</a:t>
            </a:r>
            <a:r>
              <a:rPr lang="en-GB" sz="1800">
                <a:solidFill>
                  <a:schemeClr val="lt1"/>
                </a:solidFill>
                <a:latin typeface="Roboto"/>
                <a:ea typeface="Roboto"/>
                <a:cs typeface="Roboto"/>
                <a:sym typeface="Roboto"/>
              </a:rPr>
              <a:t>.</a:t>
            </a:r>
            <a:endParaRPr/>
          </a:p>
        </p:txBody>
      </p:sp>
      <p:grpSp>
        <p:nvGrpSpPr>
          <p:cNvPr id="153" name="Google Shape;153;p17"/>
          <p:cNvGrpSpPr/>
          <p:nvPr/>
        </p:nvGrpSpPr>
        <p:grpSpPr>
          <a:xfrm>
            <a:off x="7406640" y="549275"/>
            <a:ext cx="1219778" cy="952965"/>
            <a:chOff x="1242641" y="3964917"/>
            <a:chExt cx="2211702" cy="1727916"/>
          </a:xfrm>
        </p:grpSpPr>
        <p:sp>
          <p:nvSpPr>
            <p:cNvPr id="154" name="Google Shape;154;p17"/>
            <p:cNvSpPr/>
            <p:nvPr/>
          </p:nvSpPr>
          <p:spPr>
            <a:xfrm>
              <a:off x="1334928" y="3964917"/>
              <a:ext cx="1768317" cy="1727916"/>
            </a:xfrm>
            <a:prstGeom prst="ellipse">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1" sz="1800">
                <a:solidFill>
                  <a:schemeClr val="lt1"/>
                </a:solidFill>
                <a:latin typeface="Roboto"/>
                <a:ea typeface="Roboto"/>
                <a:cs typeface="Roboto"/>
                <a:sym typeface="Roboto"/>
              </a:endParaRPr>
            </a:p>
          </p:txBody>
        </p:sp>
        <p:pic>
          <p:nvPicPr>
            <p:cNvPr descr="A computer with a keyboard and mouse&#10;&#10;Description automatically generated with medium confidence" id="155" name="Google Shape;155;p17"/>
            <p:cNvPicPr preferRelativeResize="0"/>
            <p:nvPr/>
          </p:nvPicPr>
          <p:blipFill rotWithShape="1">
            <a:blip r:embed="rId4">
              <a:alphaModFix/>
            </a:blip>
            <a:srcRect b="0" l="0" r="0" t="0"/>
            <a:stretch/>
          </p:blipFill>
          <p:spPr>
            <a:xfrm>
              <a:off x="1242641" y="4284886"/>
              <a:ext cx="2211702" cy="1215021"/>
            </a:xfrm>
            <a:prstGeom prst="rect">
              <a:avLst/>
            </a:prstGeom>
            <a:noFill/>
            <a:ln>
              <a:noFill/>
            </a:ln>
          </p:spPr>
        </p:pic>
      </p:grpSp>
      <p:sp>
        <p:nvSpPr>
          <p:cNvPr id="156" name="Google Shape;156;p17"/>
          <p:cNvSpPr txBox="1"/>
          <p:nvPr/>
        </p:nvSpPr>
        <p:spPr>
          <a:xfrm>
            <a:off x="755647" y="736613"/>
            <a:ext cx="6359526" cy="7386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Connecting via a Desktop </a:t>
            </a:r>
            <a:br>
              <a:rPr b="1" lang="en-GB" sz="2400">
                <a:solidFill>
                  <a:srgbClr val="CD0365"/>
                </a:solidFill>
                <a:latin typeface="Roboto"/>
                <a:ea typeface="Roboto"/>
                <a:cs typeface="Roboto"/>
                <a:sym typeface="Roboto"/>
              </a:rPr>
            </a:br>
            <a:r>
              <a:rPr b="1" lang="en-GB" sz="2400">
                <a:solidFill>
                  <a:srgbClr val="CD0365"/>
                </a:solidFill>
                <a:latin typeface="Roboto"/>
                <a:ea typeface="Roboto"/>
                <a:cs typeface="Roboto"/>
                <a:sym typeface="Roboto"/>
              </a:rPr>
              <a:t>or Laptop Computer</a:t>
            </a:r>
            <a:endParaRPr/>
          </a:p>
        </p:txBody>
      </p:sp>
      <p:pic>
        <p:nvPicPr>
          <p:cNvPr descr="A picture containing text, box&#10;&#10;Description automatically generated" id="157" name="Google Shape;157;p17"/>
          <p:cNvPicPr preferRelativeResize="0"/>
          <p:nvPr/>
        </p:nvPicPr>
        <p:blipFill rotWithShape="1">
          <a:blip r:embed="rId5">
            <a:alphaModFix/>
          </a:blip>
          <a:srcRect b="0" l="0" r="0" t="0"/>
          <a:stretch/>
        </p:blipFill>
        <p:spPr>
          <a:xfrm>
            <a:off x="4570727" y="1610811"/>
            <a:ext cx="2544446" cy="2544446"/>
          </a:xfrm>
          <a:prstGeom prst="rect">
            <a:avLst/>
          </a:prstGeom>
          <a:noFill/>
          <a:ln>
            <a:noFill/>
          </a:ln>
        </p:spPr>
      </p:pic>
      <p:sp>
        <p:nvSpPr>
          <p:cNvPr id="158" name="Google Shape;158;p17"/>
          <p:cNvSpPr/>
          <p:nvPr/>
        </p:nvSpPr>
        <p:spPr>
          <a:xfrm>
            <a:off x="5537834" y="3179432"/>
            <a:ext cx="965836" cy="352433"/>
          </a:xfrm>
          <a:prstGeom prst="roundRect">
            <a:avLst>
              <a:gd fmla="val 50000"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159" name="Google Shape;159;p17"/>
          <p:cNvCxnSpPr/>
          <p:nvPr/>
        </p:nvCxnSpPr>
        <p:spPr>
          <a:xfrm>
            <a:off x="6400800" y="3531865"/>
            <a:ext cx="497203" cy="1097285"/>
          </a:xfrm>
          <a:prstGeom prst="straightConnector1">
            <a:avLst/>
          </a:prstGeom>
          <a:noFill/>
          <a:ln cap="rnd" cmpd="sng" w="25400">
            <a:solidFill>
              <a:srgbClr val="CD0365"/>
            </a:solidFill>
            <a:prstDash val="dot"/>
            <a:round/>
            <a:headEnd len="sm" w="sm" type="none"/>
            <a:tailEnd len="med" w="med" type="oval"/>
          </a:ln>
        </p:spPr>
      </p:cxnSp>
      <p:sp>
        <p:nvSpPr>
          <p:cNvPr id="160" name="Google Shape;160;p17"/>
          <p:cNvSpPr/>
          <p:nvPr/>
        </p:nvSpPr>
        <p:spPr>
          <a:xfrm>
            <a:off x="755650" y="3324260"/>
            <a:ext cx="3484880" cy="8309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You should have received 30 of these in your BBC micro:bit start up boxes.</a:t>
            </a:r>
            <a:endParaRPr/>
          </a:p>
        </p:txBody>
      </p:sp>
      <p:grpSp>
        <p:nvGrpSpPr>
          <p:cNvPr id="161" name="Google Shape;161;p17"/>
          <p:cNvGrpSpPr/>
          <p:nvPr/>
        </p:nvGrpSpPr>
        <p:grpSpPr>
          <a:xfrm>
            <a:off x="3654290" y="5588815"/>
            <a:ext cx="952865" cy="619001"/>
            <a:chOff x="3654290" y="5588815"/>
            <a:chExt cx="952865" cy="619001"/>
          </a:xfrm>
        </p:grpSpPr>
        <p:pic>
          <p:nvPicPr>
            <p:cNvPr descr="A white rectangular object with a green light&#10;&#10;Description automatically generated" id="162" name="Google Shape;162;p17"/>
            <p:cNvPicPr preferRelativeResize="0"/>
            <p:nvPr/>
          </p:nvPicPr>
          <p:blipFill rotWithShape="1">
            <a:blip r:embed="rId6">
              <a:alphaModFix/>
            </a:blip>
            <a:srcRect b="0" l="0" r="0" t="0"/>
            <a:stretch/>
          </p:blipFill>
          <p:spPr>
            <a:xfrm>
              <a:off x="3654290" y="5588815"/>
              <a:ext cx="952865" cy="489959"/>
            </a:xfrm>
            <a:prstGeom prst="rect">
              <a:avLst/>
            </a:prstGeom>
            <a:noFill/>
            <a:ln>
              <a:noFill/>
            </a:ln>
          </p:spPr>
        </p:pic>
        <p:sp>
          <p:nvSpPr>
            <p:cNvPr id="163" name="Google Shape;163;p17"/>
            <p:cNvSpPr/>
            <p:nvPr/>
          </p:nvSpPr>
          <p:spPr>
            <a:xfrm>
              <a:off x="3780885" y="6084705"/>
              <a:ext cx="552085" cy="123111"/>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800"/>
                <a:buFont typeface="Roboto"/>
                <a:buNone/>
              </a:pPr>
              <a:r>
                <a:rPr lang="en-GB" sz="800">
                  <a:solidFill>
                    <a:schemeClr val="dk1"/>
                  </a:solidFill>
                  <a:latin typeface="Roboto"/>
                  <a:ea typeface="Roboto"/>
                  <a:cs typeface="Roboto"/>
                  <a:sym typeface="Roboto"/>
                </a:rPr>
                <a:t>MICROBIT</a:t>
              </a:r>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51"/>
                                        </p:tgtEl>
                                        <p:attrNameLst>
                                          <p:attrName>style.visibility</p:attrName>
                                        </p:attrNameLst>
                                      </p:cBhvr>
                                      <p:to>
                                        <p:strVal val="visible"/>
                                      </p:to>
                                    </p:set>
                                    <p:animEffect filter="fade" transition="in">
                                      <p:cBhvr>
                                        <p:cTn dur="500"/>
                                        <p:tgtEl>
                                          <p:spTgt spid="15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gtEl>
                                        <p:attrNameLst>
                                          <p:attrName>style.visibility</p:attrName>
                                        </p:attrNameLst>
                                      </p:cBhvr>
                                      <p:to>
                                        <p:strVal val="visible"/>
                                      </p:to>
                                    </p:set>
                                    <p:animEffect filter="fade" transition="in">
                                      <p:cBhvr>
                                        <p:cTn dur="500"/>
                                        <p:tgtEl>
                                          <p:spTgt spid="160"/>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57"/>
                                        </p:tgtEl>
                                        <p:attrNameLst>
                                          <p:attrName>style.visibility</p:attrName>
                                        </p:attrNameLst>
                                      </p:cBhvr>
                                      <p:to>
                                        <p:strVal val="visible"/>
                                      </p:to>
                                    </p:set>
                                    <p:animEffect filter="fade" transition="in">
                                      <p:cBhvr>
                                        <p:cTn dur="500"/>
                                        <p:tgtEl>
                                          <p:spTgt spid="157"/>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58"/>
                                        </p:tgtEl>
                                        <p:attrNameLst>
                                          <p:attrName>style.visibility</p:attrName>
                                        </p:attrNameLst>
                                      </p:cBhvr>
                                      <p:to>
                                        <p:strVal val="visible"/>
                                      </p:to>
                                    </p:set>
                                    <p:animEffect filter="fade" transition="in">
                                      <p:cBhvr>
                                        <p:cTn dur="1000"/>
                                        <p:tgtEl>
                                          <p:spTgt spid="158"/>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159"/>
                                        </p:tgtEl>
                                        <p:attrNameLst>
                                          <p:attrName>style.visibility</p:attrName>
                                        </p:attrNameLst>
                                      </p:cBhvr>
                                      <p:to>
                                        <p:strVal val="visible"/>
                                      </p:to>
                                    </p:set>
                                    <p:animEffect filter="fade" transition="in">
                                      <p:cBhvr>
                                        <p:cTn dur="500"/>
                                        <p:tgtEl>
                                          <p:spTgt spid="159"/>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150"/>
                                        </p:tgtEl>
                                        <p:attrNameLst>
                                          <p:attrName>style.visibility</p:attrName>
                                        </p:attrNameLst>
                                      </p:cBhvr>
                                      <p:to>
                                        <p:strVal val="visible"/>
                                      </p:to>
                                    </p:set>
                                    <p:animEffect filter="fade" transition="in">
                                      <p:cBhvr>
                                        <p:cTn dur="500"/>
                                        <p:tgtEl>
                                          <p:spTgt spid="150"/>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152"/>
                                        </p:tgtEl>
                                        <p:attrNameLst>
                                          <p:attrName>style.visibility</p:attrName>
                                        </p:attrNameLst>
                                      </p:cBhvr>
                                      <p:to>
                                        <p:strVal val="visible"/>
                                      </p:to>
                                    </p:set>
                                    <p:animEffect filter="fade" transition="in">
                                      <p:cBhvr>
                                        <p:cTn dur="500"/>
                                        <p:tgtEl>
                                          <p:spTgt spid="15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61"/>
                                        </p:tgtEl>
                                        <p:attrNameLst>
                                          <p:attrName>style.visibility</p:attrName>
                                        </p:attrNameLst>
                                      </p:cBhvr>
                                      <p:to>
                                        <p:strVal val="visible"/>
                                      </p:to>
                                    </p:set>
                                    <p:anim calcmode="lin" valueType="num">
                                      <p:cBhvr additive="base">
                                        <p:cTn dur="500"/>
                                        <p:tgtEl>
                                          <p:spTgt spid="161"/>
                                        </p:tgtEl>
                                        <p:attrNameLst>
                                          <p:attrName>ppt_w</p:attrName>
                                        </p:attrNameLst>
                                      </p:cBhvr>
                                      <p:tavLst>
                                        <p:tav fmla="" tm="0">
                                          <p:val>
                                            <p:strVal val="0"/>
                                          </p:val>
                                        </p:tav>
                                        <p:tav fmla="" tm="100000">
                                          <p:val>
                                            <p:strVal val="#ppt_w"/>
                                          </p:val>
                                        </p:tav>
                                      </p:tavLst>
                                    </p:anim>
                                    <p:anim calcmode="lin" valueType="num">
                                      <p:cBhvr additive="base">
                                        <p:cTn dur="500"/>
                                        <p:tgtEl>
                                          <p:spTgt spid="16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167" name="Shape 167"/>
        <p:cNvGrpSpPr/>
        <p:nvPr/>
      </p:nvGrpSpPr>
      <p:grpSpPr>
        <a:xfrm>
          <a:off x="0" y="0"/>
          <a:ext cx="0" cy="0"/>
          <a:chOff x="0" y="0"/>
          <a:chExt cx="0" cy="0"/>
        </a:xfrm>
      </p:grpSpPr>
      <p:sp>
        <p:nvSpPr>
          <p:cNvPr id="168" name="Google Shape;168;p18"/>
          <p:cNvSpPr/>
          <p:nvPr/>
        </p:nvSpPr>
        <p:spPr>
          <a:xfrm>
            <a:off x="755650" y="1764972"/>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Transferring a program to a micro:bit is called </a:t>
            </a:r>
            <a:r>
              <a:rPr b="1" lang="en-GB" sz="1800">
                <a:solidFill>
                  <a:srgbClr val="CD0365"/>
                </a:solidFill>
                <a:latin typeface="Roboto"/>
                <a:ea typeface="Roboto"/>
                <a:cs typeface="Roboto"/>
                <a:sym typeface="Roboto"/>
              </a:rPr>
              <a:t>flashing</a:t>
            </a:r>
            <a:r>
              <a:rPr lang="en-GB" sz="1800">
                <a:solidFill>
                  <a:schemeClr val="dk1"/>
                </a:solidFill>
                <a:latin typeface="Roboto"/>
                <a:ea typeface="Roboto"/>
                <a:cs typeface="Roboto"/>
                <a:sym typeface="Roboto"/>
              </a:rPr>
              <a:t>.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This is because the program is copied to the micro:bit’s flash memory.</a:t>
            </a:r>
            <a:endParaRPr/>
          </a:p>
        </p:txBody>
      </p:sp>
      <p:sp>
        <p:nvSpPr>
          <p:cNvPr id="169" name="Google Shape;169;p18"/>
          <p:cNvSpPr/>
          <p:nvPr/>
        </p:nvSpPr>
        <p:spPr>
          <a:xfrm>
            <a:off x="755647" y="1764972"/>
            <a:ext cx="763270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When the .hex file has been transferred to the </a:t>
            </a:r>
            <a:r>
              <a:rPr b="1" lang="en-GB" sz="1800">
                <a:solidFill>
                  <a:schemeClr val="dk1"/>
                </a:solidFill>
                <a:latin typeface="Roboto"/>
                <a:ea typeface="Roboto"/>
                <a:cs typeface="Roboto"/>
                <a:sym typeface="Roboto"/>
              </a:rPr>
              <a:t>MICROBIT</a:t>
            </a:r>
            <a:r>
              <a:rPr lang="en-GB" sz="1800">
                <a:solidFill>
                  <a:schemeClr val="dk1"/>
                </a:solidFill>
                <a:latin typeface="Roboto"/>
                <a:ea typeface="Roboto"/>
                <a:cs typeface="Roboto"/>
                <a:sym typeface="Roboto"/>
              </a:rPr>
              <a:t> drive, the </a:t>
            </a:r>
            <a:r>
              <a:rPr b="1" lang="en-GB" sz="1800">
                <a:solidFill>
                  <a:schemeClr val="dk1"/>
                </a:solidFill>
                <a:latin typeface="Roboto"/>
                <a:ea typeface="Roboto"/>
                <a:cs typeface="Roboto"/>
                <a:sym typeface="Roboto"/>
              </a:rPr>
              <a:t>MICROBIT</a:t>
            </a:r>
            <a:r>
              <a:rPr lang="en-GB" sz="1800">
                <a:solidFill>
                  <a:schemeClr val="dk1"/>
                </a:solidFill>
                <a:latin typeface="Roboto"/>
                <a:ea typeface="Roboto"/>
                <a:cs typeface="Roboto"/>
                <a:sym typeface="Roboto"/>
              </a:rPr>
              <a:t> drive will disconnect and reconnect as the micro:bit resets. The .hex file will not be visible on the </a:t>
            </a:r>
            <a:r>
              <a:rPr b="1" lang="en-GB" sz="1800">
                <a:solidFill>
                  <a:schemeClr val="dk1"/>
                </a:solidFill>
                <a:latin typeface="Roboto"/>
                <a:ea typeface="Roboto"/>
                <a:cs typeface="Roboto"/>
                <a:sym typeface="Roboto"/>
              </a:rPr>
              <a:t>MICROBIT</a:t>
            </a:r>
            <a:r>
              <a:rPr lang="en-GB" sz="1800">
                <a:solidFill>
                  <a:schemeClr val="dk1"/>
                </a:solidFill>
                <a:latin typeface="Roboto"/>
                <a:ea typeface="Roboto"/>
                <a:cs typeface="Roboto"/>
                <a:sym typeface="Roboto"/>
              </a:rPr>
              <a:t> drive but the program will be on the micro:bit.</a:t>
            </a:r>
            <a:endParaRPr/>
          </a:p>
        </p:txBody>
      </p:sp>
      <p:grpSp>
        <p:nvGrpSpPr>
          <p:cNvPr id="170" name="Google Shape;170;p18"/>
          <p:cNvGrpSpPr/>
          <p:nvPr/>
        </p:nvGrpSpPr>
        <p:grpSpPr>
          <a:xfrm>
            <a:off x="7406640" y="549275"/>
            <a:ext cx="1219778" cy="952965"/>
            <a:chOff x="1242641" y="3964917"/>
            <a:chExt cx="2211702" cy="1727916"/>
          </a:xfrm>
        </p:grpSpPr>
        <p:sp>
          <p:nvSpPr>
            <p:cNvPr id="171" name="Google Shape;171;p18"/>
            <p:cNvSpPr/>
            <p:nvPr/>
          </p:nvSpPr>
          <p:spPr>
            <a:xfrm>
              <a:off x="1334928" y="3964917"/>
              <a:ext cx="1768317" cy="1727916"/>
            </a:xfrm>
            <a:prstGeom prst="ellipse">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1" sz="1800">
                <a:solidFill>
                  <a:schemeClr val="lt1"/>
                </a:solidFill>
                <a:latin typeface="Roboto"/>
                <a:ea typeface="Roboto"/>
                <a:cs typeface="Roboto"/>
                <a:sym typeface="Roboto"/>
              </a:endParaRPr>
            </a:p>
          </p:txBody>
        </p:sp>
        <p:pic>
          <p:nvPicPr>
            <p:cNvPr descr="A computer with a keyboard and mouse&#10;&#10;Description automatically generated with medium confidence" id="172" name="Google Shape;172;p18"/>
            <p:cNvPicPr preferRelativeResize="0"/>
            <p:nvPr/>
          </p:nvPicPr>
          <p:blipFill rotWithShape="1">
            <a:blip r:embed="rId3">
              <a:alphaModFix/>
            </a:blip>
            <a:srcRect b="0" l="0" r="0" t="0"/>
            <a:stretch/>
          </p:blipFill>
          <p:spPr>
            <a:xfrm>
              <a:off x="1242641" y="4284886"/>
              <a:ext cx="2211702" cy="1215021"/>
            </a:xfrm>
            <a:prstGeom prst="rect">
              <a:avLst/>
            </a:prstGeom>
            <a:noFill/>
            <a:ln>
              <a:noFill/>
            </a:ln>
          </p:spPr>
        </p:pic>
      </p:grpSp>
      <p:sp>
        <p:nvSpPr>
          <p:cNvPr id="173" name="Google Shape;173;p18"/>
          <p:cNvSpPr txBox="1"/>
          <p:nvPr/>
        </p:nvSpPr>
        <p:spPr>
          <a:xfrm>
            <a:off x="755646" y="709134"/>
            <a:ext cx="7137455" cy="7386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Transferring Files via Desktop </a:t>
            </a:r>
            <a:br>
              <a:rPr b="1" lang="en-GB" sz="2400">
                <a:solidFill>
                  <a:srgbClr val="CD0365"/>
                </a:solidFill>
                <a:latin typeface="Roboto"/>
                <a:ea typeface="Roboto"/>
                <a:cs typeface="Roboto"/>
                <a:sym typeface="Roboto"/>
              </a:rPr>
            </a:br>
            <a:r>
              <a:rPr b="1" lang="en-GB" sz="2400">
                <a:solidFill>
                  <a:srgbClr val="CD0365"/>
                </a:solidFill>
                <a:latin typeface="Roboto"/>
                <a:ea typeface="Roboto"/>
                <a:cs typeface="Roboto"/>
                <a:sym typeface="Roboto"/>
              </a:rPr>
              <a:t>or Laptop Computer</a:t>
            </a:r>
            <a:endParaRPr/>
          </a:p>
        </p:txBody>
      </p:sp>
      <p:pic>
        <p:nvPicPr>
          <p:cNvPr id="174" name="Google Shape;174;p18"/>
          <p:cNvPicPr preferRelativeResize="0"/>
          <p:nvPr/>
        </p:nvPicPr>
        <p:blipFill rotWithShape="1">
          <a:blip r:embed="rId4">
            <a:alphaModFix/>
          </a:blip>
          <a:srcRect b="0" l="0" r="0" t="0"/>
          <a:stretch/>
        </p:blipFill>
        <p:spPr>
          <a:xfrm>
            <a:off x="4572000" y="3087085"/>
            <a:ext cx="3668863" cy="2714588"/>
          </a:xfrm>
          <a:prstGeom prst="rect">
            <a:avLst/>
          </a:prstGeom>
          <a:noFill/>
          <a:ln>
            <a:noFill/>
          </a:ln>
        </p:spPr>
      </p:pic>
      <p:pic>
        <p:nvPicPr>
          <p:cNvPr id="175" name="Google Shape;175;p18"/>
          <p:cNvPicPr preferRelativeResize="0"/>
          <p:nvPr/>
        </p:nvPicPr>
        <p:blipFill rotWithShape="1">
          <a:blip r:embed="rId5">
            <a:alphaModFix/>
          </a:blip>
          <a:srcRect b="0" l="0" r="0" t="0"/>
          <a:stretch/>
        </p:blipFill>
        <p:spPr>
          <a:xfrm>
            <a:off x="6545362" y="3642512"/>
            <a:ext cx="665825" cy="665825"/>
          </a:xfrm>
          <a:prstGeom prst="rect">
            <a:avLst/>
          </a:prstGeom>
          <a:noFill/>
          <a:ln>
            <a:noFill/>
          </a:ln>
        </p:spPr>
      </p:pic>
      <p:sp>
        <p:nvSpPr>
          <p:cNvPr id="176" name="Google Shape;176;p18"/>
          <p:cNvSpPr/>
          <p:nvPr/>
        </p:nvSpPr>
        <p:spPr>
          <a:xfrm>
            <a:off x="755647" y="1767688"/>
            <a:ext cx="6062348"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To flash a program on to the micro:bit, you should:</a:t>
            </a:r>
            <a:endParaRPr/>
          </a:p>
        </p:txBody>
      </p:sp>
      <p:sp>
        <p:nvSpPr>
          <p:cNvPr id="177" name="Google Shape;177;p18"/>
          <p:cNvSpPr/>
          <p:nvPr/>
        </p:nvSpPr>
        <p:spPr>
          <a:xfrm>
            <a:off x="755647" y="2380676"/>
            <a:ext cx="7847907"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 download your program as a .hex file from the code editor to your desktop or laptop computer.</a:t>
            </a:r>
            <a:endParaRPr/>
          </a:p>
        </p:txBody>
      </p:sp>
      <p:grpSp>
        <p:nvGrpSpPr>
          <p:cNvPr id="178" name="Google Shape;178;p18"/>
          <p:cNvGrpSpPr/>
          <p:nvPr/>
        </p:nvGrpSpPr>
        <p:grpSpPr>
          <a:xfrm>
            <a:off x="6594950" y="3680581"/>
            <a:ext cx="566648" cy="763798"/>
            <a:chOff x="6983408" y="3642512"/>
            <a:chExt cx="566648" cy="763798"/>
          </a:xfrm>
        </p:grpSpPr>
        <p:sp>
          <p:nvSpPr>
            <p:cNvPr id="179" name="Google Shape;179;p18"/>
            <p:cNvSpPr/>
            <p:nvPr/>
          </p:nvSpPr>
          <p:spPr>
            <a:xfrm>
              <a:off x="7032404" y="3890937"/>
              <a:ext cx="517652"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.hex</a:t>
              </a:r>
              <a:endParaRPr/>
            </a:p>
          </p:txBody>
        </p:sp>
        <p:pic>
          <p:nvPicPr>
            <p:cNvPr id="180" name="Google Shape;180;p18"/>
            <p:cNvPicPr preferRelativeResize="0"/>
            <p:nvPr/>
          </p:nvPicPr>
          <p:blipFill rotWithShape="1">
            <a:blip r:embed="rId6">
              <a:alphaModFix/>
            </a:blip>
            <a:srcRect b="0" l="0" r="0" t="0"/>
            <a:stretch/>
          </p:blipFill>
          <p:spPr>
            <a:xfrm>
              <a:off x="6983408" y="3642512"/>
              <a:ext cx="558495" cy="763798"/>
            </a:xfrm>
            <a:prstGeom prst="rect">
              <a:avLst/>
            </a:prstGeom>
            <a:noFill/>
            <a:ln>
              <a:noFill/>
            </a:ln>
          </p:spPr>
        </p:pic>
      </p:grpSp>
      <p:sp>
        <p:nvSpPr>
          <p:cNvPr id="181" name="Google Shape;181;p18"/>
          <p:cNvSpPr/>
          <p:nvPr/>
        </p:nvSpPr>
        <p:spPr>
          <a:xfrm>
            <a:off x="755647" y="2380676"/>
            <a:ext cx="7789227"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 drag and drop the .hex file on to the </a:t>
            </a:r>
            <a:r>
              <a:rPr b="1" lang="en-GB" sz="1800">
                <a:solidFill>
                  <a:schemeClr val="dk1"/>
                </a:solidFill>
                <a:latin typeface="Roboto"/>
                <a:ea typeface="Roboto"/>
                <a:cs typeface="Roboto"/>
                <a:sym typeface="Roboto"/>
              </a:rPr>
              <a:t>MICROBIT</a:t>
            </a:r>
            <a:r>
              <a:rPr lang="en-GB" sz="1800">
                <a:solidFill>
                  <a:schemeClr val="dk1"/>
                </a:solidFill>
                <a:latin typeface="Roboto"/>
                <a:ea typeface="Roboto"/>
                <a:cs typeface="Roboto"/>
                <a:sym typeface="Roboto"/>
              </a:rPr>
              <a:t> drive.</a:t>
            </a:r>
            <a:endParaRPr/>
          </a:p>
        </p:txBody>
      </p:sp>
      <p:grpSp>
        <p:nvGrpSpPr>
          <p:cNvPr id="182" name="Google Shape;182;p18"/>
          <p:cNvGrpSpPr/>
          <p:nvPr/>
        </p:nvGrpSpPr>
        <p:grpSpPr>
          <a:xfrm>
            <a:off x="7261446" y="4009815"/>
            <a:ext cx="512453" cy="597043"/>
            <a:chOff x="6945084" y="4062480"/>
            <a:chExt cx="512453" cy="597043"/>
          </a:xfrm>
        </p:grpSpPr>
        <p:pic>
          <p:nvPicPr>
            <p:cNvPr id="183" name="Google Shape;183;p18"/>
            <p:cNvPicPr preferRelativeResize="0"/>
            <p:nvPr/>
          </p:nvPicPr>
          <p:blipFill rotWithShape="1">
            <a:blip r:embed="rId7">
              <a:alphaModFix/>
            </a:blip>
            <a:srcRect b="0" l="0" r="0" t="0"/>
            <a:stretch/>
          </p:blipFill>
          <p:spPr>
            <a:xfrm>
              <a:off x="6945084" y="4062480"/>
              <a:ext cx="512453" cy="431539"/>
            </a:xfrm>
            <a:prstGeom prst="rect">
              <a:avLst/>
            </a:prstGeom>
            <a:noFill/>
            <a:ln>
              <a:noFill/>
            </a:ln>
          </p:spPr>
        </p:pic>
        <p:sp>
          <p:nvSpPr>
            <p:cNvPr id="184" name="Google Shape;184;p18"/>
            <p:cNvSpPr/>
            <p:nvPr/>
          </p:nvSpPr>
          <p:spPr>
            <a:xfrm>
              <a:off x="7002145" y="4536412"/>
              <a:ext cx="404495" cy="123111"/>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800"/>
                <a:buFont typeface="Roboto"/>
                <a:buNone/>
              </a:pPr>
              <a:r>
                <a:rPr lang="en-GB" sz="800">
                  <a:solidFill>
                    <a:schemeClr val="dk1"/>
                  </a:solidFill>
                  <a:latin typeface="Roboto"/>
                  <a:ea typeface="Roboto"/>
                  <a:cs typeface="Roboto"/>
                  <a:sym typeface="Roboto"/>
                </a:rPr>
                <a:t>Microbit</a:t>
              </a:r>
              <a:endParaRPr sz="800">
                <a:solidFill>
                  <a:schemeClr val="dk1"/>
                </a:solidFill>
                <a:latin typeface="Roboto"/>
                <a:ea typeface="Roboto"/>
                <a:cs typeface="Roboto"/>
                <a:sym typeface="Roboto"/>
              </a:endParaRPr>
            </a:p>
          </p:txBody>
        </p:sp>
      </p:grpSp>
      <p:sp>
        <p:nvSpPr>
          <p:cNvPr id="185" name="Google Shape;185;p18"/>
          <p:cNvSpPr/>
          <p:nvPr/>
        </p:nvSpPr>
        <p:spPr>
          <a:xfrm>
            <a:off x="1531620" y="3330510"/>
            <a:ext cx="2177415"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When programs are being flashed on to the micro:bit, the micro:bit will pause and the yellow LED on the back will blink.</a:t>
            </a:r>
            <a:endParaRPr/>
          </a:p>
        </p:txBody>
      </p:sp>
      <p:pic>
        <p:nvPicPr>
          <p:cNvPr id="186" name="Google Shape;186;p18"/>
          <p:cNvPicPr preferRelativeResize="0"/>
          <p:nvPr/>
        </p:nvPicPr>
        <p:blipFill rotWithShape="1">
          <a:blip r:embed="rId8">
            <a:alphaModFix/>
          </a:blip>
          <a:srcRect b="0" l="0" r="0" t="0"/>
          <a:stretch/>
        </p:blipFill>
        <p:spPr>
          <a:xfrm>
            <a:off x="1210356" y="3042224"/>
            <a:ext cx="3378200" cy="2171700"/>
          </a:xfrm>
          <a:prstGeom prst="rect">
            <a:avLst/>
          </a:prstGeom>
          <a:noFill/>
          <a:ln>
            <a:noFill/>
          </a:ln>
        </p:spPr>
      </p:pic>
      <p:grpSp>
        <p:nvGrpSpPr>
          <p:cNvPr id="187" name="Google Shape;187;p18"/>
          <p:cNvGrpSpPr/>
          <p:nvPr/>
        </p:nvGrpSpPr>
        <p:grpSpPr>
          <a:xfrm>
            <a:off x="787242" y="4732348"/>
            <a:ext cx="1022535" cy="329758"/>
            <a:chOff x="787242" y="4732348"/>
            <a:chExt cx="1022535" cy="329758"/>
          </a:xfrm>
        </p:grpSpPr>
        <p:cxnSp>
          <p:nvCxnSpPr>
            <p:cNvPr id="188" name="Google Shape;188;p18"/>
            <p:cNvCxnSpPr/>
            <p:nvPr/>
          </p:nvCxnSpPr>
          <p:spPr>
            <a:xfrm flipH="1" rot="10800000">
              <a:off x="1584932" y="4884929"/>
              <a:ext cx="224845" cy="177177"/>
            </a:xfrm>
            <a:prstGeom prst="straightConnector1">
              <a:avLst/>
            </a:prstGeom>
            <a:noFill/>
            <a:ln cap="rnd" cmpd="sng" w="57150">
              <a:solidFill>
                <a:srgbClr val="FFEA00"/>
              </a:solidFill>
              <a:prstDash val="solid"/>
              <a:round/>
              <a:headEnd len="sm" w="sm" type="none"/>
              <a:tailEnd len="sm" w="sm" type="none"/>
            </a:ln>
          </p:spPr>
        </p:cxnSp>
        <p:cxnSp>
          <p:nvCxnSpPr>
            <p:cNvPr id="189" name="Google Shape;189;p18"/>
            <p:cNvCxnSpPr/>
            <p:nvPr/>
          </p:nvCxnSpPr>
          <p:spPr>
            <a:xfrm flipH="1" rot="10800000">
              <a:off x="1489925" y="4732348"/>
              <a:ext cx="165735" cy="265512"/>
            </a:xfrm>
            <a:prstGeom prst="straightConnector1">
              <a:avLst/>
            </a:prstGeom>
            <a:noFill/>
            <a:ln cap="rnd" cmpd="sng" w="57150">
              <a:solidFill>
                <a:srgbClr val="FFEA00"/>
              </a:solidFill>
              <a:prstDash val="solid"/>
              <a:round/>
              <a:headEnd len="sm" w="sm" type="none"/>
              <a:tailEnd len="sm" w="sm" type="none"/>
            </a:ln>
          </p:spPr>
        </p:cxnSp>
        <p:cxnSp>
          <p:nvCxnSpPr>
            <p:cNvPr id="190" name="Google Shape;190;p18"/>
            <p:cNvCxnSpPr/>
            <p:nvPr/>
          </p:nvCxnSpPr>
          <p:spPr>
            <a:xfrm rot="10800000">
              <a:off x="787242" y="4881923"/>
              <a:ext cx="224845" cy="177177"/>
            </a:xfrm>
            <a:prstGeom prst="straightConnector1">
              <a:avLst/>
            </a:prstGeom>
            <a:noFill/>
            <a:ln cap="rnd" cmpd="sng" w="57150">
              <a:solidFill>
                <a:srgbClr val="FFEA00"/>
              </a:solidFill>
              <a:prstDash val="solid"/>
              <a:round/>
              <a:headEnd len="sm" w="sm" type="none"/>
              <a:tailEnd len="sm" w="sm" type="none"/>
            </a:ln>
          </p:spPr>
        </p:cxnSp>
        <p:cxnSp>
          <p:nvCxnSpPr>
            <p:cNvPr id="191" name="Google Shape;191;p18"/>
            <p:cNvCxnSpPr/>
            <p:nvPr/>
          </p:nvCxnSpPr>
          <p:spPr>
            <a:xfrm rot="10800000">
              <a:off x="972143" y="4759946"/>
              <a:ext cx="165735" cy="265512"/>
            </a:xfrm>
            <a:prstGeom prst="straightConnector1">
              <a:avLst/>
            </a:prstGeom>
            <a:noFill/>
            <a:ln cap="rnd" cmpd="sng" w="57150">
              <a:solidFill>
                <a:srgbClr val="FFEA00"/>
              </a:solidFill>
              <a:prstDash val="solid"/>
              <a:round/>
              <a:headEnd len="sm" w="sm" type="none"/>
              <a:tailEnd len="sm" w="sm" type="none"/>
            </a:ln>
          </p:spPr>
        </p:cxnSp>
      </p:grpSp>
      <p:sp>
        <p:nvSpPr>
          <p:cNvPr id="192" name="Google Shape;192;p18"/>
          <p:cNvSpPr txBox="1"/>
          <p:nvPr/>
        </p:nvSpPr>
        <p:spPr>
          <a:xfrm>
            <a:off x="8286750" y="5457825"/>
            <a:ext cx="184731"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93" name="Google Shape;193;p18"/>
          <p:cNvPicPr preferRelativeResize="0"/>
          <p:nvPr/>
        </p:nvPicPr>
        <p:blipFill rotWithShape="1">
          <a:blip r:embed="rId9">
            <a:alphaModFix/>
          </a:blip>
          <a:srcRect b="0" l="0" r="0" t="0"/>
          <a:stretch/>
        </p:blipFill>
        <p:spPr>
          <a:xfrm>
            <a:off x="475984" y="5071448"/>
            <a:ext cx="1697336" cy="1364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168"/>
                                        </p:tgtEl>
                                      </p:cBhvr>
                                    </p:animEffect>
                                    <p:set>
                                      <p:cBhvr>
                                        <p:cTn dur="1" fill="hold">
                                          <p:stCondLst>
                                            <p:cond delay="500"/>
                                          </p:stCondLst>
                                        </p:cTn>
                                        <p:tgtEl>
                                          <p:spTgt spid="168"/>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76"/>
                                        </p:tgtEl>
                                        <p:attrNameLst>
                                          <p:attrName>style.visibility</p:attrName>
                                        </p:attrNameLst>
                                      </p:cBhvr>
                                      <p:to>
                                        <p:strVal val="visible"/>
                                      </p:to>
                                    </p:set>
                                    <p:animEffect filter="fade" transition="in">
                                      <p:cBhvr>
                                        <p:cTn dur="500"/>
                                        <p:tgtEl>
                                          <p:spTgt spid="1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7"/>
                                        </p:tgtEl>
                                        <p:attrNameLst>
                                          <p:attrName>style.visibility</p:attrName>
                                        </p:attrNameLst>
                                      </p:cBhvr>
                                      <p:to>
                                        <p:strVal val="visible"/>
                                      </p:to>
                                    </p:set>
                                    <p:animEffect filter="fade" transition="in">
                                      <p:cBhvr>
                                        <p:cTn dur="500"/>
                                        <p:tgtEl>
                                          <p:spTgt spid="177"/>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174"/>
                                        </p:tgtEl>
                                        <p:attrNameLst>
                                          <p:attrName>style.visibility</p:attrName>
                                        </p:attrNameLst>
                                      </p:cBhvr>
                                      <p:to>
                                        <p:strVal val="visible"/>
                                      </p:to>
                                    </p:set>
                                    <p:anim calcmode="lin" valueType="num">
                                      <p:cBhvr additive="base">
                                        <p:cTn dur="500"/>
                                        <p:tgtEl>
                                          <p:spTgt spid="174"/>
                                        </p:tgtEl>
                                        <p:attrNameLst>
                                          <p:attrName>ppt_w</p:attrName>
                                        </p:attrNameLst>
                                      </p:cBhvr>
                                      <p:tavLst>
                                        <p:tav fmla="" tm="0">
                                          <p:val>
                                            <p:strVal val="0"/>
                                          </p:val>
                                        </p:tav>
                                        <p:tav fmla="" tm="100000">
                                          <p:val>
                                            <p:strVal val="#ppt_w"/>
                                          </p:val>
                                        </p:tav>
                                      </p:tavLst>
                                    </p:anim>
                                    <p:anim calcmode="lin" valueType="num">
                                      <p:cBhvr additive="base">
                                        <p:cTn dur="500"/>
                                        <p:tgtEl>
                                          <p:spTgt spid="174"/>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175"/>
                                        </p:tgtEl>
                                        <p:attrNameLst>
                                          <p:attrName>style.visibility</p:attrName>
                                        </p:attrNameLst>
                                      </p:cBhvr>
                                      <p:to>
                                        <p:strVal val="visible"/>
                                      </p:to>
                                    </p:set>
                                    <p:anim calcmode="lin" valueType="num">
                                      <p:cBhvr additive="base">
                                        <p:cTn dur="500"/>
                                        <p:tgtEl>
                                          <p:spTgt spid="175"/>
                                        </p:tgtEl>
                                        <p:attrNameLst>
                                          <p:attrName>ppt_w</p:attrName>
                                        </p:attrNameLst>
                                      </p:cBhvr>
                                      <p:tavLst>
                                        <p:tav fmla="" tm="0">
                                          <p:val>
                                            <p:strVal val="0"/>
                                          </p:val>
                                        </p:tav>
                                        <p:tav fmla="" tm="100000">
                                          <p:val>
                                            <p:strVal val="#ppt_w"/>
                                          </p:val>
                                        </p:tav>
                                      </p:tavLst>
                                    </p:anim>
                                    <p:anim calcmode="lin" valueType="num">
                                      <p:cBhvr additive="base">
                                        <p:cTn dur="500"/>
                                        <p:tgtEl>
                                          <p:spTgt spid="175"/>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xit" presetID="23" presetSubtype="32">
                                  <p:stCondLst>
                                    <p:cond delay="0"/>
                                  </p:stCondLst>
                                  <p:childTnLst>
                                    <p:anim calcmode="lin" valueType="num">
                                      <p:cBhvr additive="base">
                                        <p:cTn dur="500"/>
                                        <p:tgtEl>
                                          <p:spTgt spid="175"/>
                                        </p:tgtEl>
                                        <p:attrNameLst>
                                          <p:attrName>ppt_w</p:attrName>
                                        </p:attrNameLst>
                                      </p:cBhvr>
                                      <p:tavLst>
                                        <p:tav fmla="" tm="0">
                                          <p:val>
                                            <p:strVal val="#ppt_w"/>
                                          </p:val>
                                        </p:tav>
                                        <p:tav fmla="" tm="100000">
                                          <p:val>
                                            <p:strVal val="0"/>
                                          </p:val>
                                        </p:tav>
                                      </p:tavLst>
                                    </p:anim>
                                    <p:anim calcmode="lin" valueType="num">
                                      <p:cBhvr additive="base">
                                        <p:cTn dur="500"/>
                                        <p:tgtEl>
                                          <p:spTgt spid="175"/>
                                        </p:tgtEl>
                                        <p:attrNameLst>
                                          <p:attrName>ppt_h</p:attrName>
                                        </p:attrNameLst>
                                      </p:cBhvr>
                                      <p:tavLst>
                                        <p:tav fmla="" tm="0">
                                          <p:val>
                                            <p:strVal val="#ppt_h"/>
                                          </p:val>
                                        </p:tav>
                                        <p:tav fmla="" tm="100000">
                                          <p:val>
                                            <p:strVal val="0"/>
                                          </p:val>
                                        </p:tav>
                                      </p:tavLst>
                                    </p:anim>
                                    <p:set>
                                      <p:cBhvr>
                                        <p:cTn dur="1" fill="hold">
                                          <p:stCondLst>
                                            <p:cond delay="500"/>
                                          </p:stCondLst>
                                        </p:cTn>
                                        <p:tgtEl>
                                          <p:spTgt spid="175"/>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178"/>
                                        </p:tgtEl>
                                        <p:attrNameLst>
                                          <p:attrName>style.visibility</p:attrName>
                                        </p:attrNameLst>
                                      </p:cBhvr>
                                      <p:to>
                                        <p:strVal val="visible"/>
                                      </p:to>
                                    </p:set>
                                    <p:anim calcmode="lin" valueType="num">
                                      <p:cBhvr additive="base">
                                        <p:cTn dur="500"/>
                                        <p:tgtEl>
                                          <p:spTgt spid="178"/>
                                        </p:tgtEl>
                                        <p:attrNameLst>
                                          <p:attrName>ppt_w</p:attrName>
                                        </p:attrNameLst>
                                      </p:cBhvr>
                                      <p:tavLst>
                                        <p:tav fmla="" tm="0">
                                          <p:val>
                                            <p:strVal val="0"/>
                                          </p:val>
                                        </p:tav>
                                        <p:tav fmla="" tm="100000">
                                          <p:val>
                                            <p:strVal val="#ppt_w"/>
                                          </p:val>
                                        </p:tav>
                                      </p:tavLst>
                                    </p:anim>
                                    <p:anim calcmode="lin" valueType="num">
                                      <p:cBhvr additive="base">
                                        <p:cTn dur="500"/>
                                        <p:tgtEl>
                                          <p:spTgt spid="17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177"/>
                                        </p:tgtEl>
                                      </p:cBhvr>
                                    </p:animEffect>
                                    <p:set>
                                      <p:cBhvr>
                                        <p:cTn dur="1" fill="hold">
                                          <p:stCondLst>
                                            <p:cond delay="500"/>
                                          </p:stCondLst>
                                        </p:cTn>
                                        <p:tgtEl>
                                          <p:spTgt spid="177"/>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81"/>
                                        </p:tgtEl>
                                        <p:attrNameLst>
                                          <p:attrName>style.visibility</p:attrName>
                                        </p:attrNameLst>
                                      </p:cBhvr>
                                      <p:to>
                                        <p:strVal val="visible"/>
                                      </p:to>
                                    </p:set>
                                    <p:animEffect filter="fade" transition="in">
                                      <p:cBhvr>
                                        <p:cTn dur="500"/>
                                        <p:tgtEl>
                                          <p:spTgt spid="1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2"/>
                                        </p:tgtEl>
                                        <p:attrNameLst>
                                          <p:attrName>style.visibility</p:attrName>
                                        </p:attrNameLst>
                                      </p:cBhvr>
                                      <p:to>
                                        <p:strVal val="visible"/>
                                      </p:to>
                                    </p:set>
                                    <p:animEffect filter="fade" transition="in">
                                      <p:cBhvr>
                                        <p:cTn dur="500"/>
                                        <p:tgtEl>
                                          <p:spTgt spid="182"/>
                                        </p:tgtEl>
                                      </p:cBhvr>
                                    </p:animEffect>
                                  </p:childTnLst>
                                </p:cTn>
                              </p:par>
                            </p:childTnLst>
                          </p:cTn>
                        </p:par>
                        <p:par>
                          <p:cTn fill="hold">
                            <p:stCondLst>
                              <p:cond delay="500"/>
                            </p:stCondLst>
                            <p:childTnLst>
                              <p:par>
                                <p:cTn fill="hold" nodeType="afterEffect" presetClass="exit" presetID="10" presetSubtype="0">
                                  <p:stCondLst>
                                    <p:cond delay="1000"/>
                                  </p:stCondLst>
                                  <p:childTnLst>
                                    <p:animEffect filter="fade" transition="out">
                                      <p:cBhvr>
                                        <p:cTn dur="500"/>
                                        <p:tgtEl>
                                          <p:spTgt spid="178"/>
                                        </p:tgtEl>
                                      </p:cBhvr>
                                    </p:animEffect>
                                    <p:set>
                                      <p:cBhvr>
                                        <p:cTn dur="1" fill="hold">
                                          <p:stCondLst>
                                            <p:cond delay="500"/>
                                          </p:stCondLst>
                                        </p:cTn>
                                        <p:tgtEl>
                                          <p:spTgt spid="178"/>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181"/>
                                        </p:tgtEl>
                                      </p:cBhvr>
                                    </p:animEffect>
                                    <p:set>
                                      <p:cBhvr>
                                        <p:cTn dur="1" fill="hold">
                                          <p:stCondLst>
                                            <p:cond delay="500"/>
                                          </p:stCondLst>
                                        </p:cTn>
                                        <p:tgtEl>
                                          <p:spTgt spid="181"/>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86"/>
                                        </p:tgtEl>
                                        <p:attrNameLst>
                                          <p:attrName>style.visibility</p:attrName>
                                        </p:attrNameLst>
                                      </p:cBhvr>
                                      <p:to>
                                        <p:strVal val="visible"/>
                                      </p:to>
                                    </p:set>
                                    <p:animEffect filter="fade" transition="in">
                                      <p:cBhvr>
                                        <p:cTn dur="1000"/>
                                        <p:tgtEl>
                                          <p:spTgt spid="186"/>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185"/>
                                        </p:tgtEl>
                                        <p:attrNameLst>
                                          <p:attrName>style.visibility</p:attrName>
                                        </p:attrNameLst>
                                      </p:cBhvr>
                                      <p:to>
                                        <p:strVal val="visible"/>
                                      </p:to>
                                    </p:set>
                                    <p:animEffect filter="fade" transition="in">
                                      <p:cBhvr>
                                        <p:cTn dur="500"/>
                                        <p:tgtEl>
                                          <p:spTgt spid="18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7"/>
                                        </p:tgtEl>
                                        <p:attrNameLst>
                                          <p:attrName>style.visibility</p:attrName>
                                        </p:attrNameLst>
                                      </p:cBhvr>
                                      <p:to>
                                        <p:strVal val="visible"/>
                                      </p:to>
                                    </p:set>
                                  </p:childTnLst>
                                </p:cTn>
                              </p:par>
                            </p:childTnLst>
                          </p:cTn>
                        </p:par>
                        <p:par>
                          <p:cTn fill="hold">
                            <p:stCondLst>
                              <p:cond delay="1"/>
                            </p:stCondLst>
                            <p:childTnLst>
                              <p:par>
                                <p:cTn fill="hold" nodeType="afterEffect" presetClass="exit" presetID="1" presetSubtype="0">
                                  <p:stCondLst>
                                    <p:cond delay="0"/>
                                  </p:stCondLst>
                                  <p:childTnLst>
                                    <p:set>
                                      <p:cBhvr>
                                        <p:cTn dur="1" fill="hold">
                                          <p:stCondLst>
                                            <p:cond delay="1"/>
                                          </p:stCondLst>
                                        </p:cTn>
                                        <p:tgtEl>
                                          <p:spTgt spid="187"/>
                                        </p:tgtEl>
                                        <p:attrNameLst>
                                          <p:attrName>style.visibility</p:attrName>
                                        </p:attrNameLst>
                                      </p:cBhvr>
                                      <p:to>
                                        <p:strVal val="hidden"/>
                                      </p:to>
                                    </p:set>
                                  </p:childTnLst>
                                </p:cTn>
                              </p:par>
                            </p:childTnLst>
                          </p:cTn>
                        </p:par>
                        <p:par>
                          <p:cTn fill="hold">
                            <p:stCondLst>
                              <p:cond delay="2"/>
                            </p:stCondLst>
                            <p:childTnLst>
                              <p:par>
                                <p:cTn fill="hold" nodeType="afterEffect" presetClass="exit" presetID="10" presetSubtype="0">
                                  <p:stCondLst>
                                    <p:cond delay="0"/>
                                  </p:stCondLst>
                                  <p:childTnLst>
                                    <p:animEffect filter="fade" transition="out">
                                      <p:cBhvr>
                                        <p:cTn dur="500"/>
                                        <p:tgtEl>
                                          <p:spTgt spid="185"/>
                                        </p:tgtEl>
                                      </p:cBhvr>
                                    </p:animEffect>
                                    <p:set>
                                      <p:cBhvr>
                                        <p:cTn dur="1" fill="hold">
                                          <p:stCondLst>
                                            <p:cond delay="500"/>
                                          </p:stCondLst>
                                        </p:cTn>
                                        <p:tgtEl>
                                          <p:spTgt spid="185"/>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176"/>
                                        </p:tgtEl>
                                      </p:cBhvr>
                                    </p:animEffect>
                                    <p:set>
                                      <p:cBhvr>
                                        <p:cTn dur="1" fill="hold">
                                          <p:stCondLst>
                                            <p:cond delay="500"/>
                                          </p:stCondLst>
                                        </p:cTn>
                                        <p:tgtEl>
                                          <p:spTgt spid="176"/>
                                        </p:tgtEl>
                                        <p:attrNameLst>
                                          <p:attrName>style.visibility</p:attrName>
                                        </p:attrNameLst>
                                      </p:cBhvr>
                                      <p:to>
                                        <p:strVal val="hidden"/>
                                      </p:to>
                                    </p:set>
                                  </p:childTnLst>
                                </p:cTn>
                              </p:par>
                            </p:childTnLst>
                          </p:cTn>
                        </p:par>
                        <p:par>
                          <p:cTn fill="hold">
                            <p:stCondLst>
                              <p:cond delay="502"/>
                            </p:stCondLst>
                            <p:childTnLst>
                              <p:par>
                                <p:cTn fill="hold" nodeType="afterEffect" presetClass="entr" presetID="10" presetSubtype="0">
                                  <p:stCondLst>
                                    <p:cond delay="0"/>
                                  </p:stCondLst>
                                  <p:childTnLst>
                                    <p:set>
                                      <p:cBhvr>
                                        <p:cTn dur="1" fill="hold">
                                          <p:stCondLst>
                                            <p:cond delay="0"/>
                                          </p:stCondLst>
                                        </p:cTn>
                                        <p:tgtEl>
                                          <p:spTgt spid="169"/>
                                        </p:tgtEl>
                                        <p:attrNameLst>
                                          <p:attrName>style.visibility</p:attrName>
                                        </p:attrNameLst>
                                      </p:cBhvr>
                                      <p:to>
                                        <p:strVal val="visible"/>
                                      </p:to>
                                    </p:set>
                                    <p:animEffect filter="fade" transition="in">
                                      <p:cBhvr>
                                        <p:cTn dur="500"/>
                                        <p:tgtEl>
                                          <p:spTgt spid="1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CD0365"/>
        </a:solidFill>
      </p:bgPr>
    </p:bg>
    <p:spTree>
      <p:nvGrpSpPr>
        <p:cNvPr id="197" name="Shape 197"/>
        <p:cNvGrpSpPr/>
        <p:nvPr/>
      </p:nvGrpSpPr>
      <p:grpSpPr>
        <a:xfrm>
          <a:off x="0" y="0"/>
          <a:ext cx="0" cy="0"/>
          <a:chOff x="0" y="0"/>
          <a:chExt cx="0" cy="0"/>
        </a:xfrm>
      </p:grpSpPr>
      <p:pic>
        <p:nvPicPr>
          <p:cNvPr id="198" name="Google Shape;198;p19"/>
          <p:cNvPicPr preferRelativeResize="0"/>
          <p:nvPr/>
        </p:nvPicPr>
        <p:blipFill rotWithShape="1">
          <a:blip r:embed="rId3">
            <a:alphaModFix/>
          </a:blip>
          <a:srcRect b="0" l="0" r="0" t="0"/>
          <a:stretch/>
        </p:blipFill>
        <p:spPr>
          <a:xfrm>
            <a:off x="701915" y="3478508"/>
            <a:ext cx="1697336" cy="1364750"/>
          </a:xfrm>
          <a:prstGeom prst="rect">
            <a:avLst/>
          </a:prstGeom>
          <a:noFill/>
          <a:ln>
            <a:noFill/>
          </a:ln>
        </p:spPr>
      </p:pic>
      <p:pic>
        <p:nvPicPr>
          <p:cNvPr id="199" name="Google Shape;199;p19"/>
          <p:cNvPicPr preferRelativeResize="0"/>
          <p:nvPr/>
        </p:nvPicPr>
        <p:blipFill rotWithShape="1">
          <a:blip r:embed="rId4">
            <a:alphaModFix/>
          </a:blip>
          <a:srcRect b="0" l="0" r="0" t="0"/>
          <a:stretch/>
        </p:blipFill>
        <p:spPr>
          <a:xfrm rot="5400000">
            <a:off x="4601157" y="2337663"/>
            <a:ext cx="4422955" cy="3160395"/>
          </a:xfrm>
          <a:prstGeom prst="rect">
            <a:avLst/>
          </a:prstGeom>
          <a:noFill/>
          <a:ln>
            <a:noFill/>
          </a:ln>
        </p:spPr>
      </p:pic>
      <p:sp>
        <p:nvSpPr>
          <p:cNvPr id="200" name="Google Shape;200;p19"/>
          <p:cNvSpPr/>
          <p:nvPr/>
        </p:nvSpPr>
        <p:spPr>
          <a:xfrm>
            <a:off x="755650" y="1899591"/>
            <a:ext cx="381635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If you're using a mobile device to connect to the micro:bit, you will need to connect them wirelessly through Bluetooth.</a:t>
            </a:r>
            <a:endParaRPr/>
          </a:p>
        </p:txBody>
      </p:sp>
      <p:pic>
        <p:nvPicPr>
          <p:cNvPr id="201" name="Google Shape;201;p19"/>
          <p:cNvPicPr preferRelativeResize="0"/>
          <p:nvPr/>
        </p:nvPicPr>
        <p:blipFill rotWithShape="1">
          <a:blip r:embed="rId5">
            <a:alphaModFix/>
          </a:blip>
          <a:srcRect b="0" l="0" r="0" t="0"/>
          <a:stretch/>
        </p:blipFill>
        <p:spPr>
          <a:xfrm>
            <a:off x="3132793" y="3657595"/>
            <a:ext cx="559098" cy="982980"/>
          </a:xfrm>
          <a:prstGeom prst="rect">
            <a:avLst/>
          </a:prstGeom>
          <a:noFill/>
          <a:ln>
            <a:noFill/>
          </a:ln>
        </p:spPr>
      </p:pic>
      <p:grpSp>
        <p:nvGrpSpPr>
          <p:cNvPr id="202" name="Google Shape;202;p19"/>
          <p:cNvGrpSpPr/>
          <p:nvPr/>
        </p:nvGrpSpPr>
        <p:grpSpPr>
          <a:xfrm>
            <a:off x="7592492" y="472315"/>
            <a:ext cx="975246" cy="1010081"/>
            <a:chOff x="4095273" y="3861353"/>
            <a:chExt cx="1768317" cy="1831480"/>
          </a:xfrm>
        </p:grpSpPr>
        <p:sp>
          <p:nvSpPr>
            <p:cNvPr id="203" name="Google Shape;203;p19"/>
            <p:cNvSpPr/>
            <p:nvPr/>
          </p:nvSpPr>
          <p:spPr>
            <a:xfrm>
              <a:off x="4095273" y="3964917"/>
              <a:ext cx="1768317" cy="1727916"/>
            </a:xfrm>
            <a:prstGeom prst="ellipse">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1" sz="1800">
                <a:solidFill>
                  <a:schemeClr val="lt1"/>
                </a:solidFill>
                <a:latin typeface="Roboto"/>
                <a:ea typeface="Roboto"/>
                <a:cs typeface="Roboto"/>
                <a:sym typeface="Roboto"/>
              </a:endParaRPr>
            </a:p>
          </p:txBody>
        </p:sp>
        <p:pic>
          <p:nvPicPr>
            <p:cNvPr id="204" name="Google Shape;204;p19"/>
            <p:cNvPicPr preferRelativeResize="0"/>
            <p:nvPr/>
          </p:nvPicPr>
          <p:blipFill rotWithShape="1">
            <a:blip r:embed="rId6">
              <a:alphaModFix/>
            </a:blip>
            <a:srcRect b="0" l="0" r="0" t="0"/>
            <a:stretch/>
          </p:blipFill>
          <p:spPr>
            <a:xfrm>
              <a:off x="4539411" y="3861353"/>
              <a:ext cx="880041" cy="1671563"/>
            </a:xfrm>
            <a:prstGeom prst="rect">
              <a:avLst/>
            </a:prstGeom>
            <a:noFill/>
            <a:ln>
              <a:noFill/>
            </a:ln>
          </p:spPr>
        </p:pic>
      </p:grpSp>
      <p:sp>
        <p:nvSpPr>
          <p:cNvPr id="205" name="Google Shape;205;p19"/>
          <p:cNvSpPr txBox="1"/>
          <p:nvPr/>
        </p:nvSpPr>
        <p:spPr>
          <a:xfrm>
            <a:off x="755648" y="738107"/>
            <a:ext cx="4361360"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Connecting via a Mobile Device</a:t>
            </a:r>
            <a:endParaRPr/>
          </a:p>
        </p:txBody>
      </p:sp>
      <p:pic>
        <p:nvPicPr>
          <p:cNvPr id="206" name="Google Shape;206;p19"/>
          <p:cNvPicPr preferRelativeResize="0"/>
          <p:nvPr/>
        </p:nvPicPr>
        <p:blipFill rotWithShape="1">
          <a:blip r:embed="rId7">
            <a:alphaModFix/>
          </a:blip>
          <a:srcRect b="0" l="0" r="0" t="0"/>
          <a:stretch/>
        </p:blipFill>
        <p:spPr>
          <a:xfrm>
            <a:off x="4805187" y="2988266"/>
            <a:ext cx="1559713" cy="3160394"/>
          </a:xfrm>
          <a:prstGeom prst="rect">
            <a:avLst/>
          </a:prstGeom>
          <a:noFill/>
          <a:ln>
            <a:noFill/>
          </a:ln>
        </p:spPr>
      </p:pic>
      <p:cxnSp>
        <p:nvCxnSpPr>
          <p:cNvPr id="207" name="Google Shape;207;p19"/>
          <p:cNvCxnSpPr/>
          <p:nvPr/>
        </p:nvCxnSpPr>
        <p:spPr>
          <a:xfrm rot="10800000">
            <a:off x="3629025" y="4149085"/>
            <a:ext cx="1794510" cy="0"/>
          </a:xfrm>
          <a:prstGeom prst="straightConnector1">
            <a:avLst/>
          </a:prstGeom>
          <a:noFill/>
          <a:ln cap="rnd" cmpd="sng" w="50800">
            <a:solidFill>
              <a:srgbClr val="CD0365"/>
            </a:solidFill>
            <a:prstDash val="dot"/>
            <a:round/>
            <a:headEnd len="sm" w="sm" type="none"/>
            <a:tailEnd len="sm" w="sm" type="none"/>
          </a:ln>
        </p:spPr>
      </p:cxnSp>
      <p:cxnSp>
        <p:nvCxnSpPr>
          <p:cNvPr id="208" name="Google Shape;208;p19"/>
          <p:cNvCxnSpPr/>
          <p:nvPr/>
        </p:nvCxnSpPr>
        <p:spPr>
          <a:xfrm rot="10800000">
            <a:off x="1484036" y="4149085"/>
            <a:ext cx="1596349" cy="0"/>
          </a:xfrm>
          <a:prstGeom prst="straightConnector1">
            <a:avLst/>
          </a:prstGeom>
          <a:noFill/>
          <a:ln cap="rnd" cmpd="sng" w="50800">
            <a:solidFill>
              <a:srgbClr val="CD0365"/>
            </a:solidFill>
            <a:prstDash val="dot"/>
            <a:round/>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99"/>
                                        </p:tgtEl>
                                        <p:attrNameLst>
                                          <p:attrName>style.visibility</p:attrName>
                                        </p:attrNameLst>
                                      </p:cBhvr>
                                      <p:to>
                                        <p:strVal val="visible"/>
                                      </p:to>
                                    </p:set>
                                    <p:animEffect filter="fade" transition="in">
                                      <p:cBhvr>
                                        <p:cTn dur="500"/>
                                        <p:tgtEl>
                                          <p:spTgt spid="199"/>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06"/>
                                        </p:tgtEl>
                                        <p:attrNameLst>
                                          <p:attrName>style.visibility</p:attrName>
                                        </p:attrNameLst>
                                      </p:cBhvr>
                                      <p:to>
                                        <p:strVal val="visible"/>
                                      </p:to>
                                    </p:set>
                                    <p:animEffect filter="fade" transition="in">
                                      <p:cBhvr>
                                        <p:cTn dur="500"/>
                                        <p:tgtEl>
                                          <p:spTgt spid="206"/>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00"/>
                                        </p:tgtEl>
                                        <p:attrNameLst>
                                          <p:attrName>style.visibility</p:attrName>
                                        </p:attrNameLst>
                                      </p:cBhvr>
                                      <p:to>
                                        <p:strVal val="visible"/>
                                      </p:to>
                                    </p:set>
                                    <p:animEffect filter="fade" transition="in">
                                      <p:cBhvr>
                                        <p:cTn dur="500"/>
                                        <p:tgtEl>
                                          <p:spTgt spid="2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7"/>
                                        </p:tgtEl>
                                        <p:attrNameLst>
                                          <p:attrName>style.visibility</p:attrName>
                                        </p:attrNameLst>
                                      </p:cBhvr>
                                      <p:to>
                                        <p:strVal val="visible"/>
                                      </p:to>
                                    </p:set>
                                    <p:animEffect filter="fade" transition="in">
                                      <p:cBhvr>
                                        <p:cTn dur="500"/>
                                        <p:tgtEl>
                                          <p:spTgt spid="207"/>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201"/>
                                        </p:tgtEl>
                                        <p:attrNameLst>
                                          <p:attrName>style.visibility</p:attrName>
                                        </p:attrNameLst>
                                      </p:cBhvr>
                                      <p:to>
                                        <p:strVal val="visible"/>
                                      </p:to>
                                    </p:set>
                                    <p:anim calcmode="lin" valueType="num">
                                      <p:cBhvr additive="base">
                                        <p:cTn dur="500"/>
                                        <p:tgtEl>
                                          <p:spTgt spid="201"/>
                                        </p:tgtEl>
                                        <p:attrNameLst>
                                          <p:attrName>ppt_w</p:attrName>
                                        </p:attrNameLst>
                                      </p:cBhvr>
                                      <p:tavLst>
                                        <p:tav fmla="" tm="0">
                                          <p:val>
                                            <p:strVal val="0"/>
                                          </p:val>
                                        </p:tav>
                                        <p:tav fmla="" tm="100000">
                                          <p:val>
                                            <p:strVal val="#ppt_w"/>
                                          </p:val>
                                        </p:tav>
                                      </p:tavLst>
                                    </p:anim>
                                    <p:anim calcmode="lin" valueType="num">
                                      <p:cBhvr additive="base">
                                        <p:cTn dur="500"/>
                                        <p:tgtEl>
                                          <p:spTgt spid="201"/>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08"/>
                                        </p:tgtEl>
                                        <p:attrNameLst>
                                          <p:attrName>style.visibility</p:attrName>
                                        </p:attrNameLst>
                                      </p:cBhvr>
                                      <p:to>
                                        <p:strVal val="visible"/>
                                      </p:to>
                                    </p:set>
                                    <p:animEffect filter="fade" transition="in">
                                      <p:cBhvr>
                                        <p:cTn dur="500"/>
                                        <p:tgtEl>
                                          <p:spTgt spid="208"/>
                                        </p:tgtEl>
                                      </p:cBhvr>
                                    </p:animEffect>
                                  </p:childTnLst>
                                </p:cTn>
                              </p:par>
                              <p:par>
                                <p:cTn fill="hold" nodeType="withEffect" presetClass="entr" presetID="23" presetSubtype="16">
                                  <p:stCondLst>
                                    <p:cond delay="500"/>
                                  </p:stCondLst>
                                  <p:childTnLst>
                                    <p:set>
                                      <p:cBhvr>
                                        <p:cTn dur="1" fill="hold">
                                          <p:stCondLst>
                                            <p:cond delay="0"/>
                                          </p:stCondLst>
                                        </p:cTn>
                                        <p:tgtEl>
                                          <p:spTgt spid="198"/>
                                        </p:tgtEl>
                                        <p:attrNameLst>
                                          <p:attrName>style.visibility</p:attrName>
                                        </p:attrNameLst>
                                      </p:cBhvr>
                                      <p:to>
                                        <p:strVal val="visible"/>
                                      </p:to>
                                    </p:set>
                                    <p:anim calcmode="lin" valueType="num">
                                      <p:cBhvr additive="base">
                                        <p:cTn dur="500"/>
                                        <p:tgtEl>
                                          <p:spTgt spid="198"/>
                                        </p:tgtEl>
                                        <p:attrNameLst>
                                          <p:attrName>ppt_w</p:attrName>
                                        </p:attrNameLst>
                                      </p:cBhvr>
                                      <p:tavLst>
                                        <p:tav fmla="" tm="0">
                                          <p:val>
                                            <p:strVal val="0"/>
                                          </p:val>
                                        </p:tav>
                                        <p:tav fmla="" tm="100000">
                                          <p:val>
                                            <p:strVal val="#ppt_w"/>
                                          </p:val>
                                        </p:tav>
                                      </p:tavLst>
                                    </p:anim>
                                    <p:anim calcmode="lin" valueType="num">
                                      <p:cBhvr additive="base">
                                        <p:cTn dur="500"/>
                                        <p:tgtEl>
                                          <p:spTgt spid="198"/>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CD0365"/>
        </a:solidFill>
      </p:bgPr>
    </p:bg>
    <p:spTree>
      <p:nvGrpSpPr>
        <p:cNvPr id="212" name="Shape 212"/>
        <p:cNvGrpSpPr/>
        <p:nvPr/>
      </p:nvGrpSpPr>
      <p:grpSpPr>
        <a:xfrm>
          <a:off x="0" y="0"/>
          <a:ext cx="0" cy="0"/>
          <a:chOff x="0" y="0"/>
          <a:chExt cx="0" cy="0"/>
        </a:xfrm>
      </p:grpSpPr>
      <p:grpSp>
        <p:nvGrpSpPr>
          <p:cNvPr id="213" name="Google Shape;213;p20"/>
          <p:cNvGrpSpPr/>
          <p:nvPr/>
        </p:nvGrpSpPr>
        <p:grpSpPr>
          <a:xfrm>
            <a:off x="6217920" y="2382838"/>
            <a:ext cx="1858503" cy="3765822"/>
            <a:chOff x="6217920" y="2382838"/>
            <a:chExt cx="1858503" cy="3765822"/>
          </a:xfrm>
        </p:grpSpPr>
        <p:pic>
          <p:nvPicPr>
            <p:cNvPr id="214" name="Google Shape;214;p20"/>
            <p:cNvPicPr preferRelativeResize="0"/>
            <p:nvPr/>
          </p:nvPicPr>
          <p:blipFill rotWithShape="1">
            <a:blip r:embed="rId3">
              <a:alphaModFix/>
            </a:blip>
            <a:srcRect b="0" l="0" r="0" t="0"/>
            <a:stretch/>
          </p:blipFill>
          <p:spPr>
            <a:xfrm>
              <a:off x="6217920" y="2382838"/>
              <a:ext cx="1858503" cy="3765822"/>
            </a:xfrm>
            <a:prstGeom prst="rect">
              <a:avLst/>
            </a:prstGeom>
            <a:noFill/>
            <a:ln>
              <a:noFill/>
            </a:ln>
          </p:spPr>
        </p:pic>
        <p:sp>
          <p:nvSpPr>
            <p:cNvPr id="215" name="Google Shape;215;p20"/>
            <p:cNvSpPr/>
            <p:nvPr/>
          </p:nvSpPr>
          <p:spPr>
            <a:xfrm>
              <a:off x="6384466" y="514350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6" name="Google Shape;216;p20"/>
            <p:cNvSpPr/>
            <p:nvPr/>
          </p:nvSpPr>
          <p:spPr>
            <a:xfrm>
              <a:off x="7493493" y="514350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7" name="Google Shape;217;p20"/>
            <p:cNvSpPr/>
            <p:nvPr/>
          </p:nvSpPr>
          <p:spPr>
            <a:xfrm>
              <a:off x="6384466" y="454914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8" name="Google Shape;218;p20"/>
            <p:cNvSpPr/>
            <p:nvPr/>
          </p:nvSpPr>
          <p:spPr>
            <a:xfrm>
              <a:off x="7493493" y="454914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9" name="Google Shape;219;p20"/>
            <p:cNvSpPr/>
            <p:nvPr/>
          </p:nvSpPr>
          <p:spPr>
            <a:xfrm>
              <a:off x="6944853" y="454914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0" name="Google Shape;220;p20"/>
            <p:cNvSpPr/>
            <p:nvPr/>
          </p:nvSpPr>
          <p:spPr>
            <a:xfrm>
              <a:off x="6384466" y="3971925"/>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1" name="Google Shape;221;p20"/>
            <p:cNvSpPr/>
            <p:nvPr/>
          </p:nvSpPr>
          <p:spPr>
            <a:xfrm>
              <a:off x="7493493" y="3971925"/>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2" name="Google Shape;222;p20"/>
            <p:cNvSpPr/>
            <p:nvPr/>
          </p:nvSpPr>
          <p:spPr>
            <a:xfrm>
              <a:off x="6944853" y="3971925"/>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3" name="Google Shape;223;p20"/>
            <p:cNvSpPr/>
            <p:nvPr/>
          </p:nvSpPr>
          <p:spPr>
            <a:xfrm>
              <a:off x="6384466" y="337185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4" name="Google Shape;224;p20"/>
            <p:cNvSpPr/>
            <p:nvPr/>
          </p:nvSpPr>
          <p:spPr>
            <a:xfrm>
              <a:off x="7493493" y="337185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5" name="Google Shape;225;p20"/>
            <p:cNvSpPr/>
            <p:nvPr/>
          </p:nvSpPr>
          <p:spPr>
            <a:xfrm>
              <a:off x="6944853" y="3371850"/>
              <a:ext cx="411480" cy="411480"/>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226" name="Google Shape;226;p20"/>
          <p:cNvSpPr/>
          <p:nvPr/>
        </p:nvSpPr>
        <p:spPr>
          <a:xfrm>
            <a:off x="755650" y="1767688"/>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Transferring a program to a micro:bit is called </a:t>
            </a:r>
            <a:r>
              <a:rPr b="1" lang="en-GB" sz="1800">
                <a:solidFill>
                  <a:srgbClr val="CD0365"/>
                </a:solidFill>
                <a:latin typeface="Roboto"/>
                <a:ea typeface="Roboto"/>
                <a:cs typeface="Roboto"/>
                <a:sym typeface="Roboto"/>
              </a:rPr>
              <a:t>flashing</a:t>
            </a:r>
            <a:r>
              <a:rPr lang="en-GB" sz="1800">
                <a:solidFill>
                  <a:schemeClr val="dk1"/>
                </a:solidFill>
                <a:latin typeface="Roboto"/>
                <a:ea typeface="Roboto"/>
                <a:cs typeface="Roboto"/>
                <a:sym typeface="Roboto"/>
              </a:rPr>
              <a:t>.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This is because the program is copied to the micro:bit’s flash memory.</a:t>
            </a:r>
            <a:endParaRPr/>
          </a:p>
        </p:txBody>
      </p:sp>
      <p:grpSp>
        <p:nvGrpSpPr>
          <p:cNvPr id="227" name="Google Shape;227;p20"/>
          <p:cNvGrpSpPr/>
          <p:nvPr/>
        </p:nvGrpSpPr>
        <p:grpSpPr>
          <a:xfrm>
            <a:off x="755647" y="4427878"/>
            <a:ext cx="1114427" cy="384149"/>
            <a:chOff x="755647" y="4427878"/>
            <a:chExt cx="1114427" cy="384149"/>
          </a:xfrm>
        </p:grpSpPr>
        <p:sp>
          <p:nvSpPr>
            <p:cNvPr id="228" name="Google Shape;228;p20"/>
            <p:cNvSpPr/>
            <p:nvPr/>
          </p:nvSpPr>
          <p:spPr>
            <a:xfrm rot="-5400000">
              <a:off x="1120786" y="4062739"/>
              <a:ext cx="384149" cy="1114427"/>
            </a:xfrm>
            <a:prstGeom prst="rect">
              <a:avLst/>
            </a:prstGeom>
            <a:gradFill>
              <a:gsLst>
                <a:gs pos="0">
                  <a:srgbClr val="E7645C"/>
                </a:gs>
                <a:gs pos="100000">
                  <a:srgbClr val="CD0365"/>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9" name="Google Shape;229;p20"/>
            <p:cNvSpPr/>
            <p:nvPr/>
          </p:nvSpPr>
          <p:spPr>
            <a:xfrm>
              <a:off x="882648" y="4486667"/>
              <a:ext cx="905020"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lang="en-GB" sz="1800">
                  <a:solidFill>
                    <a:schemeClr val="lt1"/>
                  </a:solidFill>
                  <a:latin typeface="Roboto"/>
                  <a:ea typeface="Roboto"/>
                  <a:cs typeface="Roboto"/>
                  <a:sym typeface="Roboto"/>
                </a:rPr>
                <a:t>To Note:</a:t>
              </a:r>
              <a:endParaRPr/>
            </a:p>
          </p:txBody>
        </p:sp>
      </p:grpSp>
      <p:sp>
        <p:nvSpPr>
          <p:cNvPr id="230" name="Google Shape;230;p20"/>
          <p:cNvSpPr txBox="1"/>
          <p:nvPr/>
        </p:nvSpPr>
        <p:spPr>
          <a:xfrm>
            <a:off x="755646" y="738107"/>
            <a:ext cx="5215203"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Transferring Files via a Mobile Device</a:t>
            </a:r>
            <a:endParaRPr/>
          </a:p>
        </p:txBody>
      </p:sp>
      <p:grpSp>
        <p:nvGrpSpPr>
          <p:cNvPr id="231" name="Google Shape;231;p20"/>
          <p:cNvGrpSpPr/>
          <p:nvPr/>
        </p:nvGrpSpPr>
        <p:grpSpPr>
          <a:xfrm>
            <a:off x="7592492" y="472315"/>
            <a:ext cx="975246" cy="1010081"/>
            <a:chOff x="4095273" y="3861353"/>
            <a:chExt cx="1768317" cy="1831480"/>
          </a:xfrm>
        </p:grpSpPr>
        <p:sp>
          <p:nvSpPr>
            <p:cNvPr id="232" name="Google Shape;232;p20"/>
            <p:cNvSpPr/>
            <p:nvPr/>
          </p:nvSpPr>
          <p:spPr>
            <a:xfrm>
              <a:off x="4095273" y="3964917"/>
              <a:ext cx="1768317" cy="1727916"/>
            </a:xfrm>
            <a:prstGeom prst="ellipse">
              <a:avLst/>
            </a:prstGeom>
            <a:gradFill>
              <a:gsLst>
                <a:gs pos="0">
                  <a:srgbClr val="CD0365"/>
                </a:gs>
                <a:gs pos="100000">
                  <a:srgbClr val="E7645C"/>
                </a:gs>
              </a:gsLst>
              <a:lin ang="5400000" scaled="0"/>
            </a:gra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1" sz="1800">
                <a:solidFill>
                  <a:schemeClr val="lt1"/>
                </a:solidFill>
                <a:latin typeface="Roboto"/>
                <a:ea typeface="Roboto"/>
                <a:cs typeface="Roboto"/>
                <a:sym typeface="Roboto"/>
              </a:endParaRPr>
            </a:p>
          </p:txBody>
        </p:sp>
        <p:pic>
          <p:nvPicPr>
            <p:cNvPr id="233" name="Google Shape;233;p20"/>
            <p:cNvPicPr preferRelativeResize="0"/>
            <p:nvPr/>
          </p:nvPicPr>
          <p:blipFill rotWithShape="1">
            <a:blip r:embed="rId4">
              <a:alphaModFix/>
            </a:blip>
            <a:srcRect b="0" l="0" r="0" t="0"/>
            <a:stretch/>
          </p:blipFill>
          <p:spPr>
            <a:xfrm>
              <a:off x="4539411" y="3861353"/>
              <a:ext cx="880041" cy="1671563"/>
            </a:xfrm>
            <a:prstGeom prst="rect">
              <a:avLst/>
            </a:prstGeom>
            <a:noFill/>
            <a:ln>
              <a:noFill/>
            </a:ln>
          </p:spPr>
        </p:pic>
      </p:grpSp>
      <p:sp>
        <p:nvSpPr>
          <p:cNvPr id="234" name="Google Shape;234;p20"/>
          <p:cNvSpPr/>
          <p:nvPr/>
        </p:nvSpPr>
        <p:spPr>
          <a:xfrm>
            <a:off x="755647" y="1767688"/>
            <a:ext cx="6062348"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To flash a program on to the micro:bit, you should:</a:t>
            </a:r>
            <a:endParaRPr/>
          </a:p>
        </p:txBody>
      </p:sp>
      <p:sp>
        <p:nvSpPr>
          <p:cNvPr id="235" name="Google Shape;235;p20"/>
          <p:cNvSpPr/>
          <p:nvPr/>
        </p:nvSpPr>
        <p:spPr>
          <a:xfrm>
            <a:off x="755647" y="2380676"/>
            <a:ext cx="5462273"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 download the free micro:bit app to a mobile device;</a:t>
            </a:r>
            <a:endParaRPr/>
          </a:p>
        </p:txBody>
      </p:sp>
      <p:grpSp>
        <p:nvGrpSpPr>
          <p:cNvPr id="236" name="Google Shape;236;p20"/>
          <p:cNvGrpSpPr/>
          <p:nvPr/>
        </p:nvGrpSpPr>
        <p:grpSpPr>
          <a:xfrm>
            <a:off x="6937938" y="5143500"/>
            <a:ext cx="411480" cy="411480"/>
            <a:chOff x="2071915" y="3600450"/>
            <a:chExt cx="2234565" cy="2234565"/>
          </a:xfrm>
        </p:grpSpPr>
        <p:sp>
          <p:nvSpPr>
            <p:cNvPr id="237" name="Google Shape;237;p20"/>
            <p:cNvSpPr/>
            <p:nvPr/>
          </p:nvSpPr>
          <p:spPr>
            <a:xfrm>
              <a:off x="2071915" y="3600450"/>
              <a:ext cx="2234565" cy="2234565"/>
            </a:xfrm>
            <a:prstGeom prst="roundRect">
              <a:avLst>
                <a:gd fmla="val 16667" name="adj"/>
              </a:avLst>
            </a:prstGeom>
            <a:solidFill>
              <a:schemeClr val="lt1"/>
            </a:solidFill>
            <a:ln cap="flat" cmpd="sng" w="12700">
              <a:solidFill>
                <a:schemeClr val="dk1"/>
              </a:solidFill>
              <a:prstDash val="solid"/>
              <a:miter lim="8000"/>
              <a:headEnd len="sm" w="sm" type="none"/>
              <a:tailEnd len="sm" w="sm" type="none"/>
            </a:ln>
            <a:effectLst>
              <a:outerShdw blurRad="50800" sx="95983" rotWithShape="0" algn="t" dir="5400000" dist="38100" sy="95983">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38" name="Google Shape;238;p20"/>
            <p:cNvPicPr preferRelativeResize="0"/>
            <p:nvPr/>
          </p:nvPicPr>
          <p:blipFill rotWithShape="1">
            <a:blip r:embed="rId5">
              <a:alphaModFix/>
            </a:blip>
            <a:srcRect b="0" l="0" r="0" t="0"/>
            <a:stretch/>
          </p:blipFill>
          <p:spPr>
            <a:xfrm>
              <a:off x="2363682" y="4245327"/>
              <a:ext cx="1651030" cy="944809"/>
            </a:xfrm>
            <a:prstGeom prst="rect">
              <a:avLst/>
            </a:prstGeom>
            <a:noFill/>
            <a:ln>
              <a:noFill/>
            </a:ln>
          </p:spPr>
        </p:pic>
      </p:grpSp>
      <p:sp>
        <p:nvSpPr>
          <p:cNvPr id="239" name="Google Shape;239;p20"/>
          <p:cNvSpPr/>
          <p:nvPr/>
        </p:nvSpPr>
        <p:spPr>
          <a:xfrm>
            <a:off x="6944923" y="5613627"/>
            <a:ext cx="404495" cy="123111"/>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800"/>
              <a:buFont typeface="Roboto"/>
              <a:buNone/>
            </a:pPr>
            <a:r>
              <a:rPr lang="en-GB" sz="800">
                <a:solidFill>
                  <a:schemeClr val="dk1"/>
                </a:solidFill>
                <a:latin typeface="Roboto"/>
                <a:ea typeface="Roboto"/>
                <a:cs typeface="Roboto"/>
                <a:sym typeface="Roboto"/>
              </a:rPr>
              <a:t>micro:bit</a:t>
            </a:r>
            <a:endParaRPr sz="800">
              <a:solidFill>
                <a:schemeClr val="dk1"/>
              </a:solidFill>
              <a:latin typeface="Roboto"/>
              <a:ea typeface="Roboto"/>
              <a:cs typeface="Roboto"/>
              <a:sym typeface="Roboto"/>
            </a:endParaRPr>
          </a:p>
        </p:txBody>
      </p:sp>
      <p:pic>
        <p:nvPicPr>
          <p:cNvPr id="240" name="Google Shape;240;p20"/>
          <p:cNvPicPr preferRelativeResize="0"/>
          <p:nvPr/>
        </p:nvPicPr>
        <p:blipFill rotWithShape="1">
          <a:blip r:embed="rId3">
            <a:alphaModFix/>
          </a:blip>
          <a:srcRect b="0" l="0" r="0" t="0"/>
          <a:stretch/>
        </p:blipFill>
        <p:spPr>
          <a:xfrm>
            <a:off x="6214426" y="2382838"/>
            <a:ext cx="1858503" cy="3765822"/>
          </a:xfrm>
          <a:prstGeom prst="rect">
            <a:avLst/>
          </a:prstGeom>
          <a:noFill/>
          <a:ln>
            <a:noFill/>
          </a:ln>
        </p:spPr>
      </p:pic>
      <p:sp>
        <p:nvSpPr>
          <p:cNvPr id="241" name="Google Shape;241;p20"/>
          <p:cNvSpPr/>
          <p:nvPr/>
        </p:nvSpPr>
        <p:spPr>
          <a:xfrm>
            <a:off x="748659" y="2704936"/>
            <a:ext cx="5462273"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 enable Bluetooth on your mobile device;</a:t>
            </a:r>
            <a:endParaRPr/>
          </a:p>
        </p:txBody>
      </p:sp>
      <p:sp>
        <p:nvSpPr>
          <p:cNvPr id="242" name="Google Shape;242;p20"/>
          <p:cNvSpPr/>
          <p:nvPr/>
        </p:nvSpPr>
        <p:spPr>
          <a:xfrm>
            <a:off x="6367780" y="3310698"/>
            <a:ext cx="1537193" cy="204799"/>
          </a:xfrm>
          <a:prstGeom prst="roundRect">
            <a:avLst>
              <a:gd fmla="val 16667" name="adj"/>
            </a:avLst>
          </a:prstGeom>
          <a:solidFill>
            <a:srgbClr val="545454"/>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GB" sz="800">
                <a:solidFill>
                  <a:schemeClr val="lt1"/>
                </a:solidFill>
                <a:latin typeface="Roboto"/>
                <a:ea typeface="Roboto"/>
                <a:cs typeface="Roboto"/>
                <a:sym typeface="Roboto"/>
              </a:rPr>
              <a:t>Bluetooth</a:t>
            </a:r>
            <a:endParaRPr/>
          </a:p>
        </p:txBody>
      </p:sp>
      <p:sp>
        <p:nvSpPr>
          <p:cNvPr id="243" name="Google Shape;243;p20"/>
          <p:cNvSpPr/>
          <p:nvPr/>
        </p:nvSpPr>
        <p:spPr>
          <a:xfrm>
            <a:off x="7558398" y="3338077"/>
            <a:ext cx="282992" cy="148094"/>
          </a:xfrm>
          <a:prstGeom prst="roundRect">
            <a:avLst>
              <a:gd fmla="val 50000" name="adj"/>
            </a:avLst>
          </a:prstGeom>
          <a:solidFill>
            <a:srgbClr val="7F7F7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4" name="Google Shape;244;p20"/>
          <p:cNvSpPr/>
          <p:nvPr/>
        </p:nvSpPr>
        <p:spPr>
          <a:xfrm>
            <a:off x="7559864" y="3338077"/>
            <a:ext cx="148094" cy="148094"/>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45" name="Google Shape;245;p20"/>
          <p:cNvPicPr preferRelativeResize="0"/>
          <p:nvPr/>
        </p:nvPicPr>
        <p:blipFill rotWithShape="1">
          <a:blip r:embed="rId6">
            <a:alphaModFix/>
          </a:blip>
          <a:srcRect b="0" l="0" r="0" t="0"/>
          <a:stretch/>
        </p:blipFill>
        <p:spPr>
          <a:xfrm>
            <a:off x="7053508" y="2905787"/>
            <a:ext cx="165736" cy="291389"/>
          </a:xfrm>
          <a:prstGeom prst="rect">
            <a:avLst/>
          </a:prstGeom>
          <a:noFill/>
          <a:ln>
            <a:noFill/>
          </a:ln>
        </p:spPr>
      </p:pic>
      <p:sp>
        <p:nvSpPr>
          <p:cNvPr id="246" name="Google Shape;246;p20"/>
          <p:cNvSpPr/>
          <p:nvPr/>
        </p:nvSpPr>
        <p:spPr>
          <a:xfrm>
            <a:off x="748659" y="3019261"/>
            <a:ext cx="5462273"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 follow the on-screen instructions.</a:t>
            </a:r>
            <a:endParaRPr/>
          </a:p>
        </p:txBody>
      </p:sp>
      <p:sp>
        <p:nvSpPr>
          <p:cNvPr id="247" name="Google Shape;247;p20"/>
          <p:cNvSpPr/>
          <p:nvPr/>
        </p:nvSpPr>
        <p:spPr>
          <a:xfrm rot="-5400000">
            <a:off x="5340685" y="3406278"/>
            <a:ext cx="3612514" cy="1712592"/>
          </a:xfrm>
          <a:custGeom>
            <a:rect b="b" l="l" r="r" t="t"/>
            <a:pathLst>
              <a:path extrusionOk="0" h="1712592" w="3612514">
                <a:moveTo>
                  <a:pt x="3612514" y="260040"/>
                </a:moveTo>
                <a:lnTo>
                  <a:pt x="3612514" y="398140"/>
                </a:lnTo>
                <a:lnTo>
                  <a:pt x="3567864" y="398140"/>
                </a:lnTo>
                <a:cubicBezTo>
                  <a:pt x="3497209" y="398140"/>
                  <a:pt x="3439931" y="455418"/>
                  <a:pt x="3439931" y="526073"/>
                </a:cubicBezTo>
                <a:lnTo>
                  <a:pt x="3439931" y="1172973"/>
                </a:lnTo>
                <a:cubicBezTo>
                  <a:pt x="3439931" y="1243628"/>
                  <a:pt x="3497209" y="1300906"/>
                  <a:pt x="3567864" y="1300906"/>
                </a:cubicBezTo>
                <a:lnTo>
                  <a:pt x="3612514" y="1300906"/>
                </a:lnTo>
                <a:lnTo>
                  <a:pt x="3612514" y="1452552"/>
                </a:lnTo>
                <a:cubicBezTo>
                  <a:pt x="3612514" y="1596168"/>
                  <a:pt x="3496090" y="1712592"/>
                  <a:pt x="3352474" y="1712592"/>
                </a:cubicBezTo>
                <a:lnTo>
                  <a:pt x="260040" y="1712592"/>
                </a:lnTo>
                <a:cubicBezTo>
                  <a:pt x="116424" y="1712592"/>
                  <a:pt x="0" y="1596168"/>
                  <a:pt x="0" y="1452552"/>
                </a:cubicBezTo>
                <a:lnTo>
                  <a:pt x="0" y="260040"/>
                </a:lnTo>
                <a:cubicBezTo>
                  <a:pt x="0" y="116424"/>
                  <a:pt x="116424" y="0"/>
                  <a:pt x="260040" y="0"/>
                </a:cubicBezTo>
                <a:lnTo>
                  <a:pt x="3352474" y="0"/>
                </a:lnTo>
                <a:cubicBezTo>
                  <a:pt x="3496090" y="0"/>
                  <a:pt x="3612514" y="116424"/>
                  <a:pt x="3612514" y="260040"/>
                </a:cubicBezTo>
                <a:close/>
              </a:path>
            </a:pathLst>
          </a:cu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48" name="Google Shape;248;p20"/>
          <p:cNvPicPr preferRelativeResize="0"/>
          <p:nvPr/>
        </p:nvPicPr>
        <p:blipFill rotWithShape="1">
          <a:blip r:embed="rId7">
            <a:alphaModFix/>
          </a:blip>
          <a:srcRect b="0" l="0" r="0" t="0"/>
          <a:stretch/>
        </p:blipFill>
        <p:spPr>
          <a:xfrm>
            <a:off x="6766081" y="4004074"/>
            <a:ext cx="740590" cy="423806"/>
          </a:xfrm>
          <a:prstGeom prst="rect">
            <a:avLst/>
          </a:prstGeom>
          <a:noFill/>
          <a:ln>
            <a:noFill/>
          </a:ln>
        </p:spPr>
      </p:pic>
      <p:grpSp>
        <p:nvGrpSpPr>
          <p:cNvPr id="249" name="Google Shape;249;p20"/>
          <p:cNvGrpSpPr/>
          <p:nvPr/>
        </p:nvGrpSpPr>
        <p:grpSpPr>
          <a:xfrm>
            <a:off x="6990357" y="3448583"/>
            <a:ext cx="866892" cy="482331"/>
            <a:chOff x="4628612" y="3448583"/>
            <a:chExt cx="866892" cy="482331"/>
          </a:xfrm>
        </p:grpSpPr>
        <p:pic>
          <p:nvPicPr>
            <p:cNvPr id="250" name="Google Shape;250;p20"/>
            <p:cNvPicPr preferRelativeResize="0"/>
            <p:nvPr/>
          </p:nvPicPr>
          <p:blipFill rotWithShape="1">
            <a:blip r:embed="rId8">
              <a:alphaModFix/>
            </a:blip>
            <a:srcRect b="0" l="0" r="0" t="0"/>
            <a:stretch/>
          </p:blipFill>
          <p:spPr>
            <a:xfrm>
              <a:off x="4628612" y="3448583"/>
              <a:ext cx="866892" cy="482331"/>
            </a:xfrm>
            <a:prstGeom prst="rect">
              <a:avLst/>
            </a:prstGeom>
            <a:noFill/>
            <a:ln>
              <a:noFill/>
            </a:ln>
          </p:spPr>
        </p:pic>
        <p:sp>
          <p:nvSpPr>
            <p:cNvPr id="251" name="Google Shape;251;p20"/>
            <p:cNvSpPr/>
            <p:nvPr/>
          </p:nvSpPr>
          <p:spPr>
            <a:xfrm>
              <a:off x="4848380" y="3532979"/>
              <a:ext cx="404495" cy="184666"/>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200"/>
                <a:buFont typeface="Roboto"/>
                <a:buNone/>
              </a:pPr>
              <a:r>
                <a:rPr b="1" lang="en-GB" sz="1200">
                  <a:solidFill>
                    <a:schemeClr val="lt1"/>
                  </a:solidFill>
                  <a:latin typeface="Roboto"/>
                  <a:ea typeface="Roboto"/>
                  <a:cs typeface="Roboto"/>
                  <a:sym typeface="Roboto"/>
                </a:rPr>
                <a:t>Hello</a:t>
              </a:r>
              <a:endParaRPr/>
            </a:p>
          </p:txBody>
        </p:sp>
      </p:grpSp>
      <p:sp>
        <p:nvSpPr>
          <p:cNvPr id="252" name="Google Shape;252;p20"/>
          <p:cNvSpPr/>
          <p:nvPr/>
        </p:nvSpPr>
        <p:spPr>
          <a:xfrm>
            <a:off x="755650" y="4894438"/>
            <a:ext cx="3776345"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instructions will differ from mobile devices using different operating systems such as iOS and Android.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26"/>
                                        </p:tgtEl>
                                      </p:cBhvr>
                                    </p:animEffect>
                                    <p:set>
                                      <p:cBhvr>
                                        <p:cTn dur="1" fill="hold">
                                          <p:stCondLst>
                                            <p:cond delay="500"/>
                                          </p:stCondLst>
                                        </p:cTn>
                                        <p:tgtEl>
                                          <p:spTgt spid="226"/>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34"/>
                                        </p:tgtEl>
                                        <p:attrNameLst>
                                          <p:attrName>style.visibility</p:attrName>
                                        </p:attrNameLst>
                                      </p:cBhvr>
                                      <p:to>
                                        <p:strVal val="visible"/>
                                      </p:to>
                                    </p:set>
                                    <p:animEffect filter="fade" transition="in">
                                      <p:cBhvr>
                                        <p:cTn dur="500"/>
                                        <p:tgtEl>
                                          <p:spTgt spid="2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5"/>
                                        </p:tgtEl>
                                        <p:attrNameLst>
                                          <p:attrName>style.visibility</p:attrName>
                                        </p:attrNameLst>
                                      </p:cBhvr>
                                      <p:to>
                                        <p:strVal val="visible"/>
                                      </p:to>
                                    </p:set>
                                    <p:animEffect filter="fade" transition="in">
                                      <p:cBhvr>
                                        <p:cTn dur="500"/>
                                        <p:tgtEl>
                                          <p:spTgt spid="23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13"/>
                                        </p:tgtEl>
                                        <p:attrNameLst>
                                          <p:attrName>style.visibility</p:attrName>
                                        </p:attrNameLst>
                                      </p:cBhvr>
                                      <p:to>
                                        <p:strVal val="visible"/>
                                      </p:to>
                                    </p:set>
                                    <p:animEffect filter="fade" transition="in">
                                      <p:cBhvr>
                                        <p:cTn dur="500"/>
                                        <p:tgtEl>
                                          <p:spTgt spid="2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36"/>
                                        </p:tgtEl>
                                        <p:attrNameLst>
                                          <p:attrName>style.visibility</p:attrName>
                                        </p:attrNameLst>
                                      </p:cBhvr>
                                      <p:to>
                                        <p:strVal val="visible"/>
                                      </p:to>
                                    </p:set>
                                    <p:anim calcmode="lin" valueType="num">
                                      <p:cBhvr additive="base">
                                        <p:cTn dur="500"/>
                                        <p:tgtEl>
                                          <p:spTgt spid="236"/>
                                        </p:tgtEl>
                                        <p:attrNameLst>
                                          <p:attrName>ppt_w</p:attrName>
                                        </p:attrNameLst>
                                      </p:cBhvr>
                                      <p:tavLst>
                                        <p:tav fmla="" tm="0">
                                          <p:val>
                                            <p:strVal val="0"/>
                                          </p:val>
                                        </p:tav>
                                        <p:tav fmla="" tm="100000">
                                          <p:val>
                                            <p:strVal val="#ppt_w"/>
                                          </p:val>
                                        </p:tav>
                                      </p:tavLst>
                                    </p:anim>
                                    <p:anim calcmode="lin" valueType="num">
                                      <p:cBhvr additive="base">
                                        <p:cTn dur="500"/>
                                        <p:tgtEl>
                                          <p:spTgt spid="236"/>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39"/>
                                        </p:tgtEl>
                                        <p:attrNameLst>
                                          <p:attrName>style.visibility</p:attrName>
                                        </p:attrNameLst>
                                      </p:cBhvr>
                                      <p:to>
                                        <p:strVal val="visible"/>
                                      </p:to>
                                    </p:set>
                                    <p:animEffect filter="fade" transition="in">
                                      <p:cBhvr>
                                        <p:cTn dur="500"/>
                                        <p:tgtEl>
                                          <p:spTgt spid="2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1"/>
                                        </p:tgtEl>
                                        <p:attrNameLst>
                                          <p:attrName>style.visibility</p:attrName>
                                        </p:attrNameLst>
                                      </p:cBhvr>
                                      <p:to>
                                        <p:strVal val="visible"/>
                                      </p:to>
                                    </p:set>
                                    <p:animEffect filter="fade" transition="in">
                                      <p:cBhvr>
                                        <p:cTn dur="500"/>
                                        <p:tgtEl>
                                          <p:spTgt spid="241"/>
                                        </p:tgtEl>
                                      </p:cBhvr>
                                    </p:animEffect>
                                  </p:childTnLst>
                                </p:cTn>
                              </p:par>
                            </p:childTnLst>
                          </p:cTn>
                        </p:par>
                        <p:par>
                          <p:cTn fill="hold">
                            <p:stCondLst>
                              <p:cond delay="500"/>
                            </p:stCondLst>
                            <p:childTnLst>
                              <p:par>
                                <p:cTn fill="hold" nodeType="afterEffect" presetClass="exit" presetID="1" presetSubtype="0">
                                  <p:stCondLst>
                                    <p:cond delay="0"/>
                                  </p:stCondLst>
                                  <p:childTnLst>
                                    <p:set>
                                      <p:cBhvr>
                                        <p:cTn dur="1" fill="hold">
                                          <p:stCondLst>
                                            <p:cond delay="1"/>
                                          </p:stCondLst>
                                        </p:cTn>
                                        <p:tgtEl>
                                          <p:spTgt spid="213"/>
                                        </p:tgtEl>
                                        <p:attrNameLst>
                                          <p:attrName>style.visibility</p:attrName>
                                        </p:attrNameLst>
                                      </p:cBhvr>
                                      <p:to>
                                        <p:strVal val="hidden"/>
                                      </p:to>
                                    </p:set>
                                  </p:childTnLst>
                                </p:cTn>
                              </p:par>
                              <p:par>
                                <p:cTn fill="hold" nodeType="withEffect" presetClass="entr" presetID="1" presetSubtype="0">
                                  <p:stCondLst>
                                    <p:cond delay="0"/>
                                  </p:stCondLst>
                                  <p:childTnLst>
                                    <p:set>
                                      <p:cBhvr>
                                        <p:cTn dur="1" fill="hold">
                                          <p:stCondLst>
                                            <p:cond delay="0"/>
                                          </p:stCondLst>
                                        </p:cTn>
                                        <p:tgtEl>
                                          <p:spTgt spid="240"/>
                                        </p:tgtEl>
                                        <p:attrNameLst>
                                          <p:attrName>style.visibility</p:attrName>
                                        </p:attrNameLst>
                                      </p:cBhvr>
                                      <p:to>
                                        <p:strVal val="visible"/>
                                      </p:to>
                                    </p:set>
                                  </p:childTnLst>
                                </p:cTn>
                              </p:par>
                            </p:childTnLst>
                          </p:cTn>
                        </p:par>
                        <p:par>
                          <p:cTn fill="hold">
                            <p:stCondLst>
                              <p:cond delay="501"/>
                            </p:stCondLst>
                            <p:childTnLst>
                              <p:par>
                                <p:cTn fill="hold" nodeType="afterEffect" presetClass="entr" presetID="10" presetSubtype="0">
                                  <p:stCondLst>
                                    <p:cond delay="0"/>
                                  </p:stCondLst>
                                  <p:childTnLst>
                                    <p:set>
                                      <p:cBhvr>
                                        <p:cTn dur="1" fill="hold">
                                          <p:stCondLst>
                                            <p:cond delay="0"/>
                                          </p:stCondLst>
                                        </p:cTn>
                                        <p:tgtEl>
                                          <p:spTgt spid="243"/>
                                        </p:tgtEl>
                                        <p:attrNameLst>
                                          <p:attrName>style.visibility</p:attrName>
                                        </p:attrNameLst>
                                      </p:cBhvr>
                                      <p:to>
                                        <p:strVal val="visible"/>
                                      </p:to>
                                    </p:set>
                                    <p:animEffect filter="fade" transition="in">
                                      <p:cBhvr>
                                        <p:cTn dur="500"/>
                                        <p:tgtEl>
                                          <p:spTgt spid="243"/>
                                        </p:tgtEl>
                                      </p:cBhvr>
                                    </p:animEffect>
                                  </p:childTnLst>
                                </p:cTn>
                              </p:par>
                              <p:par>
                                <p:cTn fill="hold" nodeType="withEffect" presetClass="entr" presetID="10" presetSubtype="0">
                                  <p:stCondLst>
                                    <p:cond delay="0"/>
                                  </p:stCondLst>
                                  <p:childTnLst>
                                    <p:set>
                                      <p:cBhvr>
                                        <p:cTn dur="1" fill="hold">
                                          <p:stCondLst>
                                            <p:cond delay="0"/>
                                          </p:stCondLst>
                                        </p:cTn>
                                        <p:tgtEl>
                                          <p:spTgt spid="242"/>
                                        </p:tgtEl>
                                        <p:attrNameLst>
                                          <p:attrName>style.visibility</p:attrName>
                                        </p:attrNameLst>
                                      </p:cBhvr>
                                      <p:to>
                                        <p:strVal val="visible"/>
                                      </p:to>
                                    </p:set>
                                    <p:animEffect filter="fade" transition="in">
                                      <p:cBhvr>
                                        <p:cTn dur="500"/>
                                        <p:tgtEl>
                                          <p:spTgt spid="242"/>
                                        </p:tgtEl>
                                      </p:cBhvr>
                                    </p:animEffect>
                                  </p:childTnLst>
                                </p:cTn>
                              </p:par>
                              <p:par>
                                <p:cTn fill="hold" nodeType="withEffect" presetClass="entr" presetID="10" presetSubtype="0">
                                  <p:stCondLst>
                                    <p:cond delay="0"/>
                                  </p:stCondLst>
                                  <p:childTnLst>
                                    <p:set>
                                      <p:cBhvr>
                                        <p:cTn dur="1" fill="hold">
                                          <p:stCondLst>
                                            <p:cond delay="0"/>
                                          </p:stCondLst>
                                        </p:cTn>
                                        <p:tgtEl>
                                          <p:spTgt spid="244"/>
                                        </p:tgtEl>
                                        <p:attrNameLst>
                                          <p:attrName>style.visibility</p:attrName>
                                        </p:attrNameLst>
                                      </p:cBhvr>
                                      <p:to>
                                        <p:strVal val="visible"/>
                                      </p:to>
                                    </p:set>
                                    <p:animEffect filter="fade" transition="in">
                                      <p:cBhvr>
                                        <p:cTn dur="500"/>
                                        <p:tgtEl>
                                          <p:spTgt spid="244"/>
                                        </p:tgtEl>
                                      </p:cBhvr>
                                    </p:animEffect>
                                  </p:childTnLst>
                                </p:cTn>
                              </p:par>
                              <p:par>
                                <p:cTn fill="hold" nodeType="withEffect" presetClass="entr" presetID="10" presetSubtype="0">
                                  <p:stCondLst>
                                    <p:cond delay="0"/>
                                  </p:stCondLst>
                                  <p:childTnLst>
                                    <p:set>
                                      <p:cBhvr>
                                        <p:cTn dur="1" fill="hold">
                                          <p:stCondLst>
                                            <p:cond delay="0"/>
                                          </p:stCondLst>
                                        </p:cTn>
                                        <p:tgtEl>
                                          <p:spTgt spid="245"/>
                                        </p:tgtEl>
                                        <p:attrNameLst>
                                          <p:attrName>style.visibility</p:attrName>
                                        </p:attrNameLst>
                                      </p:cBhvr>
                                      <p:to>
                                        <p:strVal val="visible"/>
                                      </p:to>
                                    </p:set>
                                    <p:animEffect filter="fade" transition="in">
                                      <p:cBhvr>
                                        <p:cTn dur="500"/>
                                        <p:tgtEl>
                                          <p:spTgt spid="2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6"/>
                                        </p:tgtEl>
                                        <p:attrNameLst>
                                          <p:attrName>style.visibility</p:attrName>
                                        </p:attrNameLst>
                                      </p:cBhvr>
                                      <p:to>
                                        <p:strVal val="visible"/>
                                      </p:to>
                                    </p:set>
                                    <p:animEffect filter="fade" transition="in">
                                      <p:cBhvr>
                                        <p:cTn dur="500"/>
                                        <p:tgtEl>
                                          <p:spTgt spid="246"/>
                                        </p:tgtEl>
                                      </p:cBhvr>
                                    </p:animEffect>
                                  </p:childTnLst>
                                </p:cTn>
                              </p:par>
                              <p:par>
                                <p:cTn fill="hold" nodeType="withEffect" presetClass="exit" presetID="1" presetSubtype="0">
                                  <p:stCondLst>
                                    <p:cond delay="0"/>
                                  </p:stCondLst>
                                  <p:childTnLst>
                                    <p:set>
                                      <p:cBhvr>
                                        <p:cTn dur="1" fill="hold">
                                          <p:stCondLst>
                                            <p:cond delay="1"/>
                                          </p:stCondLst>
                                        </p:cTn>
                                        <p:tgtEl>
                                          <p:spTgt spid="2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2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2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245"/>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47"/>
                                        </p:tgtEl>
                                        <p:attrNameLst>
                                          <p:attrName>style.visibility</p:attrName>
                                        </p:attrNameLst>
                                      </p:cBhvr>
                                      <p:to>
                                        <p:strVal val="visible"/>
                                      </p:to>
                                    </p:set>
                                    <p:animEffect filter="fade" transition="in">
                                      <p:cBhvr>
                                        <p:cTn dur="500"/>
                                        <p:tgtEl>
                                          <p:spTgt spid="247"/>
                                        </p:tgtEl>
                                      </p:cBhvr>
                                    </p:animEffect>
                                  </p:childTnLst>
                                </p:cTn>
                              </p:par>
                              <p:par>
                                <p:cTn fill="hold" nodeType="withEffect" presetClass="entr" presetID="10" presetSubtype="0">
                                  <p:stCondLst>
                                    <p:cond delay="0"/>
                                  </p:stCondLst>
                                  <p:childTnLst>
                                    <p:set>
                                      <p:cBhvr>
                                        <p:cTn dur="1" fill="hold">
                                          <p:stCondLst>
                                            <p:cond delay="0"/>
                                          </p:stCondLst>
                                        </p:cTn>
                                        <p:tgtEl>
                                          <p:spTgt spid="248"/>
                                        </p:tgtEl>
                                        <p:attrNameLst>
                                          <p:attrName>style.visibility</p:attrName>
                                        </p:attrNameLst>
                                      </p:cBhvr>
                                      <p:to>
                                        <p:strVal val="visible"/>
                                      </p:to>
                                    </p:set>
                                    <p:animEffect filter="fade" transition="in">
                                      <p:cBhvr>
                                        <p:cTn dur="500"/>
                                        <p:tgtEl>
                                          <p:spTgt spid="248"/>
                                        </p:tgtEl>
                                      </p:cBhvr>
                                    </p:animEffect>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249"/>
                                        </p:tgtEl>
                                        <p:attrNameLst>
                                          <p:attrName>style.visibility</p:attrName>
                                        </p:attrNameLst>
                                      </p:cBhvr>
                                      <p:to>
                                        <p:strVal val="visible"/>
                                      </p:to>
                                    </p:set>
                                    <p:anim calcmode="lin" valueType="num">
                                      <p:cBhvr additive="base">
                                        <p:cTn dur="500"/>
                                        <p:tgtEl>
                                          <p:spTgt spid="249"/>
                                        </p:tgtEl>
                                        <p:attrNameLst>
                                          <p:attrName>ppt_w</p:attrName>
                                        </p:attrNameLst>
                                      </p:cBhvr>
                                      <p:tavLst>
                                        <p:tav fmla="" tm="0">
                                          <p:val>
                                            <p:strVal val="0"/>
                                          </p:val>
                                        </p:tav>
                                        <p:tav fmla="" tm="100000">
                                          <p:val>
                                            <p:strVal val="#ppt_w"/>
                                          </p:val>
                                        </p:tav>
                                      </p:tavLst>
                                    </p:anim>
                                    <p:anim calcmode="lin" valueType="num">
                                      <p:cBhvr additive="base">
                                        <p:cTn dur="500"/>
                                        <p:tgtEl>
                                          <p:spTgt spid="249"/>
                                        </p:tgtEl>
                                        <p:attrNameLst>
                                          <p:attrName>ppt_h</p:attrName>
                                        </p:attrNameLst>
                                      </p:cBhvr>
                                      <p:tavLst>
                                        <p:tav fmla="" tm="0">
                                          <p:val>
                                            <p:strVal val="0"/>
                                          </p:val>
                                        </p:tav>
                                        <p:tav fmla="" tm="100000">
                                          <p:val>
                                            <p:strVal val="#ppt_h"/>
                                          </p:val>
                                        </p:tav>
                                      </p:tavLst>
                                    </p:anim>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227"/>
                                        </p:tgtEl>
                                        <p:attrNameLst>
                                          <p:attrName>style.visibility</p:attrName>
                                        </p:attrNameLst>
                                      </p:cBhvr>
                                      <p:to>
                                        <p:strVal val="visible"/>
                                      </p:to>
                                    </p:set>
                                    <p:animEffect filter="fade" transition="in">
                                      <p:cBhvr>
                                        <p:cTn dur="500"/>
                                        <p:tgtEl>
                                          <p:spTgt spid="227"/>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252"/>
                                        </p:tgtEl>
                                        <p:attrNameLst>
                                          <p:attrName>style.visibility</p:attrName>
                                        </p:attrNameLst>
                                      </p:cBhvr>
                                      <p:to>
                                        <p:strVal val="visible"/>
                                      </p:to>
                                    </p:set>
                                    <p:animEffect filter="fade" transition="in">
                                      <p:cBhvr>
                                        <p:cTn dur="500"/>
                                        <p:tgtEl>
                                          <p:spTgt spid="2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256" name="Shape 256"/>
        <p:cNvGrpSpPr/>
        <p:nvPr/>
      </p:nvGrpSpPr>
      <p:grpSpPr>
        <a:xfrm>
          <a:off x="0" y="0"/>
          <a:ext cx="0" cy="0"/>
          <a:chOff x="0" y="0"/>
          <a:chExt cx="0" cy="0"/>
        </a:xfrm>
      </p:grpSpPr>
      <p:pic>
        <p:nvPicPr>
          <p:cNvPr id="257" name="Google Shape;257;p21"/>
          <p:cNvPicPr preferRelativeResize="0"/>
          <p:nvPr/>
        </p:nvPicPr>
        <p:blipFill rotWithShape="1">
          <a:blip r:embed="rId3">
            <a:alphaModFix/>
          </a:blip>
          <a:srcRect b="0" l="0" r="0" t="0"/>
          <a:stretch/>
        </p:blipFill>
        <p:spPr>
          <a:xfrm>
            <a:off x="5087362" y="2739139"/>
            <a:ext cx="3068199" cy="2466998"/>
          </a:xfrm>
          <a:prstGeom prst="rect">
            <a:avLst/>
          </a:prstGeom>
          <a:noFill/>
          <a:ln>
            <a:noFill/>
          </a:ln>
        </p:spPr>
      </p:pic>
      <p:pic>
        <p:nvPicPr>
          <p:cNvPr id="258" name="Google Shape;258;p21"/>
          <p:cNvPicPr preferRelativeResize="0"/>
          <p:nvPr/>
        </p:nvPicPr>
        <p:blipFill rotWithShape="1">
          <a:blip r:embed="rId4">
            <a:alphaModFix/>
          </a:blip>
          <a:srcRect b="0" l="0" r="0" t="0"/>
          <a:stretch/>
        </p:blipFill>
        <p:spPr>
          <a:xfrm>
            <a:off x="5055419" y="2678911"/>
            <a:ext cx="3128912" cy="2515814"/>
          </a:xfrm>
          <a:prstGeom prst="rect">
            <a:avLst/>
          </a:prstGeom>
          <a:noFill/>
          <a:ln>
            <a:noFill/>
          </a:ln>
        </p:spPr>
      </p:pic>
      <p:sp>
        <p:nvSpPr>
          <p:cNvPr id="259" name="Google Shape;259;p21"/>
          <p:cNvSpPr/>
          <p:nvPr/>
        </p:nvSpPr>
        <p:spPr>
          <a:xfrm>
            <a:off x="755650" y="1628507"/>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As with all technology, micro:bits can experience problems, although these are minor. </a:t>
            </a:r>
            <a:endParaRPr/>
          </a:p>
        </p:txBody>
      </p:sp>
      <p:sp>
        <p:nvSpPr>
          <p:cNvPr id="260" name="Google Shape;260;p21"/>
          <p:cNvSpPr txBox="1"/>
          <p:nvPr/>
        </p:nvSpPr>
        <p:spPr>
          <a:xfrm>
            <a:off x="755647" y="738107"/>
            <a:ext cx="2564767"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Error Codes</a:t>
            </a:r>
            <a:endParaRPr/>
          </a:p>
        </p:txBody>
      </p:sp>
      <p:sp>
        <p:nvSpPr>
          <p:cNvPr id="261" name="Google Shape;261;p21"/>
          <p:cNvSpPr/>
          <p:nvPr/>
        </p:nvSpPr>
        <p:spPr>
          <a:xfrm>
            <a:off x="747395" y="3102977"/>
            <a:ext cx="4239260"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Luckily, if the micro:bit detects a fault it will enter a ‘panic’ routine. In this ‘panic’ routine the micro:bit will display a sad face on the LED screen followed by a number. The number corresponds to a specific error.</a:t>
            </a:r>
            <a:endParaRPr/>
          </a:p>
        </p:txBody>
      </p:sp>
      <p:grpSp>
        <p:nvGrpSpPr>
          <p:cNvPr id="262" name="Google Shape;262;p21"/>
          <p:cNvGrpSpPr/>
          <p:nvPr/>
        </p:nvGrpSpPr>
        <p:grpSpPr>
          <a:xfrm>
            <a:off x="6119812" y="3461463"/>
            <a:ext cx="1000125" cy="815975"/>
            <a:chOff x="6137275" y="3648075"/>
            <a:chExt cx="1000125" cy="815975"/>
          </a:xfrm>
        </p:grpSpPr>
        <p:sp>
          <p:nvSpPr>
            <p:cNvPr id="263" name="Google Shape;263;p21"/>
            <p:cNvSpPr/>
            <p:nvPr/>
          </p:nvSpPr>
          <p:spPr>
            <a:xfrm>
              <a:off x="6369050" y="3648075"/>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4" name="Google Shape;264;p21"/>
            <p:cNvSpPr/>
            <p:nvPr/>
          </p:nvSpPr>
          <p:spPr>
            <a:xfrm>
              <a:off x="6835775" y="3648075"/>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5" name="Google Shape;265;p21"/>
            <p:cNvSpPr/>
            <p:nvPr/>
          </p:nvSpPr>
          <p:spPr>
            <a:xfrm>
              <a:off x="6369050" y="4083050"/>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6" name="Google Shape;266;p21"/>
            <p:cNvSpPr/>
            <p:nvPr/>
          </p:nvSpPr>
          <p:spPr>
            <a:xfrm>
              <a:off x="6835775" y="4083050"/>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7" name="Google Shape;267;p21"/>
            <p:cNvSpPr/>
            <p:nvPr/>
          </p:nvSpPr>
          <p:spPr>
            <a:xfrm>
              <a:off x="6604000" y="4083050"/>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8" name="Google Shape;268;p21"/>
            <p:cNvSpPr/>
            <p:nvPr/>
          </p:nvSpPr>
          <p:spPr>
            <a:xfrm>
              <a:off x="6137275" y="4311650"/>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9" name="Google Shape;269;p21"/>
            <p:cNvSpPr/>
            <p:nvPr/>
          </p:nvSpPr>
          <p:spPr>
            <a:xfrm>
              <a:off x="7067550" y="4311650"/>
              <a:ext cx="69850" cy="152400"/>
            </a:xfrm>
            <a:prstGeom prst="roundRect">
              <a:avLst>
                <a:gd fmla="val 16667"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270" name="Google Shape;270;p21"/>
          <p:cNvSpPr/>
          <p:nvPr/>
        </p:nvSpPr>
        <p:spPr>
          <a:xfrm>
            <a:off x="747395" y="3102977"/>
            <a:ext cx="4239260"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In all error cases, pressing the reset button on the back of the micro:bit will restart the program. Restarting the program will clear out the RAM memory.</a:t>
            </a:r>
            <a:endParaRPr/>
          </a:p>
        </p:txBody>
      </p:sp>
      <p:sp>
        <p:nvSpPr>
          <p:cNvPr id="271" name="Google Shape;271;p21"/>
          <p:cNvSpPr/>
          <p:nvPr/>
        </p:nvSpPr>
        <p:spPr>
          <a:xfrm>
            <a:off x="755650" y="5466843"/>
            <a:ext cx="7632700" cy="55399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D0365"/>
              </a:buClr>
              <a:buSzPts val="1800"/>
              <a:buFont typeface="Roboto"/>
              <a:buNone/>
            </a:pPr>
            <a:r>
              <a:rPr lang="en-GB" sz="1800">
                <a:solidFill>
                  <a:srgbClr val="CD0365"/>
                </a:solidFill>
                <a:latin typeface="Roboto"/>
                <a:ea typeface="Roboto"/>
                <a:cs typeface="Roboto"/>
                <a:sym typeface="Roboto"/>
              </a:rPr>
              <a:t>If restarting the micro:bit does not resolve the error, </a:t>
            </a:r>
            <a:br>
              <a:rPr lang="en-GB" sz="1800">
                <a:solidFill>
                  <a:srgbClr val="CD0365"/>
                </a:solidFill>
                <a:latin typeface="Roboto"/>
                <a:ea typeface="Roboto"/>
                <a:cs typeface="Roboto"/>
                <a:sym typeface="Roboto"/>
              </a:rPr>
            </a:br>
            <a:r>
              <a:rPr lang="en-GB" sz="1800">
                <a:solidFill>
                  <a:srgbClr val="CD0365"/>
                </a:solidFill>
                <a:latin typeface="Roboto"/>
                <a:ea typeface="Roboto"/>
                <a:cs typeface="Roboto"/>
                <a:sym typeface="Roboto"/>
              </a:rPr>
              <a:t>there is more help and support on the </a:t>
            </a:r>
            <a:r>
              <a:rPr lang="en-GB" sz="1800" u="sng">
                <a:solidFill>
                  <a:schemeClr val="hlink"/>
                </a:solidFill>
                <a:latin typeface="Roboto"/>
                <a:ea typeface="Roboto"/>
                <a:cs typeface="Roboto"/>
                <a:sym typeface="Roboto"/>
                <a:hlinkClick r:id="rId5"/>
              </a:rPr>
              <a:t>micro:bit website</a:t>
            </a:r>
            <a:r>
              <a:rPr lang="en-GB" sz="1800">
                <a:solidFill>
                  <a:srgbClr val="CD0365"/>
                </a:solidFill>
                <a:latin typeface="Roboto"/>
                <a:ea typeface="Roboto"/>
                <a:cs typeface="Roboto"/>
                <a:sym typeface="Roboto"/>
              </a:rPr>
              <a:t>.</a:t>
            </a:r>
            <a:endParaRPr/>
          </a:p>
        </p:txBody>
      </p:sp>
      <p:sp>
        <p:nvSpPr>
          <p:cNvPr id="272" name="Google Shape;272;p21"/>
          <p:cNvSpPr/>
          <p:nvPr/>
        </p:nvSpPr>
        <p:spPr>
          <a:xfrm>
            <a:off x="6778808" y="2683795"/>
            <a:ext cx="694055" cy="694055"/>
          </a:xfrm>
          <a:prstGeom prst="ellipse">
            <a:avLst/>
          </a:prstGeom>
          <a:noFill/>
          <a:ln cap="flat" cmpd="sng" w="762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59"/>
                                        </p:tgtEl>
                                        <p:attrNameLst>
                                          <p:attrName>style.visibility</p:attrName>
                                        </p:attrNameLst>
                                      </p:cBhvr>
                                      <p:to>
                                        <p:strVal val="visible"/>
                                      </p:to>
                                    </p:set>
                                    <p:animEffect filter="fade" transition="in">
                                      <p:cBhvr>
                                        <p:cTn dur="500"/>
                                        <p:tgtEl>
                                          <p:spTgt spid="2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58"/>
                                        </p:tgtEl>
                                        <p:attrNameLst>
                                          <p:attrName>style.visibility</p:attrName>
                                        </p:attrNameLst>
                                      </p:cBhvr>
                                      <p:to>
                                        <p:strVal val="visible"/>
                                      </p:to>
                                    </p:set>
                                    <p:anim calcmode="lin" valueType="num">
                                      <p:cBhvr additive="base">
                                        <p:cTn dur="500"/>
                                        <p:tgtEl>
                                          <p:spTgt spid="258"/>
                                        </p:tgtEl>
                                        <p:attrNameLst>
                                          <p:attrName>ppt_w</p:attrName>
                                        </p:attrNameLst>
                                      </p:cBhvr>
                                      <p:tavLst>
                                        <p:tav fmla="" tm="0">
                                          <p:val>
                                            <p:strVal val="0"/>
                                          </p:val>
                                        </p:tav>
                                        <p:tav fmla="" tm="100000">
                                          <p:val>
                                            <p:strVal val="#ppt_w"/>
                                          </p:val>
                                        </p:tav>
                                      </p:tavLst>
                                    </p:anim>
                                    <p:anim calcmode="lin" valueType="num">
                                      <p:cBhvr additive="base">
                                        <p:cTn dur="500"/>
                                        <p:tgtEl>
                                          <p:spTgt spid="258"/>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5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5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61"/>
                                        </p:tgtEl>
                                      </p:cBhvr>
                                    </p:animEffect>
                                    <p:set>
                                      <p:cBhvr>
                                        <p:cTn dur="1" fill="hold">
                                          <p:stCondLst>
                                            <p:cond delay="500"/>
                                          </p:stCondLst>
                                        </p:cTn>
                                        <p:tgtEl>
                                          <p:spTgt spid="261"/>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70"/>
                                        </p:tgtEl>
                                        <p:attrNameLst>
                                          <p:attrName>style.visibility</p:attrName>
                                        </p:attrNameLst>
                                      </p:cBhvr>
                                      <p:to>
                                        <p:strVal val="visible"/>
                                      </p:to>
                                    </p:set>
                                    <p:animEffect filter="fade" transition="in">
                                      <p:cBhvr>
                                        <p:cTn dur="500"/>
                                        <p:tgtEl>
                                          <p:spTgt spid="270"/>
                                        </p:tgtEl>
                                      </p:cBhvr>
                                    </p:animEffect>
                                  </p:childTnLst>
                                </p:cTn>
                              </p:par>
                              <p:par>
                                <p:cTn fill="hold" nodeType="withEffect" presetClass="exit" presetID="1" presetSubtype="0">
                                  <p:stCondLst>
                                    <p:cond delay="0"/>
                                  </p:stCondLst>
                                  <p:childTnLst>
                                    <p:set>
                                      <p:cBhvr>
                                        <p:cTn dur="1" fill="hold">
                                          <p:stCondLst>
                                            <p:cond delay="1"/>
                                          </p:stCondLst>
                                        </p:cTn>
                                        <p:tgtEl>
                                          <p:spTgt spid="26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258"/>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1" presetSubtype="0">
                                  <p:stCondLst>
                                    <p:cond delay="0"/>
                                  </p:stCondLst>
                                  <p:childTnLst>
                                    <p:set>
                                      <p:cBhvr>
                                        <p:cTn dur="1" fill="hold">
                                          <p:stCondLst>
                                            <p:cond delay="0"/>
                                          </p:stCondLst>
                                        </p:cTn>
                                        <p:tgtEl>
                                          <p:spTgt spid="25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2"/>
                                        </p:tgtEl>
                                        <p:attrNameLst>
                                          <p:attrName>style.visibility</p:attrName>
                                        </p:attrNameLst>
                                      </p:cBhvr>
                                      <p:to>
                                        <p:strVal val="visible"/>
                                      </p:to>
                                    </p:set>
                                    <p:animEffect filter="fade" transition="in">
                                      <p:cBhvr>
                                        <p:cTn dur="500"/>
                                        <p:tgtEl>
                                          <p:spTgt spid="2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71"/>
                                        </p:tgtEl>
                                        <p:attrNameLst>
                                          <p:attrName>style.visibility</p:attrName>
                                        </p:attrNameLst>
                                      </p:cBhvr>
                                      <p:to>
                                        <p:strVal val="visible"/>
                                      </p:to>
                                    </p:set>
                                    <p:anim calcmode="lin" valueType="num">
                                      <p:cBhvr additive="base">
                                        <p:cTn dur="500"/>
                                        <p:tgtEl>
                                          <p:spTgt spid="271"/>
                                        </p:tgtEl>
                                        <p:attrNameLst>
                                          <p:attrName>ppt_w</p:attrName>
                                        </p:attrNameLst>
                                      </p:cBhvr>
                                      <p:tavLst>
                                        <p:tav fmla="" tm="0">
                                          <p:val>
                                            <p:strVal val="0"/>
                                          </p:val>
                                        </p:tav>
                                        <p:tav fmla="" tm="100000">
                                          <p:val>
                                            <p:strVal val="#ppt_w"/>
                                          </p:val>
                                        </p:tav>
                                      </p:tavLst>
                                    </p:anim>
                                    <p:anim calcmode="lin" valueType="num">
                                      <p:cBhvr additive="base">
                                        <p:cTn dur="500"/>
                                        <p:tgtEl>
                                          <p:spTgt spid="27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276" name="Shape 276"/>
        <p:cNvGrpSpPr/>
        <p:nvPr/>
      </p:nvGrpSpPr>
      <p:grpSpPr>
        <a:xfrm>
          <a:off x="0" y="0"/>
          <a:ext cx="0" cy="0"/>
          <a:chOff x="0" y="0"/>
          <a:chExt cx="0" cy="0"/>
        </a:xfrm>
      </p:grpSpPr>
      <p:sp>
        <p:nvSpPr>
          <p:cNvPr id="277" name="Google Shape;277;p22"/>
          <p:cNvSpPr/>
          <p:nvPr/>
        </p:nvSpPr>
        <p:spPr>
          <a:xfrm>
            <a:off x="6589983" y="1504962"/>
            <a:ext cx="1977755" cy="243143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Microphone</a:t>
            </a:r>
            <a:r>
              <a:rPr lang="en-GB" sz="1800">
                <a:solidFill>
                  <a:schemeClr val="dk1"/>
                </a:solidFill>
                <a:latin typeface="Roboto"/>
                <a:ea typeface="Roboto"/>
                <a:cs typeface="Roboto"/>
                <a:sym typeface="Roboto"/>
              </a:rPr>
              <a:t> </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micro:bit has a </a:t>
            </a:r>
            <a:br>
              <a:rPr lang="en-GB" sz="1400">
                <a:solidFill>
                  <a:schemeClr val="dk1"/>
                </a:solidFill>
                <a:latin typeface="Roboto"/>
                <a:ea typeface="Roboto"/>
                <a:cs typeface="Roboto"/>
                <a:sym typeface="Roboto"/>
              </a:rPr>
            </a:br>
            <a:r>
              <a:rPr lang="en-GB" sz="1400">
                <a:solidFill>
                  <a:schemeClr val="dk1"/>
                </a:solidFill>
                <a:latin typeface="Roboto"/>
                <a:ea typeface="Roboto"/>
                <a:cs typeface="Roboto"/>
                <a:sym typeface="Roboto"/>
              </a:rPr>
              <a:t>built-in microphone. </a:t>
            </a:r>
            <a:br>
              <a:rPr lang="en-GB" sz="1400">
                <a:solidFill>
                  <a:schemeClr val="dk1"/>
                </a:solidFill>
                <a:latin typeface="Roboto"/>
                <a:ea typeface="Roboto"/>
                <a:cs typeface="Roboto"/>
                <a:sym typeface="Roboto"/>
              </a:rPr>
            </a:br>
            <a:r>
              <a:rPr lang="en-GB" sz="1400">
                <a:solidFill>
                  <a:schemeClr val="dk1"/>
                </a:solidFill>
                <a:latin typeface="Roboto"/>
                <a:ea typeface="Roboto"/>
                <a:cs typeface="Roboto"/>
                <a:sym typeface="Roboto"/>
              </a:rPr>
              <a:t>The microphone LED will light up if the microphone is measuring sound levels. The microphone LED also indicates where the microphone </a:t>
            </a:r>
            <a:br>
              <a:rPr lang="en-GB" sz="1400">
                <a:solidFill>
                  <a:schemeClr val="dk1"/>
                </a:solidFill>
                <a:latin typeface="Roboto"/>
                <a:ea typeface="Roboto"/>
                <a:cs typeface="Roboto"/>
                <a:sym typeface="Roboto"/>
              </a:rPr>
            </a:br>
            <a:r>
              <a:rPr lang="en-GB" sz="1400">
                <a:solidFill>
                  <a:schemeClr val="dk1"/>
                </a:solidFill>
                <a:latin typeface="Roboto"/>
                <a:ea typeface="Roboto"/>
                <a:cs typeface="Roboto"/>
                <a:sym typeface="Roboto"/>
              </a:rPr>
              <a:t>is located.</a:t>
            </a:r>
            <a:endParaRPr/>
          </a:p>
        </p:txBody>
      </p:sp>
      <p:sp>
        <p:nvSpPr>
          <p:cNvPr id="278" name="Google Shape;278;p22"/>
          <p:cNvSpPr/>
          <p:nvPr/>
        </p:nvSpPr>
        <p:spPr>
          <a:xfrm>
            <a:off x="726106" y="1701351"/>
            <a:ext cx="1823419" cy="20005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Buttons</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BBC micro:bit has two buttons, A and B, on the front. The buttons can be pressed separately or together. Pressing the buttons can be used to trigger code.</a:t>
            </a:r>
            <a:endParaRPr/>
          </a:p>
        </p:txBody>
      </p:sp>
      <p:sp>
        <p:nvSpPr>
          <p:cNvPr id="279" name="Google Shape;279;p22"/>
          <p:cNvSpPr/>
          <p:nvPr/>
        </p:nvSpPr>
        <p:spPr>
          <a:xfrm>
            <a:off x="1172845" y="1390145"/>
            <a:ext cx="6788150" cy="7078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LED Display and Light Sensor</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micro:bit has 25 LEDs arranged in a 5x5 grid. The LEDs can be used for displaying pictures, words and numbers. They can also act as sensors and measure light levels.</a:t>
            </a:r>
            <a:endParaRPr/>
          </a:p>
        </p:txBody>
      </p:sp>
      <p:sp>
        <p:nvSpPr>
          <p:cNvPr id="280" name="Google Shape;280;p22"/>
          <p:cNvSpPr/>
          <p:nvPr/>
        </p:nvSpPr>
        <p:spPr>
          <a:xfrm>
            <a:off x="861667" y="5274616"/>
            <a:ext cx="7420665" cy="9233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Pins</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You will notice that the micro:bit contains small holes on the edge. These are called pins and these pins can be split into three categories: </a:t>
            </a:r>
            <a:r>
              <a:rPr b="1" lang="en-GB" sz="1400">
                <a:solidFill>
                  <a:schemeClr val="dk1"/>
                </a:solidFill>
                <a:latin typeface="Roboto"/>
                <a:ea typeface="Roboto"/>
                <a:cs typeface="Roboto"/>
                <a:sym typeface="Roboto"/>
              </a:rPr>
              <a:t>GPIO; 3V power; and GND</a:t>
            </a:r>
            <a:r>
              <a:rPr lang="en-GB" sz="1400">
                <a:solidFill>
                  <a:schemeClr val="dk1"/>
                </a:solidFill>
                <a:latin typeface="Roboto"/>
                <a:ea typeface="Roboto"/>
                <a:cs typeface="Roboto"/>
                <a:sym typeface="Roboto"/>
              </a:rPr>
              <a:t>.</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pins can be used to create circuits and physically connect the micro:bit to external things.</a:t>
            </a:r>
            <a:endParaRPr/>
          </a:p>
        </p:txBody>
      </p:sp>
      <p:sp>
        <p:nvSpPr>
          <p:cNvPr id="281" name="Google Shape;281;p22"/>
          <p:cNvSpPr/>
          <p:nvPr/>
        </p:nvSpPr>
        <p:spPr>
          <a:xfrm>
            <a:off x="6838951" y="2720022"/>
            <a:ext cx="1728787" cy="15696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Touch Sensor</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gold logo also works as a touch sensor. It can be used as an extra button in your programs.</a:t>
            </a:r>
            <a:endParaRPr/>
          </a:p>
        </p:txBody>
      </p:sp>
      <p:sp>
        <p:nvSpPr>
          <p:cNvPr id="282" name="Google Shape;282;p22"/>
          <p:cNvSpPr/>
          <p:nvPr/>
        </p:nvSpPr>
        <p:spPr>
          <a:xfrm>
            <a:off x="5976259" y="1170302"/>
            <a:ext cx="2412090" cy="8617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D0365"/>
              </a:buClr>
              <a:buSzPts val="1400"/>
              <a:buFont typeface="Roboto"/>
              <a:buNone/>
            </a:pPr>
            <a:r>
              <a:rPr b="1" lang="en-GB" sz="1400">
                <a:solidFill>
                  <a:srgbClr val="CD0365"/>
                </a:solidFill>
                <a:latin typeface="Roboto"/>
                <a:ea typeface="Roboto"/>
                <a:cs typeface="Roboto"/>
                <a:sym typeface="Roboto"/>
              </a:rPr>
              <a:t>3V Pin</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a:t>
            </a:r>
            <a:r>
              <a:rPr b="1" lang="en-GB" sz="1400">
                <a:solidFill>
                  <a:schemeClr val="dk1"/>
                </a:solidFill>
                <a:latin typeface="Roboto"/>
                <a:ea typeface="Roboto"/>
                <a:cs typeface="Roboto"/>
                <a:sym typeface="Roboto"/>
              </a:rPr>
              <a:t>3V</a:t>
            </a:r>
            <a:r>
              <a:rPr lang="en-GB" sz="1400">
                <a:solidFill>
                  <a:schemeClr val="dk1"/>
                </a:solidFill>
                <a:latin typeface="Roboto"/>
                <a:ea typeface="Roboto"/>
                <a:cs typeface="Roboto"/>
                <a:sym typeface="Roboto"/>
              </a:rPr>
              <a:t> pin can be used to power accessories connected to the micro:bit.</a:t>
            </a:r>
            <a:endParaRPr/>
          </a:p>
        </p:txBody>
      </p:sp>
      <p:sp>
        <p:nvSpPr>
          <p:cNvPr id="283" name="Google Shape;283;p22"/>
          <p:cNvSpPr/>
          <p:nvPr/>
        </p:nvSpPr>
        <p:spPr>
          <a:xfrm>
            <a:off x="6761130" y="2351782"/>
            <a:ext cx="1813080" cy="21544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D0365"/>
              </a:buClr>
              <a:buSzPts val="1400"/>
              <a:buFont typeface="Roboto"/>
              <a:buNone/>
            </a:pPr>
            <a:r>
              <a:rPr b="1" lang="en-GB" sz="1400">
                <a:solidFill>
                  <a:srgbClr val="CD0365"/>
                </a:solidFill>
                <a:latin typeface="Roboto"/>
                <a:ea typeface="Roboto"/>
                <a:cs typeface="Roboto"/>
                <a:sym typeface="Roboto"/>
              </a:rPr>
              <a:t>GND Pin</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a:t>
            </a:r>
            <a:r>
              <a:rPr b="1" lang="en-GB" sz="1400">
                <a:solidFill>
                  <a:schemeClr val="dk1"/>
                </a:solidFill>
                <a:latin typeface="Roboto"/>
                <a:ea typeface="Roboto"/>
                <a:cs typeface="Roboto"/>
                <a:sym typeface="Roboto"/>
              </a:rPr>
              <a:t>GND</a:t>
            </a:r>
            <a:r>
              <a:rPr lang="en-GB" sz="1400">
                <a:solidFill>
                  <a:schemeClr val="dk1"/>
                </a:solidFill>
                <a:latin typeface="Roboto"/>
                <a:ea typeface="Roboto"/>
                <a:cs typeface="Roboto"/>
                <a:sym typeface="Roboto"/>
              </a:rPr>
              <a:t> pin is the ground or Earth pin. It can be used to complete a simple circuit when you connect headphones, LEDs or external switches to the micro:bit.</a:t>
            </a:r>
            <a:endParaRPr/>
          </a:p>
        </p:txBody>
      </p:sp>
      <p:sp>
        <p:nvSpPr>
          <p:cNvPr id="284" name="Google Shape;284;p22"/>
          <p:cNvSpPr/>
          <p:nvPr/>
        </p:nvSpPr>
        <p:spPr>
          <a:xfrm>
            <a:off x="654488" y="5357927"/>
            <a:ext cx="7733861" cy="8617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D0365"/>
              </a:buClr>
              <a:buSzPts val="1400"/>
              <a:buFont typeface="Roboto"/>
              <a:buNone/>
            </a:pPr>
            <a:r>
              <a:rPr b="1" lang="en-GB" sz="1400">
                <a:solidFill>
                  <a:srgbClr val="CD0365"/>
                </a:solidFill>
                <a:latin typeface="Roboto"/>
                <a:ea typeface="Roboto"/>
                <a:cs typeface="Roboto"/>
                <a:sym typeface="Roboto"/>
              </a:rPr>
              <a:t>General Purpose Input and Output Pins </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The </a:t>
            </a:r>
            <a:r>
              <a:rPr b="1" lang="en-GB" sz="1400">
                <a:solidFill>
                  <a:schemeClr val="dk1"/>
                </a:solidFill>
                <a:latin typeface="Roboto"/>
                <a:ea typeface="Roboto"/>
                <a:cs typeface="Roboto"/>
                <a:sym typeface="Roboto"/>
              </a:rPr>
              <a:t>GPIO</a:t>
            </a:r>
            <a:r>
              <a:rPr lang="en-GB" sz="1400">
                <a:solidFill>
                  <a:schemeClr val="dk1"/>
                </a:solidFill>
                <a:latin typeface="Roboto"/>
                <a:ea typeface="Roboto"/>
                <a:cs typeface="Roboto"/>
                <a:sym typeface="Roboto"/>
              </a:rPr>
              <a:t> pins are the three pins at the edge of the micro:bit labelled 0, 1 and 2. These pins can be used with crocodile clips or strips of foil to connect devices such as headphones, buzzers or switches made from cardboard and foil.</a:t>
            </a:r>
            <a:endParaRPr/>
          </a:p>
        </p:txBody>
      </p:sp>
      <p:sp>
        <p:nvSpPr>
          <p:cNvPr id="285" name="Google Shape;285;p22"/>
          <p:cNvSpPr txBox="1"/>
          <p:nvPr/>
        </p:nvSpPr>
        <p:spPr>
          <a:xfrm>
            <a:off x="755647" y="738107"/>
            <a:ext cx="36391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Parts of a BBC Micro:bit</a:t>
            </a:r>
            <a:endParaRPr b="1" sz="2400">
              <a:solidFill>
                <a:srgbClr val="CD0365"/>
              </a:solidFill>
              <a:latin typeface="Roboto"/>
              <a:ea typeface="Roboto"/>
              <a:cs typeface="Roboto"/>
              <a:sym typeface="Roboto"/>
            </a:endParaRPr>
          </a:p>
        </p:txBody>
      </p:sp>
      <p:pic>
        <p:nvPicPr>
          <p:cNvPr id="286" name="Google Shape;286;p22"/>
          <p:cNvPicPr preferRelativeResize="0"/>
          <p:nvPr/>
        </p:nvPicPr>
        <p:blipFill rotWithShape="1">
          <a:blip r:embed="rId3">
            <a:alphaModFix/>
          </a:blip>
          <a:srcRect b="0" l="0" r="0" t="0"/>
          <a:stretch/>
        </p:blipFill>
        <p:spPr>
          <a:xfrm>
            <a:off x="2752406" y="2290873"/>
            <a:ext cx="3639187" cy="2965938"/>
          </a:xfrm>
          <a:prstGeom prst="rect">
            <a:avLst/>
          </a:prstGeom>
          <a:noFill/>
          <a:ln>
            <a:noFill/>
          </a:ln>
        </p:spPr>
      </p:pic>
      <p:cxnSp>
        <p:nvCxnSpPr>
          <p:cNvPr id="287" name="Google Shape;287;p22"/>
          <p:cNvCxnSpPr/>
          <p:nvPr/>
        </p:nvCxnSpPr>
        <p:spPr>
          <a:xfrm rot="10800000">
            <a:off x="5181600" y="1640205"/>
            <a:ext cx="1330960" cy="0"/>
          </a:xfrm>
          <a:prstGeom prst="straightConnector1">
            <a:avLst/>
          </a:prstGeom>
          <a:noFill/>
          <a:ln cap="flat" cmpd="sng" w="38100">
            <a:solidFill>
              <a:srgbClr val="CD0365"/>
            </a:solidFill>
            <a:prstDash val="solid"/>
            <a:miter lim="8000"/>
            <a:headEnd len="sm" w="sm" type="none"/>
            <a:tailEnd len="sm" w="sm" type="none"/>
          </a:ln>
        </p:spPr>
      </p:cxnSp>
      <p:cxnSp>
        <p:nvCxnSpPr>
          <p:cNvPr id="288" name="Google Shape;288;p22"/>
          <p:cNvCxnSpPr/>
          <p:nvPr/>
        </p:nvCxnSpPr>
        <p:spPr>
          <a:xfrm rot="10800000">
            <a:off x="5200650" y="1640205"/>
            <a:ext cx="0" cy="1165860"/>
          </a:xfrm>
          <a:prstGeom prst="straightConnector1">
            <a:avLst/>
          </a:prstGeom>
          <a:noFill/>
          <a:ln cap="flat" cmpd="sng" w="38100">
            <a:solidFill>
              <a:srgbClr val="CD0365"/>
            </a:solidFill>
            <a:prstDash val="solid"/>
            <a:miter lim="8000"/>
            <a:headEnd len="sm" w="sm" type="none"/>
            <a:tailEnd len="sm" w="sm" type="none"/>
          </a:ln>
        </p:spPr>
      </p:cxnSp>
      <p:sp>
        <p:nvSpPr>
          <p:cNvPr id="289" name="Google Shape;289;p22"/>
          <p:cNvSpPr/>
          <p:nvPr/>
        </p:nvSpPr>
        <p:spPr>
          <a:xfrm>
            <a:off x="4997215" y="2811780"/>
            <a:ext cx="406317" cy="406317"/>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290" name="Google Shape;290;p22"/>
          <p:cNvSpPr/>
          <p:nvPr/>
        </p:nvSpPr>
        <p:spPr>
          <a:xfrm>
            <a:off x="861667" y="5559382"/>
            <a:ext cx="7526683" cy="43088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400">
                <a:solidFill>
                  <a:schemeClr val="dk1"/>
                </a:solidFill>
                <a:latin typeface="Roboto"/>
                <a:ea typeface="Roboto"/>
                <a:cs typeface="Roboto"/>
                <a:sym typeface="Roboto"/>
              </a:rPr>
              <a:t>The </a:t>
            </a:r>
            <a:r>
              <a:rPr b="1" lang="en-GB" sz="1400">
                <a:solidFill>
                  <a:schemeClr val="dk1"/>
                </a:solidFill>
                <a:latin typeface="Roboto"/>
                <a:ea typeface="Roboto"/>
                <a:cs typeface="Roboto"/>
                <a:sym typeface="Roboto"/>
              </a:rPr>
              <a:t>3V </a:t>
            </a:r>
            <a:r>
              <a:rPr lang="en-GB" sz="1400">
                <a:solidFill>
                  <a:schemeClr val="dk1"/>
                </a:solidFill>
                <a:latin typeface="Roboto"/>
                <a:ea typeface="Roboto"/>
                <a:cs typeface="Roboto"/>
                <a:sym typeface="Roboto"/>
              </a:rPr>
              <a:t>and </a:t>
            </a:r>
            <a:r>
              <a:rPr b="1" lang="en-GB" sz="1400">
                <a:solidFill>
                  <a:schemeClr val="dk1"/>
                </a:solidFill>
                <a:latin typeface="Roboto"/>
                <a:ea typeface="Roboto"/>
                <a:cs typeface="Roboto"/>
                <a:sym typeface="Roboto"/>
              </a:rPr>
              <a:t>GND</a:t>
            </a:r>
            <a:r>
              <a:rPr lang="en-GB" sz="1400">
                <a:solidFill>
                  <a:schemeClr val="dk1"/>
                </a:solidFill>
                <a:latin typeface="Roboto"/>
                <a:ea typeface="Roboto"/>
                <a:cs typeface="Roboto"/>
                <a:sym typeface="Roboto"/>
              </a:rPr>
              <a:t> pins are connected to the power supply of the micro:bit. </a:t>
            </a:r>
            <a:br>
              <a:rPr lang="en-GB" sz="1400">
                <a:solidFill>
                  <a:schemeClr val="dk1"/>
                </a:solidFill>
                <a:latin typeface="Roboto"/>
                <a:ea typeface="Roboto"/>
                <a:cs typeface="Roboto"/>
                <a:sym typeface="Roboto"/>
              </a:rPr>
            </a:br>
            <a:r>
              <a:rPr lang="en-GB" sz="1400">
                <a:solidFill>
                  <a:schemeClr val="dk1"/>
                </a:solidFill>
                <a:latin typeface="Roboto"/>
                <a:ea typeface="Roboto"/>
                <a:cs typeface="Roboto"/>
                <a:sym typeface="Roboto"/>
              </a:rPr>
              <a:t>These pins should not be connected together.</a:t>
            </a:r>
            <a:endParaRPr/>
          </a:p>
        </p:txBody>
      </p:sp>
      <p:cxnSp>
        <p:nvCxnSpPr>
          <p:cNvPr id="291" name="Google Shape;291;p22"/>
          <p:cNvCxnSpPr/>
          <p:nvPr/>
        </p:nvCxnSpPr>
        <p:spPr>
          <a:xfrm rot="10800000">
            <a:off x="880110" y="4804049"/>
            <a:ext cx="0" cy="352600"/>
          </a:xfrm>
          <a:prstGeom prst="straightConnector1">
            <a:avLst/>
          </a:prstGeom>
          <a:noFill/>
          <a:ln cap="flat" cmpd="sng" w="38100">
            <a:solidFill>
              <a:srgbClr val="CD0365"/>
            </a:solidFill>
            <a:prstDash val="solid"/>
            <a:miter lim="8000"/>
            <a:headEnd len="sm" w="sm" type="none"/>
            <a:tailEnd len="sm" w="sm" type="none"/>
          </a:ln>
        </p:spPr>
      </p:cxnSp>
      <p:sp>
        <p:nvSpPr>
          <p:cNvPr id="292" name="Google Shape;292;p22"/>
          <p:cNvSpPr/>
          <p:nvPr/>
        </p:nvSpPr>
        <p:spPr>
          <a:xfrm>
            <a:off x="2810119" y="4561220"/>
            <a:ext cx="453416" cy="453416"/>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293" name="Google Shape;293;p22"/>
          <p:cNvSpPr/>
          <p:nvPr/>
        </p:nvSpPr>
        <p:spPr>
          <a:xfrm>
            <a:off x="3530209" y="4561220"/>
            <a:ext cx="453416" cy="453416"/>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294" name="Google Shape;294;p22"/>
          <p:cNvSpPr/>
          <p:nvPr/>
        </p:nvSpPr>
        <p:spPr>
          <a:xfrm>
            <a:off x="4336024" y="4561220"/>
            <a:ext cx="453416" cy="453416"/>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295" name="Google Shape;295;p22"/>
          <p:cNvSpPr/>
          <p:nvPr/>
        </p:nvSpPr>
        <p:spPr>
          <a:xfrm>
            <a:off x="5136124" y="4561220"/>
            <a:ext cx="453416" cy="453416"/>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296" name="Google Shape;296;p22"/>
          <p:cNvSpPr/>
          <p:nvPr/>
        </p:nvSpPr>
        <p:spPr>
          <a:xfrm>
            <a:off x="5861929" y="4561220"/>
            <a:ext cx="453416" cy="453416"/>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cxnSp>
        <p:nvCxnSpPr>
          <p:cNvPr id="297" name="Google Shape;297;p22"/>
          <p:cNvCxnSpPr/>
          <p:nvPr/>
        </p:nvCxnSpPr>
        <p:spPr>
          <a:xfrm>
            <a:off x="3256252" y="4812030"/>
            <a:ext cx="273957" cy="0"/>
          </a:xfrm>
          <a:prstGeom prst="straightConnector1">
            <a:avLst/>
          </a:prstGeom>
          <a:noFill/>
          <a:ln cap="flat" cmpd="sng" w="38100">
            <a:solidFill>
              <a:srgbClr val="CD0365"/>
            </a:solidFill>
            <a:prstDash val="solid"/>
            <a:miter lim="8000"/>
            <a:headEnd len="sm" w="sm" type="none"/>
            <a:tailEnd len="sm" w="sm" type="none"/>
          </a:ln>
        </p:spPr>
      </p:cxnSp>
      <p:cxnSp>
        <p:nvCxnSpPr>
          <p:cNvPr id="298" name="Google Shape;298;p22"/>
          <p:cNvCxnSpPr/>
          <p:nvPr/>
        </p:nvCxnSpPr>
        <p:spPr>
          <a:xfrm>
            <a:off x="3976342" y="4812030"/>
            <a:ext cx="359682" cy="0"/>
          </a:xfrm>
          <a:prstGeom prst="straightConnector1">
            <a:avLst/>
          </a:prstGeom>
          <a:noFill/>
          <a:ln cap="flat" cmpd="sng" w="38100">
            <a:solidFill>
              <a:srgbClr val="CD0365"/>
            </a:solidFill>
            <a:prstDash val="solid"/>
            <a:miter lim="8000"/>
            <a:headEnd len="sm" w="sm" type="none"/>
            <a:tailEnd len="sm" w="sm" type="none"/>
          </a:ln>
        </p:spPr>
      </p:cxnSp>
      <p:cxnSp>
        <p:nvCxnSpPr>
          <p:cNvPr id="299" name="Google Shape;299;p22"/>
          <p:cNvCxnSpPr/>
          <p:nvPr/>
        </p:nvCxnSpPr>
        <p:spPr>
          <a:xfrm>
            <a:off x="4779617" y="4812030"/>
            <a:ext cx="359682" cy="0"/>
          </a:xfrm>
          <a:prstGeom prst="straightConnector1">
            <a:avLst/>
          </a:prstGeom>
          <a:noFill/>
          <a:ln cap="flat" cmpd="sng" w="38100">
            <a:solidFill>
              <a:srgbClr val="CD0365"/>
            </a:solidFill>
            <a:prstDash val="solid"/>
            <a:miter lim="8000"/>
            <a:headEnd len="sm" w="sm" type="none"/>
            <a:tailEnd len="sm" w="sm" type="none"/>
          </a:ln>
        </p:spPr>
      </p:cxnSp>
      <p:cxnSp>
        <p:nvCxnSpPr>
          <p:cNvPr id="300" name="Google Shape;300;p22"/>
          <p:cNvCxnSpPr/>
          <p:nvPr/>
        </p:nvCxnSpPr>
        <p:spPr>
          <a:xfrm>
            <a:off x="5593052" y="4812030"/>
            <a:ext cx="273957" cy="0"/>
          </a:xfrm>
          <a:prstGeom prst="straightConnector1">
            <a:avLst/>
          </a:prstGeom>
          <a:noFill/>
          <a:ln cap="flat" cmpd="sng" w="38100">
            <a:solidFill>
              <a:srgbClr val="CD0365"/>
            </a:solidFill>
            <a:prstDash val="solid"/>
            <a:miter lim="8000"/>
            <a:headEnd len="sm" w="sm" type="none"/>
            <a:tailEnd len="sm" w="sm" type="none"/>
          </a:ln>
        </p:spPr>
      </p:cxnSp>
      <p:cxnSp>
        <p:nvCxnSpPr>
          <p:cNvPr id="301" name="Google Shape;301;p22"/>
          <p:cNvCxnSpPr/>
          <p:nvPr/>
        </p:nvCxnSpPr>
        <p:spPr>
          <a:xfrm>
            <a:off x="861667" y="4804049"/>
            <a:ext cx="1948452" cy="0"/>
          </a:xfrm>
          <a:prstGeom prst="straightConnector1">
            <a:avLst/>
          </a:prstGeom>
          <a:noFill/>
          <a:ln cap="flat" cmpd="sng" w="38100">
            <a:solidFill>
              <a:srgbClr val="CD0365"/>
            </a:solidFill>
            <a:prstDash val="solid"/>
            <a:miter lim="8000"/>
            <a:headEnd len="sm" w="sm" type="none"/>
            <a:tailEnd len="sm" w="sm" type="none"/>
          </a:ln>
        </p:spPr>
      </p:cxnSp>
      <p:sp>
        <p:nvSpPr>
          <p:cNvPr id="302" name="Google Shape;302;p22"/>
          <p:cNvSpPr/>
          <p:nvPr/>
        </p:nvSpPr>
        <p:spPr>
          <a:xfrm rot="2700000">
            <a:off x="5443368" y="4517933"/>
            <a:ext cx="588194" cy="588194"/>
          </a:xfrm>
          <a:prstGeom prst="plus">
            <a:avLst>
              <a:gd fmla="val 43856" name="adj"/>
            </a:avLst>
          </a:prstGeom>
          <a:solidFill>
            <a:srgbClr val="FF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03" name="Google Shape;303;p22"/>
          <p:cNvCxnSpPr/>
          <p:nvPr/>
        </p:nvCxnSpPr>
        <p:spPr>
          <a:xfrm>
            <a:off x="1660676" y="1851660"/>
            <a:ext cx="1476333" cy="0"/>
          </a:xfrm>
          <a:prstGeom prst="straightConnector1">
            <a:avLst/>
          </a:prstGeom>
          <a:noFill/>
          <a:ln cap="flat" cmpd="sng" w="38100">
            <a:solidFill>
              <a:srgbClr val="CD0365"/>
            </a:solidFill>
            <a:prstDash val="solid"/>
            <a:miter lim="8000"/>
            <a:headEnd len="sm" w="sm" type="none"/>
            <a:tailEnd len="sm" w="sm" type="none"/>
          </a:ln>
        </p:spPr>
      </p:cxnSp>
      <p:cxnSp>
        <p:nvCxnSpPr>
          <p:cNvPr id="304" name="Google Shape;304;p22"/>
          <p:cNvCxnSpPr/>
          <p:nvPr/>
        </p:nvCxnSpPr>
        <p:spPr>
          <a:xfrm>
            <a:off x="3137009" y="1834001"/>
            <a:ext cx="0" cy="1634490"/>
          </a:xfrm>
          <a:prstGeom prst="straightConnector1">
            <a:avLst/>
          </a:prstGeom>
          <a:noFill/>
          <a:ln cap="flat" cmpd="sng" w="38100">
            <a:solidFill>
              <a:srgbClr val="CD0365"/>
            </a:solidFill>
            <a:prstDash val="solid"/>
            <a:miter lim="8000"/>
            <a:headEnd len="sm" w="sm" type="none"/>
            <a:tailEnd len="sm" w="sm" type="none"/>
          </a:ln>
        </p:spPr>
      </p:cxnSp>
      <p:sp>
        <p:nvSpPr>
          <p:cNvPr id="305" name="Google Shape;305;p22"/>
          <p:cNvSpPr/>
          <p:nvPr/>
        </p:nvSpPr>
        <p:spPr>
          <a:xfrm>
            <a:off x="2776543" y="3460813"/>
            <a:ext cx="732363" cy="732363"/>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cxnSp>
        <p:nvCxnSpPr>
          <p:cNvPr id="306" name="Google Shape;306;p22"/>
          <p:cNvCxnSpPr/>
          <p:nvPr/>
        </p:nvCxnSpPr>
        <p:spPr>
          <a:xfrm>
            <a:off x="3518779" y="3826994"/>
            <a:ext cx="2126694" cy="1"/>
          </a:xfrm>
          <a:prstGeom prst="straightConnector1">
            <a:avLst/>
          </a:prstGeom>
          <a:noFill/>
          <a:ln cap="flat" cmpd="sng" w="38100">
            <a:solidFill>
              <a:srgbClr val="CD0365"/>
            </a:solidFill>
            <a:prstDash val="solid"/>
            <a:miter lim="8000"/>
            <a:headEnd len="sm" w="sm" type="none"/>
            <a:tailEnd len="sm" w="sm" type="none"/>
          </a:ln>
        </p:spPr>
      </p:cxnSp>
      <p:sp>
        <p:nvSpPr>
          <p:cNvPr id="307" name="Google Shape;307;p22"/>
          <p:cNvSpPr/>
          <p:nvPr/>
        </p:nvSpPr>
        <p:spPr>
          <a:xfrm>
            <a:off x="5656903" y="3460813"/>
            <a:ext cx="732363" cy="732363"/>
          </a:xfrm>
          <a:prstGeom prst="ellipse">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308" name="Google Shape;308;p22"/>
          <p:cNvSpPr/>
          <p:nvPr/>
        </p:nvSpPr>
        <p:spPr>
          <a:xfrm>
            <a:off x="2931795" y="4680071"/>
            <a:ext cx="217684" cy="2176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09" name="Google Shape;309;p22"/>
          <p:cNvSpPr/>
          <p:nvPr/>
        </p:nvSpPr>
        <p:spPr>
          <a:xfrm>
            <a:off x="3651885" y="4680071"/>
            <a:ext cx="217684" cy="2176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10" name="Google Shape;310;p22"/>
          <p:cNvSpPr/>
          <p:nvPr/>
        </p:nvSpPr>
        <p:spPr>
          <a:xfrm>
            <a:off x="4457700" y="4680071"/>
            <a:ext cx="217684" cy="2176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11" name="Google Shape;311;p22"/>
          <p:cNvCxnSpPr/>
          <p:nvPr/>
        </p:nvCxnSpPr>
        <p:spPr>
          <a:xfrm>
            <a:off x="3802694" y="5486400"/>
            <a:ext cx="769306" cy="0"/>
          </a:xfrm>
          <a:prstGeom prst="straightConnector1">
            <a:avLst/>
          </a:prstGeom>
          <a:noFill/>
          <a:ln cap="flat" cmpd="sng" w="38100">
            <a:solidFill>
              <a:srgbClr val="CD0365"/>
            </a:solidFill>
            <a:prstDash val="solid"/>
            <a:miter lim="8000"/>
            <a:headEnd len="sm" w="sm" type="none"/>
            <a:tailEnd len="sm" w="sm" type="none"/>
          </a:ln>
        </p:spPr>
      </p:cxnSp>
      <p:cxnSp>
        <p:nvCxnSpPr>
          <p:cNvPr id="312" name="Google Shape;312;p22"/>
          <p:cNvCxnSpPr/>
          <p:nvPr/>
        </p:nvCxnSpPr>
        <p:spPr>
          <a:xfrm>
            <a:off x="4572000" y="4823460"/>
            <a:ext cx="0" cy="680199"/>
          </a:xfrm>
          <a:prstGeom prst="straightConnector1">
            <a:avLst/>
          </a:prstGeom>
          <a:noFill/>
          <a:ln cap="flat" cmpd="sng" w="38100">
            <a:solidFill>
              <a:srgbClr val="CD0365"/>
            </a:solidFill>
            <a:prstDash val="solid"/>
            <a:miter lim="8000"/>
            <a:headEnd len="sm" w="sm" type="none"/>
            <a:tailEnd len="sm" w="sm" type="none"/>
          </a:ln>
        </p:spPr>
      </p:cxnSp>
      <p:cxnSp>
        <p:nvCxnSpPr>
          <p:cNvPr id="313" name="Google Shape;313;p22"/>
          <p:cNvCxnSpPr/>
          <p:nvPr/>
        </p:nvCxnSpPr>
        <p:spPr>
          <a:xfrm>
            <a:off x="3863854" y="4782941"/>
            <a:ext cx="662426" cy="0"/>
          </a:xfrm>
          <a:prstGeom prst="straightConnector1">
            <a:avLst/>
          </a:prstGeom>
          <a:noFill/>
          <a:ln cap="flat" cmpd="sng" w="38100">
            <a:solidFill>
              <a:srgbClr val="CD0365"/>
            </a:solidFill>
            <a:prstDash val="solid"/>
            <a:miter lim="8000"/>
            <a:headEnd len="sm" w="sm" type="none"/>
            <a:tailEnd len="sm" w="sm" type="none"/>
          </a:ln>
        </p:spPr>
      </p:cxnSp>
      <p:cxnSp>
        <p:nvCxnSpPr>
          <p:cNvPr id="314" name="Google Shape;314;p22"/>
          <p:cNvCxnSpPr/>
          <p:nvPr/>
        </p:nvCxnSpPr>
        <p:spPr>
          <a:xfrm>
            <a:off x="3115189" y="4788913"/>
            <a:ext cx="588131" cy="0"/>
          </a:xfrm>
          <a:prstGeom prst="straightConnector1">
            <a:avLst/>
          </a:prstGeom>
          <a:noFill/>
          <a:ln cap="flat" cmpd="sng" w="38100">
            <a:solidFill>
              <a:srgbClr val="CD0365"/>
            </a:solidFill>
            <a:prstDash val="solid"/>
            <a:miter lim="8000"/>
            <a:headEnd len="sm" w="sm" type="none"/>
            <a:tailEnd len="sm" w="sm" type="none"/>
          </a:ln>
        </p:spPr>
      </p:cxnSp>
      <p:cxnSp>
        <p:nvCxnSpPr>
          <p:cNvPr id="315" name="Google Shape;315;p22"/>
          <p:cNvCxnSpPr/>
          <p:nvPr/>
        </p:nvCxnSpPr>
        <p:spPr>
          <a:xfrm rot="10800000">
            <a:off x="5369241" y="1268269"/>
            <a:ext cx="551499" cy="0"/>
          </a:xfrm>
          <a:prstGeom prst="straightConnector1">
            <a:avLst/>
          </a:prstGeom>
          <a:noFill/>
          <a:ln cap="flat" cmpd="sng" w="38100">
            <a:solidFill>
              <a:srgbClr val="CD0365"/>
            </a:solidFill>
            <a:prstDash val="solid"/>
            <a:miter lim="8000"/>
            <a:headEnd len="sm" w="sm" type="none"/>
            <a:tailEnd len="sm" w="sm" type="none"/>
          </a:ln>
        </p:spPr>
      </p:cxnSp>
      <p:cxnSp>
        <p:nvCxnSpPr>
          <p:cNvPr id="316" name="Google Shape;316;p22"/>
          <p:cNvCxnSpPr/>
          <p:nvPr/>
        </p:nvCxnSpPr>
        <p:spPr>
          <a:xfrm>
            <a:off x="5377815" y="1251124"/>
            <a:ext cx="0" cy="3514672"/>
          </a:xfrm>
          <a:prstGeom prst="straightConnector1">
            <a:avLst/>
          </a:prstGeom>
          <a:noFill/>
          <a:ln cap="flat" cmpd="sng" w="38100">
            <a:solidFill>
              <a:srgbClr val="CD0365"/>
            </a:solidFill>
            <a:prstDash val="solid"/>
            <a:miter lim="8000"/>
            <a:headEnd len="sm" w="sm" type="none"/>
            <a:tailEnd len="sm" w="sm" type="none"/>
          </a:ln>
        </p:spPr>
      </p:cxnSp>
      <p:sp>
        <p:nvSpPr>
          <p:cNvPr id="317" name="Google Shape;317;p22"/>
          <p:cNvSpPr/>
          <p:nvPr/>
        </p:nvSpPr>
        <p:spPr>
          <a:xfrm>
            <a:off x="5268973" y="4680071"/>
            <a:ext cx="217684" cy="2176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18" name="Google Shape;318;p22"/>
          <p:cNvCxnSpPr/>
          <p:nvPr/>
        </p:nvCxnSpPr>
        <p:spPr>
          <a:xfrm rot="10800000">
            <a:off x="6532245" y="2466514"/>
            <a:ext cx="186690" cy="0"/>
          </a:xfrm>
          <a:prstGeom prst="straightConnector1">
            <a:avLst/>
          </a:prstGeom>
          <a:noFill/>
          <a:ln cap="flat" cmpd="sng" w="38100">
            <a:solidFill>
              <a:srgbClr val="CD0365"/>
            </a:solidFill>
            <a:prstDash val="solid"/>
            <a:miter lim="8000"/>
            <a:headEnd len="sm" w="sm" type="none"/>
            <a:tailEnd len="sm" w="sm" type="none"/>
          </a:ln>
        </p:spPr>
      </p:cxnSp>
      <p:cxnSp>
        <p:nvCxnSpPr>
          <p:cNvPr id="319" name="Google Shape;319;p22"/>
          <p:cNvCxnSpPr/>
          <p:nvPr/>
        </p:nvCxnSpPr>
        <p:spPr>
          <a:xfrm>
            <a:off x="6524625" y="2449369"/>
            <a:ext cx="0" cy="2374091"/>
          </a:xfrm>
          <a:prstGeom prst="straightConnector1">
            <a:avLst/>
          </a:prstGeom>
          <a:noFill/>
          <a:ln cap="flat" cmpd="sng" w="38100">
            <a:solidFill>
              <a:srgbClr val="CD0365"/>
            </a:solidFill>
            <a:prstDash val="solid"/>
            <a:miter lim="8000"/>
            <a:headEnd len="sm" w="sm" type="none"/>
            <a:tailEnd len="sm" w="sm" type="none"/>
          </a:ln>
        </p:spPr>
      </p:cxnSp>
      <p:cxnSp>
        <p:nvCxnSpPr>
          <p:cNvPr id="320" name="Google Shape;320;p22"/>
          <p:cNvCxnSpPr/>
          <p:nvPr/>
        </p:nvCxnSpPr>
        <p:spPr>
          <a:xfrm rot="10800000">
            <a:off x="6149340" y="4809287"/>
            <a:ext cx="388620" cy="0"/>
          </a:xfrm>
          <a:prstGeom prst="straightConnector1">
            <a:avLst/>
          </a:prstGeom>
          <a:noFill/>
          <a:ln cap="flat" cmpd="sng" w="38100">
            <a:solidFill>
              <a:srgbClr val="CD0365"/>
            </a:solidFill>
            <a:prstDash val="solid"/>
            <a:miter lim="8000"/>
            <a:headEnd len="sm" w="sm" type="none"/>
            <a:tailEnd len="sm" w="sm" type="none"/>
          </a:ln>
        </p:spPr>
      </p:cxnSp>
      <p:sp>
        <p:nvSpPr>
          <p:cNvPr id="321" name="Google Shape;321;p22"/>
          <p:cNvSpPr/>
          <p:nvPr/>
        </p:nvSpPr>
        <p:spPr>
          <a:xfrm>
            <a:off x="5983092" y="4686973"/>
            <a:ext cx="217684" cy="2176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22" name="Google Shape;322;p22"/>
          <p:cNvCxnSpPr/>
          <p:nvPr/>
        </p:nvCxnSpPr>
        <p:spPr>
          <a:xfrm rot="10800000">
            <a:off x="755650" y="1548765"/>
            <a:ext cx="353060" cy="0"/>
          </a:xfrm>
          <a:prstGeom prst="straightConnector1">
            <a:avLst/>
          </a:prstGeom>
          <a:noFill/>
          <a:ln cap="flat" cmpd="sng" w="38100">
            <a:solidFill>
              <a:srgbClr val="CD0365"/>
            </a:solidFill>
            <a:prstDash val="solid"/>
            <a:miter lim="8000"/>
            <a:headEnd len="sm" w="sm" type="none"/>
            <a:tailEnd len="sm" w="sm" type="none"/>
          </a:ln>
        </p:spPr>
      </p:cxnSp>
      <p:cxnSp>
        <p:nvCxnSpPr>
          <p:cNvPr id="323" name="Google Shape;323;p22"/>
          <p:cNvCxnSpPr/>
          <p:nvPr/>
        </p:nvCxnSpPr>
        <p:spPr>
          <a:xfrm flipH="1">
            <a:off x="755647" y="1531620"/>
            <a:ext cx="3" cy="2376805"/>
          </a:xfrm>
          <a:prstGeom prst="straightConnector1">
            <a:avLst/>
          </a:prstGeom>
          <a:noFill/>
          <a:ln cap="flat" cmpd="sng" w="38100">
            <a:solidFill>
              <a:srgbClr val="CD0365"/>
            </a:solidFill>
            <a:prstDash val="solid"/>
            <a:miter lim="8000"/>
            <a:headEnd len="sm" w="sm" type="none"/>
            <a:tailEnd len="sm" w="sm" type="none"/>
          </a:ln>
        </p:spPr>
      </p:cxnSp>
      <p:cxnSp>
        <p:nvCxnSpPr>
          <p:cNvPr id="324" name="Google Shape;324;p22"/>
          <p:cNvCxnSpPr/>
          <p:nvPr/>
        </p:nvCxnSpPr>
        <p:spPr>
          <a:xfrm rot="10800000">
            <a:off x="755650" y="3889375"/>
            <a:ext cx="2970271" cy="0"/>
          </a:xfrm>
          <a:prstGeom prst="straightConnector1">
            <a:avLst/>
          </a:prstGeom>
          <a:noFill/>
          <a:ln cap="flat" cmpd="sng" w="38100">
            <a:solidFill>
              <a:srgbClr val="CD0365"/>
            </a:solidFill>
            <a:prstDash val="solid"/>
            <a:miter lim="8000"/>
            <a:headEnd len="sm" w="sm" type="none"/>
            <a:tailEnd len="sm" w="sm" type="none"/>
          </a:ln>
        </p:spPr>
      </p:cxnSp>
      <p:sp>
        <p:nvSpPr>
          <p:cNvPr id="325" name="Google Shape;325;p22"/>
          <p:cNvSpPr/>
          <p:nvPr/>
        </p:nvSpPr>
        <p:spPr>
          <a:xfrm>
            <a:off x="3737351" y="3073558"/>
            <a:ext cx="1625283" cy="1625283"/>
          </a:xfrm>
          <a:prstGeom prst="roundRect">
            <a:avLst>
              <a:gd fmla="val 10689"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cxnSp>
        <p:nvCxnSpPr>
          <p:cNvPr id="326" name="Google Shape;326;p22"/>
          <p:cNvCxnSpPr/>
          <p:nvPr/>
        </p:nvCxnSpPr>
        <p:spPr>
          <a:xfrm>
            <a:off x="5006340" y="2886075"/>
            <a:ext cx="1771650" cy="0"/>
          </a:xfrm>
          <a:prstGeom prst="straightConnector1">
            <a:avLst/>
          </a:prstGeom>
          <a:noFill/>
          <a:ln cap="flat" cmpd="sng" w="38100">
            <a:solidFill>
              <a:srgbClr val="CD0365"/>
            </a:solidFill>
            <a:prstDash val="solid"/>
            <a:miter lim="8000"/>
            <a:headEnd len="sm" w="sm" type="none"/>
            <a:tailEnd len="sm" w="sm" type="none"/>
          </a:ln>
        </p:spPr>
      </p:cxnSp>
      <p:sp>
        <p:nvSpPr>
          <p:cNvPr id="327" name="Google Shape;327;p22"/>
          <p:cNvSpPr/>
          <p:nvPr/>
        </p:nvSpPr>
        <p:spPr>
          <a:xfrm>
            <a:off x="4149090" y="2616359"/>
            <a:ext cx="857250" cy="549752"/>
          </a:xfrm>
          <a:prstGeom prst="roundRect">
            <a:avLst>
              <a:gd fmla="val 10689"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286"/>
                                        </p:tgtEl>
                                        <p:attrNameLst>
                                          <p:attrName>style.visibility</p:attrName>
                                        </p:attrNameLst>
                                      </p:cBhvr>
                                      <p:to>
                                        <p:strVal val="visible"/>
                                      </p:to>
                                    </p:set>
                                    <p:anim calcmode="lin" valueType="num">
                                      <p:cBhvr additive="base">
                                        <p:cTn dur="500"/>
                                        <p:tgtEl>
                                          <p:spTgt spid="286"/>
                                        </p:tgtEl>
                                        <p:attrNameLst>
                                          <p:attrName>ppt_w</p:attrName>
                                        </p:attrNameLst>
                                      </p:cBhvr>
                                      <p:tavLst>
                                        <p:tav fmla="" tm="0">
                                          <p:val>
                                            <p:strVal val="0"/>
                                          </p:val>
                                        </p:tav>
                                        <p:tav fmla="" tm="100000">
                                          <p:val>
                                            <p:strVal val="#ppt_w"/>
                                          </p:val>
                                        </p:tav>
                                      </p:tavLst>
                                    </p:anim>
                                    <p:anim calcmode="lin" valueType="num">
                                      <p:cBhvr additive="base">
                                        <p:cTn dur="500"/>
                                        <p:tgtEl>
                                          <p:spTgt spid="286"/>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animEffect filter="fade" transition="in">
                                      <p:cBhvr>
                                        <p:cTn dur="500"/>
                                        <p:tgtEl>
                                          <p:spTgt spid="277">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animEffect filter="fade" transition="in">
                                      <p:cBhvr>
                                        <p:cTn dur="500"/>
                                        <p:tgtEl>
                                          <p:spTgt spid="27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7"/>
                                        </p:tgtEl>
                                        <p:attrNameLst>
                                          <p:attrName>style.visibility</p:attrName>
                                        </p:attrNameLst>
                                      </p:cBhvr>
                                      <p:to>
                                        <p:strVal val="visible"/>
                                      </p:to>
                                    </p:set>
                                    <p:animEffect filter="fade" transition="in">
                                      <p:cBhvr>
                                        <p:cTn dur="500"/>
                                        <p:tgtEl>
                                          <p:spTgt spid="287"/>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88"/>
                                        </p:tgtEl>
                                        <p:attrNameLst>
                                          <p:attrName>style.visibility</p:attrName>
                                        </p:attrNameLst>
                                      </p:cBhvr>
                                      <p:to>
                                        <p:strVal val="visible"/>
                                      </p:to>
                                    </p:set>
                                    <p:animEffect filter="fade" transition="in">
                                      <p:cBhvr>
                                        <p:cTn dur="500"/>
                                        <p:tgtEl>
                                          <p:spTgt spid="288"/>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89"/>
                                        </p:tgtEl>
                                        <p:attrNameLst>
                                          <p:attrName>style.visibility</p:attrName>
                                        </p:attrNameLst>
                                      </p:cBhvr>
                                      <p:to>
                                        <p:strVal val="visible"/>
                                      </p:to>
                                    </p:set>
                                    <p:animEffect filter="fade" transition="in">
                                      <p:cBhvr>
                                        <p:cTn dur="500"/>
                                        <p:tgtEl>
                                          <p:spTgt spid="2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89"/>
                                        </p:tgtEl>
                                      </p:cBhvr>
                                    </p:animEffect>
                                    <p:set>
                                      <p:cBhvr>
                                        <p:cTn dur="1" fill="hold">
                                          <p:stCondLst>
                                            <p:cond delay="500"/>
                                          </p:stCondLst>
                                        </p:cTn>
                                        <p:tgtEl>
                                          <p:spTgt spid="289"/>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288"/>
                                        </p:tgtEl>
                                      </p:cBhvr>
                                    </p:animEffect>
                                    <p:set>
                                      <p:cBhvr>
                                        <p:cTn dur="1" fill="hold">
                                          <p:stCondLst>
                                            <p:cond delay="500"/>
                                          </p:stCondLst>
                                        </p:cTn>
                                        <p:tgtEl>
                                          <p:spTgt spid="288"/>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287"/>
                                        </p:tgtEl>
                                      </p:cBhvr>
                                    </p:animEffect>
                                    <p:set>
                                      <p:cBhvr>
                                        <p:cTn dur="1" fill="hold">
                                          <p:stCondLst>
                                            <p:cond delay="500"/>
                                          </p:stCondLst>
                                        </p:cTn>
                                        <p:tgtEl>
                                          <p:spTgt spid="287"/>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277">
                                            <p:txEl>
                                              <p:pRg end="0" st="0"/>
                                            </p:txEl>
                                          </p:spTgt>
                                        </p:tgtEl>
                                      </p:cBhvr>
                                    </p:animEffect>
                                    <p:set>
                                      <p:cBhvr>
                                        <p:cTn dur="1" fill="hold">
                                          <p:stCondLst>
                                            <p:cond delay="500"/>
                                          </p:stCondLst>
                                        </p:cTn>
                                        <p:tgtEl>
                                          <p:spTgt spid="277">
                                            <p:txEl>
                                              <p:pRg end="0" st="0"/>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277">
                                            <p:txEl>
                                              <p:pRg end="1" st="1"/>
                                            </p:txEl>
                                          </p:spTgt>
                                        </p:tgtEl>
                                      </p:cBhvr>
                                    </p:animEffect>
                                    <p:set>
                                      <p:cBhvr>
                                        <p:cTn dur="1" fill="hold">
                                          <p:stCondLst>
                                            <p:cond delay="500"/>
                                          </p:stCondLst>
                                        </p:cTn>
                                        <p:tgtEl>
                                          <p:spTgt spid="277">
                                            <p:txEl>
                                              <p:pRg end="1" st="1"/>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280">
                                            <p:txEl>
                                              <p:pRg end="0" st="0"/>
                                            </p:txEl>
                                          </p:spTgt>
                                        </p:tgtEl>
                                        <p:attrNameLst>
                                          <p:attrName>style.visibility</p:attrName>
                                        </p:attrNameLst>
                                      </p:cBhvr>
                                      <p:to>
                                        <p:strVal val="visible"/>
                                      </p:to>
                                    </p:set>
                                    <p:animEffect filter="fade" transition="in">
                                      <p:cBhvr>
                                        <p:cTn dur="500"/>
                                        <p:tgtEl>
                                          <p:spTgt spid="280">
                                            <p:txEl>
                                              <p:pRg end="0" st="0"/>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280">
                                            <p:txEl>
                                              <p:pRg end="1" st="1"/>
                                            </p:txEl>
                                          </p:spTgt>
                                        </p:tgtEl>
                                        <p:attrNameLst>
                                          <p:attrName>style.visibility</p:attrName>
                                        </p:attrNameLst>
                                      </p:cBhvr>
                                      <p:to>
                                        <p:strVal val="visible"/>
                                      </p:to>
                                    </p:set>
                                    <p:animEffect filter="fade" transition="in">
                                      <p:cBhvr>
                                        <p:cTn dur="500"/>
                                        <p:tgtEl>
                                          <p:spTgt spid="280">
                                            <p:txEl>
                                              <p:pRg end="1" st="1"/>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280">
                                            <p:txEl>
                                              <p:pRg end="2" st="2"/>
                                            </p:txEl>
                                          </p:spTgt>
                                        </p:tgtEl>
                                        <p:attrNameLst>
                                          <p:attrName>style.visibility</p:attrName>
                                        </p:attrNameLst>
                                      </p:cBhvr>
                                      <p:to>
                                        <p:strVal val="visible"/>
                                      </p:to>
                                    </p:set>
                                    <p:animEffect filter="fade" transition="in">
                                      <p:cBhvr>
                                        <p:cTn dur="500"/>
                                        <p:tgtEl>
                                          <p:spTgt spid="28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1"/>
                                        </p:tgtEl>
                                        <p:attrNameLst>
                                          <p:attrName>style.visibility</p:attrName>
                                        </p:attrNameLst>
                                      </p:cBhvr>
                                      <p:to>
                                        <p:strVal val="visible"/>
                                      </p:to>
                                    </p:set>
                                    <p:animEffect filter="fade" transition="in">
                                      <p:cBhvr>
                                        <p:cTn dur="500"/>
                                        <p:tgtEl>
                                          <p:spTgt spid="291"/>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01"/>
                                        </p:tgtEl>
                                        <p:attrNameLst>
                                          <p:attrName>style.visibility</p:attrName>
                                        </p:attrNameLst>
                                      </p:cBhvr>
                                      <p:to>
                                        <p:strVal val="visible"/>
                                      </p:to>
                                    </p:set>
                                    <p:animEffect filter="fade" transition="in">
                                      <p:cBhvr>
                                        <p:cTn dur="500"/>
                                        <p:tgtEl>
                                          <p:spTgt spid="301"/>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92"/>
                                        </p:tgtEl>
                                        <p:attrNameLst>
                                          <p:attrName>style.visibility</p:attrName>
                                        </p:attrNameLst>
                                      </p:cBhvr>
                                      <p:to>
                                        <p:strVal val="visible"/>
                                      </p:to>
                                    </p:set>
                                    <p:animEffect filter="fade" transition="in">
                                      <p:cBhvr>
                                        <p:cTn dur="500"/>
                                        <p:tgtEl>
                                          <p:spTgt spid="292"/>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297"/>
                                        </p:tgtEl>
                                        <p:attrNameLst>
                                          <p:attrName>style.visibility</p:attrName>
                                        </p:attrNameLst>
                                      </p:cBhvr>
                                      <p:to>
                                        <p:strVal val="visible"/>
                                      </p:to>
                                    </p:set>
                                    <p:animEffect filter="fade" transition="in">
                                      <p:cBhvr>
                                        <p:cTn dur="200"/>
                                        <p:tgtEl>
                                          <p:spTgt spid="297"/>
                                        </p:tgtEl>
                                      </p:cBhvr>
                                    </p:animEffect>
                                  </p:childTnLst>
                                </p:cTn>
                              </p:par>
                            </p:childTnLst>
                          </p:cTn>
                        </p:par>
                        <p:par>
                          <p:cTn fill="hold">
                            <p:stCondLst>
                              <p:cond delay="1700"/>
                            </p:stCondLst>
                            <p:childTnLst>
                              <p:par>
                                <p:cTn fill="hold" nodeType="afterEffect" presetClass="entr" presetID="10" presetSubtype="0">
                                  <p:stCondLst>
                                    <p:cond delay="0"/>
                                  </p:stCondLst>
                                  <p:childTnLst>
                                    <p:set>
                                      <p:cBhvr>
                                        <p:cTn dur="1" fill="hold">
                                          <p:stCondLst>
                                            <p:cond delay="0"/>
                                          </p:stCondLst>
                                        </p:cTn>
                                        <p:tgtEl>
                                          <p:spTgt spid="293"/>
                                        </p:tgtEl>
                                        <p:attrNameLst>
                                          <p:attrName>style.visibility</p:attrName>
                                        </p:attrNameLst>
                                      </p:cBhvr>
                                      <p:to>
                                        <p:strVal val="visible"/>
                                      </p:to>
                                    </p:set>
                                    <p:animEffect filter="fade" transition="in">
                                      <p:cBhvr>
                                        <p:cTn dur="500"/>
                                        <p:tgtEl>
                                          <p:spTgt spid="293"/>
                                        </p:tgtEl>
                                      </p:cBhvr>
                                    </p:animEffect>
                                  </p:childTnLst>
                                </p:cTn>
                              </p:par>
                            </p:childTnLst>
                          </p:cTn>
                        </p:par>
                        <p:par>
                          <p:cTn fill="hold">
                            <p:stCondLst>
                              <p:cond delay="2200"/>
                            </p:stCondLst>
                            <p:childTnLst>
                              <p:par>
                                <p:cTn fill="hold" nodeType="afterEffect" presetClass="entr" presetID="10" presetSubtype="0">
                                  <p:stCondLst>
                                    <p:cond delay="0"/>
                                  </p:stCondLst>
                                  <p:childTnLst>
                                    <p:set>
                                      <p:cBhvr>
                                        <p:cTn dur="1" fill="hold">
                                          <p:stCondLst>
                                            <p:cond delay="0"/>
                                          </p:stCondLst>
                                        </p:cTn>
                                        <p:tgtEl>
                                          <p:spTgt spid="298"/>
                                        </p:tgtEl>
                                        <p:attrNameLst>
                                          <p:attrName>style.visibility</p:attrName>
                                        </p:attrNameLst>
                                      </p:cBhvr>
                                      <p:to>
                                        <p:strVal val="visible"/>
                                      </p:to>
                                    </p:set>
                                    <p:animEffect filter="fade" transition="in">
                                      <p:cBhvr>
                                        <p:cTn dur="200"/>
                                        <p:tgtEl>
                                          <p:spTgt spid="298"/>
                                        </p:tgtEl>
                                      </p:cBhvr>
                                    </p:animEffect>
                                  </p:childTnLst>
                                </p:cTn>
                              </p:par>
                            </p:childTnLst>
                          </p:cTn>
                        </p:par>
                        <p:par>
                          <p:cTn fill="hold">
                            <p:stCondLst>
                              <p:cond delay="2400"/>
                            </p:stCondLst>
                            <p:childTnLst>
                              <p:par>
                                <p:cTn fill="hold" nodeType="afterEffect" presetClass="entr" presetID="10" presetSubtype="0">
                                  <p:stCondLst>
                                    <p:cond delay="0"/>
                                  </p:stCondLst>
                                  <p:childTnLst>
                                    <p:set>
                                      <p:cBhvr>
                                        <p:cTn dur="1" fill="hold">
                                          <p:stCondLst>
                                            <p:cond delay="0"/>
                                          </p:stCondLst>
                                        </p:cTn>
                                        <p:tgtEl>
                                          <p:spTgt spid="294"/>
                                        </p:tgtEl>
                                        <p:attrNameLst>
                                          <p:attrName>style.visibility</p:attrName>
                                        </p:attrNameLst>
                                      </p:cBhvr>
                                      <p:to>
                                        <p:strVal val="visible"/>
                                      </p:to>
                                    </p:set>
                                    <p:animEffect filter="fade" transition="in">
                                      <p:cBhvr>
                                        <p:cTn dur="500"/>
                                        <p:tgtEl>
                                          <p:spTgt spid="294"/>
                                        </p:tgtEl>
                                      </p:cBhvr>
                                    </p:animEffect>
                                  </p:childTnLst>
                                </p:cTn>
                              </p:par>
                            </p:childTnLst>
                          </p:cTn>
                        </p:par>
                        <p:par>
                          <p:cTn fill="hold">
                            <p:stCondLst>
                              <p:cond delay="2900"/>
                            </p:stCondLst>
                            <p:childTnLst>
                              <p:par>
                                <p:cTn fill="hold" nodeType="afterEffect" presetClass="entr" presetID="10" presetSubtype="0">
                                  <p:stCondLst>
                                    <p:cond delay="0"/>
                                  </p:stCondLst>
                                  <p:childTnLst>
                                    <p:set>
                                      <p:cBhvr>
                                        <p:cTn dur="1" fill="hold">
                                          <p:stCondLst>
                                            <p:cond delay="0"/>
                                          </p:stCondLst>
                                        </p:cTn>
                                        <p:tgtEl>
                                          <p:spTgt spid="299"/>
                                        </p:tgtEl>
                                        <p:attrNameLst>
                                          <p:attrName>style.visibility</p:attrName>
                                        </p:attrNameLst>
                                      </p:cBhvr>
                                      <p:to>
                                        <p:strVal val="visible"/>
                                      </p:to>
                                    </p:set>
                                    <p:animEffect filter="fade" transition="in">
                                      <p:cBhvr>
                                        <p:cTn dur="200"/>
                                        <p:tgtEl>
                                          <p:spTgt spid="299"/>
                                        </p:tgtEl>
                                      </p:cBhvr>
                                    </p:animEffect>
                                  </p:childTnLst>
                                </p:cTn>
                              </p:par>
                            </p:childTnLst>
                          </p:cTn>
                        </p:par>
                        <p:par>
                          <p:cTn fill="hold">
                            <p:stCondLst>
                              <p:cond delay="3100"/>
                            </p:stCondLst>
                            <p:childTnLst>
                              <p:par>
                                <p:cTn fill="hold" nodeType="afterEffect" presetClass="entr" presetID="10" presetSubtype="0">
                                  <p:stCondLst>
                                    <p:cond delay="0"/>
                                  </p:stCondLst>
                                  <p:childTnLst>
                                    <p:set>
                                      <p:cBhvr>
                                        <p:cTn dur="1" fill="hold">
                                          <p:stCondLst>
                                            <p:cond delay="0"/>
                                          </p:stCondLst>
                                        </p:cTn>
                                        <p:tgtEl>
                                          <p:spTgt spid="295"/>
                                        </p:tgtEl>
                                        <p:attrNameLst>
                                          <p:attrName>style.visibility</p:attrName>
                                        </p:attrNameLst>
                                      </p:cBhvr>
                                      <p:to>
                                        <p:strVal val="visible"/>
                                      </p:to>
                                    </p:set>
                                    <p:animEffect filter="fade" transition="in">
                                      <p:cBhvr>
                                        <p:cTn dur="500"/>
                                        <p:tgtEl>
                                          <p:spTgt spid="295"/>
                                        </p:tgtEl>
                                      </p:cBhvr>
                                    </p:animEffect>
                                  </p:childTnLst>
                                </p:cTn>
                              </p:par>
                            </p:childTnLst>
                          </p:cTn>
                        </p:par>
                        <p:par>
                          <p:cTn fill="hold">
                            <p:stCondLst>
                              <p:cond delay="3600"/>
                            </p:stCondLst>
                            <p:childTnLst>
                              <p:par>
                                <p:cTn fill="hold" nodeType="afterEffect" presetClass="entr" presetID="10" presetSubtype="0">
                                  <p:stCondLst>
                                    <p:cond delay="0"/>
                                  </p:stCondLst>
                                  <p:childTnLst>
                                    <p:set>
                                      <p:cBhvr>
                                        <p:cTn dur="1" fill="hold">
                                          <p:stCondLst>
                                            <p:cond delay="0"/>
                                          </p:stCondLst>
                                        </p:cTn>
                                        <p:tgtEl>
                                          <p:spTgt spid="300"/>
                                        </p:tgtEl>
                                        <p:attrNameLst>
                                          <p:attrName>style.visibility</p:attrName>
                                        </p:attrNameLst>
                                      </p:cBhvr>
                                      <p:to>
                                        <p:strVal val="visible"/>
                                      </p:to>
                                    </p:set>
                                    <p:animEffect filter="fade" transition="in">
                                      <p:cBhvr>
                                        <p:cTn dur="200"/>
                                        <p:tgtEl>
                                          <p:spTgt spid="300"/>
                                        </p:tgtEl>
                                      </p:cBhvr>
                                    </p:animEffect>
                                  </p:childTnLst>
                                </p:cTn>
                              </p:par>
                            </p:childTnLst>
                          </p:cTn>
                        </p:par>
                        <p:par>
                          <p:cTn fill="hold">
                            <p:stCondLst>
                              <p:cond delay="3800"/>
                            </p:stCondLst>
                            <p:childTnLst>
                              <p:par>
                                <p:cTn fill="hold" nodeType="afterEffect" presetClass="entr" presetID="10" presetSubtype="0">
                                  <p:stCondLst>
                                    <p:cond delay="0"/>
                                  </p:stCondLst>
                                  <p:childTnLst>
                                    <p:set>
                                      <p:cBhvr>
                                        <p:cTn dur="1" fill="hold">
                                          <p:stCondLst>
                                            <p:cond delay="0"/>
                                          </p:stCondLst>
                                        </p:cTn>
                                        <p:tgtEl>
                                          <p:spTgt spid="296"/>
                                        </p:tgtEl>
                                        <p:attrNameLst>
                                          <p:attrName>style.visibility</p:attrName>
                                        </p:attrNameLst>
                                      </p:cBhvr>
                                      <p:to>
                                        <p:strVal val="visible"/>
                                      </p:to>
                                    </p:set>
                                    <p:animEffect filter="fade" transition="in">
                                      <p:cBhvr>
                                        <p:cTn dur="500"/>
                                        <p:tgtEl>
                                          <p:spTgt spid="2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200"/>
                                        <p:tgtEl>
                                          <p:spTgt spid="299"/>
                                        </p:tgtEl>
                                      </p:cBhvr>
                                    </p:animEffect>
                                    <p:set>
                                      <p:cBhvr>
                                        <p:cTn dur="1" fill="hold">
                                          <p:stCondLst>
                                            <p:cond delay="200"/>
                                          </p:stCondLst>
                                        </p:cTn>
                                        <p:tgtEl>
                                          <p:spTgt spid="299"/>
                                        </p:tgtEl>
                                        <p:attrNameLst>
                                          <p:attrName>style.visibility</p:attrName>
                                        </p:attrNameLst>
                                      </p:cBhvr>
                                      <p:to>
                                        <p:strVal val="hidden"/>
                                      </p:to>
                                    </p:set>
                                  </p:childTnLst>
                                </p:cTn>
                              </p:par>
                            </p:childTnLst>
                          </p:cTn>
                        </p:par>
                        <p:par>
                          <p:cTn fill="hold">
                            <p:stCondLst>
                              <p:cond delay="200"/>
                            </p:stCondLst>
                            <p:childTnLst>
                              <p:par>
                                <p:cTn fill="hold" nodeType="afterEffect" presetClass="exit" presetID="10" presetSubtype="0">
                                  <p:stCondLst>
                                    <p:cond delay="0"/>
                                  </p:stCondLst>
                                  <p:childTnLst>
                                    <p:animEffect filter="fade" transition="out">
                                      <p:cBhvr>
                                        <p:cTn dur="500"/>
                                        <p:tgtEl>
                                          <p:spTgt spid="294"/>
                                        </p:tgtEl>
                                      </p:cBhvr>
                                    </p:animEffect>
                                    <p:set>
                                      <p:cBhvr>
                                        <p:cTn dur="1" fill="hold">
                                          <p:stCondLst>
                                            <p:cond delay="500"/>
                                          </p:stCondLst>
                                        </p:cTn>
                                        <p:tgtEl>
                                          <p:spTgt spid="294"/>
                                        </p:tgtEl>
                                        <p:attrNameLst>
                                          <p:attrName>style.visibility</p:attrName>
                                        </p:attrNameLst>
                                      </p:cBhvr>
                                      <p:to>
                                        <p:strVal val="hidden"/>
                                      </p:to>
                                    </p:set>
                                  </p:childTnLst>
                                </p:cTn>
                              </p:par>
                            </p:childTnLst>
                          </p:cTn>
                        </p:par>
                        <p:par>
                          <p:cTn fill="hold">
                            <p:stCondLst>
                              <p:cond delay="700"/>
                            </p:stCondLst>
                            <p:childTnLst>
                              <p:par>
                                <p:cTn fill="hold" nodeType="afterEffect" presetClass="exit" presetID="10" presetSubtype="0">
                                  <p:stCondLst>
                                    <p:cond delay="0"/>
                                  </p:stCondLst>
                                  <p:childTnLst>
                                    <p:animEffect filter="fade" transition="out">
                                      <p:cBhvr>
                                        <p:cTn dur="200"/>
                                        <p:tgtEl>
                                          <p:spTgt spid="298"/>
                                        </p:tgtEl>
                                      </p:cBhvr>
                                    </p:animEffect>
                                    <p:set>
                                      <p:cBhvr>
                                        <p:cTn dur="1" fill="hold">
                                          <p:stCondLst>
                                            <p:cond delay="200"/>
                                          </p:stCondLst>
                                        </p:cTn>
                                        <p:tgtEl>
                                          <p:spTgt spid="298"/>
                                        </p:tgtEl>
                                        <p:attrNameLst>
                                          <p:attrName>style.visibility</p:attrName>
                                        </p:attrNameLst>
                                      </p:cBhvr>
                                      <p:to>
                                        <p:strVal val="hidden"/>
                                      </p:to>
                                    </p:set>
                                  </p:childTnLst>
                                </p:cTn>
                              </p:par>
                            </p:childTnLst>
                          </p:cTn>
                        </p:par>
                        <p:par>
                          <p:cTn fill="hold">
                            <p:stCondLst>
                              <p:cond delay="900"/>
                            </p:stCondLst>
                            <p:childTnLst>
                              <p:par>
                                <p:cTn fill="hold" nodeType="afterEffect" presetClass="exit" presetID="10" presetSubtype="0">
                                  <p:stCondLst>
                                    <p:cond delay="0"/>
                                  </p:stCondLst>
                                  <p:childTnLst>
                                    <p:animEffect filter="fade" transition="out">
                                      <p:cBhvr>
                                        <p:cTn dur="500"/>
                                        <p:tgtEl>
                                          <p:spTgt spid="293"/>
                                        </p:tgtEl>
                                      </p:cBhvr>
                                    </p:animEffect>
                                    <p:set>
                                      <p:cBhvr>
                                        <p:cTn dur="1" fill="hold">
                                          <p:stCondLst>
                                            <p:cond delay="500"/>
                                          </p:stCondLst>
                                        </p:cTn>
                                        <p:tgtEl>
                                          <p:spTgt spid="293"/>
                                        </p:tgtEl>
                                        <p:attrNameLst>
                                          <p:attrName>style.visibility</p:attrName>
                                        </p:attrNameLst>
                                      </p:cBhvr>
                                      <p:to>
                                        <p:strVal val="hidden"/>
                                      </p:to>
                                    </p:set>
                                  </p:childTnLst>
                                </p:cTn>
                              </p:par>
                            </p:childTnLst>
                          </p:cTn>
                        </p:par>
                        <p:par>
                          <p:cTn fill="hold">
                            <p:stCondLst>
                              <p:cond delay="1400"/>
                            </p:stCondLst>
                            <p:childTnLst>
                              <p:par>
                                <p:cTn fill="hold" nodeType="afterEffect" presetClass="exit" presetID="10" presetSubtype="0">
                                  <p:stCondLst>
                                    <p:cond delay="0"/>
                                  </p:stCondLst>
                                  <p:childTnLst>
                                    <p:animEffect filter="fade" transition="out">
                                      <p:cBhvr>
                                        <p:cTn dur="200"/>
                                        <p:tgtEl>
                                          <p:spTgt spid="297"/>
                                        </p:tgtEl>
                                      </p:cBhvr>
                                    </p:animEffect>
                                    <p:set>
                                      <p:cBhvr>
                                        <p:cTn dur="1" fill="hold">
                                          <p:stCondLst>
                                            <p:cond delay="200"/>
                                          </p:stCondLst>
                                        </p:cTn>
                                        <p:tgtEl>
                                          <p:spTgt spid="297"/>
                                        </p:tgtEl>
                                        <p:attrNameLst>
                                          <p:attrName>style.visibility</p:attrName>
                                        </p:attrNameLst>
                                      </p:cBhvr>
                                      <p:to>
                                        <p:strVal val="hidden"/>
                                      </p:to>
                                    </p:set>
                                  </p:childTnLst>
                                </p:cTn>
                              </p:par>
                            </p:childTnLst>
                          </p:cTn>
                        </p:par>
                        <p:par>
                          <p:cTn fill="hold">
                            <p:stCondLst>
                              <p:cond delay="1600"/>
                            </p:stCondLst>
                            <p:childTnLst>
                              <p:par>
                                <p:cTn fill="hold" nodeType="afterEffect" presetClass="exit" presetID="10" presetSubtype="0">
                                  <p:stCondLst>
                                    <p:cond delay="0"/>
                                  </p:stCondLst>
                                  <p:childTnLst>
                                    <p:animEffect filter="fade" transition="out">
                                      <p:cBhvr>
                                        <p:cTn dur="500"/>
                                        <p:tgtEl>
                                          <p:spTgt spid="292"/>
                                        </p:tgtEl>
                                      </p:cBhvr>
                                    </p:animEffect>
                                    <p:set>
                                      <p:cBhvr>
                                        <p:cTn dur="1" fill="hold">
                                          <p:stCondLst>
                                            <p:cond delay="500"/>
                                          </p:stCondLst>
                                        </p:cTn>
                                        <p:tgtEl>
                                          <p:spTgt spid="292"/>
                                        </p:tgtEl>
                                        <p:attrNameLst>
                                          <p:attrName>style.visibility</p:attrName>
                                        </p:attrNameLst>
                                      </p:cBhvr>
                                      <p:to>
                                        <p:strVal val="hidden"/>
                                      </p:to>
                                    </p:set>
                                  </p:childTnLst>
                                </p:cTn>
                              </p:par>
                            </p:childTnLst>
                          </p:cTn>
                        </p:par>
                        <p:par>
                          <p:cTn fill="hold">
                            <p:stCondLst>
                              <p:cond delay="2100"/>
                            </p:stCondLst>
                            <p:childTnLst>
                              <p:par>
                                <p:cTn fill="hold" nodeType="afterEffect" presetClass="exit" presetID="10" presetSubtype="0">
                                  <p:stCondLst>
                                    <p:cond delay="0"/>
                                  </p:stCondLst>
                                  <p:childTnLst>
                                    <p:animEffect filter="fade" transition="out">
                                      <p:cBhvr>
                                        <p:cTn dur="500"/>
                                        <p:tgtEl>
                                          <p:spTgt spid="301"/>
                                        </p:tgtEl>
                                      </p:cBhvr>
                                    </p:animEffect>
                                    <p:set>
                                      <p:cBhvr>
                                        <p:cTn dur="1" fill="hold">
                                          <p:stCondLst>
                                            <p:cond delay="500"/>
                                          </p:stCondLst>
                                        </p:cTn>
                                        <p:tgtEl>
                                          <p:spTgt spid="301"/>
                                        </p:tgtEl>
                                        <p:attrNameLst>
                                          <p:attrName>style.visibility</p:attrName>
                                        </p:attrNameLst>
                                      </p:cBhvr>
                                      <p:to>
                                        <p:strVal val="hidden"/>
                                      </p:to>
                                    </p:set>
                                  </p:childTnLst>
                                </p:cTn>
                              </p:par>
                            </p:childTnLst>
                          </p:cTn>
                        </p:par>
                        <p:par>
                          <p:cTn fill="hold">
                            <p:stCondLst>
                              <p:cond delay="2600"/>
                            </p:stCondLst>
                            <p:childTnLst>
                              <p:par>
                                <p:cTn fill="hold" nodeType="afterEffect" presetClass="exit" presetID="10" presetSubtype="0">
                                  <p:stCondLst>
                                    <p:cond delay="0"/>
                                  </p:stCondLst>
                                  <p:childTnLst>
                                    <p:animEffect filter="fade" transition="out">
                                      <p:cBhvr>
                                        <p:cTn dur="500"/>
                                        <p:tgtEl>
                                          <p:spTgt spid="291"/>
                                        </p:tgtEl>
                                      </p:cBhvr>
                                    </p:animEffect>
                                    <p:set>
                                      <p:cBhvr>
                                        <p:cTn dur="1" fill="hold">
                                          <p:stCondLst>
                                            <p:cond delay="500"/>
                                          </p:stCondLst>
                                        </p:cTn>
                                        <p:tgtEl>
                                          <p:spTgt spid="291"/>
                                        </p:tgtEl>
                                        <p:attrNameLst>
                                          <p:attrName>style.visibility</p:attrName>
                                        </p:attrNameLst>
                                      </p:cBhvr>
                                      <p:to>
                                        <p:strVal val="hidden"/>
                                      </p:to>
                                    </p:set>
                                  </p:childTnLst>
                                </p:cTn>
                              </p:par>
                            </p:childTnLst>
                          </p:cTn>
                        </p:par>
                        <p:par>
                          <p:cTn fill="hold">
                            <p:stCondLst>
                              <p:cond delay="3100"/>
                            </p:stCondLst>
                            <p:childTnLst>
                              <p:par>
                                <p:cTn fill="hold" nodeType="afterEffect" presetClass="exit" presetID="10" presetSubtype="0">
                                  <p:stCondLst>
                                    <p:cond delay="0"/>
                                  </p:stCondLst>
                                  <p:childTnLst>
                                    <p:animEffect filter="fade" transition="out">
                                      <p:cBhvr>
                                        <p:cTn dur="500"/>
                                        <p:tgtEl>
                                          <p:spTgt spid="280">
                                            <p:txEl>
                                              <p:pRg end="0" st="0"/>
                                            </p:txEl>
                                          </p:spTgt>
                                        </p:tgtEl>
                                      </p:cBhvr>
                                    </p:animEffect>
                                    <p:set>
                                      <p:cBhvr>
                                        <p:cTn dur="1" fill="hold">
                                          <p:stCondLst>
                                            <p:cond delay="500"/>
                                          </p:stCondLst>
                                        </p:cTn>
                                        <p:tgtEl>
                                          <p:spTgt spid="280">
                                            <p:txEl>
                                              <p:pRg end="0" st="0"/>
                                            </p:txEl>
                                          </p:spTgt>
                                        </p:tgtEl>
                                        <p:attrNameLst>
                                          <p:attrName>style.visibility</p:attrName>
                                        </p:attrNameLst>
                                      </p:cBhvr>
                                      <p:to>
                                        <p:strVal val="hidden"/>
                                      </p:to>
                                    </p:set>
                                  </p:childTnLst>
                                </p:cTn>
                              </p:par>
                            </p:childTnLst>
                          </p:cTn>
                        </p:par>
                        <p:par>
                          <p:cTn fill="hold">
                            <p:stCondLst>
                              <p:cond delay="3600"/>
                            </p:stCondLst>
                            <p:childTnLst>
                              <p:par>
                                <p:cTn fill="hold" nodeType="afterEffect" presetClass="exit" presetID="10" presetSubtype="0">
                                  <p:stCondLst>
                                    <p:cond delay="0"/>
                                  </p:stCondLst>
                                  <p:childTnLst>
                                    <p:animEffect filter="fade" transition="out">
                                      <p:cBhvr>
                                        <p:cTn dur="500"/>
                                        <p:tgtEl>
                                          <p:spTgt spid="280">
                                            <p:txEl>
                                              <p:pRg end="1" st="1"/>
                                            </p:txEl>
                                          </p:spTgt>
                                        </p:tgtEl>
                                      </p:cBhvr>
                                    </p:animEffect>
                                    <p:set>
                                      <p:cBhvr>
                                        <p:cTn dur="1" fill="hold">
                                          <p:stCondLst>
                                            <p:cond delay="500"/>
                                          </p:stCondLst>
                                        </p:cTn>
                                        <p:tgtEl>
                                          <p:spTgt spid="280">
                                            <p:txEl>
                                              <p:pRg end="1" st="1"/>
                                            </p:txEl>
                                          </p:spTgt>
                                        </p:tgtEl>
                                        <p:attrNameLst>
                                          <p:attrName>style.visibility</p:attrName>
                                        </p:attrNameLst>
                                      </p:cBhvr>
                                      <p:to>
                                        <p:strVal val="hidden"/>
                                      </p:to>
                                    </p:set>
                                  </p:childTnLst>
                                </p:cTn>
                              </p:par>
                            </p:childTnLst>
                          </p:cTn>
                        </p:par>
                        <p:par>
                          <p:cTn fill="hold">
                            <p:stCondLst>
                              <p:cond delay="4100"/>
                            </p:stCondLst>
                            <p:childTnLst>
                              <p:par>
                                <p:cTn fill="hold" nodeType="afterEffect" presetClass="exit" presetID="10" presetSubtype="0">
                                  <p:stCondLst>
                                    <p:cond delay="0"/>
                                  </p:stCondLst>
                                  <p:childTnLst>
                                    <p:animEffect filter="fade" transition="out">
                                      <p:cBhvr>
                                        <p:cTn dur="500"/>
                                        <p:tgtEl>
                                          <p:spTgt spid="280">
                                            <p:txEl>
                                              <p:pRg end="2" st="2"/>
                                            </p:txEl>
                                          </p:spTgt>
                                        </p:tgtEl>
                                      </p:cBhvr>
                                    </p:animEffect>
                                    <p:set>
                                      <p:cBhvr>
                                        <p:cTn dur="1" fill="hold">
                                          <p:stCondLst>
                                            <p:cond delay="500"/>
                                          </p:stCondLst>
                                        </p:cTn>
                                        <p:tgtEl>
                                          <p:spTgt spid="280">
                                            <p:txEl>
                                              <p:pRg end="2" st="2"/>
                                            </p:txEl>
                                          </p:spTgt>
                                        </p:tgtEl>
                                        <p:attrNameLst>
                                          <p:attrName>style.visibility</p:attrName>
                                        </p:attrNameLst>
                                      </p:cBhvr>
                                      <p:to>
                                        <p:strVal val="hidden"/>
                                      </p:to>
                                    </p:set>
                                  </p:childTnLst>
                                </p:cTn>
                              </p:par>
                            </p:childTnLst>
                          </p:cTn>
                        </p:par>
                        <p:par>
                          <p:cTn fill="hold">
                            <p:stCondLst>
                              <p:cond delay="4600"/>
                            </p:stCondLst>
                            <p:childTnLst>
                              <p:par>
                                <p:cTn fill="hold" nodeType="afterEffect" presetClass="entr" presetID="10" presetSubtype="0">
                                  <p:stCondLst>
                                    <p:cond delay="0"/>
                                  </p:stCondLst>
                                  <p:childTnLst>
                                    <p:set>
                                      <p:cBhvr>
                                        <p:cTn dur="1" fill="hold">
                                          <p:stCondLst>
                                            <p:cond delay="0"/>
                                          </p:stCondLst>
                                        </p:cTn>
                                        <p:tgtEl>
                                          <p:spTgt spid="290">
                                            <p:txEl>
                                              <p:pRg end="0" st="0"/>
                                            </p:txEl>
                                          </p:spTgt>
                                        </p:tgtEl>
                                        <p:attrNameLst>
                                          <p:attrName>style.visibility</p:attrName>
                                        </p:attrNameLst>
                                      </p:cBhvr>
                                      <p:to>
                                        <p:strVal val="visible"/>
                                      </p:to>
                                    </p:set>
                                    <p:animEffect filter="fade" transition="in">
                                      <p:cBhvr>
                                        <p:cTn dur="500"/>
                                        <p:tgtEl>
                                          <p:spTgt spid="29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02"/>
                                        </p:tgtEl>
                                        <p:attrNameLst>
                                          <p:attrName>style.visibility</p:attrName>
                                        </p:attrNameLst>
                                      </p:cBhvr>
                                      <p:to>
                                        <p:strVal val="visible"/>
                                      </p:to>
                                    </p:set>
                                    <p:anim calcmode="lin" valueType="num">
                                      <p:cBhvr additive="base">
                                        <p:cTn dur="500"/>
                                        <p:tgtEl>
                                          <p:spTgt spid="302"/>
                                        </p:tgtEl>
                                        <p:attrNameLst>
                                          <p:attrName>ppt_w</p:attrName>
                                        </p:attrNameLst>
                                      </p:cBhvr>
                                      <p:tavLst>
                                        <p:tav fmla="" tm="0">
                                          <p:val>
                                            <p:strVal val="0"/>
                                          </p:val>
                                        </p:tav>
                                        <p:tav fmla="" tm="100000">
                                          <p:val>
                                            <p:strVal val="#ppt_w"/>
                                          </p:val>
                                        </p:tav>
                                      </p:tavLst>
                                    </p:anim>
                                    <p:anim calcmode="lin" valueType="num">
                                      <p:cBhvr additive="base">
                                        <p:cTn dur="500"/>
                                        <p:tgtEl>
                                          <p:spTgt spid="30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90">
                                            <p:txEl>
                                              <p:pRg end="0" st="0"/>
                                            </p:txEl>
                                          </p:spTgt>
                                        </p:tgtEl>
                                      </p:cBhvr>
                                    </p:animEffect>
                                    <p:set>
                                      <p:cBhvr>
                                        <p:cTn dur="1" fill="hold">
                                          <p:stCondLst>
                                            <p:cond delay="500"/>
                                          </p:stCondLst>
                                        </p:cTn>
                                        <p:tgtEl>
                                          <p:spTgt spid="290">
                                            <p:txEl>
                                              <p:pRg end="0" st="0"/>
                                            </p:txEl>
                                          </p:spTgt>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302"/>
                                        </p:tgtEl>
                                        <p:attrNameLst>
                                          <p:attrName>ppt_w</p:attrName>
                                        </p:attrNameLst>
                                      </p:cBhvr>
                                      <p:tavLst>
                                        <p:tav fmla="" tm="0">
                                          <p:val>
                                            <p:strVal val="#ppt_w"/>
                                          </p:val>
                                        </p:tav>
                                        <p:tav fmla="" tm="100000">
                                          <p:val>
                                            <p:strVal val="0"/>
                                          </p:val>
                                        </p:tav>
                                      </p:tavLst>
                                    </p:anim>
                                    <p:anim calcmode="lin" valueType="num">
                                      <p:cBhvr additive="base">
                                        <p:cTn dur="500"/>
                                        <p:tgtEl>
                                          <p:spTgt spid="302"/>
                                        </p:tgtEl>
                                        <p:attrNameLst>
                                          <p:attrName>ppt_h</p:attrName>
                                        </p:attrNameLst>
                                      </p:cBhvr>
                                      <p:tavLst>
                                        <p:tav fmla="" tm="0">
                                          <p:val>
                                            <p:strVal val="#ppt_h"/>
                                          </p:val>
                                        </p:tav>
                                        <p:tav fmla="" tm="100000">
                                          <p:val>
                                            <p:strVal val="0"/>
                                          </p:val>
                                        </p:tav>
                                      </p:tavLst>
                                    </p:anim>
                                    <p:set>
                                      <p:cBhvr>
                                        <p:cTn dur="1" fill="hold">
                                          <p:stCondLst>
                                            <p:cond delay="500"/>
                                          </p:stCondLst>
                                        </p:cTn>
                                        <p:tgtEl>
                                          <p:spTgt spid="302"/>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96"/>
                                        </p:tgtEl>
                                      </p:cBhvr>
                                    </p:animEffect>
                                    <p:set>
                                      <p:cBhvr>
                                        <p:cTn dur="1" fill="hold">
                                          <p:stCondLst>
                                            <p:cond delay="500"/>
                                          </p:stCondLst>
                                        </p:cTn>
                                        <p:tgtEl>
                                          <p:spTgt spid="296"/>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00"/>
                                        </p:tgtEl>
                                      </p:cBhvr>
                                    </p:animEffect>
                                    <p:set>
                                      <p:cBhvr>
                                        <p:cTn dur="1" fill="hold">
                                          <p:stCondLst>
                                            <p:cond delay="500"/>
                                          </p:stCondLst>
                                        </p:cTn>
                                        <p:tgtEl>
                                          <p:spTgt spid="300"/>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95"/>
                                        </p:tgtEl>
                                      </p:cBhvr>
                                    </p:animEffect>
                                    <p:set>
                                      <p:cBhvr>
                                        <p:cTn dur="1" fill="hold">
                                          <p:stCondLst>
                                            <p:cond delay="500"/>
                                          </p:stCondLst>
                                        </p:cTn>
                                        <p:tgtEl>
                                          <p:spTgt spid="295"/>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84">
                                            <p:txEl>
                                              <p:pRg end="0" st="0"/>
                                            </p:txEl>
                                          </p:spTgt>
                                        </p:tgtEl>
                                        <p:attrNameLst>
                                          <p:attrName>style.visibility</p:attrName>
                                        </p:attrNameLst>
                                      </p:cBhvr>
                                      <p:to>
                                        <p:strVal val="visible"/>
                                      </p:to>
                                    </p:set>
                                    <p:animEffect filter="fade" transition="in">
                                      <p:cBhvr>
                                        <p:cTn dur="500"/>
                                        <p:tgtEl>
                                          <p:spTgt spid="284">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84">
                                            <p:txEl>
                                              <p:pRg end="1" st="1"/>
                                            </p:txEl>
                                          </p:spTgt>
                                        </p:tgtEl>
                                        <p:attrNameLst>
                                          <p:attrName>style.visibility</p:attrName>
                                        </p:attrNameLst>
                                      </p:cBhvr>
                                      <p:to>
                                        <p:strVal val="visible"/>
                                      </p:to>
                                    </p:set>
                                    <p:animEffect filter="fade" transition="in">
                                      <p:cBhvr>
                                        <p:cTn dur="500"/>
                                        <p:tgtEl>
                                          <p:spTgt spid="284">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1"/>
                                        </p:tgtEl>
                                        <p:attrNameLst>
                                          <p:attrName>style.visibility</p:attrName>
                                        </p:attrNameLst>
                                      </p:cBhvr>
                                      <p:to>
                                        <p:strVal val="visible"/>
                                      </p:to>
                                    </p:set>
                                    <p:animEffect filter="fade" transition="in">
                                      <p:cBhvr>
                                        <p:cTn dur="500"/>
                                        <p:tgtEl>
                                          <p:spTgt spid="311"/>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12"/>
                                        </p:tgtEl>
                                        <p:attrNameLst>
                                          <p:attrName>style.visibility</p:attrName>
                                        </p:attrNameLst>
                                      </p:cBhvr>
                                      <p:to>
                                        <p:strVal val="visible"/>
                                      </p:to>
                                    </p:set>
                                    <p:animEffect filter="fade" transition="in">
                                      <p:cBhvr>
                                        <p:cTn dur="500"/>
                                        <p:tgtEl>
                                          <p:spTgt spid="312"/>
                                        </p:tgtEl>
                                      </p:cBhvr>
                                    </p:animEffect>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310"/>
                                        </p:tgtEl>
                                        <p:attrNameLst>
                                          <p:attrName>style.visibility</p:attrName>
                                        </p:attrNameLst>
                                      </p:cBhvr>
                                      <p:to>
                                        <p:strVal val="visible"/>
                                      </p:to>
                                    </p:set>
                                    <p:anim calcmode="lin" valueType="num">
                                      <p:cBhvr additive="base">
                                        <p:cTn dur="500"/>
                                        <p:tgtEl>
                                          <p:spTgt spid="310"/>
                                        </p:tgtEl>
                                        <p:attrNameLst>
                                          <p:attrName>ppt_w</p:attrName>
                                        </p:attrNameLst>
                                      </p:cBhvr>
                                      <p:tavLst>
                                        <p:tav fmla="" tm="0">
                                          <p:val>
                                            <p:strVal val="0"/>
                                          </p:val>
                                        </p:tav>
                                        <p:tav fmla="" tm="100000">
                                          <p:val>
                                            <p:strVal val="#ppt_w"/>
                                          </p:val>
                                        </p:tav>
                                      </p:tavLst>
                                    </p:anim>
                                    <p:anim calcmode="lin" valueType="num">
                                      <p:cBhvr additive="base">
                                        <p:cTn dur="500"/>
                                        <p:tgtEl>
                                          <p:spTgt spid="310"/>
                                        </p:tgtEl>
                                        <p:attrNameLst>
                                          <p:attrName>ppt_h</p:attrName>
                                        </p:attrNameLst>
                                      </p:cBhvr>
                                      <p:tavLst>
                                        <p:tav fmla="" tm="0">
                                          <p:val>
                                            <p:strVal val="0"/>
                                          </p:val>
                                        </p:tav>
                                        <p:tav fmla="" tm="100000">
                                          <p:val>
                                            <p:strVal val="#ppt_h"/>
                                          </p:val>
                                        </p:tav>
                                      </p:tavLst>
                                    </p:anim>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13"/>
                                        </p:tgtEl>
                                        <p:attrNameLst>
                                          <p:attrName>style.visibility</p:attrName>
                                        </p:attrNameLst>
                                      </p:cBhvr>
                                      <p:to>
                                        <p:strVal val="visible"/>
                                      </p:to>
                                    </p:set>
                                    <p:animEffect filter="fade" transition="in">
                                      <p:cBhvr>
                                        <p:cTn dur="500"/>
                                        <p:tgtEl>
                                          <p:spTgt spid="313"/>
                                        </p:tgtEl>
                                      </p:cBhvr>
                                    </p:animEffect>
                                  </p:childTnLst>
                                </p:cTn>
                              </p:par>
                            </p:childTnLst>
                          </p:cTn>
                        </p:par>
                        <p:par>
                          <p:cTn fill="hold">
                            <p:stCondLst>
                              <p:cond delay="2000"/>
                            </p:stCondLst>
                            <p:childTnLst>
                              <p:par>
                                <p:cTn fill="hold" nodeType="afterEffect" presetClass="entr" presetID="23" presetSubtype="16">
                                  <p:stCondLst>
                                    <p:cond delay="0"/>
                                  </p:stCondLst>
                                  <p:childTnLst>
                                    <p:set>
                                      <p:cBhvr>
                                        <p:cTn dur="1" fill="hold">
                                          <p:stCondLst>
                                            <p:cond delay="0"/>
                                          </p:stCondLst>
                                        </p:cTn>
                                        <p:tgtEl>
                                          <p:spTgt spid="309"/>
                                        </p:tgtEl>
                                        <p:attrNameLst>
                                          <p:attrName>style.visibility</p:attrName>
                                        </p:attrNameLst>
                                      </p:cBhvr>
                                      <p:to>
                                        <p:strVal val="visible"/>
                                      </p:to>
                                    </p:set>
                                    <p:anim calcmode="lin" valueType="num">
                                      <p:cBhvr additive="base">
                                        <p:cTn dur="500"/>
                                        <p:tgtEl>
                                          <p:spTgt spid="309"/>
                                        </p:tgtEl>
                                        <p:attrNameLst>
                                          <p:attrName>ppt_w</p:attrName>
                                        </p:attrNameLst>
                                      </p:cBhvr>
                                      <p:tavLst>
                                        <p:tav fmla="" tm="0">
                                          <p:val>
                                            <p:strVal val="0"/>
                                          </p:val>
                                        </p:tav>
                                        <p:tav fmla="" tm="100000">
                                          <p:val>
                                            <p:strVal val="#ppt_w"/>
                                          </p:val>
                                        </p:tav>
                                      </p:tavLst>
                                    </p:anim>
                                    <p:anim calcmode="lin" valueType="num">
                                      <p:cBhvr additive="base">
                                        <p:cTn dur="500"/>
                                        <p:tgtEl>
                                          <p:spTgt spid="309"/>
                                        </p:tgtEl>
                                        <p:attrNameLst>
                                          <p:attrName>ppt_h</p:attrName>
                                        </p:attrNameLst>
                                      </p:cBhvr>
                                      <p:tavLst>
                                        <p:tav fmla="" tm="0">
                                          <p:val>
                                            <p:strVal val="0"/>
                                          </p:val>
                                        </p:tav>
                                        <p:tav fmla="" tm="100000">
                                          <p:val>
                                            <p:strVal val="#ppt_h"/>
                                          </p:val>
                                        </p:tav>
                                      </p:tavLst>
                                    </p:anim>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14"/>
                                        </p:tgtEl>
                                        <p:attrNameLst>
                                          <p:attrName>style.visibility</p:attrName>
                                        </p:attrNameLst>
                                      </p:cBhvr>
                                      <p:to>
                                        <p:strVal val="visible"/>
                                      </p:to>
                                    </p:set>
                                    <p:animEffect filter="fade" transition="in">
                                      <p:cBhvr>
                                        <p:cTn dur="500"/>
                                        <p:tgtEl>
                                          <p:spTgt spid="314"/>
                                        </p:tgtEl>
                                      </p:cBhvr>
                                    </p:animEffect>
                                  </p:childTnLst>
                                </p:cTn>
                              </p:par>
                            </p:childTnLst>
                          </p:cTn>
                        </p:par>
                        <p:par>
                          <p:cTn fill="hold">
                            <p:stCondLst>
                              <p:cond delay="3000"/>
                            </p:stCondLst>
                            <p:childTnLst>
                              <p:par>
                                <p:cTn fill="hold" nodeType="afterEffect" presetClass="entr" presetID="23" presetSubtype="16">
                                  <p:stCondLst>
                                    <p:cond delay="0"/>
                                  </p:stCondLst>
                                  <p:childTnLst>
                                    <p:set>
                                      <p:cBhvr>
                                        <p:cTn dur="1" fill="hold">
                                          <p:stCondLst>
                                            <p:cond delay="0"/>
                                          </p:stCondLst>
                                        </p:cTn>
                                        <p:tgtEl>
                                          <p:spTgt spid="308"/>
                                        </p:tgtEl>
                                        <p:attrNameLst>
                                          <p:attrName>style.visibility</p:attrName>
                                        </p:attrNameLst>
                                      </p:cBhvr>
                                      <p:to>
                                        <p:strVal val="visible"/>
                                      </p:to>
                                    </p:set>
                                    <p:anim calcmode="lin" valueType="num">
                                      <p:cBhvr additive="base">
                                        <p:cTn dur="500"/>
                                        <p:tgtEl>
                                          <p:spTgt spid="308"/>
                                        </p:tgtEl>
                                        <p:attrNameLst>
                                          <p:attrName>ppt_w</p:attrName>
                                        </p:attrNameLst>
                                      </p:cBhvr>
                                      <p:tavLst>
                                        <p:tav fmla="" tm="0">
                                          <p:val>
                                            <p:strVal val="0"/>
                                          </p:val>
                                        </p:tav>
                                        <p:tav fmla="" tm="100000">
                                          <p:val>
                                            <p:strVal val="#ppt_w"/>
                                          </p:val>
                                        </p:tav>
                                      </p:tavLst>
                                    </p:anim>
                                    <p:anim calcmode="lin" valueType="num">
                                      <p:cBhvr additive="base">
                                        <p:cTn dur="500"/>
                                        <p:tgtEl>
                                          <p:spTgt spid="30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2">
                                            <p:txEl>
                                              <p:pRg end="0" st="0"/>
                                            </p:txEl>
                                          </p:spTgt>
                                        </p:tgtEl>
                                        <p:attrNameLst>
                                          <p:attrName>style.visibility</p:attrName>
                                        </p:attrNameLst>
                                      </p:cBhvr>
                                      <p:to>
                                        <p:strVal val="visible"/>
                                      </p:to>
                                    </p:set>
                                    <p:animEffect filter="fade" transition="in">
                                      <p:cBhvr>
                                        <p:cTn dur="500"/>
                                        <p:tgtEl>
                                          <p:spTgt spid="282">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2">
                                            <p:txEl>
                                              <p:pRg end="1" st="1"/>
                                            </p:txEl>
                                          </p:spTgt>
                                        </p:tgtEl>
                                        <p:attrNameLst>
                                          <p:attrName>style.visibility</p:attrName>
                                        </p:attrNameLst>
                                      </p:cBhvr>
                                      <p:to>
                                        <p:strVal val="visible"/>
                                      </p:to>
                                    </p:set>
                                    <p:animEffect filter="fade" transition="in">
                                      <p:cBhvr>
                                        <p:cTn dur="500"/>
                                        <p:tgtEl>
                                          <p:spTgt spid="282">
                                            <p:txEl>
                                              <p:pRg end="1" st="1"/>
                                            </p:txEl>
                                          </p:spTgt>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15"/>
                                        </p:tgtEl>
                                        <p:attrNameLst>
                                          <p:attrName>style.visibility</p:attrName>
                                        </p:attrNameLst>
                                      </p:cBhvr>
                                      <p:to>
                                        <p:strVal val="visible"/>
                                      </p:to>
                                    </p:set>
                                    <p:animEffect filter="fade" transition="in">
                                      <p:cBhvr>
                                        <p:cTn dur="500"/>
                                        <p:tgtEl>
                                          <p:spTgt spid="315"/>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16"/>
                                        </p:tgtEl>
                                        <p:attrNameLst>
                                          <p:attrName>style.visibility</p:attrName>
                                        </p:attrNameLst>
                                      </p:cBhvr>
                                      <p:to>
                                        <p:strVal val="visible"/>
                                      </p:to>
                                    </p:set>
                                    <p:animEffect filter="fade" transition="in">
                                      <p:cBhvr>
                                        <p:cTn dur="500"/>
                                        <p:tgtEl>
                                          <p:spTgt spid="316"/>
                                        </p:tgtEl>
                                      </p:cBhvr>
                                    </p:animEffect>
                                  </p:childTnLst>
                                </p:cTn>
                              </p:par>
                            </p:childTnLst>
                          </p:cTn>
                        </p:par>
                        <p:par>
                          <p:cTn fill="hold">
                            <p:stCondLst>
                              <p:cond delay="1500"/>
                            </p:stCondLst>
                            <p:childTnLst>
                              <p:par>
                                <p:cTn fill="hold" nodeType="afterEffect" presetClass="entr" presetID="23" presetSubtype="16">
                                  <p:stCondLst>
                                    <p:cond delay="0"/>
                                  </p:stCondLst>
                                  <p:childTnLst>
                                    <p:set>
                                      <p:cBhvr>
                                        <p:cTn dur="1" fill="hold">
                                          <p:stCondLst>
                                            <p:cond delay="0"/>
                                          </p:stCondLst>
                                        </p:cTn>
                                        <p:tgtEl>
                                          <p:spTgt spid="317"/>
                                        </p:tgtEl>
                                        <p:attrNameLst>
                                          <p:attrName>style.visibility</p:attrName>
                                        </p:attrNameLst>
                                      </p:cBhvr>
                                      <p:to>
                                        <p:strVal val="visible"/>
                                      </p:to>
                                    </p:set>
                                    <p:anim calcmode="lin" valueType="num">
                                      <p:cBhvr additive="base">
                                        <p:cTn dur="500"/>
                                        <p:tgtEl>
                                          <p:spTgt spid="317"/>
                                        </p:tgtEl>
                                        <p:attrNameLst>
                                          <p:attrName>ppt_w</p:attrName>
                                        </p:attrNameLst>
                                      </p:cBhvr>
                                      <p:tavLst>
                                        <p:tav fmla="" tm="0">
                                          <p:val>
                                            <p:strVal val="0"/>
                                          </p:val>
                                        </p:tav>
                                        <p:tav fmla="" tm="100000">
                                          <p:val>
                                            <p:strVal val="#ppt_w"/>
                                          </p:val>
                                        </p:tav>
                                      </p:tavLst>
                                    </p:anim>
                                    <p:anim calcmode="lin" valueType="num">
                                      <p:cBhvr additive="base">
                                        <p:cTn dur="500"/>
                                        <p:tgtEl>
                                          <p:spTgt spid="317"/>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animEffect filter="fade" transition="in">
                                      <p:cBhvr>
                                        <p:cTn dur="500"/>
                                        <p:tgtEl>
                                          <p:spTgt spid="283">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animEffect filter="fade" transition="in">
                                      <p:cBhvr>
                                        <p:cTn dur="500"/>
                                        <p:tgtEl>
                                          <p:spTgt spid="283">
                                            <p:txEl>
                                              <p:pRg end="1" st="1"/>
                                            </p:txEl>
                                          </p:spTgt>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18"/>
                                        </p:tgtEl>
                                        <p:attrNameLst>
                                          <p:attrName>style.visibility</p:attrName>
                                        </p:attrNameLst>
                                      </p:cBhvr>
                                      <p:to>
                                        <p:strVal val="visible"/>
                                      </p:to>
                                    </p:set>
                                    <p:animEffect filter="fade" transition="in">
                                      <p:cBhvr>
                                        <p:cTn dur="500"/>
                                        <p:tgtEl>
                                          <p:spTgt spid="318"/>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19"/>
                                        </p:tgtEl>
                                        <p:attrNameLst>
                                          <p:attrName>style.visibility</p:attrName>
                                        </p:attrNameLst>
                                      </p:cBhvr>
                                      <p:to>
                                        <p:strVal val="visible"/>
                                      </p:to>
                                    </p:set>
                                    <p:animEffect filter="fade" transition="in">
                                      <p:cBhvr>
                                        <p:cTn dur="500"/>
                                        <p:tgtEl>
                                          <p:spTgt spid="319"/>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20"/>
                                        </p:tgtEl>
                                        <p:attrNameLst>
                                          <p:attrName>style.visibility</p:attrName>
                                        </p:attrNameLst>
                                      </p:cBhvr>
                                      <p:to>
                                        <p:strVal val="visible"/>
                                      </p:to>
                                    </p:set>
                                    <p:animEffect filter="fade" transition="in">
                                      <p:cBhvr>
                                        <p:cTn dur="500"/>
                                        <p:tgtEl>
                                          <p:spTgt spid="320"/>
                                        </p:tgtEl>
                                      </p:cBhvr>
                                    </p:animEffect>
                                  </p:childTnLst>
                                </p:cTn>
                              </p:par>
                            </p:childTnLst>
                          </p:cTn>
                        </p:par>
                        <p:par>
                          <p:cTn fill="hold">
                            <p:stCondLst>
                              <p:cond delay="2000"/>
                            </p:stCondLst>
                            <p:childTnLst>
                              <p:par>
                                <p:cTn fill="hold" nodeType="afterEffect" presetClass="entr" presetID="23" presetSubtype="16">
                                  <p:stCondLst>
                                    <p:cond delay="0"/>
                                  </p:stCondLst>
                                  <p:childTnLst>
                                    <p:set>
                                      <p:cBhvr>
                                        <p:cTn dur="1" fill="hold">
                                          <p:stCondLst>
                                            <p:cond delay="0"/>
                                          </p:stCondLst>
                                        </p:cTn>
                                        <p:tgtEl>
                                          <p:spTgt spid="321"/>
                                        </p:tgtEl>
                                        <p:attrNameLst>
                                          <p:attrName>style.visibility</p:attrName>
                                        </p:attrNameLst>
                                      </p:cBhvr>
                                      <p:to>
                                        <p:strVal val="visible"/>
                                      </p:to>
                                    </p:set>
                                    <p:anim calcmode="lin" valueType="num">
                                      <p:cBhvr additive="base">
                                        <p:cTn dur="500"/>
                                        <p:tgtEl>
                                          <p:spTgt spid="321"/>
                                        </p:tgtEl>
                                        <p:attrNameLst>
                                          <p:attrName>ppt_w</p:attrName>
                                        </p:attrNameLst>
                                      </p:cBhvr>
                                      <p:tavLst>
                                        <p:tav fmla="" tm="0">
                                          <p:val>
                                            <p:strVal val="0"/>
                                          </p:val>
                                        </p:tav>
                                        <p:tav fmla="" tm="100000">
                                          <p:val>
                                            <p:strVal val="#ppt_w"/>
                                          </p:val>
                                        </p:tav>
                                      </p:tavLst>
                                    </p:anim>
                                    <p:anim calcmode="lin" valueType="num">
                                      <p:cBhvr additive="base">
                                        <p:cTn dur="500"/>
                                        <p:tgtEl>
                                          <p:spTgt spid="321"/>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84">
                                            <p:txEl>
                                              <p:pRg end="0" st="0"/>
                                            </p:txEl>
                                          </p:spTgt>
                                        </p:tgtEl>
                                      </p:cBhvr>
                                    </p:animEffect>
                                    <p:set>
                                      <p:cBhvr>
                                        <p:cTn dur="1" fill="hold">
                                          <p:stCondLst>
                                            <p:cond delay="500"/>
                                          </p:stCondLst>
                                        </p:cTn>
                                        <p:tgtEl>
                                          <p:spTgt spid="284">
                                            <p:txEl>
                                              <p:pRg end="0" st="0"/>
                                            </p:txEl>
                                          </p:spTgt>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284">
                                            <p:txEl>
                                              <p:pRg end="1" st="1"/>
                                            </p:txEl>
                                          </p:spTgt>
                                        </p:tgtEl>
                                      </p:cBhvr>
                                    </p:animEffect>
                                    <p:set>
                                      <p:cBhvr>
                                        <p:cTn dur="1" fill="hold">
                                          <p:stCondLst>
                                            <p:cond delay="500"/>
                                          </p:stCondLst>
                                        </p:cTn>
                                        <p:tgtEl>
                                          <p:spTgt spid="284">
                                            <p:txEl>
                                              <p:pRg end="1" st="1"/>
                                            </p:txEl>
                                          </p:spTgt>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82">
                                            <p:txEl>
                                              <p:pRg end="0" st="0"/>
                                            </p:txEl>
                                          </p:spTgt>
                                        </p:tgtEl>
                                      </p:cBhvr>
                                    </p:animEffect>
                                    <p:set>
                                      <p:cBhvr>
                                        <p:cTn dur="1" fill="hold">
                                          <p:stCondLst>
                                            <p:cond delay="500"/>
                                          </p:stCondLst>
                                        </p:cTn>
                                        <p:tgtEl>
                                          <p:spTgt spid="282">
                                            <p:txEl>
                                              <p:pRg end="0" st="0"/>
                                            </p:txEl>
                                          </p:spTgt>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82">
                                            <p:txEl>
                                              <p:pRg end="1" st="1"/>
                                            </p:txEl>
                                          </p:spTgt>
                                        </p:tgtEl>
                                      </p:cBhvr>
                                    </p:animEffect>
                                    <p:set>
                                      <p:cBhvr>
                                        <p:cTn dur="1" fill="hold">
                                          <p:stCondLst>
                                            <p:cond delay="500"/>
                                          </p:stCondLst>
                                        </p:cTn>
                                        <p:tgtEl>
                                          <p:spTgt spid="282">
                                            <p:txEl>
                                              <p:pRg end="1" st="1"/>
                                            </p:txEl>
                                          </p:spTgt>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83">
                                            <p:txEl>
                                              <p:pRg end="0" st="0"/>
                                            </p:txEl>
                                          </p:spTgt>
                                        </p:tgtEl>
                                      </p:cBhvr>
                                    </p:animEffect>
                                    <p:set>
                                      <p:cBhvr>
                                        <p:cTn dur="1" fill="hold">
                                          <p:stCondLst>
                                            <p:cond delay="500"/>
                                          </p:stCondLst>
                                        </p:cTn>
                                        <p:tgtEl>
                                          <p:spTgt spid="283">
                                            <p:txEl>
                                              <p:pRg end="0" st="0"/>
                                            </p:txEl>
                                          </p:spTgt>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283">
                                            <p:txEl>
                                              <p:pRg end="1" st="1"/>
                                            </p:txEl>
                                          </p:spTgt>
                                        </p:tgtEl>
                                      </p:cBhvr>
                                    </p:animEffect>
                                    <p:set>
                                      <p:cBhvr>
                                        <p:cTn dur="1" fill="hold">
                                          <p:stCondLst>
                                            <p:cond delay="500"/>
                                          </p:stCondLst>
                                        </p:cTn>
                                        <p:tgtEl>
                                          <p:spTgt spid="283">
                                            <p:txEl>
                                              <p:pRg end="1" st="1"/>
                                            </p:txEl>
                                          </p:spTgt>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1"/>
                                        </p:tgtEl>
                                      </p:cBhvr>
                                    </p:animEffect>
                                    <p:set>
                                      <p:cBhvr>
                                        <p:cTn dur="1" fill="hold">
                                          <p:stCondLst>
                                            <p:cond delay="500"/>
                                          </p:stCondLst>
                                        </p:cTn>
                                        <p:tgtEl>
                                          <p:spTgt spid="311"/>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2"/>
                                        </p:tgtEl>
                                      </p:cBhvr>
                                    </p:animEffect>
                                    <p:set>
                                      <p:cBhvr>
                                        <p:cTn dur="1" fill="hold">
                                          <p:stCondLst>
                                            <p:cond delay="500"/>
                                          </p:stCondLst>
                                        </p:cTn>
                                        <p:tgtEl>
                                          <p:spTgt spid="312"/>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3"/>
                                        </p:tgtEl>
                                      </p:cBhvr>
                                    </p:animEffect>
                                    <p:set>
                                      <p:cBhvr>
                                        <p:cTn dur="1" fill="hold">
                                          <p:stCondLst>
                                            <p:cond delay="500"/>
                                          </p:stCondLst>
                                        </p:cTn>
                                        <p:tgtEl>
                                          <p:spTgt spid="313"/>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4"/>
                                        </p:tgtEl>
                                      </p:cBhvr>
                                    </p:animEffect>
                                    <p:set>
                                      <p:cBhvr>
                                        <p:cTn dur="1" fill="hold">
                                          <p:stCondLst>
                                            <p:cond delay="500"/>
                                          </p:stCondLst>
                                        </p:cTn>
                                        <p:tgtEl>
                                          <p:spTgt spid="314"/>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6"/>
                                        </p:tgtEl>
                                      </p:cBhvr>
                                    </p:animEffect>
                                    <p:set>
                                      <p:cBhvr>
                                        <p:cTn dur="1" fill="hold">
                                          <p:stCondLst>
                                            <p:cond delay="500"/>
                                          </p:stCondLst>
                                        </p:cTn>
                                        <p:tgtEl>
                                          <p:spTgt spid="316"/>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20"/>
                                        </p:tgtEl>
                                      </p:cBhvr>
                                    </p:animEffect>
                                    <p:set>
                                      <p:cBhvr>
                                        <p:cTn dur="1" fill="hold">
                                          <p:stCondLst>
                                            <p:cond delay="500"/>
                                          </p:stCondLst>
                                        </p:cTn>
                                        <p:tgtEl>
                                          <p:spTgt spid="320"/>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9"/>
                                        </p:tgtEl>
                                      </p:cBhvr>
                                    </p:animEffect>
                                    <p:set>
                                      <p:cBhvr>
                                        <p:cTn dur="1" fill="hold">
                                          <p:stCondLst>
                                            <p:cond delay="500"/>
                                          </p:stCondLst>
                                        </p:cTn>
                                        <p:tgtEl>
                                          <p:spTgt spid="319"/>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8"/>
                                        </p:tgtEl>
                                      </p:cBhvr>
                                    </p:animEffect>
                                    <p:set>
                                      <p:cBhvr>
                                        <p:cTn dur="1" fill="hold">
                                          <p:stCondLst>
                                            <p:cond delay="500"/>
                                          </p:stCondLst>
                                        </p:cTn>
                                        <p:tgtEl>
                                          <p:spTgt spid="318"/>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15"/>
                                        </p:tgtEl>
                                      </p:cBhvr>
                                    </p:animEffect>
                                    <p:set>
                                      <p:cBhvr>
                                        <p:cTn dur="1" fill="hold">
                                          <p:stCondLst>
                                            <p:cond delay="500"/>
                                          </p:stCondLst>
                                        </p:cTn>
                                        <p:tgtEl>
                                          <p:spTgt spid="315"/>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23" presetSubtype="32">
                                  <p:stCondLst>
                                    <p:cond delay="0"/>
                                  </p:stCondLst>
                                  <p:childTnLst>
                                    <p:anim calcmode="lin" valueType="num">
                                      <p:cBhvr additive="base">
                                        <p:cTn dur="500"/>
                                        <p:tgtEl>
                                          <p:spTgt spid="308"/>
                                        </p:tgtEl>
                                        <p:attrNameLst>
                                          <p:attrName>ppt_w</p:attrName>
                                        </p:attrNameLst>
                                      </p:cBhvr>
                                      <p:tavLst>
                                        <p:tav fmla="" tm="0">
                                          <p:val>
                                            <p:strVal val="#ppt_w"/>
                                          </p:val>
                                        </p:tav>
                                        <p:tav fmla="" tm="100000">
                                          <p:val>
                                            <p:strVal val="0"/>
                                          </p:val>
                                        </p:tav>
                                      </p:tavLst>
                                    </p:anim>
                                    <p:anim calcmode="lin" valueType="num">
                                      <p:cBhvr additive="base">
                                        <p:cTn dur="500"/>
                                        <p:tgtEl>
                                          <p:spTgt spid="308"/>
                                        </p:tgtEl>
                                        <p:attrNameLst>
                                          <p:attrName>ppt_h</p:attrName>
                                        </p:attrNameLst>
                                      </p:cBhvr>
                                      <p:tavLst>
                                        <p:tav fmla="" tm="0">
                                          <p:val>
                                            <p:strVal val="#ppt_h"/>
                                          </p:val>
                                        </p:tav>
                                        <p:tav fmla="" tm="100000">
                                          <p:val>
                                            <p:strVal val="0"/>
                                          </p:val>
                                        </p:tav>
                                      </p:tavLst>
                                    </p:anim>
                                    <p:set>
                                      <p:cBhvr>
                                        <p:cTn dur="1" fill="hold">
                                          <p:stCondLst>
                                            <p:cond delay="500"/>
                                          </p:stCondLst>
                                        </p:cTn>
                                        <p:tgtEl>
                                          <p:spTgt spid="308"/>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309"/>
                                        </p:tgtEl>
                                        <p:attrNameLst>
                                          <p:attrName>ppt_w</p:attrName>
                                        </p:attrNameLst>
                                      </p:cBhvr>
                                      <p:tavLst>
                                        <p:tav fmla="" tm="0">
                                          <p:val>
                                            <p:strVal val="#ppt_w"/>
                                          </p:val>
                                        </p:tav>
                                        <p:tav fmla="" tm="100000">
                                          <p:val>
                                            <p:strVal val="0"/>
                                          </p:val>
                                        </p:tav>
                                      </p:tavLst>
                                    </p:anim>
                                    <p:anim calcmode="lin" valueType="num">
                                      <p:cBhvr additive="base">
                                        <p:cTn dur="500"/>
                                        <p:tgtEl>
                                          <p:spTgt spid="309"/>
                                        </p:tgtEl>
                                        <p:attrNameLst>
                                          <p:attrName>ppt_h</p:attrName>
                                        </p:attrNameLst>
                                      </p:cBhvr>
                                      <p:tavLst>
                                        <p:tav fmla="" tm="0">
                                          <p:val>
                                            <p:strVal val="#ppt_h"/>
                                          </p:val>
                                        </p:tav>
                                        <p:tav fmla="" tm="100000">
                                          <p:val>
                                            <p:strVal val="0"/>
                                          </p:val>
                                        </p:tav>
                                      </p:tavLst>
                                    </p:anim>
                                    <p:set>
                                      <p:cBhvr>
                                        <p:cTn dur="1" fill="hold">
                                          <p:stCondLst>
                                            <p:cond delay="500"/>
                                          </p:stCondLst>
                                        </p:cTn>
                                        <p:tgtEl>
                                          <p:spTgt spid="309"/>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310"/>
                                        </p:tgtEl>
                                        <p:attrNameLst>
                                          <p:attrName>ppt_w</p:attrName>
                                        </p:attrNameLst>
                                      </p:cBhvr>
                                      <p:tavLst>
                                        <p:tav fmla="" tm="0">
                                          <p:val>
                                            <p:strVal val="#ppt_w"/>
                                          </p:val>
                                        </p:tav>
                                        <p:tav fmla="" tm="100000">
                                          <p:val>
                                            <p:strVal val="0"/>
                                          </p:val>
                                        </p:tav>
                                      </p:tavLst>
                                    </p:anim>
                                    <p:anim calcmode="lin" valueType="num">
                                      <p:cBhvr additive="base">
                                        <p:cTn dur="500"/>
                                        <p:tgtEl>
                                          <p:spTgt spid="310"/>
                                        </p:tgtEl>
                                        <p:attrNameLst>
                                          <p:attrName>ppt_h</p:attrName>
                                        </p:attrNameLst>
                                      </p:cBhvr>
                                      <p:tavLst>
                                        <p:tav fmla="" tm="0">
                                          <p:val>
                                            <p:strVal val="#ppt_h"/>
                                          </p:val>
                                        </p:tav>
                                        <p:tav fmla="" tm="100000">
                                          <p:val>
                                            <p:strVal val="0"/>
                                          </p:val>
                                        </p:tav>
                                      </p:tavLst>
                                    </p:anim>
                                    <p:set>
                                      <p:cBhvr>
                                        <p:cTn dur="1" fill="hold">
                                          <p:stCondLst>
                                            <p:cond delay="500"/>
                                          </p:stCondLst>
                                        </p:cTn>
                                        <p:tgtEl>
                                          <p:spTgt spid="310"/>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317"/>
                                        </p:tgtEl>
                                        <p:attrNameLst>
                                          <p:attrName>ppt_w</p:attrName>
                                        </p:attrNameLst>
                                      </p:cBhvr>
                                      <p:tavLst>
                                        <p:tav fmla="" tm="0">
                                          <p:val>
                                            <p:strVal val="#ppt_w"/>
                                          </p:val>
                                        </p:tav>
                                        <p:tav fmla="" tm="100000">
                                          <p:val>
                                            <p:strVal val="0"/>
                                          </p:val>
                                        </p:tav>
                                      </p:tavLst>
                                    </p:anim>
                                    <p:anim calcmode="lin" valueType="num">
                                      <p:cBhvr additive="base">
                                        <p:cTn dur="500"/>
                                        <p:tgtEl>
                                          <p:spTgt spid="317"/>
                                        </p:tgtEl>
                                        <p:attrNameLst>
                                          <p:attrName>ppt_h</p:attrName>
                                        </p:attrNameLst>
                                      </p:cBhvr>
                                      <p:tavLst>
                                        <p:tav fmla="" tm="0">
                                          <p:val>
                                            <p:strVal val="#ppt_h"/>
                                          </p:val>
                                        </p:tav>
                                        <p:tav fmla="" tm="100000">
                                          <p:val>
                                            <p:strVal val="0"/>
                                          </p:val>
                                        </p:tav>
                                      </p:tavLst>
                                    </p:anim>
                                    <p:set>
                                      <p:cBhvr>
                                        <p:cTn dur="1" fill="hold">
                                          <p:stCondLst>
                                            <p:cond delay="500"/>
                                          </p:stCondLst>
                                        </p:cTn>
                                        <p:tgtEl>
                                          <p:spTgt spid="317"/>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321"/>
                                        </p:tgtEl>
                                        <p:attrNameLst>
                                          <p:attrName>ppt_w</p:attrName>
                                        </p:attrNameLst>
                                      </p:cBhvr>
                                      <p:tavLst>
                                        <p:tav fmla="" tm="0">
                                          <p:val>
                                            <p:strVal val="#ppt_w"/>
                                          </p:val>
                                        </p:tav>
                                        <p:tav fmla="" tm="100000">
                                          <p:val>
                                            <p:strVal val="0"/>
                                          </p:val>
                                        </p:tav>
                                      </p:tavLst>
                                    </p:anim>
                                    <p:anim calcmode="lin" valueType="num">
                                      <p:cBhvr additive="base">
                                        <p:cTn dur="500"/>
                                        <p:tgtEl>
                                          <p:spTgt spid="321"/>
                                        </p:tgtEl>
                                        <p:attrNameLst>
                                          <p:attrName>ppt_h</p:attrName>
                                        </p:attrNameLst>
                                      </p:cBhvr>
                                      <p:tavLst>
                                        <p:tav fmla="" tm="0">
                                          <p:val>
                                            <p:strVal val="#ppt_h"/>
                                          </p:val>
                                        </p:tav>
                                        <p:tav fmla="" tm="100000">
                                          <p:val>
                                            <p:strVal val="0"/>
                                          </p:val>
                                        </p:tav>
                                      </p:tavLst>
                                    </p:anim>
                                    <p:set>
                                      <p:cBhvr>
                                        <p:cTn dur="1" fill="hold">
                                          <p:stCondLst>
                                            <p:cond delay="500"/>
                                          </p:stCondLst>
                                        </p:cTn>
                                        <p:tgtEl>
                                          <p:spTgt spid="321"/>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78">
                                            <p:txEl>
                                              <p:pRg end="0" st="0"/>
                                            </p:txEl>
                                          </p:spTgt>
                                        </p:tgtEl>
                                        <p:attrNameLst>
                                          <p:attrName>style.visibility</p:attrName>
                                        </p:attrNameLst>
                                      </p:cBhvr>
                                      <p:to>
                                        <p:strVal val="visible"/>
                                      </p:to>
                                    </p:set>
                                    <p:animEffect filter="fade" transition="in">
                                      <p:cBhvr>
                                        <p:cTn dur="500"/>
                                        <p:tgtEl>
                                          <p:spTgt spid="278">
                                            <p:txEl>
                                              <p:pRg end="0" st="0"/>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278">
                                            <p:txEl>
                                              <p:pRg end="1" st="1"/>
                                            </p:txEl>
                                          </p:spTgt>
                                        </p:tgtEl>
                                        <p:attrNameLst>
                                          <p:attrName>style.visibility</p:attrName>
                                        </p:attrNameLst>
                                      </p:cBhvr>
                                      <p:to>
                                        <p:strVal val="visible"/>
                                      </p:to>
                                    </p:set>
                                    <p:animEffect filter="fade" transition="in">
                                      <p:cBhvr>
                                        <p:cTn dur="500"/>
                                        <p:tgtEl>
                                          <p:spTgt spid="27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03"/>
                                        </p:tgtEl>
                                        <p:attrNameLst>
                                          <p:attrName>style.visibility</p:attrName>
                                        </p:attrNameLst>
                                      </p:cBhvr>
                                      <p:to>
                                        <p:strVal val="visible"/>
                                      </p:to>
                                    </p:set>
                                    <p:animEffect filter="fade" transition="in">
                                      <p:cBhvr>
                                        <p:cTn dur="500"/>
                                        <p:tgtEl>
                                          <p:spTgt spid="303"/>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04"/>
                                        </p:tgtEl>
                                        <p:attrNameLst>
                                          <p:attrName>style.visibility</p:attrName>
                                        </p:attrNameLst>
                                      </p:cBhvr>
                                      <p:to>
                                        <p:strVal val="visible"/>
                                      </p:to>
                                    </p:set>
                                    <p:animEffect filter="fade" transition="in">
                                      <p:cBhvr>
                                        <p:cTn dur="500"/>
                                        <p:tgtEl>
                                          <p:spTgt spid="304"/>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05"/>
                                        </p:tgtEl>
                                        <p:attrNameLst>
                                          <p:attrName>style.visibility</p:attrName>
                                        </p:attrNameLst>
                                      </p:cBhvr>
                                      <p:to>
                                        <p:strVal val="visible"/>
                                      </p:to>
                                    </p:set>
                                    <p:animEffect filter="fade" transition="in">
                                      <p:cBhvr>
                                        <p:cTn dur="500"/>
                                        <p:tgtEl>
                                          <p:spTgt spid="305"/>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06"/>
                                        </p:tgtEl>
                                        <p:attrNameLst>
                                          <p:attrName>style.visibility</p:attrName>
                                        </p:attrNameLst>
                                      </p:cBhvr>
                                      <p:to>
                                        <p:strVal val="visible"/>
                                      </p:to>
                                    </p:set>
                                    <p:animEffect filter="fade" transition="in">
                                      <p:cBhvr>
                                        <p:cTn dur="500"/>
                                        <p:tgtEl>
                                          <p:spTgt spid="306"/>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07"/>
                                        </p:tgtEl>
                                        <p:attrNameLst>
                                          <p:attrName>style.visibility</p:attrName>
                                        </p:attrNameLst>
                                      </p:cBhvr>
                                      <p:to>
                                        <p:strVal val="visible"/>
                                      </p:to>
                                    </p:set>
                                    <p:animEffect filter="fade" transition="in">
                                      <p:cBhvr>
                                        <p:cTn dur="500"/>
                                        <p:tgtEl>
                                          <p:spTgt spid="3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07"/>
                                        </p:tgtEl>
                                      </p:cBhvr>
                                    </p:animEffect>
                                    <p:set>
                                      <p:cBhvr>
                                        <p:cTn dur="1" fill="hold">
                                          <p:stCondLst>
                                            <p:cond delay="500"/>
                                          </p:stCondLst>
                                        </p:cTn>
                                        <p:tgtEl>
                                          <p:spTgt spid="307"/>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06"/>
                                        </p:tgtEl>
                                      </p:cBhvr>
                                    </p:animEffect>
                                    <p:set>
                                      <p:cBhvr>
                                        <p:cTn dur="1" fill="hold">
                                          <p:stCondLst>
                                            <p:cond delay="500"/>
                                          </p:stCondLst>
                                        </p:cTn>
                                        <p:tgtEl>
                                          <p:spTgt spid="306"/>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05"/>
                                        </p:tgtEl>
                                      </p:cBhvr>
                                    </p:animEffect>
                                    <p:set>
                                      <p:cBhvr>
                                        <p:cTn dur="1" fill="hold">
                                          <p:stCondLst>
                                            <p:cond delay="500"/>
                                          </p:stCondLst>
                                        </p:cTn>
                                        <p:tgtEl>
                                          <p:spTgt spid="305"/>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04"/>
                                        </p:tgtEl>
                                      </p:cBhvr>
                                    </p:animEffect>
                                    <p:set>
                                      <p:cBhvr>
                                        <p:cTn dur="1" fill="hold">
                                          <p:stCondLst>
                                            <p:cond delay="500"/>
                                          </p:stCondLst>
                                        </p:cTn>
                                        <p:tgtEl>
                                          <p:spTgt spid="304"/>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03"/>
                                        </p:tgtEl>
                                      </p:cBhvr>
                                    </p:animEffect>
                                    <p:set>
                                      <p:cBhvr>
                                        <p:cTn dur="1" fill="hold">
                                          <p:stCondLst>
                                            <p:cond delay="500"/>
                                          </p:stCondLst>
                                        </p:cTn>
                                        <p:tgtEl>
                                          <p:spTgt spid="303"/>
                                        </p:tgtEl>
                                        <p:attrNameLst>
                                          <p:attrName>style.visibility</p:attrName>
                                        </p:attrNameLst>
                                      </p:cBhvr>
                                      <p:to>
                                        <p:strVal val="hidden"/>
                                      </p:to>
                                    </p:set>
                                  </p:childTnLst>
                                </p:cTn>
                              </p:par>
                            </p:childTnLst>
                          </p:cTn>
                        </p:par>
                        <p:par>
                          <p:cTn fill="hold">
                            <p:stCondLst>
                              <p:cond delay="2500"/>
                            </p:stCondLst>
                            <p:childTnLst>
                              <p:par>
                                <p:cTn fill="hold" nodeType="afterEffect" presetClass="exit" presetID="10" presetSubtype="0">
                                  <p:stCondLst>
                                    <p:cond delay="0"/>
                                  </p:stCondLst>
                                  <p:childTnLst>
                                    <p:animEffect filter="fade" transition="out">
                                      <p:cBhvr>
                                        <p:cTn dur="500"/>
                                        <p:tgtEl>
                                          <p:spTgt spid="278">
                                            <p:txEl>
                                              <p:pRg end="0" st="0"/>
                                            </p:txEl>
                                          </p:spTgt>
                                        </p:tgtEl>
                                      </p:cBhvr>
                                    </p:animEffect>
                                    <p:set>
                                      <p:cBhvr>
                                        <p:cTn dur="1" fill="hold">
                                          <p:stCondLst>
                                            <p:cond delay="500"/>
                                          </p:stCondLst>
                                        </p:cTn>
                                        <p:tgtEl>
                                          <p:spTgt spid="278">
                                            <p:txEl>
                                              <p:pRg end="0" st="0"/>
                                            </p:txEl>
                                          </p:spTgt>
                                        </p:tgtEl>
                                        <p:attrNameLst>
                                          <p:attrName>style.visibility</p:attrName>
                                        </p:attrNameLst>
                                      </p:cBhvr>
                                      <p:to>
                                        <p:strVal val="hidden"/>
                                      </p:to>
                                    </p:set>
                                  </p:childTnLst>
                                </p:cTn>
                              </p:par>
                            </p:childTnLst>
                          </p:cTn>
                        </p:par>
                        <p:par>
                          <p:cTn fill="hold">
                            <p:stCondLst>
                              <p:cond delay="3000"/>
                            </p:stCondLst>
                            <p:childTnLst>
                              <p:par>
                                <p:cTn fill="hold" nodeType="afterEffect" presetClass="exit" presetID="10" presetSubtype="0">
                                  <p:stCondLst>
                                    <p:cond delay="0"/>
                                  </p:stCondLst>
                                  <p:childTnLst>
                                    <p:animEffect filter="fade" transition="out">
                                      <p:cBhvr>
                                        <p:cTn dur="500"/>
                                        <p:tgtEl>
                                          <p:spTgt spid="278">
                                            <p:txEl>
                                              <p:pRg end="1" st="1"/>
                                            </p:txEl>
                                          </p:spTgt>
                                        </p:tgtEl>
                                      </p:cBhvr>
                                    </p:animEffect>
                                    <p:set>
                                      <p:cBhvr>
                                        <p:cTn dur="1" fill="hold">
                                          <p:stCondLst>
                                            <p:cond delay="500"/>
                                          </p:stCondLst>
                                        </p:cTn>
                                        <p:tgtEl>
                                          <p:spTgt spid="278">
                                            <p:txEl>
                                              <p:pRg end="1" st="1"/>
                                            </p:txEl>
                                          </p:spTgt>
                                        </p:tgtEl>
                                        <p:attrNameLst>
                                          <p:attrName>style.visibility</p:attrName>
                                        </p:attrNameLst>
                                      </p:cBhvr>
                                      <p:to>
                                        <p:strVal val="hidden"/>
                                      </p:to>
                                    </p:se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279">
                                            <p:txEl>
                                              <p:pRg end="0" st="0"/>
                                            </p:txEl>
                                          </p:spTgt>
                                        </p:tgtEl>
                                        <p:attrNameLst>
                                          <p:attrName>style.visibility</p:attrName>
                                        </p:attrNameLst>
                                      </p:cBhvr>
                                      <p:to>
                                        <p:strVal val="visible"/>
                                      </p:to>
                                    </p:set>
                                    <p:animEffect filter="fade" transition="in">
                                      <p:cBhvr>
                                        <p:cTn dur="500"/>
                                        <p:tgtEl>
                                          <p:spTgt spid="279">
                                            <p:txEl>
                                              <p:pRg end="0" st="0"/>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279">
                                            <p:txEl>
                                              <p:pRg end="1" st="1"/>
                                            </p:txEl>
                                          </p:spTgt>
                                        </p:tgtEl>
                                        <p:attrNameLst>
                                          <p:attrName>style.visibility</p:attrName>
                                        </p:attrNameLst>
                                      </p:cBhvr>
                                      <p:to>
                                        <p:strVal val="visible"/>
                                      </p:to>
                                    </p:set>
                                    <p:animEffect filter="fade" transition="in">
                                      <p:cBhvr>
                                        <p:cTn dur="500"/>
                                        <p:tgtEl>
                                          <p:spTgt spid="279">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2"/>
                                        </p:tgtEl>
                                        <p:attrNameLst>
                                          <p:attrName>style.visibility</p:attrName>
                                        </p:attrNameLst>
                                      </p:cBhvr>
                                      <p:to>
                                        <p:strVal val="visible"/>
                                      </p:to>
                                    </p:set>
                                    <p:animEffect filter="fade" transition="in">
                                      <p:cBhvr>
                                        <p:cTn dur="500"/>
                                        <p:tgtEl>
                                          <p:spTgt spid="32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23"/>
                                        </p:tgtEl>
                                        <p:attrNameLst>
                                          <p:attrName>style.visibility</p:attrName>
                                        </p:attrNameLst>
                                      </p:cBhvr>
                                      <p:to>
                                        <p:strVal val="visible"/>
                                      </p:to>
                                    </p:set>
                                    <p:animEffect filter="fade" transition="in">
                                      <p:cBhvr>
                                        <p:cTn dur="500"/>
                                        <p:tgtEl>
                                          <p:spTgt spid="323"/>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24"/>
                                        </p:tgtEl>
                                        <p:attrNameLst>
                                          <p:attrName>style.visibility</p:attrName>
                                        </p:attrNameLst>
                                      </p:cBhvr>
                                      <p:to>
                                        <p:strVal val="visible"/>
                                      </p:to>
                                    </p:set>
                                    <p:animEffect filter="fade" transition="in">
                                      <p:cBhvr>
                                        <p:cTn dur="500"/>
                                        <p:tgtEl>
                                          <p:spTgt spid="324"/>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25"/>
                                        </p:tgtEl>
                                        <p:attrNameLst>
                                          <p:attrName>style.visibility</p:attrName>
                                        </p:attrNameLst>
                                      </p:cBhvr>
                                      <p:to>
                                        <p:strVal val="visible"/>
                                      </p:to>
                                    </p:set>
                                    <p:animEffect filter="fade" transition="in">
                                      <p:cBhvr>
                                        <p:cTn dur="500"/>
                                        <p:tgtEl>
                                          <p:spTgt spid="3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25"/>
                                        </p:tgtEl>
                                      </p:cBhvr>
                                    </p:animEffect>
                                    <p:set>
                                      <p:cBhvr>
                                        <p:cTn dur="1" fill="hold">
                                          <p:stCondLst>
                                            <p:cond delay="500"/>
                                          </p:stCondLst>
                                        </p:cTn>
                                        <p:tgtEl>
                                          <p:spTgt spid="325"/>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24"/>
                                        </p:tgtEl>
                                      </p:cBhvr>
                                    </p:animEffect>
                                    <p:set>
                                      <p:cBhvr>
                                        <p:cTn dur="1" fill="hold">
                                          <p:stCondLst>
                                            <p:cond delay="500"/>
                                          </p:stCondLst>
                                        </p:cTn>
                                        <p:tgtEl>
                                          <p:spTgt spid="324"/>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23"/>
                                        </p:tgtEl>
                                      </p:cBhvr>
                                    </p:animEffect>
                                    <p:set>
                                      <p:cBhvr>
                                        <p:cTn dur="1" fill="hold">
                                          <p:stCondLst>
                                            <p:cond delay="500"/>
                                          </p:stCondLst>
                                        </p:cTn>
                                        <p:tgtEl>
                                          <p:spTgt spid="323"/>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22"/>
                                        </p:tgtEl>
                                      </p:cBhvr>
                                    </p:animEffect>
                                    <p:set>
                                      <p:cBhvr>
                                        <p:cTn dur="1" fill="hold">
                                          <p:stCondLst>
                                            <p:cond delay="500"/>
                                          </p:stCondLst>
                                        </p:cTn>
                                        <p:tgtEl>
                                          <p:spTgt spid="322"/>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279">
                                            <p:txEl>
                                              <p:pRg end="0" st="0"/>
                                            </p:txEl>
                                          </p:spTgt>
                                        </p:tgtEl>
                                      </p:cBhvr>
                                    </p:animEffect>
                                    <p:set>
                                      <p:cBhvr>
                                        <p:cTn dur="1" fill="hold">
                                          <p:stCondLst>
                                            <p:cond delay="500"/>
                                          </p:stCondLst>
                                        </p:cTn>
                                        <p:tgtEl>
                                          <p:spTgt spid="279">
                                            <p:txEl>
                                              <p:pRg end="0" st="0"/>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xit" presetID="10" presetSubtype="0">
                                  <p:stCondLst>
                                    <p:cond delay="0"/>
                                  </p:stCondLst>
                                  <p:childTnLst>
                                    <p:animEffect filter="fade" transition="out">
                                      <p:cBhvr>
                                        <p:cTn dur="500"/>
                                        <p:tgtEl>
                                          <p:spTgt spid="279">
                                            <p:txEl>
                                              <p:pRg end="1" st="1"/>
                                            </p:txEl>
                                          </p:spTgt>
                                        </p:tgtEl>
                                      </p:cBhvr>
                                    </p:animEffect>
                                    <p:set>
                                      <p:cBhvr>
                                        <p:cTn dur="1" fill="hold">
                                          <p:stCondLst>
                                            <p:cond delay="500"/>
                                          </p:stCondLst>
                                        </p:cTn>
                                        <p:tgtEl>
                                          <p:spTgt spid="279">
                                            <p:txEl>
                                              <p:pRg end="1" st="1"/>
                                            </p:txEl>
                                          </p:spTgt>
                                        </p:tgtEl>
                                        <p:attrNameLst>
                                          <p:attrName>style.visibility</p:attrName>
                                        </p:attrNameLst>
                                      </p:cBhvr>
                                      <p:to>
                                        <p:strVal val="hidden"/>
                                      </p:to>
                                    </p:se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281">
                                            <p:txEl>
                                              <p:pRg end="0" st="0"/>
                                            </p:txEl>
                                          </p:spTgt>
                                        </p:tgtEl>
                                        <p:attrNameLst>
                                          <p:attrName>style.visibility</p:attrName>
                                        </p:attrNameLst>
                                      </p:cBhvr>
                                      <p:to>
                                        <p:strVal val="visible"/>
                                      </p:to>
                                    </p:set>
                                    <p:animEffect filter="fade" transition="in">
                                      <p:cBhvr>
                                        <p:cTn dur="500"/>
                                        <p:tgtEl>
                                          <p:spTgt spid="281">
                                            <p:txEl>
                                              <p:pRg end="0" st="0"/>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281">
                                            <p:txEl>
                                              <p:pRg end="1" st="1"/>
                                            </p:txEl>
                                          </p:spTgt>
                                        </p:tgtEl>
                                        <p:attrNameLst>
                                          <p:attrName>style.visibility</p:attrName>
                                        </p:attrNameLst>
                                      </p:cBhvr>
                                      <p:to>
                                        <p:strVal val="visible"/>
                                      </p:to>
                                    </p:set>
                                    <p:animEffect filter="fade" transition="in">
                                      <p:cBhvr>
                                        <p:cTn dur="500"/>
                                        <p:tgtEl>
                                          <p:spTgt spid="281">
                                            <p:txEl>
                                              <p:pRg end="1" st="1"/>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326"/>
                                        </p:tgtEl>
                                        <p:attrNameLst>
                                          <p:attrName>style.visibility</p:attrName>
                                        </p:attrNameLst>
                                      </p:cBhvr>
                                      <p:to>
                                        <p:strVal val="visible"/>
                                      </p:to>
                                    </p:set>
                                    <p:animEffect filter="fade" transition="in">
                                      <p:cBhvr>
                                        <p:cTn dur="500"/>
                                        <p:tgtEl>
                                          <p:spTgt spid="326"/>
                                        </p:tgtEl>
                                      </p:cBhvr>
                                    </p:animEffect>
                                  </p:childTnLst>
                                </p:cTn>
                              </p:par>
                            </p:childTnLst>
                          </p:cTn>
                        </p:par>
                        <p:par>
                          <p:cTn fill="hold">
                            <p:stCondLst>
                              <p:cond delay="4500"/>
                            </p:stCondLst>
                            <p:childTnLst>
                              <p:par>
                                <p:cTn fill="hold" nodeType="afterEffect" presetClass="entr" presetID="10" presetSubtype="0">
                                  <p:stCondLst>
                                    <p:cond delay="0"/>
                                  </p:stCondLst>
                                  <p:childTnLst>
                                    <p:set>
                                      <p:cBhvr>
                                        <p:cTn dur="1" fill="hold">
                                          <p:stCondLst>
                                            <p:cond delay="0"/>
                                          </p:stCondLst>
                                        </p:cTn>
                                        <p:tgtEl>
                                          <p:spTgt spid="327"/>
                                        </p:tgtEl>
                                        <p:attrNameLst>
                                          <p:attrName>style.visibility</p:attrName>
                                        </p:attrNameLst>
                                      </p:cBhvr>
                                      <p:to>
                                        <p:strVal val="visible"/>
                                      </p:to>
                                    </p:set>
                                    <p:animEffect filter="fade" transition="in">
                                      <p:cBhvr>
                                        <p:cTn dur="500"/>
                                        <p:tgtEl>
                                          <p:spTgt spid="3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27"/>
                                        </p:tgtEl>
                                      </p:cBhvr>
                                    </p:animEffect>
                                    <p:set>
                                      <p:cBhvr>
                                        <p:cTn dur="1" fill="hold">
                                          <p:stCondLst>
                                            <p:cond delay="500"/>
                                          </p:stCondLst>
                                        </p:cTn>
                                        <p:tgtEl>
                                          <p:spTgt spid="327"/>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26"/>
                                        </p:tgtEl>
                                      </p:cBhvr>
                                    </p:animEffect>
                                    <p:set>
                                      <p:cBhvr>
                                        <p:cTn dur="1" fill="hold">
                                          <p:stCondLst>
                                            <p:cond delay="500"/>
                                          </p:stCondLst>
                                        </p:cTn>
                                        <p:tgtEl>
                                          <p:spTgt spid="326"/>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281">
                                            <p:txEl>
                                              <p:pRg end="0" st="0"/>
                                            </p:txEl>
                                          </p:spTgt>
                                        </p:tgtEl>
                                      </p:cBhvr>
                                    </p:animEffect>
                                    <p:set>
                                      <p:cBhvr>
                                        <p:cTn dur="1" fill="hold">
                                          <p:stCondLst>
                                            <p:cond delay="500"/>
                                          </p:stCondLst>
                                        </p:cTn>
                                        <p:tgtEl>
                                          <p:spTgt spid="281">
                                            <p:txEl>
                                              <p:pRg end="0" st="0"/>
                                            </p:txEl>
                                          </p:spTgt>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281">
                                            <p:txEl>
                                              <p:pRg end="1" st="1"/>
                                            </p:txEl>
                                          </p:spTgt>
                                        </p:tgtEl>
                                      </p:cBhvr>
                                    </p:animEffect>
                                    <p:set>
                                      <p:cBhvr>
                                        <p:cTn dur="1" fill="hold">
                                          <p:stCondLst>
                                            <p:cond delay="500"/>
                                          </p:stCondLst>
                                        </p:cTn>
                                        <p:tgtEl>
                                          <p:spTgt spid="281">
                                            <p:txEl>
                                              <p:pRg end="1" st="1"/>
                                            </p:txEl>
                                          </p:spTgt>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D0365"/>
        </a:solidFill>
      </p:bgPr>
    </p:bg>
    <p:spTree>
      <p:nvGrpSpPr>
        <p:cNvPr id="331" name="Shape 331"/>
        <p:cNvGrpSpPr/>
        <p:nvPr/>
      </p:nvGrpSpPr>
      <p:grpSpPr>
        <a:xfrm>
          <a:off x="0" y="0"/>
          <a:ext cx="0" cy="0"/>
          <a:chOff x="0" y="0"/>
          <a:chExt cx="0" cy="0"/>
        </a:xfrm>
      </p:grpSpPr>
      <p:sp>
        <p:nvSpPr>
          <p:cNvPr id="332" name="Google Shape;332;p23"/>
          <p:cNvSpPr txBox="1"/>
          <p:nvPr/>
        </p:nvSpPr>
        <p:spPr>
          <a:xfrm>
            <a:off x="755647" y="738107"/>
            <a:ext cx="36391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CD0365"/>
              </a:buClr>
              <a:buSzPts val="2400"/>
              <a:buFont typeface="Roboto"/>
              <a:buNone/>
            </a:pPr>
            <a:r>
              <a:rPr b="1" lang="en-GB" sz="2400">
                <a:solidFill>
                  <a:srgbClr val="CD0365"/>
                </a:solidFill>
                <a:latin typeface="Roboto"/>
                <a:ea typeface="Roboto"/>
                <a:cs typeface="Roboto"/>
                <a:sym typeface="Roboto"/>
              </a:rPr>
              <a:t>Parts of a BBC Micro:bit</a:t>
            </a:r>
            <a:endParaRPr b="1" sz="2400">
              <a:solidFill>
                <a:srgbClr val="CD0365"/>
              </a:solidFill>
              <a:latin typeface="Roboto"/>
              <a:ea typeface="Roboto"/>
              <a:cs typeface="Roboto"/>
              <a:sym typeface="Roboto"/>
            </a:endParaRPr>
          </a:p>
        </p:txBody>
      </p:sp>
      <p:pic>
        <p:nvPicPr>
          <p:cNvPr id="333" name="Google Shape;333;p23"/>
          <p:cNvPicPr preferRelativeResize="0"/>
          <p:nvPr/>
        </p:nvPicPr>
        <p:blipFill rotWithShape="1">
          <a:blip r:embed="rId3">
            <a:alphaModFix/>
          </a:blip>
          <a:srcRect b="0" l="0" r="0" t="0"/>
          <a:stretch/>
        </p:blipFill>
        <p:spPr>
          <a:xfrm>
            <a:off x="2752405" y="2304520"/>
            <a:ext cx="3639187" cy="2938643"/>
          </a:xfrm>
          <a:prstGeom prst="rect">
            <a:avLst/>
          </a:prstGeom>
          <a:noFill/>
          <a:ln>
            <a:noFill/>
          </a:ln>
        </p:spPr>
      </p:pic>
      <p:sp>
        <p:nvSpPr>
          <p:cNvPr id="334" name="Google Shape;334;p23"/>
          <p:cNvSpPr/>
          <p:nvPr/>
        </p:nvSpPr>
        <p:spPr>
          <a:xfrm>
            <a:off x="755650" y="1482396"/>
            <a:ext cx="1753235" cy="22775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Radio and Bluetooth</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The micro:bit can communicate wirelessly with other micro:bits using radio waves. Tablets can also connect to the micro:bit wirelessly via Bluetooth.</a:t>
            </a:r>
            <a:endParaRPr/>
          </a:p>
        </p:txBody>
      </p:sp>
      <p:cxnSp>
        <p:nvCxnSpPr>
          <p:cNvPr id="335" name="Google Shape;335;p23"/>
          <p:cNvCxnSpPr/>
          <p:nvPr/>
        </p:nvCxnSpPr>
        <p:spPr>
          <a:xfrm>
            <a:off x="1909445" y="1636395"/>
            <a:ext cx="1175385" cy="0"/>
          </a:xfrm>
          <a:prstGeom prst="straightConnector1">
            <a:avLst/>
          </a:prstGeom>
          <a:noFill/>
          <a:ln cap="flat" cmpd="sng" w="38100">
            <a:solidFill>
              <a:srgbClr val="CD0365"/>
            </a:solidFill>
            <a:prstDash val="solid"/>
            <a:miter lim="8000"/>
            <a:headEnd len="sm" w="sm" type="none"/>
            <a:tailEnd len="sm" w="sm" type="none"/>
          </a:ln>
        </p:spPr>
      </p:cxnSp>
      <p:cxnSp>
        <p:nvCxnSpPr>
          <p:cNvPr id="336" name="Google Shape;336;p23"/>
          <p:cNvCxnSpPr>
            <a:endCxn id="337" idx="0"/>
          </p:cNvCxnSpPr>
          <p:nvPr/>
        </p:nvCxnSpPr>
        <p:spPr>
          <a:xfrm>
            <a:off x="3067587" y="1625581"/>
            <a:ext cx="2100" cy="1045800"/>
          </a:xfrm>
          <a:prstGeom prst="straightConnector1">
            <a:avLst/>
          </a:prstGeom>
          <a:noFill/>
          <a:ln cap="flat" cmpd="sng" w="38100">
            <a:solidFill>
              <a:srgbClr val="CD0365"/>
            </a:solidFill>
            <a:prstDash val="solid"/>
            <a:miter lim="8000"/>
            <a:headEnd len="sm" w="sm" type="none"/>
            <a:tailEnd len="sm" w="sm" type="none"/>
          </a:ln>
        </p:spPr>
      </p:cxnSp>
      <p:sp>
        <p:nvSpPr>
          <p:cNvPr id="337" name="Google Shape;337;p23"/>
          <p:cNvSpPr/>
          <p:nvPr/>
        </p:nvSpPr>
        <p:spPr>
          <a:xfrm rot="-2608010">
            <a:off x="2623990" y="2607125"/>
            <a:ext cx="1213781" cy="468630"/>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338" name="Google Shape;338;p23"/>
          <p:cNvSpPr/>
          <p:nvPr/>
        </p:nvSpPr>
        <p:spPr>
          <a:xfrm>
            <a:off x="763221" y="1482396"/>
            <a:ext cx="1753236" cy="35086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Processor</a:t>
            </a:r>
            <a:endParaRPr b="1" sz="1400">
              <a:solidFill>
                <a:schemeClr val="dk1"/>
              </a:solidFill>
              <a:latin typeface="Roboto"/>
              <a:ea typeface="Roboto"/>
              <a:cs typeface="Roboto"/>
              <a:sym typeface="Roboto"/>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micro:bit contains a microprocessor. A processor is sometimes called the ‘brains’ of a computer. The processor receives the inputs, runs the programs and gives outputs. It fetches, decodes and carries out the instructions coded on an online micro:bit editor.</a:t>
            </a:r>
            <a:endParaRPr/>
          </a:p>
        </p:txBody>
      </p:sp>
      <p:cxnSp>
        <p:nvCxnSpPr>
          <p:cNvPr id="339" name="Google Shape;339;p23"/>
          <p:cNvCxnSpPr/>
          <p:nvPr/>
        </p:nvCxnSpPr>
        <p:spPr>
          <a:xfrm>
            <a:off x="1994535" y="1636395"/>
            <a:ext cx="1650365" cy="0"/>
          </a:xfrm>
          <a:prstGeom prst="straightConnector1">
            <a:avLst/>
          </a:prstGeom>
          <a:noFill/>
          <a:ln cap="flat" cmpd="sng" w="38100">
            <a:solidFill>
              <a:srgbClr val="CD0365"/>
            </a:solidFill>
            <a:prstDash val="solid"/>
            <a:miter lim="8000"/>
            <a:headEnd len="sm" w="sm" type="none"/>
            <a:tailEnd len="sm" w="sm" type="none"/>
          </a:ln>
        </p:spPr>
      </p:cxnSp>
      <p:cxnSp>
        <p:nvCxnSpPr>
          <p:cNvPr id="340" name="Google Shape;340;p23"/>
          <p:cNvCxnSpPr/>
          <p:nvPr/>
        </p:nvCxnSpPr>
        <p:spPr>
          <a:xfrm>
            <a:off x="3627755" y="1625600"/>
            <a:ext cx="0" cy="1511935"/>
          </a:xfrm>
          <a:prstGeom prst="straightConnector1">
            <a:avLst/>
          </a:prstGeom>
          <a:noFill/>
          <a:ln cap="flat" cmpd="sng" w="38100">
            <a:solidFill>
              <a:srgbClr val="CD0365"/>
            </a:solidFill>
            <a:prstDash val="solid"/>
            <a:miter lim="8000"/>
            <a:headEnd len="sm" w="sm" type="none"/>
            <a:tailEnd len="sm" w="sm" type="none"/>
          </a:ln>
        </p:spPr>
      </p:cxnSp>
      <p:sp>
        <p:nvSpPr>
          <p:cNvPr id="341" name="Google Shape;341;p23"/>
          <p:cNvSpPr/>
          <p:nvPr/>
        </p:nvSpPr>
        <p:spPr>
          <a:xfrm rot="2700000">
            <a:off x="3270885" y="3236722"/>
            <a:ext cx="714424" cy="714424"/>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342" name="Google Shape;342;p23"/>
          <p:cNvSpPr/>
          <p:nvPr/>
        </p:nvSpPr>
        <p:spPr>
          <a:xfrm>
            <a:off x="6762109" y="2450402"/>
            <a:ext cx="1782762" cy="264687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Battery</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micro:bit can also be powered using a battery pack. Instead of using a computer to power it, the battery pack can be plugged into the micro:bit. Using the battery pack is very handy if you want to take the micro:bit outside. </a:t>
            </a:r>
            <a:endParaRPr/>
          </a:p>
        </p:txBody>
      </p:sp>
      <p:cxnSp>
        <p:nvCxnSpPr>
          <p:cNvPr id="343" name="Google Shape;343;p23"/>
          <p:cNvCxnSpPr/>
          <p:nvPr/>
        </p:nvCxnSpPr>
        <p:spPr>
          <a:xfrm>
            <a:off x="6292215" y="2600325"/>
            <a:ext cx="391160" cy="0"/>
          </a:xfrm>
          <a:prstGeom prst="straightConnector1">
            <a:avLst/>
          </a:prstGeom>
          <a:noFill/>
          <a:ln cap="flat" cmpd="sng" w="38100">
            <a:solidFill>
              <a:srgbClr val="CD0365"/>
            </a:solidFill>
            <a:prstDash val="solid"/>
            <a:miter lim="8000"/>
            <a:headEnd len="sm" w="sm" type="none"/>
            <a:tailEnd len="sm" w="sm" type="none"/>
          </a:ln>
        </p:spPr>
      </p:cxnSp>
      <p:sp>
        <p:nvSpPr>
          <p:cNvPr id="344" name="Google Shape;344;p23"/>
          <p:cNvSpPr/>
          <p:nvPr/>
        </p:nvSpPr>
        <p:spPr>
          <a:xfrm>
            <a:off x="5469255" y="2240967"/>
            <a:ext cx="840105" cy="896568"/>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345" name="Google Shape;345;p23"/>
          <p:cNvSpPr/>
          <p:nvPr/>
        </p:nvSpPr>
        <p:spPr>
          <a:xfrm>
            <a:off x="6762109" y="3512223"/>
            <a:ext cx="1638833" cy="206210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USB interface chip</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interface chip allows you to connect a computer to a micro:bit so you can transfer programs to it and power it.</a:t>
            </a:r>
            <a:endParaRPr/>
          </a:p>
        </p:txBody>
      </p:sp>
      <p:cxnSp>
        <p:nvCxnSpPr>
          <p:cNvPr id="346" name="Google Shape;346;p23"/>
          <p:cNvCxnSpPr/>
          <p:nvPr/>
        </p:nvCxnSpPr>
        <p:spPr>
          <a:xfrm>
            <a:off x="6006148" y="3651897"/>
            <a:ext cx="677227" cy="0"/>
          </a:xfrm>
          <a:prstGeom prst="straightConnector1">
            <a:avLst/>
          </a:prstGeom>
          <a:noFill/>
          <a:ln cap="flat" cmpd="sng" w="38100">
            <a:solidFill>
              <a:srgbClr val="CD0365"/>
            </a:solidFill>
            <a:prstDash val="solid"/>
            <a:miter lim="8000"/>
            <a:headEnd len="sm" w="sm" type="none"/>
            <a:tailEnd len="sm" w="sm" type="none"/>
          </a:ln>
        </p:spPr>
      </p:cxnSp>
      <p:sp>
        <p:nvSpPr>
          <p:cNvPr id="347" name="Google Shape;347;p23"/>
          <p:cNvSpPr/>
          <p:nvPr/>
        </p:nvSpPr>
        <p:spPr>
          <a:xfrm>
            <a:off x="5398618" y="3361119"/>
            <a:ext cx="607530" cy="599375"/>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348" name="Google Shape;348;p23"/>
          <p:cNvSpPr/>
          <p:nvPr/>
        </p:nvSpPr>
        <p:spPr>
          <a:xfrm>
            <a:off x="733267" y="1601561"/>
            <a:ext cx="1648621" cy="30777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Reset button</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Use the reset button to reset the micro:bit or restart a program from the beginning. </a:t>
            </a:r>
            <a:br>
              <a:rPr lang="en-GB" sz="1400">
                <a:solidFill>
                  <a:schemeClr val="dk1"/>
                </a:solidFill>
                <a:latin typeface="Roboto"/>
                <a:ea typeface="Roboto"/>
                <a:cs typeface="Roboto"/>
                <a:sym typeface="Roboto"/>
              </a:rPr>
            </a:br>
            <a:r>
              <a:rPr lang="en-GB" sz="1400">
                <a:solidFill>
                  <a:schemeClr val="dk1"/>
                </a:solidFill>
                <a:latin typeface="Roboto"/>
                <a:ea typeface="Roboto"/>
                <a:cs typeface="Roboto"/>
                <a:sym typeface="Roboto"/>
              </a:rPr>
              <a:t>You can also place the micro:bit into power-saving sleep mode by holding down the button and waiting until the red LED on the left goes dark before releasing the button.</a:t>
            </a:r>
            <a:endParaRPr/>
          </a:p>
        </p:txBody>
      </p:sp>
      <p:cxnSp>
        <p:nvCxnSpPr>
          <p:cNvPr id="349" name="Google Shape;349;p23"/>
          <p:cNvCxnSpPr/>
          <p:nvPr/>
        </p:nvCxnSpPr>
        <p:spPr>
          <a:xfrm>
            <a:off x="2171700" y="1760220"/>
            <a:ext cx="3106655" cy="0"/>
          </a:xfrm>
          <a:prstGeom prst="straightConnector1">
            <a:avLst/>
          </a:prstGeom>
          <a:noFill/>
          <a:ln cap="flat" cmpd="sng" w="38100">
            <a:solidFill>
              <a:srgbClr val="CD0365"/>
            </a:solidFill>
            <a:prstDash val="solid"/>
            <a:miter lim="8000"/>
            <a:headEnd len="sm" w="sm" type="none"/>
            <a:tailEnd len="sm" w="sm" type="none"/>
          </a:ln>
        </p:spPr>
      </p:cxnSp>
      <p:cxnSp>
        <p:nvCxnSpPr>
          <p:cNvPr id="350" name="Google Shape;350;p23"/>
          <p:cNvCxnSpPr/>
          <p:nvPr/>
        </p:nvCxnSpPr>
        <p:spPr>
          <a:xfrm>
            <a:off x="5261210" y="1760220"/>
            <a:ext cx="0" cy="817245"/>
          </a:xfrm>
          <a:prstGeom prst="straightConnector1">
            <a:avLst/>
          </a:prstGeom>
          <a:noFill/>
          <a:ln cap="flat" cmpd="sng" w="38100">
            <a:solidFill>
              <a:srgbClr val="CD0365"/>
            </a:solidFill>
            <a:prstDash val="solid"/>
            <a:miter lim="8000"/>
            <a:headEnd len="sm" w="sm" type="none"/>
            <a:tailEnd len="sm" w="sm" type="none"/>
          </a:ln>
        </p:spPr>
      </p:cxnSp>
      <p:sp>
        <p:nvSpPr>
          <p:cNvPr id="351" name="Google Shape;351;p23"/>
          <p:cNvSpPr/>
          <p:nvPr/>
        </p:nvSpPr>
        <p:spPr>
          <a:xfrm>
            <a:off x="5168618" y="2560320"/>
            <a:ext cx="185184" cy="185184"/>
          </a:xfrm>
          <a:prstGeom prst="ellipse">
            <a:avLst/>
          </a:prstGeom>
          <a:solidFill>
            <a:srgbClr val="CD03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52" name="Google Shape;352;p23"/>
          <p:cNvSpPr/>
          <p:nvPr/>
        </p:nvSpPr>
        <p:spPr>
          <a:xfrm>
            <a:off x="733266" y="5269009"/>
            <a:ext cx="3838733" cy="9233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Compass</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The micro:bit has a built-in compass that can detect the direction in which it is facing and  measure the strength of magnetic fields.</a:t>
            </a:r>
            <a:endParaRPr/>
          </a:p>
        </p:txBody>
      </p:sp>
      <p:cxnSp>
        <p:nvCxnSpPr>
          <p:cNvPr id="353" name="Google Shape;353;p23"/>
          <p:cNvCxnSpPr/>
          <p:nvPr/>
        </p:nvCxnSpPr>
        <p:spPr>
          <a:xfrm>
            <a:off x="1777365" y="5434965"/>
            <a:ext cx="1620755" cy="0"/>
          </a:xfrm>
          <a:prstGeom prst="straightConnector1">
            <a:avLst/>
          </a:prstGeom>
          <a:noFill/>
          <a:ln cap="flat" cmpd="sng" w="38100">
            <a:solidFill>
              <a:srgbClr val="CD0365"/>
            </a:solidFill>
            <a:prstDash val="solid"/>
            <a:miter lim="8000"/>
            <a:headEnd len="sm" w="sm" type="none"/>
            <a:tailEnd len="sm" w="sm" type="none"/>
          </a:ln>
        </p:spPr>
      </p:cxnSp>
      <p:cxnSp>
        <p:nvCxnSpPr>
          <p:cNvPr id="354" name="Google Shape;354;p23"/>
          <p:cNvCxnSpPr>
            <a:stCxn id="355" idx="2"/>
          </p:cNvCxnSpPr>
          <p:nvPr/>
        </p:nvCxnSpPr>
        <p:spPr>
          <a:xfrm>
            <a:off x="3398120" y="4585938"/>
            <a:ext cx="0" cy="866100"/>
          </a:xfrm>
          <a:prstGeom prst="straightConnector1">
            <a:avLst/>
          </a:prstGeom>
          <a:noFill/>
          <a:ln cap="flat" cmpd="sng" w="38100">
            <a:solidFill>
              <a:srgbClr val="CD0365"/>
            </a:solidFill>
            <a:prstDash val="solid"/>
            <a:miter lim="8000"/>
            <a:headEnd len="sm" w="sm" type="none"/>
            <a:tailEnd len="sm" w="sm" type="none"/>
          </a:ln>
        </p:spPr>
      </p:cxnSp>
      <p:sp>
        <p:nvSpPr>
          <p:cNvPr id="355" name="Google Shape;355;p23"/>
          <p:cNvSpPr/>
          <p:nvPr/>
        </p:nvSpPr>
        <p:spPr>
          <a:xfrm>
            <a:off x="3238100" y="4265898"/>
            <a:ext cx="320040" cy="320040"/>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56" name="Google Shape;356;p23"/>
          <p:cNvSpPr/>
          <p:nvPr/>
        </p:nvSpPr>
        <p:spPr>
          <a:xfrm>
            <a:off x="733267" y="2374450"/>
            <a:ext cx="1688754" cy="264687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Accelerometer</a:t>
            </a:r>
            <a:endParaRPr/>
          </a:p>
          <a:p>
            <a:pPr indent="0" lvl="0" marL="0" marR="0" rtl="0" algn="l">
              <a:spcBef>
                <a:spcPts val="0"/>
              </a:spcBef>
              <a:spcAft>
                <a:spcPts val="0"/>
              </a:spcAft>
              <a:buClr>
                <a:schemeClr val="dk1"/>
              </a:buClr>
              <a:buSzPts val="1400"/>
              <a:buFont typeface="Roboto"/>
              <a:buNone/>
            </a:pPr>
            <a:r>
              <a:rPr lang="en-GB" sz="1400">
                <a:solidFill>
                  <a:schemeClr val="dk1"/>
                </a:solidFill>
                <a:latin typeface="Roboto"/>
                <a:ea typeface="Roboto"/>
                <a:cs typeface="Roboto"/>
                <a:sym typeface="Roboto"/>
              </a:rPr>
              <a:t>The micro:bit contains a motion sensor that measures movement. The accelerometer can detect when the micro:bit is tilted left to right, backwards and forwards and up and down.</a:t>
            </a:r>
            <a:endParaRPr/>
          </a:p>
        </p:txBody>
      </p:sp>
      <p:cxnSp>
        <p:nvCxnSpPr>
          <p:cNvPr id="357" name="Google Shape;357;p23"/>
          <p:cNvCxnSpPr/>
          <p:nvPr/>
        </p:nvCxnSpPr>
        <p:spPr>
          <a:xfrm>
            <a:off x="2337435" y="2531745"/>
            <a:ext cx="1077830" cy="0"/>
          </a:xfrm>
          <a:prstGeom prst="straightConnector1">
            <a:avLst/>
          </a:prstGeom>
          <a:noFill/>
          <a:ln cap="flat" cmpd="sng" w="38100">
            <a:solidFill>
              <a:srgbClr val="CD0365"/>
            </a:solidFill>
            <a:prstDash val="solid"/>
            <a:miter lim="8000"/>
            <a:headEnd len="sm" w="sm" type="none"/>
            <a:tailEnd len="sm" w="sm" type="none"/>
          </a:ln>
        </p:spPr>
      </p:cxnSp>
      <p:cxnSp>
        <p:nvCxnSpPr>
          <p:cNvPr id="358" name="Google Shape;358;p23"/>
          <p:cNvCxnSpPr/>
          <p:nvPr/>
        </p:nvCxnSpPr>
        <p:spPr>
          <a:xfrm>
            <a:off x="3398120" y="2531745"/>
            <a:ext cx="0" cy="1731645"/>
          </a:xfrm>
          <a:prstGeom prst="straightConnector1">
            <a:avLst/>
          </a:prstGeom>
          <a:noFill/>
          <a:ln cap="flat" cmpd="sng" w="38100">
            <a:solidFill>
              <a:srgbClr val="CD0365"/>
            </a:solidFill>
            <a:prstDash val="solid"/>
            <a:miter lim="8000"/>
            <a:headEnd len="sm" w="sm" type="none"/>
            <a:tailEnd len="sm" w="sm" type="none"/>
          </a:ln>
        </p:spPr>
      </p:cxnSp>
      <p:sp>
        <p:nvSpPr>
          <p:cNvPr id="359" name="Google Shape;359;p23"/>
          <p:cNvSpPr/>
          <p:nvPr/>
        </p:nvSpPr>
        <p:spPr>
          <a:xfrm>
            <a:off x="5261210" y="871645"/>
            <a:ext cx="3384396" cy="135421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Micro USB Socket</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A micro USB can be used to connect a computer or laptop to the micro:bit.</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This allows the micro:bit to have programs transferred to it and to be powered without using a battery pack.</a:t>
            </a:r>
            <a:endParaRPr/>
          </a:p>
        </p:txBody>
      </p:sp>
      <p:cxnSp>
        <p:nvCxnSpPr>
          <p:cNvPr id="360" name="Google Shape;360;p23"/>
          <p:cNvCxnSpPr/>
          <p:nvPr/>
        </p:nvCxnSpPr>
        <p:spPr>
          <a:xfrm>
            <a:off x="4562473" y="1022985"/>
            <a:ext cx="609202" cy="0"/>
          </a:xfrm>
          <a:prstGeom prst="straightConnector1">
            <a:avLst/>
          </a:prstGeom>
          <a:noFill/>
          <a:ln cap="flat" cmpd="sng" w="38100">
            <a:solidFill>
              <a:srgbClr val="CD0365"/>
            </a:solidFill>
            <a:prstDash val="solid"/>
            <a:miter lim="8000"/>
            <a:headEnd len="sm" w="sm" type="none"/>
            <a:tailEnd len="sm" w="sm" type="none"/>
          </a:ln>
        </p:spPr>
      </p:cxnSp>
      <p:cxnSp>
        <p:nvCxnSpPr>
          <p:cNvPr id="361" name="Google Shape;361;p23"/>
          <p:cNvCxnSpPr/>
          <p:nvPr/>
        </p:nvCxnSpPr>
        <p:spPr>
          <a:xfrm>
            <a:off x="4579220" y="1017270"/>
            <a:ext cx="0" cy="1228942"/>
          </a:xfrm>
          <a:prstGeom prst="straightConnector1">
            <a:avLst/>
          </a:prstGeom>
          <a:noFill/>
          <a:ln cap="flat" cmpd="sng" w="38100">
            <a:solidFill>
              <a:srgbClr val="CD0365"/>
            </a:solidFill>
            <a:prstDash val="solid"/>
            <a:miter lim="8000"/>
            <a:headEnd len="sm" w="sm" type="none"/>
            <a:tailEnd len="sm" w="sm" type="none"/>
          </a:ln>
        </p:spPr>
      </p:cxnSp>
      <p:sp>
        <p:nvSpPr>
          <p:cNvPr id="362" name="Google Shape;362;p23"/>
          <p:cNvSpPr/>
          <p:nvPr/>
        </p:nvSpPr>
        <p:spPr>
          <a:xfrm>
            <a:off x="4242577" y="2240279"/>
            <a:ext cx="676809" cy="505189"/>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3" name="Google Shape;363;p23"/>
          <p:cNvSpPr/>
          <p:nvPr/>
        </p:nvSpPr>
        <p:spPr>
          <a:xfrm>
            <a:off x="1737360" y="5288896"/>
            <a:ext cx="6650989" cy="9233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b="1" lang="en-GB" sz="1800">
                <a:solidFill>
                  <a:schemeClr val="dk1"/>
                </a:solidFill>
                <a:latin typeface="Roboto"/>
                <a:ea typeface="Roboto"/>
                <a:cs typeface="Roboto"/>
                <a:sym typeface="Roboto"/>
              </a:rPr>
              <a:t>Single LEDs</a:t>
            </a:r>
            <a:endParaRPr/>
          </a:p>
          <a:p>
            <a:pPr indent="0" lvl="0" marL="0" marR="0" rtl="0" algn="l">
              <a:spcBef>
                <a:spcPts val="0"/>
              </a:spcBef>
              <a:spcAft>
                <a:spcPts val="0"/>
              </a:spcAft>
              <a:buNone/>
            </a:pPr>
            <a:r>
              <a:rPr lang="en-GB" sz="1400">
                <a:solidFill>
                  <a:schemeClr val="dk1"/>
                </a:solidFill>
                <a:latin typeface="Roboto"/>
                <a:ea typeface="Roboto"/>
                <a:cs typeface="Roboto"/>
                <a:sym typeface="Roboto"/>
              </a:rPr>
              <a:t>The right-hand single LED on the back of the micro:bit will flash yellow when a program is being flashed on to it. The left-hand single LED will light up red to show that the micro:bit is being powered by either the micro USB socket or a battery pack.</a:t>
            </a:r>
            <a:endParaRPr/>
          </a:p>
        </p:txBody>
      </p:sp>
      <p:cxnSp>
        <p:nvCxnSpPr>
          <p:cNvPr id="364" name="Google Shape;364;p23"/>
          <p:cNvCxnSpPr/>
          <p:nvPr/>
        </p:nvCxnSpPr>
        <p:spPr>
          <a:xfrm>
            <a:off x="1796015" y="2594610"/>
            <a:ext cx="0" cy="2629117"/>
          </a:xfrm>
          <a:prstGeom prst="straightConnector1">
            <a:avLst/>
          </a:prstGeom>
          <a:noFill/>
          <a:ln cap="flat" cmpd="sng" w="38100">
            <a:solidFill>
              <a:srgbClr val="CD0365"/>
            </a:solidFill>
            <a:prstDash val="solid"/>
            <a:miter lim="8000"/>
            <a:headEnd len="sm" w="sm" type="none"/>
            <a:tailEnd len="sm" w="sm" type="none"/>
          </a:ln>
        </p:spPr>
      </p:cxnSp>
      <p:cxnSp>
        <p:nvCxnSpPr>
          <p:cNvPr id="365" name="Google Shape;365;p23"/>
          <p:cNvCxnSpPr/>
          <p:nvPr/>
        </p:nvCxnSpPr>
        <p:spPr>
          <a:xfrm>
            <a:off x="1796015" y="2611755"/>
            <a:ext cx="2333625" cy="0"/>
          </a:xfrm>
          <a:prstGeom prst="straightConnector1">
            <a:avLst/>
          </a:prstGeom>
          <a:noFill/>
          <a:ln cap="flat" cmpd="sng" w="38100">
            <a:solidFill>
              <a:srgbClr val="CD0365"/>
            </a:solidFill>
            <a:prstDash val="solid"/>
            <a:miter lim="8000"/>
            <a:headEnd len="sm" w="sm" type="none"/>
            <a:tailEnd len="sm" w="sm" type="none"/>
          </a:ln>
        </p:spPr>
      </p:cxnSp>
      <p:sp>
        <p:nvSpPr>
          <p:cNvPr id="366" name="Google Shape;366;p23"/>
          <p:cNvSpPr/>
          <p:nvPr/>
        </p:nvSpPr>
        <p:spPr>
          <a:xfrm>
            <a:off x="4129640" y="2440384"/>
            <a:ext cx="265195" cy="319961"/>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7" name="Google Shape;367;p23"/>
          <p:cNvSpPr/>
          <p:nvPr/>
        </p:nvSpPr>
        <p:spPr>
          <a:xfrm>
            <a:off x="4769720" y="2440384"/>
            <a:ext cx="265195" cy="319961"/>
          </a:xfrm>
          <a:prstGeom prst="roundRect">
            <a:avLst>
              <a:gd fmla="val 16667" name="adj"/>
            </a:avLst>
          </a:prstGeom>
          <a:noFill/>
          <a:ln cap="flat" cmpd="sng" w="38100">
            <a:solidFill>
              <a:srgbClr val="CD036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68" name="Google Shape;368;p23"/>
          <p:cNvCxnSpPr/>
          <p:nvPr/>
        </p:nvCxnSpPr>
        <p:spPr>
          <a:xfrm>
            <a:off x="4384910" y="2611755"/>
            <a:ext cx="384810" cy="0"/>
          </a:xfrm>
          <a:prstGeom prst="straightConnector1">
            <a:avLst/>
          </a:prstGeom>
          <a:noFill/>
          <a:ln cap="flat" cmpd="sng" w="38100">
            <a:solidFill>
              <a:srgbClr val="CD0365"/>
            </a:solidFill>
            <a:prstDash val="solid"/>
            <a:miter lim="8000"/>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333"/>
                                        </p:tgtEl>
                                        <p:attrNameLst>
                                          <p:attrName>style.visibility</p:attrName>
                                        </p:attrNameLst>
                                      </p:cBhvr>
                                      <p:to>
                                        <p:strVal val="visible"/>
                                      </p:to>
                                    </p:set>
                                    <p:anim calcmode="lin" valueType="num">
                                      <p:cBhvr additive="base">
                                        <p:cTn dur="500"/>
                                        <p:tgtEl>
                                          <p:spTgt spid="333"/>
                                        </p:tgtEl>
                                        <p:attrNameLst>
                                          <p:attrName>ppt_w</p:attrName>
                                        </p:attrNameLst>
                                      </p:cBhvr>
                                      <p:tavLst>
                                        <p:tav fmla="" tm="0">
                                          <p:val>
                                            <p:strVal val="0"/>
                                          </p:val>
                                        </p:tav>
                                        <p:tav fmla="" tm="100000">
                                          <p:val>
                                            <p:strVal val="#ppt_w"/>
                                          </p:val>
                                        </p:tav>
                                      </p:tavLst>
                                    </p:anim>
                                    <p:anim calcmode="lin" valueType="num">
                                      <p:cBhvr additive="base">
                                        <p:cTn dur="500"/>
                                        <p:tgtEl>
                                          <p:spTgt spid="333"/>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34">
                                            <p:txEl>
                                              <p:pRg end="0" st="0"/>
                                            </p:txEl>
                                          </p:spTgt>
                                        </p:tgtEl>
                                        <p:attrNameLst>
                                          <p:attrName>style.visibility</p:attrName>
                                        </p:attrNameLst>
                                      </p:cBhvr>
                                      <p:to>
                                        <p:strVal val="visible"/>
                                      </p:to>
                                    </p:set>
                                    <p:animEffect filter="fade" transition="in">
                                      <p:cBhvr>
                                        <p:cTn dur="500"/>
                                        <p:tgtEl>
                                          <p:spTgt spid="334">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34">
                                            <p:txEl>
                                              <p:pRg end="1" st="1"/>
                                            </p:txEl>
                                          </p:spTgt>
                                        </p:tgtEl>
                                        <p:attrNameLst>
                                          <p:attrName>style.visibility</p:attrName>
                                        </p:attrNameLst>
                                      </p:cBhvr>
                                      <p:to>
                                        <p:strVal val="visible"/>
                                      </p:to>
                                    </p:set>
                                    <p:animEffect filter="fade" transition="in">
                                      <p:cBhvr>
                                        <p:cTn dur="500"/>
                                        <p:tgtEl>
                                          <p:spTgt spid="334">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5"/>
                                        </p:tgtEl>
                                        <p:attrNameLst>
                                          <p:attrName>style.visibility</p:attrName>
                                        </p:attrNameLst>
                                      </p:cBhvr>
                                      <p:to>
                                        <p:strVal val="visible"/>
                                      </p:to>
                                    </p:set>
                                    <p:animEffect filter="fade" transition="in">
                                      <p:cBhvr>
                                        <p:cTn dur="500"/>
                                        <p:tgtEl>
                                          <p:spTgt spid="33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36"/>
                                        </p:tgtEl>
                                        <p:attrNameLst>
                                          <p:attrName>style.visibility</p:attrName>
                                        </p:attrNameLst>
                                      </p:cBhvr>
                                      <p:to>
                                        <p:strVal val="visible"/>
                                      </p:to>
                                    </p:set>
                                    <p:animEffect filter="fade" transition="in">
                                      <p:cBhvr>
                                        <p:cTn dur="500"/>
                                        <p:tgtEl>
                                          <p:spTgt spid="336"/>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37"/>
                                        </p:tgtEl>
                                        <p:attrNameLst>
                                          <p:attrName>style.visibility</p:attrName>
                                        </p:attrNameLst>
                                      </p:cBhvr>
                                      <p:to>
                                        <p:strVal val="visible"/>
                                      </p:to>
                                    </p:set>
                                    <p:animEffect filter="fade" transition="in">
                                      <p:cBhvr>
                                        <p:cTn dur="500"/>
                                        <p:tgtEl>
                                          <p:spTgt spid="3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37"/>
                                        </p:tgtEl>
                                      </p:cBhvr>
                                    </p:animEffect>
                                    <p:set>
                                      <p:cBhvr>
                                        <p:cTn dur="1" fill="hold">
                                          <p:stCondLst>
                                            <p:cond delay="500"/>
                                          </p:stCondLst>
                                        </p:cTn>
                                        <p:tgtEl>
                                          <p:spTgt spid="337"/>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36"/>
                                        </p:tgtEl>
                                      </p:cBhvr>
                                    </p:animEffect>
                                    <p:set>
                                      <p:cBhvr>
                                        <p:cTn dur="1" fill="hold">
                                          <p:stCondLst>
                                            <p:cond delay="500"/>
                                          </p:stCondLst>
                                        </p:cTn>
                                        <p:tgtEl>
                                          <p:spTgt spid="336"/>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35"/>
                                        </p:tgtEl>
                                      </p:cBhvr>
                                    </p:animEffect>
                                    <p:set>
                                      <p:cBhvr>
                                        <p:cTn dur="1" fill="hold">
                                          <p:stCondLst>
                                            <p:cond delay="500"/>
                                          </p:stCondLst>
                                        </p:cTn>
                                        <p:tgtEl>
                                          <p:spTgt spid="335"/>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34">
                                            <p:txEl>
                                              <p:pRg end="0" st="0"/>
                                            </p:txEl>
                                          </p:spTgt>
                                        </p:tgtEl>
                                      </p:cBhvr>
                                    </p:animEffect>
                                    <p:set>
                                      <p:cBhvr>
                                        <p:cTn dur="1" fill="hold">
                                          <p:stCondLst>
                                            <p:cond delay="500"/>
                                          </p:stCondLst>
                                        </p:cTn>
                                        <p:tgtEl>
                                          <p:spTgt spid="334">
                                            <p:txEl>
                                              <p:pRg end="0" st="0"/>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34">
                                            <p:txEl>
                                              <p:pRg end="1" st="1"/>
                                            </p:txEl>
                                          </p:spTgt>
                                        </p:tgtEl>
                                      </p:cBhvr>
                                    </p:animEffect>
                                    <p:set>
                                      <p:cBhvr>
                                        <p:cTn dur="1" fill="hold">
                                          <p:stCondLst>
                                            <p:cond delay="500"/>
                                          </p:stCondLst>
                                        </p:cTn>
                                        <p:tgtEl>
                                          <p:spTgt spid="334">
                                            <p:txEl>
                                              <p:pRg end="1" st="1"/>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38">
                                            <p:txEl>
                                              <p:pRg end="0" st="0"/>
                                            </p:txEl>
                                          </p:spTgt>
                                        </p:tgtEl>
                                        <p:attrNameLst>
                                          <p:attrName>style.visibility</p:attrName>
                                        </p:attrNameLst>
                                      </p:cBhvr>
                                      <p:to>
                                        <p:strVal val="visible"/>
                                      </p:to>
                                    </p:set>
                                    <p:animEffect filter="fade" transition="in">
                                      <p:cBhvr>
                                        <p:cTn dur="500"/>
                                        <p:tgtEl>
                                          <p:spTgt spid="338">
                                            <p:txEl>
                                              <p:pRg end="0" st="0"/>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338">
                                            <p:txEl>
                                              <p:pRg end="1" st="1"/>
                                            </p:txEl>
                                          </p:spTgt>
                                        </p:tgtEl>
                                        <p:attrNameLst>
                                          <p:attrName>style.visibility</p:attrName>
                                        </p:attrNameLst>
                                      </p:cBhvr>
                                      <p:to>
                                        <p:strVal val="visible"/>
                                      </p:to>
                                    </p:set>
                                    <p:animEffect filter="fade" transition="in">
                                      <p:cBhvr>
                                        <p:cTn dur="500"/>
                                        <p:tgtEl>
                                          <p:spTgt spid="33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9"/>
                                        </p:tgtEl>
                                        <p:attrNameLst>
                                          <p:attrName>style.visibility</p:attrName>
                                        </p:attrNameLst>
                                      </p:cBhvr>
                                      <p:to>
                                        <p:strVal val="visible"/>
                                      </p:to>
                                    </p:set>
                                    <p:animEffect filter="fade" transition="in">
                                      <p:cBhvr>
                                        <p:cTn dur="500"/>
                                        <p:tgtEl>
                                          <p:spTgt spid="339"/>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40"/>
                                        </p:tgtEl>
                                        <p:attrNameLst>
                                          <p:attrName>style.visibility</p:attrName>
                                        </p:attrNameLst>
                                      </p:cBhvr>
                                      <p:to>
                                        <p:strVal val="visible"/>
                                      </p:to>
                                    </p:set>
                                    <p:animEffect filter="fade" transition="in">
                                      <p:cBhvr>
                                        <p:cTn dur="500"/>
                                        <p:tgtEl>
                                          <p:spTgt spid="340"/>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41"/>
                                        </p:tgtEl>
                                        <p:attrNameLst>
                                          <p:attrName>style.visibility</p:attrName>
                                        </p:attrNameLst>
                                      </p:cBhvr>
                                      <p:to>
                                        <p:strVal val="visible"/>
                                      </p:to>
                                    </p:set>
                                    <p:animEffect filter="fade" transition="in">
                                      <p:cBhvr>
                                        <p:cTn dur="500"/>
                                        <p:tgtEl>
                                          <p:spTgt spid="3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41"/>
                                        </p:tgtEl>
                                      </p:cBhvr>
                                    </p:animEffect>
                                    <p:set>
                                      <p:cBhvr>
                                        <p:cTn dur="1" fill="hold">
                                          <p:stCondLst>
                                            <p:cond delay="500"/>
                                          </p:stCondLst>
                                        </p:cTn>
                                        <p:tgtEl>
                                          <p:spTgt spid="341"/>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40"/>
                                        </p:tgtEl>
                                      </p:cBhvr>
                                    </p:animEffect>
                                    <p:set>
                                      <p:cBhvr>
                                        <p:cTn dur="1" fill="hold">
                                          <p:stCondLst>
                                            <p:cond delay="500"/>
                                          </p:stCondLst>
                                        </p:cTn>
                                        <p:tgtEl>
                                          <p:spTgt spid="340"/>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39"/>
                                        </p:tgtEl>
                                      </p:cBhvr>
                                    </p:animEffect>
                                    <p:set>
                                      <p:cBhvr>
                                        <p:cTn dur="1" fill="hold">
                                          <p:stCondLst>
                                            <p:cond delay="500"/>
                                          </p:stCondLst>
                                        </p:cTn>
                                        <p:tgtEl>
                                          <p:spTgt spid="339"/>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38">
                                            <p:txEl>
                                              <p:pRg end="0" st="0"/>
                                            </p:txEl>
                                          </p:spTgt>
                                        </p:tgtEl>
                                      </p:cBhvr>
                                    </p:animEffect>
                                    <p:set>
                                      <p:cBhvr>
                                        <p:cTn dur="1" fill="hold">
                                          <p:stCondLst>
                                            <p:cond delay="500"/>
                                          </p:stCondLst>
                                        </p:cTn>
                                        <p:tgtEl>
                                          <p:spTgt spid="338">
                                            <p:txEl>
                                              <p:pRg end="0" st="0"/>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38">
                                            <p:txEl>
                                              <p:pRg end="1" st="1"/>
                                            </p:txEl>
                                          </p:spTgt>
                                        </p:tgtEl>
                                      </p:cBhvr>
                                    </p:animEffect>
                                    <p:set>
                                      <p:cBhvr>
                                        <p:cTn dur="1" fill="hold">
                                          <p:stCondLst>
                                            <p:cond delay="500"/>
                                          </p:stCondLst>
                                        </p:cTn>
                                        <p:tgtEl>
                                          <p:spTgt spid="338">
                                            <p:txEl>
                                              <p:pRg end="1" st="1"/>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42">
                                            <p:txEl>
                                              <p:pRg end="0" st="0"/>
                                            </p:txEl>
                                          </p:spTgt>
                                        </p:tgtEl>
                                        <p:attrNameLst>
                                          <p:attrName>style.visibility</p:attrName>
                                        </p:attrNameLst>
                                      </p:cBhvr>
                                      <p:to>
                                        <p:strVal val="visible"/>
                                      </p:to>
                                    </p:set>
                                    <p:animEffect filter="fade" transition="in">
                                      <p:cBhvr>
                                        <p:cTn dur="500"/>
                                        <p:tgtEl>
                                          <p:spTgt spid="342">
                                            <p:txEl>
                                              <p:pRg end="0" st="0"/>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342">
                                            <p:txEl>
                                              <p:pRg end="1" st="1"/>
                                            </p:txEl>
                                          </p:spTgt>
                                        </p:tgtEl>
                                        <p:attrNameLst>
                                          <p:attrName>style.visibility</p:attrName>
                                        </p:attrNameLst>
                                      </p:cBhvr>
                                      <p:to>
                                        <p:strVal val="visible"/>
                                      </p:to>
                                    </p:set>
                                    <p:animEffect filter="fade" transition="in">
                                      <p:cBhvr>
                                        <p:cTn dur="500"/>
                                        <p:tgtEl>
                                          <p:spTgt spid="342">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3"/>
                                        </p:tgtEl>
                                        <p:attrNameLst>
                                          <p:attrName>style.visibility</p:attrName>
                                        </p:attrNameLst>
                                      </p:cBhvr>
                                      <p:to>
                                        <p:strVal val="visible"/>
                                      </p:to>
                                    </p:set>
                                    <p:animEffect filter="fade" transition="in">
                                      <p:cBhvr>
                                        <p:cTn dur="500"/>
                                        <p:tgtEl>
                                          <p:spTgt spid="343"/>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44"/>
                                        </p:tgtEl>
                                        <p:attrNameLst>
                                          <p:attrName>style.visibility</p:attrName>
                                        </p:attrNameLst>
                                      </p:cBhvr>
                                      <p:to>
                                        <p:strVal val="visible"/>
                                      </p:to>
                                    </p:set>
                                    <p:animEffect filter="fade" transition="in">
                                      <p:cBhvr>
                                        <p:cTn dur="500"/>
                                        <p:tgtEl>
                                          <p:spTgt spid="3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44"/>
                                        </p:tgtEl>
                                      </p:cBhvr>
                                    </p:animEffect>
                                    <p:set>
                                      <p:cBhvr>
                                        <p:cTn dur="1" fill="hold">
                                          <p:stCondLst>
                                            <p:cond delay="500"/>
                                          </p:stCondLst>
                                        </p:cTn>
                                        <p:tgtEl>
                                          <p:spTgt spid="344"/>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43"/>
                                        </p:tgtEl>
                                      </p:cBhvr>
                                    </p:animEffect>
                                    <p:set>
                                      <p:cBhvr>
                                        <p:cTn dur="1" fill="hold">
                                          <p:stCondLst>
                                            <p:cond delay="500"/>
                                          </p:stCondLst>
                                        </p:cTn>
                                        <p:tgtEl>
                                          <p:spTgt spid="343"/>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42">
                                            <p:txEl>
                                              <p:pRg end="0" st="0"/>
                                            </p:txEl>
                                          </p:spTgt>
                                        </p:tgtEl>
                                      </p:cBhvr>
                                    </p:animEffect>
                                    <p:set>
                                      <p:cBhvr>
                                        <p:cTn dur="1" fill="hold">
                                          <p:stCondLst>
                                            <p:cond delay="500"/>
                                          </p:stCondLst>
                                        </p:cTn>
                                        <p:tgtEl>
                                          <p:spTgt spid="342">
                                            <p:txEl>
                                              <p:pRg end="0" st="0"/>
                                            </p:txEl>
                                          </p:spTgt>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42">
                                            <p:txEl>
                                              <p:pRg end="1" st="1"/>
                                            </p:txEl>
                                          </p:spTgt>
                                        </p:tgtEl>
                                      </p:cBhvr>
                                    </p:animEffect>
                                    <p:set>
                                      <p:cBhvr>
                                        <p:cTn dur="1" fill="hold">
                                          <p:stCondLst>
                                            <p:cond delay="500"/>
                                          </p:stCondLst>
                                        </p:cTn>
                                        <p:tgtEl>
                                          <p:spTgt spid="342">
                                            <p:txEl>
                                              <p:pRg end="1" st="1"/>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45">
                                            <p:txEl>
                                              <p:pRg end="0" st="0"/>
                                            </p:txEl>
                                          </p:spTgt>
                                        </p:tgtEl>
                                        <p:attrNameLst>
                                          <p:attrName>style.visibility</p:attrName>
                                        </p:attrNameLst>
                                      </p:cBhvr>
                                      <p:to>
                                        <p:strVal val="visible"/>
                                      </p:to>
                                    </p:set>
                                    <p:animEffect filter="fade" transition="in">
                                      <p:cBhvr>
                                        <p:cTn dur="500"/>
                                        <p:tgtEl>
                                          <p:spTgt spid="345">
                                            <p:txEl>
                                              <p:pRg end="0" st="0"/>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45">
                                            <p:txEl>
                                              <p:pRg end="1" st="1"/>
                                            </p:txEl>
                                          </p:spTgt>
                                        </p:tgtEl>
                                        <p:attrNameLst>
                                          <p:attrName>style.visibility</p:attrName>
                                        </p:attrNameLst>
                                      </p:cBhvr>
                                      <p:to>
                                        <p:strVal val="visible"/>
                                      </p:to>
                                    </p:set>
                                    <p:animEffect filter="fade" transition="in">
                                      <p:cBhvr>
                                        <p:cTn dur="500"/>
                                        <p:tgtEl>
                                          <p:spTgt spid="345">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6"/>
                                        </p:tgtEl>
                                        <p:attrNameLst>
                                          <p:attrName>style.visibility</p:attrName>
                                        </p:attrNameLst>
                                      </p:cBhvr>
                                      <p:to>
                                        <p:strVal val="visible"/>
                                      </p:to>
                                    </p:set>
                                    <p:animEffect filter="fade" transition="in">
                                      <p:cBhvr>
                                        <p:cTn dur="500"/>
                                        <p:tgtEl>
                                          <p:spTgt spid="346"/>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47"/>
                                        </p:tgtEl>
                                        <p:attrNameLst>
                                          <p:attrName>style.visibility</p:attrName>
                                        </p:attrNameLst>
                                      </p:cBhvr>
                                      <p:to>
                                        <p:strVal val="visible"/>
                                      </p:to>
                                    </p:set>
                                    <p:animEffect filter="fade" transition="in">
                                      <p:cBhvr>
                                        <p:cTn dur="500"/>
                                        <p:tgtEl>
                                          <p:spTgt spid="3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47"/>
                                        </p:tgtEl>
                                      </p:cBhvr>
                                    </p:animEffect>
                                    <p:set>
                                      <p:cBhvr>
                                        <p:cTn dur="1" fill="hold">
                                          <p:stCondLst>
                                            <p:cond delay="500"/>
                                          </p:stCondLst>
                                        </p:cTn>
                                        <p:tgtEl>
                                          <p:spTgt spid="347"/>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46"/>
                                        </p:tgtEl>
                                      </p:cBhvr>
                                    </p:animEffect>
                                    <p:set>
                                      <p:cBhvr>
                                        <p:cTn dur="1" fill="hold">
                                          <p:stCondLst>
                                            <p:cond delay="500"/>
                                          </p:stCondLst>
                                        </p:cTn>
                                        <p:tgtEl>
                                          <p:spTgt spid="346"/>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45">
                                            <p:txEl>
                                              <p:pRg end="0" st="0"/>
                                            </p:txEl>
                                          </p:spTgt>
                                        </p:tgtEl>
                                      </p:cBhvr>
                                    </p:animEffect>
                                    <p:set>
                                      <p:cBhvr>
                                        <p:cTn dur="1" fill="hold">
                                          <p:stCondLst>
                                            <p:cond delay="500"/>
                                          </p:stCondLst>
                                        </p:cTn>
                                        <p:tgtEl>
                                          <p:spTgt spid="345">
                                            <p:txEl>
                                              <p:pRg end="0" st="0"/>
                                            </p:txEl>
                                          </p:spTgt>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45">
                                            <p:txEl>
                                              <p:pRg end="1" st="1"/>
                                            </p:txEl>
                                          </p:spTgt>
                                        </p:tgtEl>
                                      </p:cBhvr>
                                    </p:animEffect>
                                    <p:set>
                                      <p:cBhvr>
                                        <p:cTn dur="1" fill="hold">
                                          <p:stCondLst>
                                            <p:cond delay="500"/>
                                          </p:stCondLst>
                                        </p:cTn>
                                        <p:tgtEl>
                                          <p:spTgt spid="345">
                                            <p:txEl>
                                              <p:pRg end="1" st="1"/>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48">
                                            <p:txEl>
                                              <p:pRg end="0" st="0"/>
                                            </p:txEl>
                                          </p:spTgt>
                                        </p:tgtEl>
                                        <p:attrNameLst>
                                          <p:attrName>style.visibility</p:attrName>
                                        </p:attrNameLst>
                                      </p:cBhvr>
                                      <p:to>
                                        <p:strVal val="visible"/>
                                      </p:to>
                                    </p:set>
                                    <p:animEffect filter="fade" transition="in">
                                      <p:cBhvr>
                                        <p:cTn dur="500"/>
                                        <p:tgtEl>
                                          <p:spTgt spid="348">
                                            <p:txEl>
                                              <p:pRg end="0" st="0"/>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48">
                                            <p:txEl>
                                              <p:pRg end="1" st="1"/>
                                            </p:txEl>
                                          </p:spTgt>
                                        </p:tgtEl>
                                        <p:attrNameLst>
                                          <p:attrName>style.visibility</p:attrName>
                                        </p:attrNameLst>
                                      </p:cBhvr>
                                      <p:to>
                                        <p:strVal val="visible"/>
                                      </p:to>
                                    </p:set>
                                    <p:animEffect filter="fade" transition="in">
                                      <p:cBhvr>
                                        <p:cTn dur="500"/>
                                        <p:tgtEl>
                                          <p:spTgt spid="34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9"/>
                                        </p:tgtEl>
                                        <p:attrNameLst>
                                          <p:attrName>style.visibility</p:attrName>
                                        </p:attrNameLst>
                                      </p:cBhvr>
                                      <p:to>
                                        <p:strVal val="visible"/>
                                      </p:to>
                                    </p:set>
                                    <p:animEffect filter="fade" transition="in">
                                      <p:cBhvr>
                                        <p:cTn dur="500"/>
                                        <p:tgtEl>
                                          <p:spTgt spid="349"/>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50"/>
                                        </p:tgtEl>
                                        <p:attrNameLst>
                                          <p:attrName>style.visibility</p:attrName>
                                        </p:attrNameLst>
                                      </p:cBhvr>
                                      <p:to>
                                        <p:strVal val="visible"/>
                                      </p:to>
                                    </p:set>
                                    <p:animEffect filter="fade" transition="in">
                                      <p:cBhvr>
                                        <p:cTn dur="500"/>
                                        <p:tgtEl>
                                          <p:spTgt spid="350"/>
                                        </p:tgtEl>
                                      </p:cBhvr>
                                    </p:animEffect>
                                  </p:childTnLst>
                                </p:cTn>
                              </p:par>
                              <p:par>
                                <p:cTn fill="hold" nodeType="withEffect" presetClass="entr" presetID="23" presetSubtype="16">
                                  <p:stCondLst>
                                    <p:cond delay="0"/>
                                  </p:stCondLst>
                                  <p:childTnLst>
                                    <p:set>
                                      <p:cBhvr>
                                        <p:cTn dur="1" fill="hold">
                                          <p:stCondLst>
                                            <p:cond delay="0"/>
                                          </p:stCondLst>
                                        </p:cTn>
                                        <p:tgtEl>
                                          <p:spTgt spid="351"/>
                                        </p:tgtEl>
                                        <p:attrNameLst>
                                          <p:attrName>style.visibility</p:attrName>
                                        </p:attrNameLst>
                                      </p:cBhvr>
                                      <p:to>
                                        <p:strVal val="visible"/>
                                      </p:to>
                                    </p:set>
                                    <p:anim calcmode="lin" valueType="num">
                                      <p:cBhvr additive="base">
                                        <p:cTn dur="500"/>
                                        <p:tgtEl>
                                          <p:spTgt spid="351"/>
                                        </p:tgtEl>
                                        <p:attrNameLst>
                                          <p:attrName>ppt_w</p:attrName>
                                        </p:attrNameLst>
                                      </p:cBhvr>
                                      <p:tavLst>
                                        <p:tav fmla="" tm="0">
                                          <p:val>
                                            <p:strVal val="0"/>
                                          </p:val>
                                        </p:tav>
                                        <p:tav fmla="" tm="100000">
                                          <p:val>
                                            <p:strVal val="#ppt_w"/>
                                          </p:val>
                                        </p:tav>
                                      </p:tavLst>
                                    </p:anim>
                                    <p:anim calcmode="lin" valueType="num">
                                      <p:cBhvr additive="base">
                                        <p:cTn dur="500"/>
                                        <p:tgtEl>
                                          <p:spTgt spid="351"/>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xit" presetID="23" presetSubtype="32">
                                  <p:stCondLst>
                                    <p:cond delay="0"/>
                                  </p:stCondLst>
                                  <p:childTnLst>
                                    <p:anim calcmode="lin" valueType="num">
                                      <p:cBhvr additive="base">
                                        <p:cTn dur="500"/>
                                        <p:tgtEl>
                                          <p:spTgt spid="351"/>
                                        </p:tgtEl>
                                        <p:attrNameLst>
                                          <p:attrName>ppt_w</p:attrName>
                                        </p:attrNameLst>
                                      </p:cBhvr>
                                      <p:tavLst>
                                        <p:tav fmla="" tm="0">
                                          <p:val>
                                            <p:strVal val="#ppt_w"/>
                                          </p:val>
                                        </p:tav>
                                        <p:tav fmla="" tm="100000">
                                          <p:val>
                                            <p:strVal val="0"/>
                                          </p:val>
                                        </p:tav>
                                      </p:tavLst>
                                    </p:anim>
                                    <p:anim calcmode="lin" valueType="num">
                                      <p:cBhvr additive="base">
                                        <p:cTn dur="500"/>
                                        <p:tgtEl>
                                          <p:spTgt spid="351"/>
                                        </p:tgtEl>
                                        <p:attrNameLst>
                                          <p:attrName>ppt_h</p:attrName>
                                        </p:attrNameLst>
                                      </p:cBhvr>
                                      <p:tavLst>
                                        <p:tav fmla="" tm="0">
                                          <p:val>
                                            <p:strVal val="#ppt_h"/>
                                          </p:val>
                                        </p:tav>
                                        <p:tav fmla="" tm="100000">
                                          <p:val>
                                            <p:strVal val="0"/>
                                          </p:val>
                                        </p:tav>
                                      </p:tavLst>
                                    </p:anim>
                                    <p:set>
                                      <p:cBhvr>
                                        <p:cTn dur="1" fill="hold">
                                          <p:stCondLst>
                                            <p:cond delay="500"/>
                                          </p:stCondLst>
                                        </p:cTn>
                                        <p:tgtEl>
                                          <p:spTgt spid="351"/>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50"/>
                                        </p:tgtEl>
                                      </p:cBhvr>
                                    </p:animEffect>
                                    <p:set>
                                      <p:cBhvr>
                                        <p:cTn dur="1" fill="hold">
                                          <p:stCondLst>
                                            <p:cond delay="500"/>
                                          </p:stCondLst>
                                        </p:cTn>
                                        <p:tgtEl>
                                          <p:spTgt spid="350"/>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49"/>
                                        </p:tgtEl>
                                      </p:cBhvr>
                                    </p:animEffect>
                                    <p:set>
                                      <p:cBhvr>
                                        <p:cTn dur="1" fill="hold">
                                          <p:stCondLst>
                                            <p:cond delay="500"/>
                                          </p:stCondLst>
                                        </p:cTn>
                                        <p:tgtEl>
                                          <p:spTgt spid="349"/>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48">
                                            <p:txEl>
                                              <p:pRg end="0" st="0"/>
                                            </p:txEl>
                                          </p:spTgt>
                                        </p:tgtEl>
                                      </p:cBhvr>
                                    </p:animEffect>
                                    <p:set>
                                      <p:cBhvr>
                                        <p:cTn dur="1" fill="hold">
                                          <p:stCondLst>
                                            <p:cond delay="500"/>
                                          </p:stCondLst>
                                        </p:cTn>
                                        <p:tgtEl>
                                          <p:spTgt spid="348">
                                            <p:txEl>
                                              <p:pRg end="0" st="0"/>
                                            </p:txEl>
                                          </p:spTgt>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48">
                                            <p:txEl>
                                              <p:pRg end="1" st="1"/>
                                            </p:txEl>
                                          </p:spTgt>
                                        </p:tgtEl>
                                      </p:cBhvr>
                                    </p:animEffect>
                                    <p:set>
                                      <p:cBhvr>
                                        <p:cTn dur="1" fill="hold">
                                          <p:stCondLst>
                                            <p:cond delay="500"/>
                                          </p:stCondLst>
                                        </p:cTn>
                                        <p:tgtEl>
                                          <p:spTgt spid="348">
                                            <p:txEl>
                                              <p:pRg end="1" st="1"/>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52">
                                            <p:txEl>
                                              <p:pRg end="0" st="0"/>
                                            </p:txEl>
                                          </p:spTgt>
                                        </p:tgtEl>
                                        <p:attrNameLst>
                                          <p:attrName>style.visibility</p:attrName>
                                        </p:attrNameLst>
                                      </p:cBhvr>
                                      <p:to>
                                        <p:strVal val="visible"/>
                                      </p:to>
                                    </p:set>
                                    <p:animEffect filter="fade" transition="in">
                                      <p:cBhvr>
                                        <p:cTn dur="500"/>
                                        <p:tgtEl>
                                          <p:spTgt spid="352">
                                            <p:txEl>
                                              <p:pRg end="0" st="0"/>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352">
                                            <p:txEl>
                                              <p:pRg end="1" st="1"/>
                                            </p:txEl>
                                          </p:spTgt>
                                        </p:tgtEl>
                                        <p:attrNameLst>
                                          <p:attrName>style.visibility</p:attrName>
                                        </p:attrNameLst>
                                      </p:cBhvr>
                                      <p:to>
                                        <p:strVal val="visible"/>
                                      </p:to>
                                    </p:set>
                                    <p:animEffect filter="fade" transition="in">
                                      <p:cBhvr>
                                        <p:cTn dur="500"/>
                                        <p:tgtEl>
                                          <p:spTgt spid="352">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3"/>
                                        </p:tgtEl>
                                        <p:attrNameLst>
                                          <p:attrName>style.visibility</p:attrName>
                                        </p:attrNameLst>
                                      </p:cBhvr>
                                      <p:to>
                                        <p:strVal val="visible"/>
                                      </p:to>
                                    </p:set>
                                    <p:animEffect filter="fade" transition="in">
                                      <p:cBhvr>
                                        <p:cTn dur="500"/>
                                        <p:tgtEl>
                                          <p:spTgt spid="353"/>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54"/>
                                        </p:tgtEl>
                                        <p:attrNameLst>
                                          <p:attrName>style.visibility</p:attrName>
                                        </p:attrNameLst>
                                      </p:cBhvr>
                                      <p:to>
                                        <p:strVal val="visible"/>
                                      </p:to>
                                    </p:set>
                                    <p:animEffect filter="fade" transition="in">
                                      <p:cBhvr>
                                        <p:cTn dur="500"/>
                                        <p:tgtEl>
                                          <p:spTgt spid="354"/>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55"/>
                                        </p:tgtEl>
                                        <p:attrNameLst>
                                          <p:attrName>style.visibility</p:attrName>
                                        </p:attrNameLst>
                                      </p:cBhvr>
                                      <p:to>
                                        <p:strVal val="visible"/>
                                      </p:to>
                                    </p:set>
                                    <p:animEffect filter="fade" transition="in">
                                      <p:cBhvr>
                                        <p:cTn dur="500"/>
                                        <p:tgtEl>
                                          <p:spTgt spid="3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6">
                                            <p:txEl>
                                              <p:pRg end="0" st="0"/>
                                            </p:txEl>
                                          </p:spTgt>
                                        </p:tgtEl>
                                        <p:attrNameLst>
                                          <p:attrName>style.visibility</p:attrName>
                                        </p:attrNameLst>
                                      </p:cBhvr>
                                      <p:to>
                                        <p:strVal val="visible"/>
                                      </p:to>
                                    </p:set>
                                    <p:animEffect filter="fade" transition="in">
                                      <p:cBhvr>
                                        <p:cTn dur="500"/>
                                        <p:tgtEl>
                                          <p:spTgt spid="356">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6">
                                            <p:txEl>
                                              <p:pRg end="1" st="1"/>
                                            </p:txEl>
                                          </p:spTgt>
                                        </p:tgtEl>
                                        <p:attrNameLst>
                                          <p:attrName>style.visibility</p:attrName>
                                        </p:attrNameLst>
                                      </p:cBhvr>
                                      <p:to>
                                        <p:strVal val="visible"/>
                                      </p:to>
                                    </p:set>
                                    <p:animEffect filter="fade" transition="in">
                                      <p:cBhvr>
                                        <p:cTn dur="500"/>
                                        <p:tgtEl>
                                          <p:spTgt spid="356">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7"/>
                                        </p:tgtEl>
                                        <p:attrNameLst>
                                          <p:attrName>style.visibility</p:attrName>
                                        </p:attrNameLst>
                                      </p:cBhvr>
                                      <p:to>
                                        <p:strVal val="visible"/>
                                      </p:to>
                                    </p:set>
                                    <p:animEffect filter="fade" transition="in">
                                      <p:cBhvr>
                                        <p:cTn dur="500"/>
                                        <p:tgtEl>
                                          <p:spTgt spid="357"/>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58"/>
                                        </p:tgtEl>
                                        <p:attrNameLst>
                                          <p:attrName>style.visibility</p:attrName>
                                        </p:attrNameLst>
                                      </p:cBhvr>
                                      <p:to>
                                        <p:strVal val="visible"/>
                                      </p:to>
                                    </p:set>
                                    <p:animEffect filter="fade" transition="in">
                                      <p:cBhvr>
                                        <p:cTn dur="500"/>
                                        <p:tgtEl>
                                          <p:spTgt spid="3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55"/>
                                        </p:tgtEl>
                                      </p:cBhvr>
                                    </p:animEffect>
                                    <p:set>
                                      <p:cBhvr>
                                        <p:cTn dur="1" fill="hold">
                                          <p:stCondLst>
                                            <p:cond delay="500"/>
                                          </p:stCondLst>
                                        </p:cTn>
                                        <p:tgtEl>
                                          <p:spTgt spid="355"/>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54"/>
                                        </p:tgtEl>
                                      </p:cBhvr>
                                    </p:animEffect>
                                    <p:set>
                                      <p:cBhvr>
                                        <p:cTn dur="1" fill="hold">
                                          <p:stCondLst>
                                            <p:cond delay="500"/>
                                          </p:stCondLst>
                                        </p:cTn>
                                        <p:tgtEl>
                                          <p:spTgt spid="354"/>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58"/>
                                        </p:tgtEl>
                                      </p:cBhvr>
                                    </p:animEffect>
                                    <p:set>
                                      <p:cBhvr>
                                        <p:cTn dur="1" fill="hold">
                                          <p:stCondLst>
                                            <p:cond delay="500"/>
                                          </p:stCondLst>
                                        </p:cTn>
                                        <p:tgtEl>
                                          <p:spTgt spid="358"/>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53"/>
                                        </p:tgtEl>
                                      </p:cBhvr>
                                    </p:animEffect>
                                    <p:set>
                                      <p:cBhvr>
                                        <p:cTn dur="1" fill="hold">
                                          <p:stCondLst>
                                            <p:cond delay="500"/>
                                          </p:stCondLst>
                                        </p:cTn>
                                        <p:tgtEl>
                                          <p:spTgt spid="353"/>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357"/>
                                        </p:tgtEl>
                                      </p:cBhvr>
                                    </p:animEffect>
                                    <p:set>
                                      <p:cBhvr>
                                        <p:cTn dur="1" fill="hold">
                                          <p:stCondLst>
                                            <p:cond delay="500"/>
                                          </p:stCondLst>
                                        </p:cTn>
                                        <p:tgtEl>
                                          <p:spTgt spid="357"/>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52">
                                            <p:txEl>
                                              <p:pRg end="0" st="0"/>
                                            </p:txEl>
                                          </p:spTgt>
                                        </p:tgtEl>
                                      </p:cBhvr>
                                    </p:animEffect>
                                    <p:set>
                                      <p:cBhvr>
                                        <p:cTn dur="1" fill="hold">
                                          <p:stCondLst>
                                            <p:cond delay="500"/>
                                          </p:stCondLst>
                                        </p:cTn>
                                        <p:tgtEl>
                                          <p:spTgt spid="352">
                                            <p:txEl>
                                              <p:pRg end="0" st="0"/>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52">
                                            <p:txEl>
                                              <p:pRg end="1" st="1"/>
                                            </p:txEl>
                                          </p:spTgt>
                                        </p:tgtEl>
                                      </p:cBhvr>
                                    </p:animEffect>
                                    <p:set>
                                      <p:cBhvr>
                                        <p:cTn dur="1" fill="hold">
                                          <p:stCondLst>
                                            <p:cond delay="500"/>
                                          </p:stCondLst>
                                        </p:cTn>
                                        <p:tgtEl>
                                          <p:spTgt spid="352">
                                            <p:txEl>
                                              <p:pRg end="1" st="1"/>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xit" presetID="10" presetSubtype="0">
                                  <p:stCondLst>
                                    <p:cond delay="0"/>
                                  </p:stCondLst>
                                  <p:childTnLst>
                                    <p:animEffect filter="fade" transition="out">
                                      <p:cBhvr>
                                        <p:cTn dur="500"/>
                                        <p:tgtEl>
                                          <p:spTgt spid="356">
                                            <p:txEl>
                                              <p:pRg end="0" st="0"/>
                                            </p:txEl>
                                          </p:spTgt>
                                        </p:tgtEl>
                                      </p:cBhvr>
                                    </p:animEffect>
                                    <p:set>
                                      <p:cBhvr>
                                        <p:cTn dur="1" fill="hold">
                                          <p:stCondLst>
                                            <p:cond delay="500"/>
                                          </p:stCondLst>
                                        </p:cTn>
                                        <p:tgtEl>
                                          <p:spTgt spid="356">
                                            <p:txEl>
                                              <p:pRg end="0" st="0"/>
                                            </p:txEl>
                                          </p:spTgt>
                                        </p:tgtEl>
                                        <p:attrNameLst>
                                          <p:attrName>style.visibility</p:attrName>
                                        </p:attrNameLst>
                                      </p:cBhvr>
                                      <p:to>
                                        <p:strVal val="hidden"/>
                                      </p:to>
                                    </p:set>
                                  </p:childTnLst>
                                </p:cTn>
                              </p:par>
                            </p:childTnLst>
                          </p:cTn>
                        </p:par>
                        <p:par>
                          <p:cTn fill="hold">
                            <p:stCondLst>
                              <p:cond delay="3000"/>
                            </p:stCondLst>
                            <p:childTnLst>
                              <p:par>
                                <p:cTn fill="hold" nodeType="afterEffect" presetClass="exit" presetID="10" presetSubtype="0">
                                  <p:stCondLst>
                                    <p:cond delay="0"/>
                                  </p:stCondLst>
                                  <p:childTnLst>
                                    <p:animEffect filter="fade" transition="out">
                                      <p:cBhvr>
                                        <p:cTn dur="500"/>
                                        <p:tgtEl>
                                          <p:spTgt spid="356">
                                            <p:txEl>
                                              <p:pRg end="1" st="1"/>
                                            </p:txEl>
                                          </p:spTgt>
                                        </p:tgtEl>
                                      </p:cBhvr>
                                    </p:animEffect>
                                    <p:set>
                                      <p:cBhvr>
                                        <p:cTn dur="1" fill="hold">
                                          <p:stCondLst>
                                            <p:cond delay="500"/>
                                          </p:stCondLst>
                                        </p:cTn>
                                        <p:tgtEl>
                                          <p:spTgt spid="356">
                                            <p:txEl>
                                              <p:pRg end="1" st="1"/>
                                            </p:txEl>
                                          </p:spTgt>
                                        </p:tgtEl>
                                        <p:attrNameLst>
                                          <p:attrName>style.visibility</p:attrName>
                                        </p:attrNameLst>
                                      </p:cBhvr>
                                      <p:to>
                                        <p:strVal val="hidden"/>
                                      </p:to>
                                    </p:se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359">
                                            <p:txEl>
                                              <p:pRg end="0" st="0"/>
                                            </p:txEl>
                                          </p:spTgt>
                                        </p:tgtEl>
                                        <p:attrNameLst>
                                          <p:attrName>style.visibility</p:attrName>
                                        </p:attrNameLst>
                                      </p:cBhvr>
                                      <p:to>
                                        <p:strVal val="visible"/>
                                      </p:to>
                                    </p:set>
                                    <p:animEffect filter="fade" transition="in">
                                      <p:cBhvr>
                                        <p:cTn dur="500"/>
                                        <p:tgtEl>
                                          <p:spTgt spid="359">
                                            <p:txEl>
                                              <p:pRg end="0" st="0"/>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359">
                                            <p:txEl>
                                              <p:pRg end="1" st="1"/>
                                            </p:txEl>
                                          </p:spTgt>
                                        </p:tgtEl>
                                        <p:attrNameLst>
                                          <p:attrName>style.visibility</p:attrName>
                                        </p:attrNameLst>
                                      </p:cBhvr>
                                      <p:to>
                                        <p:strVal val="visible"/>
                                      </p:to>
                                    </p:set>
                                    <p:animEffect filter="fade" transition="in">
                                      <p:cBhvr>
                                        <p:cTn dur="500"/>
                                        <p:tgtEl>
                                          <p:spTgt spid="359">
                                            <p:txEl>
                                              <p:pRg end="1" st="1"/>
                                            </p:txEl>
                                          </p:spTgt>
                                        </p:tgtEl>
                                      </p:cBhvr>
                                    </p:animEffect>
                                  </p:childTnLst>
                                </p:cTn>
                              </p:par>
                            </p:childTnLst>
                          </p:cTn>
                        </p:par>
                        <p:par>
                          <p:cTn fill="hold">
                            <p:stCondLst>
                              <p:cond delay="4500"/>
                            </p:stCondLst>
                            <p:childTnLst>
                              <p:par>
                                <p:cTn fill="hold" nodeType="afterEffect" presetClass="entr" presetID="10" presetSubtype="0">
                                  <p:stCondLst>
                                    <p:cond delay="0"/>
                                  </p:stCondLst>
                                  <p:childTnLst>
                                    <p:set>
                                      <p:cBhvr>
                                        <p:cTn dur="1" fill="hold">
                                          <p:stCondLst>
                                            <p:cond delay="0"/>
                                          </p:stCondLst>
                                        </p:cTn>
                                        <p:tgtEl>
                                          <p:spTgt spid="359">
                                            <p:txEl>
                                              <p:pRg end="2" st="2"/>
                                            </p:txEl>
                                          </p:spTgt>
                                        </p:tgtEl>
                                        <p:attrNameLst>
                                          <p:attrName>style.visibility</p:attrName>
                                        </p:attrNameLst>
                                      </p:cBhvr>
                                      <p:to>
                                        <p:strVal val="visible"/>
                                      </p:to>
                                    </p:set>
                                    <p:animEffect filter="fade" transition="in">
                                      <p:cBhvr>
                                        <p:cTn dur="500"/>
                                        <p:tgtEl>
                                          <p:spTgt spid="359">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0"/>
                                        </p:tgtEl>
                                        <p:attrNameLst>
                                          <p:attrName>style.visibility</p:attrName>
                                        </p:attrNameLst>
                                      </p:cBhvr>
                                      <p:to>
                                        <p:strVal val="visible"/>
                                      </p:to>
                                    </p:set>
                                    <p:animEffect filter="fade" transition="in">
                                      <p:cBhvr>
                                        <p:cTn dur="500"/>
                                        <p:tgtEl>
                                          <p:spTgt spid="360"/>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61"/>
                                        </p:tgtEl>
                                        <p:attrNameLst>
                                          <p:attrName>style.visibility</p:attrName>
                                        </p:attrNameLst>
                                      </p:cBhvr>
                                      <p:to>
                                        <p:strVal val="visible"/>
                                      </p:to>
                                    </p:set>
                                    <p:animEffect filter="fade" transition="in">
                                      <p:cBhvr>
                                        <p:cTn dur="500"/>
                                        <p:tgtEl>
                                          <p:spTgt spid="361"/>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62"/>
                                        </p:tgtEl>
                                        <p:attrNameLst>
                                          <p:attrName>style.visibility</p:attrName>
                                        </p:attrNameLst>
                                      </p:cBhvr>
                                      <p:to>
                                        <p:strVal val="visible"/>
                                      </p:to>
                                    </p:set>
                                    <p:animEffect filter="fade" transition="in">
                                      <p:cBhvr>
                                        <p:cTn dur="500"/>
                                        <p:tgtEl>
                                          <p:spTgt spid="3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62"/>
                                        </p:tgtEl>
                                      </p:cBhvr>
                                    </p:animEffect>
                                    <p:set>
                                      <p:cBhvr>
                                        <p:cTn dur="1" fill="hold">
                                          <p:stCondLst>
                                            <p:cond delay="500"/>
                                          </p:stCondLst>
                                        </p:cTn>
                                        <p:tgtEl>
                                          <p:spTgt spid="362"/>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61"/>
                                        </p:tgtEl>
                                      </p:cBhvr>
                                    </p:animEffect>
                                    <p:set>
                                      <p:cBhvr>
                                        <p:cTn dur="1" fill="hold">
                                          <p:stCondLst>
                                            <p:cond delay="500"/>
                                          </p:stCondLst>
                                        </p:cTn>
                                        <p:tgtEl>
                                          <p:spTgt spid="361"/>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60"/>
                                        </p:tgtEl>
                                      </p:cBhvr>
                                    </p:animEffect>
                                    <p:set>
                                      <p:cBhvr>
                                        <p:cTn dur="1" fill="hold">
                                          <p:stCondLst>
                                            <p:cond delay="500"/>
                                          </p:stCondLst>
                                        </p:cTn>
                                        <p:tgtEl>
                                          <p:spTgt spid="360"/>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59">
                                            <p:txEl>
                                              <p:pRg end="0" st="0"/>
                                            </p:txEl>
                                          </p:spTgt>
                                        </p:tgtEl>
                                      </p:cBhvr>
                                    </p:animEffect>
                                    <p:set>
                                      <p:cBhvr>
                                        <p:cTn dur="1" fill="hold">
                                          <p:stCondLst>
                                            <p:cond delay="500"/>
                                          </p:stCondLst>
                                        </p:cTn>
                                        <p:tgtEl>
                                          <p:spTgt spid="359">
                                            <p:txEl>
                                              <p:pRg end="0" st="0"/>
                                            </p:txEl>
                                          </p:spTgt>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59">
                                            <p:txEl>
                                              <p:pRg end="1" st="1"/>
                                            </p:txEl>
                                          </p:spTgt>
                                        </p:tgtEl>
                                      </p:cBhvr>
                                    </p:animEffect>
                                    <p:set>
                                      <p:cBhvr>
                                        <p:cTn dur="1" fill="hold">
                                          <p:stCondLst>
                                            <p:cond delay="500"/>
                                          </p:stCondLst>
                                        </p:cTn>
                                        <p:tgtEl>
                                          <p:spTgt spid="359">
                                            <p:txEl>
                                              <p:pRg end="1" st="1"/>
                                            </p:txEl>
                                          </p:spTgt>
                                        </p:tgtEl>
                                        <p:attrNameLst>
                                          <p:attrName>style.visibility</p:attrName>
                                        </p:attrNameLst>
                                      </p:cBhvr>
                                      <p:to>
                                        <p:strVal val="hidden"/>
                                      </p:to>
                                    </p:set>
                                  </p:childTnLst>
                                </p:cTn>
                              </p:par>
                            </p:childTnLst>
                          </p:cTn>
                        </p:par>
                        <p:par>
                          <p:cTn fill="hold">
                            <p:stCondLst>
                              <p:cond delay="2500"/>
                            </p:stCondLst>
                            <p:childTnLst>
                              <p:par>
                                <p:cTn fill="hold" nodeType="afterEffect" presetClass="exit" presetID="10" presetSubtype="0">
                                  <p:stCondLst>
                                    <p:cond delay="0"/>
                                  </p:stCondLst>
                                  <p:childTnLst>
                                    <p:animEffect filter="fade" transition="out">
                                      <p:cBhvr>
                                        <p:cTn dur="500"/>
                                        <p:tgtEl>
                                          <p:spTgt spid="359">
                                            <p:txEl>
                                              <p:pRg end="2" st="2"/>
                                            </p:txEl>
                                          </p:spTgt>
                                        </p:tgtEl>
                                      </p:cBhvr>
                                    </p:animEffect>
                                    <p:set>
                                      <p:cBhvr>
                                        <p:cTn dur="1" fill="hold">
                                          <p:stCondLst>
                                            <p:cond delay="500"/>
                                          </p:stCondLst>
                                        </p:cTn>
                                        <p:tgtEl>
                                          <p:spTgt spid="359">
                                            <p:txEl>
                                              <p:pRg end="2" st="2"/>
                                            </p:txEl>
                                          </p:spTgt>
                                        </p:tgtEl>
                                        <p:attrNameLst>
                                          <p:attrName>style.visibility</p:attrName>
                                        </p:attrNameLst>
                                      </p:cBhvr>
                                      <p:to>
                                        <p:strVal val="hidden"/>
                                      </p:to>
                                    </p:se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363">
                                            <p:txEl>
                                              <p:pRg end="0" st="0"/>
                                            </p:txEl>
                                          </p:spTgt>
                                        </p:tgtEl>
                                        <p:attrNameLst>
                                          <p:attrName>style.visibility</p:attrName>
                                        </p:attrNameLst>
                                      </p:cBhvr>
                                      <p:to>
                                        <p:strVal val="visible"/>
                                      </p:to>
                                    </p:set>
                                    <p:animEffect filter="fade" transition="in">
                                      <p:cBhvr>
                                        <p:cTn dur="500"/>
                                        <p:tgtEl>
                                          <p:spTgt spid="363">
                                            <p:txEl>
                                              <p:pRg end="0" st="0"/>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363">
                                            <p:txEl>
                                              <p:pRg end="1" st="1"/>
                                            </p:txEl>
                                          </p:spTgt>
                                        </p:tgtEl>
                                        <p:attrNameLst>
                                          <p:attrName>style.visibility</p:attrName>
                                        </p:attrNameLst>
                                      </p:cBhvr>
                                      <p:to>
                                        <p:strVal val="visible"/>
                                      </p:to>
                                    </p:set>
                                    <p:animEffect filter="fade" transition="in">
                                      <p:cBhvr>
                                        <p:cTn dur="500"/>
                                        <p:tgtEl>
                                          <p:spTgt spid="363">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4"/>
                                        </p:tgtEl>
                                        <p:attrNameLst>
                                          <p:attrName>style.visibility</p:attrName>
                                        </p:attrNameLst>
                                      </p:cBhvr>
                                      <p:to>
                                        <p:strVal val="visible"/>
                                      </p:to>
                                    </p:set>
                                    <p:animEffect filter="fade" transition="in">
                                      <p:cBhvr>
                                        <p:cTn dur="500"/>
                                        <p:tgtEl>
                                          <p:spTgt spid="364"/>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65"/>
                                        </p:tgtEl>
                                        <p:attrNameLst>
                                          <p:attrName>style.visibility</p:attrName>
                                        </p:attrNameLst>
                                      </p:cBhvr>
                                      <p:to>
                                        <p:strVal val="visible"/>
                                      </p:to>
                                    </p:set>
                                    <p:animEffect filter="fade" transition="in">
                                      <p:cBhvr>
                                        <p:cTn dur="500"/>
                                        <p:tgtEl>
                                          <p:spTgt spid="365"/>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66"/>
                                        </p:tgtEl>
                                        <p:attrNameLst>
                                          <p:attrName>style.visibility</p:attrName>
                                        </p:attrNameLst>
                                      </p:cBhvr>
                                      <p:to>
                                        <p:strVal val="visible"/>
                                      </p:to>
                                    </p:set>
                                    <p:animEffect filter="fade" transition="in">
                                      <p:cBhvr>
                                        <p:cTn dur="500"/>
                                        <p:tgtEl>
                                          <p:spTgt spid="366"/>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68"/>
                                        </p:tgtEl>
                                        <p:attrNameLst>
                                          <p:attrName>style.visibility</p:attrName>
                                        </p:attrNameLst>
                                      </p:cBhvr>
                                      <p:to>
                                        <p:strVal val="visible"/>
                                      </p:to>
                                    </p:set>
                                    <p:animEffect filter="fade" transition="in">
                                      <p:cBhvr>
                                        <p:cTn dur="500"/>
                                        <p:tgtEl>
                                          <p:spTgt spid="368"/>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67"/>
                                        </p:tgtEl>
                                        <p:attrNameLst>
                                          <p:attrName>style.visibility</p:attrName>
                                        </p:attrNameLst>
                                      </p:cBhvr>
                                      <p:to>
                                        <p:strVal val="visible"/>
                                      </p:to>
                                    </p:set>
                                    <p:animEffect filter="fade" transition="in">
                                      <p:cBhvr>
                                        <p:cTn dur="500"/>
                                        <p:tgtEl>
                                          <p:spTgt spid="3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67"/>
                                        </p:tgtEl>
                                      </p:cBhvr>
                                    </p:animEffect>
                                    <p:set>
                                      <p:cBhvr>
                                        <p:cTn dur="1" fill="hold">
                                          <p:stCondLst>
                                            <p:cond delay="500"/>
                                          </p:stCondLst>
                                        </p:cTn>
                                        <p:tgtEl>
                                          <p:spTgt spid="367"/>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68"/>
                                        </p:tgtEl>
                                      </p:cBhvr>
                                    </p:animEffect>
                                    <p:set>
                                      <p:cBhvr>
                                        <p:cTn dur="1" fill="hold">
                                          <p:stCondLst>
                                            <p:cond delay="500"/>
                                          </p:stCondLst>
                                        </p:cTn>
                                        <p:tgtEl>
                                          <p:spTgt spid="368"/>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66"/>
                                        </p:tgtEl>
                                      </p:cBhvr>
                                    </p:animEffect>
                                    <p:set>
                                      <p:cBhvr>
                                        <p:cTn dur="1" fill="hold">
                                          <p:stCondLst>
                                            <p:cond delay="500"/>
                                          </p:stCondLst>
                                        </p:cTn>
                                        <p:tgtEl>
                                          <p:spTgt spid="366"/>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65"/>
                                        </p:tgtEl>
                                      </p:cBhvr>
                                    </p:animEffect>
                                    <p:set>
                                      <p:cBhvr>
                                        <p:cTn dur="1" fill="hold">
                                          <p:stCondLst>
                                            <p:cond delay="500"/>
                                          </p:stCondLst>
                                        </p:cTn>
                                        <p:tgtEl>
                                          <p:spTgt spid="365"/>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500"/>
                                        <p:tgtEl>
                                          <p:spTgt spid="364"/>
                                        </p:tgtEl>
                                      </p:cBhvr>
                                    </p:animEffect>
                                    <p:set>
                                      <p:cBhvr>
                                        <p:cTn dur="1" fill="hold">
                                          <p:stCondLst>
                                            <p:cond delay="500"/>
                                          </p:stCondLst>
                                        </p:cTn>
                                        <p:tgtEl>
                                          <p:spTgt spid="364"/>
                                        </p:tgtEl>
                                        <p:attrNameLst>
                                          <p:attrName>style.visibility</p:attrName>
                                        </p:attrNameLst>
                                      </p:cBhvr>
                                      <p:to>
                                        <p:strVal val="hidden"/>
                                      </p:to>
                                    </p:set>
                                  </p:childTnLst>
                                </p:cTn>
                              </p:par>
                            </p:childTnLst>
                          </p:cTn>
                        </p:par>
                        <p:par>
                          <p:cTn fill="hold">
                            <p:stCondLst>
                              <p:cond delay="2500"/>
                            </p:stCondLst>
                            <p:childTnLst>
                              <p:par>
                                <p:cTn fill="hold" nodeType="afterEffect" presetClass="exit" presetID="10" presetSubtype="0">
                                  <p:stCondLst>
                                    <p:cond delay="0"/>
                                  </p:stCondLst>
                                  <p:childTnLst>
                                    <p:animEffect filter="fade" transition="out">
                                      <p:cBhvr>
                                        <p:cTn dur="500"/>
                                        <p:tgtEl>
                                          <p:spTgt spid="363">
                                            <p:txEl>
                                              <p:pRg end="0" st="0"/>
                                            </p:txEl>
                                          </p:spTgt>
                                        </p:tgtEl>
                                      </p:cBhvr>
                                    </p:animEffect>
                                    <p:set>
                                      <p:cBhvr>
                                        <p:cTn dur="1" fill="hold">
                                          <p:stCondLst>
                                            <p:cond delay="500"/>
                                          </p:stCondLst>
                                        </p:cTn>
                                        <p:tgtEl>
                                          <p:spTgt spid="363">
                                            <p:txEl>
                                              <p:pRg end="0" st="0"/>
                                            </p:txEl>
                                          </p:spTgt>
                                        </p:tgtEl>
                                        <p:attrNameLst>
                                          <p:attrName>style.visibility</p:attrName>
                                        </p:attrNameLst>
                                      </p:cBhvr>
                                      <p:to>
                                        <p:strVal val="hidden"/>
                                      </p:to>
                                    </p:set>
                                  </p:childTnLst>
                                </p:cTn>
                              </p:par>
                            </p:childTnLst>
                          </p:cTn>
                        </p:par>
                        <p:par>
                          <p:cTn fill="hold">
                            <p:stCondLst>
                              <p:cond delay="3000"/>
                            </p:stCondLst>
                            <p:childTnLst>
                              <p:par>
                                <p:cTn fill="hold" nodeType="afterEffect" presetClass="exit" presetID="10" presetSubtype="0">
                                  <p:stCondLst>
                                    <p:cond delay="0"/>
                                  </p:stCondLst>
                                  <p:childTnLst>
                                    <p:animEffect filter="fade" transition="out">
                                      <p:cBhvr>
                                        <p:cTn dur="500"/>
                                        <p:tgtEl>
                                          <p:spTgt spid="363">
                                            <p:txEl>
                                              <p:pRg end="1" st="1"/>
                                            </p:txEl>
                                          </p:spTgt>
                                        </p:tgtEl>
                                      </p:cBhvr>
                                    </p:animEffect>
                                    <p:set>
                                      <p:cBhvr>
                                        <p:cTn dur="1" fill="hold">
                                          <p:stCondLst>
                                            <p:cond delay="500"/>
                                          </p:stCondLst>
                                        </p:cTn>
                                        <p:tgtEl>
                                          <p:spTgt spid="363">
                                            <p:txEl>
                                              <p:pRg end="1" st="1"/>
                                            </p:txEl>
                                          </p:spTgt>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7BCDC2"/>
        </a:solidFill>
      </p:bgPr>
    </p:bg>
    <p:spTree>
      <p:nvGrpSpPr>
        <p:cNvPr id="372" name="Shape 372"/>
        <p:cNvGrpSpPr/>
        <p:nvPr/>
      </p:nvGrpSpPr>
      <p:grpSpPr>
        <a:xfrm>
          <a:off x="0" y="0"/>
          <a:ext cx="0" cy="0"/>
          <a:chOff x="0" y="0"/>
          <a:chExt cx="0" cy="0"/>
        </a:xfrm>
      </p:grpSpPr>
      <p:sp>
        <p:nvSpPr>
          <p:cNvPr id="373" name="Google Shape;373;p24"/>
          <p:cNvSpPr/>
          <p:nvPr/>
        </p:nvSpPr>
        <p:spPr>
          <a:xfrm>
            <a:off x="755650" y="1482396"/>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Now that you have heard all of the theory behind the micro:bit and have a good grasp of what a micro:bit is, let’s get to the good part.</a:t>
            </a:r>
            <a:endParaRPr/>
          </a:p>
        </p:txBody>
      </p:sp>
      <p:sp>
        <p:nvSpPr>
          <p:cNvPr id="374" name="Google Shape;374;p24"/>
          <p:cNvSpPr txBox="1"/>
          <p:nvPr/>
        </p:nvSpPr>
        <p:spPr>
          <a:xfrm>
            <a:off x="755647" y="738107"/>
            <a:ext cx="36391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7BCDC2"/>
              </a:buClr>
              <a:buSzPts val="2400"/>
              <a:buFont typeface="Roboto"/>
              <a:buNone/>
            </a:pPr>
            <a:r>
              <a:rPr b="1" lang="en-GB" sz="2400">
                <a:solidFill>
                  <a:srgbClr val="7BCDC2"/>
                </a:solidFill>
                <a:latin typeface="Roboto"/>
                <a:ea typeface="Roboto"/>
                <a:cs typeface="Roboto"/>
                <a:sym typeface="Roboto"/>
              </a:rPr>
              <a:t>Let’s Get Coding</a:t>
            </a:r>
            <a:endParaRPr/>
          </a:p>
        </p:txBody>
      </p:sp>
      <p:sp>
        <p:nvSpPr>
          <p:cNvPr id="375" name="Google Shape;375;p24"/>
          <p:cNvSpPr/>
          <p:nvPr/>
        </p:nvSpPr>
        <p:spPr>
          <a:xfrm>
            <a:off x="755647" y="5711114"/>
            <a:ext cx="7632700" cy="495108"/>
          </a:xfrm>
          <a:prstGeom prst="rect">
            <a:avLst/>
          </a:prstGeom>
          <a:solidFill>
            <a:srgbClr val="7BCDC2"/>
          </a:solidFill>
          <a:ln>
            <a:noFill/>
          </a:ln>
        </p:spPr>
        <p:txBody>
          <a:bodyPr anchorCtr="0" anchor="t" bIns="108000" lIns="108000" spcFirstLastPara="1" rIns="108000" wrap="square" tIns="108000">
            <a:noAutofit/>
          </a:bodyPr>
          <a:lstStyle/>
          <a:p>
            <a:pPr indent="0" lvl="0" marL="0" marR="0" rtl="0" algn="ctr">
              <a:spcBef>
                <a:spcPts val="0"/>
              </a:spcBef>
              <a:spcAft>
                <a:spcPts val="0"/>
              </a:spcAft>
              <a:buNone/>
            </a:pPr>
            <a:r>
              <a:rPr lang="en-GB" sz="1800">
                <a:solidFill>
                  <a:schemeClr val="dk1"/>
                </a:solidFill>
                <a:latin typeface="Roboto"/>
                <a:ea typeface="Roboto"/>
                <a:cs typeface="Roboto"/>
                <a:sym typeface="Roboto"/>
              </a:rPr>
              <a:t>If you are not familiar with Microsoft MakeCode interface, click here.</a:t>
            </a:r>
            <a:endParaRPr/>
          </a:p>
        </p:txBody>
      </p:sp>
      <p:sp>
        <p:nvSpPr>
          <p:cNvPr id="376" name="Google Shape;376;p24"/>
          <p:cNvSpPr/>
          <p:nvPr/>
        </p:nvSpPr>
        <p:spPr>
          <a:xfrm>
            <a:off x="665956" y="1417944"/>
            <a:ext cx="7812088" cy="772107"/>
          </a:xfrm>
          <a:prstGeom prst="rect">
            <a:avLst/>
          </a:prstGeom>
          <a:solidFill>
            <a:srgbClr val="7BCDC2"/>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For the purpose of the following programs, we will be using Microsoft MakeCode. You may choose to use other micro:bit editors.</a:t>
            </a:r>
            <a:endParaRPr/>
          </a:p>
        </p:txBody>
      </p:sp>
      <p:sp>
        <p:nvSpPr>
          <p:cNvPr id="377" name="Google Shape;377;p24"/>
          <p:cNvSpPr/>
          <p:nvPr/>
        </p:nvSpPr>
        <p:spPr>
          <a:xfrm>
            <a:off x="755647" y="1526998"/>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To access Microsoft MakeCode, you can sign in if you have an account or you can access the website without an account.</a:t>
            </a:r>
            <a:endParaRPr/>
          </a:p>
        </p:txBody>
      </p:sp>
      <p:sp>
        <p:nvSpPr>
          <p:cNvPr id="378" name="Google Shape;378;p24"/>
          <p:cNvSpPr/>
          <p:nvPr/>
        </p:nvSpPr>
        <p:spPr>
          <a:xfrm>
            <a:off x="801371" y="2617066"/>
            <a:ext cx="2466340" cy="8309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When you have opened Microsoft MakeCode, select </a:t>
            </a:r>
            <a:r>
              <a:rPr b="1" lang="en-GB" sz="1800">
                <a:solidFill>
                  <a:schemeClr val="dk1"/>
                </a:solidFill>
                <a:latin typeface="Roboto"/>
                <a:ea typeface="Roboto"/>
                <a:cs typeface="Roboto"/>
                <a:sym typeface="Roboto"/>
              </a:rPr>
              <a:t>New Project</a:t>
            </a:r>
            <a:r>
              <a:rPr lang="en-GB" sz="1800">
                <a:solidFill>
                  <a:schemeClr val="dk1"/>
                </a:solidFill>
                <a:latin typeface="Roboto"/>
                <a:ea typeface="Roboto"/>
                <a:cs typeface="Roboto"/>
                <a:sym typeface="Roboto"/>
              </a:rPr>
              <a:t>.</a:t>
            </a:r>
            <a:endParaRPr/>
          </a:p>
        </p:txBody>
      </p:sp>
      <p:sp>
        <p:nvSpPr>
          <p:cNvPr id="379" name="Google Shape;379;p24"/>
          <p:cNvSpPr/>
          <p:nvPr/>
        </p:nvSpPr>
        <p:spPr>
          <a:xfrm>
            <a:off x="3415983" y="2617066"/>
            <a:ext cx="4972364"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You are then given the option to name your project. This is a good opportunity to teach children about file naming conventions.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You could name this project ‘BBC micro:bit CPD’.</a:t>
            </a:r>
            <a:endParaRPr/>
          </a:p>
        </p:txBody>
      </p:sp>
      <p:cxnSp>
        <p:nvCxnSpPr>
          <p:cNvPr id="380" name="Google Shape;380;p24"/>
          <p:cNvCxnSpPr/>
          <p:nvPr/>
        </p:nvCxnSpPr>
        <p:spPr>
          <a:xfrm>
            <a:off x="755648" y="2540560"/>
            <a:ext cx="2427607" cy="0"/>
          </a:xfrm>
          <a:prstGeom prst="straightConnector1">
            <a:avLst/>
          </a:prstGeom>
          <a:noFill/>
          <a:ln cap="flat" cmpd="sng" w="28575">
            <a:solidFill>
              <a:srgbClr val="7BCDC2"/>
            </a:solidFill>
            <a:prstDash val="solid"/>
            <a:miter lim="8000"/>
            <a:headEnd len="sm" w="sm" type="none"/>
            <a:tailEnd len="sm" w="sm" type="none"/>
          </a:ln>
        </p:spPr>
      </p:cxnSp>
      <p:cxnSp>
        <p:nvCxnSpPr>
          <p:cNvPr id="381" name="Google Shape;381;p24"/>
          <p:cNvCxnSpPr/>
          <p:nvPr/>
        </p:nvCxnSpPr>
        <p:spPr>
          <a:xfrm>
            <a:off x="3384548" y="2540560"/>
            <a:ext cx="5003802" cy="0"/>
          </a:xfrm>
          <a:prstGeom prst="straightConnector1">
            <a:avLst/>
          </a:prstGeom>
          <a:noFill/>
          <a:ln cap="flat" cmpd="sng" w="28575">
            <a:solidFill>
              <a:srgbClr val="7BCDC2"/>
            </a:solidFill>
            <a:prstDash val="solid"/>
            <a:miter lim="8000"/>
            <a:headEnd len="sm" w="sm" type="none"/>
            <a:tailEnd len="sm" w="sm" type="none"/>
          </a:ln>
        </p:spPr>
      </p:cxnSp>
      <p:pic>
        <p:nvPicPr>
          <p:cNvPr descr="A picture containing symbol, screenshot, logo, text&#10;&#10;Description automatically generated" id="382" name="Google Shape;382;p24"/>
          <p:cNvPicPr preferRelativeResize="0"/>
          <p:nvPr/>
        </p:nvPicPr>
        <p:blipFill rotWithShape="1">
          <a:blip r:embed="rId3">
            <a:alphaModFix/>
          </a:blip>
          <a:srcRect b="0" l="0" r="0" t="0"/>
          <a:stretch/>
        </p:blipFill>
        <p:spPr>
          <a:xfrm>
            <a:off x="755647" y="4032713"/>
            <a:ext cx="2136189" cy="1528774"/>
          </a:xfrm>
          <a:prstGeom prst="rect">
            <a:avLst/>
          </a:prstGeom>
          <a:noFill/>
          <a:ln>
            <a:noFill/>
          </a:ln>
        </p:spPr>
      </p:pic>
      <p:pic>
        <p:nvPicPr>
          <p:cNvPr id="383" name="Google Shape;383;p24"/>
          <p:cNvPicPr preferRelativeResize="0"/>
          <p:nvPr/>
        </p:nvPicPr>
        <p:blipFill rotWithShape="1">
          <a:blip r:embed="rId4">
            <a:alphaModFix/>
          </a:blip>
          <a:srcRect b="0" l="0" r="0" t="0"/>
          <a:stretch/>
        </p:blipFill>
        <p:spPr>
          <a:xfrm>
            <a:off x="3267711" y="4058979"/>
            <a:ext cx="2635820" cy="1502503"/>
          </a:xfrm>
          <a:prstGeom prst="rect">
            <a:avLst/>
          </a:prstGeom>
          <a:noFill/>
          <a:ln>
            <a:noFill/>
          </a:ln>
          <a:effectLst>
            <a:outerShdw blurRad="50800" rotWithShape="0" algn="tl" dir="2700000" dist="38100">
              <a:srgbClr val="000000">
                <a:alpha val="40000"/>
              </a:srgbClr>
            </a:outerShdw>
          </a:effectLst>
        </p:spPr>
      </p:pic>
      <p:sp>
        <p:nvSpPr>
          <p:cNvPr id="384" name="Google Shape;384;p24"/>
          <p:cNvSpPr/>
          <p:nvPr/>
        </p:nvSpPr>
        <p:spPr>
          <a:xfrm>
            <a:off x="6019164" y="4427033"/>
            <a:ext cx="2313306" cy="10772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CDC2"/>
              </a:buClr>
              <a:buSzPts val="1400"/>
              <a:buFont typeface="Roboto"/>
              <a:buNone/>
            </a:pPr>
            <a:r>
              <a:rPr lang="en-GB" sz="1400">
                <a:solidFill>
                  <a:srgbClr val="7BCDC2"/>
                </a:solidFill>
                <a:latin typeface="Roboto"/>
                <a:ea typeface="Roboto"/>
                <a:cs typeface="Roboto"/>
                <a:sym typeface="Roboto"/>
              </a:rPr>
              <a:t>Once you have typed your project name into the space, select </a:t>
            </a:r>
            <a:r>
              <a:rPr b="1" lang="en-GB" sz="1400">
                <a:solidFill>
                  <a:srgbClr val="7BCDC2"/>
                </a:solidFill>
                <a:latin typeface="Roboto"/>
                <a:ea typeface="Roboto"/>
                <a:cs typeface="Roboto"/>
                <a:sym typeface="Roboto"/>
              </a:rPr>
              <a:t>Create</a:t>
            </a:r>
            <a:r>
              <a:rPr lang="en-GB" sz="1400">
                <a:solidFill>
                  <a:srgbClr val="7BCDC2"/>
                </a:solidFill>
                <a:latin typeface="Roboto"/>
                <a:ea typeface="Roboto"/>
                <a:cs typeface="Roboto"/>
                <a:sym typeface="Roboto"/>
              </a:rPr>
              <a:t>. You should now see the Microsoft MakeCode interface.</a:t>
            </a:r>
            <a:endParaRPr/>
          </a:p>
        </p:txBody>
      </p:sp>
      <p:sp>
        <p:nvSpPr>
          <p:cNvPr id="385" name="Google Shape;385;p24">
            <a:hlinkClick action="ppaction://hlinksldjump" r:id="rId5"/>
          </p:cNvPr>
          <p:cNvSpPr/>
          <p:nvPr/>
        </p:nvSpPr>
        <p:spPr>
          <a:xfrm>
            <a:off x="617220" y="5640705"/>
            <a:ext cx="7860824" cy="617220"/>
          </a:xfrm>
          <a:prstGeom prst="rect">
            <a:avLst/>
          </a:prstGeom>
          <a:solidFill>
            <a:srgbClr val="18A0DB">
              <a:alpha val="1961"/>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73"/>
                                        </p:tgtEl>
                                        <p:attrNameLst>
                                          <p:attrName>style.visibility</p:attrName>
                                        </p:attrNameLst>
                                      </p:cBhvr>
                                      <p:to>
                                        <p:strVal val="visible"/>
                                      </p:to>
                                    </p:set>
                                    <p:animEffect filter="fade" transition="in">
                                      <p:cBhvr>
                                        <p:cTn dur="500"/>
                                        <p:tgtEl>
                                          <p:spTgt spid="3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73"/>
                                        </p:tgtEl>
                                      </p:cBhvr>
                                    </p:animEffect>
                                    <p:set>
                                      <p:cBhvr>
                                        <p:cTn dur="1" fill="hold">
                                          <p:stCondLst>
                                            <p:cond delay="500"/>
                                          </p:stCondLst>
                                        </p:cTn>
                                        <p:tgtEl>
                                          <p:spTgt spid="373"/>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76"/>
                                        </p:tgtEl>
                                        <p:attrNameLst>
                                          <p:attrName>style.visibility</p:attrName>
                                        </p:attrNameLst>
                                      </p:cBhvr>
                                      <p:to>
                                        <p:strVal val="visible"/>
                                      </p:to>
                                    </p:set>
                                    <p:animEffect filter="fade" transition="in">
                                      <p:cBhvr>
                                        <p:cTn dur="500"/>
                                        <p:tgtEl>
                                          <p:spTgt spid="3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76"/>
                                        </p:tgtEl>
                                      </p:cBhvr>
                                    </p:animEffect>
                                    <p:set>
                                      <p:cBhvr>
                                        <p:cTn dur="1" fill="hold">
                                          <p:stCondLst>
                                            <p:cond delay="500"/>
                                          </p:stCondLst>
                                        </p:cTn>
                                        <p:tgtEl>
                                          <p:spTgt spid="376"/>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77"/>
                                        </p:tgtEl>
                                        <p:attrNameLst>
                                          <p:attrName>style.visibility</p:attrName>
                                        </p:attrNameLst>
                                      </p:cBhvr>
                                      <p:to>
                                        <p:strVal val="visible"/>
                                      </p:to>
                                    </p:set>
                                    <p:animEffect filter="fade" transition="in">
                                      <p:cBhvr>
                                        <p:cTn dur="500"/>
                                        <p:tgtEl>
                                          <p:spTgt spid="37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gtEl>
                                        <p:attrNameLst>
                                          <p:attrName>style.visibility</p:attrName>
                                        </p:attrNameLst>
                                      </p:cBhvr>
                                      <p:to>
                                        <p:strVal val="visible"/>
                                      </p:to>
                                    </p:set>
                                    <p:animEffect filter="fade" transition="in">
                                      <p:cBhvr>
                                        <p:cTn dur="500"/>
                                        <p:tgtEl>
                                          <p:spTgt spid="380"/>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78"/>
                                        </p:tgtEl>
                                        <p:attrNameLst>
                                          <p:attrName>style.visibility</p:attrName>
                                        </p:attrNameLst>
                                      </p:cBhvr>
                                      <p:to>
                                        <p:strVal val="visible"/>
                                      </p:to>
                                    </p:set>
                                    <p:animEffect filter="fade" transition="in">
                                      <p:cBhvr>
                                        <p:cTn dur="500"/>
                                        <p:tgtEl>
                                          <p:spTgt spid="378"/>
                                        </p:tgtEl>
                                      </p:cBhvr>
                                    </p:animEffect>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382"/>
                                        </p:tgtEl>
                                        <p:attrNameLst>
                                          <p:attrName>style.visibility</p:attrName>
                                        </p:attrNameLst>
                                      </p:cBhvr>
                                      <p:to>
                                        <p:strVal val="visible"/>
                                      </p:to>
                                    </p:set>
                                    <p:anim calcmode="lin" valueType="num">
                                      <p:cBhvr additive="base">
                                        <p:cTn dur="500"/>
                                        <p:tgtEl>
                                          <p:spTgt spid="382"/>
                                        </p:tgtEl>
                                        <p:attrNameLst>
                                          <p:attrName>ppt_w</p:attrName>
                                        </p:attrNameLst>
                                      </p:cBhvr>
                                      <p:tavLst>
                                        <p:tav fmla="" tm="0">
                                          <p:val>
                                            <p:strVal val="0"/>
                                          </p:val>
                                        </p:tav>
                                        <p:tav fmla="" tm="100000">
                                          <p:val>
                                            <p:strVal val="#ppt_w"/>
                                          </p:val>
                                        </p:tav>
                                      </p:tavLst>
                                    </p:anim>
                                    <p:anim calcmode="lin" valueType="num">
                                      <p:cBhvr additive="base">
                                        <p:cTn dur="500"/>
                                        <p:tgtEl>
                                          <p:spTgt spid="38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1"/>
                                        </p:tgtEl>
                                        <p:attrNameLst>
                                          <p:attrName>style.visibility</p:attrName>
                                        </p:attrNameLst>
                                      </p:cBhvr>
                                      <p:to>
                                        <p:strVal val="visible"/>
                                      </p:to>
                                    </p:set>
                                    <p:animEffect filter="fade" transition="in">
                                      <p:cBhvr>
                                        <p:cTn dur="500"/>
                                        <p:tgtEl>
                                          <p:spTgt spid="381"/>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79"/>
                                        </p:tgtEl>
                                        <p:attrNameLst>
                                          <p:attrName>style.visibility</p:attrName>
                                        </p:attrNameLst>
                                      </p:cBhvr>
                                      <p:to>
                                        <p:strVal val="visible"/>
                                      </p:to>
                                    </p:set>
                                    <p:animEffect filter="fade" transition="in">
                                      <p:cBhvr>
                                        <p:cTn dur="500"/>
                                        <p:tgtEl>
                                          <p:spTgt spid="379"/>
                                        </p:tgtEl>
                                      </p:cBhvr>
                                    </p:animEffect>
                                  </p:childTnLst>
                                </p:cTn>
                              </p:par>
                            </p:childTnLst>
                          </p:cTn>
                        </p:par>
                        <p:par>
                          <p:cTn fill="hold">
                            <p:stCondLst>
                              <p:cond delay="1000"/>
                            </p:stCondLst>
                            <p:childTnLst>
                              <p:par>
                                <p:cTn fill="hold" nodeType="afterEffect" presetClass="entr" presetID="23" presetSubtype="16">
                                  <p:stCondLst>
                                    <p:cond delay="0"/>
                                  </p:stCondLst>
                                  <p:childTnLst>
                                    <p:set>
                                      <p:cBhvr>
                                        <p:cTn dur="1" fill="hold">
                                          <p:stCondLst>
                                            <p:cond delay="0"/>
                                          </p:stCondLst>
                                        </p:cTn>
                                        <p:tgtEl>
                                          <p:spTgt spid="383"/>
                                        </p:tgtEl>
                                        <p:attrNameLst>
                                          <p:attrName>style.visibility</p:attrName>
                                        </p:attrNameLst>
                                      </p:cBhvr>
                                      <p:to>
                                        <p:strVal val="visible"/>
                                      </p:to>
                                    </p:set>
                                    <p:anim calcmode="lin" valueType="num">
                                      <p:cBhvr additive="base">
                                        <p:cTn dur="500"/>
                                        <p:tgtEl>
                                          <p:spTgt spid="383"/>
                                        </p:tgtEl>
                                        <p:attrNameLst>
                                          <p:attrName>ppt_w</p:attrName>
                                        </p:attrNameLst>
                                      </p:cBhvr>
                                      <p:tavLst>
                                        <p:tav fmla="" tm="0">
                                          <p:val>
                                            <p:strVal val="0"/>
                                          </p:val>
                                        </p:tav>
                                        <p:tav fmla="" tm="100000">
                                          <p:val>
                                            <p:strVal val="#ppt_w"/>
                                          </p:val>
                                        </p:tav>
                                      </p:tavLst>
                                    </p:anim>
                                    <p:anim calcmode="lin" valueType="num">
                                      <p:cBhvr additive="base">
                                        <p:cTn dur="500"/>
                                        <p:tgtEl>
                                          <p:spTgt spid="383"/>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4"/>
                                        </p:tgtEl>
                                        <p:attrNameLst>
                                          <p:attrName>style.visibility</p:attrName>
                                        </p:attrNameLst>
                                      </p:cBhvr>
                                      <p:to>
                                        <p:strVal val="visible"/>
                                      </p:to>
                                    </p:set>
                                    <p:animEffect filter="fade" transition="in">
                                      <p:cBhvr>
                                        <p:cTn dur="500"/>
                                        <p:tgtEl>
                                          <p:spTgt spid="384"/>
                                        </p:tgtEl>
                                      </p:cBhvr>
                                    </p:animEffect>
                                  </p:childTnLst>
                                </p:cTn>
                              </p:par>
                            </p:childTnLst>
                          </p:cTn>
                        </p:par>
                        <p:par>
                          <p:cTn fill="hold">
                            <p:stCondLst>
                              <p:cond delay="500"/>
                            </p:stCondLst>
                            <p:childTnLst>
                              <p:par>
                                <p:cTn fill="hold" nodeType="afterEffect" presetClass="entr" presetID="2" presetSubtype="4">
                                  <p:stCondLst>
                                    <p:cond delay="0"/>
                                  </p:stCondLst>
                                  <p:childTnLst>
                                    <p:set>
                                      <p:cBhvr>
                                        <p:cTn dur="1" fill="hold">
                                          <p:stCondLst>
                                            <p:cond delay="0"/>
                                          </p:stCondLst>
                                        </p:cTn>
                                        <p:tgtEl>
                                          <p:spTgt spid="375"/>
                                        </p:tgtEl>
                                        <p:attrNameLst>
                                          <p:attrName>style.visibility</p:attrName>
                                        </p:attrNameLst>
                                      </p:cBhvr>
                                      <p:to>
                                        <p:strVal val="visible"/>
                                      </p:to>
                                    </p:set>
                                    <p:anim calcmode="lin" valueType="num">
                                      <p:cBhvr additive="base">
                                        <p:cTn dur="500"/>
                                        <p:tgtEl>
                                          <p:spTgt spid="375"/>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7BCDC2"/>
        </a:solidFill>
      </p:bgPr>
    </p:bg>
    <p:spTree>
      <p:nvGrpSpPr>
        <p:cNvPr id="389" name="Shape 389"/>
        <p:cNvGrpSpPr/>
        <p:nvPr/>
      </p:nvGrpSpPr>
      <p:grpSpPr>
        <a:xfrm>
          <a:off x="0" y="0"/>
          <a:ext cx="0" cy="0"/>
          <a:chOff x="0" y="0"/>
          <a:chExt cx="0" cy="0"/>
        </a:xfrm>
      </p:grpSpPr>
      <p:sp>
        <p:nvSpPr>
          <p:cNvPr id="390" name="Google Shape;390;p25"/>
          <p:cNvSpPr/>
          <p:nvPr/>
        </p:nvSpPr>
        <p:spPr>
          <a:xfrm>
            <a:off x="576262" y="1283665"/>
            <a:ext cx="7991475"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This section of the interface is called the </a:t>
            </a:r>
            <a:r>
              <a:rPr b="1" lang="en-GB" sz="1800">
                <a:solidFill>
                  <a:schemeClr val="dk1"/>
                </a:solidFill>
                <a:latin typeface="Roboto"/>
                <a:ea typeface="Roboto"/>
                <a:cs typeface="Roboto"/>
                <a:sym typeface="Roboto"/>
              </a:rPr>
              <a:t>blocks editor</a:t>
            </a:r>
            <a:r>
              <a:rPr lang="en-GB" sz="1800">
                <a:solidFill>
                  <a:schemeClr val="dk1"/>
                </a:solidFill>
                <a:latin typeface="Roboto"/>
                <a:ea typeface="Roboto"/>
                <a:cs typeface="Roboto"/>
                <a:sym typeface="Roboto"/>
              </a:rPr>
              <a:t>, select here to change it to the </a:t>
            </a:r>
            <a:r>
              <a:rPr b="1" lang="en-GB" sz="1800">
                <a:solidFill>
                  <a:schemeClr val="dk1"/>
                </a:solidFill>
                <a:latin typeface="Roboto"/>
                <a:ea typeface="Roboto"/>
                <a:cs typeface="Roboto"/>
                <a:sym typeface="Roboto"/>
              </a:rPr>
              <a:t>language editor</a:t>
            </a:r>
            <a:r>
              <a:rPr lang="en-GB" sz="1800">
                <a:solidFill>
                  <a:schemeClr val="dk1"/>
                </a:solidFill>
                <a:latin typeface="Roboto"/>
                <a:ea typeface="Roboto"/>
                <a:cs typeface="Roboto"/>
                <a:sym typeface="Roboto"/>
              </a:rPr>
              <a:t>.</a:t>
            </a:r>
            <a:endParaRPr/>
          </a:p>
        </p:txBody>
      </p:sp>
      <p:pic>
        <p:nvPicPr>
          <p:cNvPr id="391" name="Google Shape;391;p25"/>
          <p:cNvPicPr preferRelativeResize="0"/>
          <p:nvPr/>
        </p:nvPicPr>
        <p:blipFill rotWithShape="1">
          <a:blip r:embed="rId3">
            <a:alphaModFix/>
          </a:blip>
          <a:srcRect b="0" l="0" r="0" t="0"/>
          <a:stretch/>
        </p:blipFill>
        <p:spPr>
          <a:xfrm>
            <a:off x="576263" y="2013890"/>
            <a:ext cx="8002226" cy="3861129"/>
          </a:xfrm>
          <a:prstGeom prst="rect">
            <a:avLst/>
          </a:prstGeom>
          <a:noFill/>
          <a:ln>
            <a:noFill/>
          </a:ln>
        </p:spPr>
      </p:pic>
      <p:sp>
        <p:nvSpPr>
          <p:cNvPr id="392" name="Google Shape;392;p25"/>
          <p:cNvSpPr txBox="1"/>
          <p:nvPr/>
        </p:nvSpPr>
        <p:spPr>
          <a:xfrm>
            <a:off x="755646" y="738107"/>
            <a:ext cx="4330703"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7BCDC2"/>
              </a:buClr>
              <a:buSzPts val="2400"/>
              <a:buFont typeface="Roboto"/>
              <a:buNone/>
            </a:pPr>
            <a:r>
              <a:rPr b="1" lang="en-GB" sz="2400">
                <a:solidFill>
                  <a:srgbClr val="7BCDC2"/>
                </a:solidFill>
                <a:latin typeface="Roboto"/>
                <a:ea typeface="Roboto"/>
                <a:cs typeface="Roboto"/>
                <a:sym typeface="Roboto"/>
              </a:rPr>
              <a:t>Microsoft MakeCode Interface</a:t>
            </a:r>
            <a:endParaRPr/>
          </a:p>
        </p:txBody>
      </p:sp>
      <p:sp>
        <p:nvSpPr>
          <p:cNvPr id="393" name="Google Shape;393;p25"/>
          <p:cNvSpPr/>
          <p:nvPr/>
        </p:nvSpPr>
        <p:spPr>
          <a:xfrm>
            <a:off x="3762517" y="1925955"/>
            <a:ext cx="1569578" cy="428626"/>
          </a:xfrm>
          <a:prstGeom prst="roundRect">
            <a:avLst>
              <a:gd fmla="val 16667" name="adj"/>
            </a:avLst>
          </a:prstGeom>
          <a:noFill/>
          <a:ln cap="flat" cmpd="sng" w="38100">
            <a:solidFill>
              <a:srgbClr val="7BCDC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394" name="Google Shape;394;p25"/>
          <p:cNvCxnSpPr/>
          <p:nvPr/>
        </p:nvCxnSpPr>
        <p:spPr>
          <a:xfrm>
            <a:off x="2954655" y="1712291"/>
            <a:ext cx="1617345" cy="0"/>
          </a:xfrm>
          <a:prstGeom prst="straightConnector1">
            <a:avLst/>
          </a:prstGeom>
          <a:noFill/>
          <a:ln cap="flat" cmpd="sng" w="38100">
            <a:solidFill>
              <a:srgbClr val="7BCDC2"/>
            </a:solidFill>
            <a:prstDash val="solid"/>
            <a:miter lim="8000"/>
            <a:headEnd len="sm" w="sm" type="none"/>
            <a:tailEnd len="sm" w="sm" type="none"/>
          </a:ln>
        </p:spPr>
      </p:cxnSp>
      <p:cxnSp>
        <p:nvCxnSpPr>
          <p:cNvPr id="395" name="Google Shape;395;p25"/>
          <p:cNvCxnSpPr/>
          <p:nvPr/>
        </p:nvCxnSpPr>
        <p:spPr>
          <a:xfrm>
            <a:off x="4572000" y="1695450"/>
            <a:ext cx="0" cy="239673"/>
          </a:xfrm>
          <a:prstGeom prst="straightConnector1">
            <a:avLst/>
          </a:prstGeom>
          <a:noFill/>
          <a:ln cap="flat" cmpd="sng" w="38100">
            <a:solidFill>
              <a:srgbClr val="7BCDC2"/>
            </a:solidFill>
            <a:prstDash val="solid"/>
            <a:miter lim="8000"/>
            <a:headEnd len="sm" w="sm" type="none"/>
            <a:tailEnd len="sm" w="sm" type="none"/>
          </a:ln>
        </p:spPr>
      </p:cxnSp>
      <p:sp>
        <p:nvSpPr>
          <p:cNvPr id="396" name="Google Shape;396;p25"/>
          <p:cNvSpPr/>
          <p:nvPr/>
        </p:nvSpPr>
        <p:spPr>
          <a:xfrm>
            <a:off x="3703590" y="3416828"/>
            <a:ext cx="3929521" cy="8309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Blocks should be dragged from the </a:t>
            </a:r>
            <a:r>
              <a:rPr b="1" lang="en-GB" sz="1800">
                <a:solidFill>
                  <a:schemeClr val="dk1"/>
                </a:solidFill>
                <a:latin typeface="Roboto"/>
                <a:ea typeface="Roboto"/>
                <a:cs typeface="Roboto"/>
                <a:sym typeface="Roboto"/>
              </a:rPr>
              <a:t>Blocks Toolbox </a:t>
            </a:r>
            <a:r>
              <a:rPr lang="en-GB" sz="1800">
                <a:solidFill>
                  <a:schemeClr val="dk1"/>
                </a:solidFill>
                <a:latin typeface="Roboto"/>
                <a:ea typeface="Roboto"/>
                <a:cs typeface="Roboto"/>
                <a:sym typeface="Roboto"/>
              </a:rPr>
              <a:t>into the </a:t>
            </a:r>
            <a:r>
              <a:rPr b="1" lang="en-GB" sz="1800">
                <a:solidFill>
                  <a:schemeClr val="dk1"/>
                </a:solidFill>
                <a:latin typeface="Roboto"/>
                <a:ea typeface="Roboto"/>
                <a:cs typeface="Roboto"/>
                <a:sym typeface="Roboto"/>
              </a:rPr>
              <a:t>editor workspace</a:t>
            </a:r>
            <a:r>
              <a:rPr lang="en-GB" sz="1800">
                <a:solidFill>
                  <a:schemeClr val="dk1"/>
                </a:solidFill>
                <a:latin typeface="Roboto"/>
                <a:ea typeface="Roboto"/>
                <a:cs typeface="Roboto"/>
                <a:sym typeface="Roboto"/>
              </a:rPr>
              <a:t>. </a:t>
            </a:r>
            <a:endParaRPr/>
          </a:p>
        </p:txBody>
      </p:sp>
      <p:sp>
        <p:nvSpPr>
          <p:cNvPr id="397" name="Google Shape;397;p25"/>
          <p:cNvSpPr/>
          <p:nvPr/>
        </p:nvSpPr>
        <p:spPr>
          <a:xfrm>
            <a:off x="576262" y="1296792"/>
            <a:ext cx="8144828"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750">
                <a:solidFill>
                  <a:schemeClr val="dk1"/>
                </a:solidFill>
                <a:latin typeface="Roboto"/>
                <a:ea typeface="Roboto"/>
                <a:cs typeface="Roboto"/>
                <a:sym typeface="Roboto"/>
              </a:rPr>
              <a:t>The </a:t>
            </a:r>
            <a:r>
              <a:rPr b="1" lang="en-GB" sz="1750">
                <a:solidFill>
                  <a:schemeClr val="dk1"/>
                </a:solidFill>
                <a:latin typeface="Roboto"/>
                <a:ea typeface="Roboto"/>
                <a:cs typeface="Roboto"/>
                <a:sym typeface="Roboto"/>
              </a:rPr>
              <a:t>blocks editor </a:t>
            </a:r>
            <a:r>
              <a:rPr lang="en-GB" sz="1750">
                <a:solidFill>
                  <a:schemeClr val="dk1"/>
                </a:solidFill>
                <a:latin typeface="Roboto"/>
                <a:ea typeface="Roboto"/>
                <a:cs typeface="Roboto"/>
                <a:sym typeface="Roboto"/>
              </a:rPr>
              <a:t>offers blocks for the user to slot together to create a program. </a:t>
            </a:r>
            <a:endParaRPr/>
          </a:p>
        </p:txBody>
      </p:sp>
      <p:sp>
        <p:nvSpPr>
          <p:cNvPr id="398" name="Google Shape;398;p25"/>
          <p:cNvSpPr/>
          <p:nvPr/>
        </p:nvSpPr>
        <p:spPr>
          <a:xfrm>
            <a:off x="3703591" y="3416829"/>
            <a:ext cx="3816350"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blocks can be found in the </a:t>
            </a:r>
            <a:r>
              <a:rPr b="1" lang="en-GB" sz="1800">
                <a:solidFill>
                  <a:schemeClr val="dk1"/>
                </a:solidFill>
                <a:latin typeface="Roboto"/>
                <a:ea typeface="Roboto"/>
                <a:cs typeface="Roboto"/>
                <a:sym typeface="Roboto"/>
              </a:rPr>
              <a:t>Blocks Toolbox</a:t>
            </a:r>
            <a:r>
              <a:rPr lang="en-GB" sz="1800">
                <a:solidFill>
                  <a:schemeClr val="dk1"/>
                </a:solidFill>
                <a:latin typeface="Roboto"/>
                <a:ea typeface="Roboto"/>
                <a:cs typeface="Roboto"/>
                <a:sym typeface="Roboto"/>
              </a:rPr>
              <a:t>. The </a:t>
            </a:r>
            <a:r>
              <a:rPr b="1" lang="en-GB" sz="1800">
                <a:solidFill>
                  <a:schemeClr val="dk1"/>
                </a:solidFill>
                <a:latin typeface="Roboto"/>
                <a:ea typeface="Roboto"/>
                <a:cs typeface="Roboto"/>
                <a:sym typeface="Roboto"/>
              </a:rPr>
              <a:t>Blocks Toolbox </a:t>
            </a:r>
            <a:r>
              <a:rPr lang="en-GB" sz="1800">
                <a:solidFill>
                  <a:schemeClr val="dk1"/>
                </a:solidFill>
                <a:latin typeface="Roboto"/>
                <a:ea typeface="Roboto"/>
                <a:cs typeface="Roboto"/>
                <a:sym typeface="Roboto"/>
              </a:rPr>
              <a:t>is split into different categories.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The block colours correspond to the colour of the category names.  </a:t>
            </a:r>
            <a:endParaRPr/>
          </a:p>
        </p:txBody>
      </p:sp>
      <p:cxnSp>
        <p:nvCxnSpPr>
          <p:cNvPr id="399" name="Google Shape;399;p25"/>
          <p:cNvCxnSpPr/>
          <p:nvPr/>
        </p:nvCxnSpPr>
        <p:spPr>
          <a:xfrm rot="10800000">
            <a:off x="3239814" y="3570890"/>
            <a:ext cx="350606" cy="0"/>
          </a:xfrm>
          <a:prstGeom prst="straightConnector1">
            <a:avLst/>
          </a:prstGeom>
          <a:noFill/>
          <a:ln cap="flat" cmpd="sng" w="38100">
            <a:solidFill>
              <a:srgbClr val="7BCDC2"/>
            </a:solidFill>
            <a:prstDash val="solid"/>
            <a:miter lim="8000"/>
            <a:headEnd len="sm" w="sm" type="none"/>
            <a:tailEnd len="sm" w="sm" type="none"/>
          </a:ln>
        </p:spPr>
      </p:cxnSp>
      <p:sp>
        <p:nvSpPr>
          <p:cNvPr id="400" name="Google Shape;400;p25"/>
          <p:cNvSpPr/>
          <p:nvPr/>
        </p:nvSpPr>
        <p:spPr>
          <a:xfrm>
            <a:off x="2183524" y="2128345"/>
            <a:ext cx="1056290" cy="2396358"/>
          </a:xfrm>
          <a:prstGeom prst="roundRect">
            <a:avLst>
              <a:gd fmla="val 16667" name="adj"/>
            </a:avLst>
          </a:prstGeom>
          <a:noFill/>
          <a:ln cap="flat" cmpd="sng" w="38100">
            <a:solidFill>
              <a:srgbClr val="7BCDC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01" name="Google Shape;401;p25"/>
          <p:cNvSpPr/>
          <p:nvPr/>
        </p:nvSpPr>
        <p:spPr>
          <a:xfrm>
            <a:off x="3703591" y="3429000"/>
            <a:ext cx="3745616"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The blocks represent coding actions. Here you will find coding elements such as loops and conditional statements.</a:t>
            </a:r>
            <a:endParaRPr/>
          </a:p>
        </p:txBody>
      </p:sp>
      <p:sp>
        <p:nvSpPr>
          <p:cNvPr id="402" name="Google Shape;402;p25"/>
          <p:cNvSpPr/>
          <p:nvPr/>
        </p:nvSpPr>
        <p:spPr>
          <a:xfrm>
            <a:off x="3202751" y="2242800"/>
            <a:ext cx="1779152" cy="830995"/>
          </a:xfrm>
          <a:prstGeom prst="roundRect">
            <a:avLst>
              <a:gd fmla="val 16667" name="adj"/>
            </a:avLst>
          </a:prstGeom>
          <a:noFill/>
          <a:ln cap="flat" cmpd="sng" w="38100">
            <a:solidFill>
              <a:srgbClr val="7BCDC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03" name="Google Shape;403;p25"/>
          <p:cNvSpPr/>
          <p:nvPr/>
        </p:nvSpPr>
        <p:spPr>
          <a:xfrm>
            <a:off x="3703590" y="3416828"/>
            <a:ext cx="3816350"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 simulator of a micro:bit can be seen on the interface. This simulator will simulate what will happen on the micro:bit. It can be a great tool for debugging errors.</a:t>
            </a:r>
            <a:endParaRPr/>
          </a:p>
        </p:txBody>
      </p:sp>
      <p:sp>
        <p:nvSpPr>
          <p:cNvPr id="404" name="Google Shape;404;p25"/>
          <p:cNvSpPr/>
          <p:nvPr/>
        </p:nvSpPr>
        <p:spPr>
          <a:xfrm>
            <a:off x="516122" y="2242800"/>
            <a:ext cx="1778313" cy="1723635"/>
          </a:xfrm>
          <a:prstGeom prst="roundRect">
            <a:avLst>
              <a:gd fmla="val 7234" name="adj"/>
            </a:avLst>
          </a:prstGeom>
          <a:noFill/>
          <a:ln cap="flat" cmpd="sng" w="38100">
            <a:solidFill>
              <a:srgbClr val="7BCDC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cxnSp>
        <p:nvCxnSpPr>
          <p:cNvPr id="405" name="Google Shape;405;p25"/>
          <p:cNvCxnSpPr/>
          <p:nvPr/>
        </p:nvCxnSpPr>
        <p:spPr>
          <a:xfrm rot="10800000">
            <a:off x="2294435" y="3570890"/>
            <a:ext cx="1295985" cy="0"/>
          </a:xfrm>
          <a:prstGeom prst="straightConnector1">
            <a:avLst/>
          </a:prstGeom>
          <a:noFill/>
          <a:ln cap="flat" cmpd="sng" w="38100">
            <a:solidFill>
              <a:srgbClr val="7BCDC2"/>
            </a:solidFill>
            <a:prstDash val="solid"/>
            <a:miter lim="8000"/>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391"/>
                                        </p:tgtEl>
                                        <p:attrNameLst>
                                          <p:attrName>style.visibility</p:attrName>
                                        </p:attrNameLst>
                                      </p:cBhvr>
                                      <p:to>
                                        <p:strVal val="visible"/>
                                      </p:to>
                                    </p:set>
                                    <p:anim calcmode="lin" valueType="num">
                                      <p:cBhvr additive="base">
                                        <p:cTn dur="500"/>
                                        <p:tgtEl>
                                          <p:spTgt spid="391"/>
                                        </p:tgtEl>
                                        <p:attrNameLst>
                                          <p:attrName>ppt_w</p:attrName>
                                        </p:attrNameLst>
                                      </p:cBhvr>
                                      <p:tavLst>
                                        <p:tav fmla="" tm="0">
                                          <p:val>
                                            <p:strVal val="0"/>
                                          </p:val>
                                        </p:tav>
                                        <p:tav fmla="" tm="100000">
                                          <p:val>
                                            <p:strVal val="#ppt_w"/>
                                          </p:val>
                                        </p:tav>
                                      </p:tavLst>
                                    </p:anim>
                                    <p:anim calcmode="lin" valueType="num">
                                      <p:cBhvr additive="base">
                                        <p:cTn dur="500"/>
                                        <p:tgtEl>
                                          <p:spTgt spid="391"/>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90"/>
                                        </p:tgtEl>
                                        <p:attrNameLst>
                                          <p:attrName>style.visibility</p:attrName>
                                        </p:attrNameLst>
                                      </p:cBhvr>
                                      <p:to>
                                        <p:strVal val="visible"/>
                                      </p:to>
                                    </p:set>
                                    <p:animEffect filter="fade" transition="in">
                                      <p:cBhvr>
                                        <p:cTn dur="500"/>
                                        <p:tgtEl>
                                          <p:spTgt spid="390"/>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394"/>
                                        </p:tgtEl>
                                        <p:attrNameLst>
                                          <p:attrName>style.visibility</p:attrName>
                                        </p:attrNameLst>
                                      </p:cBhvr>
                                      <p:to>
                                        <p:strVal val="visible"/>
                                      </p:to>
                                    </p:set>
                                    <p:animEffect filter="fade" transition="in">
                                      <p:cBhvr>
                                        <p:cTn dur="500"/>
                                        <p:tgtEl>
                                          <p:spTgt spid="394"/>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95"/>
                                        </p:tgtEl>
                                        <p:attrNameLst>
                                          <p:attrName>style.visibility</p:attrName>
                                        </p:attrNameLst>
                                      </p:cBhvr>
                                      <p:to>
                                        <p:strVal val="visible"/>
                                      </p:to>
                                    </p:set>
                                    <p:animEffect filter="fade" transition="in">
                                      <p:cBhvr>
                                        <p:cTn dur="500"/>
                                        <p:tgtEl>
                                          <p:spTgt spid="395"/>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93"/>
                                        </p:tgtEl>
                                        <p:attrNameLst>
                                          <p:attrName>style.visibility</p:attrName>
                                        </p:attrNameLst>
                                      </p:cBhvr>
                                      <p:to>
                                        <p:strVal val="visible"/>
                                      </p:to>
                                    </p:set>
                                    <p:animEffect filter="fade" transition="in">
                                      <p:cBhvr>
                                        <p:cTn dur="500"/>
                                        <p:tgtEl>
                                          <p:spTgt spid="3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93"/>
                                        </p:tgtEl>
                                      </p:cBhvr>
                                    </p:animEffect>
                                    <p:set>
                                      <p:cBhvr>
                                        <p:cTn dur="1" fill="hold">
                                          <p:stCondLst>
                                            <p:cond delay="500"/>
                                          </p:stCondLst>
                                        </p:cTn>
                                        <p:tgtEl>
                                          <p:spTgt spid="393"/>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95"/>
                                        </p:tgtEl>
                                      </p:cBhvr>
                                    </p:animEffect>
                                    <p:set>
                                      <p:cBhvr>
                                        <p:cTn dur="1" fill="hold">
                                          <p:stCondLst>
                                            <p:cond delay="500"/>
                                          </p:stCondLst>
                                        </p:cTn>
                                        <p:tgtEl>
                                          <p:spTgt spid="395"/>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394"/>
                                        </p:tgtEl>
                                      </p:cBhvr>
                                    </p:animEffect>
                                    <p:set>
                                      <p:cBhvr>
                                        <p:cTn dur="1" fill="hold">
                                          <p:stCondLst>
                                            <p:cond delay="500"/>
                                          </p:stCondLst>
                                        </p:cTn>
                                        <p:tgtEl>
                                          <p:spTgt spid="394"/>
                                        </p:tgtEl>
                                        <p:attrNameLst>
                                          <p:attrName>style.visibility</p:attrName>
                                        </p:attrNameLst>
                                      </p:cBhvr>
                                      <p:to>
                                        <p:strVal val="hidden"/>
                                      </p:to>
                                    </p:set>
                                  </p:childTnLst>
                                </p:cTn>
                              </p:par>
                            </p:childTnLst>
                          </p:cTn>
                        </p:par>
                        <p:par>
                          <p:cTn fill="hold">
                            <p:stCondLst>
                              <p:cond delay="1500"/>
                            </p:stCondLst>
                            <p:childTnLst>
                              <p:par>
                                <p:cTn fill="hold" nodeType="afterEffect" presetClass="exit" presetID="10" presetSubtype="0">
                                  <p:stCondLst>
                                    <p:cond delay="0"/>
                                  </p:stCondLst>
                                  <p:childTnLst>
                                    <p:animEffect filter="fade" transition="out">
                                      <p:cBhvr>
                                        <p:cTn dur="500"/>
                                        <p:tgtEl>
                                          <p:spTgt spid="390"/>
                                        </p:tgtEl>
                                      </p:cBhvr>
                                    </p:animEffect>
                                    <p:set>
                                      <p:cBhvr>
                                        <p:cTn dur="1" fill="hold">
                                          <p:stCondLst>
                                            <p:cond delay="500"/>
                                          </p:stCondLst>
                                        </p:cTn>
                                        <p:tgtEl>
                                          <p:spTgt spid="390"/>
                                        </p:tgtEl>
                                        <p:attrNameLst>
                                          <p:attrName>style.visibility</p:attrName>
                                        </p:attrNameLst>
                                      </p:cBhvr>
                                      <p:to>
                                        <p:strVal val="hidden"/>
                                      </p:to>
                                    </p:se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97"/>
                                        </p:tgtEl>
                                        <p:attrNameLst>
                                          <p:attrName>style.visibility</p:attrName>
                                        </p:attrNameLst>
                                      </p:cBhvr>
                                      <p:to>
                                        <p:strVal val="visible"/>
                                      </p:to>
                                    </p:set>
                                    <p:animEffect filter="fade" transition="in">
                                      <p:cBhvr>
                                        <p:cTn dur="500"/>
                                        <p:tgtEl>
                                          <p:spTgt spid="3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98"/>
                                        </p:tgtEl>
                                        <p:attrNameLst>
                                          <p:attrName>style.visibility</p:attrName>
                                        </p:attrNameLst>
                                      </p:cBhvr>
                                      <p:to>
                                        <p:strVal val="visible"/>
                                      </p:to>
                                    </p:set>
                                    <p:animEffect filter="fade" transition="in">
                                      <p:cBhvr>
                                        <p:cTn dur="500"/>
                                        <p:tgtEl>
                                          <p:spTgt spid="398"/>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99"/>
                                        </p:tgtEl>
                                        <p:attrNameLst>
                                          <p:attrName>style.visibility</p:attrName>
                                        </p:attrNameLst>
                                      </p:cBhvr>
                                      <p:to>
                                        <p:strVal val="visible"/>
                                      </p:to>
                                    </p:set>
                                    <p:animEffect filter="fade" transition="in">
                                      <p:cBhvr>
                                        <p:cTn dur="500"/>
                                        <p:tgtEl>
                                          <p:spTgt spid="399"/>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00"/>
                                        </p:tgtEl>
                                        <p:attrNameLst>
                                          <p:attrName>style.visibility</p:attrName>
                                        </p:attrNameLst>
                                      </p:cBhvr>
                                      <p:to>
                                        <p:strVal val="visible"/>
                                      </p:to>
                                    </p:set>
                                    <p:animEffect filter="fade" transition="in">
                                      <p:cBhvr>
                                        <p:cTn dur="500"/>
                                        <p:tgtEl>
                                          <p:spTgt spid="4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398"/>
                                        </p:tgtEl>
                                      </p:cBhvr>
                                    </p:animEffect>
                                    <p:set>
                                      <p:cBhvr>
                                        <p:cTn dur="1" fill="hold">
                                          <p:stCondLst>
                                            <p:cond delay="500"/>
                                          </p:stCondLst>
                                        </p:cTn>
                                        <p:tgtEl>
                                          <p:spTgt spid="398"/>
                                        </p:tgtEl>
                                        <p:attrNameLst>
                                          <p:attrName>style.visibility</p:attrName>
                                        </p:attrNameLst>
                                      </p:cBhvr>
                                      <p:to>
                                        <p:strVal val="hidden"/>
                                      </p:to>
                                    </p:se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01"/>
                                        </p:tgtEl>
                                        <p:attrNameLst>
                                          <p:attrName>style.visibility</p:attrName>
                                        </p:attrNameLst>
                                      </p:cBhvr>
                                      <p:to>
                                        <p:strVal val="visible"/>
                                      </p:to>
                                    </p:set>
                                    <p:animEffect filter="fade" transition="in">
                                      <p:cBhvr>
                                        <p:cTn dur="500"/>
                                        <p:tgtEl>
                                          <p:spTgt spid="4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400"/>
                                        </p:tgtEl>
                                      </p:cBhvr>
                                    </p:animEffect>
                                    <p:set>
                                      <p:cBhvr>
                                        <p:cTn dur="1" fill="hold">
                                          <p:stCondLst>
                                            <p:cond delay="500"/>
                                          </p:stCondLst>
                                        </p:cTn>
                                        <p:tgtEl>
                                          <p:spTgt spid="400"/>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99"/>
                                        </p:tgtEl>
                                      </p:cBhvr>
                                    </p:animEffect>
                                    <p:set>
                                      <p:cBhvr>
                                        <p:cTn dur="1" fill="hold">
                                          <p:stCondLst>
                                            <p:cond delay="500"/>
                                          </p:stCondLst>
                                        </p:cTn>
                                        <p:tgtEl>
                                          <p:spTgt spid="399"/>
                                        </p:tgtEl>
                                        <p:attrNameLst>
                                          <p:attrName>style.visibility</p:attrName>
                                        </p:attrNameLst>
                                      </p:cBhvr>
                                      <p:to>
                                        <p:strVal val="hidden"/>
                                      </p:to>
                                    </p:se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500"/>
                                        <p:tgtEl>
                                          <p:spTgt spid="401"/>
                                        </p:tgtEl>
                                      </p:cBhvr>
                                    </p:animEffect>
                                    <p:set>
                                      <p:cBhvr>
                                        <p:cTn dur="1" fill="hold">
                                          <p:stCondLst>
                                            <p:cond delay="500"/>
                                          </p:stCondLst>
                                        </p:cTn>
                                        <p:tgtEl>
                                          <p:spTgt spid="401"/>
                                        </p:tgtEl>
                                        <p:attrNameLst>
                                          <p:attrName>style.visibility</p:attrName>
                                        </p:attrNameLst>
                                      </p:cBhvr>
                                      <p:to>
                                        <p:strVal val="hidden"/>
                                      </p:to>
                                    </p:se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96"/>
                                        </p:tgtEl>
                                        <p:attrNameLst>
                                          <p:attrName>style.visibility</p:attrName>
                                        </p:attrNameLst>
                                      </p:cBhvr>
                                      <p:to>
                                        <p:strVal val="visible"/>
                                      </p:to>
                                    </p:set>
                                    <p:animEffect filter="fade" transition="in">
                                      <p:cBhvr>
                                        <p:cTn dur="500"/>
                                        <p:tgtEl>
                                          <p:spTgt spid="396"/>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02"/>
                                        </p:tgtEl>
                                        <p:attrNameLst>
                                          <p:attrName>style.visibility</p:attrName>
                                        </p:attrNameLst>
                                      </p:cBhvr>
                                      <p:to>
                                        <p:strVal val="visible"/>
                                      </p:to>
                                    </p:set>
                                    <p:animEffect filter="fade" transition="in">
                                      <p:cBhvr>
                                        <p:cTn dur="500"/>
                                        <p:tgtEl>
                                          <p:spTgt spid="40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402"/>
                                        </p:tgtEl>
                                      </p:cBhvr>
                                    </p:animEffect>
                                    <p:set>
                                      <p:cBhvr>
                                        <p:cTn dur="1" fill="hold">
                                          <p:stCondLst>
                                            <p:cond delay="500"/>
                                          </p:stCondLst>
                                        </p:cTn>
                                        <p:tgtEl>
                                          <p:spTgt spid="402"/>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396"/>
                                        </p:tgtEl>
                                      </p:cBhvr>
                                    </p:animEffect>
                                    <p:set>
                                      <p:cBhvr>
                                        <p:cTn dur="1" fill="hold">
                                          <p:stCondLst>
                                            <p:cond delay="500"/>
                                          </p:stCondLst>
                                        </p:cTn>
                                        <p:tgtEl>
                                          <p:spTgt spid="396"/>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03"/>
                                        </p:tgtEl>
                                        <p:attrNameLst>
                                          <p:attrName>style.visibility</p:attrName>
                                        </p:attrNameLst>
                                      </p:cBhvr>
                                      <p:to>
                                        <p:strVal val="visible"/>
                                      </p:to>
                                    </p:set>
                                    <p:animEffect filter="fade" transition="in">
                                      <p:cBhvr>
                                        <p:cTn dur="500"/>
                                        <p:tgtEl>
                                          <p:spTgt spid="403"/>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05"/>
                                        </p:tgtEl>
                                        <p:attrNameLst>
                                          <p:attrName>style.visibility</p:attrName>
                                        </p:attrNameLst>
                                      </p:cBhvr>
                                      <p:to>
                                        <p:strVal val="visible"/>
                                      </p:to>
                                    </p:set>
                                    <p:animEffect filter="fade" transition="in">
                                      <p:cBhvr>
                                        <p:cTn dur="500"/>
                                        <p:tgtEl>
                                          <p:spTgt spid="405"/>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04"/>
                                        </p:tgtEl>
                                        <p:attrNameLst>
                                          <p:attrName>style.visibility</p:attrName>
                                        </p:attrNameLst>
                                      </p:cBhvr>
                                      <p:to>
                                        <p:strVal val="visible"/>
                                      </p:to>
                                    </p:set>
                                    <p:animEffect filter="fade" transition="in">
                                      <p:cBhvr>
                                        <p:cTn dur="500"/>
                                        <p:tgtEl>
                                          <p:spTgt spid="4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7BCDC2"/>
        </a:solidFill>
      </p:bgPr>
    </p:bg>
    <p:spTree>
      <p:nvGrpSpPr>
        <p:cNvPr id="409" name="Shape 409"/>
        <p:cNvGrpSpPr/>
        <p:nvPr/>
      </p:nvGrpSpPr>
      <p:grpSpPr>
        <a:xfrm>
          <a:off x="0" y="0"/>
          <a:ext cx="0" cy="0"/>
          <a:chOff x="0" y="0"/>
          <a:chExt cx="0" cy="0"/>
        </a:xfrm>
      </p:grpSpPr>
      <p:grpSp>
        <p:nvGrpSpPr>
          <p:cNvPr id="410" name="Google Shape;410;p26"/>
          <p:cNvGrpSpPr/>
          <p:nvPr/>
        </p:nvGrpSpPr>
        <p:grpSpPr>
          <a:xfrm>
            <a:off x="576263" y="2013890"/>
            <a:ext cx="8002226" cy="3861129"/>
            <a:chOff x="576263" y="2013890"/>
            <a:chExt cx="8002226" cy="3861129"/>
          </a:xfrm>
        </p:grpSpPr>
        <p:pic>
          <p:nvPicPr>
            <p:cNvPr id="411" name="Google Shape;411;p26"/>
            <p:cNvPicPr preferRelativeResize="0"/>
            <p:nvPr/>
          </p:nvPicPr>
          <p:blipFill rotWithShape="1">
            <a:blip r:embed="rId3">
              <a:alphaModFix/>
            </a:blip>
            <a:srcRect b="0" l="0" r="0" t="0"/>
            <a:stretch/>
          </p:blipFill>
          <p:spPr>
            <a:xfrm>
              <a:off x="576263" y="2013890"/>
              <a:ext cx="8002226" cy="3861129"/>
            </a:xfrm>
            <a:prstGeom prst="rect">
              <a:avLst/>
            </a:prstGeom>
            <a:noFill/>
            <a:ln>
              <a:noFill/>
            </a:ln>
          </p:spPr>
        </p:pic>
        <p:sp>
          <p:nvSpPr>
            <p:cNvPr id="412" name="Google Shape;412;p26"/>
            <p:cNvSpPr/>
            <p:nvPr/>
          </p:nvSpPr>
          <p:spPr>
            <a:xfrm>
              <a:off x="3280410" y="2331720"/>
              <a:ext cx="1658891" cy="617220"/>
            </a:xfrm>
            <a:prstGeom prst="rect">
              <a:avLst/>
            </a:prstGeom>
            <a:solidFill>
              <a:srgbClr val="EDF1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413" name="Google Shape;413;p26"/>
          <p:cNvSpPr/>
          <p:nvPr/>
        </p:nvSpPr>
        <p:spPr>
          <a:xfrm>
            <a:off x="755650" y="1283665"/>
            <a:ext cx="7632700"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After each program, remove the coding blocks by dragging them over the </a:t>
            </a:r>
            <a:r>
              <a:rPr b="1" lang="en-GB" sz="1800">
                <a:solidFill>
                  <a:schemeClr val="dk1"/>
                </a:solidFill>
                <a:latin typeface="Roboto"/>
                <a:ea typeface="Roboto"/>
                <a:cs typeface="Roboto"/>
                <a:sym typeface="Roboto"/>
              </a:rPr>
              <a:t>Blocks Toolbox</a:t>
            </a:r>
            <a:r>
              <a:rPr lang="en-GB" sz="1800">
                <a:solidFill>
                  <a:schemeClr val="dk1"/>
                </a:solidFill>
                <a:latin typeface="Roboto"/>
                <a:ea typeface="Roboto"/>
                <a:cs typeface="Roboto"/>
                <a:sym typeface="Roboto"/>
              </a:rPr>
              <a:t>.</a:t>
            </a:r>
            <a:endParaRPr/>
          </a:p>
        </p:txBody>
      </p:sp>
      <p:sp>
        <p:nvSpPr>
          <p:cNvPr id="414" name="Google Shape;414;p26"/>
          <p:cNvSpPr/>
          <p:nvPr/>
        </p:nvSpPr>
        <p:spPr>
          <a:xfrm>
            <a:off x="755646" y="1328147"/>
            <a:ext cx="7632699" cy="1603104"/>
          </a:xfrm>
          <a:prstGeom prst="rect">
            <a:avLst/>
          </a:prstGeom>
          <a:solidFill>
            <a:srgbClr val="7BCDC2"/>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We will be looking at basic programs that you can use with your class to introduce the micro:bit to them. These programs showcase some, but not all, of the capabilities of the micro:bit. As you progress through the programs, you should notice that the coding required does become more complex.</a:t>
            </a:r>
            <a:endParaRPr/>
          </a:p>
        </p:txBody>
      </p:sp>
      <p:sp>
        <p:nvSpPr>
          <p:cNvPr id="415" name="Google Shape;415;p26"/>
          <p:cNvSpPr/>
          <p:nvPr/>
        </p:nvSpPr>
        <p:spPr>
          <a:xfrm>
            <a:off x="5608633" y="3756112"/>
            <a:ext cx="2260921" cy="110799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7BCDC2"/>
              </a:buClr>
              <a:buSzPts val="1800"/>
              <a:buFont typeface="Roboto"/>
              <a:buNone/>
            </a:pPr>
            <a:r>
              <a:rPr lang="en-GB" sz="1800">
                <a:solidFill>
                  <a:srgbClr val="7BCDC2"/>
                </a:solidFill>
                <a:latin typeface="Roboto"/>
                <a:ea typeface="Roboto"/>
                <a:cs typeface="Roboto"/>
                <a:sym typeface="Roboto"/>
              </a:rPr>
              <a:t>Accompanying these slides are BBC micro:bit: CPD Sheets for you to use.</a:t>
            </a:r>
            <a:endParaRPr/>
          </a:p>
        </p:txBody>
      </p:sp>
      <p:sp>
        <p:nvSpPr>
          <p:cNvPr id="416" name="Google Shape;416;p26"/>
          <p:cNvSpPr txBox="1"/>
          <p:nvPr/>
        </p:nvSpPr>
        <p:spPr>
          <a:xfrm>
            <a:off x="755647" y="738107"/>
            <a:ext cx="36391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7BCDC2"/>
              </a:buClr>
              <a:buSzPts val="2400"/>
              <a:buFont typeface="Roboto"/>
              <a:buNone/>
            </a:pPr>
            <a:r>
              <a:rPr b="1" lang="en-GB" sz="2400">
                <a:solidFill>
                  <a:srgbClr val="7BCDC2"/>
                </a:solidFill>
                <a:latin typeface="Roboto"/>
                <a:ea typeface="Roboto"/>
                <a:cs typeface="Roboto"/>
                <a:sym typeface="Roboto"/>
              </a:rPr>
              <a:t>Let’s Get Coding</a:t>
            </a:r>
            <a:endParaRPr/>
          </a:p>
        </p:txBody>
      </p:sp>
      <p:pic>
        <p:nvPicPr>
          <p:cNvPr descr="A picture containing red, child art, design, illustration&#10;&#10;Description automatically generated" id="417" name="Google Shape;417;p26"/>
          <p:cNvPicPr preferRelativeResize="0"/>
          <p:nvPr/>
        </p:nvPicPr>
        <p:blipFill rotWithShape="1">
          <a:blip r:embed="rId4">
            <a:alphaModFix/>
          </a:blip>
          <a:srcRect b="0" l="0" r="0" t="0"/>
          <a:stretch/>
        </p:blipFill>
        <p:spPr>
          <a:xfrm>
            <a:off x="2364360" y="2257425"/>
            <a:ext cx="832493" cy="3311195"/>
          </a:xfrm>
          <a:prstGeom prst="rect">
            <a:avLst/>
          </a:prstGeom>
          <a:noFill/>
          <a:ln>
            <a:noFill/>
          </a:ln>
        </p:spPr>
      </p:pic>
      <p:pic>
        <p:nvPicPr>
          <p:cNvPr descr="A blue rectangular object with white text&#10;&#10;Description automatically generated with low confidence" id="418" name="Google Shape;418;p26"/>
          <p:cNvPicPr preferRelativeResize="0"/>
          <p:nvPr/>
        </p:nvPicPr>
        <p:blipFill rotWithShape="1">
          <a:blip r:embed="rId5">
            <a:alphaModFix/>
          </a:blip>
          <a:srcRect b="0" l="0" r="0" t="0"/>
          <a:stretch/>
        </p:blipFill>
        <p:spPr>
          <a:xfrm>
            <a:off x="4309109" y="3990610"/>
            <a:ext cx="761365" cy="342717"/>
          </a:xfrm>
          <a:prstGeom prst="rect">
            <a:avLst/>
          </a:prstGeom>
          <a:noFill/>
          <a:ln>
            <a:noFill/>
          </a:ln>
        </p:spPr>
      </p:pic>
      <p:pic>
        <p:nvPicPr>
          <p:cNvPr descr="A child and child looking at a computer screen&#10;&#10;Description automatically generated with medium confidence" id="419" name="Google Shape;419;p26"/>
          <p:cNvPicPr preferRelativeResize="0"/>
          <p:nvPr/>
        </p:nvPicPr>
        <p:blipFill rotWithShape="1">
          <a:blip r:embed="rId6">
            <a:alphaModFix/>
          </a:blip>
          <a:srcRect b="0" l="0" r="0" t="0"/>
          <a:stretch/>
        </p:blipFill>
        <p:spPr>
          <a:xfrm>
            <a:off x="755646" y="3107478"/>
            <a:ext cx="4673604" cy="311670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410"/>
                                        </p:tgtEl>
                                        <p:attrNameLst>
                                          <p:attrName>style.visibility</p:attrName>
                                        </p:attrNameLst>
                                      </p:cBhvr>
                                      <p:to>
                                        <p:strVal val="visible"/>
                                      </p:to>
                                    </p:set>
                                    <p:anim calcmode="lin" valueType="num">
                                      <p:cBhvr additive="base">
                                        <p:cTn dur="500"/>
                                        <p:tgtEl>
                                          <p:spTgt spid="410"/>
                                        </p:tgtEl>
                                        <p:attrNameLst>
                                          <p:attrName>ppt_w</p:attrName>
                                        </p:attrNameLst>
                                      </p:cBhvr>
                                      <p:tavLst>
                                        <p:tav fmla="" tm="0">
                                          <p:val>
                                            <p:strVal val="0"/>
                                          </p:val>
                                        </p:tav>
                                        <p:tav fmla="" tm="100000">
                                          <p:val>
                                            <p:strVal val="#ppt_w"/>
                                          </p:val>
                                        </p:tav>
                                      </p:tavLst>
                                    </p:anim>
                                    <p:anim calcmode="lin" valueType="num">
                                      <p:cBhvr additive="base">
                                        <p:cTn dur="500"/>
                                        <p:tgtEl>
                                          <p:spTgt spid="410"/>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418"/>
                                        </p:tgtEl>
                                        <p:attrNameLst>
                                          <p:attrName>style.visibility</p:attrName>
                                        </p:attrNameLst>
                                      </p:cBhvr>
                                      <p:to>
                                        <p:strVal val="visible"/>
                                      </p:to>
                                    </p:set>
                                    <p:anim calcmode="lin" valueType="num">
                                      <p:cBhvr additive="base">
                                        <p:cTn dur="500"/>
                                        <p:tgtEl>
                                          <p:spTgt spid="418"/>
                                        </p:tgtEl>
                                        <p:attrNameLst>
                                          <p:attrName>ppt_w</p:attrName>
                                        </p:attrNameLst>
                                      </p:cBhvr>
                                      <p:tavLst>
                                        <p:tav fmla="" tm="0">
                                          <p:val>
                                            <p:strVal val="0"/>
                                          </p:val>
                                        </p:tav>
                                        <p:tav fmla="" tm="100000">
                                          <p:val>
                                            <p:strVal val="#ppt_w"/>
                                          </p:val>
                                        </p:tav>
                                      </p:tavLst>
                                    </p:anim>
                                    <p:anim calcmode="lin" valueType="num">
                                      <p:cBhvr additive="base">
                                        <p:cTn dur="500"/>
                                        <p:tgtEl>
                                          <p:spTgt spid="418"/>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13"/>
                                        </p:tgtEl>
                                        <p:attrNameLst>
                                          <p:attrName>style.visibility</p:attrName>
                                        </p:attrNameLst>
                                      </p:cBhvr>
                                      <p:to>
                                        <p:strVal val="visible"/>
                                      </p:to>
                                    </p:set>
                                    <p:animEffect filter="fade" transition="in">
                                      <p:cBhvr>
                                        <p:cTn dur="500"/>
                                        <p:tgtEl>
                                          <p:spTgt spid="4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600"/>
                                  </p:stCondLst>
                                  <p:childTnLst>
                                    <p:set>
                                      <p:cBhvr>
                                        <p:cTn dur="1" fill="hold">
                                          <p:stCondLst>
                                            <p:cond delay="0"/>
                                          </p:stCondLst>
                                        </p:cTn>
                                        <p:tgtEl>
                                          <p:spTgt spid="417"/>
                                        </p:tgtEl>
                                        <p:attrNameLst>
                                          <p:attrName>style.visibility</p:attrName>
                                        </p:attrNameLst>
                                      </p:cBhvr>
                                      <p:to>
                                        <p:strVal val="visible"/>
                                      </p:to>
                                    </p:set>
                                  </p:childTnLst>
                                </p:cTn>
                              </p:par>
                            </p:childTnLst>
                          </p:cTn>
                        </p:par>
                        <p:par>
                          <p:cTn fill="hold">
                            <p:stCondLst>
                              <p:cond delay="1"/>
                            </p:stCondLst>
                            <p:childTnLst>
                              <p:par>
                                <p:cTn fill="hold" nodeType="afterEffect" presetClass="exit" presetID="1" presetSubtype="0">
                                  <p:stCondLst>
                                    <p:cond delay="0"/>
                                  </p:stCondLst>
                                  <p:childTnLst>
                                    <p:set>
                                      <p:cBhvr>
                                        <p:cTn dur="1" fill="hold">
                                          <p:stCondLst>
                                            <p:cond delay="1"/>
                                          </p:stCondLst>
                                        </p:cTn>
                                        <p:tgtEl>
                                          <p:spTgt spid="418"/>
                                        </p:tgtEl>
                                        <p:attrNameLst>
                                          <p:attrName>style.visibility</p:attrName>
                                        </p:attrNameLst>
                                      </p:cBhvr>
                                      <p:to>
                                        <p:strVal val="hidden"/>
                                      </p:to>
                                    </p:set>
                                  </p:childTnLst>
                                </p:cTn>
                              </p:par>
                            </p:childTnLst>
                          </p:cTn>
                        </p:par>
                        <p:par>
                          <p:cTn fill="hold">
                            <p:stCondLst>
                              <p:cond delay="2"/>
                            </p:stCondLst>
                            <p:childTnLst>
                              <p:par>
                                <p:cTn fill="hold" nodeType="afterEffect" presetClass="exit" presetID="1" presetSubtype="0">
                                  <p:stCondLst>
                                    <p:cond delay="0"/>
                                  </p:stCondLst>
                                  <p:childTnLst>
                                    <p:set>
                                      <p:cBhvr>
                                        <p:cTn dur="1" fill="hold">
                                          <p:stCondLst>
                                            <p:cond delay="1"/>
                                          </p:stCondLst>
                                        </p:cTn>
                                        <p:tgtEl>
                                          <p:spTgt spid="417"/>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23" presetSubtype="32">
                                  <p:stCondLst>
                                    <p:cond delay="0"/>
                                  </p:stCondLst>
                                  <p:childTnLst>
                                    <p:anim calcmode="lin" valueType="num">
                                      <p:cBhvr additive="base">
                                        <p:cTn dur="500"/>
                                        <p:tgtEl>
                                          <p:spTgt spid="410"/>
                                        </p:tgtEl>
                                        <p:attrNameLst>
                                          <p:attrName>ppt_w</p:attrName>
                                        </p:attrNameLst>
                                      </p:cBhvr>
                                      <p:tavLst>
                                        <p:tav fmla="" tm="0">
                                          <p:val>
                                            <p:strVal val="#ppt_w"/>
                                          </p:val>
                                        </p:tav>
                                        <p:tav fmla="" tm="100000">
                                          <p:val>
                                            <p:strVal val="0"/>
                                          </p:val>
                                        </p:tav>
                                      </p:tavLst>
                                    </p:anim>
                                    <p:anim calcmode="lin" valueType="num">
                                      <p:cBhvr additive="base">
                                        <p:cTn dur="500"/>
                                        <p:tgtEl>
                                          <p:spTgt spid="410"/>
                                        </p:tgtEl>
                                        <p:attrNameLst>
                                          <p:attrName>ppt_h</p:attrName>
                                        </p:attrNameLst>
                                      </p:cBhvr>
                                      <p:tavLst>
                                        <p:tav fmla="" tm="0">
                                          <p:val>
                                            <p:strVal val="#ppt_h"/>
                                          </p:val>
                                        </p:tav>
                                        <p:tav fmla="" tm="100000">
                                          <p:val>
                                            <p:strVal val="0"/>
                                          </p:val>
                                        </p:tav>
                                      </p:tavLst>
                                    </p:anim>
                                    <p:set>
                                      <p:cBhvr>
                                        <p:cTn dur="1" fill="hold">
                                          <p:stCondLst>
                                            <p:cond delay="500"/>
                                          </p:stCondLst>
                                        </p:cTn>
                                        <p:tgtEl>
                                          <p:spTgt spid="410"/>
                                        </p:tgtEl>
                                        <p:attrNameLst>
                                          <p:attrName>style.visibility</p:attrName>
                                        </p:attrNameLst>
                                      </p:cBhvr>
                                      <p:to>
                                        <p:strVal val="hidden"/>
                                      </p:to>
                                    </p:se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413"/>
                                        </p:tgtEl>
                                      </p:cBhvr>
                                    </p:animEffect>
                                    <p:set>
                                      <p:cBhvr>
                                        <p:cTn dur="1" fill="hold">
                                          <p:stCondLst>
                                            <p:cond delay="500"/>
                                          </p:stCondLst>
                                        </p:cTn>
                                        <p:tgtEl>
                                          <p:spTgt spid="413"/>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14"/>
                                        </p:tgtEl>
                                        <p:attrNameLst>
                                          <p:attrName>style.visibility</p:attrName>
                                        </p:attrNameLst>
                                      </p:cBhvr>
                                      <p:to>
                                        <p:strVal val="visible"/>
                                      </p:to>
                                    </p:set>
                                    <p:animEffect filter="fade" transition="in">
                                      <p:cBhvr>
                                        <p:cTn dur="500"/>
                                        <p:tgtEl>
                                          <p:spTgt spid="414"/>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500"/>
                                        <p:tgtEl>
                                          <p:spTgt spid="419"/>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15"/>
                                        </p:tgtEl>
                                        <p:attrNameLst>
                                          <p:attrName>style.visibility</p:attrName>
                                        </p:attrNameLst>
                                      </p:cBhvr>
                                      <p:to>
                                        <p:strVal val="visible"/>
                                      </p:to>
                                    </p:set>
                                    <p:animEffect filter="fade" transition="in">
                                      <p:cBhvr>
                                        <p:cTn dur="500"/>
                                        <p:tgtEl>
                                          <p:spTgt spid="4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23" name="Shape 423"/>
        <p:cNvGrpSpPr/>
        <p:nvPr/>
      </p:nvGrpSpPr>
      <p:grpSpPr>
        <a:xfrm>
          <a:off x="0" y="0"/>
          <a:ext cx="0" cy="0"/>
          <a:chOff x="0" y="0"/>
          <a:chExt cx="0" cy="0"/>
        </a:xfrm>
      </p:grpSpPr>
      <p:sp>
        <p:nvSpPr>
          <p:cNvPr id="424" name="Google Shape;424;p27"/>
          <p:cNvSpPr/>
          <p:nvPr/>
        </p:nvSpPr>
        <p:spPr>
          <a:xfrm rot="-5400000">
            <a:off x="1351608" y="747063"/>
            <a:ext cx="384149" cy="1736090"/>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25" name="Google Shape;425;p27"/>
          <p:cNvSpPr/>
          <p:nvPr/>
        </p:nvSpPr>
        <p:spPr>
          <a:xfrm>
            <a:off x="755650" y="1482396"/>
            <a:ext cx="158178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Getting Started</a:t>
            </a:r>
            <a:endParaRPr sz="1800">
              <a:solidFill>
                <a:schemeClr val="lt1"/>
              </a:solidFill>
              <a:latin typeface="Roboto"/>
              <a:ea typeface="Roboto"/>
              <a:cs typeface="Roboto"/>
              <a:sym typeface="Roboto"/>
            </a:endParaRPr>
          </a:p>
        </p:txBody>
      </p:sp>
      <p:pic>
        <p:nvPicPr>
          <p:cNvPr id="426" name="Google Shape;426;p27"/>
          <p:cNvPicPr preferRelativeResize="0"/>
          <p:nvPr/>
        </p:nvPicPr>
        <p:blipFill rotWithShape="1">
          <a:blip r:embed="rId3">
            <a:alphaModFix/>
          </a:blip>
          <a:srcRect b="0" l="0" r="0" t="0"/>
          <a:stretch/>
        </p:blipFill>
        <p:spPr>
          <a:xfrm>
            <a:off x="6013349" y="1631931"/>
            <a:ext cx="1957761" cy="1543525"/>
          </a:xfrm>
          <a:prstGeom prst="rect">
            <a:avLst/>
          </a:prstGeom>
          <a:noFill/>
          <a:ln>
            <a:noFill/>
          </a:ln>
        </p:spPr>
      </p:pic>
      <p:sp>
        <p:nvSpPr>
          <p:cNvPr id="427" name="Google Shape;427;p27"/>
          <p:cNvSpPr/>
          <p:nvPr/>
        </p:nvSpPr>
        <p:spPr>
          <a:xfrm>
            <a:off x="5228346" y="3120234"/>
            <a:ext cx="3240016" cy="646331"/>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GB" sz="1400">
                <a:solidFill>
                  <a:srgbClr val="3DB7FE"/>
                </a:solidFill>
                <a:latin typeface="Roboto"/>
                <a:ea typeface="Roboto"/>
                <a:cs typeface="Roboto"/>
                <a:sym typeface="Roboto"/>
              </a:rPr>
              <a:t>The </a:t>
            </a:r>
            <a:r>
              <a:rPr b="1" lang="en-GB" sz="1400">
                <a:solidFill>
                  <a:srgbClr val="3DB7FE"/>
                </a:solidFill>
                <a:latin typeface="Roboto"/>
                <a:ea typeface="Roboto"/>
                <a:cs typeface="Roboto"/>
                <a:sym typeface="Roboto"/>
              </a:rPr>
              <a:t>simulator</a:t>
            </a:r>
            <a:r>
              <a:rPr lang="en-GB" sz="1400">
                <a:solidFill>
                  <a:srgbClr val="3DB7FE"/>
                </a:solidFill>
                <a:latin typeface="Roboto"/>
                <a:ea typeface="Roboto"/>
                <a:cs typeface="Roboto"/>
                <a:sym typeface="Roboto"/>
              </a:rPr>
              <a:t> can be a great tool for seeing the program run before </a:t>
            </a:r>
            <a:r>
              <a:rPr b="1" lang="en-GB" sz="1400">
                <a:solidFill>
                  <a:srgbClr val="3DB7FE"/>
                </a:solidFill>
                <a:latin typeface="Roboto"/>
                <a:ea typeface="Roboto"/>
                <a:cs typeface="Roboto"/>
                <a:sym typeface="Roboto"/>
              </a:rPr>
              <a:t>flashing</a:t>
            </a:r>
            <a:r>
              <a:rPr lang="en-GB" sz="1400">
                <a:solidFill>
                  <a:srgbClr val="3DB7FE"/>
                </a:solidFill>
                <a:latin typeface="Roboto"/>
                <a:ea typeface="Roboto"/>
                <a:cs typeface="Roboto"/>
                <a:sym typeface="Roboto"/>
              </a:rPr>
              <a:t>, to allow the opportunity for debugging.</a:t>
            </a:r>
            <a:endParaRPr/>
          </a:p>
        </p:txBody>
      </p:sp>
      <p:sp>
        <p:nvSpPr>
          <p:cNvPr id="428" name="Google Shape;428;p27"/>
          <p:cNvSpPr txBox="1"/>
          <p:nvPr/>
        </p:nvSpPr>
        <p:spPr>
          <a:xfrm>
            <a:off x="755647" y="738107"/>
            <a:ext cx="158178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Heart LED</a:t>
            </a:r>
            <a:endParaRPr/>
          </a:p>
        </p:txBody>
      </p:sp>
      <p:sp>
        <p:nvSpPr>
          <p:cNvPr id="429" name="Google Shape;429;p27"/>
          <p:cNvSpPr/>
          <p:nvPr/>
        </p:nvSpPr>
        <p:spPr>
          <a:xfrm>
            <a:off x="755650" y="1947832"/>
            <a:ext cx="4297050"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800"/>
              </a:buClr>
              <a:buSzPts val="1800"/>
              <a:buFont typeface="Roboto"/>
              <a:buNone/>
            </a:pPr>
            <a:r>
              <a:rPr lang="en-GB" sz="1800">
                <a:solidFill>
                  <a:srgbClr val="00C800"/>
                </a:solidFill>
                <a:latin typeface="Roboto"/>
                <a:ea typeface="Roboto"/>
                <a:cs typeface="Roboto"/>
                <a:sym typeface="Roboto"/>
              </a:rPr>
              <a:t>What you will need: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micro:bit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Microsoft MakeCode</a:t>
            </a:r>
            <a:endParaRPr sz="1800">
              <a:solidFill>
                <a:schemeClr val="dk1"/>
              </a:solidFill>
              <a:latin typeface="Roboto"/>
              <a:ea typeface="Roboto"/>
              <a:cs typeface="Roboto"/>
              <a:sym typeface="Roboto"/>
            </a:endParaRPr>
          </a:p>
          <a:p>
            <a:pPr indent="0" lvl="0" marL="0" marR="0" rtl="0" algn="l">
              <a:spcBef>
                <a:spcPts val="0"/>
              </a:spcBef>
              <a:spcAft>
                <a:spcPts val="0"/>
              </a:spcAft>
              <a:buNone/>
            </a:pPr>
            <a:r>
              <a:rPr lang="en-GB" sz="1800">
                <a:solidFill>
                  <a:schemeClr val="dk1"/>
                </a:solidFill>
                <a:latin typeface="Roboto"/>
                <a:ea typeface="Roboto"/>
                <a:cs typeface="Roboto"/>
                <a:sym typeface="Roboto"/>
              </a:rPr>
              <a:t>USB data cable, if using a desktop or laptop computer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battery pack, if using a mobile device</a:t>
            </a:r>
            <a:endParaRPr/>
          </a:p>
        </p:txBody>
      </p:sp>
      <p:sp>
        <p:nvSpPr>
          <p:cNvPr id="430" name="Google Shape;430;p27"/>
          <p:cNvSpPr/>
          <p:nvPr/>
        </p:nvSpPr>
        <p:spPr>
          <a:xfrm rot="-5400000">
            <a:off x="1240168" y="3268227"/>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31" name="Google Shape;431;p27"/>
          <p:cNvSpPr/>
          <p:nvPr/>
        </p:nvSpPr>
        <p:spPr>
          <a:xfrm>
            <a:off x="576262" y="4274883"/>
            <a:ext cx="7991475" cy="1661993"/>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Inside an </a:t>
            </a:r>
            <a:r>
              <a:rPr b="1" lang="en-GB" sz="1800">
                <a:solidFill>
                  <a:srgbClr val="3DB7FE"/>
                </a:solidFill>
                <a:latin typeface="Roboto"/>
                <a:ea typeface="Roboto"/>
                <a:cs typeface="Roboto"/>
                <a:sym typeface="Roboto"/>
              </a:rPr>
              <a:t>on start Basic  </a:t>
            </a:r>
            <a:r>
              <a:rPr lang="en-GB" sz="1800">
                <a:solidFill>
                  <a:schemeClr val="dk1"/>
                </a:solidFill>
                <a:latin typeface="Roboto"/>
                <a:ea typeface="Roboto"/>
                <a:cs typeface="Roboto"/>
                <a:sym typeface="Roboto"/>
              </a:rPr>
              <a:t>block, slot in the </a:t>
            </a:r>
            <a:r>
              <a:rPr b="1" lang="en-GB" sz="1800">
                <a:solidFill>
                  <a:srgbClr val="3DB7FE"/>
                </a:solidFill>
                <a:latin typeface="Roboto"/>
                <a:ea typeface="Roboto"/>
                <a:cs typeface="Roboto"/>
                <a:sym typeface="Roboto"/>
              </a:rPr>
              <a:t>show icon Basic </a:t>
            </a:r>
            <a:r>
              <a:rPr lang="en-GB" sz="1800">
                <a:solidFill>
                  <a:schemeClr val="dk1"/>
                </a:solidFill>
                <a:latin typeface="Roboto"/>
                <a:ea typeface="Roboto"/>
                <a:cs typeface="Roboto"/>
                <a:sym typeface="Roboto"/>
              </a:rPr>
              <a:t>block.</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Ensure the heart is showing in the drop-down menu.</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To test your code, select the play button to start the </a:t>
            </a:r>
            <a:r>
              <a:rPr b="1" lang="en-GB" sz="1800">
                <a:solidFill>
                  <a:srgbClr val="3DB7FE"/>
                </a:solidFill>
                <a:latin typeface="Roboto"/>
                <a:ea typeface="Roboto"/>
                <a:cs typeface="Roboto"/>
                <a:sym typeface="Roboto"/>
              </a:rPr>
              <a:t>simulator</a:t>
            </a:r>
            <a:r>
              <a:rPr lang="en-GB" sz="1800">
                <a:solidFill>
                  <a:schemeClr val="dk1"/>
                </a:solidFill>
                <a:latin typeface="Roboto"/>
                <a:ea typeface="Roboto"/>
                <a:cs typeface="Roboto"/>
                <a:sym typeface="Roboto"/>
              </a:rPr>
              <a:t>.</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Click on the download button to transfer the code to your micro:bit.</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Follow the directions on screen.</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When the code is transferred, you should see a heart appear in the LEDs.</a:t>
            </a:r>
            <a:endParaRPr/>
          </a:p>
        </p:txBody>
      </p:sp>
      <p:sp>
        <p:nvSpPr>
          <p:cNvPr id="432" name="Google Shape;432;p27"/>
          <p:cNvSpPr/>
          <p:nvPr/>
        </p:nvSpPr>
        <p:spPr>
          <a:xfrm>
            <a:off x="755650" y="3890733"/>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sp>
        <p:nvSpPr>
          <p:cNvPr id="433" name="Google Shape;433;p27"/>
          <p:cNvSpPr/>
          <p:nvPr/>
        </p:nvSpPr>
        <p:spPr>
          <a:xfrm>
            <a:off x="6992229" y="1942117"/>
            <a:ext cx="1011555" cy="1011555"/>
          </a:xfrm>
          <a:prstGeom prst="ellipse">
            <a:avLst/>
          </a:prstGeom>
          <a:noFill/>
          <a:ln cap="flat" cmpd="sng" w="38100">
            <a:solidFill>
              <a:srgbClr val="00C80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screenshot of a device&#10;&#10;Description automatically generated with medium confidence" id="434" name="Google Shape;434;p27"/>
          <p:cNvPicPr preferRelativeResize="0"/>
          <p:nvPr/>
        </p:nvPicPr>
        <p:blipFill rotWithShape="1">
          <a:blip r:embed="rId4">
            <a:alphaModFix/>
          </a:blip>
          <a:srcRect b="0" l="0" r="0" t="0"/>
          <a:stretch/>
        </p:blipFill>
        <p:spPr>
          <a:xfrm>
            <a:off x="5643254" y="973683"/>
            <a:ext cx="2221362" cy="2083850"/>
          </a:xfrm>
          <a:prstGeom prst="rect">
            <a:avLst/>
          </a:prstGeom>
          <a:noFill/>
          <a:ln>
            <a:noFill/>
          </a:ln>
        </p:spPr>
      </p:pic>
      <p:pic>
        <p:nvPicPr>
          <p:cNvPr id="435" name="Google Shape;435;p27"/>
          <p:cNvPicPr preferRelativeResize="0"/>
          <p:nvPr/>
        </p:nvPicPr>
        <p:blipFill rotWithShape="1">
          <a:blip r:embed="rId5">
            <a:alphaModFix/>
          </a:blip>
          <a:srcRect b="0" l="0" r="0" t="0"/>
          <a:stretch/>
        </p:blipFill>
        <p:spPr>
          <a:xfrm>
            <a:off x="5674854" y="979767"/>
            <a:ext cx="2211107" cy="2083850"/>
          </a:xfrm>
          <a:prstGeom prst="rect">
            <a:avLst/>
          </a:prstGeom>
          <a:noFill/>
          <a:ln>
            <a:noFill/>
          </a:ln>
        </p:spPr>
      </p:pic>
      <p:sp>
        <p:nvSpPr>
          <p:cNvPr id="436" name="Google Shape;436;p27"/>
          <p:cNvSpPr/>
          <p:nvPr/>
        </p:nvSpPr>
        <p:spPr>
          <a:xfrm>
            <a:off x="6039466" y="2707492"/>
            <a:ext cx="362209" cy="362209"/>
          </a:xfrm>
          <a:prstGeom prst="ellipse">
            <a:avLst/>
          </a:prstGeom>
          <a:noFill/>
          <a:ln cap="flat" cmpd="sng" w="38100">
            <a:solidFill>
              <a:srgbClr val="3DB7F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24"/>
                                        </p:tgtEl>
                                        <p:attrNameLst>
                                          <p:attrName>style.visibility</p:attrName>
                                        </p:attrNameLst>
                                      </p:cBhvr>
                                      <p:to>
                                        <p:strVal val="visible"/>
                                      </p:to>
                                    </p:set>
                                    <p:animEffect filter="fade" transition="in">
                                      <p:cBhvr>
                                        <p:cTn dur="500"/>
                                        <p:tgtEl>
                                          <p:spTgt spid="424"/>
                                        </p:tgtEl>
                                      </p:cBhvr>
                                    </p:animEffect>
                                  </p:childTnLst>
                                </p:cTn>
                              </p:par>
                              <p:par>
                                <p:cTn fill="hold" nodeType="with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5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9"/>
                                        </p:tgtEl>
                                        <p:attrNameLst>
                                          <p:attrName>style.visibility</p:attrName>
                                        </p:attrNameLst>
                                      </p:cBhvr>
                                      <p:to>
                                        <p:strVal val="visible"/>
                                      </p:to>
                                    </p:set>
                                    <p:animEffect filter="fade" transition="in">
                                      <p:cBhvr>
                                        <p:cTn dur="500"/>
                                        <p:tgtEl>
                                          <p:spTgt spid="4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0"/>
                                        </p:tgtEl>
                                        <p:attrNameLst>
                                          <p:attrName>style.visibility</p:attrName>
                                        </p:attrNameLst>
                                      </p:cBhvr>
                                      <p:to>
                                        <p:strVal val="visible"/>
                                      </p:to>
                                    </p:set>
                                    <p:animEffect filter="fade" transition="in">
                                      <p:cBhvr>
                                        <p:cTn dur="500"/>
                                        <p:tgtEl>
                                          <p:spTgt spid="430"/>
                                        </p:tgtEl>
                                      </p:cBhvr>
                                    </p:animEffect>
                                  </p:childTnLst>
                                </p:cTn>
                              </p:par>
                              <p:par>
                                <p:cTn fill="hold" nodeType="withEffect" presetClass="entr" presetID="10" presetSubtype="0">
                                  <p:stCondLst>
                                    <p:cond delay="0"/>
                                  </p:stCondLst>
                                  <p:childTnLst>
                                    <p:set>
                                      <p:cBhvr>
                                        <p:cTn dur="1" fill="hold">
                                          <p:stCondLst>
                                            <p:cond delay="0"/>
                                          </p:stCondLst>
                                        </p:cTn>
                                        <p:tgtEl>
                                          <p:spTgt spid="432"/>
                                        </p:tgtEl>
                                        <p:attrNameLst>
                                          <p:attrName>style.visibility</p:attrName>
                                        </p:attrNameLst>
                                      </p:cBhvr>
                                      <p:to>
                                        <p:strVal val="visible"/>
                                      </p:to>
                                    </p:set>
                                    <p:animEffect filter="fade" transition="in">
                                      <p:cBhvr>
                                        <p:cTn dur="500"/>
                                        <p:tgtEl>
                                          <p:spTgt spid="43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31">
                                            <p:txEl>
                                              <p:pRg end="0" st="0"/>
                                            </p:txEl>
                                          </p:spTgt>
                                        </p:tgtEl>
                                        <p:attrNameLst>
                                          <p:attrName>style.visibility</p:attrName>
                                        </p:attrNameLst>
                                      </p:cBhvr>
                                      <p:to>
                                        <p:strVal val="visible"/>
                                      </p:to>
                                    </p:set>
                                    <p:animEffect filter="fade" transition="in">
                                      <p:cBhvr>
                                        <p:cTn dur="500"/>
                                        <p:tgtEl>
                                          <p:spTgt spid="431">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31">
                                            <p:txEl>
                                              <p:pRg end="1" st="1"/>
                                            </p:txEl>
                                          </p:spTgt>
                                        </p:tgtEl>
                                        <p:attrNameLst>
                                          <p:attrName>style.visibility</p:attrName>
                                        </p:attrNameLst>
                                      </p:cBhvr>
                                      <p:to>
                                        <p:strVal val="visible"/>
                                      </p:to>
                                    </p:set>
                                    <p:animEffect filter="fade" transition="in">
                                      <p:cBhvr>
                                        <p:cTn dur="500"/>
                                        <p:tgtEl>
                                          <p:spTgt spid="431">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31">
                                            <p:txEl>
                                              <p:pRg end="2" st="2"/>
                                            </p:txEl>
                                          </p:spTgt>
                                        </p:tgtEl>
                                        <p:attrNameLst>
                                          <p:attrName>style.visibility</p:attrName>
                                        </p:attrNameLst>
                                      </p:cBhvr>
                                      <p:to>
                                        <p:strVal val="visible"/>
                                      </p:to>
                                    </p:set>
                                    <p:animEffect filter="fade" transition="in">
                                      <p:cBhvr>
                                        <p:cTn dur="500"/>
                                        <p:tgtEl>
                                          <p:spTgt spid="431">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31">
                                            <p:txEl>
                                              <p:pRg end="3" st="3"/>
                                            </p:txEl>
                                          </p:spTgt>
                                        </p:tgtEl>
                                        <p:attrNameLst>
                                          <p:attrName>style.visibility</p:attrName>
                                        </p:attrNameLst>
                                      </p:cBhvr>
                                      <p:to>
                                        <p:strVal val="visible"/>
                                      </p:to>
                                    </p:set>
                                    <p:animEffect filter="fade" transition="in">
                                      <p:cBhvr>
                                        <p:cTn dur="500"/>
                                        <p:tgtEl>
                                          <p:spTgt spid="431">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31">
                                            <p:txEl>
                                              <p:pRg end="4" st="4"/>
                                            </p:txEl>
                                          </p:spTgt>
                                        </p:tgtEl>
                                        <p:attrNameLst>
                                          <p:attrName>style.visibility</p:attrName>
                                        </p:attrNameLst>
                                      </p:cBhvr>
                                      <p:to>
                                        <p:strVal val="visible"/>
                                      </p:to>
                                    </p:set>
                                    <p:animEffect filter="fade" transition="in">
                                      <p:cBhvr>
                                        <p:cTn dur="500"/>
                                        <p:tgtEl>
                                          <p:spTgt spid="431">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31">
                                            <p:txEl>
                                              <p:pRg end="5" st="5"/>
                                            </p:txEl>
                                          </p:spTgt>
                                        </p:tgtEl>
                                        <p:attrNameLst>
                                          <p:attrName>style.visibility</p:attrName>
                                        </p:attrNameLst>
                                      </p:cBhvr>
                                      <p:to>
                                        <p:strVal val="visible"/>
                                      </p:to>
                                    </p:set>
                                    <p:animEffect filter="fade" transition="in">
                                      <p:cBhvr>
                                        <p:cTn dur="500"/>
                                        <p:tgtEl>
                                          <p:spTgt spid="431">
                                            <p:txEl>
                                              <p:pRg end="5" st="5"/>
                                            </p:txEl>
                                          </p:spTgt>
                                        </p:tgtEl>
                                      </p:cBhvr>
                                    </p:animEffect>
                                  </p:childTnLst>
                                </p:cTn>
                              </p:par>
                            </p:childTnLst>
                          </p:cTn>
                        </p:par>
                        <p:par>
                          <p:cTn fill="hold">
                            <p:stCondLst>
                              <p:cond delay="3500"/>
                            </p:stCondLst>
                            <p:childTnLst>
                              <p:par>
                                <p:cTn fill="hold" nodeType="afterEffect" presetClass="entr" presetID="23" presetSubtype="16">
                                  <p:stCondLst>
                                    <p:cond delay="0"/>
                                  </p:stCondLst>
                                  <p:childTnLst>
                                    <p:set>
                                      <p:cBhvr>
                                        <p:cTn dur="1" fill="hold">
                                          <p:stCondLst>
                                            <p:cond delay="0"/>
                                          </p:stCondLst>
                                        </p:cTn>
                                        <p:tgtEl>
                                          <p:spTgt spid="426"/>
                                        </p:tgtEl>
                                        <p:attrNameLst>
                                          <p:attrName>style.visibility</p:attrName>
                                        </p:attrNameLst>
                                      </p:cBhvr>
                                      <p:to>
                                        <p:strVal val="visible"/>
                                      </p:to>
                                    </p:set>
                                    <p:anim calcmode="lin" valueType="num">
                                      <p:cBhvr additive="base">
                                        <p:cTn dur="500"/>
                                        <p:tgtEl>
                                          <p:spTgt spid="426"/>
                                        </p:tgtEl>
                                        <p:attrNameLst>
                                          <p:attrName>ppt_w</p:attrName>
                                        </p:attrNameLst>
                                      </p:cBhvr>
                                      <p:tavLst>
                                        <p:tav fmla="" tm="0">
                                          <p:val>
                                            <p:strVal val="0"/>
                                          </p:val>
                                        </p:tav>
                                        <p:tav fmla="" tm="100000">
                                          <p:val>
                                            <p:strVal val="#ppt_w"/>
                                          </p:val>
                                        </p:tav>
                                      </p:tavLst>
                                    </p:anim>
                                    <p:anim calcmode="lin" valueType="num">
                                      <p:cBhvr additive="base">
                                        <p:cTn dur="500"/>
                                        <p:tgtEl>
                                          <p:spTgt spid="426"/>
                                        </p:tgtEl>
                                        <p:attrNameLst>
                                          <p:attrName>ppt_h</p:attrName>
                                        </p:attrNameLst>
                                      </p:cBhvr>
                                      <p:tavLst>
                                        <p:tav fmla="" tm="0">
                                          <p:val>
                                            <p:strVal val="0"/>
                                          </p:val>
                                        </p:tav>
                                        <p:tav fmla="" tm="100000">
                                          <p:val>
                                            <p:strVal val="#ppt_h"/>
                                          </p:val>
                                        </p:tav>
                                      </p:tavLst>
                                    </p:anim>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433"/>
                                        </p:tgtEl>
                                        <p:attrNameLst>
                                          <p:attrName>style.visibility</p:attrName>
                                        </p:attrNameLst>
                                      </p:cBhvr>
                                      <p:to>
                                        <p:strVal val="visible"/>
                                      </p:to>
                                    </p:set>
                                    <p:animEffect filter="fade" transition="in">
                                      <p:cBhvr>
                                        <p:cTn dur="500"/>
                                        <p:tgtEl>
                                          <p:spTgt spid="433"/>
                                        </p:tgtEl>
                                      </p:cBhvr>
                                    </p:animEffect>
                                  </p:childTnLst>
                                </p:cTn>
                              </p:par>
                            </p:childTnLst>
                          </p:cTn>
                        </p:par>
                        <p:par>
                          <p:cTn fill="hold">
                            <p:stCondLst>
                              <p:cond delay="4500"/>
                            </p:stCondLst>
                            <p:childTnLst>
                              <p:par>
                                <p:cTn fill="hold" nodeType="afterEffect" presetClass="exit" presetID="1" presetSubtype="0">
                                  <p:stCondLst>
                                    <p:cond delay="0"/>
                                  </p:stCondLst>
                                  <p:childTnLst>
                                    <p:set>
                                      <p:cBhvr>
                                        <p:cTn dur="1" fill="hold">
                                          <p:stCondLst>
                                            <p:cond delay="1"/>
                                          </p:stCondLst>
                                        </p:cTn>
                                        <p:tgtEl>
                                          <p:spTgt spid="43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426"/>
                                        </p:tgtEl>
                                        <p:attrNameLst>
                                          <p:attrName>style.visibility</p:attrName>
                                        </p:attrNameLst>
                                      </p:cBhvr>
                                      <p:to>
                                        <p:strVal val="hidden"/>
                                      </p:to>
                                    </p:set>
                                  </p:childTnLst>
                                </p:cTn>
                              </p:par>
                            </p:childTnLst>
                          </p:cTn>
                        </p:par>
                        <p:par>
                          <p:cTn fill="hold">
                            <p:stCondLst>
                              <p:cond delay="4501"/>
                            </p:stCondLst>
                            <p:childTnLst>
                              <p:par>
                                <p:cTn fill="hold" nodeType="afterEffect" presetClass="entr" presetID="23" presetSubtype="16">
                                  <p:stCondLst>
                                    <p:cond delay="0"/>
                                  </p:stCondLst>
                                  <p:childTnLst>
                                    <p:set>
                                      <p:cBhvr>
                                        <p:cTn dur="1" fill="hold">
                                          <p:stCondLst>
                                            <p:cond delay="0"/>
                                          </p:stCondLst>
                                        </p:cTn>
                                        <p:tgtEl>
                                          <p:spTgt spid="434"/>
                                        </p:tgtEl>
                                        <p:attrNameLst>
                                          <p:attrName>style.visibility</p:attrName>
                                        </p:attrNameLst>
                                      </p:cBhvr>
                                      <p:to>
                                        <p:strVal val="visible"/>
                                      </p:to>
                                    </p:set>
                                    <p:anim calcmode="lin" valueType="num">
                                      <p:cBhvr additive="base">
                                        <p:cTn dur="500"/>
                                        <p:tgtEl>
                                          <p:spTgt spid="434"/>
                                        </p:tgtEl>
                                        <p:attrNameLst>
                                          <p:attrName>ppt_w</p:attrName>
                                        </p:attrNameLst>
                                      </p:cBhvr>
                                      <p:tavLst>
                                        <p:tav fmla="" tm="0">
                                          <p:val>
                                            <p:strVal val="0"/>
                                          </p:val>
                                        </p:tav>
                                        <p:tav fmla="" tm="100000">
                                          <p:val>
                                            <p:strVal val="#ppt_w"/>
                                          </p:val>
                                        </p:tav>
                                      </p:tavLst>
                                    </p:anim>
                                    <p:anim calcmode="lin" valueType="num">
                                      <p:cBhvr additive="base">
                                        <p:cTn dur="500"/>
                                        <p:tgtEl>
                                          <p:spTgt spid="434"/>
                                        </p:tgtEl>
                                        <p:attrNameLst>
                                          <p:attrName>ppt_h</p:attrName>
                                        </p:attrNameLst>
                                      </p:cBhvr>
                                      <p:tavLst>
                                        <p:tav fmla="" tm="0">
                                          <p:val>
                                            <p:strVal val="0"/>
                                          </p:val>
                                        </p:tav>
                                        <p:tav fmla="" tm="100000">
                                          <p:val>
                                            <p:strVal val="#ppt_h"/>
                                          </p:val>
                                        </p:tav>
                                      </p:tavLst>
                                    </p:anim>
                                  </p:childTnLst>
                                </p:cTn>
                              </p:par>
                            </p:childTnLst>
                          </p:cTn>
                        </p:par>
                        <p:par>
                          <p:cTn fill="hold">
                            <p:stCondLst>
                              <p:cond delay="5001"/>
                            </p:stCondLst>
                            <p:childTnLst>
                              <p:par>
                                <p:cTn fill="hold" nodeType="afterEffect" presetClass="entr" presetID="10" presetSubtype="0">
                                  <p:stCondLst>
                                    <p:cond delay="0"/>
                                  </p:stCondLst>
                                  <p:childTnLst>
                                    <p:set>
                                      <p:cBhvr>
                                        <p:cTn dur="1" fill="hold">
                                          <p:stCondLst>
                                            <p:cond delay="0"/>
                                          </p:stCondLst>
                                        </p:cTn>
                                        <p:tgtEl>
                                          <p:spTgt spid="436"/>
                                        </p:tgtEl>
                                        <p:attrNameLst>
                                          <p:attrName>style.visibility</p:attrName>
                                        </p:attrNameLst>
                                      </p:cBhvr>
                                      <p:to>
                                        <p:strVal val="visible"/>
                                      </p:to>
                                    </p:set>
                                    <p:animEffect filter="fade" transition="in">
                                      <p:cBhvr>
                                        <p:cTn dur="500"/>
                                        <p:tgtEl>
                                          <p:spTgt spid="436"/>
                                        </p:tgtEl>
                                      </p:cBhvr>
                                    </p:animEffect>
                                  </p:childTnLst>
                                </p:cTn>
                              </p:par>
                            </p:childTnLst>
                          </p:cTn>
                        </p:par>
                        <p:par>
                          <p:cTn fill="hold">
                            <p:stCondLst>
                              <p:cond delay="5501"/>
                            </p:stCondLst>
                            <p:childTnLst>
                              <p:par>
                                <p:cTn fill="hold" nodeType="afterEffect" presetClass="exit" presetID="23" presetSubtype="32">
                                  <p:stCondLst>
                                    <p:cond delay="500"/>
                                  </p:stCondLst>
                                  <p:childTnLst>
                                    <p:anim calcmode="lin" valueType="num">
                                      <p:cBhvr additive="base">
                                        <p:cTn dur="500"/>
                                        <p:tgtEl>
                                          <p:spTgt spid="434"/>
                                        </p:tgtEl>
                                        <p:attrNameLst>
                                          <p:attrName>ppt_w</p:attrName>
                                        </p:attrNameLst>
                                      </p:cBhvr>
                                      <p:tavLst>
                                        <p:tav fmla="" tm="0">
                                          <p:val>
                                            <p:strVal val="#ppt_w"/>
                                          </p:val>
                                        </p:tav>
                                        <p:tav fmla="" tm="100000">
                                          <p:val>
                                            <p:strVal val="0"/>
                                          </p:val>
                                        </p:tav>
                                      </p:tavLst>
                                    </p:anim>
                                    <p:anim calcmode="lin" valueType="num">
                                      <p:cBhvr additive="base">
                                        <p:cTn dur="500"/>
                                        <p:tgtEl>
                                          <p:spTgt spid="434"/>
                                        </p:tgtEl>
                                        <p:attrNameLst>
                                          <p:attrName>ppt_h</p:attrName>
                                        </p:attrNameLst>
                                      </p:cBhvr>
                                      <p:tavLst>
                                        <p:tav fmla="" tm="0">
                                          <p:val>
                                            <p:strVal val="#ppt_h"/>
                                          </p:val>
                                        </p:tav>
                                        <p:tav fmla="" tm="100000">
                                          <p:val>
                                            <p:strVal val="0"/>
                                          </p:val>
                                        </p:tav>
                                      </p:tavLst>
                                    </p:anim>
                                    <p:set>
                                      <p:cBhvr>
                                        <p:cTn dur="1" fill="hold">
                                          <p:stCondLst>
                                            <p:cond delay="500"/>
                                          </p:stCondLst>
                                        </p:cTn>
                                        <p:tgtEl>
                                          <p:spTgt spid="434"/>
                                        </p:tgtEl>
                                        <p:attrNameLst>
                                          <p:attrName>style.visibility</p:attrName>
                                        </p:attrNameLst>
                                      </p:cBhvr>
                                      <p:to>
                                        <p:strVal val="hidden"/>
                                      </p:to>
                                    </p:set>
                                  </p:childTnLst>
                                </p:cTn>
                              </p:par>
                              <p:par>
                                <p:cTn fill="hold" nodeType="withEffect" presetClass="exit" presetID="1" presetSubtype="0">
                                  <p:stCondLst>
                                    <p:cond delay="500"/>
                                  </p:stCondLst>
                                  <p:childTnLst>
                                    <p:set>
                                      <p:cBhvr>
                                        <p:cTn dur="1" fill="hold">
                                          <p:stCondLst>
                                            <p:cond delay="1"/>
                                          </p:stCondLst>
                                        </p:cTn>
                                        <p:tgtEl>
                                          <p:spTgt spid="43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35"/>
                                        </p:tgtEl>
                                        <p:attrNameLst>
                                          <p:attrName>style.visibility</p:attrName>
                                        </p:attrNameLst>
                                      </p:cBhvr>
                                      <p:to>
                                        <p:strVal val="visible"/>
                                      </p:to>
                                    </p:set>
                                    <p:animEffect filter="fade" transition="in">
                                      <p:cBhvr>
                                        <p:cTn dur="500"/>
                                        <p:tgtEl>
                                          <p:spTgt spid="435"/>
                                        </p:tgtEl>
                                      </p:cBhvr>
                                    </p:animEffect>
                                  </p:childTnLst>
                                </p:cTn>
                              </p:par>
                            </p:childTnLst>
                          </p:cTn>
                        </p:par>
                        <p:par>
                          <p:cTn fill="hold">
                            <p:stCondLst>
                              <p:cond delay="6001"/>
                            </p:stCondLst>
                            <p:childTnLst>
                              <p:par>
                                <p:cTn fill="hold" nodeType="afterEffect" presetClass="entr" presetID="10" presetSubtype="0">
                                  <p:stCondLst>
                                    <p:cond delay="0"/>
                                  </p:stCondLst>
                                  <p:childTnLst>
                                    <p:set>
                                      <p:cBhvr>
                                        <p:cTn dur="1" fill="hold">
                                          <p:stCondLst>
                                            <p:cond delay="0"/>
                                          </p:stCondLst>
                                        </p:cTn>
                                        <p:tgtEl>
                                          <p:spTgt spid="427"/>
                                        </p:tgtEl>
                                        <p:attrNameLst>
                                          <p:attrName>style.visibility</p:attrName>
                                        </p:attrNameLst>
                                      </p:cBhvr>
                                      <p:to>
                                        <p:strVal val="visible"/>
                                      </p:to>
                                    </p:set>
                                    <p:animEffect filter="fade" transition="in">
                                      <p:cBhvr>
                                        <p:cTn dur="500"/>
                                        <p:tgtEl>
                                          <p:spTgt spid="427"/>
                                        </p:tgtEl>
                                      </p:cBhvr>
                                    </p:animEffect>
                                  </p:childTnLst>
                                </p:cTn>
                              </p:par>
                            </p:childTnLst>
                          </p:cTn>
                        </p:par>
                        <p:par>
                          <p:cTn fill="hold">
                            <p:stCondLst>
                              <p:cond delay="6501"/>
                            </p:stCondLst>
                            <p:childTnLst>
                              <p:par>
                                <p:cTn fill="hold" nodeType="afterEffect" presetClass="exit" presetID="23" presetSubtype="32">
                                  <p:stCondLst>
                                    <p:cond delay="0"/>
                                  </p:stCondLst>
                                  <p:childTnLst>
                                    <p:anim calcmode="lin" valueType="num">
                                      <p:cBhvr additive="base">
                                        <p:cTn dur="500"/>
                                        <p:tgtEl>
                                          <p:spTgt spid="433"/>
                                        </p:tgtEl>
                                        <p:attrNameLst>
                                          <p:attrName>ppt_w</p:attrName>
                                        </p:attrNameLst>
                                      </p:cBhvr>
                                      <p:tavLst>
                                        <p:tav fmla="" tm="0">
                                          <p:val>
                                            <p:strVal val="#ppt_w"/>
                                          </p:val>
                                        </p:tav>
                                        <p:tav fmla="" tm="100000">
                                          <p:val>
                                            <p:strVal val="0"/>
                                          </p:val>
                                        </p:tav>
                                      </p:tavLst>
                                    </p:anim>
                                    <p:anim calcmode="lin" valueType="num">
                                      <p:cBhvr additive="base">
                                        <p:cTn dur="500"/>
                                        <p:tgtEl>
                                          <p:spTgt spid="433"/>
                                        </p:tgtEl>
                                        <p:attrNameLst>
                                          <p:attrName>ppt_h</p:attrName>
                                        </p:attrNameLst>
                                      </p:cBhvr>
                                      <p:tavLst>
                                        <p:tav fmla="" tm="0">
                                          <p:val>
                                            <p:strVal val="#ppt_h"/>
                                          </p:val>
                                        </p:tav>
                                        <p:tav fmla="" tm="100000">
                                          <p:val>
                                            <p:strVal val="0"/>
                                          </p:val>
                                        </p:tav>
                                      </p:tavLst>
                                    </p:anim>
                                    <p:set>
                                      <p:cBhvr>
                                        <p:cTn dur="1" fill="hold">
                                          <p:stCondLst>
                                            <p:cond delay="500"/>
                                          </p:stCondLst>
                                        </p:cTn>
                                        <p:tgtEl>
                                          <p:spTgt spid="433"/>
                                        </p:tgtEl>
                                        <p:attrNameLst>
                                          <p:attrName>style.visibility</p:attrName>
                                        </p:attrNameLst>
                                      </p:cBhvr>
                                      <p:to>
                                        <p:strVal val="hidden"/>
                                      </p:to>
                                    </p:set>
                                  </p:childTnLst>
                                </p:cTn>
                              </p:par>
                              <p:par>
                                <p:cTn fill="hold" nodeType="withEffect" presetClass="exit" presetID="23" presetSubtype="32">
                                  <p:stCondLst>
                                    <p:cond delay="0"/>
                                  </p:stCondLst>
                                  <p:childTnLst>
                                    <p:anim calcmode="lin" valueType="num">
                                      <p:cBhvr additive="base">
                                        <p:cTn dur="500"/>
                                        <p:tgtEl>
                                          <p:spTgt spid="426"/>
                                        </p:tgtEl>
                                        <p:attrNameLst>
                                          <p:attrName>ppt_w</p:attrName>
                                        </p:attrNameLst>
                                      </p:cBhvr>
                                      <p:tavLst>
                                        <p:tav fmla="" tm="0">
                                          <p:val>
                                            <p:strVal val="#ppt_w"/>
                                          </p:val>
                                        </p:tav>
                                        <p:tav fmla="" tm="100000">
                                          <p:val>
                                            <p:strVal val="0"/>
                                          </p:val>
                                        </p:tav>
                                      </p:tavLst>
                                    </p:anim>
                                    <p:anim calcmode="lin" valueType="num">
                                      <p:cBhvr additive="base">
                                        <p:cTn dur="500"/>
                                        <p:tgtEl>
                                          <p:spTgt spid="426"/>
                                        </p:tgtEl>
                                        <p:attrNameLst>
                                          <p:attrName>ppt_h</p:attrName>
                                        </p:attrNameLst>
                                      </p:cBhvr>
                                      <p:tavLst>
                                        <p:tav fmla="" tm="0">
                                          <p:val>
                                            <p:strVal val="#ppt_h"/>
                                          </p:val>
                                        </p:tav>
                                        <p:tav fmla="" tm="100000">
                                          <p:val>
                                            <p:strVal val="0"/>
                                          </p:val>
                                        </p:tav>
                                      </p:tavLst>
                                    </p:anim>
                                    <p:set>
                                      <p:cBhvr>
                                        <p:cTn dur="1" fill="hold">
                                          <p:stCondLst>
                                            <p:cond delay="500"/>
                                          </p:stCondLst>
                                        </p:cTn>
                                        <p:tgtEl>
                                          <p:spTgt spid="426"/>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40" name="Shape 440"/>
        <p:cNvGrpSpPr/>
        <p:nvPr/>
      </p:nvGrpSpPr>
      <p:grpSpPr>
        <a:xfrm>
          <a:off x="0" y="0"/>
          <a:ext cx="0" cy="0"/>
          <a:chOff x="0" y="0"/>
          <a:chExt cx="0" cy="0"/>
        </a:xfrm>
      </p:grpSpPr>
      <p:sp>
        <p:nvSpPr>
          <p:cNvPr id="441" name="Google Shape;441;p28"/>
          <p:cNvSpPr/>
          <p:nvPr/>
        </p:nvSpPr>
        <p:spPr>
          <a:xfrm rot="-5400000">
            <a:off x="1351608" y="747063"/>
            <a:ext cx="384149" cy="1736090"/>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2" name="Google Shape;442;p28"/>
          <p:cNvSpPr/>
          <p:nvPr/>
        </p:nvSpPr>
        <p:spPr>
          <a:xfrm>
            <a:off x="755650" y="1482396"/>
            <a:ext cx="158178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Getting Started</a:t>
            </a:r>
            <a:endParaRPr sz="1800">
              <a:solidFill>
                <a:schemeClr val="lt1"/>
              </a:solidFill>
              <a:latin typeface="Roboto"/>
              <a:ea typeface="Roboto"/>
              <a:cs typeface="Roboto"/>
              <a:sym typeface="Roboto"/>
            </a:endParaRPr>
          </a:p>
        </p:txBody>
      </p:sp>
      <p:pic>
        <p:nvPicPr>
          <p:cNvPr id="443" name="Google Shape;443;p28"/>
          <p:cNvPicPr preferRelativeResize="0"/>
          <p:nvPr/>
        </p:nvPicPr>
        <p:blipFill rotWithShape="1">
          <a:blip r:embed="rId3">
            <a:alphaModFix/>
          </a:blip>
          <a:srcRect b="0" l="0" r="0" t="0"/>
          <a:stretch/>
        </p:blipFill>
        <p:spPr>
          <a:xfrm>
            <a:off x="6570075" y="873889"/>
            <a:ext cx="1924291" cy="2336407"/>
          </a:xfrm>
          <a:prstGeom prst="rect">
            <a:avLst/>
          </a:prstGeom>
          <a:noFill/>
          <a:ln>
            <a:noFill/>
          </a:ln>
        </p:spPr>
      </p:pic>
      <p:sp>
        <p:nvSpPr>
          <p:cNvPr id="444" name="Google Shape;444;p28"/>
          <p:cNvSpPr/>
          <p:nvPr/>
        </p:nvSpPr>
        <p:spPr>
          <a:xfrm>
            <a:off x="6055531" y="3131778"/>
            <a:ext cx="2512207" cy="8617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1400">
                <a:solidFill>
                  <a:srgbClr val="3DB7FE"/>
                </a:solidFill>
                <a:latin typeface="Roboto"/>
                <a:ea typeface="Roboto"/>
                <a:cs typeface="Roboto"/>
                <a:sym typeface="Roboto"/>
              </a:rPr>
              <a:t>Feeling Confident?</a:t>
            </a:r>
            <a:endParaRPr/>
          </a:p>
          <a:p>
            <a:pPr indent="0" lvl="0" marL="0" marR="0" rtl="0" algn="ctr">
              <a:spcBef>
                <a:spcPts val="0"/>
              </a:spcBef>
              <a:spcAft>
                <a:spcPts val="0"/>
              </a:spcAft>
              <a:buNone/>
            </a:pPr>
            <a:r>
              <a:rPr lang="en-GB" sz="1400">
                <a:solidFill>
                  <a:srgbClr val="3DB7FE"/>
                </a:solidFill>
                <a:latin typeface="Roboto"/>
                <a:ea typeface="Roboto"/>
                <a:cs typeface="Roboto"/>
                <a:sym typeface="Roboto"/>
              </a:rPr>
              <a:t>Can you alter the code so that the heart only beats when </a:t>
            </a:r>
            <a:r>
              <a:rPr b="1" lang="en-GB" sz="1400">
                <a:solidFill>
                  <a:srgbClr val="3DB7FE"/>
                </a:solidFill>
                <a:latin typeface="Roboto"/>
                <a:ea typeface="Roboto"/>
                <a:cs typeface="Roboto"/>
                <a:sym typeface="Roboto"/>
              </a:rPr>
              <a:t>button A</a:t>
            </a:r>
            <a:r>
              <a:rPr lang="en-GB" sz="1400">
                <a:solidFill>
                  <a:srgbClr val="3DB7FE"/>
                </a:solidFill>
                <a:latin typeface="Roboto"/>
                <a:ea typeface="Roboto"/>
                <a:cs typeface="Roboto"/>
                <a:sym typeface="Roboto"/>
              </a:rPr>
              <a:t> is pressed?</a:t>
            </a:r>
            <a:endParaRPr/>
          </a:p>
        </p:txBody>
      </p:sp>
      <p:sp>
        <p:nvSpPr>
          <p:cNvPr id="445" name="Google Shape;445;p28"/>
          <p:cNvSpPr txBox="1"/>
          <p:nvPr/>
        </p:nvSpPr>
        <p:spPr>
          <a:xfrm>
            <a:off x="755647" y="738107"/>
            <a:ext cx="205041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Beating Heart</a:t>
            </a:r>
            <a:endParaRPr/>
          </a:p>
        </p:txBody>
      </p:sp>
      <p:sp>
        <p:nvSpPr>
          <p:cNvPr id="446" name="Google Shape;446;p28"/>
          <p:cNvSpPr/>
          <p:nvPr/>
        </p:nvSpPr>
        <p:spPr>
          <a:xfrm>
            <a:off x="755650" y="1947832"/>
            <a:ext cx="5462270"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800"/>
              </a:buClr>
              <a:buSzPts val="1800"/>
              <a:buFont typeface="Roboto"/>
              <a:buNone/>
            </a:pPr>
            <a:r>
              <a:rPr lang="en-GB" sz="1800">
                <a:solidFill>
                  <a:srgbClr val="00C800"/>
                </a:solidFill>
                <a:latin typeface="Roboto"/>
                <a:ea typeface="Roboto"/>
                <a:cs typeface="Roboto"/>
                <a:sym typeface="Roboto"/>
              </a:rPr>
              <a:t>What you will need: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micro:bit </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Microsoft MakeCode</a:t>
            </a:r>
            <a:endParaRPr sz="1800">
              <a:solidFill>
                <a:schemeClr val="dk1"/>
              </a:solidFill>
              <a:latin typeface="Roboto"/>
              <a:ea typeface="Roboto"/>
              <a:cs typeface="Roboto"/>
              <a:sym typeface="Roboto"/>
            </a:endParaRPr>
          </a:p>
          <a:p>
            <a:pPr indent="0" lvl="0" marL="0" marR="0" rtl="0" algn="l">
              <a:spcBef>
                <a:spcPts val="0"/>
              </a:spcBef>
              <a:spcAft>
                <a:spcPts val="0"/>
              </a:spcAft>
              <a:buNone/>
            </a:pPr>
            <a:r>
              <a:rPr lang="en-GB" sz="1800">
                <a:solidFill>
                  <a:schemeClr val="dk1"/>
                </a:solidFill>
                <a:latin typeface="Roboto"/>
                <a:ea typeface="Roboto"/>
                <a:cs typeface="Roboto"/>
                <a:sym typeface="Roboto"/>
              </a:rPr>
              <a:t>USB data cable, if using a desktop or laptop computer</a:t>
            </a:r>
            <a:endParaRPr/>
          </a:p>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battery pack, if using a mobile device</a:t>
            </a:r>
            <a:endParaRPr/>
          </a:p>
        </p:txBody>
      </p:sp>
      <p:sp>
        <p:nvSpPr>
          <p:cNvPr id="447" name="Google Shape;447;p28"/>
          <p:cNvSpPr/>
          <p:nvPr/>
        </p:nvSpPr>
        <p:spPr>
          <a:xfrm rot="-5400000">
            <a:off x="1240168" y="3077635"/>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48" name="Google Shape;448;p28"/>
          <p:cNvSpPr/>
          <p:nvPr/>
        </p:nvSpPr>
        <p:spPr>
          <a:xfrm>
            <a:off x="576262" y="4084291"/>
            <a:ext cx="7991475" cy="2215991"/>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Inside a </a:t>
            </a:r>
            <a:r>
              <a:rPr b="1" lang="en-GB" sz="1800">
                <a:solidFill>
                  <a:srgbClr val="3DB7FE"/>
                </a:solidFill>
                <a:latin typeface="Roboto"/>
                <a:ea typeface="Roboto"/>
                <a:cs typeface="Roboto"/>
                <a:sym typeface="Roboto"/>
              </a:rPr>
              <a:t>forever Basic </a:t>
            </a:r>
            <a:r>
              <a:rPr lang="en-GB" sz="1800">
                <a:solidFill>
                  <a:schemeClr val="dk1"/>
                </a:solidFill>
                <a:latin typeface="Roboto"/>
                <a:ea typeface="Roboto"/>
                <a:cs typeface="Roboto"/>
                <a:sym typeface="Roboto"/>
              </a:rPr>
              <a:t>block, slot in the </a:t>
            </a:r>
            <a:r>
              <a:rPr b="1" lang="en-GB" sz="1800">
                <a:solidFill>
                  <a:srgbClr val="3DB7FE"/>
                </a:solidFill>
                <a:latin typeface="Roboto"/>
                <a:ea typeface="Roboto"/>
                <a:cs typeface="Roboto"/>
                <a:sym typeface="Roboto"/>
              </a:rPr>
              <a:t>show icon Basic </a:t>
            </a:r>
            <a:r>
              <a:rPr lang="en-GB" sz="1800">
                <a:solidFill>
                  <a:schemeClr val="dk1"/>
                </a:solidFill>
                <a:latin typeface="Roboto"/>
                <a:ea typeface="Roboto"/>
                <a:cs typeface="Roboto"/>
                <a:sym typeface="Roboto"/>
              </a:rPr>
              <a:t>block.</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Ensure the heart is showing in the drop-down menu.</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Add a </a:t>
            </a:r>
            <a:r>
              <a:rPr b="1" lang="en-GB" sz="1800">
                <a:solidFill>
                  <a:srgbClr val="3DB7FE"/>
                </a:solidFill>
                <a:latin typeface="Roboto"/>
                <a:ea typeface="Roboto"/>
                <a:cs typeface="Roboto"/>
                <a:sym typeface="Roboto"/>
              </a:rPr>
              <a:t>pause (ms)</a:t>
            </a:r>
            <a:r>
              <a:rPr b="1" lang="en-GB" sz="1800">
                <a:solidFill>
                  <a:schemeClr val="dk1"/>
                </a:solidFill>
                <a:latin typeface="Roboto"/>
                <a:ea typeface="Roboto"/>
                <a:cs typeface="Roboto"/>
                <a:sym typeface="Roboto"/>
              </a:rPr>
              <a:t> </a:t>
            </a:r>
            <a:r>
              <a:rPr lang="en-GB" sz="1800">
                <a:solidFill>
                  <a:schemeClr val="dk1"/>
                </a:solidFill>
                <a:latin typeface="Roboto"/>
                <a:ea typeface="Roboto"/>
                <a:cs typeface="Roboto"/>
                <a:sym typeface="Roboto"/>
              </a:rPr>
              <a:t>block and select </a:t>
            </a:r>
            <a:r>
              <a:rPr b="1" lang="en-GB" sz="1800">
                <a:solidFill>
                  <a:srgbClr val="3DB7FE"/>
                </a:solidFill>
                <a:latin typeface="Roboto"/>
                <a:ea typeface="Roboto"/>
                <a:cs typeface="Roboto"/>
                <a:sym typeface="Roboto"/>
              </a:rPr>
              <a:t>500 </a:t>
            </a:r>
            <a:r>
              <a:rPr lang="en-GB" sz="1800">
                <a:solidFill>
                  <a:schemeClr val="dk1"/>
                </a:solidFill>
                <a:latin typeface="Roboto"/>
                <a:ea typeface="Roboto"/>
                <a:cs typeface="Roboto"/>
                <a:sym typeface="Roboto"/>
              </a:rPr>
              <a:t>from the drop-down menu.</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Add another </a:t>
            </a:r>
            <a:r>
              <a:rPr b="1" lang="en-GB" sz="1800">
                <a:solidFill>
                  <a:srgbClr val="3DB7FE"/>
                </a:solidFill>
                <a:latin typeface="Roboto"/>
                <a:ea typeface="Roboto"/>
                <a:cs typeface="Roboto"/>
                <a:sym typeface="Roboto"/>
              </a:rPr>
              <a:t>show icon Basic </a:t>
            </a:r>
            <a:r>
              <a:rPr lang="en-GB" sz="1800">
                <a:solidFill>
                  <a:schemeClr val="dk1"/>
                </a:solidFill>
                <a:latin typeface="Roboto"/>
                <a:ea typeface="Roboto"/>
                <a:cs typeface="Roboto"/>
                <a:sym typeface="Roboto"/>
              </a:rPr>
              <a:t>block.</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Select the smaller heart from the drop-down menu.</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Add another </a:t>
            </a:r>
            <a:r>
              <a:rPr b="1" lang="en-GB" sz="1800">
                <a:solidFill>
                  <a:srgbClr val="3DB7FE"/>
                </a:solidFill>
                <a:latin typeface="Roboto"/>
                <a:ea typeface="Roboto"/>
                <a:cs typeface="Roboto"/>
                <a:sym typeface="Roboto"/>
              </a:rPr>
              <a:t>pause (ms) </a:t>
            </a:r>
            <a:r>
              <a:rPr lang="en-GB" sz="1800">
                <a:solidFill>
                  <a:schemeClr val="dk1"/>
                </a:solidFill>
                <a:latin typeface="Roboto"/>
                <a:ea typeface="Roboto"/>
                <a:cs typeface="Roboto"/>
                <a:sym typeface="Roboto"/>
              </a:rPr>
              <a:t>block and select </a:t>
            </a:r>
            <a:r>
              <a:rPr b="1" lang="en-GB" sz="1800">
                <a:solidFill>
                  <a:srgbClr val="3DB7FE"/>
                </a:solidFill>
                <a:latin typeface="Roboto"/>
                <a:ea typeface="Roboto"/>
                <a:cs typeface="Roboto"/>
                <a:sym typeface="Roboto"/>
              </a:rPr>
              <a:t>500</a:t>
            </a:r>
            <a:r>
              <a:rPr lang="en-GB" sz="1800">
                <a:solidFill>
                  <a:schemeClr val="dk1"/>
                </a:solidFill>
                <a:latin typeface="Roboto"/>
                <a:ea typeface="Roboto"/>
                <a:cs typeface="Roboto"/>
                <a:sym typeface="Roboto"/>
              </a:rPr>
              <a:t> from the drop-down menu.</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Test your code using the the </a:t>
            </a:r>
            <a:r>
              <a:rPr b="1" lang="en-GB" sz="1800">
                <a:solidFill>
                  <a:srgbClr val="3DB7FE"/>
                </a:solidFill>
                <a:latin typeface="Roboto"/>
                <a:ea typeface="Roboto"/>
                <a:cs typeface="Roboto"/>
                <a:sym typeface="Roboto"/>
              </a:rPr>
              <a:t>simulator</a:t>
            </a:r>
            <a:r>
              <a:rPr lang="en-GB" sz="1800">
                <a:solidFill>
                  <a:schemeClr val="dk1"/>
                </a:solidFill>
                <a:latin typeface="Roboto"/>
                <a:ea typeface="Roboto"/>
                <a:cs typeface="Roboto"/>
                <a:sym typeface="Roboto"/>
              </a:rPr>
              <a:t>.</a:t>
            </a:r>
            <a:endParaRPr/>
          </a:p>
          <a:p>
            <a:pPr indent="-285750" lvl="0" marL="285750" marR="0" rtl="0" algn="l">
              <a:spcBef>
                <a:spcPts val="0"/>
              </a:spcBef>
              <a:spcAft>
                <a:spcPts val="0"/>
              </a:spcAft>
              <a:buClr>
                <a:schemeClr val="dk1"/>
              </a:buClr>
              <a:buSzPts val="1800"/>
              <a:buFont typeface="Arial"/>
              <a:buChar char="•"/>
            </a:pPr>
            <a:r>
              <a:rPr b="1" lang="en-GB" sz="1800">
                <a:solidFill>
                  <a:srgbClr val="3DB7FE"/>
                </a:solidFill>
                <a:latin typeface="Roboto"/>
                <a:ea typeface="Roboto"/>
                <a:cs typeface="Roboto"/>
                <a:sym typeface="Roboto"/>
              </a:rPr>
              <a:t>Download</a:t>
            </a:r>
            <a:r>
              <a:rPr lang="en-GB" sz="1800">
                <a:solidFill>
                  <a:schemeClr val="dk1"/>
                </a:solidFill>
                <a:latin typeface="Roboto"/>
                <a:ea typeface="Roboto"/>
                <a:cs typeface="Roboto"/>
                <a:sym typeface="Roboto"/>
              </a:rPr>
              <a:t> your program on to your micro:bit.</a:t>
            </a:r>
            <a:endParaRPr/>
          </a:p>
        </p:txBody>
      </p:sp>
      <p:sp>
        <p:nvSpPr>
          <p:cNvPr id="449" name="Google Shape;449;p28"/>
          <p:cNvSpPr/>
          <p:nvPr/>
        </p:nvSpPr>
        <p:spPr>
          <a:xfrm>
            <a:off x="755650" y="3700141"/>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41"/>
                                        </p:tgtEl>
                                        <p:attrNameLst>
                                          <p:attrName>style.visibility</p:attrName>
                                        </p:attrNameLst>
                                      </p:cBhvr>
                                      <p:to>
                                        <p:strVal val="visible"/>
                                      </p:to>
                                    </p:set>
                                    <p:animEffect filter="fade" transition="in">
                                      <p:cBhvr>
                                        <p:cTn dur="500"/>
                                        <p:tgtEl>
                                          <p:spTgt spid="441"/>
                                        </p:tgtEl>
                                      </p:cBhvr>
                                    </p:animEffect>
                                  </p:childTnLst>
                                </p:cTn>
                              </p:par>
                              <p:par>
                                <p:cTn fill="hold" nodeType="withEffect" presetClass="entr" presetID="10" presetSubtype="0">
                                  <p:stCondLst>
                                    <p:cond delay="0"/>
                                  </p:stCondLst>
                                  <p:childTnLst>
                                    <p:set>
                                      <p:cBhvr>
                                        <p:cTn dur="1" fill="hold">
                                          <p:stCondLst>
                                            <p:cond delay="0"/>
                                          </p:stCondLst>
                                        </p:cTn>
                                        <p:tgtEl>
                                          <p:spTgt spid="442"/>
                                        </p:tgtEl>
                                        <p:attrNameLst>
                                          <p:attrName>style.visibility</p:attrName>
                                        </p:attrNameLst>
                                      </p:cBhvr>
                                      <p:to>
                                        <p:strVal val="visible"/>
                                      </p:to>
                                    </p:set>
                                    <p:animEffect filter="fade" transition="in">
                                      <p:cBhvr>
                                        <p:cTn dur="500"/>
                                        <p:tgtEl>
                                          <p:spTgt spid="4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6"/>
                                        </p:tgtEl>
                                        <p:attrNameLst>
                                          <p:attrName>style.visibility</p:attrName>
                                        </p:attrNameLst>
                                      </p:cBhvr>
                                      <p:to>
                                        <p:strVal val="visible"/>
                                      </p:to>
                                    </p:set>
                                    <p:animEffect filter="fade" transition="in">
                                      <p:cBhvr>
                                        <p:cTn dur="500"/>
                                        <p:tgtEl>
                                          <p:spTgt spid="4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7"/>
                                        </p:tgtEl>
                                        <p:attrNameLst>
                                          <p:attrName>style.visibility</p:attrName>
                                        </p:attrNameLst>
                                      </p:cBhvr>
                                      <p:to>
                                        <p:strVal val="visible"/>
                                      </p:to>
                                    </p:set>
                                    <p:animEffect filter="fade" transition="in">
                                      <p:cBhvr>
                                        <p:cTn dur="500"/>
                                        <p:tgtEl>
                                          <p:spTgt spid="447"/>
                                        </p:tgtEl>
                                      </p:cBhvr>
                                    </p:animEffect>
                                  </p:childTnLst>
                                </p:cTn>
                              </p:par>
                              <p:par>
                                <p:cTn fill="hold" nodeType="withEffect" presetClass="entr" presetID="10" presetSubtype="0">
                                  <p:stCondLst>
                                    <p:cond delay="0"/>
                                  </p:stCondLst>
                                  <p:childTnLst>
                                    <p:set>
                                      <p:cBhvr>
                                        <p:cTn dur="1" fill="hold">
                                          <p:stCondLst>
                                            <p:cond delay="0"/>
                                          </p:stCondLst>
                                        </p:cTn>
                                        <p:tgtEl>
                                          <p:spTgt spid="449"/>
                                        </p:tgtEl>
                                        <p:attrNameLst>
                                          <p:attrName>style.visibility</p:attrName>
                                        </p:attrNameLst>
                                      </p:cBhvr>
                                      <p:to>
                                        <p:strVal val="visible"/>
                                      </p:to>
                                    </p:set>
                                    <p:animEffect filter="fade" transition="in">
                                      <p:cBhvr>
                                        <p:cTn dur="500"/>
                                        <p:tgtEl>
                                          <p:spTgt spid="449"/>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48">
                                            <p:txEl>
                                              <p:pRg end="0" st="0"/>
                                            </p:txEl>
                                          </p:spTgt>
                                        </p:tgtEl>
                                        <p:attrNameLst>
                                          <p:attrName>style.visibility</p:attrName>
                                        </p:attrNameLst>
                                      </p:cBhvr>
                                      <p:to>
                                        <p:strVal val="visible"/>
                                      </p:to>
                                    </p:set>
                                    <p:animEffect filter="fade" transition="in">
                                      <p:cBhvr>
                                        <p:cTn dur="500"/>
                                        <p:tgtEl>
                                          <p:spTgt spid="448">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48">
                                            <p:txEl>
                                              <p:pRg end="1" st="1"/>
                                            </p:txEl>
                                          </p:spTgt>
                                        </p:tgtEl>
                                        <p:attrNameLst>
                                          <p:attrName>style.visibility</p:attrName>
                                        </p:attrNameLst>
                                      </p:cBhvr>
                                      <p:to>
                                        <p:strVal val="visible"/>
                                      </p:to>
                                    </p:set>
                                    <p:animEffect filter="fade" transition="in">
                                      <p:cBhvr>
                                        <p:cTn dur="500"/>
                                        <p:tgtEl>
                                          <p:spTgt spid="448">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48">
                                            <p:txEl>
                                              <p:pRg end="2" st="2"/>
                                            </p:txEl>
                                          </p:spTgt>
                                        </p:tgtEl>
                                        <p:attrNameLst>
                                          <p:attrName>style.visibility</p:attrName>
                                        </p:attrNameLst>
                                      </p:cBhvr>
                                      <p:to>
                                        <p:strVal val="visible"/>
                                      </p:to>
                                    </p:set>
                                    <p:animEffect filter="fade" transition="in">
                                      <p:cBhvr>
                                        <p:cTn dur="500"/>
                                        <p:tgtEl>
                                          <p:spTgt spid="448">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48">
                                            <p:txEl>
                                              <p:pRg end="3" st="3"/>
                                            </p:txEl>
                                          </p:spTgt>
                                        </p:tgtEl>
                                        <p:attrNameLst>
                                          <p:attrName>style.visibility</p:attrName>
                                        </p:attrNameLst>
                                      </p:cBhvr>
                                      <p:to>
                                        <p:strVal val="visible"/>
                                      </p:to>
                                    </p:set>
                                    <p:animEffect filter="fade" transition="in">
                                      <p:cBhvr>
                                        <p:cTn dur="500"/>
                                        <p:tgtEl>
                                          <p:spTgt spid="448">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48">
                                            <p:txEl>
                                              <p:pRg end="4" st="4"/>
                                            </p:txEl>
                                          </p:spTgt>
                                        </p:tgtEl>
                                        <p:attrNameLst>
                                          <p:attrName>style.visibility</p:attrName>
                                        </p:attrNameLst>
                                      </p:cBhvr>
                                      <p:to>
                                        <p:strVal val="visible"/>
                                      </p:to>
                                    </p:set>
                                    <p:animEffect filter="fade" transition="in">
                                      <p:cBhvr>
                                        <p:cTn dur="500"/>
                                        <p:tgtEl>
                                          <p:spTgt spid="448">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48">
                                            <p:txEl>
                                              <p:pRg end="5" st="5"/>
                                            </p:txEl>
                                          </p:spTgt>
                                        </p:tgtEl>
                                        <p:attrNameLst>
                                          <p:attrName>style.visibility</p:attrName>
                                        </p:attrNameLst>
                                      </p:cBhvr>
                                      <p:to>
                                        <p:strVal val="visible"/>
                                      </p:to>
                                    </p:set>
                                    <p:animEffect filter="fade" transition="in">
                                      <p:cBhvr>
                                        <p:cTn dur="500"/>
                                        <p:tgtEl>
                                          <p:spTgt spid="448">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448">
                                            <p:txEl>
                                              <p:pRg end="6" st="6"/>
                                            </p:txEl>
                                          </p:spTgt>
                                        </p:tgtEl>
                                        <p:attrNameLst>
                                          <p:attrName>style.visibility</p:attrName>
                                        </p:attrNameLst>
                                      </p:cBhvr>
                                      <p:to>
                                        <p:strVal val="visible"/>
                                      </p:to>
                                    </p:set>
                                    <p:animEffect filter="fade" transition="in">
                                      <p:cBhvr>
                                        <p:cTn dur="500"/>
                                        <p:tgtEl>
                                          <p:spTgt spid="448">
                                            <p:txEl>
                                              <p:pRg end="6" st="6"/>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448">
                                            <p:txEl>
                                              <p:pRg end="7" st="7"/>
                                            </p:txEl>
                                          </p:spTgt>
                                        </p:tgtEl>
                                        <p:attrNameLst>
                                          <p:attrName>style.visibility</p:attrName>
                                        </p:attrNameLst>
                                      </p:cBhvr>
                                      <p:to>
                                        <p:strVal val="visible"/>
                                      </p:to>
                                    </p:set>
                                    <p:animEffect filter="fade" transition="in">
                                      <p:cBhvr>
                                        <p:cTn dur="500"/>
                                        <p:tgtEl>
                                          <p:spTgt spid="448">
                                            <p:txEl>
                                              <p:pRg end="7" st="7"/>
                                            </p:txEl>
                                          </p:spTgt>
                                        </p:tgtEl>
                                      </p:cBhvr>
                                    </p:animEffect>
                                  </p:childTnLst>
                                </p:cTn>
                              </p:par>
                            </p:childTnLst>
                          </p:cTn>
                        </p:par>
                        <p:par>
                          <p:cTn fill="hold">
                            <p:stCondLst>
                              <p:cond delay="4500"/>
                            </p:stCondLst>
                            <p:childTnLst>
                              <p:par>
                                <p:cTn fill="hold" nodeType="afterEffect" presetClass="entr" presetID="23" presetSubtype="16">
                                  <p:stCondLst>
                                    <p:cond delay="0"/>
                                  </p:stCondLst>
                                  <p:childTnLst>
                                    <p:set>
                                      <p:cBhvr>
                                        <p:cTn dur="1" fill="hold">
                                          <p:stCondLst>
                                            <p:cond delay="0"/>
                                          </p:stCondLst>
                                        </p:cTn>
                                        <p:tgtEl>
                                          <p:spTgt spid="443"/>
                                        </p:tgtEl>
                                        <p:attrNameLst>
                                          <p:attrName>style.visibility</p:attrName>
                                        </p:attrNameLst>
                                      </p:cBhvr>
                                      <p:to>
                                        <p:strVal val="visible"/>
                                      </p:to>
                                    </p:set>
                                    <p:anim calcmode="lin" valueType="num">
                                      <p:cBhvr additive="base">
                                        <p:cTn dur="500"/>
                                        <p:tgtEl>
                                          <p:spTgt spid="443"/>
                                        </p:tgtEl>
                                        <p:attrNameLst>
                                          <p:attrName>ppt_w</p:attrName>
                                        </p:attrNameLst>
                                      </p:cBhvr>
                                      <p:tavLst>
                                        <p:tav fmla="" tm="0">
                                          <p:val>
                                            <p:strVal val="0"/>
                                          </p:val>
                                        </p:tav>
                                        <p:tav fmla="" tm="100000">
                                          <p:val>
                                            <p:strVal val="#ppt_w"/>
                                          </p:val>
                                        </p:tav>
                                      </p:tavLst>
                                    </p:anim>
                                    <p:anim calcmode="lin" valueType="num">
                                      <p:cBhvr additive="base">
                                        <p:cTn dur="500"/>
                                        <p:tgtEl>
                                          <p:spTgt spid="443"/>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4"/>
                                        </p:tgtEl>
                                        <p:attrNameLst>
                                          <p:attrName>style.visibility</p:attrName>
                                        </p:attrNameLst>
                                      </p:cBhvr>
                                      <p:to>
                                        <p:strVal val="visible"/>
                                      </p:to>
                                    </p:set>
                                    <p:animEffect filter="fade" transition="in">
                                      <p:cBhvr>
                                        <p:cTn dur="500"/>
                                        <p:tgtEl>
                                          <p:spTgt spid="4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53" name="Shape 453"/>
        <p:cNvGrpSpPr/>
        <p:nvPr/>
      </p:nvGrpSpPr>
      <p:grpSpPr>
        <a:xfrm>
          <a:off x="0" y="0"/>
          <a:ext cx="0" cy="0"/>
          <a:chOff x="0" y="0"/>
          <a:chExt cx="0" cy="0"/>
        </a:xfrm>
      </p:grpSpPr>
      <p:sp>
        <p:nvSpPr>
          <p:cNvPr id="454" name="Google Shape;454;p29"/>
          <p:cNvSpPr/>
          <p:nvPr/>
        </p:nvSpPr>
        <p:spPr>
          <a:xfrm>
            <a:off x="755646" y="2320521"/>
            <a:ext cx="7812088" cy="772107"/>
          </a:xfrm>
          <a:prstGeom prst="rect">
            <a:avLst/>
          </a:prstGeom>
          <a:solidFill>
            <a:srgbClr val="3DB7FE"/>
          </a:solidFill>
          <a:ln>
            <a:noFill/>
          </a:ln>
        </p:spPr>
        <p:txBody>
          <a:bodyPr anchorCtr="0" anchor="t" bIns="108000" lIns="108000" spcFirstLastPara="1" rIns="108000" wrap="square" tIns="108000">
            <a:noAutofit/>
          </a:bodyPr>
          <a:lstStyle/>
          <a:p>
            <a:pPr indent="0" lvl="0" marL="0" marR="0" rtl="0" algn="l">
              <a:spcBef>
                <a:spcPts val="0"/>
              </a:spcBef>
              <a:spcAft>
                <a:spcPts val="0"/>
              </a:spcAft>
              <a:buNone/>
            </a:pPr>
            <a:r>
              <a:rPr lang="en-GB" sz="1800">
                <a:solidFill>
                  <a:schemeClr val="lt1"/>
                </a:solidFill>
                <a:latin typeface="Roboto"/>
                <a:ea typeface="Roboto"/>
                <a:cs typeface="Roboto"/>
                <a:sym typeface="Roboto"/>
              </a:rPr>
              <a:t>Now instead of a </a:t>
            </a:r>
            <a:r>
              <a:rPr b="1" lang="en-GB" sz="1800">
                <a:solidFill>
                  <a:schemeClr val="lt1"/>
                </a:solidFill>
                <a:latin typeface="Roboto"/>
                <a:ea typeface="Roboto"/>
                <a:cs typeface="Roboto"/>
                <a:sym typeface="Roboto"/>
              </a:rPr>
              <a:t>forever Basic</a:t>
            </a:r>
            <a:r>
              <a:rPr lang="en-GB" sz="1800">
                <a:solidFill>
                  <a:schemeClr val="lt1"/>
                </a:solidFill>
                <a:latin typeface="Roboto"/>
                <a:ea typeface="Roboto"/>
                <a:cs typeface="Roboto"/>
                <a:sym typeface="Roboto"/>
              </a:rPr>
              <a:t> block, you should have an </a:t>
            </a:r>
            <a:r>
              <a:rPr b="1" lang="en-GB" sz="1800">
                <a:solidFill>
                  <a:schemeClr val="lt1"/>
                </a:solidFill>
                <a:latin typeface="Roboto"/>
                <a:ea typeface="Roboto"/>
                <a:cs typeface="Roboto"/>
                <a:sym typeface="Roboto"/>
              </a:rPr>
              <a:t>on</a:t>
            </a:r>
            <a:r>
              <a:rPr lang="en-GB" sz="1800">
                <a:solidFill>
                  <a:schemeClr val="lt1"/>
                </a:solidFill>
                <a:latin typeface="Roboto"/>
                <a:ea typeface="Roboto"/>
                <a:cs typeface="Roboto"/>
                <a:sym typeface="Roboto"/>
              </a:rPr>
              <a:t> </a:t>
            </a:r>
            <a:r>
              <a:rPr b="1" lang="en-GB" sz="1800">
                <a:solidFill>
                  <a:schemeClr val="lt1"/>
                </a:solidFill>
                <a:latin typeface="Roboto"/>
                <a:ea typeface="Roboto"/>
                <a:cs typeface="Roboto"/>
                <a:sym typeface="Roboto"/>
              </a:rPr>
              <a:t>button A pressed</a:t>
            </a:r>
            <a:r>
              <a:rPr lang="en-GB" sz="1800">
                <a:solidFill>
                  <a:schemeClr val="lt1"/>
                </a:solidFill>
                <a:latin typeface="Roboto"/>
                <a:ea typeface="Roboto"/>
                <a:cs typeface="Roboto"/>
                <a:sym typeface="Roboto"/>
              </a:rPr>
              <a:t> </a:t>
            </a:r>
            <a:r>
              <a:rPr b="1" lang="en-GB" sz="1800">
                <a:solidFill>
                  <a:schemeClr val="lt1"/>
                </a:solidFill>
                <a:latin typeface="Roboto"/>
                <a:ea typeface="Roboto"/>
                <a:cs typeface="Roboto"/>
                <a:sym typeface="Roboto"/>
              </a:rPr>
              <a:t>Input</a:t>
            </a:r>
            <a:r>
              <a:rPr lang="en-GB" sz="1800">
                <a:solidFill>
                  <a:schemeClr val="lt1"/>
                </a:solidFill>
                <a:latin typeface="Roboto"/>
                <a:ea typeface="Roboto"/>
                <a:cs typeface="Roboto"/>
                <a:sym typeface="Roboto"/>
              </a:rPr>
              <a:t> block.</a:t>
            </a:r>
            <a:endParaRPr/>
          </a:p>
        </p:txBody>
      </p:sp>
      <p:sp>
        <p:nvSpPr>
          <p:cNvPr id="455" name="Google Shape;455;p29"/>
          <p:cNvSpPr/>
          <p:nvPr/>
        </p:nvSpPr>
        <p:spPr>
          <a:xfrm>
            <a:off x="3064351" y="3586375"/>
            <a:ext cx="3208339" cy="22159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800"/>
              <a:buFont typeface="Roboto"/>
              <a:buNone/>
            </a:pPr>
            <a:r>
              <a:rPr lang="en-GB" sz="1800">
                <a:solidFill>
                  <a:schemeClr val="dk1"/>
                </a:solidFill>
                <a:latin typeface="Roboto"/>
                <a:ea typeface="Roboto"/>
                <a:cs typeface="Roboto"/>
                <a:sym typeface="Roboto"/>
              </a:rPr>
              <a:t>However, you may have noticed that the heart doesn’t beat anymore. So now we need to add a loop in. Now, add a </a:t>
            </a:r>
            <a:r>
              <a:rPr b="1" lang="en-GB" sz="1800">
                <a:solidFill>
                  <a:srgbClr val="3DB7FE"/>
                </a:solidFill>
                <a:latin typeface="Roboto"/>
                <a:ea typeface="Roboto"/>
                <a:cs typeface="Roboto"/>
                <a:sym typeface="Roboto"/>
              </a:rPr>
              <a:t>repeat Loops </a:t>
            </a:r>
            <a:r>
              <a:rPr lang="en-GB" sz="1800">
                <a:solidFill>
                  <a:schemeClr val="dk1"/>
                </a:solidFill>
                <a:latin typeface="Roboto"/>
                <a:ea typeface="Roboto"/>
                <a:cs typeface="Roboto"/>
                <a:sym typeface="Roboto"/>
              </a:rPr>
              <a:t>block and type </a:t>
            </a:r>
            <a:r>
              <a:rPr b="1" lang="en-GB" sz="1800">
                <a:solidFill>
                  <a:srgbClr val="3DB7FE"/>
                </a:solidFill>
                <a:latin typeface="Roboto"/>
                <a:ea typeface="Roboto"/>
                <a:cs typeface="Roboto"/>
                <a:sym typeface="Roboto"/>
              </a:rPr>
              <a:t>5</a:t>
            </a:r>
            <a:r>
              <a:rPr lang="en-GB" sz="1800">
                <a:solidFill>
                  <a:schemeClr val="dk1"/>
                </a:solidFill>
                <a:latin typeface="Roboto"/>
                <a:ea typeface="Roboto"/>
                <a:cs typeface="Roboto"/>
                <a:sym typeface="Roboto"/>
              </a:rPr>
              <a:t> into the white space. Your repeat loop should go around the code you wish to repeat.</a:t>
            </a:r>
            <a:endParaRPr/>
          </a:p>
        </p:txBody>
      </p:sp>
      <p:pic>
        <p:nvPicPr>
          <p:cNvPr id="456" name="Google Shape;456;p29"/>
          <p:cNvPicPr preferRelativeResize="0"/>
          <p:nvPr/>
        </p:nvPicPr>
        <p:blipFill rotWithShape="1">
          <a:blip r:embed="rId3">
            <a:alphaModFix/>
          </a:blip>
          <a:srcRect b="0" l="0" r="0" t="0"/>
          <a:stretch/>
        </p:blipFill>
        <p:spPr>
          <a:xfrm>
            <a:off x="666241" y="3330417"/>
            <a:ext cx="2289335" cy="2493678"/>
          </a:xfrm>
          <a:prstGeom prst="rect">
            <a:avLst/>
          </a:prstGeom>
          <a:noFill/>
          <a:ln>
            <a:noFill/>
          </a:ln>
        </p:spPr>
      </p:pic>
      <p:pic>
        <p:nvPicPr>
          <p:cNvPr id="457" name="Google Shape;457;p29"/>
          <p:cNvPicPr preferRelativeResize="0"/>
          <p:nvPr/>
        </p:nvPicPr>
        <p:blipFill rotWithShape="1">
          <a:blip r:embed="rId4">
            <a:alphaModFix/>
          </a:blip>
          <a:srcRect b="0" l="0" r="0" t="0"/>
          <a:stretch/>
        </p:blipFill>
        <p:spPr>
          <a:xfrm>
            <a:off x="6547293" y="3362804"/>
            <a:ext cx="1930466" cy="2596937"/>
          </a:xfrm>
          <a:prstGeom prst="rect">
            <a:avLst/>
          </a:prstGeom>
          <a:noFill/>
          <a:ln>
            <a:noFill/>
          </a:ln>
        </p:spPr>
      </p:pic>
      <p:sp>
        <p:nvSpPr>
          <p:cNvPr id="458" name="Google Shape;458;p29"/>
          <p:cNvSpPr txBox="1"/>
          <p:nvPr/>
        </p:nvSpPr>
        <p:spPr>
          <a:xfrm>
            <a:off x="755646" y="738107"/>
            <a:ext cx="2741933"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Beating Heart Loop</a:t>
            </a:r>
            <a:endParaRPr/>
          </a:p>
        </p:txBody>
      </p:sp>
      <p:sp>
        <p:nvSpPr>
          <p:cNvPr id="459" name="Google Shape;459;p29"/>
          <p:cNvSpPr/>
          <p:nvPr/>
        </p:nvSpPr>
        <p:spPr>
          <a:xfrm>
            <a:off x="755649" y="1496347"/>
            <a:ext cx="5273675" cy="5539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800">
                <a:solidFill>
                  <a:schemeClr val="dk1"/>
                </a:solidFill>
                <a:latin typeface="Roboto"/>
                <a:ea typeface="Roboto"/>
                <a:cs typeface="Roboto"/>
                <a:sym typeface="Roboto"/>
              </a:rPr>
              <a:t>Did you notice any changes to your program?</a:t>
            </a:r>
            <a:endParaRPr/>
          </a:p>
          <a:p>
            <a:pPr indent="0" lvl="0" marL="0" marR="0" rtl="0" algn="l">
              <a:spcBef>
                <a:spcPts val="0"/>
              </a:spcBef>
              <a:spcAft>
                <a:spcPts val="0"/>
              </a:spcAft>
              <a:buNone/>
            </a:pPr>
            <a:r>
              <a:rPr lang="en-GB" sz="1800">
                <a:solidFill>
                  <a:schemeClr val="dk1"/>
                </a:solidFill>
                <a:latin typeface="Roboto"/>
                <a:ea typeface="Roboto"/>
                <a:cs typeface="Roboto"/>
                <a:sym typeface="Roboto"/>
              </a:rPr>
              <a:t>How did you change your code?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59">
                                            <p:txEl>
                                              <p:pRg end="0" st="0"/>
                                            </p:txEl>
                                          </p:spTgt>
                                        </p:tgtEl>
                                        <p:attrNameLst>
                                          <p:attrName>style.visibility</p:attrName>
                                        </p:attrNameLst>
                                      </p:cBhvr>
                                      <p:to>
                                        <p:strVal val="visible"/>
                                      </p:to>
                                    </p:set>
                                    <p:animEffect filter="fade" transition="in">
                                      <p:cBhvr>
                                        <p:cTn dur="500"/>
                                        <p:tgtEl>
                                          <p:spTgt spid="459">
                                            <p:txEl>
                                              <p:pRg end="0" st="0"/>
                                            </p:txEl>
                                          </p:spTgt>
                                        </p:tgtEl>
                                      </p:cBhvr>
                                    </p:animEffect>
                                  </p:childTnLst>
                                </p:cTn>
                              </p:par>
                              <p:par>
                                <p:cTn fill="hold" nodeType="withEffect" presetClass="entr" presetID="10" presetSubtype="0">
                                  <p:stCondLst>
                                    <p:cond delay="0"/>
                                  </p:stCondLst>
                                  <p:childTnLst>
                                    <p:set>
                                      <p:cBhvr>
                                        <p:cTn dur="1" fill="hold">
                                          <p:stCondLst>
                                            <p:cond delay="0"/>
                                          </p:stCondLst>
                                        </p:cTn>
                                        <p:tgtEl>
                                          <p:spTgt spid="459">
                                            <p:txEl>
                                              <p:pRg end="1" st="1"/>
                                            </p:txEl>
                                          </p:spTgt>
                                        </p:tgtEl>
                                        <p:attrNameLst>
                                          <p:attrName>style.visibility</p:attrName>
                                        </p:attrNameLst>
                                      </p:cBhvr>
                                      <p:to>
                                        <p:strVal val="visible"/>
                                      </p:to>
                                    </p:set>
                                    <p:animEffect filter="fade" transition="in">
                                      <p:cBhvr>
                                        <p:cTn dur="500"/>
                                        <p:tgtEl>
                                          <p:spTgt spid="459">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54"/>
                                        </p:tgtEl>
                                        <p:attrNameLst>
                                          <p:attrName>style.visibility</p:attrName>
                                        </p:attrNameLst>
                                      </p:cBhvr>
                                      <p:to>
                                        <p:strVal val="visible"/>
                                      </p:to>
                                    </p:set>
                                    <p:animEffect filter="fade" transition="in">
                                      <p:cBhvr>
                                        <p:cTn dur="500"/>
                                        <p:tgtEl>
                                          <p:spTgt spid="454"/>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456"/>
                                        </p:tgtEl>
                                        <p:attrNameLst>
                                          <p:attrName>style.visibility</p:attrName>
                                        </p:attrNameLst>
                                      </p:cBhvr>
                                      <p:to>
                                        <p:strVal val="visible"/>
                                      </p:to>
                                    </p:set>
                                    <p:anim calcmode="lin" valueType="num">
                                      <p:cBhvr additive="base">
                                        <p:cTn dur="500"/>
                                        <p:tgtEl>
                                          <p:spTgt spid="456"/>
                                        </p:tgtEl>
                                        <p:attrNameLst>
                                          <p:attrName>ppt_w</p:attrName>
                                        </p:attrNameLst>
                                      </p:cBhvr>
                                      <p:tavLst>
                                        <p:tav fmla="" tm="0">
                                          <p:val>
                                            <p:strVal val="0"/>
                                          </p:val>
                                        </p:tav>
                                        <p:tav fmla="" tm="100000">
                                          <p:val>
                                            <p:strVal val="#ppt_w"/>
                                          </p:val>
                                        </p:tav>
                                      </p:tavLst>
                                    </p:anim>
                                    <p:anim calcmode="lin" valueType="num">
                                      <p:cBhvr additive="base">
                                        <p:cTn dur="500"/>
                                        <p:tgtEl>
                                          <p:spTgt spid="456"/>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55"/>
                                        </p:tgtEl>
                                        <p:attrNameLst>
                                          <p:attrName>style.visibility</p:attrName>
                                        </p:attrNameLst>
                                      </p:cBhvr>
                                      <p:to>
                                        <p:strVal val="visible"/>
                                      </p:to>
                                    </p:set>
                                    <p:animEffect filter="fade" transition="in">
                                      <p:cBhvr>
                                        <p:cTn dur="500"/>
                                        <p:tgtEl>
                                          <p:spTgt spid="455"/>
                                        </p:tgtEl>
                                      </p:cBhvr>
                                    </p:animEffect>
                                  </p:childTnLst>
                                </p:cTn>
                              </p:par>
                            </p:childTnLst>
                          </p:cTn>
                        </p:par>
                        <p:par>
                          <p:cTn fill="hold">
                            <p:stCondLst>
                              <p:cond delay="500"/>
                            </p:stCondLst>
                            <p:childTnLst>
                              <p:par>
                                <p:cTn fill="hold" nodeType="afterEffect" presetClass="entr" presetID="23" presetSubtype="16">
                                  <p:stCondLst>
                                    <p:cond delay="0"/>
                                  </p:stCondLst>
                                  <p:childTnLst>
                                    <p:set>
                                      <p:cBhvr>
                                        <p:cTn dur="1" fill="hold">
                                          <p:stCondLst>
                                            <p:cond delay="0"/>
                                          </p:stCondLst>
                                        </p:cTn>
                                        <p:tgtEl>
                                          <p:spTgt spid="457"/>
                                        </p:tgtEl>
                                        <p:attrNameLst>
                                          <p:attrName>style.visibility</p:attrName>
                                        </p:attrNameLst>
                                      </p:cBhvr>
                                      <p:to>
                                        <p:strVal val="visible"/>
                                      </p:to>
                                    </p:set>
                                    <p:anim calcmode="lin" valueType="num">
                                      <p:cBhvr additive="base">
                                        <p:cTn dur="500"/>
                                        <p:tgtEl>
                                          <p:spTgt spid="457"/>
                                        </p:tgtEl>
                                        <p:attrNameLst>
                                          <p:attrName>ppt_w</p:attrName>
                                        </p:attrNameLst>
                                      </p:cBhvr>
                                      <p:tavLst>
                                        <p:tav fmla="" tm="0">
                                          <p:val>
                                            <p:strVal val="0"/>
                                          </p:val>
                                        </p:tav>
                                        <p:tav fmla="" tm="100000">
                                          <p:val>
                                            <p:strVal val="#ppt_w"/>
                                          </p:val>
                                        </p:tav>
                                      </p:tavLst>
                                    </p:anim>
                                    <p:anim calcmode="lin" valueType="num">
                                      <p:cBhvr additive="base">
                                        <p:cTn dur="500"/>
                                        <p:tgtEl>
                                          <p:spTgt spid="457"/>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63" name="Shape 463"/>
        <p:cNvGrpSpPr/>
        <p:nvPr/>
      </p:nvGrpSpPr>
      <p:grpSpPr>
        <a:xfrm>
          <a:off x="0" y="0"/>
          <a:ext cx="0" cy="0"/>
          <a:chOff x="0" y="0"/>
          <a:chExt cx="0" cy="0"/>
        </a:xfrm>
      </p:grpSpPr>
      <p:pic>
        <p:nvPicPr>
          <p:cNvPr id="464" name="Google Shape;464;p30"/>
          <p:cNvPicPr preferRelativeResize="0"/>
          <p:nvPr/>
        </p:nvPicPr>
        <p:blipFill rotWithShape="1">
          <a:blip r:embed="rId3">
            <a:alphaModFix/>
          </a:blip>
          <a:srcRect b="0" l="0" r="0" t="0"/>
          <a:stretch/>
        </p:blipFill>
        <p:spPr>
          <a:xfrm>
            <a:off x="675638" y="4438172"/>
            <a:ext cx="2630210" cy="1615233"/>
          </a:xfrm>
          <a:prstGeom prst="rect">
            <a:avLst/>
          </a:prstGeom>
          <a:noFill/>
          <a:ln>
            <a:noFill/>
          </a:ln>
        </p:spPr>
      </p:pic>
      <p:sp>
        <p:nvSpPr>
          <p:cNvPr id="465" name="Google Shape;465;p30"/>
          <p:cNvSpPr txBox="1"/>
          <p:nvPr/>
        </p:nvSpPr>
        <p:spPr>
          <a:xfrm>
            <a:off x="755647" y="738107"/>
            <a:ext cx="205041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Name Badge</a:t>
            </a:r>
            <a:endParaRPr/>
          </a:p>
        </p:txBody>
      </p:sp>
      <p:sp>
        <p:nvSpPr>
          <p:cNvPr id="466" name="Google Shape;466;p30"/>
          <p:cNvSpPr/>
          <p:nvPr/>
        </p:nvSpPr>
        <p:spPr>
          <a:xfrm rot="-5400000">
            <a:off x="1240168" y="1145343"/>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67" name="Google Shape;467;p30"/>
          <p:cNvSpPr/>
          <p:nvPr/>
        </p:nvSpPr>
        <p:spPr>
          <a:xfrm>
            <a:off x="576262" y="2272014"/>
            <a:ext cx="7991475" cy="1938992"/>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Inside a </a:t>
            </a:r>
            <a:r>
              <a:rPr b="1" lang="en-GB" sz="1800">
                <a:solidFill>
                  <a:srgbClr val="3DB7FE"/>
                </a:solidFill>
                <a:latin typeface="Roboto"/>
                <a:ea typeface="Roboto"/>
                <a:cs typeface="Roboto"/>
                <a:sym typeface="Roboto"/>
              </a:rPr>
              <a:t>forever Basic</a:t>
            </a:r>
            <a:r>
              <a:rPr lang="en-GB" sz="1800">
                <a:solidFill>
                  <a:schemeClr val="dk1"/>
                </a:solidFill>
                <a:latin typeface="Roboto"/>
                <a:ea typeface="Roboto"/>
                <a:cs typeface="Roboto"/>
                <a:sym typeface="Roboto"/>
              </a:rPr>
              <a:t> block, slot in the </a:t>
            </a:r>
            <a:r>
              <a:rPr b="1" lang="en-GB" sz="1800">
                <a:solidFill>
                  <a:srgbClr val="3DB7FE"/>
                </a:solidFill>
                <a:latin typeface="Roboto"/>
                <a:ea typeface="Roboto"/>
                <a:cs typeface="Roboto"/>
                <a:sym typeface="Roboto"/>
              </a:rPr>
              <a:t>show string Basic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Type your name inside the white space on the </a:t>
            </a:r>
            <a:r>
              <a:rPr b="1" lang="en-GB" sz="1800">
                <a:solidFill>
                  <a:srgbClr val="3DB7FE"/>
                </a:solidFill>
                <a:latin typeface="Roboto"/>
                <a:ea typeface="Roboto"/>
                <a:cs typeface="Roboto"/>
                <a:sym typeface="Roboto"/>
              </a:rPr>
              <a:t>show string Basic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Test your code using the the </a:t>
            </a:r>
            <a:r>
              <a:rPr b="1" lang="en-GB" sz="1800">
                <a:solidFill>
                  <a:srgbClr val="3DB7FE"/>
                </a:solidFill>
                <a:latin typeface="Roboto"/>
                <a:ea typeface="Roboto"/>
                <a:cs typeface="Roboto"/>
                <a:sym typeface="Roboto"/>
              </a:rPr>
              <a:t>simulator</a:t>
            </a:r>
            <a:r>
              <a:rPr lang="en-GB" sz="1800">
                <a:solidFill>
                  <a:schemeClr val="dk1"/>
                </a:solidFill>
                <a:latin typeface="Roboto"/>
                <a:ea typeface="Roboto"/>
                <a:cs typeface="Roboto"/>
                <a:sym typeface="Roboto"/>
              </a:rPr>
              <a:t>.</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b="1" lang="en-GB" sz="1800">
                <a:solidFill>
                  <a:srgbClr val="3DB7FE"/>
                </a:solidFill>
                <a:latin typeface="Roboto"/>
                <a:ea typeface="Roboto"/>
                <a:cs typeface="Roboto"/>
                <a:sym typeface="Roboto"/>
              </a:rPr>
              <a:t>Download</a:t>
            </a:r>
            <a:r>
              <a:rPr lang="en-GB" sz="1800">
                <a:solidFill>
                  <a:schemeClr val="dk1"/>
                </a:solidFill>
                <a:latin typeface="Roboto"/>
                <a:ea typeface="Roboto"/>
                <a:cs typeface="Roboto"/>
                <a:sym typeface="Roboto"/>
              </a:rPr>
              <a:t> your program on to your micro:bit.</a:t>
            </a:r>
            <a:endParaRPr/>
          </a:p>
        </p:txBody>
      </p:sp>
      <p:sp>
        <p:nvSpPr>
          <p:cNvPr id="468" name="Google Shape;468;p30"/>
          <p:cNvSpPr/>
          <p:nvPr/>
        </p:nvSpPr>
        <p:spPr>
          <a:xfrm>
            <a:off x="755650" y="1767849"/>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sp>
        <p:nvSpPr>
          <p:cNvPr id="469" name="Google Shape;469;p30"/>
          <p:cNvSpPr/>
          <p:nvPr/>
        </p:nvSpPr>
        <p:spPr>
          <a:xfrm>
            <a:off x="3489312" y="4922622"/>
            <a:ext cx="4899038" cy="64633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GB" sz="1400">
                <a:solidFill>
                  <a:srgbClr val="3DB7FE"/>
                </a:solidFill>
                <a:latin typeface="Roboto"/>
                <a:ea typeface="Roboto"/>
                <a:cs typeface="Roboto"/>
                <a:sym typeface="Roboto"/>
              </a:rPr>
              <a:t>Feeling Confident?</a:t>
            </a:r>
            <a:endParaRPr/>
          </a:p>
          <a:p>
            <a:pPr indent="0" lvl="0" marL="0" marR="0" rtl="0" algn="l">
              <a:spcBef>
                <a:spcPts val="0"/>
              </a:spcBef>
              <a:spcAft>
                <a:spcPts val="0"/>
              </a:spcAft>
              <a:buNone/>
            </a:pPr>
            <a:r>
              <a:rPr lang="en-GB" sz="1400">
                <a:solidFill>
                  <a:srgbClr val="3DB7FE"/>
                </a:solidFill>
                <a:latin typeface="Roboto"/>
                <a:ea typeface="Roboto"/>
                <a:cs typeface="Roboto"/>
                <a:sym typeface="Roboto"/>
              </a:rPr>
              <a:t>Can you alter the code so that the heart only beats when </a:t>
            </a:r>
            <a:r>
              <a:rPr b="1" lang="en-GB" sz="1400">
                <a:solidFill>
                  <a:srgbClr val="3DB7FE"/>
                </a:solidFill>
                <a:latin typeface="Roboto"/>
                <a:ea typeface="Roboto"/>
                <a:cs typeface="Roboto"/>
                <a:sym typeface="Roboto"/>
              </a:rPr>
              <a:t>button A</a:t>
            </a:r>
            <a:r>
              <a:rPr lang="en-GB" sz="1400">
                <a:solidFill>
                  <a:srgbClr val="3DB7FE"/>
                </a:solidFill>
                <a:latin typeface="Roboto"/>
                <a:ea typeface="Roboto"/>
                <a:cs typeface="Roboto"/>
                <a:sym typeface="Roboto"/>
              </a:rPr>
              <a:t>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66"/>
                                        </p:tgtEl>
                                        <p:attrNameLst>
                                          <p:attrName>style.visibility</p:attrName>
                                        </p:attrNameLst>
                                      </p:cBhvr>
                                      <p:to>
                                        <p:strVal val="visible"/>
                                      </p:to>
                                    </p:set>
                                    <p:animEffect filter="fade" transition="in">
                                      <p:cBhvr>
                                        <p:cTn dur="500"/>
                                        <p:tgtEl>
                                          <p:spTgt spid="466"/>
                                        </p:tgtEl>
                                      </p:cBhvr>
                                    </p:animEffect>
                                  </p:childTnLst>
                                </p:cTn>
                              </p:par>
                              <p:par>
                                <p:cTn fill="hold" nodeType="withEffect" presetClass="entr" presetID="10" presetSubtype="0">
                                  <p:stCondLst>
                                    <p:cond delay="0"/>
                                  </p:stCondLst>
                                  <p:childTnLst>
                                    <p:set>
                                      <p:cBhvr>
                                        <p:cTn dur="1" fill="hold">
                                          <p:stCondLst>
                                            <p:cond delay="0"/>
                                          </p:stCondLst>
                                        </p:cTn>
                                        <p:tgtEl>
                                          <p:spTgt spid="468"/>
                                        </p:tgtEl>
                                        <p:attrNameLst>
                                          <p:attrName>style.visibility</p:attrName>
                                        </p:attrNameLst>
                                      </p:cBhvr>
                                      <p:to>
                                        <p:strVal val="visible"/>
                                      </p:to>
                                    </p:set>
                                    <p:animEffect filter="fade" transition="in">
                                      <p:cBhvr>
                                        <p:cTn dur="500"/>
                                        <p:tgtEl>
                                          <p:spTgt spid="468"/>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67">
                                            <p:txEl>
                                              <p:pRg end="0" st="0"/>
                                            </p:txEl>
                                          </p:spTgt>
                                        </p:tgtEl>
                                        <p:attrNameLst>
                                          <p:attrName>style.visibility</p:attrName>
                                        </p:attrNameLst>
                                      </p:cBhvr>
                                      <p:to>
                                        <p:strVal val="visible"/>
                                      </p:to>
                                    </p:set>
                                    <p:animEffect filter="fade" transition="in">
                                      <p:cBhvr>
                                        <p:cTn dur="500"/>
                                        <p:tgtEl>
                                          <p:spTgt spid="467">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67">
                                            <p:txEl>
                                              <p:pRg end="1" st="1"/>
                                            </p:txEl>
                                          </p:spTgt>
                                        </p:tgtEl>
                                        <p:attrNameLst>
                                          <p:attrName>style.visibility</p:attrName>
                                        </p:attrNameLst>
                                      </p:cBhvr>
                                      <p:to>
                                        <p:strVal val="visible"/>
                                      </p:to>
                                    </p:set>
                                    <p:animEffect filter="fade" transition="in">
                                      <p:cBhvr>
                                        <p:cTn dur="500"/>
                                        <p:tgtEl>
                                          <p:spTgt spid="467">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67">
                                            <p:txEl>
                                              <p:pRg end="2" st="2"/>
                                            </p:txEl>
                                          </p:spTgt>
                                        </p:tgtEl>
                                        <p:attrNameLst>
                                          <p:attrName>style.visibility</p:attrName>
                                        </p:attrNameLst>
                                      </p:cBhvr>
                                      <p:to>
                                        <p:strVal val="visible"/>
                                      </p:to>
                                    </p:set>
                                    <p:animEffect filter="fade" transition="in">
                                      <p:cBhvr>
                                        <p:cTn dur="500"/>
                                        <p:tgtEl>
                                          <p:spTgt spid="467">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67">
                                            <p:txEl>
                                              <p:pRg end="3" st="3"/>
                                            </p:txEl>
                                          </p:spTgt>
                                        </p:tgtEl>
                                        <p:attrNameLst>
                                          <p:attrName>style.visibility</p:attrName>
                                        </p:attrNameLst>
                                      </p:cBhvr>
                                      <p:to>
                                        <p:strVal val="visible"/>
                                      </p:to>
                                    </p:set>
                                    <p:animEffect filter="fade" transition="in">
                                      <p:cBhvr>
                                        <p:cTn dur="500"/>
                                        <p:tgtEl>
                                          <p:spTgt spid="467">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67">
                                            <p:txEl>
                                              <p:pRg end="4" st="4"/>
                                            </p:txEl>
                                          </p:spTgt>
                                        </p:tgtEl>
                                        <p:attrNameLst>
                                          <p:attrName>style.visibility</p:attrName>
                                        </p:attrNameLst>
                                      </p:cBhvr>
                                      <p:to>
                                        <p:strVal val="visible"/>
                                      </p:to>
                                    </p:set>
                                    <p:animEffect filter="fade" transition="in">
                                      <p:cBhvr>
                                        <p:cTn dur="500"/>
                                        <p:tgtEl>
                                          <p:spTgt spid="467">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67">
                                            <p:txEl>
                                              <p:pRg end="5" st="5"/>
                                            </p:txEl>
                                          </p:spTgt>
                                        </p:tgtEl>
                                        <p:attrNameLst>
                                          <p:attrName>style.visibility</p:attrName>
                                        </p:attrNameLst>
                                      </p:cBhvr>
                                      <p:to>
                                        <p:strVal val="visible"/>
                                      </p:to>
                                    </p:set>
                                    <p:animEffect filter="fade" transition="in">
                                      <p:cBhvr>
                                        <p:cTn dur="500"/>
                                        <p:tgtEl>
                                          <p:spTgt spid="467">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467">
                                            <p:txEl>
                                              <p:pRg end="6" st="6"/>
                                            </p:txEl>
                                          </p:spTgt>
                                        </p:tgtEl>
                                        <p:attrNameLst>
                                          <p:attrName>style.visibility</p:attrName>
                                        </p:attrNameLst>
                                      </p:cBhvr>
                                      <p:to>
                                        <p:strVal val="visible"/>
                                      </p:to>
                                    </p:set>
                                    <p:animEffect filter="fade" transition="in">
                                      <p:cBhvr>
                                        <p:cTn dur="500"/>
                                        <p:tgtEl>
                                          <p:spTgt spid="467">
                                            <p:txEl>
                                              <p:pRg end="6" st="6"/>
                                            </p:txEl>
                                          </p:spTgt>
                                        </p:tgtEl>
                                      </p:cBhvr>
                                    </p:animEffect>
                                  </p:childTnLst>
                                </p:cTn>
                              </p:par>
                            </p:childTnLst>
                          </p:cTn>
                        </p:par>
                        <p:par>
                          <p:cTn fill="hold">
                            <p:stCondLst>
                              <p:cond delay="4000"/>
                            </p:stCondLst>
                            <p:childTnLst>
                              <p:par>
                                <p:cTn fill="hold" nodeType="afterEffect" presetClass="entr" presetID="23" presetSubtype="16">
                                  <p:stCondLst>
                                    <p:cond delay="0"/>
                                  </p:stCondLst>
                                  <p:childTnLst>
                                    <p:set>
                                      <p:cBhvr>
                                        <p:cTn dur="1" fill="hold">
                                          <p:stCondLst>
                                            <p:cond delay="0"/>
                                          </p:stCondLst>
                                        </p:cTn>
                                        <p:tgtEl>
                                          <p:spTgt spid="464"/>
                                        </p:tgtEl>
                                        <p:attrNameLst>
                                          <p:attrName>style.visibility</p:attrName>
                                        </p:attrNameLst>
                                      </p:cBhvr>
                                      <p:to>
                                        <p:strVal val="visible"/>
                                      </p:to>
                                    </p:set>
                                    <p:anim calcmode="lin" valueType="num">
                                      <p:cBhvr additive="base">
                                        <p:cTn dur="500"/>
                                        <p:tgtEl>
                                          <p:spTgt spid="464"/>
                                        </p:tgtEl>
                                        <p:attrNameLst>
                                          <p:attrName>ppt_w</p:attrName>
                                        </p:attrNameLst>
                                      </p:cBhvr>
                                      <p:tavLst>
                                        <p:tav fmla="" tm="0">
                                          <p:val>
                                            <p:strVal val="0"/>
                                          </p:val>
                                        </p:tav>
                                        <p:tav fmla="" tm="100000">
                                          <p:val>
                                            <p:strVal val="#ppt_w"/>
                                          </p:val>
                                        </p:tav>
                                      </p:tavLst>
                                    </p:anim>
                                    <p:anim calcmode="lin" valueType="num">
                                      <p:cBhvr additive="base">
                                        <p:cTn dur="500"/>
                                        <p:tgtEl>
                                          <p:spTgt spid="464"/>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69"/>
                                        </p:tgtEl>
                                        <p:attrNameLst>
                                          <p:attrName>style.visibility</p:attrName>
                                        </p:attrNameLst>
                                      </p:cBhvr>
                                      <p:to>
                                        <p:strVal val="visible"/>
                                      </p:to>
                                    </p:set>
                                    <p:animEffect filter="fade" transition="in">
                                      <p:cBhvr>
                                        <p:cTn dur="500"/>
                                        <p:tgtEl>
                                          <p:spTgt spid="4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73" name="Shape 473"/>
        <p:cNvGrpSpPr/>
        <p:nvPr/>
      </p:nvGrpSpPr>
      <p:grpSpPr>
        <a:xfrm>
          <a:off x="0" y="0"/>
          <a:ext cx="0" cy="0"/>
          <a:chOff x="0" y="0"/>
          <a:chExt cx="0" cy="0"/>
        </a:xfrm>
      </p:grpSpPr>
      <p:pic>
        <p:nvPicPr>
          <p:cNvPr id="474" name="Google Shape;474;p31"/>
          <p:cNvPicPr preferRelativeResize="0"/>
          <p:nvPr/>
        </p:nvPicPr>
        <p:blipFill rotWithShape="1">
          <a:blip r:embed="rId3">
            <a:alphaModFix/>
          </a:blip>
          <a:srcRect b="0" l="0" r="0" t="0"/>
          <a:stretch/>
        </p:blipFill>
        <p:spPr>
          <a:xfrm>
            <a:off x="4853304" y="4462096"/>
            <a:ext cx="3981449" cy="1911448"/>
          </a:xfrm>
          <a:prstGeom prst="rect">
            <a:avLst/>
          </a:prstGeom>
          <a:noFill/>
          <a:ln>
            <a:noFill/>
          </a:ln>
        </p:spPr>
      </p:pic>
      <p:sp>
        <p:nvSpPr>
          <p:cNvPr id="475" name="Google Shape;475;p31"/>
          <p:cNvSpPr txBox="1"/>
          <p:nvPr/>
        </p:nvSpPr>
        <p:spPr>
          <a:xfrm>
            <a:off x="755647" y="738107"/>
            <a:ext cx="205041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Thermometer</a:t>
            </a:r>
            <a:endParaRPr/>
          </a:p>
        </p:txBody>
      </p:sp>
      <p:sp>
        <p:nvSpPr>
          <p:cNvPr id="476" name="Google Shape;476;p31"/>
          <p:cNvSpPr/>
          <p:nvPr/>
        </p:nvSpPr>
        <p:spPr>
          <a:xfrm rot="-5400000">
            <a:off x="1240168" y="1145343"/>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77" name="Google Shape;477;p31"/>
          <p:cNvSpPr/>
          <p:nvPr/>
        </p:nvSpPr>
        <p:spPr>
          <a:xfrm>
            <a:off x="576262" y="2272014"/>
            <a:ext cx="7110413" cy="3323987"/>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Select the </a:t>
            </a:r>
            <a:r>
              <a:rPr b="1" lang="en-GB" sz="1800">
                <a:solidFill>
                  <a:srgbClr val="3DB7FE"/>
                </a:solidFill>
                <a:latin typeface="Roboto"/>
                <a:ea typeface="Roboto"/>
                <a:cs typeface="Roboto"/>
                <a:sym typeface="Roboto"/>
              </a:rPr>
              <a:t>on button pressed Input </a:t>
            </a:r>
            <a:r>
              <a:rPr lang="en-GB" sz="1800">
                <a:solidFill>
                  <a:schemeClr val="dk1"/>
                </a:solidFill>
                <a:latin typeface="Roboto"/>
                <a:ea typeface="Roboto"/>
                <a:cs typeface="Roboto"/>
                <a:sym typeface="Roboto"/>
              </a:rPr>
              <a:t>block and select </a:t>
            </a:r>
            <a:r>
              <a:rPr b="1" lang="en-GB" sz="1800">
                <a:solidFill>
                  <a:srgbClr val="3DB7FE"/>
                </a:solidFill>
                <a:latin typeface="Roboto"/>
                <a:ea typeface="Roboto"/>
                <a:cs typeface="Roboto"/>
                <a:sym typeface="Roboto"/>
              </a:rPr>
              <a:t>A</a:t>
            </a:r>
            <a:r>
              <a:rPr lang="en-GB" sz="1800">
                <a:solidFill>
                  <a:schemeClr val="dk1"/>
                </a:solidFill>
                <a:latin typeface="Roboto"/>
                <a:ea typeface="Roboto"/>
                <a:cs typeface="Roboto"/>
                <a:sym typeface="Roboto"/>
              </a:rPr>
              <a:t> from the drop-down menu.</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Insert a </a:t>
            </a:r>
            <a:r>
              <a:rPr b="1" lang="en-GB" sz="1800">
                <a:solidFill>
                  <a:srgbClr val="3DB7FE"/>
                </a:solidFill>
                <a:latin typeface="Roboto"/>
                <a:ea typeface="Roboto"/>
                <a:cs typeface="Roboto"/>
                <a:sym typeface="Roboto"/>
              </a:rPr>
              <a:t>show number Basic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Find the </a:t>
            </a:r>
            <a:r>
              <a:rPr b="1" lang="en-GB" sz="1800">
                <a:solidFill>
                  <a:srgbClr val="3DB7FE"/>
                </a:solidFill>
                <a:latin typeface="Roboto"/>
                <a:ea typeface="Roboto"/>
                <a:cs typeface="Roboto"/>
                <a:sym typeface="Roboto"/>
              </a:rPr>
              <a:t>temperature (℃) Input </a:t>
            </a:r>
            <a:r>
              <a:rPr lang="en-GB" sz="1800">
                <a:solidFill>
                  <a:schemeClr val="dk1"/>
                </a:solidFill>
                <a:latin typeface="Roboto"/>
                <a:ea typeface="Roboto"/>
                <a:cs typeface="Roboto"/>
                <a:sym typeface="Roboto"/>
              </a:rPr>
              <a:t>block and move this into the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white space on the </a:t>
            </a:r>
            <a:r>
              <a:rPr b="1" lang="en-GB" sz="1800">
                <a:solidFill>
                  <a:srgbClr val="3DB7FE"/>
                </a:solidFill>
                <a:latin typeface="Roboto"/>
                <a:ea typeface="Roboto"/>
                <a:cs typeface="Roboto"/>
                <a:sym typeface="Roboto"/>
              </a:rPr>
              <a:t>show number Basic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Test your code using the the </a:t>
            </a:r>
            <a:r>
              <a:rPr b="1" lang="en-GB" sz="1800">
                <a:solidFill>
                  <a:srgbClr val="3DB7FE"/>
                </a:solidFill>
                <a:latin typeface="Roboto"/>
                <a:ea typeface="Roboto"/>
                <a:cs typeface="Roboto"/>
                <a:sym typeface="Roboto"/>
              </a:rPr>
              <a:t>simulator</a:t>
            </a:r>
            <a:r>
              <a:rPr lang="en-GB" sz="1800">
                <a:solidFill>
                  <a:schemeClr val="dk1"/>
                </a:solidFill>
                <a:latin typeface="Roboto"/>
                <a:ea typeface="Roboto"/>
                <a:cs typeface="Roboto"/>
                <a:sym typeface="Roboto"/>
              </a:rPr>
              <a:t>.</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b="1" lang="en-GB" sz="1800">
                <a:solidFill>
                  <a:srgbClr val="3DB7FE"/>
                </a:solidFill>
                <a:latin typeface="Roboto"/>
                <a:ea typeface="Roboto"/>
                <a:cs typeface="Roboto"/>
                <a:sym typeface="Roboto"/>
              </a:rPr>
              <a:t>Download</a:t>
            </a:r>
            <a:r>
              <a:rPr lang="en-GB" sz="1800">
                <a:solidFill>
                  <a:schemeClr val="dk1"/>
                </a:solidFill>
                <a:latin typeface="Roboto"/>
                <a:ea typeface="Roboto"/>
                <a:cs typeface="Roboto"/>
                <a:sym typeface="Roboto"/>
              </a:rPr>
              <a:t> your program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on to your micro:bit.</a:t>
            </a:r>
            <a:endParaRPr/>
          </a:p>
        </p:txBody>
      </p:sp>
      <p:sp>
        <p:nvSpPr>
          <p:cNvPr id="478" name="Google Shape;478;p31"/>
          <p:cNvSpPr/>
          <p:nvPr/>
        </p:nvSpPr>
        <p:spPr>
          <a:xfrm>
            <a:off x="755650" y="1767849"/>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76"/>
                                        </p:tgtEl>
                                        <p:attrNameLst>
                                          <p:attrName>style.visibility</p:attrName>
                                        </p:attrNameLst>
                                      </p:cBhvr>
                                      <p:to>
                                        <p:strVal val="visible"/>
                                      </p:to>
                                    </p:set>
                                    <p:animEffect filter="fade" transition="in">
                                      <p:cBhvr>
                                        <p:cTn dur="500"/>
                                        <p:tgtEl>
                                          <p:spTgt spid="476"/>
                                        </p:tgtEl>
                                      </p:cBhvr>
                                    </p:animEffect>
                                  </p:childTnLst>
                                </p:cTn>
                              </p:par>
                              <p:par>
                                <p:cTn fill="hold" nodeType="withEffect" presetClass="entr" presetID="10" presetSubtype="0">
                                  <p:stCondLst>
                                    <p:cond delay="0"/>
                                  </p:stCondLst>
                                  <p:childTnLst>
                                    <p:set>
                                      <p:cBhvr>
                                        <p:cTn dur="1" fill="hold">
                                          <p:stCondLst>
                                            <p:cond delay="0"/>
                                          </p:stCondLst>
                                        </p:cTn>
                                        <p:tgtEl>
                                          <p:spTgt spid="478"/>
                                        </p:tgtEl>
                                        <p:attrNameLst>
                                          <p:attrName>style.visibility</p:attrName>
                                        </p:attrNameLst>
                                      </p:cBhvr>
                                      <p:to>
                                        <p:strVal val="visible"/>
                                      </p:to>
                                    </p:set>
                                    <p:animEffect filter="fade" transition="in">
                                      <p:cBhvr>
                                        <p:cTn dur="500"/>
                                        <p:tgtEl>
                                          <p:spTgt spid="478"/>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77">
                                            <p:txEl>
                                              <p:pRg end="0" st="0"/>
                                            </p:txEl>
                                          </p:spTgt>
                                        </p:tgtEl>
                                        <p:attrNameLst>
                                          <p:attrName>style.visibility</p:attrName>
                                        </p:attrNameLst>
                                      </p:cBhvr>
                                      <p:to>
                                        <p:strVal val="visible"/>
                                      </p:to>
                                    </p:set>
                                    <p:animEffect filter="fade" transition="in">
                                      <p:cBhvr>
                                        <p:cTn dur="500"/>
                                        <p:tgtEl>
                                          <p:spTgt spid="477">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77">
                                            <p:txEl>
                                              <p:pRg end="1" st="1"/>
                                            </p:txEl>
                                          </p:spTgt>
                                        </p:tgtEl>
                                        <p:attrNameLst>
                                          <p:attrName>style.visibility</p:attrName>
                                        </p:attrNameLst>
                                      </p:cBhvr>
                                      <p:to>
                                        <p:strVal val="visible"/>
                                      </p:to>
                                    </p:set>
                                    <p:animEffect filter="fade" transition="in">
                                      <p:cBhvr>
                                        <p:cTn dur="500"/>
                                        <p:tgtEl>
                                          <p:spTgt spid="477">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77">
                                            <p:txEl>
                                              <p:pRg end="2" st="2"/>
                                            </p:txEl>
                                          </p:spTgt>
                                        </p:tgtEl>
                                        <p:attrNameLst>
                                          <p:attrName>style.visibility</p:attrName>
                                        </p:attrNameLst>
                                      </p:cBhvr>
                                      <p:to>
                                        <p:strVal val="visible"/>
                                      </p:to>
                                    </p:set>
                                    <p:animEffect filter="fade" transition="in">
                                      <p:cBhvr>
                                        <p:cTn dur="500"/>
                                        <p:tgtEl>
                                          <p:spTgt spid="477">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77">
                                            <p:txEl>
                                              <p:pRg end="3" st="3"/>
                                            </p:txEl>
                                          </p:spTgt>
                                        </p:tgtEl>
                                        <p:attrNameLst>
                                          <p:attrName>style.visibility</p:attrName>
                                        </p:attrNameLst>
                                      </p:cBhvr>
                                      <p:to>
                                        <p:strVal val="visible"/>
                                      </p:to>
                                    </p:set>
                                    <p:animEffect filter="fade" transition="in">
                                      <p:cBhvr>
                                        <p:cTn dur="500"/>
                                        <p:tgtEl>
                                          <p:spTgt spid="477">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77">
                                            <p:txEl>
                                              <p:pRg end="4" st="4"/>
                                            </p:txEl>
                                          </p:spTgt>
                                        </p:tgtEl>
                                        <p:attrNameLst>
                                          <p:attrName>style.visibility</p:attrName>
                                        </p:attrNameLst>
                                      </p:cBhvr>
                                      <p:to>
                                        <p:strVal val="visible"/>
                                      </p:to>
                                    </p:set>
                                    <p:animEffect filter="fade" transition="in">
                                      <p:cBhvr>
                                        <p:cTn dur="500"/>
                                        <p:tgtEl>
                                          <p:spTgt spid="477">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77">
                                            <p:txEl>
                                              <p:pRg end="5" st="5"/>
                                            </p:txEl>
                                          </p:spTgt>
                                        </p:tgtEl>
                                        <p:attrNameLst>
                                          <p:attrName>style.visibility</p:attrName>
                                        </p:attrNameLst>
                                      </p:cBhvr>
                                      <p:to>
                                        <p:strVal val="visible"/>
                                      </p:to>
                                    </p:set>
                                    <p:animEffect filter="fade" transition="in">
                                      <p:cBhvr>
                                        <p:cTn dur="500"/>
                                        <p:tgtEl>
                                          <p:spTgt spid="477">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477">
                                            <p:txEl>
                                              <p:pRg end="6" st="6"/>
                                            </p:txEl>
                                          </p:spTgt>
                                        </p:tgtEl>
                                        <p:attrNameLst>
                                          <p:attrName>style.visibility</p:attrName>
                                        </p:attrNameLst>
                                      </p:cBhvr>
                                      <p:to>
                                        <p:strVal val="visible"/>
                                      </p:to>
                                    </p:set>
                                    <p:animEffect filter="fade" transition="in">
                                      <p:cBhvr>
                                        <p:cTn dur="500"/>
                                        <p:tgtEl>
                                          <p:spTgt spid="477">
                                            <p:txEl>
                                              <p:pRg end="6" st="6"/>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477">
                                            <p:txEl>
                                              <p:pRg end="7" st="7"/>
                                            </p:txEl>
                                          </p:spTgt>
                                        </p:tgtEl>
                                        <p:attrNameLst>
                                          <p:attrName>style.visibility</p:attrName>
                                        </p:attrNameLst>
                                      </p:cBhvr>
                                      <p:to>
                                        <p:strVal val="visible"/>
                                      </p:to>
                                    </p:set>
                                    <p:animEffect filter="fade" transition="in">
                                      <p:cBhvr>
                                        <p:cTn dur="500"/>
                                        <p:tgtEl>
                                          <p:spTgt spid="477">
                                            <p:txEl>
                                              <p:pRg end="7" st="7"/>
                                            </p:txEl>
                                          </p:spTgt>
                                        </p:tgtEl>
                                      </p:cBhvr>
                                    </p:animEffect>
                                  </p:childTnLst>
                                </p:cTn>
                              </p:par>
                            </p:childTnLst>
                          </p:cTn>
                        </p:par>
                        <p:par>
                          <p:cTn fill="hold">
                            <p:stCondLst>
                              <p:cond delay="4500"/>
                            </p:stCondLst>
                            <p:childTnLst>
                              <p:par>
                                <p:cTn fill="hold" nodeType="afterEffect" presetClass="entr" presetID="10" presetSubtype="0">
                                  <p:stCondLst>
                                    <p:cond delay="0"/>
                                  </p:stCondLst>
                                  <p:childTnLst>
                                    <p:set>
                                      <p:cBhvr>
                                        <p:cTn dur="1" fill="hold">
                                          <p:stCondLst>
                                            <p:cond delay="0"/>
                                          </p:stCondLst>
                                        </p:cTn>
                                        <p:tgtEl>
                                          <p:spTgt spid="477">
                                            <p:txEl>
                                              <p:pRg end="8" st="8"/>
                                            </p:txEl>
                                          </p:spTgt>
                                        </p:tgtEl>
                                        <p:attrNameLst>
                                          <p:attrName>style.visibility</p:attrName>
                                        </p:attrNameLst>
                                      </p:cBhvr>
                                      <p:to>
                                        <p:strVal val="visible"/>
                                      </p:to>
                                    </p:set>
                                    <p:animEffect filter="fade" transition="in">
                                      <p:cBhvr>
                                        <p:cTn dur="500"/>
                                        <p:tgtEl>
                                          <p:spTgt spid="477">
                                            <p:txEl>
                                              <p:pRg end="8" st="8"/>
                                            </p:txEl>
                                          </p:spTgt>
                                        </p:tgtEl>
                                      </p:cBhvr>
                                    </p:animEffect>
                                  </p:childTnLst>
                                </p:cTn>
                              </p:par>
                            </p:childTnLst>
                          </p:cTn>
                        </p:par>
                        <p:par>
                          <p:cTn fill="hold">
                            <p:stCondLst>
                              <p:cond delay="5000"/>
                            </p:stCondLst>
                            <p:childTnLst>
                              <p:par>
                                <p:cTn fill="hold" nodeType="afterEffect" presetClass="entr" presetID="23" presetSubtype="16">
                                  <p:stCondLst>
                                    <p:cond delay="0"/>
                                  </p:stCondLst>
                                  <p:childTnLst>
                                    <p:set>
                                      <p:cBhvr>
                                        <p:cTn dur="1" fill="hold">
                                          <p:stCondLst>
                                            <p:cond delay="0"/>
                                          </p:stCondLst>
                                        </p:cTn>
                                        <p:tgtEl>
                                          <p:spTgt spid="474"/>
                                        </p:tgtEl>
                                        <p:attrNameLst>
                                          <p:attrName>style.visibility</p:attrName>
                                        </p:attrNameLst>
                                      </p:cBhvr>
                                      <p:to>
                                        <p:strVal val="visible"/>
                                      </p:to>
                                    </p:set>
                                    <p:anim calcmode="lin" valueType="num">
                                      <p:cBhvr additive="base">
                                        <p:cTn dur="500"/>
                                        <p:tgtEl>
                                          <p:spTgt spid="474"/>
                                        </p:tgtEl>
                                        <p:attrNameLst>
                                          <p:attrName>ppt_w</p:attrName>
                                        </p:attrNameLst>
                                      </p:cBhvr>
                                      <p:tavLst>
                                        <p:tav fmla="" tm="0">
                                          <p:val>
                                            <p:strVal val="0"/>
                                          </p:val>
                                        </p:tav>
                                        <p:tav fmla="" tm="100000">
                                          <p:val>
                                            <p:strVal val="#ppt_w"/>
                                          </p:val>
                                        </p:tav>
                                      </p:tavLst>
                                    </p:anim>
                                    <p:anim calcmode="lin" valueType="num">
                                      <p:cBhvr additive="base">
                                        <p:cTn dur="500"/>
                                        <p:tgtEl>
                                          <p:spTgt spid="474"/>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82" name="Shape 482"/>
        <p:cNvGrpSpPr/>
        <p:nvPr/>
      </p:nvGrpSpPr>
      <p:grpSpPr>
        <a:xfrm>
          <a:off x="0" y="0"/>
          <a:ext cx="0" cy="0"/>
          <a:chOff x="0" y="0"/>
          <a:chExt cx="0" cy="0"/>
        </a:xfrm>
      </p:grpSpPr>
      <p:pic>
        <p:nvPicPr>
          <p:cNvPr id="483" name="Google Shape;483;p32"/>
          <p:cNvPicPr preferRelativeResize="0"/>
          <p:nvPr/>
        </p:nvPicPr>
        <p:blipFill rotWithShape="1">
          <a:blip r:embed="rId3">
            <a:alphaModFix/>
          </a:blip>
          <a:srcRect b="0" l="0" r="0" t="0"/>
          <a:stretch/>
        </p:blipFill>
        <p:spPr>
          <a:xfrm>
            <a:off x="5384073" y="1773803"/>
            <a:ext cx="2789330" cy="2559587"/>
          </a:xfrm>
          <a:prstGeom prst="rect">
            <a:avLst/>
          </a:prstGeom>
          <a:noFill/>
          <a:ln>
            <a:noFill/>
          </a:ln>
        </p:spPr>
      </p:pic>
      <p:sp>
        <p:nvSpPr>
          <p:cNvPr id="484" name="Google Shape;484;p32"/>
          <p:cNvSpPr txBox="1"/>
          <p:nvPr/>
        </p:nvSpPr>
        <p:spPr>
          <a:xfrm>
            <a:off x="755647" y="738107"/>
            <a:ext cx="304482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Rock, Paper, Scissors</a:t>
            </a:r>
            <a:endParaRPr/>
          </a:p>
        </p:txBody>
      </p:sp>
      <p:sp>
        <p:nvSpPr>
          <p:cNvPr id="485" name="Google Shape;485;p32"/>
          <p:cNvSpPr/>
          <p:nvPr/>
        </p:nvSpPr>
        <p:spPr>
          <a:xfrm rot="-5400000">
            <a:off x="1240168" y="993036"/>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86" name="Google Shape;486;p32"/>
          <p:cNvSpPr/>
          <p:nvPr/>
        </p:nvSpPr>
        <p:spPr>
          <a:xfrm>
            <a:off x="543210" y="2119707"/>
            <a:ext cx="8204181" cy="3917739"/>
          </a:xfrm>
          <a:prstGeom prst="rect">
            <a:avLst/>
          </a:prstGeom>
          <a:noFill/>
          <a:ln>
            <a:noFill/>
          </a:ln>
        </p:spPr>
        <p:txBody>
          <a:bodyPr anchorCtr="0" anchor="t" bIns="0" lIns="0" spcFirstLastPara="1" rIns="0" wrap="square" tIns="0">
            <a:noAutofit/>
          </a:bodyPr>
          <a:lstStyle/>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Select the </a:t>
            </a:r>
            <a:r>
              <a:rPr b="1" lang="en-GB" sz="1800">
                <a:solidFill>
                  <a:srgbClr val="3DB7FE"/>
                </a:solidFill>
                <a:latin typeface="Roboto"/>
                <a:ea typeface="Roboto"/>
                <a:cs typeface="Roboto"/>
                <a:sym typeface="Roboto"/>
              </a:rPr>
              <a:t>on shake Input </a:t>
            </a:r>
            <a:r>
              <a:rPr lang="en-GB" sz="1800">
                <a:solidFill>
                  <a:schemeClr val="dk1"/>
                </a:solidFill>
                <a:latin typeface="Roboto"/>
                <a:ea typeface="Roboto"/>
                <a:cs typeface="Roboto"/>
                <a:sym typeface="Roboto"/>
              </a:rPr>
              <a:t>block.</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Go into the </a:t>
            </a:r>
            <a:r>
              <a:rPr b="1" lang="en-GB" sz="1800">
                <a:solidFill>
                  <a:srgbClr val="3DB7FE"/>
                </a:solidFill>
                <a:latin typeface="Roboto"/>
                <a:ea typeface="Roboto"/>
                <a:cs typeface="Roboto"/>
                <a:sym typeface="Roboto"/>
              </a:rPr>
              <a:t>Variables</a:t>
            </a:r>
            <a:r>
              <a:rPr lang="en-GB" sz="1800">
                <a:solidFill>
                  <a:schemeClr val="dk1"/>
                </a:solidFill>
                <a:latin typeface="Roboto"/>
                <a:ea typeface="Roboto"/>
                <a:cs typeface="Roboto"/>
                <a:sym typeface="Roboto"/>
              </a:rPr>
              <a:t> category and</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make a new variable with the name 'tool'.</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Add a </a:t>
            </a:r>
            <a:r>
              <a:rPr b="1" lang="en-GB" sz="1800">
                <a:solidFill>
                  <a:srgbClr val="3DB7FE"/>
                </a:solidFill>
                <a:latin typeface="Roboto"/>
                <a:ea typeface="Roboto"/>
                <a:cs typeface="Roboto"/>
                <a:sym typeface="Roboto"/>
              </a:rPr>
              <a:t>set tool to Variables </a:t>
            </a:r>
            <a:r>
              <a:rPr lang="en-GB" sz="1800">
                <a:solidFill>
                  <a:schemeClr val="dk1"/>
                </a:solidFill>
                <a:latin typeface="Roboto"/>
                <a:ea typeface="Roboto"/>
                <a:cs typeface="Roboto"/>
                <a:sym typeface="Roboto"/>
              </a:rPr>
              <a:t>block.</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Find the </a:t>
            </a:r>
            <a:r>
              <a:rPr b="1" lang="en-GB" sz="1800">
                <a:solidFill>
                  <a:srgbClr val="3DB7FE"/>
                </a:solidFill>
                <a:latin typeface="Roboto"/>
                <a:ea typeface="Roboto"/>
                <a:cs typeface="Roboto"/>
                <a:sym typeface="Roboto"/>
              </a:rPr>
              <a:t>pick random 0 to 10 Math</a:t>
            </a:r>
            <a:r>
              <a:rPr lang="en-GB" sz="1800">
                <a:solidFill>
                  <a:schemeClr val="dk1"/>
                </a:solidFill>
                <a:latin typeface="Roboto"/>
                <a:ea typeface="Roboto"/>
                <a:cs typeface="Roboto"/>
                <a:sym typeface="Roboto"/>
              </a:rPr>
              <a:t> block,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and change the 10 to a</a:t>
            </a:r>
            <a:r>
              <a:rPr b="1" lang="en-GB" sz="1800">
                <a:solidFill>
                  <a:schemeClr val="dk1"/>
                </a:solidFill>
                <a:latin typeface="Roboto"/>
                <a:ea typeface="Roboto"/>
                <a:cs typeface="Roboto"/>
                <a:sym typeface="Roboto"/>
              </a:rPr>
              <a:t> </a:t>
            </a:r>
            <a:r>
              <a:rPr b="1" lang="en-GB" sz="1800">
                <a:solidFill>
                  <a:srgbClr val="3DB7FE"/>
                </a:solidFill>
                <a:latin typeface="Roboto"/>
                <a:ea typeface="Roboto"/>
                <a:cs typeface="Roboto"/>
                <a:sym typeface="Roboto"/>
              </a:rPr>
              <a:t>2</a:t>
            </a:r>
            <a:r>
              <a:rPr lang="en-GB" sz="1800">
                <a:solidFill>
                  <a:schemeClr val="dk1"/>
                </a:solidFill>
                <a:latin typeface="Roboto"/>
                <a:ea typeface="Roboto"/>
                <a:cs typeface="Roboto"/>
                <a:sym typeface="Roboto"/>
              </a:rPr>
              <a:t>.</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Insert the </a:t>
            </a:r>
            <a:r>
              <a:rPr b="1" lang="en-GB" sz="1800">
                <a:solidFill>
                  <a:srgbClr val="3DB7FE"/>
                </a:solidFill>
                <a:latin typeface="Roboto"/>
                <a:ea typeface="Roboto"/>
                <a:cs typeface="Roboto"/>
                <a:sym typeface="Roboto"/>
              </a:rPr>
              <a:t>pick random 0 to 2 Math </a:t>
            </a:r>
            <a:r>
              <a:rPr lang="en-GB" sz="1800">
                <a:solidFill>
                  <a:schemeClr val="dk1"/>
                </a:solidFill>
                <a:latin typeface="Roboto"/>
                <a:ea typeface="Roboto"/>
                <a:cs typeface="Roboto"/>
                <a:sym typeface="Roboto"/>
              </a:rPr>
              <a:t>block over the 0 in the </a:t>
            </a:r>
            <a:r>
              <a:rPr b="1" lang="en-GB" sz="1800">
                <a:solidFill>
                  <a:srgbClr val="3DB7FE"/>
                </a:solidFill>
                <a:latin typeface="Roboto"/>
                <a:ea typeface="Roboto"/>
                <a:cs typeface="Roboto"/>
                <a:sym typeface="Roboto"/>
              </a:rPr>
              <a:t>set tool to Variables </a:t>
            </a:r>
            <a:r>
              <a:rPr lang="en-GB" sz="1800">
                <a:solidFill>
                  <a:schemeClr val="dk1"/>
                </a:solidFill>
                <a:latin typeface="Roboto"/>
                <a:ea typeface="Roboto"/>
                <a:cs typeface="Roboto"/>
                <a:sym typeface="Roboto"/>
              </a:rPr>
              <a:t>block.</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Insert an </a:t>
            </a:r>
            <a:r>
              <a:rPr b="1" lang="en-GB" sz="1800">
                <a:solidFill>
                  <a:srgbClr val="3DB7FE"/>
                </a:solidFill>
                <a:latin typeface="Roboto"/>
                <a:ea typeface="Roboto"/>
                <a:cs typeface="Roboto"/>
                <a:sym typeface="Roboto"/>
              </a:rPr>
              <a:t>if…then…else Logic </a:t>
            </a:r>
            <a:r>
              <a:rPr lang="en-GB" sz="1800">
                <a:solidFill>
                  <a:schemeClr val="dk1"/>
                </a:solidFill>
                <a:latin typeface="Roboto"/>
                <a:ea typeface="Roboto"/>
                <a:cs typeface="Roboto"/>
                <a:sym typeface="Roboto"/>
              </a:rPr>
              <a:t>block.</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Find the </a:t>
            </a:r>
            <a:r>
              <a:rPr b="1" lang="en-GB" sz="1800">
                <a:solidFill>
                  <a:srgbClr val="3DB7FE"/>
                </a:solidFill>
                <a:latin typeface="Roboto"/>
                <a:ea typeface="Roboto"/>
                <a:cs typeface="Roboto"/>
                <a:sym typeface="Roboto"/>
              </a:rPr>
              <a:t>0 = 0 Logic </a:t>
            </a:r>
            <a:r>
              <a:rPr lang="en-GB" sz="1800">
                <a:solidFill>
                  <a:schemeClr val="dk1"/>
                </a:solidFill>
                <a:latin typeface="Roboto"/>
                <a:ea typeface="Roboto"/>
                <a:cs typeface="Roboto"/>
                <a:sym typeface="Roboto"/>
              </a:rPr>
              <a:t>block and slot this over </a:t>
            </a:r>
            <a:r>
              <a:rPr b="1" lang="en-GB" sz="1800">
                <a:solidFill>
                  <a:srgbClr val="3DB7FE"/>
                </a:solidFill>
                <a:latin typeface="Roboto"/>
                <a:ea typeface="Roboto"/>
                <a:cs typeface="Roboto"/>
                <a:sym typeface="Roboto"/>
              </a:rPr>
              <a:t>true</a:t>
            </a:r>
            <a:r>
              <a:rPr lang="en-GB" sz="1800">
                <a:solidFill>
                  <a:schemeClr val="dk1"/>
                </a:solidFill>
                <a:latin typeface="Roboto"/>
                <a:ea typeface="Roboto"/>
                <a:cs typeface="Roboto"/>
                <a:sym typeface="Roboto"/>
              </a:rPr>
              <a:t> on the  </a:t>
            </a:r>
            <a:r>
              <a:rPr b="1" lang="en-GB" sz="1800">
                <a:solidFill>
                  <a:srgbClr val="3DB7FE"/>
                </a:solidFill>
                <a:latin typeface="Roboto"/>
                <a:ea typeface="Roboto"/>
                <a:cs typeface="Roboto"/>
                <a:sym typeface="Roboto"/>
              </a:rPr>
              <a:t>if…then…else </a:t>
            </a:r>
            <a:r>
              <a:rPr lang="en-GB" sz="1800">
                <a:solidFill>
                  <a:schemeClr val="dk1"/>
                </a:solidFill>
                <a:latin typeface="Roboto"/>
                <a:ea typeface="Roboto"/>
                <a:cs typeface="Roboto"/>
                <a:sym typeface="Roboto"/>
              </a:rPr>
              <a:t>block.</a:t>
            </a:r>
            <a:endParaRPr/>
          </a:p>
          <a:p>
            <a:pPr indent="-285750" lvl="0" marL="285750" marR="0" rtl="0" algn="l">
              <a:lnSpc>
                <a:spcPct val="153333"/>
              </a:lnSpc>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Select the </a:t>
            </a:r>
            <a:r>
              <a:rPr b="1" lang="en-GB" sz="1800">
                <a:solidFill>
                  <a:srgbClr val="3DB7FE"/>
                </a:solidFill>
                <a:latin typeface="Roboto"/>
                <a:ea typeface="Roboto"/>
                <a:cs typeface="Roboto"/>
                <a:sym typeface="Roboto"/>
              </a:rPr>
              <a:t>tool Variables </a:t>
            </a:r>
            <a:r>
              <a:rPr lang="en-GB" sz="1800">
                <a:solidFill>
                  <a:schemeClr val="dk1"/>
                </a:solidFill>
                <a:latin typeface="Roboto"/>
                <a:ea typeface="Roboto"/>
                <a:cs typeface="Roboto"/>
                <a:sym typeface="Roboto"/>
              </a:rPr>
              <a:t>block and slot this over  the first </a:t>
            </a:r>
            <a:r>
              <a:rPr b="1" lang="en-GB" sz="1800">
                <a:solidFill>
                  <a:srgbClr val="3DB7FE"/>
                </a:solidFill>
                <a:latin typeface="Roboto"/>
                <a:ea typeface="Roboto"/>
                <a:cs typeface="Roboto"/>
                <a:sym typeface="Roboto"/>
              </a:rPr>
              <a:t>0</a:t>
            </a:r>
            <a:r>
              <a:rPr lang="en-GB" sz="1800">
                <a:solidFill>
                  <a:schemeClr val="dk1"/>
                </a:solidFill>
                <a:latin typeface="Roboto"/>
                <a:ea typeface="Roboto"/>
                <a:cs typeface="Roboto"/>
                <a:sym typeface="Roboto"/>
              </a:rPr>
              <a:t> in the </a:t>
            </a:r>
            <a:r>
              <a:rPr b="1" lang="en-GB" sz="1800">
                <a:solidFill>
                  <a:srgbClr val="3DB7FE"/>
                </a:solidFill>
                <a:latin typeface="Roboto"/>
                <a:ea typeface="Roboto"/>
                <a:cs typeface="Roboto"/>
                <a:sym typeface="Roboto"/>
              </a:rPr>
              <a:t>0 = 0 </a:t>
            </a:r>
            <a:r>
              <a:rPr lang="en-GB" sz="1800">
                <a:solidFill>
                  <a:schemeClr val="dk1"/>
                </a:solidFill>
                <a:latin typeface="Roboto"/>
                <a:ea typeface="Roboto"/>
                <a:cs typeface="Roboto"/>
                <a:sym typeface="Roboto"/>
              </a:rPr>
              <a:t>block.</a:t>
            </a:r>
            <a:endParaRPr/>
          </a:p>
        </p:txBody>
      </p:sp>
      <p:sp>
        <p:nvSpPr>
          <p:cNvPr id="487" name="Google Shape;487;p32"/>
          <p:cNvSpPr/>
          <p:nvPr/>
        </p:nvSpPr>
        <p:spPr>
          <a:xfrm>
            <a:off x="755650" y="1615542"/>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sp>
        <p:nvSpPr>
          <p:cNvPr id="488" name="Google Shape;488;p32"/>
          <p:cNvSpPr/>
          <p:nvPr/>
        </p:nvSpPr>
        <p:spPr>
          <a:xfrm>
            <a:off x="5090798" y="1506682"/>
            <a:ext cx="3377565" cy="215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400">
                <a:solidFill>
                  <a:srgbClr val="3DB7FE"/>
                </a:solidFill>
                <a:latin typeface="Roboto"/>
                <a:ea typeface="Roboto"/>
                <a:cs typeface="Roboto"/>
                <a:sym typeface="Roboto"/>
              </a:rPr>
              <a:t>So far your code should look like this:</a:t>
            </a:r>
            <a:endParaRPr/>
          </a:p>
        </p:txBody>
      </p:sp>
      <p:sp>
        <p:nvSpPr>
          <p:cNvPr id="489" name="Google Shape;489;p32"/>
          <p:cNvSpPr/>
          <p:nvPr/>
        </p:nvSpPr>
        <p:spPr>
          <a:xfrm>
            <a:off x="755647" y="1014501"/>
            <a:ext cx="4831414" cy="314189"/>
          </a:xfrm>
          <a:prstGeom prst="rect">
            <a:avLst/>
          </a:prstGeom>
          <a:noFill/>
          <a:ln>
            <a:noFill/>
          </a:ln>
        </p:spPr>
        <p:txBody>
          <a:bodyPr anchorCtr="0" anchor="t" bIns="0" lIns="0" spcFirstLastPara="1" rIns="0" wrap="square" tIns="0">
            <a:noAutofit/>
          </a:bodyPr>
          <a:lstStyle/>
          <a:p>
            <a:pPr indent="0" lvl="0" marL="0" marR="0" rtl="0" algn="l">
              <a:lnSpc>
                <a:spcPct val="197142"/>
              </a:lnSpc>
              <a:spcBef>
                <a:spcPts val="0"/>
              </a:spcBef>
              <a:spcAft>
                <a:spcPts val="0"/>
              </a:spcAft>
              <a:buNone/>
            </a:pPr>
            <a:r>
              <a:rPr b="1" lang="en-GB" sz="1400">
                <a:solidFill>
                  <a:schemeClr val="dk1"/>
                </a:solidFill>
                <a:latin typeface="Roboto"/>
                <a:ea typeface="Roboto"/>
                <a:cs typeface="Roboto"/>
                <a:sym typeface="Roboto"/>
              </a:rPr>
              <a:t>Feeling confident? Let's try something a bit more complex!</a:t>
            </a:r>
            <a:endParaRPr/>
          </a:p>
        </p:txBody>
      </p:sp>
      <p:pic>
        <p:nvPicPr>
          <p:cNvPr id="490" name="Google Shape;490;p32"/>
          <p:cNvPicPr preferRelativeResize="0"/>
          <p:nvPr/>
        </p:nvPicPr>
        <p:blipFill rotWithShape="1">
          <a:blip r:embed="rId4">
            <a:alphaModFix/>
          </a:blip>
          <a:srcRect b="0" l="0" r="0" t="0"/>
          <a:stretch/>
        </p:blipFill>
        <p:spPr>
          <a:xfrm>
            <a:off x="5555351" y="2196657"/>
            <a:ext cx="2887532" cy="491727"/>
          </a:xfrm>
          <a:prstGeom prst="rect">
            <a:avLst/>
          </a:prstGeom>
          <a:noFill/>
          <a:ln>
            <a:noFill/>
          </a:ln>
        </p:spPr>
      </p:pic>
      <p:pic>
        <p:nvPicPr>
          <p:cNvPr id="491" name="Google Shape;491;p32"/>
          <p:cNvPicPr preferRelativeResize="0"/>
          <p:nvPr/>
        </p:nvPicPr>
        <p:blipFill rotWithShape="1">
          <a:blip r:embed="rId5">
            <a:alphaModFix/>
          </a:blip>
          <a:srcRect b="0" l="0" r="0" t="0"/>
          <a:stretch/>
        </p:blipFill>
        <p:spPr>
          <a:xfrm>
            <a:off x="5549295" y="2534868"/>
            <a:ext cx="2596434" cy="1532077"/>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89"/>
                                        </p:tgtEl>
                                        <p:attrNameLst>
                                          <p:attrName>style.visibility</p:attrName>
                                        </p:attrNameLst>
                                      </p:cBhvr>
                                      <p:to>
                                        <p:strVal val="visible"/>
                                      </p:to>
                                    </p:set>
                                    <p:animEffect filter="fade" transition="in">
                                      <p:cBhvr>
                                        <p:cTn dur="500"/>
                                        <p:tgtEl>
                                          <p:spTgt spid="4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5"/>
                                        </p:tgtEl>
                                        <p:attrNameLst>
                                          <p:attrName>style.visibility</p:attrName>
                                        </p:attrNameLst>
                                      </p:cBhvr>
                                      <p:to>
                                        <p:strVal val="visible"/>
                                      </p:to>
                                    </p:set>
                                    <p:animEffect filter="fade" transition="in">
                                      <p:cBhvr>
                                        <p:cTn dur="500"/>
                                        <p:tgtEl>
                                          <p:spTgt spid="485"/>
                                        </p:tgtEl>
                                      </p:cBhvr>
                                    </p:animEffect>
                                  </p:childTnLst>
                                </p:cTn>
                              </p:par>
                              <p:par>
                                <p:cTn fill="hold" nodeType="withEffect" presetClass="entr" presetID="10" presetSubtype="0">
                                  <p:stCondLst>
                                    <p:cond delay="0"/>
                                  </p:stCondLst>
                                  <p:childTnLst>
                                    <p:set>
                                      <p:cBhvr>
                                        <p:cTn dur="1" fill="hold">
                                          <p:stCondLst>
                                            <p:cond delay="0"/>
                                          </p:stCondLst>
                                        </p:cTn>
                                        <p:tgtEl>
                                          <p:spTgt spid="487"/>
                                        </p:tgtEl>
                                        <p:attrNameLst>
                                          <p:attrName>style.visibility</p:attrName>
                                        </p:attrNameLst>
                                      </p:cBhvr>
                                      <p:to>
                                        <p:strVal val="visible"/>
                                      </p:to>
                                    </p:set>
                                    <p:animEffect filter="fade" transition="in">
                                      <p:cBhvr>
                                        <p:cTn dur="500"/>
                                        <p:tgtEl>
                                          <p:spTgt spid="487"/>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86">
                                            <p:txEl>
                                              <p:pRg end="0" st="0"/>
                                            </p:txEl>
                                          </p:spTgt>
                                        </p:tgtEl>
                                        <p:attrNameLst>
                                          <p:attrName>style.visibility</p:attrName>
                                        </p:attrNameLst>
                                      </p:cBhvr>
                                      <p:to>
                                        <p:strVal val="visible"/>
                                      </p:to>
                                    </p:set>
                                    <p:animEffect filter="fade" transition="in">
                                      <p:cBhvr>
                                        <p:cTn dur="500"/>
                                        <p:tgtEl>
                                          <p:spTgt spid="486">
                                            <p:txEl>
                                              <p:pRg end="0" st="0"/>
                                            </p:txEl>
                                          </p:spTgt>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86">
                                            <p:txEl>
                                              <p:pRg end="1" st="1"/>
                                            </p:txEl>
                                          </p:spTgt>
                                        </p:tgtEl>
                                        <p:attrNameLst>
                                          <p:attrName>style.visibility</p:attrName>
                                        </p:attrNameLst>
                                      </p:cBhvr>
                                      <p:to>
                                        <p:strVal val="visible"/>
                                      </p:to>
                                    </p:set>
                                    <p:animEffect filter="fade" transition="in">
                                      <p:cBhvr>
                                        <p:cTn dur="500"/>
                                        <p:tgtEl>
                                          <p:spTgt spid="486">
                                            <p:txEl>
                                              <p:pRg end="1" st="1"/>
                                            </p:txEl>
                                          </p:spTgt>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486">
                                            <p:txEl>
                                              <p:pRg end="2" st="2"/>
                                            </p:txEl>
                                          </p:spTgt>
                                        </p:tgtEl>
                                        <p:attrNameLst>
                                          <p:attrName>style.visibility</p:attrName>
                                        </p:attrNameLst>
                                      </p:cBhvr>
                                      <p:to>
                                        <p:strVal val="visible"/>
                                      </p:to>
                                    </p:set>
                                    <p:animEffect filter="fade" transition="in">
                                      <p:cBhvr>
                                        <p:cTn dur="500"/>
                                        <p:tgtEl>
                                          <p:spTgt spid="486">
                                            <p:txEl>
                                              <p:pRg end="2" st="2"/>
                                            </p:txEl>
                                          </p:spTgt>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86">
                                            <p:txEl>
                                              <p:pRg end="3" st="3"/>
                                            </p:txEl>
                                          </p:spTgt>
                                        </p:tgtEl>
                                        <p:attrNameLst>
                                          <p:attrName>style.visibility</p:attrName>
                                        </p:attrNameLst>
                                      </p:cBhvr>
                                      <p:to>
                                        <p:strVal val="visible"/>
                                      </p:to>
                                    </p:set>
                                    <p:animEffect filter="fade" transition="in">
                                      <p:cBhvr>
                                        <p:cTn dur="500"/>
                                        <p:tgtEl>
                                          <p:spTgt spid="486">
                                            <p:txEl>
                                              <p:pRg end="3" st="3"/>
                                            </p:txEl>
                                          </p:spTgt>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86">
                                            <p:txEl>
                                              <p:pRg end="4" st="4"/>
                                            </p:txEl>
                                          </p:spTgt>
                                        </p:tgtEl>
                                        <p:attrNameLst>
                                          <p:attrName>style.visibility</p:attrName>
                                        </p:attrNameLst>
                                      </p:cBhvr>
                                      <p:to>
                                        <p:strVal val="visible"/>
                                      </p:to>
                                    </p:set>
                                    <p:animEffect filter="fade" transition="in">
                                      <p:cBhvr>
                                        <p:cTn dur="500"/>
                                        <p:tgtEl>
                                          <p:spTgt spid="486">
                                            <p:txEl>
                                              <p:pRg end="4" st="4"/>
                                            </p:txEl>
                                          </p:spTgt>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86">
                                            <p:txEl>
                                              <p:pRg end="5" st="5"/>
                                            </p:txEl>
                                          </p:spTgt>
                                        </p:tgtEl>
                                        <p:attrNameLst>
                                          <p:attrName>style.visibility</p:attrName>
                                        </p:attrNameLst>
                                      </p:cBhvr>
                                      <p:to>
                                        <p:strVal val="visible"/>
                                      </p:to>
                                    </p:set>
                                    <p:animEffect filter="fade" transition="in">
                                      <p:cBhvr>
                                        <p:cTn dur="500"/>
                                        <p:tgtEl>
                                          <p:spTgt spid="486">
                                            <p:txEl>
                                              <p:pRg end="5" st="5"/>
                                            </p:txEl>
                                          </p:spTgt>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486">
                                            <p:txEl>
                                              <p:pRg end="6" st="6"/>
                                            </p:txEl>
                                          </p:spTgt>
                                        </p:tgtEl>
                                        <p:attrNameLst>
                                          <p:attrName>style.visibility</p:attrName>
                                        </p:attrNameLst>
                                      </p:cBhvr>
                                      <p:to>
                                        <p:strVal val="visible"/>
                                      </p:to>
                                    </p:set>
                                    <p:animEffect filter="fade" transition="in">
                                      <p:cBhvr>
                                        <p:cTn dur="500"/>
                                        <p:tgtEl>
                                          <p:spTgt spid="486">
                                            <p:txEl>
                                              <p:pRg end="6" st="6"/>
                                            </p:txEl>
                                          </p:spTgt>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486">
                                            <p:txEl>
                                              <p:pRg end="7" st="7"/>
                                            </p:txEl>
                                          </p:spTgt>
                                        </p:tgtEl>
                                        <p:attrNameLst>
                                          <p:attrName>style.visibility</p:attrName>
                                        </p:attrNameLst>
                                      </p:cBhvr>
                                      <p:to>
                                        <p:strVal val="visible"/>
                                      </p:to>
                                    </p:set>
                                    <p:animEffect filter="fade" transition="in">
                                      <p:cBhvr>
                                        <p:cTn dur="500"/>
                                        <p:tgtEl>
                                          <p:spTgt spid="486">
                                            <p:txEl>
                                              <p:pRg end="7" st="7"/>
                                            </p:txEl>
                                          </p:spTgt>
                                        </p:tgtEl>
                                      </p:cBhvr>
                                    </p:animEffect>
                                  </p:childTnLst>
                                </p:cTn>
                              </p:par>
                            </p:childTnLst>
                          </p:cTn>
                        </p:par>
                        <p:par>
                          <p:cTn fill="hold">
                            <p:stCondLst>
                              <p:cond delay="4500"/>
                            </p:stCondLst>
                            <p:childTnLst>
                              <p:par>
                                <p:cTn fill="hold" nodeType="afterEffect" presetClass="entr" presetID="23" presetSubtype="16">
                                  <p:stCondLst>
                                    <p:cond delay="0"/>
                                  </p:stCondLst>
                                  <p:childTnLst>
                                    <p:set>
                                      <p:cBhvr>
                                        <p:cTn dur="1" fill="hold">
                                          <p:stCondLst>
                                            <p:cond delay="0"/>
                                          </p:stCondLst>
                                        </p:cTn>
                                        <p:tgtEl>
                                          <p:spTgt spid="483"/>
                                        </p:tgtEl>
                                        <p:attrNameLst>
                                          <p:attrName>style.visibility</p:attrName>
                                        </p:attrNameLst>
                                      </p:cBhvr>
                                      <p:to>
                                        <p:strVal val="visible"/>
                                      </p:to>
                                    </p:set>
                                    <p:anim calcmode="lin" valueType="num">
                                      <p:cBhvr additive="base">
                                        <p:cTn dur="500"/>
                                        <p:tgtEl>
                                          <p:spTgt spid="483"/>
                                        </p:tgtEl>
                                        <p:attrNameLst>
                                          <p:attrName>ppt_w</p:attrName>
                                        </p:attrNameLst>
                                      </p:cBhvr>
                                      <p:tavLst>
                                        <p:tav fmla="" tm="0">
                                          <p:val>
                                            <p:strVal val="0"/>
                                          </p:val>
                                        </p:tav>
                                        <p:tav fmla="" tm="100000">
                                          <p:val>
                                            <p:strVal val="#ppt_w"/>
                                          </p:val>
                                        </p:tav>
                                      </p:tavLst>
                                    </p:anim>
                                    <p:anim calcmode="lin" valueType="num">
                                      <p:cBhvr additive="base">
                                        <p:cTn dur="500"/>
                                        <p:tgtEl>
                                          <p:spTgt spid="483"/>
                                        </p:tgtEl>
                                        <p:attrNameLst>
                                          <p:attrName>ppt_h</p:attrName>
                                        </p:attrNameLst>
                                      </p:cBhvr>
                                      <p:tavLst>
                                        <p:tav fmla="" tm="0">
                                          <p:val>
                                            <p:strVal val="0"/>
                                          </p:val>
                                        </p:tav>
                                        <p:tav fmla="" tm="100000">
                                          <p:val>
                                            <p:strVal val="#ppt_h"/>
                                          </p:val>
                                        </p:tav>
                                      </p:tavLst>
                                    </p:anim>
                                  </p:childTnLst>
                                </p:cTn>
                              </p:par>
                            </p:childTnLst>
                          </p:cTn>
                        </p:par>
                        <p:par>
                          <p:cTn fill="hold">
                            <p:stCondLst>
                              <p:cond delay="5000"/>
                            </p:stCondLst>
                            <p:childTnLst>
                              <p:par>
                                <p:cTn fill="hold" nodeType="afterEffect" presetClass="entr" presetID="2" presetSubtype="2">
                                  <p:stCondLst>
                                    <p:cond delay="0"/>
                                  </p:stCondLst>
                                  <p:childTnLst>
                                    <p:set>
                                      <p:cBhvr>
                                        <p:cTn dur="1" fill="hold">
                                          <p:stCondLst>
                                            <p:cond delay="0"/>
                                          </p:stCondLst>
                                        </p:cTn>
                                        <p:tgtEl>
                                          <p:spTgt spid="490"/>
                                        </p:tgtEl>
                                        <p:attrNameLst>
                                          <p:attrName>style.visibility</p:attrName>
                                        </p:attrNameLst>
                                      </p:cBhvr>
                                      <p:to>
                                        <p:strVal val="visible"/>
                                      </p:to>
                                    </p:set>
                                    <p:anim calcmode="lin" valueType="num">
                                      <p:cBhvr additive="base">
                                        <p:cTn dur="500"/>
                                        <p:tgtEl>
                                          <p:spTgt spid="490"/>
                                        </p:tgtEl>
                                        <p:attrNameLst>
                                          <p:attrName>ppt_x</p:attrName>
                                        </p:attrNameLst>
                                      </p:cBhvr>
                                      <p:tavLst>
                                        <p:tav fmla="" tm="0">
                                          <p:val>
                                            <p:strVal val="#ppt_x+1"/>
                                          </p:val>
                                        </p:tav>
                                        <p:tav fmla="" tm="100000">
                                          <p:val>
                                            <p:strVal val="#ppt_x"/>
                                          </p:val>
                                        </p:tav>
                                      </p:tavLst>
                                    </p:anim>
                                  </p:childTnLst>
                                </p:cTn>
                              </p:par>
                            </p:childTnLst>
                          </p:cTn>
                        </p:par>
                        <p:par>
                          <p:cTn fill="hold">
                            <p:stCondLst>
                              <p:cond delay="5500"/>
                            </p:stCondLst>
                            <p:childTnLst>
                              <p:par>
                                <p:cTn fill="hold" nodeType="afterEffect" presetClass="entr" presetID="2" presetSubtype="2">
                                  <p:stCondLst>
                                    <p:cond delay="0"/>
                                  </p:stCondLst>
                                  <p:childTnLst>
                                    <p:set>
                                      <p:cBhvr>
                                        <p:cTn dur="1" fill="hold">
                                          <p:stCondLst>
                                            <p:cond delay="0"/>
                                          </p:stCondLst>
                                        </p:cTn>
                                        <p:tgtEl>
                                          <p:spTgt spid="491"/>
                                        </p:tgtEl>
                                        <p:attrNameLst>
                                          <p:attrName>style.visibility</p:attrName>
                                        </p:attrNameLst>
                                      </p:cBhvr>
                                      <p:to>
                                        <p:strVal val="visible"/>
                                      </p:to>
                                    </p:set>
                                    <p:anim calcmode="lin" valueType="num">
                                      <p:cBhvr additive="base">
                                        <p:cTn dur="500"/>
                                        <p:tgtEl>
                                          <p:spTgt spid="491"/>
                                        </p:tgtEl>
                                        <p:attrNameLst>
                                          <p:attrName>ppt_x</p:attrName>
                                        </p:attrNameLst>
                                      </p:cBhvr>
                                      <p:tavLst>
                                        <p:tav fmla="" tm="0">
                                          <p:val>
                                            <p:strVal val="#ppt_x+1"/>
                                          </p:val>
                                        </p:tav>
                                        <p:tav fmla="" tm="100000">
                                          <p:val>
                                            <p:strVal val="#ppt_x"/>
                                          </p:val>
                                        </p:tav>
                                      </p:tavLst>
                                    </p:anim>
                                  </p:childTnLst>
                                </p:cTn>
                              </p:par>
                            </p:childTnLst>
                          </p:cTn>
                        </p:par>
                        <p:par>
                          <p:cTn fill="hold">
                            <p:stCondLst>
                              <p:cond delay="6000"/>
                            </p:stCondLst>
                            <p:childTnLst>
                              <p:par>
                                <p:cTn fill="hold" nodeType="afterEffect" presetClass="entr" presetID="10" presetSubtype="0">
                                  <p:stCondLst>
                                    <p:cond delay="0"/>
                                  </p:stCondLst>
                                  <p:childTnLst>
                                    <p:set>
                                      <p:cBhvr>
                                        <p:cTn dur="1" fill="hold">
                                          <p:stCondLst>
                                            <p:cond delay="0"/>
                                          </p:stCondLst>
                                        </p:cTn>
                                        <p:tgtEl>
                                          <p:spTgt spid="488"/>
                                        </p:tgtEl>
                                        <p:attrNameLst>
                                          <p:attrName>style.visibility</p:attrName>
                                        </p:attrNameLst>
                                      </p:cBhvr>
                                      <p:to>
                                        <p:strVal val="visible"/>
                                      </p:to>
                                    </p:set>
                                    <p:animEffect filter="fade" transition="in">
                                      <p:cBhvr>
                                        <p:cTn dur="500"/>
                                        <p:tgtEl>
                                          <p:spTgt spid="4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8A0DB"/>
        </a:solidFill>
      </p:bgPr>
    </p:bg>
    <p:spTree>
      <p:nvGrpSpPr>
        <p:cNvPr id="495" name="Shape 495"/>
        <p:cNvGrpSpPr/>
        <p:nvPr/>
      </p:nvGrpSpPr>
      <p:grpSpPr>
        <a:xfrm>
          <a:off x="0" y="0"/>
          <a:ext cx="0" cy="0"/>
          <a:chOff x="0" y="0"/>
          <a:chExt cx="0" cy="0"/>
        </a:xfrm>
      </p:grpSpPr>
      <p:sp>
        <p:nvSpPr>
          <p:cNvPr id="496" name="Google Shape;496;p33"/>
          <p:cNvSpPr txBox="1"/>
          <p:nvPr/>
        </p:nvSpPr>
        <p:spPr>
          <a:xfrm>
            <a:off x="755647" y="738107"/>
            <a:ext cx="304482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rgbClr val="3DB7FE"/>
              </a:buClr>
              <a:buSzPts val="2400"/>
              <a:buFont typeface="Roboto"/>
              <a:buNone/>
            </a:pPr>
            <a:r>
              <a:rPr b="1" lang="en-GB" sz="2400">
                <a:solidFill>
                  <a:srgbClr val="3DB7FE"/>
                </a:solidFill>
                <a:latin typeface="Roboto"/>
                <a:ea typeface="Roboto"/>
                <a:cs typeface="Roboto"/>
                <a:sym typeface="Roboto"/>
              </a:rPr>
              <a:t>Rock, Paper, Scissors</a:t>
            </a:r>
            <a:endParaRPr/>
          </a:p>
        </p:txBody>
      </p:sp>
      <p:sp>
        <p:nvSpPr>
          <p:cNvPr id="497" name="Google Shape;497;p33"/>
          <p:cNvSpPr/>
          <p:nvPr/>
        </p:nvSpPr>
        <p:spPr>
          <a:xfrm rot="-5400000">
            <a:off x="1240168" y="651466"/>
            <a:ext cx="384149" cy="1513209"/>
          </a:xfrm>
          <a:prstGeom prst="rect">
            <a:avLst/>
          </a:prstGeom>
          <a:gradFill>
            <a:gsLst>
              <a:gs pos="0">
                <a:srgbClr val="00C800"/>
              </a:gs>
              <a:gs pos="100000">
                <a:srgbClr val="3EB6FD"/>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498" name="Google Shape;498;p33"/>
          <p:cNvSpPr/>
          <p:nvPr/>
        </p:nvSpPr>
        <p:spPr>
          <a:xfrm>
            <a:off x="576261" y="1708701"/>
            <a:ext cx="7574615" cy="4708981"/>
          </a:xfrm>
          <a:prstGeom prst="rect">
            <a:avLst/>
          </a:prstGeom>
          <a:noFill/>
          <a:ln>
            <a:noFill/>
          </a:ln>
        </p:spPr>
        <p:txBody>
          <a:bodyPr anchorCtr="0" anchor="t" bIns="0" lIns="0" spcFirstLastPara="1" rIns="0" wrap="square" tIns="0">
            <a:noAutofit/>
          </a:bodyPr>
          <a:lstStyle/>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Click the </a:t>
            </a:r>
            <a:r>
              <a:rPr b="1" lang="en-GB" sz="1800">
                <a:solidFill>
                  <a:srgbClr val="3DB7FE"/>
                </a:solidFill>
                <a:latin typeface="Roboto"/>
                <a:ea typeface="Roboto"/>
                <a:cs typeface="Roboto"/>
                <a:sym typeface="Roboto"/>
              </a:rPr>
              <a:t>plus</a:t>
            </a:r>
            <a:r>
              <a:rPr lang="en-GB" sz="1800">
                <a:solidFill>
                  <a:schemeClr val="dk1"/>
                </a:solidFill>
                <a:latin typeface="Roboto"/>
                <a:ea typeface="Roboto"/>
                <a:cs typeface="Roboto"/>
                <a:sym typeface="Roboto"/>
              </a:rPr>
              <a:t> symbol below the </a:t>
            </a:r>
            <a:r>
              <a:rPr b="1" lang="en-GB" sz="1800">
                <a:solidFill>
                  <a:srgbClr val="3DB7FE"/>
                </a:solidFill>
                <a:latin typeface="Roboto"/>
                <a:ea typeface="Roboto"/>
                <a:cs typeface="Roboto"/>
                <a:sym typeface="Roboto"/>
              </a:rPr>
              <a:t>else</a:t>
            </a:r>
            <a:r>
              <a:rPr lang="en-GB" sz="1800">
                <a:solidFill>
                  <a:schemeClr val="dk1"/>
                </a:solidFill>
                <a:latin typeface="Roboto"/>
                <a:ea typeface="Roboto"/>
                <a:cs typeface="Roboto"/>
                <a:sym typeface="Roboto"/>
              </a:rPr>
              <a:t> in the </a:t>
            </a:r>
            <a:r>
              <a:rPr b="1" lang="en-GB" sz="1800">
                <a:solidFill>
                  <a:srgbClr val="3DB7FE"/>
                </a:solidFill>
                <a:latin typeface="Roboto"/>
                <a:ea typeface="Roboto"/>
                <a:cs typeface="Roboto"/>
                <a:sym typeface="Roboto"/>
              </a:rPr>
              <a:t>if…then…else Logic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Right-click the </a:t>
            </a:r>
            <a:r>
              <a:rPr b="1" lang="en-GB" sz="1800">
                <a:solidFill>
                  <a:srgbClr val="3DB7FE"/>
                </a:solidFill>
                <a:latin typeface="Roboto"/>
                <a:ea typeface="Roboto"/>
                <a:cs typeface="Roboto"/>
                <a:sym typeface="Roboto"/>
              </a:rPr>
              <a:t>tool</a:t>
            </a:r>
            <a:r>
              <a:rPr lang="en-GB" sz="1800">
                <a:solidFill>
                  <a:schemeClr val="dk1"/>
                </a:solidFill>
                <a:latin typeface="Roboto"/>
                <a:ea typeface="Roboto"/>
                <a:cs typeface="Roboto"/>
                <a:sym typeface="Roboto"/>
              </a:rPr>
              <a:t> </a:t>
            </a:r>
            <a:r>
              <a:rPr b="1" lang="en-GB" sz="1800">
                <a:solidFill>
                  <a:srgbClr val="3DB7FE"/>
                </a:solidFill>
                <a:latin typeface="Roboto"/>
                <a:ea typeface="Roboto"/>
                <a:cs typeface="Roboto"/>
                <a:sym typeface="Roboto"/>
              </a:rPr>
              <a:t>= 0 </a:t>
            </a:r>
            <a:r>
              <a:rPr lang="en-GB" sz="1800">
                <a:solidFill>
                  <a:schemeClr val="dk1"/>
                </a:solidFill>
                <a:latin typeface="Roboto"/>
                <a:ea typeface="Roboto"/>
                <a:cs typeface="Roboto"/>
                <a:sym typeface="Roboto"/>
              </a:rPr>
              <a:t>block, select </a:t>
            </a:r>
            <a:br>
              <a:rPr lang="en-GB" sz="1800">
                <a:solidFill>
                  <a:schemeClr val="dk1"/>
                </a:solidFill>
                <a:latin typeface="Roboto"/>
                <a:ea typeface="Roboto"/>
                <a:cs typeface="Roboto"/>
                <a:sym typeface="Roboto"/>
              </a:rPr>
            </a:br>
            <a:r>
              <a:rPr b="1" lang="en-GB" sz="1800">
                <a:solidFill>
                  <a:srgbClr val="3DB7FE"/>
                </a:solidFill>
                <a:latin typeface="Roboto"/>
                <a:ea typeface="Roboto"/>
                <a:cs typeface="Roboto"/>
                <a:sym typeface="Roboto"/>
              </a:rPr>
              <a:t>Duplicate</a:t>
            </a:r>
            <a:r>
              <a:rPr lang="en-GB" sz="1800">
                <a:solidFill>
                  <a:schemeClr val="dk1"/>
                </a:solidFill>
                <a:latin typeface="Roboto"/>
                <a:ea typeface="Roboto"/>
                <a:cs typeface="Roboto"/>
                <a:sym typeface="Roboto"/>
              </a:rPr>
              <a:t> and change the 0 to be a </a:t>
            </a:r>
            <a:r>
              <a:rPr b="1" lang="en-GB" sz="1800">
                <a:solidFill>
                  <a:srgbClr val="3DB7FE"/>
                </a:solidFill>
                <a:latin typeface="Roboto"/>
                <a:ea typeface="Roboto"/>
                <a:cs typeface="Roboto"/>
                <a:sym typeface="Roboto"/>
              </a:rPr>
              <a:t>1</a:t>
            </a:r>
            <a:r>
              <a:rPr lang="en-GB" sz="1800">
                <a:solidFill>
                  <a:schemeClr val="dk1"/>
                </a:solidFill>
                <a:latin typeface="Roboto"/>
                <a:ea typeface="Roboto"/>
                <a:cs typeface="Roboto"/>
                <a:sym typeface="Roboto"/>
              </a:rPr>
              <a:t>.</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Slot this duplicated block over</a:t>
            </a:r>
            <a:r>
              <a:rPr b="1" lang="en-GB" sz="1800">
                <a:solidFill>
                  <a:srgbClr val="3DB7FE"/>
                </a:solidFill>
                <a:latin typeface="Roboto"/>
                <a:ea typeface="Roboto"/>
                <a:cs typeface="Roboto"/>
                <a:sym typeface="Roboto"/>
              </a:rPr>
              <a:t> true</a:t>
            </a:r>
            <a:r>
              <a:rPr lang="en-GB" sz="1800">
                <a:solidFill>
                  <a:schemeClr val="dk1"/>
                </a:solidFill>
                <a:latin typeface="Roboto"/>
                <a:ea typeface="Roboto"/>
                <a:cs typeface="Roboto"/>
                <a:sym typeface="Roboto"/>
              </a:rPr>
              <a:t> on the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second space in the </a:t>
            </a:r>
            <a:r>
              <a:rPr b="1" lang="en-GB" sz="1800">
                <a:solidFill>
                  <a:srgbClr val="3DB7FE"/>
                </a:solidFill>
                <a:latin typeface="Roboto"/>
                <a:ea typeface="Roboto"/>
                <a:cs typeface="Roboto"/>
                <a:sym typeface="Roboto"/>
              </a:rPr>
              <a:t>if…then…else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Select three </a:t>
            </a:r>
            <a:r>
              <a:rPr b="1" lang="en-GB" sz="1800">
                <a:solidFill>
                  <a:srgbClr val="3DB7FE"/>
                </a:solidFill>
                <a:latin typeface="Roboto"/>
                <a:ea typeface="Roboto"/>
                <a:cs typeface="Roboto"/>
                <a:sym typeface="Roboto"/>
              </a:rPr>
              <a:t>show icon Basic </a:t>
            </a:r>
            <a:r>
              <a:rPr lang="en-GB" sz="1800">
                <a:solidFill>
                  <a:schemeClr val="dk1"/>
                </a:solidFill>
                <a:latin typeface="Roboto"/>
                <a:ea typeface="Roboto"/>
                <a:cs typeface="Roboto"/>
                <a:sym typeface="Roboto"/>
              </a:rPr>
              <a:t>blocks and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place these in the </a:t>
            </a:r>
            <a:r>
              <a:rPr b="1" lang="en-GB" sz="1800">
                <a:solidFill>
                  <a:srgbClr val="3DB7FE"/>
                </a:solidFill>
                <a:latin typeface="Roboto"/>
                <a:ea typeface="Roboto"/>
                <a:cs typeface="Roboto"/>
                <a:sym typeface="Roboto"/>
              </a:rPr>
              <a:t>if…then…else </a:t>
            </a:r>
            <a:r>
              <a:rPr lang="en-GB" sz="1800">
                <a:solidFill>
                  <a:schemeClr val="dk1"/>
                </a:solidFill>
                <a:latin typeface="Roboto"/>
                <a:ea typeface="Roboto"/>
                <a:cs typeface="Roboto"/>
                <a:sym typeface="Roboto"/>
              </a:rPr>
              <a:t>block.</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Change the icons in the drop-down menus </a:t>
            </a:r>
            <a:br>
              <a:rPr lang="en-GB" sz="1800">
                <a:solidFill>
                  <a:schemeClr val="dk1"/>
                </a:solidFill>
                <a:latin typeface="Roboto"/>
                <a:ea typeface="Roboto"/>
                <a:cs typeface="Roboto"/>
                <a:sym typeface="Roboto"/>
              </a:rPr>
            </a:br>
            <a:r>
              <a:rPr lang="en-GB" sz="1800">
                <a:solidFill>
                  <a:schemeClr val="dk1"/>
                </a:solidFill>
                <a:latin typeface="Roboto"/>
                <a:ea typeface="Roboto"/>
                <a:cs typeface="Roboto"/>
                <a:sym typeface="Roboto"/>
              </a:rPr>
              <a:t>to represent a rock, paper and scissors.</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Roboto"/>
                <a:ea typeface="Roboto"/>
                <a:cs typeface="Roboto"/>
                <a:sym typeface="Roboto"/>
              </a:rPr>
              <a:t>Test your code using the </a:t>
            </a:r>
            <a:r>
              <a:rPr b="1" lang="en-GB" sz="1800">
                <a:solidFill>
                  <a:srgbClr val="3DB7FE"/>
                </a:solidFill>
                <a:latin typeface="Roboto"/>
                <a:ea typeface="Roboto"/>
                <a:cs typeface="Roboto"/>
                <a:sym typeface="Roboto"/>
              </a:rPr>
              <a:t>simulator</a:t>
            </a:r>
            <a:r>
              <a:rPr lang="en-GB" sz="1800">
                <a:solidFill>
                  <a:schemeClr val="dk1"/>
                </a:solidFill>
                <a:latin typeface="Roboto"/>
                <a:ea typeface="Roboto"/>
                <a:cs typeface="Roboto"/>
                <a:sym typeface="Roboto"/>
              </a:rPr>
              <a:t>.</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Roboto"/>
              <a:ea typeface="Roboto"/>
              <a:cs typeface="Roboto"/>
              <a:sym typeface="Roboto"/>
            </a:endParaRPr>
          </a:p>
          <a:p>
            <a:pPr indent="-285750" lvl="0" marL="285750" marR="0" rtl="0" algn="l">
              <a:spcBef>
                <a:spcPts val="0"/>
              </a:spcBef>
              <a:spcAft>
                <a:spcPts val="0"/>
              </a:spcAft>
              <a:buClr>
                <a:schemeClr val="dk1"/>
              </a:buClr>
              <a:buSzPts val="1800"/>
              <a:buFont typeface="Arial"/>
              <a:buChar char="•"/>
            </a:pPr>
            <a:r>
              <a:rPr b="1" lang="en-GB" sz="1800">
                <a:solidFill>
                  <a:srgbClr val="3DB7FE"/>
                </a:solidFill>
                <a:latin typeface="Roboto"/>
                <a:ea typeface="Roboto"/>
                <a:cs typeface="Roboto"/>
                <a:sym typeface="Roboto"/>
              </a:rPr>
              <a:t>Download</a:t>
            </a:r>
            <a:r>
              <a:rPr lang="en-GB" sz="1800">
                <a:solidFill>
                  <a:schemeClr val="dk1"/>
                </a:solidFill>
                <a:latin typeface="Roboto"/>
                <a:ea typeface="Roboto"/>
                <a:cs typeface="Roboto"/>
                <a:sym typeface="Roboto"/>
              </a:rPr>
              <a:t> your program on to your micro:bit.</a:t>
            </a:r>
            <a:endParaRPr/>
          </a:p>
        </p:txBody>
      </p:sp>
      <p:sp>
        <p:nvSpPr>
          <p:cNvPr id="499" name="Google Shape;499;p33"/>
          <p:cNvSpPr/>
          <p:nvPr/>
        </p:nvSpPr>
        <p:spPr>
          <a:xfrm>
            <a:off x="755650" y="1273972"/>
            <a:ext cx="1433195" cy="2769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b="1" lang="en-GB" sz="1800">
                <a:solidFill>
                  <a:schemeClr val="lt1"/>
                </a:solidFill>
                <a:latin typeface="Roboto"/>
                <a:ea typeface="Roboto"/>
                <a:cs typeface="Roboto"/>
                <a:sym typeface="Roboto"/>
              </a:rPr>
              <a:t>Instructions:</a:t>
            </a:r>
            <a:endParaRPr sz="1800">
              <a:solidFill>
                <a:schemeClr val="lt1"/>
              </a:solidFill>
              <a:latin typeface="Roboto"/>
              <a:ea typeface="Roboto"/>
              <a:cs typeface="Roboto"/>
              <a:sym typeface="Roboto"/>
            </a:endParaRPr>
          </a:p>
        </p:txBody>
      </p:sp>
      <p:pic>
        <p:nvPicPr>
          <p:cNvPr id="500" name="Google Shape;500;p33"/>
          <p:cNvPicPr preferRelativeResize="0"/>
          <p:nvPr/>
        </p:nvPicPr>
        <p:blipFill rotWithShape="1">
          <a:blip r:embed="rId3">
            <a:alphaModFix/>
          </a:blip>
          <a:srcRect b="0" l="0" r="0" t="0"/>
          <a:stretch/>
        </p:blipFill>
        <p:spPr>
          <a:xfrm>
            <a:off x="5209273" y="2038752"/>
            <a:ext cx="1418369" cy="4048878"/>
          </a:xfrm>
          <a:prstGeom prst="rect">
            <a:avLst/>
          </a:prstGeom>
          <a:noFill/>
          <a:ln>
            <a:noFill/>
          </a:ln>
        </p:spPr>
      </p:pic>
      <p:pic>
        <p:nvPicPr>
          <p:cNvPr id="501" name="Google Shape;501;p33"/>
          <p:cNvPicPr preferRelativeResize="0"/>
          <p:nvPr/>
        </p:nvPicPr>
        <p:blipFill rotWithShape="1">
          <a:blip r:embed="rId4">
            <a:alphaModFix/>
          </a:blip>
          <a:srcRect b="0" l="0" r="0" t="0"/>
          <a:stretch/>
        </p:blipFill>
        <p:spPr>
          <a:xfrm>
            <a:off x="5409109" y="2446682"/>
            <a:ext cx="3092509" cy="526632"/>
          </a:xfrm>
          <a:prstGeom prst="rect">
            <a:avLst/>
          </a:prstGeom>
          <a:noFill/>
          <a:ln>
            <a:noFill/>
          </a:ln>
        </p:spPr>
      </p:pic>
      <p:pic>
        <p:nvPicPr>
          <p:cNvPr id="502" name="Google Shape;502;p33"/>
          <p:cNvPicPr preferRelativeResize="0"/>
          <p:nvPr/>
        </p:nvPicPr>
        <p:blipFill rotWithShape="1">
          <a:blip r:embed="rId5">
            <a:alphaModFix/>
          </a:blip>
          <a:srcRect b="0" l="0" r="0" t="0"/>
          <a:stretch/>
        </p:blipFill>
        <p:spPr>
          <a:xfrm>
            <a:off x="5401700" y="2812221"/>
            <a:ext cx="2710823" cy="1599575"/>
          </a:xfrm>
          <a:prstGeom prst="rect">
            <a:avLst/>
          </a:prstGeom>
          <a:noFill/>
          <a:ln>
            <a:noFill/>
          </a:ln>
        </p:spPr>
      </p:pic>
      <p:pic>
        <p:nvPicPr>
          <p:cNvPr id="503" name="Google Shape;503;p33"/>
          <p:cNvPicPr preferRelativeResize="0"/>
          <p:nvPr/>
        </p:nvPicPr>
        <p:blipFill rotWithShape="1">
          <a:blip r:embed="rId6">
            <a:alphaModFix/>
          </a:blip>
          <a:srcRect b="0" l="0" r="0" t="0"/>
          <a:stretch/>
        </p:blipFill>
        <p:spPr>
          <a:xfrm>
            <a:off x="5409109" y="2812221"/>
            <a:ext cx="3232274" cy="3107126"/>
          </a:xfrm>
          <a:prstGeom prst="rect">
            <a:avLst/>
          </a:prstGeom>
          <a:noFill/>
          <a:ln>
            <a:noFill/>
          </a:ln>
        </p:spPr>
      </p:pic>
      <p:pic>
        <p:nvPicPr>
          <p:cNvPr id="504" name="Google Shape;504;p33"/>
          <p:cNvPicPr preferRelativeResize="0"/>
          <p:nvPr/>
        </p:nvPicPr>
        <p:blipFill rotWithShape="1">
          <a:blip r:embed="rId7">
            <a:alphaModFix/>
          </a:blip>
          <a:srcRect b="0" l="0" r="0" t="0"/>
          <a:stretch/>
        </p:blipFill>
        <p:spPr>
          <a:xfrm>
            <a:off x="5464325" y="3229963"/>
            <a:ext cx="1672958" cy="718306"/>
          </a:xfrm>
          <a:prstGeom prst="rect">
            <a:avLst/>
          </a:prstGeom>
          <a:noFill/>
          <a:ln>
            <a:noFill/>
          </a:ln>
        </p:spPr>
      </p:pic>
      <p:pic>
        <p:nvPicPr>
          <p:cNvPr id="505" name="Google Shape;505;p33"/>
          <p:cNvPicPr preferRelativeResize="0"/>
          <p:nvPr/>
        </p:nvPicPr>
        <p:blipFill rotWithShape="1">
          <a:blip r:embed="rId8">
            <a:alphaModFix/>
          </a:blip>
          <a:srcRect b="0" l="0" r="0" t="0"/>
          <a:stretch/>
        </p:blipFill>
        <p:spPr>
          <a:xfrm>
            <a:off x="5502450" y="4150419"/>
            <a:ext cx="1657268" cy="718306"/>
          </a:xfrm>
          <a:prstGeom prst="rect">
            <a:avLst/>
          </a:prstGeom>
          <a:noFill/>
          <a:ln>
            <a:noFill/>
          </a:ln>
        </p:spPr>
      </p:pic>
      <p:pic>
        <p:nvPicPr>
          <p:cNvPr id="506" name="Google Shape;506;p33"/>
          <p:cNvPicPr preferRelativeResize="0"/>
          <p:nvPr/>
        </p:nvPicPr>
        <p:blipFill rotWithShape="1">
          <a:blip r:embed="rId9">
            <a:alphaModFix/>
          </a:blip>
          <a:srcRect b="0" l="0" r="0" t="0"/>
          <a:stretch/>
        </p:blipFill>
        <p:spPr>
          <a:xfrm>
            <a:off x="5472869" y="4992152"/>
            <a:ext cx="1619534" cy="71830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0" st="0"/>
                                            </p:txEl>
                                          </p:spTgt>
                                        </p:tgtEl>
                                        <p:attrNameLst>
                                          <p:attrName>style.visibility</p:attrName>
                                        </p:attrNameLst>
                                      </p:cBhvr>
                                      <p:to>
                                        <p:strVal val="visible"/>
                                      </p:to>
                                    </p:set>
                                    <p:animEffect filter="fade" transition="in">
                                      <p:cBhvr>
                                        <p:cTn dur="500"/>
                                        <p:tgtEl>
                                          <p:spTgt spid="49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1" st="1"/>
                                            </p:txEl>
                                          </p:spTgt>
                                        </p:tgtEl>
                                        <p:attrNameLst>
                                          <p:attrName>style.visibility</p:attrName>
                                        </p:attrNameLst>
                                      </p:cBhvr>
                                      <p:to>
                                        <p:strVal val="visible"/>
                                      </p:to>
                                    </p:set>
                                    <p:animEffect filter="fade" transition="in">
                                      <p:cBhvr>
                                        <p:cTn dur="500"/>
                                        <p:tgtEl>
                                          <p:spTgt spid="49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2" st="2"/>
                                            </p:txEl>
                                          </p:spTgt>
                                        </p:tgtEl>
                                        <p:attrNameLst>
                                          <p:attrName>style.visibility</p:attrName>
                                        </p:attrNameLst>
                                      </p:cBhvr>
                                      <p:to>
                                        <p:strVal val="visible"/>
                                      </p:to>
                                    </p:set>
                                    <p:animEffect filter="fade" transition="in">
                                      <p:cBhvr>
                                        <p:cTn dur="500"/>
                                        <p:tgtEl>
                                          <p:spTgt spid="498">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3" st="3"/>
                                            </p:txEl>
                                          </p:spTgt>
                                        </p:tgtEl>
                                        <p:attrNameLst>
                                          <p:attrName>style.visibility</p:attrName>
                                        </p:attrNameLst>
                                      </p:cBhvr>
                                      <p:to>
                                        <p:strVal val="visible"/>
                                      </p:to>
                                    </p:set>
                                    <p:animEffect filter="fade" transition="in">
                                      <p:cBhvr>
                                        <p:cTn dur="500"/>
                                        <p:tgtEl>
                                          <p:spTgt spid="498">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4" st="4"/>
                                            </p:txEl>
                                          </p:spTgt>
                                        </p:tgtEl>
                                        <p:attrNameLst>
                                          <p:attrName>style.visibility</p:attrName>
                                        </p:attrNameLst>
                                      </p:cBhvr>
                                      <p:to>
                                        <p:strVal val="visible"/>
                                      </p:to>
                                    </p:set>
                                    <p:animEffect filter="fade" transition="in">
                                      <p:cBhvr>
                                        <p:cTn dur="500"/>
                                        <p:tgtEl>
                                          <p:spTgt spid="498">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5" st="5"/>
                                            </p:txEl>
                                          </p:spTgt>
                                        </p:tgtEl>
                                        <p:attrNameLst>
                                          <p:attrName>style.visibility</p:attrName>
                                        </p:attrNameLst>
                                      </p:cBhvr>
                                      <p:to>
                                        <p:strVal val="visible"/>
                                      </p:to>
                                    </p:set>
                                    <p:animEffect filter="fade" transition="in">
                                      <p:cBhvr>
                                        <p:cTn dur="500"/>
                                        <p:tgtEl>
                                          <p:spTgt spid="498">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6" st="6"/>
                                            </p:txEl>
                                          </p:spTgt>
                                        </p:tgtEl>
                                        <p:attrNameLst>
                                          <p:attrName>style.visibility</p:attrName>
                                        </p:attrNameLst>
                                      </p:cBhvr>
                                      <p:to>
                                        <p:strVal val="visible"/>
                                      </p:to>
                                    </p:set>
                                    <p:animEffect filter="fade" transition="in">
                                      <p:cBhvr>
                                        <p:cTn dur="500"/>
                                        <p:tgtEl>
                                          <p:spTgt spid="498">
                                            <p:txEl>
                                              <p:pRg end="6" st="6"/>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7" st="7"/>
                                            </p:txEl>
                                          </p:spTgt>
                                        </p:tgtEl>
                                        <p:attrNameLst>
                                          <p:attrName>style.visibility</p:attrName>
                                        </p:attrNameLst>
                                      </p:cBhvr>
                                      <p:to>
                                        <p:strVal val="visible"/>
                                      </p:to>
                                    </p:set>
                                    <p:animEffect filter="fade" transition="in">
                                      <p:cBhvr>
                                        <p:cTn dur="500"/>
                                        <p:tgtEl>
                                          <p:spTgt spid="498">
                                            <p:txEl>
                                              <p:pRg end="7" st="7"/>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8" st="8"/>
                                            </p:txEl>
                                          </p:spTgt>
                                        </p:tgtEl>
                                        <p:attrNameLst>
                                          <p:attrName>style.visibility</p:attrName>
                                        </p:attrNameLst>
                                      </p:cBhvr>
                                      <p:to>
                                        <p:strVal val="visible"/>
                                      </p:to>
                                    </p:set>
                                    <p:animEffect filter="fade" transition="in">
                                      <p:cBhvr>
                                        <p:cTn dur="500"/>
                                        <p:tgtEl>
                                          <p:spTgt spid="498">
                                            <p:txEl>
                                              <p:pRg end="8" st="8"/>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9" st="9"/>
                                            </p:txEl>
                                          </p:spTgt>
                                        </p:tgtEl>
                                        <p:attrNameLst>
                                          <p:attrName>style.visibility</p:attrName>
                                        </p:attrNameLst>
                                      </p:cBhvr>
                                      <p:to>
                                        <p:strVal val="visible"/>
                                      </p:to>
                                    </p:set>
                                    <p:animEffect filter="fade" transition="in">
                                      <p:cBhvr>
                                        <p:cTn dur="500"/>
                                        <p:tgtEl>
                                          <p:spTgt spid="498">
                                            <p:txEl>
                                              <p:pRg end="9" st="9"/>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10" st="10"/>
                                            </p:txEl>
                                          </p:spTgt>
                                        </p:tgtEl>
                                        <p:attrNameLst>
                                          <p:attrName>style.visibility</p:attrName>
                                        </p:attrNameLst>
                                      </p:cBhvr>
                                      <p:to>
                                        <p:strVal val="visible"/>
                                      </p:to>
                                    </p:set>
                                    <p:animEffect filter="fade" transition="in">
                                      <p:cBhvr>
                                        <p:cTn dur="500"/>
                                        <p:tgtEl>
                                          <p:spTgt spid="498">
                                            <p:txEl>
                                              <p:pRg end="10" st="1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11" st="11"/>
                                            </p:txEl>
                                          </p:spTgt>
                                        </p:tgtEl>
                                        <p:attrNameLst>
                                          <p:attrName>style.visibility</p:attrName>
                                        </p:attrNameLst>
                                      </p:cBhvr>
                                      <p:to>
                                        <p:strVal val="visible"/>
                                      </p:to>
                                    </p:set>
                                    <p:animEffect filter="fade" transition="in">
                                      <p:cBhvr>
                                        <p:cTn dur="500"/>
                                        <p:tgtEl>
                                          <p:spTgt spid="498">
                                            <p:txEl>
                                              <p:pRg end="11" st="1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98">
                                            <p:txEl>
                                              <p:pRg end="12" st="12"/>
                                            </p:txEl>
                                          </p:spTgt>
                                        </p:tgtEl>
                                        <p:attrNameLst>
                                          <p:attrName>style.visibility</p:attrName>
                                        </p:attrNameLst>
                                      </p:cBhvr>
                                      <p:to>
                                        <p:strVal val="visible"/>
                                      </p:to>
                                    </p:set>
                                    <p:animEffect filter="fade" transition="in">
                                      <p:cBhvr>
                                        <p:cTn dur="500"/>
                                        <p:tgtEl>
                                          <p:spTgt spid="498">
                                            <p:txEl>
                                              <p:pRg end="12" st="12"/>
                                            </p:txEl>
                                          </p:spTgt>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502"/>
                                        </p:tgtEl>
                                      </p:cBhvr>
                                    </p:animEffect>
                                    <p:set>
                                      <p:cBhvr>
                                        <p:cTn dur="1" fill="hold">
                                          <p:stCondLst>
                                            <p:cond delay="500"/>
                                          </p:stCondLst>
                                        </p:cTn>
                                        <p:tgtEl>
                                          <p:spTgt spid="50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503"/>
                                        </p:tgtEl>
                                        <p:attrNameLst>
                                          <p:attrName>style.visibility</p:attrName>
                                        </p:attrNameLst>
                                      </p:cBhvr>
                                      <p:to>
                                        <p:strVal val="visible"/>
                                      </p:to>
                                    </p:set>
                                    <p:animEffect filter="fade" transition="in">
                                      <p:cBhvr>
                                        <p:cTn dur="500"/>
                                        <p:tgtEl>
                                          <p:spTgt spid="503"/>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504"/>
                                        </p:tgtEl>
                                        <p:attrNameLst>
                                          <p:attrName>style.visibility</p:attrName>
                                        </p:attrNameLst>
                                      </p:cBhvr>
                                      <p:to>
                                        <p:strVal val="visible"/>
                                      </p:to>
                                    </p:set>
                                    <p:animEffect filter="fade" transition="in">
                                      <p:cBhvr>
                                        <p:cTn dur="500"/>
                                        <p:tgtEl>
                                          <p:spTgt spid="504"/>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505"/>
                                        </p:tgtEl>
                                        <p:attrNameLst>
                                          <p:attrName>style.visibility</p:attrName>
                                        </p:attrNameLst>
                                      </p:cBhvr>
                                      <p:to>
                                        <p:strVal val="visible"/>
                                      </p:to>
                                    </p:set>
                                    <p:animEffect filter="fade" transition="in">
                                      <p:cBhvr>
                                        <p:cTn dur="500"/>
                                        <p:tgtEl>
                                          <p:spTgt spid="505"/>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506"/>
                                        </p:tgtEl>
                                        <p:attrNameLst>
                                          <p:attrName>style.visibility</p:attrName>
                                        </p:attrNameLst>
                                      </p:cBhvr>
                                      <p:to>
                                        <p:strVal val="visible"/>
                                      </p:to>
                                    </p:set>
                                    <p:animEffect filter="fade" transition="in">
                                      <p:cBhvr>
                                        <p:cTn dur="500"/>
                                        <p:tgtEl>
                                          <p:spTgt spid="5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C4BC1"/>
        </a:solidFill>
      </p:bgPr>
    </p:bg>
    <p:spTree>
      <p:nvGrpSpPr>
        <p:cNvPr id="510" name="Shape 510"/>
        <p:cNvGrpSpPr/>
        <p:nvPr/>
      </p:nvGrpSpPr>
      <p:grpSpPr>
        <a:xfrm>
          <a:off x="0" y="0"/>
          <a:ext cx="0" cy="0"/>
          <a:chOff x="0" y="0"/>
          <a:chExt cx="0" cy="0"/>
        </a:xfrm>
      </p:grpSpPr>
      <p:sp>
        <p:nvSpPr>
          <p:cNvPr id="511" name="Google Shape;511;p34"/>
          <p:cNvSpPr/>
          <p:nvPr/>
        </p:nvSpPr>
        <p:spPr>
          <a:xfrm>
            <a:off x="576262" y="549275"/>
            <a:ext cx="7991476" cy="5759450"/>
          </a:xfrm>
          <a:prstGeom prst="roundRect">
            <a:avLst>
              <a:gd fmla="val 2676" name="adj"/>
            </a:avLst>
          </a:prstGeom>
          <a:gradFill>
            <a:gsLst>
              <a:gs pos="0">
                <a:srgbClr val="6C4BC1"/>
              </a:gs>
              <a:gs pos="100000">
                <a:srgbClr val="7BCDC2"/>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512" name="Google Shape;512;p34"/>
          <p:cNvSpPr/>
          <p:nvPr/>
        </p:nvSpPr>
        <p:spPr>
          <a:xfrm>
            <a:off x="755650" y="1531191"/>
            <a:ext cx="3044825"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lang="en-GB" sz="1800">
                <a:solidFill>
                  <a:schemeClr val="lt1"/>
                </a:solidFill>
                <a:latin typeface="Roboto"/>
                <a:ea typeface="Roboto"/>
                <a:cs typeface="Roboto"/>
                <a:sym typeface="Roboto"/>
              </a:rPr>
              <a:t>Create a new program where if </a:t>
            </a:r>
            <a:r>
              <a:rPr b="1" lang="en-GB" sz="1800">
                <a:solidFill>
                  <a:schemeClr val="lt1"/>
                </a:solidFill>
                <a:latin typeface="Roboto"/>
                <a:ea typeface="Roboto"/>
                <a:cs typeface="Roboto"/>
                <a:sym typeface="Roboto"/>
              </a:rPr>
              <a:t>button A</a:t>
            </a:r>
            <a:r>
              <a:rPr lang="en-GB" sz="1800">
                <a:solidFill>
                  <a:schemeClr val="lt1"/>
                </a:solidFill>
                <a:latin typeface="Roboto"/>
                <a:ea typeface="Roboto"/>
                <a:cs typeface="Roboto"/>
                <a:sym typeface="Roboto"/>
              </a:rPr>
              <a:t> is pressed a smiley face appears and if </a:t>
            </a:r>
            <a:r>
              <a:rPr b="1" lang="en-GB" sz="1800">
                <a:solidFill>
                  <a:schemeClr val="lt1"/>
                </a:solidFill>
                <a:latin typeface="Roboto"/>
                <a:ea typeface="Roboto"/>
                <a:cs typeface="Roboto"/>
                <a:sym typeface="Roboto"/>
              </a:rPr>
              <a:t>button B</a:t>
            </a:r>
            <a:r>
              <a:rPr lang="en-GB" sz="1800">
                <a:solidFill>
                  <a:schemeClr val="lt1"/>
                </a:solidFill>
                <a:latin typeface="Roboto"/>
                <a:ea typeface="Roboto"/>
                <a:cs typeface="Roboto"/>
                <a:sym typeface="Roboto"/>
              </a:rPr>
              <a:t> is pressed a sad face appears.</a:t>
            </a:r>
            <a:endParaRPr/>
          </a:p>
        </p:txBody>
      </p:sp>
      <p:sp>
        <p:nvSpPr>
          <p:cNvPr id="513" name="Google Shape;513;p34"/>
          <p:cNvSpPr/>
          <p:nvPr/>
        </p:nvSpPr>
        <p:spPr>
          <a:xfrm>
            <a:off x="4664710" y="1531191"/>
            <a:ext cx="3723640" cy="13849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800"/>
              <a:buFont typeface="Roboto"/>
              <a:buNone/>
            </a:pPr>
            <a:r>
              <a:rPr lang="en-GB" sz="1800">
                <a:solidFill>
                  <a:schemeClr val="lt1"/>
                </a:solidFill>
                <a:latin typeface="Roboto"/>
                <a:ea typeface="Roboto"/>
                <a:cs typeface="Roboto"/>
                <a:sym typeface="Roboto"/>
              </a:rPr>
              <a:t>The smiley face will represent true, the sad face will represent false. After each statement, press the button that corresponds to either the smiley or sad face.</a:t>
            </a:r>
            <a:endParaRPr/>
          </a:p>
        </p:txBody>
      </p:sp>
      <p:graphicFrame>
        <p:nvGraphicFramePr>
          <p:cNvPr id="514" name="Google Shape;514;p34"/>
          <p:cNvGraphicFramePr/>
          <p:nvPr/>
        </p:nvGraphicFramePr>
        <p:xfrm>
          <a:off x="755647" y="3275625"/>
          <a:ext cx="3000000" cy="3000000"/>
        </p:xfrm>
        <a:graphic>
          <a:graphicData uri="http://schemas.openxmlformats.org/drawingml/2006/table">
            <a:tbl>
              <a:tblPr>
                <a:noFill/>
                <a:tableStyleId>{B723C53E-BFF9-41A3-9265-173A0E94BE03}</a:tableStyleId>
              </a:tblPr>
              <a:tblGrid>
                <a:gridCol w="6913675"/>
                <a:gridCol w="719025"/>
              </a:tblGrid>
              <a:tr h="377200">
                <a:tc gridSpan="2">
                  <a:txBody>
                    <a:bodyPr/>
                    <a:lstStyle/>
                    <a:p>
                      <a:pPr indent="0" lvl="0" marL="0" marR="0" rtl="0" algn="ctr">
                        <a:spcBef>
                          <a:spcPts val="0"/>
                        </a:spcBef>
                        <a:spcAft>
                          <a:spcPts val="0"/>
                        </a:spcAft>
                        <a:buClr>
                          <a:schemeClr val="lt1"/>
                        </a:buClr>
                        <a:buSzPts val="1800"/>
                        <a:buFont typeface="Roboto"/>
                        <a:buNone/>
                      </a:pPr>
                      <a:r>
                        <a:rPr b="1" lang="en-GB" sz="1800" u="none" cap="none" strike="noStrike">
                          <a:solidFill>
                            <a:schemeClr val="lt1"/>
                          </a:solidFill>
                          <a:latin typeface="Roboto"/>
                          <a:ea typeface="Roboto"/>
                          <a:cs typeface="Roboto"/>
                          <a:sym typeface="Roboto"/>
                        </a:rPr>
                        <a:t>True or False?</a:t>
                      </a:r>
                      <a:endParaRPr b="1" sz="1800" u="none" cap="none" strike="noStrike">
                        <a:solidFill>
                          <a:schemeClr val="lt1"/>
                        </a:solidFill>
                        <a:latin typeface="Roboto"/>
                        <a:ea typeface="Roboto"/>
                        <a:cs typeface="Roboto"/>
                        <a:sym typeface="Roboto"/>
                      </a:endParaRPr>
                    </a:p>
                  </a:txBody>
                  <a:tcPr marT="91425" marB="91425" marR="91425" marL="91425">
                    <a:solidFill>
                      <a:srgbClr val="6C4BC1">
                        <a:alpha val="52549"/>
                      </a:srgbClr>
                    </a:solidFill>
                  </a:tcPr>
                </a:tc>
                <a:tc hMerge="1"/>
              </a:tr>
              <a:tr h="489025">
                <a:tc>
                  <a:txBody>
                    <a:bodyPr/>
                    <a:lstStyle/>
                    <a:p>
                      <a:pPr indent="0" lvl="0" marL="0" marR="0" rtl="0" algn="l">
                        <a:spcBef>
                          <a:spcPts val="0"/>
                        </a:spcBef>
                        <a:spcAft>
                          <a:spcPts val="0"/>
                        </a:spcAft>
                        <a:buClr>
                          <a:schemeClr val="dk1"/>
                        </a:buClr>
                        <a:buSzPts val="1600"/>
                        <a:buFont typeface="Roboto"/>
                        <a:buNone/>
                      </a:pPr>
                      <a:r>
                        <a:rPr lang="en-GB" sz="1600" u="none" cap="none" strike="noStrike">
                          <a:latin typeface="Roboto"/>
                          <a:ea typeface="Roboto"/>
                          <a:cs typeface="Roboto"/>
                          <a:sym typeface="Roboto"/>
                        </a:rPr>
                        <a:t>The process of putting a program on to the micro:bit is called flashing.</a:t>
                      </a:r>
                      <a:endParaRPr sz="1600" u="none" cap="none" strike="noStrike">
                        <a:latin typeface="Roboto"/>
                        <a:ea typeface="Roboto"/>
                        <a:cs typeface="Roboto"/>
                        <a:sym typeface="Roboto"/>
                      </a:endParaRPr>
                    </a:p>
                  </a:txBody>
                  <a:tcPr marT="91425" marB="91425" marR="91425" marL="91425" anchor="ctr">
                    <a:solidFill>
                      <a:schemeClr val="lt1">
                        <a:alpha val="61961"/>
                      </a:schemeClr>
                    </a:solidFill>
                  </a:tcPr>
                </a:tc>
                <a:tc>
                  <a:txBody>
                    <a:bodyPr/>
                    <a:lstStyle/>
                    <a:p>
                      <a:pPr indent="0" lvl="0" marL="0" marR="0" rtl="0" algn="l">
                        <a:spcBef>
                          <a:spcPts val="0"/>
                        </a:spcBef>
                        <a:spcAft>
                          <a:spcPts val="0"/>
                        </a:spcAft>
                        <a:buClr>
                          <a:schemeClr val="dk1"/>
                        </a:buClr>
                        <a:buSzPts val="1800"/>
                        <a:buFont typeface="Arial"/>
                        <a:buNone/>
                      </a:pPr>
                      <a:r>
                        <a:t/>
                      </a:r>
                      <a:endParaRPr sz="1800" u="none" cap="none" strike="noStrike">
                        <a:solidFill>
                          <a:srgbClr val="FF0000"/>
                        </a:solidFill>
                        <a:latin typeface="Roboto"/>
                        <a:ea typeface="Roboto"/>
                        <a:cs typeface="Roboto"/>
                        <a:sym typeface="Roboto"/>
                      </a:endParaRPr>
                    </a:p>
                  </a:txBody>
                  <a:tcPr marT="91425" marB="91425" marR="91425" marL="91425" anchor="ctr">
                    <a:solidFill>
                      <a:srgbClr val="7BCDC2"/>
                    </a:solidFill>
                  </a:tcPr>
                </a:tc>
              </a:tr>
              <a:tr h="489025">
                <a:tc>
                  <a:txBody>
                    <a:bodyPr/>
                    <a:lstStyle/>
                    <a:p>
                      <a:pPr indent="0" lvl="0" marL="0" marR="0" rtl="0" algn="l">
                        <a:spcBef>
                          <a:spcPts val="0"/>
                        </a:spcBef>
                        <a:spcAft>
                          <a:spcPts val="0"/>
                        </a:spcAft>
                        <a:buClr>
                          <a:schemeClr val="dk1"/>
                        </a:buClr>
                        <a:buSzPts val="1100"/>
                        <a:buFont typeface="Arial"/>
                        <a:buNone/>
                      </a:pPr>
                      <a:r>
                        <a:rPr lang="en-GB" sz="1600" u="none" cap="none" strike="noStrike">
                          <a:latin typeface="Roboto"/>
                          <a:ea typeface="Roboto"/>
                          <a:cs typeface="Roboto"/>
                          <a:sym typeface="Roboto"/>
                        </a:rPr>
                        <a:t>The micro:bit is limited to computing lessons.</a:t>
                      </a:r>
                      <a:endParaRPr sz="1600" u="none" cap="none" strike="noStrike">
                        <a:latin typeface="Roboto"/>
                        <a:ea typeface="Roboto"/>
                        <a:cs typeface="Roboto"/>
                        <a:sym typeface="Roboto"/>
                      </a:endParaRPr>
                    </a:p>
                  </a:txBody>
                  <a:tcPr marT="91425" marB="91425" marR="91425" marL="91425" anchor="ctr">
                    <a:solidFill>
                      <a:schemeClr val="lt1">
                        <a:alpha val="61961"/>
                      </a:schemeClr>
                    </a:solidFill>
                  </a:tcPr>
                </a:tc>
                <a:tc>
                  <a:txBody>
                    <a:bodyPr/>
                    <a:lstStyle/>
                    <a:p>
                      <a:pPr indent="0" lvl="0" marL="0" marR="0" rtl="0" algn="l">
                        <a:spcBef>
                          <a:spcPts val="0"/>
                        </a:spcBef>
                        <a:spcAft>
                          <a:spcPts val="0"/>
                        </a:spcAft>
                        <a:buClr>
                          <a:schemeClr val="dk1"/>
                        </a:buClr>
                        <a:buSzPts val="1800"/>
                        <a:buFont typeface="Arial"/>
                        <a:buNone/>
                      </a:pPr>
                      <a:r>
                        <a:t/>
                      </a:r>
                      <a:endParaRPr sz="1800" u="none" cap="none" strike="noStrike">
                        <a:solidFill>
                          <a:srgbClr val="FF0000"/>
                        </a:solidFill>
                        <a:latin typeface="Roboto"/>
                        <a:ea typeface="Roboto"/>
                        <a:cs typeface="Roboto"/>
                        <a:sym typeface="Roboto"/>
                      </a:endParaRPr>
                    </a:p>
                  </a:txBody>
                  <a:tcPr marT="91425" marB="91425" marR="91425" marL="91425" anchor="ctr">
                    <a:solidFill>
                      <a:srgbClr val="7BCDC2"/>
                    </a:solidFill>
                  </a:tcPr>
                </a:tc>
              </a:tr>
              <a:tr h="489025">
                <a:tc>
                  <a:txBody>
                    <a:bodyPr/>
                    <a:lstStyle/>
                    <a:p>
                      <a:pPr indent="0" lvl="0" marL="0" marR="0" rtl="0" algn="l">
                        <a:spcBef>
                          <a:spcPts val="0"/>
                        </a:spcBef>
                        <a:spcAft>
                          <a:spcPts val="0"/>
                        </a:spcAft>
                        <a:buClr>
                          <a:schemeClr val="dk1"/>
                        </a:buClr>
                        <a:buSzPts val="1600"/>
                        <a:buFont typeface="Roboto"/>
                        <a:buNone/>
                      </a:pPr>
                      <a:r>
                        <a:rPr lang="en-GB" sz="1600" u="none" cap="none" strike="noStrike">
                          <a:latin typeface="Roboto"/>
                          <a:ea typeface="Roboto"/>
                          <a:cs typeface="Roboto"/>
                          <a:sym typeface="Roboto"/>
                        </a:rPr>
                        <a:t>The BBC micro:bit is for advanced coders only.</a:t>
                      </a:r>
                      <a:endParaRPr sz="1600" u="none" cap="none" strike="noStrike">
                        <a:latin typeface="Roboto"/>
                        <a:ea typeface="Roboto"/>
                        <a:cs typeface="Roboto"/>
                        <a:sym typeface="Roboto"/>
                      </a:endParaRPr>
                    </a:p>
                  </a:txBody>
                  <a:tcPr marT="91425" marB="91425" marR="91425" marL="91425" anchor="ctr">
                    <a:solidFill>
                      <a:schemeClr val="lt1">
                        <a:alpha val="61961"/>
                      </a:schemeClr>
                    </a:solidFill>
                  </a:tcPr>
                </a:tc>
                <a:tc>
                  <a:txBody>
                    <a:bodyPr/>
                    <a:lstStyle/>
                    <a:p>
                      <a:pPr indent="0" lvl="0" marL="0" marR="0" rtl="0" algn="l">
                        <a:spcBef>
                          <a:spcPts val="0"/>
                        </a:spcBef>
                        <a:spcAft>
                          <a:spcPts val="0"/>
                        </a:spcAft>
                        <a:buClr>
                          <a:schemeClr val="dk1"/>
                        </a:buClr>
                        <a:buSzPts val="1100"/>
                        <a:buFont typeface="Arial"/>
                        <a:buNone/>
                      </a:pPr>
                      <a:r>
                        <a:t/>
                      </a:r>
                      <a:endParaRPr sz="1800" u="none" cap="none" strike="noStrike">
                        <a:latin typeface="Roboto"/>
                        <a:ea typeface="Roboto"/>
                        <a:cs typeface="Roboto"/>
                        <a:sym typeface="Roboto"/>
                      </a:endParaRPr>
                    </a:p>
                  </a:txBody>
                  <a:tcPr marT="91425" marB="91425" marR="91425" marL="91425" anchor="ctr">
                    <a:solidFill>
                      <a:srgbClr val="7BCDC2"/>
                    </a:solidFill>
                  </a:tcPr>
                </a:tc>
              </a:tr>
              <a:tr h="489025">
                <a:tc>
                  <a:txBody>
                    <a:bodyPr/>
                    <a:lstStyle/>
                    <a:p>
                      <a:pPr indent="0" lvl="0" marL="0" marR="0" rtl="0" algn="l">
                        <a:spcBef>
                          <a:spcPts val="0"/>
                        </a:spcBef>
                        <a:spcAft>
                          <a:spcPts val="0"/>
                        </a:spcAft>
                        <a:buClr>
                          <a:schemeClr val="dk1"/>
                        </a:buClr>
                        <a:buSzPts val="1600"/>
                        <a:buFont typeface="Roboto"/>
                        <a:buNone/>
                      </a:pPr>
                      <a:r>
                        <a:rPr lang="en-GB" sz="1600" u="none" cap="none" strike="noStrike">
                          <a:latin typeface="Roboto"/>
                          <a:ea typeface="Roboto"/>
                          <a:cs typeface="Roboto"/>
                          <a:sym typeface="Roboto"/>
                        </a:rPr>
                        <a:t>The micro:bit contains a temperature sensor.</a:t>
                      </a:r>
                      <a:endParaRPr sz="1600" u="none" cap="none" strike="noStrike">
                        <a:latin typeface="Roboto"/>
                        <a:ea typeface="Roboto"/>
                        <a:cs typeface="Roboto"/>
                        <a:sym typeface="Roboto"/>
                      </a:endParaRPr>
                    </a:p>
                  </a:txBody>
                  <a:tcPr marT="91425" marB="91425" marR="91425" marL="91425" anchor="ctr">
                    <a:solidFill>
                      <a:schemeClr val="lt1">
                        <a:alpha val="61961"/>
                      </a:schemeClr>
                    </a:solidFill>
                  </a:tcPr>
                </a:tc>
                <a:tc>
                  <a:txBody>
                    <a:bodyPr/>
                    <a:lstStyle/>
                    <a:p>
                      <a:pPr indent="0" lvl="0" marL="0" marR="0" rtl="0" algn="l">
                        <a:spcBef>
                          <a:spcPts val="0"/>
                        </a:spcBef>
                        <a:spcAft>
                          <a:spcPts val="0"/>
                        </a:spcAft>
                        <a:buClr>
                          <a:schemeClr val="dk1"/>
                        </a:buClr>
                        <a:buSzPts val="1100"/>
                        <a:buFont typeface="Arial"/>
                        <a:buNone/>
                      </a:pPr>
                      <a:r>
                        <a:t/>
                      </a:r>
                      <a:endParaRPr sz="1800" u="none" cap="none" strike="noStrike">
                        <a:latin typeface="Roboto"/>
                        <a:ea typeface="Roboto"/>
                        <a:cs typeface="Roboto"/>
                        <a:sym typeface="Roboto"/>
                      </a:endParaRPr>
                    </a:p>
                  </a:txBody>
                  <a:tcPr marT="91425" marB="91425" marR="91425" marL="91425" anchor="ctr">
                    <a:solidFill>
                      <a:srgbClr val="7BCDC2"/>
                    </a:solidFill>
                  </a:tcPr>
                </a:tc>
              </a:tr>
              <a:tr h="489025">
                <a:tc>
                  <a:txBody>
                    <a:bodyPr/>
                    <a:lstStyle/>
                    <a:p>
                      <a:pPr indent="0" lvl="0" marL="0" marR="0" rtl="0" algn="l">
                        <a:spcBef>
                          <a:spcPts val="0"/>
                        </a:spcBef>
                        <a:spcAft>
                          <a:spcPts val="0"/>
                        </a:spcAft>
                        <a:buClr>
                          <a:schemeClr val="dk1"/>
                        </a:buClr>
                        <a:buSzPts val="1600"/>
                        <a:buFont typeface="Roboto"/>
                        <a:buNone/>
                      </a:pPr>
                      <a:r>
                        <a:rPr lang="en-GB" sz="1600" u="none" cap="none" strike="noStrike">
                          <a:latin typeface="Roboto"/>
                          <a:ea typeface="Roboto"/>
                          <a:cs typeface="Roboto"/>
                          <a:sym typeface="Roboto"/>
                        </a:rPr>
                        <a:t>The 3V and GND pins can be connected to each other.</a:t>
                      </a:r>
                      <a:endParaRPr sz="1600" u="none" cap="none" strike="noStrike">
                        <a:latin typeface="Roboto"/>
                        <a:ea typeface="Roboto"/>
                        <a:cs typeface="Roboto"/>
                        <a:sym typeface="Roboto"/>
                      </a:endParaRPr>
                    </a:p>
                  </a:txBody>
                  <a:tcPr marT="91425" marB="91425" marR="91425" marL="91425" anchor="ctr">
                    <a:solidFill>
                      <a:schemeClr val="lt1">
                        <a:alpha val="61961"/>
                      </a:schemeClr>
                    </a:solidFill>
                  </a:tcPr>
                </a:tc>
                <a:tc>
                  <a:txBody>
                    <a:bodyPr/>
                    <a:lstStyle/>
                    <a:p>
                      <a:pPr indent="0" lvl="0" marL="0" marR="0" rtl="0" algn="l">
                        <a:spcBef>
                          <a:spcPts val="0"/>
                        </a:spcBef>
                        <a:spcAft>
                          <a:spcPts val="0"/>
                        </a:spcAft>
                        <a:buClr>
                          <a:schemeClr val="dk1"/>
                        </a:buClr>
                        <a:buSzPts val="1100"/>
                        <a:buFont typeface="Arial"/>
                        <a:buNone/>
                      </a:pPr>
                      <a:r>
                        <a:t/>
                      </a:r>
                      <a:endParaRPr sz="1800" u="none" cap="none" strike="noStrike">
                        <a:latin typeface="Roboto"/>
                        <a:ea typeface="Roboto"/>
                        <a:cs typeface="Roboto"/>
                        <a:sym typeface="Roboto"/>
                      </a:endParaRPr>
                    </a:p>
                  </a:txBody>
                  <a:tcPr marT="91425" marB="91425" marR="91425" marL="91425" anchor="ctr">
                    <a:solidFill>
                      <a:srgbClr val="7BCDC2"/>
                    </a:solidFill>
                  </a:tcPr>
                </a:tc>
              </a:tr>
            </a:tbl>
          </a:graphicData>
        </a:graphic>
      </p:graphicFrame>
      <p:sp>
        <p:nvSpPr>
          <p:cNvPr id="515" name="Google Shape;515;p34"/>
          <p:cNvSpPr txBox="1"/>
          <p:nvPr/>
        </p:nvSpPr>
        <p:spPr>
          <a:xfrm>
            <a:off x="755647" y="738107"/>
            <a:ext cx="3044828" cy="3693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Clr>
                <a:schemeClr val="lt1"/>
              </a:buClr>
              <a:buSzPts val="2400"/>
              <a:buFont typeface="Roboto"/>
              <a:buNone/>
            </a:pPr>
            <a:r>
              <a:rPr b="1" lang="en-GB" sz="2400">
                <a:solidFill>
                  <a:schemeClr val="lt1"/>
                </a:solidFill>
                <a:latin typeface="Roboto"/>
                <a:ea typeface="Roboto"/>
                <a:cs typeface="Roboto"/>
                <a:sym typeface="Roboto"/>
              </a:rPr>
              <a:t>Quiz Time</a:t>
            </a:r>
            <a:endParaRPr/>
          </a:p>
        </p:txBody>
      </p:sp>
      <p:pic>
        <p:nvPicPr>
          <p:cNvPr descr="A yellow smiley face with black eyes&#10;&#10;Description automatically generated with low confidence" id="516" name="Google Shape;516;p34"/>
          <p:cNvPicPr preferRelativeResize="0"/>
          <p:nvPr/>
        </p:nvPicPr>
        <p:blipFill rotWithShape="1">
          <a:blip r:embed="rId3">
            <a:alphaModFix/>
          </a:blip>
          <a:srcRect b="0" l="0" r="0" t="0"/>
          <a:stretch/>
        </p:blipFill>
        <p:spPr>
          <a:xfrm>
            <a:off x="7839553" y="3770196"/>
            <a:ext cx="425661" cy="424613"/>
          </a:xfrm>
          <a:prstGeom prst="rect">
            <a:avLst/>
          </a:prstGeom>
          <a:noFill/>
          <a:ln>
            <a:noFill/>
          </a:ln>
        </p:spPr>
      </p:pic>
      <p:pic>
        <p:nvPicPr>
          <p:cNvPr id="517" name="Google Shape;517;p34"/>
          <p:cNvPicPr preferRelativeResize="0"/>
          <p:nvPr/>
        </p:nvPicPr>
        <p:blipFill rotWithShape="1">
          <a:blip r:embed="rId4">
            <a:alphaModFix/>
          </a:blip>
          <a:srcRect b="0" l="0" r="0" t="0"/>
          <a:stretch/>
        </p:blipFill>
        <p:spPr>
          <a:xfrm>
            <a:off x="7839553" y="4255971"/>
            <a:ext cx="425661" cy="424612"/>
          </a:xfrm>
          <a:prstGeom prst="rect">
            <a:avLst/>
          </a:prstGeom>
          <a:noFill/>
          <a:ln>
            <a:noFill/>
          </a:ln>
        </p:spPr>
      </p:pic>
      <p:pic>
        <p:nvPicPr>
          <p:cNvPr id="518" name="Google Shape;518;p34"/>
          <p:cNvPicPr preferRelativeResize="0"/>
          <p:nvPr/>
        </p:nvPicPr>
        <p:blipFill rotWithShape="1">
          <a:blip r:embed="rId4">
            <a:alphaModFix/>
          </a:blip>
          <a:srcRect b="0" l="0" r="0" t="0"/>
          <a:stretch/>
        </p:blipFill>
        <p:spPr>
          <a:xfrm>
            <a:off x="7839553" y="4736031"/>
            <a:ext cx="425661" cy="424612"/>
          </a:xfrm>
          <a:prstGeom prst="rect">
            <a:avLst/>
          </a:prstGeom>
          <a:noFill/>
          <a:ln>
            <a:noFill/>
          </a:ln>
        </p:spPr>
      </p:pic>
      <p:pic>
        <p:nvPicPr>
          <p:cNvPr descr="A yellow smiley face with black eyes&#10;&#10;Description automatically generated with low confidence" id="519" name="Google Shape;519;p34"/>
          <p:cNvPicPr preferRelativeResize="0"/>
          <p:nvPr/>
        </p:nvPicPr>
        <p:blipFill rotWithShape="1">
          <a:blip r:embed="rId3">
            <a:alphaModFix/>
          </a:blip>
          <a:srcRect b="0" l="0" r="0" t="0"/>
          <a:stretch/>
        </p:blipFill>
        <p:spPr>
          <a:xfrm>
            <a:off x="7839553" y="5221806"/>
            <a:ext cx="425661" cy="424613"/>
          </a:xfrm>
          <a:prstGeom prst="rect">
            <a:avLst/>
          </a:prstGeom>
          <a:noFill/>
          <a:ln>
            <a:noFill/>
          </a:ln>
        </p:spPr>
      </p:pic>
      <p:pic>
        <p:nvPicPr>
          <p:cNvPr id="520" name="Google Shape;520;p34"/>
          <p:cNvPicPr preferRelativeResize="0"/>
          <p:nvPr/>
        </p:nvPicPr>
        <p:blipFill rotWithShape="1">
          <a:blip r:embed="rId4">
            <a:alphaModFix/>
          </a:blip>
          <a:srcRect b="0" l="0" r="0" t="0"/>
          <a:stretch/>
        </p:blipFill>
        <p:spPr>
          <a:xfrm>
            <a:off x="7839553" y="5724726"/>
            <a:ext cx="425661" cy="42461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12"/>
                                        </p:tgtEl>
                                        <p:attrNameLst>
                                          <p:attrName>style.visibility</p:attrName>
                                        </p:attrNameLst>
                                      </p:cBhvr>
                                      <p:to>
                                        <p:strVal val="visible"/>
                                      </p:to>
                                    </p:set>
                                    <p:animEffect filter="fade" transition="in">
                                      <p:cBhvr>
                                        <p:cTn dur="500"/>
                                        <p:tgtEl>
                                          <p:spTgt spid="51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13"/>
                                        </p:tgtEl>
                                        <p:attrNameLst>
                                          <p:attrName>style.visibility</p:attrName>
                                        </p:attrNameLst>
                                      </p:cBhvr>
                                      <p:to>
                                        <p:strVal val="visible"/>
                                      </p:to>
                                    </p:set>
                                    <p:animEffect filter="fade" transition="in">
                                      <p:cBhvr>
                                        <p:cTn dur="500"/>
                                        <p:tgtEl>
                                          <p:spTgt spid="5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14"/>
                                        </p:tgtEl>
                                        <p:attrNameLst>
                                          <p:attrName>style.visibility</p:attrName>
                                        </p:attrNameLst>
                                      </p:cBhvr>
                                      <p:to>
                                        <p:strVal val="visible"/>
                                      </p:to>
                                    </p:set>
                                    <p:anim calcmode="lin" valueType="num">
                                      <p:cBhvr additive="base">
                                        <p:cTn dur="500"/>
                                        <p:tgtEl>
                                          <p:spTgt spid="514"/>
                                        </p:tgtEl>
                                        <p:attrNameLst>
                                          <p:attrName>ppt_w</p:attrName>
                                        </p:attrNameLst>
                                      </p:cBhvr>
                                      <p:tavLst>
                                        <p:tav fmla="" tm="0">
                                          <p:val>
                                            <p:strVal val="0"/>
                                          </p:val>
                                        </p:tav>
                                        <p:tav fmla="" tm="100000">
                                          <p:val>
                                            <p:strVal val="#ppt_w"/>
                                          </p:val>
                                        </p:tav>
                                      </p:tavLst>
                                    </p:anim>
                                    <p:anim calcmode="lin" valueType="num">
                                      <p:cBhvr additive="base">
                                        <p:cTn dur="500"/>
                                        <p:tgtEl>
                                          <p:spTgt spid="514"/>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16"/>
                                        </p:tgtEl>
                                        <p:attrNameLst>
                                          <p:attrName>style.visibility</p:attrName>
                                        </p:attrNameLst>
                                      </p:cBhvr>
                                      <p:to>
                                        <p:strVal val="visible"/>
                                      </p:to>
                                    </p:set>
                                    <p:anim calcmode="lin" valueType="num">
                                      <p:cBhvr additive="base">
                                        <p:cTn dur="500"/>
                                        <p:tgtEl>
                                          <p:spTgt spid="516"/>
                                        </p:tgtEl>
                                        <p:attrNameLst>
                                          <p:attrName>ppt_w</p:attrName>
                                        </p:attrNameLst>
                                      </p:cBhvr>
                                      <p:tavLst>
                                        <p:tav fmla="" tm="0">
                                          <p:val>
                                            <p:strVal val="0"/>
                                          </p:val>
                                        </p:tav>
                                        <p:tav fmla="" tm="100000">
                                          <p:val>
                                            <p:strVal val="#ppt_w"/>
                                          </p:val>
                                        </p:tav>
                                      </p:tavLst>
                                    </p:anim>
                                    <p:anim calcmode="lin" valueType="num">
                                      <p:cBhvr additive="base">
                                        <p:cTn dur="500"/>
                                        <p:tgtEl>
                                          <p:spTgt spid="516"/>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17"/>
                                        </p:tgtEl>
                                        <p:attrNameLst>
                                          <p:attrName>style.visibility</p:attrName>
                                        </p:attrNameLst>
                                      </p:cBhvr>
                                      <p:to>
                                        <p:strVal val="visible"/>
                                      </p:to>
                                    </p:set>
                                    <p:anim calcmode="lin" valueType="num">
                                      <p:cBhvr additive="base">
                                        <p:cTn dur="500"/>
                                        <p:tgtEl>
                                          <p:spTgt spid="517"/>
                                        </p:tgtEl>
                                        <p:attrNameLst>
                                          <p:attrName>ppt_w</p:attrName>
                                        </p:attrNameLst>
                                      </p:cBhvr>
                                      <p:tavLst>
                                        <p:tav fmla="" tm="0">
                                          <p:val>
                                            <p:strVal val="0"/>
                                          </p:val>
                                        </p:tav>
                                        <p:tav fmla="" tm="100000">
                                          <p:val>
                                            <p:strVal val="#ppt_w"/>
                                          </p:val>
                                        </p:tav>
                                      </p:tavLst>
                                    </p:anim>
                                    <p:anim calcmode="lin" valueType="num">
                                      <p:cBhvr additive="base">
                                        <p:cTn dur="500"/>
                                        <p:tgtEl>
                                          <p:spTgt spid="517"/>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18"/>
                                        </p:tgtEl>
                                        <p:attrNameLst>
                                          <p:attrName>style.visibility</p:attrName>
                                        </p:attrNameLst>
                                      </p:cBhvr>
                                      <p:to>
                                        <p:strVal val="visible"/>
                                      </p:to>
                                    </p:set>
                                    <p:anim calcmode="lin" valueType="num">
                                      <p:cBhvr additive="base">
                                        <p:cTn dur="500"/>
                                        <p:tgtEl>
                                          <p:spTgt spid="518"/>
                                        </p:tgtEl>
                                        <p:attrNameLst>
                                          <p:attrName>ppt_w</p:attrName>
                                        </p:attrNameLst>
                                      </p:cBhvr>
                                      <p:tavLst>
                                        <p:tav fmla="" tm="0">
                                          <p:val>
                                            <p:strVal val="0"/>
                                          </p:val>
                                        </p:tav>
                                        <p:tav fmla="" tm="100000">
                                          <p:val>
                                            <p:strVal val="#ppt_w"/>
                                          </p:val>
                                        </p:tav>
                                      </p:tavLst>
                                    </p:anim>
                                    <p:anim calcmode="lin" valueType="num">
                                      <p:cBhvr additive="base">
                                        <p:cTn dur="500"/>
                                        <p:tgtEl>
                                          <p:spTgt spid="51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19"/>
                                        </p:tgtEl>
                                        <p:attrNameLst>
                                          <p:attrName>style.visibility</p:attrName>
                                        </p:attrNameLst>
                                      </p:cBhvr>
                                      <p:to>
                                        <p:strVal val="visible"/>
                                      </p:to>
                                    </p:set>
                                    <p:anim calcmode="lin" valueType="num">
                                      <p:cBhvr additive="base">
                                        <p:cTn dur="500"/>
                                        <p:tgtEl>
                                          <p:spTgt spid="519"/>
                                        </p:tgtEl>
                                        <p:attrNameLst>
                                          <p:attrName>ppt_w</p:attrName>
                                        </p:attrNameLst>
                                      </p:cBhvr>
                                      <p:tavLst>
                                        <p:tav fmla="" tm="0">
                                          <p:val>
                                            <p:strVal val="0"/>
                                          </p:val>
                                        </p:tav>
                                        <p:tav fmla="" tm="100000">
                                          <p:val>
                                            <p:strVal val="#ppt_w"/>
                                          </p:val>
                                        </p:tav>
                                      </p:tavLst>
                                    </p:anim>
                                    <p:anim calcmode="lin" valueType="num">
                                      <p:cBhvr additive="base">
                                        <p:cTn dur="500"/>
                                        <p:tgtEl>
                                          <p:spTgt spid="519"/>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520"/>
                                        </p:tgtEl>
                                        <p:attrNameLst>
                                          <p:attrName>style.visibility</p:attrName>
                                        </p:attrNameLst>
                                      </p:cBhvr>
                                      <p:to>
                                        <p:strVal val="visible"/>
                                      </p:to>
                                    </p:set>
                                    <p:anim calcmode="lin" valueType="num">
                                      <p:cBhvr additive="base">
                                        <p:cTn dur="500"/>
                                        <p:tgtEl>
                                          <p:spTgt spid="520"/>
                                        </p:tgtEl>
                                        <p:attrNameLst>
                                          <p:attrName>ppt_w</p:attrName>
                                        </p:attrNameLst>
                                      </p:cBhvr>
                                      <p:tavLst>
                                        <p:tav fmla="" tm="0">
                                          <p:val>
                                            <p:strVal val="0"/>
                                          </p:val>
                                        </p:tav>
                                        <p:tav fmla="" tm="100000">
                                          <p:val>
                                            <p:strVal val="#ppt_w"/>
                                          </p:val>
                                        </p:tav>
                                      </p:tavLst>
                                    </p:anim>
                                    <p:anim calcmode="lin" valueType="num">
                                      <p:cBhvr additive="base">
                                        <p:cTn dur="500"/>
                                        <p:tgtEl>
                                          <p:spTgt spid="520"/>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24" name="Shape 524"/>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Twinkl Template">
      <a:dk1>
        <a:srgbClr val="1C1C1C"/>
      </a:dk1>
      <a:lt1>
        <a:srgbClr val="FFFFFF"/>
      </a:lt1>
      <a:dk2>
        <a:srgbClr val="4A4A4A"/>
      </a:dk2>
      <a:lt2>
        <a:srgbClr val="F4F2F2"/>
      </a:lt2>
      <a:accent1>
        <a:srgbClr val="E34192"/>
      </a:accent1>
      <a:accent2>
        <a:srgbClr val="EB8634"/>
      </a:accent2>
      <a:accent3>
        <a:srgbClr val="E6C734"/>
      </a:accent3>
      <a:accent4>
        <a:srgbClr val="79AD42"/>
      </a:accent4>
      <a:accent5>
        <a:srgbClr val="23A7F9"/>
      </a:accent5>
      <a:accent6>
        <a:srgbClr val="954EBE"/>
      </a:accent6>
      <a:hlink>
        <a:srgbClr val="23A7F9"/>
      </a:hlink>
      <a:folHlink>
        <a:srgbClr val="75707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