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4" Type="http://schemas.openxmlformats.org/officeDocument/2006/relationships/slide" Target="slides/slide10.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 name="Google Shape;12;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 name="Shape 13"/>
        <p:cNvGrpSpPr/>
        <p:nvPr/>
      </p:nvGrpSpPr>
      <p:grpSpPr>
        <a:xfrm>
          <a:off x="0" y="0"/>
          <a:ext cx="0" cy="0"/>
          <a:chOff x="0" y="0"/>
          <a:chExt cx="0" cy="0"/>
        </a:xfrm>
      </p:grpSpPr>
      <p:sp>
        <p:nvSpPr>
          <p:cNvPr id="14" name="Google Shape;14;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 name="Google Shape;16;p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 name="Google Shape;17;p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 name="Google Shape;18;p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2" name="Google Shape;22;p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3" name="Google Shape;23;p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4" name="Google Shape;24;p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5" name="Shape 25"/>
        <p:cNvGrpSpPr/>
        <p:nvPr/>
      </p:nvGrpSpPr>
      <p:grpSpPr>
        <a:xfrm>
          <a:off x="0" y="0"/>
          <a:ext cx="0" cy="0"/>
          <a:chOff x="0" y="0"/>
          <a:chExt cx="0" cy="0"/>
        </a:xfrm>
      </p:grpSpPr>
      <p:sp>
        <p:nvSpPr>
          <p:cNvPr id="26" name="Google Shape;26;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0" name="Google Shape;30;p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1" name="Google Shape;31;p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2" name="Shape 32"/>
        <p:cNvGrpSpPr/>
        <p:nvPr/>
      </p:nvGrpSpPr>
      <p:grpSpPr>
        <a:xfrm>
          <a:off x="0" y="0"/>
          <a:ext cx="0" cy="0"/>
          <a:chOff x="0" y="0"/>
          <a:chExt cx="0" cy="0"/>
        </a:xfrm>
      </p:grpSpPr>
      <p:sp>
        <p:nvSpPr>
          <p:cNvPr id="33" name="Google Shape;33;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5" name="Google Shape;35;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7" name="Google Shape;37;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9" name="Google Shape;39;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0" name="Google Shape;40;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4" name="Google Shape;44;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5" name="Google Shape;45;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6" name="Shape 46"/>
        <p:cNvGrpSpPr/>
        <p:nvPr/>
      </p:nvGrpSpPr>
      <p:grpSpPr>
        <a:xfrm>
          <a:off x="0" y="0"/>
          <a:ext cx="0" cy="0"/>
          <a:chOff x="0" y="0"/>
          <a:chExt cx="0" cy="0"/>
        </a:xfrm>
      </p:grpSpPr>
      <p:sp>
        <p:nvSpPr>
          <p:cNvPr id="47" name="Google Shape;47;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8" name="Google Shape;48;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9" name="Google Shape;49;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0" name="Shape 50"/>
        <p:cNvGrpSpPr/>
        <p:nvPr/>
      </p:nvGrpSpPr>
      <p:grpSpPr>
        <a:xfrm>
          <a:off x="0" y="0"/>
          <a:ext cx="0" cy="0"/>
          <a:chOff x="0" y="0"/>
          <a:chExt cx="0" cy="0"/>
        </a:xfrm>
      </p:grpSpPr>
      <p:sp>
        <p:nvSpPr>
          <p:cNvPr id="51" name="Google Shape;51;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3" name="Google Shape;53;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4" name="Google Shape;54;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5" name="Google Shape;55;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6" name="Google Shape;56;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7" name="Shape 57"/>
        <p:cNvGrpSpPr/>
        <p:nvPr/>
      </p:nvGrpSpPr>
      <p:grpSpPr>
        <a:xfrm>
          <a:off x="0" y="0"/>
          <a:ext cx="0" cy="0"/>
          <a:chOff x="0" y="0"/>
          <a:chExt cx="0" cy="0"/>
        </a:xfrm>
      </p:grpSpPr>
      <p:sp>
        <p:nvSpPr>
          <p:cNvPr id="58" name="Google Shape;58;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10"/>
          <p:cNvSpPr/>
          <p:nvPr>
            <p:ph idx="2" type="pic"/>
          </p:nvPr>
        </p:nvSpPr>
        <p:spPr>
          <a:xfrm>
            <a:off x="5183188" y="987425"/>
            <a:ext cx="6172200" cy="4873625"/>
          </a:xfrm>
          <a:prstGeom prst="rect">
            <a:avLst/>
          </a:prstGeom>
          <a:noFill/>
          <a:ln>
            <a:noFill/>
          </a:ln>
        </p:spPr>
      </p:sp>
      <p:sp>
        <p:nvSpPr>
          <p:cNvPr id="60" name="Google Shape;60;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1" name="Google Shape;61;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2" name="Google Shape;62;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3" name="Google Shape;63;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4" name="Shape 64"/>
        <p:cNvGrpSpPr/>
        <p:nvPr/>
      </p:nvGrpSpPr>
      <p:grpSpPr>
        <a:xfrm>
          <a:off x="0" y="0"/>
          <a:ext cx="0" cy="0"/>
          <a:chOff x="0" y="0"/>
          <a:chExt cx="0" cy="0"/>
        </a:xfrm>
      </p:grpSpPr>
      <p:sp>
        <p:nvSpPr>
          <p:cNvPr id="65" name="Google Shape;65;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8" name="Google Shape;68;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9" name="Google Shape;69;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0" name="Shape 70"/>
        <p:cNvGrpSpPr/>
        <p:nvPr/>
      </p:nvGrpSpPr>
      <p:grpSpPr>
        <a:xfrm>
          <a:off x="0" y="0"/>
          <a:ext cx="0" cy="0"/>
          <a:chOff x="0" y="0"/>
          <a:chExt cx="0" cy="0"/>
        </a:xfrm>
      </p:grpSpPr>
      <p:sp>
        <p:nvSpPr>
          <p:cNvPr id="71" name="Google Shape;71;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4" name="Google Shape;74;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5" name="Google Shape;75;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2.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nvSpPr>
        <p:spPr>
          <a:xfrm>
            <a:off x="7547114" y="6380197"/>
            <a:ext cx="4114800" cy="365125"/>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GB" sz="1200" u="none" cap="none" strike="noStrike">
                <a:solidFill>
                  <a:schemeClr val="dk1"/>
                </a:solidFill>
                <a:latin typeface="Calibri"/>
                <a:ea typeface="Calibri"/>
                <a:cs typeface="Calibri"/>
                <a:sym typeface="Calibri"/>
              </a:rPr>
              <a:t>© Hodder &amp; Stoughton Limited 2021</a:t>
            </a:r>
            <a:endParaRPr/>
          </a:p>
        </p:txBody>
      </p:sp>
      <p:pic>
        <p:nvPicPr>
          <p:cNvPr descr="Shape, rectangle&#10;&#10;Description automatically generated" id="9" name="Google Shape;9;p1"/>
          <p:cNvPicPr preferRelativeResize="0"/>
          <p:nvPr/>
        </p:nvPicPr>
        <p:blipFill rotWithShape="1">
          <a:blip r:embed="rId1">
            <a:alphaModFix/>
          </a:blip>
          <a:srcRect b="0" l="0" r="0" t="0"/>
          <a:stretch/>
        </p:blipFill>
        <p:spPr>
          <a:xfrm>
            <a:off x="-1" y="-794"/>
            <a:ext cx="12217999" cy="162239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jpg"/><Relationship Id="rId4" Type="http://schemas.openxmlformats.org/officeDocument/2006/relationships/image" Target="../media/image8.jpg"/><Relationship Id="rId5" Type="http://schemas.openxmlformats.org/officeDocument/2006/relationships/image" Target="../media/image4.jpg"/><Relationship Id="rId6"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www.techrepublic.com/"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3"/>
          <p:cNvSpPr txBox="1"/>
          <p:nvPr>
            <p:ph type="ctrTitle"/>
          </p:nvPr>
        </p:nvSpPr>
        <p:spPr>
          <a:xfrm>
            <a:off x="618009" y="3010438"/>
            <a:ext cx="6971250" cy="1716029"/>
          </a:xfrm>
          <a:prstGeom prst="rect">
            <a:avLst/>
          </a:prstGeom>
          <a:noFill/>
          <a:ln>
            <a:noFill/>
          </a:ln>
        </p:spPr>
        <p:txBody>
          <a:bodyPr anchorCtr="0" anchor="b" bIns="45700" lIns="91425" spcFirstLastPara="1" rIns="91425" wrap="square" tIns="45700">
            <a:normAutofit fontScale="90000"/>
          </a:bodyPr>
          <a:lstStyle/>
          <a:p>
            <a:pPr indent="0" lvl="0" marL="0" rtl="0" algn="r">
              <a:lnSpc>
                <a:spcPct val="90000"/>
              </a:lnSpc>
              <a:spcBef>
                <a:spcPts val="0"/>
              </a:spcBef>
              <a:spcAft>
                <a:spcPts val="0"/>
              </a:spcAft>
              <a:buClr>
                <a:schemeClr val="dk1"/>
              </a:buClr>
              <a:buSzPct val="100000"/>
              <a:buFont typeface="Calibri"/>
              <a:buNone/>
            </a:pPr>
            <a:r>
              <a:rPr b="1" lang="en-GB"/>
              <a:t>Programming in Python: sequence</a:t>
            </a:r>
            <a:endParaRPr/>
          </a:p>
        </p:txBody>
      </p:sp>
      <p:sp>
        <p:nvSpPr>
          <p:cNvPr id="81" name="Google Shape;81;p13"/>
          <p:cNvSpPr/>
          <p:nvPr/>
        </p:nvSpPr>
        <p:spPr>
          <a:xfrm>
            <a:off x="3691111" y="4711969"/>
            <a:ext cx="3351495" cy="40011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GB" sz="2000" u="none" cap="none" strike="noStrike">
                <a:solidFill>
                  <a:srgbClr val="6759A2"/>
                </a:solidFill>
                <a:latin typeface="Calibri"/>
                <a:ea typeface="Calibri"/>
                <a:cs typeface="Calibri"/>
                <a:sym typeface="Calibri"/>
              </a:rPr>
              <a:t>Lesson 1: Computer programs</a:t>
            </a:r>
            <a:endParaRPr b="1" sz="2000">
              <a:solidFill>
                <a:srgbClr val="6759A2"/>
              </a:solidFill>
              <a:latin typeface="Calibri"/>
              <a:ea typeface="Calibri"/>
              <a:cs typeface="Calibri"/>
              <a:sym typeface="Calibri"/>
            </a:endParaRPr>
          </a:p>
        </p:txBody>
      </p:sp>
      <p:pic>
        <p:nvPicPr>
          <p:cNvPr id="82" name="Google Shape;82;p13"/>
          <p:cNvPicPr preferRelativeResize="0"/>
          <p:nvPr/>
        </p:nvPicPr>
        <p:blipFill rotWithShape="1">
          <a:blip r:embed="rId3">
            <a:alphaModFix/>
          </a:blip>
          <a:srcRect b="0" l="0" r="0" t="0"/>
          <a:stretch/>
        </p:blipFill>
        <p:spPr>
          <a:xfrm>
            <a:off x="7930430" y="3010438"/>
            <a:ext cx="2937413" cy="2443928"/>
          </a:xfrm>
          <a:prstGeom prst="rect">
            <a:avLst/>
          </a:prstGeom>
          <a:noFill/>
          <a:ln>
            <a:noFill/>
          </a:ln>
          <a:effectLst>
            <a:outerShdw blurRad="50800" rotWithShape="0" algn="tl" dir="2700000" dist="3810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4"/>
          <p:cNvSpPr txBox="1"/>
          <p:nvPr>
            <p:ph type="title"/>
          </p:nvPr>
        </p:nvSpPr>
        <p:spPr>
          <a:xfrm>
            <a:off x="1610413" y="857227"/>
            <a:ext cx="9634330" cy="76634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Objectives</a:t>
            </a:r>
            <a:endParaRPr/>
          </a:p>
        </p:txBody>
      </p:sp>
      <p:sp>
        <p:nvSpPr>
          <p:cNvPr id="88" name="Google Shape;88;p14"/>
          <p:cNvSpPr/>
          <p:nvPr/>
        </p:nvSpPr>
        <p:spPr>
          <a:xfrm>
            <a:off x="1610413" y="2582614"/>
            <a:ext cx="8239265" cy="230832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3200">
                <a:solidFill>
                  <a:schemeClr val="dk1"/>
                </a:solidFill>
                <a:latin typeface="Calibri"/>
                <a:ea typeface="Calibri"/>
                <a:cs typeface="Calibri"/>
                <a:sym typeface="Calibri"/>
              </a:rPr>
              <a:t>In this lesson you will learn:</a:t>
            </a:r>
            <a:endParaRPr/>
          </a:p>
          <a:p>
            <a:pPr indent="-342900" lvl="0" marL="342900" marR="0" rtl="0" algn="l">
              <a:spcBef>
                <a:spcPts val="0"/>
              </a:spcBef>
              <a:spcAft>
                <a:spcPts val="0"/>
              </a:spcAft>
              <a:buClr>
                <a:schemeClr val="dk1"/>
              </a:buClr>
              <a:buSzPts val="2800"/>
              <a:buFont typeface="Noto Sans Symbols"/>
              <a:buChar char="∙"/>
            </a:pPr>
            <a:r>
              <a:rPr lang="en-GB" sz="2800">
                <a:solidFill>
                  <a:schemeClr val="dk1"/>
                </a:solidFill>
                <a:latin typeface="Calibri"/>
                <a:ea typeface="Calibri"/>
                <a:cs typeface="Calibri"/>
                <a:sym typeface="Calibri"/>
              </a:rPr>
              <a:t>about the widespread use of computer programming</a:t>
            </a:r>
            <a:endParaRPr/>
          </a:p>
          <a:p>
            <a:pPr indent="-342900" lvl="0" marL="342900" marR="0" rtl="0" algn="l">
              <a:spcBef>
                <a:spcPts val="0"/>
              </a:spcBef>
              <a:spcAft>
                <a:spcPts val="0"/>
              </a:spcAft>
              <a:buClr>
                <a:schemeClr val="dk1"/>
              </a:buClr>
              <a:buSzPts val="2800"/>
              <a:buFont typeface="Noto Sans Symbols"/>
              <a:buChar char="∙"/>
            </a:pPr>
            <a:r>
              <a:rPr lang="en-GB" sz="2800">
                <a:solidFill>
                  <a:schemeClr val="dk1"/>
                </a:solidFill>
                <a:latin typeface="Calibri"/>
                <a:ea typeface="Calibri"/>
                <a:cs typeface="Calibri"/>
                <a:sym typeface="Calibri"/>
              </a:rPr>
              <a:t>how to write a simple program in Python</a:t>
            </a:r>
            <a:endParaRPr/>
          </a:p>
          <a:p>
            <a:pPr indent="-342900" lvl="0" marL="342900" marR="0" rtl="0" algn="l">
              <a:spcBef>
                <a:spcPts val="0"/>
              </a:spcBef>
              <a:spcAft>
                <a:spcPts val="0"/>
              </a:spcAft>
              <a:buClr>
                <a:schemeClr val="dk1"/>
              </a:buClr>
              <a:buSzPts val="2800"/>
              <a:buFont typeface="Noto Sans Symbols"/>
              <a:buChar char="∙"/>
            </a:pPr>
            <a:r>
              <a:rPr lang="en-GB" sz="2800">
                <a:solidFill>
                  <a:schemeClr val="dk1"/>
                </a:solidFill>
                <a:latin typeface="Calibri"/>
                <a:ea typeface="Calibri"/>
                <a:cs typeface="Calibri"/>
                <a:sym typeface="Calibri"/>
              </a:rPr>
              <a:t>about variables and how they are used to store data in a program.</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pic>
        <p:nvPicPr>
          <p:cNvPr id="93" name="Google Shape;93;p15"/>
          <p:cNvPicPr preferRelativeResize="0"/>
          <p:nvPr/>
        </p:nvPicPr>
        <p:blipFill rotWithShape="1">
          <a:blip r:embed="rId3">
            <a:alphaModFix/>
          </a:blip>
          <a:srcRect b="0" l="0" r="0" t="0"/>
          <a:stretch/>
        </p:blipFill>
        <p:spPr>
          <a:xfrm>
            <a:off x="4839140" y="4083498"/>
            <a:ext cx="3111025" cy="2302966"/>
          </a:xfrm>
          <a:prstGeom prst="rect">
            <a:avLst/>
          </a:prstGeom>
          <a:noFill/>
          <a:ln>
            <a:noFill/>
          </a:ln>
        </p:spPr>
      </p:pic>
      <p:pic>
        <p:nvPicPr>
          <p:cNvPr descr="Graphical user interface&#10;&#10;Description automatically generated" id="94" name="Google Shape;94;p15"/>
          <p:cNvPicPr preferRelativeResize="0"/>
          <p:nvPr/>
        </p:nvPicPr>
        <p:blipFill rotWithShape="1">
          <a:blip r:embed="rId4">
            <a:alphaModFix/>
          </a:blip>
          <a:srcRect b="0" l="0" r="0" t="0"/>
          <a:stretch/>
        </p:blipFill>
        <p:spPr>
          <a:xfrm>
            <a:off x="893475" y="4162550"/>
            <a:ext cx="3088446" cy="2315673"/>
          </a:xfrm>
          <a:prstGeom prst="rect">
            <a:avLst/>
          </a:prstGeom>
          <a:noFill/>
          <a:ln>
            <a:noFill/>
          </a:ln>
        </p:spPr>
      </p:pic>
      <p:pic>
        <p:nvPicPr>
          <p:cNvPr descr="A picture containing text, monitor, microwave, indoor&#10;&#10;Description automatically generated" id="95" name="Google Shape;95;p15"/>
          <p:cNvPicPr preferRelativeResize="0"/>
          <p:nvPr/>
        </p:nvPicPr>
        <p:blipFill rotWithShape="1">
          <a:blip r:embed="rId5">
            <a:alphaModFix/>
          </a:blip>
          <a:srcRect b="0" l="0" r="0" t="0"/>
          <a:stretch/>
        </p:blipFill>
        <p:spPr>
          <a:xfrm>
            <a:off x="8390264" y="2085434"/>
            <a:ext cx="2825291" cy="1875878"/>
          </a:xfrm>
          <a:prstGeom prst="rect">
            <a:avLst/>
          </a:prstGeom>
          <a:noFill/>
          <a:ln>
            <a:noFill/>
          </a:ln>
        </p:spPr>
      </p:pic>
      <p:sp>
        <p:nvSpPr>
          <p:cNvPr id="96" name="Google Shape;96;p15"/>
          <p:cNvSpPr txBox="1"/>
          <p:nvPr>
            <p:ph type="title"/>
          </p:nvPr>
        </p:nvSpPr>
        <p:spPr>
          <a:xfrm>
            <a:off x="1613878" y="853215"/>
            <a:ext cx="9773478" cy="84586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Computer programs are everywhere</a:t>
            </a:r>
            <a:endParaRPr/>
          </a:p>
        </p:txBody>
      </p:sp>
      <p:sp>
        <p:nvSpPr>
          <p:cNvPr id="97" name="Google Shape;97;p15"/>
          <p:cNvSpPr/>
          <p:nvPr/>
        </p:nvSpPr>
        <p:spPr>
          <a:xfrm>
            <a:off x="1613877" y="1979802"/>
            <a:ext cx="9241477" cy="224676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000">
                <a:solidFill>
                  <a:schemeClr val="dk1"/>
                </a:solidFill>
                <a:latin typeface="Calibri"/>
                <a:ea typeface="Calibri"/>
                <a:cs typeface="Calibri"/>
                <a:sym typeface="Calibri"/>
              </a:rPr>
              <a:t>We are surrounded by devices that require </a:t>
            </a:r>
            <a:r>
              <a:rPr b="1" lang="en-GB" sz="2000">
                <a:solidFill>
                  <a:srgbClr val="6759A2"/>
                </a:solidFill>
                <a:latin typeface="Calibri"/>
                <a:ea typeface="Calibri"/>
                <a:cs typeface="Calibri"/>
                <a:sym typeface="Calibri"/>
              </a:rPr>
              <a:t>computer programs</a:t>
            </a:r>
            <a:r>
              <a:rPr lang="en-GB" sz="2000">
                <a:solidFill>
                  <a:srgbClr val="6759A2"/>
                </a:solidFill>
                <a:latin typeface="Calibri"/>
                <a:ea typeface="Calibri"/>
                <a:cs typeface="Calibri"/>
                <a:sym typeface="Calibri"/>
              </a:rPr>
              <a:t> </a:t>
            </a:r>
            <a:r>
              <a:rPr lang="en-GB" sz="2000">
                <a:solidFill>
                  <a:schemeClr val="dk1"/>
                </a:solidFill>
                <a:latin typeface="Calibri"/>
                <a:ea typeface="Calibri"/>
                <a:cs typeface="Calibri"/>
                <a:sym typeface="Calibri"/>
              </a:rPr>
              <a:t>to work.</a:t>
            </a:r>
            <a:endParaRPr/>
          </a:p>
          <a:p>
            <a:pPr indent="0" lvl="0" marL="0" marR="0" rtl="0" algn="l">
              <a:spcBef>
                <a:spcPts val="0"/>
              </a:spcBef>
              <a:spcAft>
                <a:spcPts val="0"/>
              </a:spcAft>
              <a:buNone/>
            </a:pPr>
            <a:r>
              <a:rPr lang="en-GB" sz="2000">
                <a:solidFill>
                  <a:schemeClr val="dk1"/>
                </a:solidFill>
                <a:latin typeface="Calibri"/>
                <a:ea typeface="Calibri"/>
                <a:cs typeface="Calibri"/>
                <a:sym typeface="Calibri"/>
              </a:rPr>
              <a:t>We rely on computer programs to:</a:t>
            </a:r>
            <a:endParaRPr/>
          </a:p>
          <a:p>
            <a:pPr indent="-342900" lvl="0" marL="342900" marR="0" rtl="0" algn="l">
              <a:spcBef>
                <a:spcPts val="0"/>
              </a:spcBef>
              <a:spcAft>
                <a:spcPts val="0"/>
              </a:spcAft>
              <a:buClr>
                <a:schemeClr val="dk1"/>
              </a:buClr>
              <a:buSzPts val="2000"/>
              <a:buFont typeface="Noto Sans Symbols"/>
              <a:buChar char="∙"/>
            </a:pPr>
            <a:r>
              <a:rPr lang="en-GB" sz="2000">
                <a:solidFill>
                  <a:schemeClr val="dk1"/>
                </a:solidFill>
                <a:latin typeface="Calibri"/>
                <a:ea typeface="Calibri"/>
                <a:cs typeface="Calibri"/>
                <a:sym typeface="Calibri"/>
              </a:rPr>
              <a:t>bring us entertainment</a:t>
            </a:r>
            <a:endParaRPr/>
          </a:p>
          <a:p>
            <a:pPr indent="-342900" lvl="0" marL="342900" marR="0" rtl="0" algn="l">
              <a:spcBef>
                <a:spcPts val="0"/>
              </a:spcBef>
              <a:spcAft>
                <a:spcPts val="0"/>
              </a:spcAft>
              <a:buClr>
                <a:schemeClr val="dk1"/>
              </a:buClr>
              <a:buSzPts val="2000"/>
              <a:buFont typeface="Noto Sans Symbols"/>
              <a:buChar char="∙"/>
            </a:pPr>
            <a:r>
              <a:rPr lang="en-GB" sz="2000">
                <a:solidFill>
                  <a:schemeClr val="dk1"/>
                </a:solidFill>
                <a:latin typeface="Calibri"/>
                <a:ea typeface="Calibri"/>
                <a:cs typeface="Calibri"/>
                <a:sym typeface="Calibri"/>
              </a:rPr>
              <a:t>access our bank accounts online</a:t>
            </a:r>
            <a:endParaRPr/>
          </a:p>
          <a:p>
            <a:pPr indent="-342900" lvl="0" marL="342900" marR="0" rtl="0" algn="l">
              <a:spcBef>
                <a:spcPts val="0"/>
              </a:spcBef>
              <a:spcAft>
                <a:spcPts val="0"/>
              </a:spcAft>
              <a:buClr>
                <a:schemeClr val="dk1"/>
              </a:buClr>
              <a:buSzPts val="2000"/>
              <a:buFont typeface="Noto Sans Symbols"/>
              <a:buChar char="∙"/>
            </a:pPr>
            <a:r>
              <a:rPr lang="en-GB" sz="2000">
                <a:solidFill>
                  <a:schemeClr val="dk1"/>
                </a:solidFill>
                <a:latin typeface="Calibri"/>
                <a:ea typeface="Calibri"/>
                <a:cs typeface="Calibri"/>
                <a:sym typeface="Calibri"/>
              </a:rPr>
              <a:t>shop online</a:t>
            </a:r>
            <a:endParaRPr/>
          </a:p>
          <a:p>
            <a:pPr indent="-342900" lvl="0" marL="342900" marR="0" rtl="0" algn="l">
              <a:spcBef>
                <a:spcPts val="0"/>
              </a:spcBef>
              <a:spcAft>
                <a:spcPts val="0"/>
              </a:spcAft>
              <a:buClr>
                <a:schemeClr val="dk1"/>
              </a:buClr>
              <a:buSzPts val="2000"/>
              <a:buFont typeface="Noto Sans Symbols"/>
              <a:buChar char="∙"/>
            </a:pPr>
            <a:r>
              <a:rPr lang="en-GB" sz="2000">
                <a:solidFill>
                  <a:schemeClr val="dk1"/>
                </a:solidFill>
                <a:latin typeface="Calibri"/>
                <a:ea typeface="Calibri"/>
                <a:cs typeface="Calibri"/>
                <a:sym typeface="Calibri"/>
              </a:rPr>
              <a:t>cook our food</a:t>
            </a:r>
            <a:endParaRPr/>
          </a:p>
          <a:p>
            <a:pPr indent="-342900" lvl="0" marL="342900" marR="0" rtl="0" algn="l">
              <a:spcBef>
                <a:spcPts val="0"/>
              </a:spcBef>
              <a:spcAft>
                <a:spcPts val="0"/>
              </a:spcAft>
              <a:buClr>
                <a:schemeClr val="dk1"/>
              </a:buClr>
              <a:buSzPts val="2000"/>
              <a:buFont typeface="Noto Sans Symbols"/>
              <a:buChar char="∙"/>
            </a:pPr>
            <a:r>
              <a:rPr lang="en-GB" sz="2000">
                <a:solidFill>
                  <a:schemeClr val="dk1"/>
                </a:solidFill>
                <a:latin typeface="Calibri"/>
                <a:ea typeface="Calibri"/>
                <a:cs typeface="Calibri"/>
                <a:sym typeface="Calibri"/>
              </a:rPr>
              <a:t>move from one place to another.</a:t>
            </a:r>
            <a:endParaRPr/>
          </a:p>
        </p:txBody>
      </p:sp>
      <p:pic>
        <p:nvPicPr>
          <p:cNvPr descr="A picture containing text, computer, computer, electronics&#10;&#10;Description automatically generated" id="98" name="Google Shape;98;p15"/>
          <p:cNvPicPr preferRelativeResize="0"/>
          <p:nvPr/>
        </p:nvPicPr>
        <p:blipFill rotWithShape="1">
          <a:blip r:embed="rId6">
            <a:alphaModFix/>
          </a:blip>
          <a:srcRect b="0" l="0" r="0" t="0"/>
          <a:stretch/>
        </p:blipFill>
        <p:spPr>
          <a:xfrm>
            <a:off x="8586651" y="4101674"/>
            <a:ext cx="2989105" cy="199120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6"/>
          <p:cNvSpPr txBox="1"/>
          <p:nvPr>
            <p:ph type="title"/>
          </p:nvPr>
        </p:nvSpPr>
        <p:spPr>
          <a:xfrm>
            <a:off x="1589632" y="796072"/>
            <a:ext cx="10037685" cy="86574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alibri"/>
              <a:buNone/>
            </a:pPr>
            <a:r>
              <a:rPr b="1" lang="en-GB" sz="4000">
                <a:solidFill>
                  <a:schemeClr val="lt1"/>
                </a:solidFill>
              </a:rPr>
              <a:t>Activity 1.1: Smart devices and programming</a:t>
            </a:r>
            <a:endParaRPr/>
          </a:p>
        </p:txBody>
      </p:sp>
      <p:pic>
        <p:nvPicPr>
          <p:cNvPr descr="A picture containing athletic game, basketball, sport&#10;&#10;Description automatically generated" id="104" name="Google Shape;104;p16"/>
          <p:cNvPicPr preferRelativeResize="0"/>
          <p:nvPr/>
        </p:nvPicPr>
        <p:blipFill rotWithShape="1">
          <a:blip r:embed="rId3">
            <a:alphaModFix/>
          </a:blip>
          <a:srcRect b="0" l="0" r="0" t="0"/>
          <a:stretch/>
        </p:blipFill>
        <p:spPr>
          <a:xfrm>
            <a:off x="9524591" y="4054360"/>
            <a:ext cx="2441267" cy="2391922"/>
          </a:xfrm>
          <a:prstGeom prst="rect">
            <a:avLst/>
          </a:prstGeom>
          <a:noFill/>
          <a:ln>
            <a:noFill/>
          </a:ln>
        </p:spPr>
      </p:pic>
      <p:sp>
        <p:nvSpPr>
          <p:cNvPr id="105" name="Google Shape;105;p16"/>
          <p:cNvSpPr/>
          <p:nvPr/>
        </p:nvSpPr>
        <p:spPr>
          <a:xfrm>
            <a:off x="894734" y="1813790"/>
            <a:ext cx="8868697" cy="409342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1.	</a:t>
            </a:r>
            <a:r>
              <a:rPr lang="en-GB" sz="2000">
                <a:solidFill>
                  <a:schemeClr val="dk1"/>
                </a:solidFill>
                <a:latin typeface="Calibri"/>
                <a:ea typeface="Calibri"/>
                <a:cs typeface="Calibri"/>
                <a:sym typeface="Calibri"/>
              </a:rPr>
              <a:t>There are up to 50 computers in a car.</a:t>
            </a:r>
            <a:endParaRPr/>
          </a:p>
          <a:p>
            <a:pPr indent="0" lvl="0" marL="0" marR="0" rtl="0" algn="l">
              <a:spcBef>
                <a:spcPts val="0"/>
              </a:spcBef>
              <a:spcAft>
                <a:spcPts val="0"/>
              </a:spcAft>
              <a:buNone/>
            </a:pPr>
            <a:r>
              <a:rPr lang="en-GB" sz="2000">
                <a:solidFill>
                  <a:schemeClr val="dk1"/>
                </a:solidFill>
                <a:latin typeface="Calibri"/>
                <a:ea typeface="Calibri"/>
                <a:cs typeface="Calibri"/>
                <a:sym typeface="Calibri"/>
              </a:rPr>
              <a:t>2.	C or C++ is used to program a car computer.</a:t>
            </a:r>
            <a:endParaRPr/>
          </a:p>
          <a:p>
            <a:pPr indent="0" lvl="0" marL="0" marR="0" rtl="0" algn="l">
              <a:spcBef>
                <a:spcPts val="0"/>
              </a:spcBef>
              <a:spcAft>
                <a:spcPts val="0"/>
              </a:spcAft>
              <a:buNone/>
            </a:pPr>
            <a:r>
              <a:rPr lang="en-GB" sz="2000">
                <a:solidFill>
                  <a:schemeClr val="dk1"/>
                </a:solidFill>
                <a:latin typeface="Calibri"/>
                <a:ea typeface="Calibri"/>
                <a:cs typeface="Calibri"/>
                <a:sym typeface="Calibri"/>
              </a:rPr>
              <a:t>3.	An internet-connected refrigerator senses what is inside it and keeps track of stock using the barcodes on products. It can suggest items for a shopping lists or recipes based on the contents of the fridge.</a:t>
            </a:r>
            <a:endParaRPr/>
          </a:p>
          <a:p>
            <a:pPr indent="0" lvl="0" marL="0" marR="0" rtl="0" algn="l">
              <a:spcBef>
                <a:spcPts val="0"/>
              </a:spcBef>
              <a:spcAft>
                <a:spcPts val="0"/>
              </a:spcAft>
              <a:buNone/>
            </a:pPr>
            <a:r>
              <a:rPr lang="en-GB" sz="2000">
                <a:solidFill>
                  <a:schemeClr val="dk1"/>
                </a:solidFill>
                <a:latin typeface="Calibri"/>
                <a:ea typeface="Calibri"/>
                <a:cs typeface="Calibri"/>
                <a:sym typeface="Calibri"/>
              </a:rPr>
              <a:t>4.	A smart doorbell provides the householder with a video and audio link to anyone outside the house who uses the bell. It can also be activated by motion sensors so the householder can see who is outside the door even if they do not ring the bell.</a:t>
            </a:r>
            <a:endParaRPr/>
          </a:p>
          <a:p>
            <a:pPr indent="0" lvl="0" marL="0" marR="0" rtl="0" algn="l">
              <a:spcBef>
                <a:spcPts val="0"/>
              </a:spcBef>
              <a:spcAft>
                <a:spcPts val="0"/>
              </a:spcAft>
              <a:buNone/>
            </a:pPr>
            <a:r>
              <a:rPr lang="en-GB" sz="2000">
                <a:solidFill>
                  <a:schemeClr val="dk1"/>
                </a:solidFill>
                <a:latin typeface="Calibri"/>
                <a:ea typeface="Calibri"/>
                <a:cs typeface="Calibri"/>
                <a:sym typeface="Calibri"/>
              </a:rPr>
              <a:t>5.	Assembly language, a low-level programming language, is used to program microprocessors and microcontrollers for computerised products such as washing machines.</a:t>
            </a:r>
            <a:endParaRPr/>
          </a:p>
          <a:p>
            <a:pPr indent="0" lvl="0" marL="0" marR="0" rtl="0" algn="l">
              <a:spcBef>
                <a:spcPts val="0"/>
              </a:spcBef>
              <a:spcAft>
                <a:spcPts val="0"/>
              </a:spcAft>
              <a:buNone/>
            </a:pPr>
            <a:r>
              <a:rPr lang="en-GB" sz="2000">
                <a:solidFill>
                  <a:schemeClr val="dk1"/>
                </a:solidFill>
                <a:latin typeface="Calibri"/>
                <a:ea typeface="Calibri"/>
                <a:cs typeface="Calibri"/>
                <a:sym typeface="Calibri"/>
              </a:rPr>
              <a:t>6.	Amazon Echo (Alexa) uses Java, JavaScript, Python, C# or Go.</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1620078" y="854765"/>
            <a:ext cx="9733721" cy="83592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Programming languages</a:t>
            </a:r>
            <a:endParaRPr/>
          </a:p>
        </p:txBody>
      </p:sp>
      <p:sp>
        <p:nvSpPr>
          <p:cNvPr id="111" name="Google Shape;111;p17"/>
          <p:cNvSpPr/>
          <p:nvPr/>
        </p:nvSpPr>
        <p:spPr>
          <a:xfrm>
            <a:off x="1620078" y="2139193"/>
            <a:ext cx="8857772" cy="397031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Programmers use many different programming languages to write computer programs, and each programming language was designed for a specific purpose. For example:</a:t>
            </a:r>
            <a:endParaRPr/>
          </a:p>
          <a:p>
            <a:pPr indent="-342900" lvl="0" marL="342900" marR="0" rtl="0" algn="l">
              <a:spcBef>
                <a:spcPts val="0"/>
              </a:spcBef>
              <a:spcAft>
                <a:spcPts val="0"/>
              </a:spcAft>
              <a:buClr>
                <a:schemeClr val="dk1"/>
              </a:buClr>
              <a:buSzPts val="1800"/>
              <a:buFont typeface="Noto Sans Symbols"/>
              <a:buChar char="∙"/>
            </a:pPr>
            <a:r>
              <a:rPr b="1" lang="en-GB" sz="1800">
                <a:solidFill>
                  <a:schemeClr val="dk1"/>
                </a:solidFill>
                <a:latin typeface="Calibri"/>
                <a:ea typeface="Calibri"/>
                <a:cs typeface="Calibri"/>
                <a:sym typeface="Calibri"/>
              </a:rPr>
              <a:t>Java</a:t>
            </a:r>
            <a:r>
              <a:rPr lang="en-GB" sz="1800">
                <a:solidFill>
                  <a:schemeClr val="dk1"/>
                </a:solidFill>
                <a:latin typeface="Calibri"/>
                <a:ea typeface="Calibri"/>
                <a:cs typeface="Calibri"/>
                <a:sym typeface="Calibri"/>
              </a:rPr>
              <a:t> is used to code video games, mobile apps, as well as Google Docs.</a:t>
            </a:r>
            <a:endParaRPr/>
          </a:p>
          <a:p>
            <a:pPr indent="-342900" lvl="0" marL="342900" marR="0" rtl="0" algn="l">
              <a:spcBef>
                <a:spcPts val="0"/>
              </a:spcBef>
              <a:spcAft>
                <a:spcPts val="0"/>
              </a:spcAft>
              <a:buClr>
                <a:schemeClr val="dk1"/>
              </a:buClr>
              <a:buSzPts val="1800"/>
              <a:buFont typeface="Noto Sans Symbols"/>
              <a:buChar char="∙"/>
            </a:pPr>
            <a:r>
              <a:rPr b="1" lang="en-GB" sz="1800">
                <a:solidFill>
                  <a:schemeClr val="dk1"/>
                </a:solidFill>
                <a:latin typeface="Calibri"/>
                <a:ea typeface="Calibri"/>
                <a:cs typeface="Calibri"/>
                <a:sym typeface="Calibri"/>
              </a:rPr>
              <a:t>Ruby</a:t>
            </a:r>
            <a:r>
              <a:rPr lang="en-GB" sz="1800">
                <a:solidFill>
                  <a:schemeClr val="dk1"/>
                </a:solidFill>
                <a:latin typeface="Calibri"/>
                <a:ea typeface="Calibri"/>
                <a:cs typeface="Calibri"/>
                <a:sym typeface="Calibri"/>
              </a:rPr>
              <a:t> is used to code web apps.</a:t>
            </a:r>
            <a:endParaRPr/>
          </a:p>
          <a:p>
            <a:pPr indent="-342900" lvl="0" marL="342900" marR="0" rtl="0" algn="l">
              <a:spcBef>
                <a:spcPts val="0"/>
              </a:spcBef>
              <a:spcAft>
                <a:spcPts val="0"/>
              </a:spcAft>
              <a:buClr>
                <a:schemeClr val="dk1"/>
              </a:buClr>
              <a:buSzPts val="1800"/>
              <a:buFont typeface="Noto Sans Symbols"/>
              <a:buChar char="∙"/>
            </a:pPr>
            <a:r>
              <a:rPr b="1" lang="en-GB" sz="1800">
                <a:solidFill>
                  <a:schemeClr val="dk1"/>
                </a:solidFill>
                <a:latin typeface="Calibri"/>
                <a:ea typeface="Calibri"/>
                <a:cs typeface="Calibri"/>
                <a:sym typeface="Calibri"/>
              </a:rPr>
              <a:t>JavaScript</a:t>
            </a:r>
            <a:r>
              <a:rPr lang="en-GB" sz="1800">
                <a:solidFill>
                  <a:schemeClr val="dk1"/>
                </a:solidFill>
                <a:latin typeface="Calibri"/>
                <a:ea typeface="Calibri"/>
                <a:cs typeface="Calibri"/>
                <a:sym typeface="Calibri"/>
              </a:rPr>
              <a:t> is used to add interactive elements to websites.</a:t>
            </a:r>
            <a:endParaRPr/>
          </a:p>
          <a:p>
            <a:pPr indent="-342900" lvl="0" marL="342900" marR="0" rtl="0" algn="l">
              <a:spcBef>
                <a:spcPts val="0"/>
              </a:spcBef>
              <a:spcAft>
                <a:spcPts val="0"/>
              </a:spcAft>
              <a:buClr>
                <a:schemeClr val="dk1"/>
              </a:buClr>
              <a:buSzPts val="1800"/>
              <a:buFont typeface="Noto Sans Symbols"/>
              <a:buChar char="∙"/>
            </a:pPr>
            <a:r>
              <a:rPr b="1" lang="en-GB" sz="1800">
                <a:solidFill>
                  <a:schemeClr val="dk1"/>
                </a:solidFill>
                <a:latin typeface="Calibri"/>
                <a:ea typeface="Calibri"/>
                <a:cs typeface="Calibri"/>
                <a:sym typeface="Calibri"/>
              </a:rPr>
              <a:t>SQL </a:t>
            </a:r>
            <a:r>
              <a:rPr lang="en-GB" sz="1800">
                <a:solidFill>
                  <a:schemeClr val="dk1"/>
                </a:solidFill>
                <a:latin typeface="Calibri"/>
                <a:ea typeface="Calibri"/>
                <a:cs typeface="Calibri"/>
                <a:sym typeface="Calibri"/>
              </a:rPr>
              <a:t>is used to access data in a database.</a:t>
            </a:r>
            <a:endParaRPr/>
          </a:p>
          <a:p>
            <a:pPr indent="-342900" lvl="0" marL="342900" marR="0" rtl="0" algn="l">
              <a:spcBef>
                <a:spcPts val="0"/>
              </a:spcBef>
              <a:spcAft>
                <a:spcPts val="0"/>
              </a:spcAft>
              <a:buClr>
                <a:schemeClr val="dk1"/>
              </a:buClr>
              <a:buSzPts val="1800"/>
              <a:buFont typeface="Noto Sans Symbols"/>
              <a:buChar char="∙"/>
            </a:pPr>
            <a:r>
              <a:rPr b="1" lang="en-GB" sz="1800">
                <a:solidFill>
                  <a:schemeClr val="dk1"/>
                </a:solidFill>
                <a:latin typeface="Calibri"/>
                <a:ea typeface="Calibri"/>
                <a:cs typeface="Calibri"/>
                <a:sym typeface="Calibri"/>
              </a:rPr>
              <a:t>Low-level and assembly languages </a:t>
            </a:r>
            <a:r>
              <a:rPr lang="en-GB" sz="1800">
                <a:solidFill>
                  <a:schemeClr val="dk1"/>
                </a:solidFill>
                <a:latin typeface="Calibri"/>
                <a:ea typeface="Calibri"/>
                <a:cs typeface="Calibri"/>
                <a:sym typeface="Calibri"/>
              </a:rPr>
              <a:t>are used to create programs that directly control hardware, such as printers and washing machines.</a:t>
            </a:r>
            <a:endParaRPr/>
          </a:p>
          <a:p>
            <a:pPr indent="-342900" lvl="0" marL="342900" marR="0" rtl="0" algn="l">
              <a:spcBef>
                <a:spcPts val="0"/>
              </a:spcBef>
              <a:spcAft>
                <a:spcPts val="0"/>
              </a:spcAft>
              <a:buClr>
                <a:schemeClr val="dk1"/>
              </a:buClr>
              <a:buSzPts val="1800"/>
              <a:buFont typeface="Noto Sans Symbols"/>
              <a:buChar char="∙"/>
            </a:pPr>
            <a:r>
              <a:rPr b="1" lang="en-GB" sz="1800">
                <a:solidFill>
                  <a:schemeClr val="dk1"/>
                </a:solidFill>
                <a:latin typeface="Calibri"/>
                <a:ea typeface="Calibri"/>
                <a:cs typeface="Calibri"/>
                <a:sym typeface="Calibri"/>
              </a:rPr>
              <a:t>Python</a:t>
            </a:r>
            <a:r>
              <a:rPr lang="en-GB" sz="1800">
                <a:solidFill>
                  <a:schemeClr val="dk1"/>
                </a:solidFill>
                <a:latin typeface="Calibri"/>
                <a:ea typeface="Calibri"/>
                <a:cs typeface="Calibri"/>
                <a:sym typeface="Calibri"/>
              </a:rPr>
              <a:t> is one of the most popular programming languages in the world. It is used to code web apps and in game development, artificial intelligence and a lot more.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With simple syntax and English-like commands, Python is easy to read and one of the easiest languages to learn. According to </a:t>
            </a:r>
            <a:r>
              <a:rPr lang="en-GB" sz="1800" u="sng">
                <a:solidFill>
                  <a:schemeClr val="hlink"/>
                </a:solidFill>
                <a:latin typeface="Calibri"/>
                <a:ea typeface="Calibri"/>
                <a:cs typeface="Calibri"/>
                <a:sym typeface="Calibri"/>
                <a:hlinkClick r:id="rId3"/>
              </a:rPr>
              <a:t>www.techrepublic.com</a:t>
            </a:r>
            <a:r>
              <a:rPr lang="en-GB" sz="1800">
                <a:solidFill>
                  <a:schemeClr val="dk1"/>
                </a:solidFill>
                <a:latin typeface="Calibri"/>
                <a:ea typeface="Calibri"/>
                <a:cs typeface="Calibri"/>
                <a:sym typeface="Calibri"/>
              </a:rPr>
              <a:t>, ‘Python developer’ was one of the top 10 in-demand tech jobs in 2019.</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8"/>
          <p:cNvSpPr txBox="1"/>
          <p:nvPr>
            <p:ph type="title"/>
          </p:nvPr>
        </p:nvSpPr>
        <p:spPr>
          <a:xfrm>
            <a:off x="1600200" y="844826"/>
            <a:ext cx="9753599" cy="84586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What is a computer program?</a:t>
            </a:r>
            <a:endParaRPr/>
          </a:p>
        </p:txBody>
      </p:sp>
      <p:sp>
        <p:nvSpPr>
          <p:cNvPr id="117" name="Google Shape;117;p18"/>
          <p:cNvSpPr/>
          <p:nvPr/>
        </p:nvSpPr>
        <p:spPr>
          <a:xfrm>
            <a:off x="1600200" y="2172749"/>
            <a:ext cx="8055528" cy="353943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800">
                <a:solidFill>
                  <a:schemeClr val="dk1"/>
                </a:solidFill>
                <a:latin typeface="Calibri"/>
                <a:ea typeface="Calibri"/>
                <a:cs typeface="Calibri"/>
                <a:sym typeface="Calibri"/>
              </a:rPr>
              <a:t>A computer program is a set of instructions that a computer follows </a:t>
            </a:r>
            <a:r>
              <a:rPr b="1" lang="en-GB" sz="2800">
                <a:solidFill>
                  <a:srgbClr val="6759A2"/>
                </a:solidFill>
                <a:latin typeface="Calibri"/>
                <a:ea typeface="Calibri"/>
                <a:cs typeface="Calibri"/>
                <a:sym typeface="Calibri"/>
              </a:rPr>
              <a:t>precisely</a:t>
            </a:r>
            <a:r>
              <a:rPr lang="en-GB" sz="2800">
                <a:solidFill>
                  <a:schemeClr val="dk1"/>
                </a:solidFill>
                <a:latin typeface="Calibri"/>
                <a:ea typeface="Calibri"/>
                <a:cs typeface="Calibri"/>
                <a:sym typeface="Calibri"/>
              </a:rPr>
              <a:t>.</a:t>
            </a:r>
            <a:endParaRPr/>
          </a:p>
          <a:p>
            <a:pPr indent="0" lvl="0" marL="0" marR="0" rtl="0" algn="l">
              <a:spcBef>
                <a:spcPts val="0"/>
              </a:spcBef>
              <a:spcAft>
                <a:spcPts val="0"/>
              </a:spcAft>
              <a:buNone/>
            </a:pPr>
            <a:r>
              <a:rPr lang="en-GB" sz="2800">
                <a:solidFill>
                  <a:schemeClr val="dk1"/>
                </a:solidFill>
                <a:latin typeface="Calibri"/>
                <a:ea typeface="Calibri"/>
                <a:cs typeface="Calibri"/>
                <a:sym typeface="Calibri"/>
              </a:rPr>
              <a:t>This means that a computer program must </a:t>
            </a:r>
            <a:r>
              <a:rPr b="1" lang="en-GB" sz="2800">
                <a:solidFill>
                  <a:srgbClr val="6759A2"/>
                </a:solidFill>
                <a:latin typeface="Calibri"/>
                <a:ea typeface="Calibri"/>
                <a:cs typeface="Calibri"/>
                <a:sym typeface="Calibri"/>
              </a:rPr>
              <a:t>accurately</a:t>
            </a:r>
            <a:r>
              <a:rPr lang="en-GB" sz="2800">
                <a:solidFill>
                  <a:schemeClr val="dk1"/>
                </a:solidFill>
                <a:latin typeface="Calibri"/>
                <a:ea typeface="Calibri"/>
                <a:cs typeface="Calibri"/>
                <a:sym typeface="Calibri"/>
              </a:rPr>
              <a:t> describe what the computer has to do if it is to work as we expect it to.</a:t>
            </a:r>
            <a:endParaRPr/>
          </a:p>
          <a:p>
            <a:pPr indent="0" lvl="0" marL="0" marR="0" rtl="0" algn="l">
              <a:spcBef>
                <a:spcPts val="0"/>
              </a:spcBef>
              <a:spcAft>
                <a:spcPts val="0"/>
              </a:spcAft>
              <a:buNone/>
            </a:pPr>
            <a:r>
              <a:rPr lang="en-GB" sz="2800">
                <a:solidFill>
                  <a:schemeClr val="dk1"/>
                </a:solidFill>
                <a:latin typeface="Calibri"/>
                <a:ea typeface="Calibri"/>
                <a:cs typeface="Calibri"/>
                <a:sym typeface="Calibri"/>
              </a:rPr>
              <a:t>The instructions must also be correctly </a:t>
            </a:r>
            <a:r>
              <a:rPr b="1" lang="en-GB" sz="2800">
                <a:solidFill>
                  <a:srgbClr val="6759A2"/>
                </a:solidFill>
                <a:latin typeface="Calibri"/>
                <a:ea typeface="Calibri"/>
                <a:cs typeface="Calibri"/>
                <a:sym typeface="Calibri"/>
              </a:rPr>
              <a:t>sequenced</a:t>
            </a:r>
            <a:r>
              <a:rPr b="1" lang="en-GB" sz="2800">
                <a:solidFill>
                  <a:schemeClr val="dk1"/>
                </a:solidFill>
                <a:latin typeface="Calibri"/>
                <a:ea typeface="Calibri"/>
                <a:cs typeface="Calibri"/>
                <a:sym typeface="Calibri"/>
              </a:rPr>
              <a:t> </a:t>
            </a:r>
            <a:r>
              <a:rPr lang="en-GB" sz="2800">
                <a:solidFill>
                  <a:schemeClr val="dk1"/>
                </a:solidFill>
                <a:latin typeface="Calibri"/>
                <a:ea typeface="Calibri"/>
                <a:cs typeface="Calibri"/>
                <a:sym typeface="Calibri"/>
              </a:rPr>
              <a:t>because the computer will carry out each instruction in turn.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9"/>
          <p:cNvSpPr txBox="1"/>
          <p:nvPr>
            <p:ph type="title"/>
          </p:nvPr>
        </p:nvSpPr>
        <p:spPr>
          <a:xfrm>
            <a:off x="1614799" y="846406"/>
            <a:ext cx="10037685" cy="86574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Activity 1.2: Finding the way to the exit</a:t>
            </a:r>
            <a:endParaRPr/>
          </a:p>
        </p:txBody>
      </p:sp>
      <p:pic>
        <p:nvPicPr>
          <p:cNvPr descr="A picture containing athletic game, basketball, sport&#10;&#10;Description automatically generated" id="123" name="Google Shape;123;p19"/>
          <p:cNvPicPr preferRelativeResize="0"/>
          <p:nvPr/>
        </p:nvPicPr>
        <p:blipFill rotWithShape="1">
          <a:blip r:embed="rId3">
            <a:alphaModFix/>
          </a:blip>
          <a:srcRect b="0" l="0" r="0" t="0"/>
          <a:stretch/>
        </p:blipFill>
        <p:spPr>
          <a:xfrm>
            <a:off x="3802216" y="1967027"/>
            <a:ext cx="4587567" cy="449484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0"/>
          <p:cNvSpPr txBox="1"/>
          <p:nvPr>
            <p:ph type="title"/>
          </p:nvPr>
        </p:nvSpPr>
        <p:spPr>
          <a:xfrm>
            <a:off x="1614799" y="846406"/>
            <a:ext cx="10037685" cy="86574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More than one solution</a:t>
            </a:r>
            <a:endParaRPr/>
          </a:p>
        </p:txBody>
      </p:sp>
      <p:sp>
        <p:nvSpPr>
          <p:cNvPr id="129" name="Google Shape;129;p20"/>
          <p:cNvSpPr/>
          <p:nvPr/>
        </p:nvSpPr>
        <p:spPr>
          <a:xfrm>
            <a:off x="4617687" y="1889437"/>
            <a:ext cx="6640927" cy="424731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400">
                <a:solidFill>
                  <a:schemeClr val="dk1"/>
                </a:solidFill>
                <a:latin typeface="Calibri"/>
                <a:ea typeface="Calibri"/>
                <a:cs typeface="Calibri"/>
                <a:sym typeface="Calibri"/>
              </a:rPr>
              <a:t>There is more than one way to program the robot to find the exit. Here is one solution:</a:t>
            </a:r>
            <a:endParaRPr/>
          </a:p>
          <a:p>
            <a:pPr indent="0" lvl="6" marL="2743200" marR="0" rtl="0" algn="l">
              <a:spcBef>
                <a:spcPts val="0"/>
              </a:spcBef>
              <a:spcAft>
                <a:spcPts val="0"/>
              </a:spcAft>
              <a:buNone/>
            </a:pPr>
            <a:r>
              <a:rPr b="0" i="0" lang="en-GB" sz="1800" u="none" cap="none" strike="noStrike">
                <a:solidFill>
                  <a:schemeClr val="dk1"/>
                </a:solidFill>
                <a:latin typeface="Courier New"/>
                <a:ea typeface="Courier New"/>
                <a:cs typeface="Courier New"/>
                <a:sym typeface="Courier New"/>
              </a:rPr>
              <a:t>fd 8</a:t>
            </a:r>
            <a:endParaRPr b="0" i="0" sz="1800" u="none" cap="none" strike="noStrike">
              <a:solidFill>
                <a:schemeClr val="dk1"/>
              </a:solidFill>
              <a:latin typeface="Courier New"/>
              <a:ea typeface="Courier New"/>
              <a:cs typeface="Courier New"/>
              <a:sym typeface="Courier New"/>
            </a:endParaRPr>
          </a:p>
          <a:p>
            <a:pPr indent="0" lvl="6" marL="2743200" marR="0" rtl="0" algn="l">
              <a:spcBef>
                <a:spcPts val="0"/>
              </a:spcBef>
              <a:spcAft>
                <a:spcPts val="0"/>
              </a:spcAft>
              <a:buNone/>
            </a:pPr>
            <a:r>
              <a:rPr b="0" i="0" lang="en-GB" sz="1800" u="none" cap="none" strike="noStrike">
                <a:solidFill>
                  <a:schemeClr val="dk1"/>
                </a:solidFill>
                <a:latin typeface="Courier New"/>
                <a:ea typeface="Courier New"/>
                <a:cs typeface="Courier New"/>
                <a:sym typeface="Courier New"/>
              </a:rPr>
              <a:t>rt 90</a:t>
            </a:r>
            <a:endParaRPr b="0" i="0" sz="1800" u="none" cap="none" strike="noStrike">
              <a:solidFill>
                <a:schemeClr val="dk1"/>
              </a:solidFill>
              <a:latin typeface="Courier New"/>
              <a:ea typeface="Courier New"/>
              <a:cs typeface="Courier New"/>
              <a:sym typeface="Courier New"/>
            </a:endParaRPr>
          </a:p>
          <a:p>
            <a:pPr indent="0" lvl="6" marL="2743200" marR="0" rtl="0" algn="l">
              <a:spcBef>
                <a:spcPts val="0"/>
              </a:spcBef>
              <a:spcAft>
                <a:spcPts val="0"/>
              </a:spcAft>
              <a:buNone/>
            </a:pPr>
            <a:r>
              <a:rPr b="0" i="0" lang="en-GB" sz="1800" u="none" cap="none" strike="noStrike">
                <a:solidFill>
                  <a:schemeClr val="dk1"/>
                </a:solidFill>
                <a:latin typeface="Courier New"/>
                <a:ea typeface="Courier New"/>
                <a:cs typeface="Courier New"/>
                <a:sym typeface="Courier New"/>
              </a:rPr>
              <a:t>fd 5</a:t>
            </a:r>
            <a:endParaRPr b="0" i="0" sz="1800" u="none" cap="none" strike="noStrike">
              <a:solidFill>
                <a:schemeClr val="dk1"/>
              </a:solidFill>
              <a:latin typeface="Courier New"/>
              <a:ea typeface="Courier New"/>
              <a:cs typeface="Courier New"/>
              <a:sym typeface="Courier New"/>
            </a:endParaRPr>
          </a:p>
          <a:p>
            <a:pPr indent="0" lvl="6" marL="2743200" marR="0" rtl="0" algn="l">
              <a:spcBef>
                <a:spcPts val="0"/>
              </a:spcBef>
              <a:spcAft>
                <a:spcPts val="0"/>
              </a:spcAft>
              <a:buNone/>
            </a:pPr>
            <a:r>
              <a:rPr b="0" i="0" lang="en-GB" sz="1800" u="none" cap="none" strike="noStrike">
                <a:solidFill>
                  <a:schemeClr val="dk1"/>
                </a:solidFill>
                <a:latin typeface="Courier New"/>
                <a:ea typeface="Courier New"/>
                <a:cs typeface="Courier New"/>
                <a:sym typeface="Courier New"/>
              </a:rPr>
              <a:t>rt 90</a:t>
            </a:r>
            <a:endParaRPr b="0" i="0" sz="1800" u="none" cap="none" strike="noStrike">
              <a:solidFill>
                <a:schemeClr val="dk1"/>
              </a:solidFill>
              <a:latin typeface="Courier New"/>
              <a:ea typeface="Courier New"/>
              <a:cs typeface="Courier New"/>
              <a:sym typeface="Courier New"/>
            </a:endParaRPr>
          </a:p>
          <a:p>
            <a:pPr indent="0" lvl="6" marL="2743200" marR="0" rtl="0" algn="l">
              <a:spcBef>
                <a:spcPts val="0"/>
              </a:spcBef>
              <a:spcAft>
                <a:spcPts val="0"/>
              </a:spcAft>
              <a:buNone/>
            </a:pPr>
            <a:r>
              <a:rPr b="0" i="0" lang="en-GB" sz="1800" u="none" cap="none" strike="noStrike">
                <a:solidFill>
                  <a:schemeClr val="dk1"/>
                </a:solidFill>
                <a:latin typeface="Courier New"/>
                <a:ea typeface="Courier New"/>
                <a:cs typeface="Courier New"/>
                <a:sym typeface="Courier New"/>
              </a:rPr>
              <a:t>fd 4</a:t>
            </a:r>
            <a:endParaRPr/>
          </a:p>
          <a:p>
            <a:pPr indent="0" lvl="6" marL="2743200" marR="0" rtl="0" algn="l">
              <a:spcBef>
                <a:spcPts val="0"/>
              </a:spcBef>
              <a:spcAft>
                <a:spcPts val="0"/>
              </a:spcAft>
              <a:buNone/>
            </a:pPr>
            <a:r>
              <a:rPr b="0" i="0" lang="en-GB" sz="1800" u="none" cap="none" strike="noStrike">
                <a:solidFill>
                  <a:schemeClr val="dk1"/>
                </a:solidFill>
                <a:latin typeface="Courier New"/>
                <a:ea typeface="Courier New"/>
                <a:cs typeface="Courier New"/>
                <a:sym typeface="Courier New"/>
              </a:rPr>
              <a:t>lt 90</a:t>
            </a:r>
            <a:endParaRPr/>
          </a:p>
          <a:p>
            <a:pPr indent="0" lvl="6" marL="2743200" marR="0" rtl="0" algn="l">
              <a:spcBef>
                <a:spcPts val="0"/>
              </a:spcBef>
              <a:spcAft>
                <a:spcPts val="0"/>
              </a:spcAft>
              <a:buNone/>
            </a:pPr>
            <a:r>
              <a:rPr b="0" i="0" lang="en-GB" sz="1800" u="none" cap="none" strike="noStrike">
                <a:solidFill>
                  <a:schemeClr val="dk1"/>
                </a:solidFill>
                <a:latin typeface="Courier New"/>
                <a:ea typeface="Courier New"/>
                <a:cs typeface="Courier New"/>
                <a:sym typeface="Courier New"/>
              </a:rPr>
              <a:t>fd 3</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n-GB" sz="2400">
                <a:solidFill>
                  <a:schemeClr val="dk1"/>
                </a:solidFill>
                <a:latin typeface="Calibri"/>
                <a:ea typeface="Calibri"/>
                <a:cs typeface="Calibri"/>
                <a:sym typeface="Calibri"/>
              </a:rPr>
              <a:t>Just as there is more than one way to program the robot to find the exit, there is often more than one way to write most computer programs.</a:t>
            </a:r>
            <a:endParaRPr/>
          </a:p>
        </p:txBody>
      </p:sp>
      <p:pic>
        <p:nvPicPr>
          <p:cNvPr descr="Chart, bar chart&#10;&#10;Description automatically generated" id="130" name="Google Shape;130;p20"/>
          <p:cNvPicPr preferRelativeResize="0"/>
          <p:nvPr/>
        </p:nvPicPr>
        <p:blipFill rotWithShape="1">
          <a:blip r:embed="rId3">
            <a:alphaModFix/>
          </a:blip>
          <a:srcRect b="0" l="0" r="0" t="0"/>
          <a:stretch/>
        </p:blipFill>
        <p:spPr>
          <a:xfrm>
            <a:off x="1142392" y="2494571"/>
            <a:ext cx="2703576" cy="2913888"/>
          </a:xfrm>
          <a:prstGeom prst="rect">
            <a:avLst/>
          </a:prstGeom>
          <a:noFill/>
          <a:ln>
            <a:noFill/>
          </a:ln>
        </p:spPr>
      </p:pic>
      <p:sp>
        <p:nvSpPr>
          <p:cNvPr id="131" name="Google Shape;131;p20"/>
          <p:cNvSpPr txBox="1"/>
          <p:nvPr/>
        </p:nvSpPr>
        <p:spPr>
          <a:xfrm>
            <a:off x="9989573" y="2236837"/>
            <a:ext cx="1553497" cy="25853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cs</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rt -90</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fd 100</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rt 90</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fd 100</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rt 90</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fd 50</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rt -90</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fd 50</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1"/>
          <p:cNvSpPr txBox="1"/>
          <p:nvPr>
            <p:ph type="title"/>
          </p:nvPr>
        </p:nvSpPr>
        <p:spPr>
          <a:xfrm>
            <a:off x="1604860" y="854765"/>
            <a:ext cx="10037685" cy="77525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3200"/>
              <a:buFont typeface="Calibri"/>
              <a:buNone/>
            </a:pPr>
            <a:r>
              <a:rPr b="1" lang="en-GB" sz="3200">
                <a:solidFill>
                  <a:schemeClr val="lt1"/>
                </a:solidFill>
              </a:rPr>
              <a:t>Activity 1.3: Programming in Python: sequence, Section 1</a:t>
            </a:r>
            <a:endParaRPr/>
          </a:p>
        </p:txBody>
      </p:sp>
      <p:pic>
        <p:nvPicPr>
          <p:cNvPr descr="A picture containing athletic game, basketball, sport&#10;&#10;Description automatically generated" id="137" name="Google Shape;137;p21"/>
          <p:cNvPicPr preferRelativeResize="0"/>
          <p:nvPr/>
        </p:nvPicPr>
        <p:blipFill rotWithShape="1">
          <a:blip r:embed="rId3">
            <a:alphaModFix/>
          </a:blip>
          <a:srcRect b="0" l="0" r="0" t="0"/>
          <a:stretch/>
        </p:blipFill>
        <p:spPr>
          <a:xfrm>
            <a:off x="3802217" y="3915807"/>
            <a:ext cx="2598584" cy="2546060"/>
          </a:xfrm>
          <a:prstGeom prst="rect">
            <a:avLst/>
          </a:prstGeom>
          <a:noFill/>
          <a:ln>
            <a:noFill/>
          </a:ln>
        </p:spPr>
      </p:pic>
      <p:sp>
        <p:nvSpPr>
          <p:cNvPr id="138" name="Google Shape;138;p21"/>
          <p:cNvSpPr/>
          <p:nvPr/>
        </p:nvSpPr>
        <p:spPr>
          <a:xfrm>
            <a:off x="2004870" y="2900205"/>
            <a:ext cx="7556941" cy="46166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400">
                <a:solidFill>
                  <a:schemeClr val="dk1"/>
                </a:solidFill>
                <a:latin typeface="Calibri"/>
                <a:ea typeface="Calibri"/>
                <a:cs typeface="Calibri"/>
                <a:sym typeface="Calibri"/>
              </a:rPr>
              <a:t>https://www.w3schools.com/python/python_variables.asp</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2"/>
          <p:cNvSpPr txBox="1"/>
          <p:nvPr>
            <p:ph type="title"/>
          </p:nvPr>
        </p:nvSpPr>
        <p:spPr>
          <a:xfrm>
            <a:off x="1614799" y="846406"/>
            <a:ext cx="10037685" cy="743855"/>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Quiz 1</a:t>
            </a:r>
            <a:endParaRPr/>
          </a:p>
        </p:txBody>
      </p:sp>
      <p:pic>
        <p:nvPicPr>
          <p:cNvPr descr="A picture containing athletic game, basketball, sport&#10;&#10;Description automatically generated" id="144" name="Google Shape;144;p22"/>
          <p:cNvPicPr preferRelativeResize="0"/>
          <p:nvPr/>
        </p:nvPicPr>
        <p:blipFill rotWithShape="1">
          <a:blip r:embed="rId3">
            <a:alphaModFix/>
          </a:blip>
          <a:srcRect b="0" l="0" r="0" t="0"/>
          <a:stretch/>
        </p:blipFill>
        <p:spPr>
          <a:xfrm>
            <a:off x="3802216" y="1967027"/>
            <a:ext cx="4587567" cy="449484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