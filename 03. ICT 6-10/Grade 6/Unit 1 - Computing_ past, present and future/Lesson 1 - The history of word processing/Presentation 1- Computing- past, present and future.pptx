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1" Type="http://schemas.openxmlformats.org/officeDocument/2006/relationships/slide" Target="slides/slide7.xml"/><Relationship Id="rId10" Type="http://schemas.openxmlformats.org/officeDocument/2006/relationships/slide" Target="slides/slide6.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 name="Google Shape;82;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3" name="Google Shape;83;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 name="Google Shape;90;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1" name="Google Shape;91;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8" name="Google Shape;98;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 name="Google Shape;104;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 name="Google Shape;11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3" name="Google Shape;11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 name="Google Shape;121;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2" name="Google Shape;122;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 name="Google Shape;128;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9" name="Google Shape;129;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 name="Google Shape;135;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 name="Google Shape;143;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4" name="Google Shape;144;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 name="Google Shape;150;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1" name="Google Shape;151;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 name="Google Shape;159;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0" name="Google Shape;160;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 name="Google Shape;166;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7" name="Google Shape;167;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 name="Google Shape;174;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5" name="Google Shape;175;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 name="Google Shape;182;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3" name="Google Shape;183;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 name="Shape 187"/>
        <p:cNvGrpSpPr/>
        <p:nvPr/>
      </p:nvGrpSpPr>
      <p:grpSpPr>
        <a:xfrm>
          <a:off x="0" y="0"/>
          <a:ext cx="0" cy="0"/>
          <a:chOff x="0" y="0"/>
          <a:chExt cx="0" cy="0"/>
        </a:xfrm>
      </p:grpSpPr>
      <p:sp>
        <p:nvSpPr>
          <p:cNvPr id="188" name="Google Shape;188;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 name="Google Shape;189;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0" name="Google Shape;190;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4" name="Shape 14"/>
        <p:cNvGrpSpPr/>
        <p:nvPr/>
      </p:nvGrpSpPr>
      <p:grpSpPr>
        <a:xfrm>
          <a:off x="0" y="0"/>
          <a:ext cx="0" cy="0"/>
          <a:chOff x="0" y="0"/>
          <a:chExt cx="0" cy="0"/>
        </a:xfrm>
      </p:grpSpPr>
      <p:sp>
        <p:nvSpPr>
          <p:cNvPr id="15" name="Google Shape;15;p2"/>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6" name="Google Shape;16;p2"/>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7" name="Shape 17"/>
        <p:cNvGrpSpPr/>
        <p:nvPr/>
      </p:nvGrpSpPr>
      <p:grpSpPr>
        <a:xfrm>
          <a:off x="0" y="0"/>
          <a:ext cx="0" cy="0"/>
          <a:chOff x="0" y="0"/>
          <a:chExt cx="0" cy="0"/>
        </a:xfrm>
      </p:grpSpPr>
      <p:sp>
        <p:nvSpPr>
          <p:cNvPr id="18" name="Google Shape;18;p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9" name="Google Shape;19;p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0" name="Google Shape;20;p3"/>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21" name="Google Shape;21;p3"/>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22" name="Google Shape;22;p3"/>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3" name="Shape 23"/>
        <p:cNvGrpSpPr/>
        <p:nvPr/>
      </p:nvGrpSpPr>
      <p:grpSpPr>
        <a:xfrm>
          <a:off x="0" y="0"/>
          <a:ext cx="0" cy="0"/>
          <a:chOff x="0" y="0"/>
          <a:chExt cx="0" cy="0"/>
        </a:xfrm>
      </p:grpSpPr>
      <p:sp>
        <p:nvSpPr>
          <p:cNvPr id="24" name="Google Shape;24;p4"/>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5" name="Google Shape;25;p4"/>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888888"/>
              </a:buClr>
              <a:buSzPts val="2400"/>
              <a:buNone/>
              <a:defRPr sz="2400">
                <a:solidFill>
                  <a:srgbClr val="888888"/>
                </a:solidFill>
              </a:defRPr>
            </a:lvl1pPr>
            <a:lvl2pPr indent="-228600" lvl="1" marL="914400" algn="l">
              <a:lnSpc>
                <a:spcPct val="90000"/>
              </a:lnSpc>
              <a:spcBef>
                <a:spcPts val="500"/>
              </a:spcBef>
              <a:spcAft>
                <a:spcPts val="0"/>
              </a:spcAft>
              <a:buClr>
                <a:srgbClr val="888888"/>
              </a:buClr>
              <a:buSzPts val="2000"/>
              <a:buNone/>
              <a:defRPr sz="2000">
                <a:solidFill>
                  <a:srgbClr val="888888"/>
                </a:solidFill>
              </a:defRPr>
            </a:lvl2pPr>
            <a:lvl3pPr indent="-228600" lvl="2" marL="1371600" algn="l">
              <a:lnSpc>
                <a:spcPct val="90000"/>
              </a:lnSpc>
              <a:spcBef>
                <a:spcPts val="500"/>
              </a:spcBef>
              <a:spcAft>
                <a:spcPts val="0"/>
              </a:spcAft>
              <a:buClr>
                <a:srgbClr val="888888"/>
              </a:buClr>
              <a:buSzPts val="1800"/>
              <a:buNone/>
              <a:defRPr sz="1800">
                <a:solidFill>
                  <a:srgbClr val="888888"/>
                </a:solidFill>
              </a:defRPr>
            </a:lvl3pPr>
            <a:lvl4pPr indent="-228600" lvl="3" marL="1828800" algn="l">
              <a:lnSpc>
                <a:spcPct val="90000"/>
              </a:lnSpc>
              <a:spcBef>
                <a:spcPts val="500"/>
              </a:spcBef>
              <a:spcAft>
                <a:spcPts val="0"/>
              </a:spcAft>
              <a:buClr>
                <a:srgbClr val="888888"/>
              </a:buClr>
              <a:buSzPts val="1600"/>
              <a:buNone/>
              <a:defRPr sz="1600">
                <a:solidFill>
                  <a:srgbClr val="888888"/>
                </a:solidFill>
              </a:defRPr>
            </a:lvl4pPr>
            <a:lvl5pPr indent="-228600" lvl="4" marL="2286000" algn="l">
              <a:lnSpc>
                <a:spcPct val="90000"/>
              </a:lnSpc>
              <a:spcBef>
                <a:spcPts val="500"/>
              </a:spcBef>
              <a:spcAft>
                <a:spcPts val="0"/>
              </a:spcAft>
              <a:buClr>
                <a:srgbClr val="888888"/>
              </a:buClr>
              <a:buSzPts val="1600"/>
              <a:buNone/>
              <a:defRPr sz="1600">
                <a:solidFill>
                  <a:srgbClr val="888888"/>
                </a:solidFill>
              </a:defRPr>
            </a:lvl5pPr>
            <a:lvl6pPr indent="-228600" lvl="5" marL="2743200" algn="l">
              <a:lnSpc>
                <a:spcPct val="90000"/>
              </a:lnSpc>
              <a:spcBef>
                <a:spcPts val="500"/>
              </a:spcBef>
              <a:spcAft>
                <a:spcPts val="0"/>
              </a:spcAft>
              <a:buClr>
                <a:srgbClr val="888888"/>
              </a:buClr>
              <a:buSzPts val="1600"/>
              <a:buNone/>
              <a:defRPr sz="1600">
                <a:solidFill>
                  <a:srgbClr val="888888"/>
                </a:solidFill>
              </a:defRPr>
            </a:lvl6pPr>
            <a:lvl7pPr indent="-228600" lvl="6" marL="3200400" algn="l">
              <a:lnSpc>
                <a:spcPct val="90000"/>
              </a:lnSpc>
              <a:spcBef>
                <a:spcPts val="500"/>
              </a:spcBef>
              <a:spcAft>
                <a:spcPts val="0"/>
              </a:spcAft>
              <a:buClr>
                <a:srgbClr val="888888"/>
              </a:buClr>
              <a:buSzPts val="1600"/>
              <a:buNone/>
              <a:defRPr sz="1600">
                <a:solidFill>
                  <a:srgbClr val="888888"/>
                </a:solidFill>
              </a:defRPr>
            </a:lvl7pPr>
            <a:lvl8pPr indent="-228600" lvl="7" marL="3657600" algn="l">
              <a:lnSpc>
                <a:spcPct val="90000"/>
              </a:lnSpc>
              <a:spcBef>
                <a:spcPts val="500"/>
              </a:spcBef>
              <a:spcAft>
                <a:spcPts val="0"/>
              </a:spcAft>
              <a:buClr>
                <a:srgbClr val="888888"/>
              </a:buClr>
              <a:buSzPts val="1600"/>
              <a:buNone/>
              <a:defRPr sz="1600">
                <a:solidFill>
                  <a:srgbClr val="888888"/>
                </a:solidFill>
              </a:defRPr>
            </a:lvl8pPr>
            <a:lvl9pPr indent="-228600" lvl="8" marL="4114800" algn="l">
              <a:lnSpc>
                <a:spcPct val="90000"/>
              </a:lnSpc>
              <a:spcBef>
                <a:spcPts val="500"/>
              </a:spcBef>
              <a:spcAft>
                <a:spcPts val="0"/>
              </a:spcAft>
              <a:buClr>
                <a:srgbClr val="888888"/>
              </a:buClr>
              <a:buSzPts val="1600"/>
              <a:buNone/>
              <a:defRPr sz="1600">
                <a:solidFill>
                  <a:srgbClr val="888888"/>
                </a:solidFill>
              </a:defRPr>
            </a:lvl9pPr>
          </a:lstStyle>
          <a:p/>
        </p:txBody>
      </p:sp>
      <p:sp>
        <p:nvSpPr>
          <p:cNvPr id="26" name="Google Shape;26;p4"/>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27" name="Google Shape;27;p4"/>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28" name="Google Shape;28;p4"/>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29" name="Shape 29"/>
        <p:cNvGrpSpPr/>
        <p:nvPr/>
      </p:nvGrpSpPr>
      <p:grpSpPr>
        <a:xfrm>
          <a:off x="0" y="0"/>
          <a:ext cx="0" cy="0"/>
          <a:chOff x="0" y="0"/>
          <a:chExt cx="0" cy="0"/>
        </a:xfrm>
      </p:grpSpPr>
      <p:sp>
        <p:nvSpPr>
          <p:cNvPr id="30" name="Google Shape;30;p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1" name="Google Shape;31;p5"/>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2" name="Google Shape;32;p5"/>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3" name="Google Shape;33;p5"/>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34" name="Google Shape;34;p5"/>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35" name="Google Shape;35;p5"/>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36" name="Shape 36"/>
        <p:cNvGrpSpPr/>
        <p:nvPr/>
      </p:nvGrpSpPr>
      <p:grpSpPr>
        <a:xfrm>
          <a:off x="0" y="0"/>
          <a:ext cx="0" cy="0"/>
          <a:chOff x="0" y="0"/>
          <a:chExt cx="0" cy="0"/>
        </a:xfrm>
      </p:grpSpPr>
      <p:sp>
        <p:nvSpPr>
          <p:cNvPr id="37" name="Google Shape;37;p6"/>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6"/>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39" name="Google Shape;39;p6"/>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0" name="Google Shape;40;p6"/>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1" name="Google Shape;41;p6"/>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2" name="Google Shape;42;p6"/>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3" name="Google Shape;43;p6"/>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4" name="Google Shape;44;p6"/>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5" name="Shape 45"/>
        <p:cNvGrpSpPr/>
        <p:nvPr/>
      </p:nvGrpSpPr>
      <p:grpSpPr>
        <a:xfrm>
          <a:off x="0" y="0"/>
          <a:ext cx="0" cy="0"/>
          <a:chOff x="0" y="0"/>
          <a:chExt cx="0" cy="0"/>
        </a:xfrm>
      </p:grpSpPr>
      <p:sp>
        <p:nvSpPr>
          <p:cNvPr id="46" name="Google Shape;46;p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8" name="Google Shape;48;p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9" name="Google Shape;49;p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0" name="Shape 50"/>
        <p:cNvGrpSpPr/>
        <p:nvPr/>
      </p:nvGrpSpPr>
      <p:grpSpPr>
        <a:xfrm>
          <a:off x="0" y="0"/>
          <a:ext cx="0" cy="0"/>
          <a:chOff x="0" y="0"/>
          <a:chExt cx="0" cy="0"/>
        </a:xfrm>
      </p:grpSpPr>
      <p:sp>
        <p:nvSpPr>
          <p:cNvPr id="51" name="Google Shape;51;p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2" name="Google Shape;52;p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3" name="Google Shape;53;p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57" name="Google Shape;57;p9"/>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58" name="Google Shape;58;p9"/>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9" name="Google Shape;59;p9"/>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60" name="Google Shape;60;p9"/>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5183188" y="987425"/>
            <a:ext cx="6172200" cy="4873625"/>
          </a:xfrm>
          <a:prstGeom prst="rect">
            <a:avLst/>
          </a:prstGeom>
          <a:noFill/>
          <a:ln>
            <a:noFill/>
          </a:ln>
        </p:spPr>
      </p:sp>
      <p:sp>
        <p:nvSpPr>
          <p:cNvPr id="64" name="Google Shape;64;p10"/>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5" name="Google Shape;65;p10"/>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66" name="Google Shape;66;p10"/>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67" name="Google Shape;67;p10"/>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1" name="Google Shape;71;p11"/>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72" name="Google Shape;72;p11"/>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73" name="Google Shape;73;p11"/>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7" name="Google Shape;77;p12"/>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78" name="Google Shape;78;p12"/>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79" name="Google Shape;79;p12"/>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0.xml"/><Relationship Id="rId10" Type="http://schemas.openxmlformats.org/officeDocument/2006/relationships/slideLayout" Target="../slideLayouts/slideLayout9.xml"/><Relationship Id="rId13" Type="http://schemas.openxmlformats.org/officeDocument/2006/relationships/theme" Target="../theme/theme1.xml"/><Relationship Id="rId12" Type="http://schemas.openxmlformats.org/officeDocument/2006/relationships/slideLayout" Target="../slideLayouts/slideLayout11.xml"/><Relationship Id="rId1" Type="http://schemas.openxmlformats.org/officeDocument/2006/relationships/image" Target="../media/image1.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9" Type="http://schemas.openxmlformats.org/officeDocument/2006/relationships/slideLayout" Target="../slideLayouts/slideLayout8.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pic>
        <p:nvPicPr>
          <p:cNvPr descr="Shape, rectangle&#10;&#10;Description automatically generated" id="10" name="Google Shape;10;p1"/>
          <p:cNvPicPr preferRelativeResize="0"/>
          <p:nvPr/>
        </p:nvPicPr>
        <p:blipFill rotWithShape="1">
          <a:blip r:embed="rId1">
            <a:alphaModFix/>
          </a:blip>
          <a:srcRect b="0" l="0" r="0" t="0"/>
          <a:stretch/>
        </p:blipFill>
        <p:spPr>
          <a:xfrm>
            <a:off x="0" y="-794"/>
            <a:ext cx="12192000" cy="1616288"/>
          </a:xfrm>
          <a:prstGeom prst="rect">
            <a:avLst/>
          </a:prstGeom>
          <a:noFill/>
          <a:ln>
            <a:noFill/>
          </a:ln>
        </p:spPr>
      </p:pic>
      <p:sp>
        <p:nvSpPr>
          <p:cNvPr id="11" name="Google Shape;11;p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2" name="Google Shape;12;p1"/>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3" name="Google Shape;13;p1"/>
          <p:cNvSpPr txBox="1"/>
          <p:nvPr/>
        </p:nvSpPr>
        <p:spPr>
          <a:xfrm>
            <a:off x="7547114" y="6380197"/>
            <a:ext cx="4114800" cy="365125"/>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b="0" i="0" lang="en-GB" sz="1200" u="none" cap="none" strike="noStrike">
                <a:solidFill>
                  <a:schemeClr val="dk1"/>
                </a:solidFill>
                <a:latin typeface="Calibri"/>
                <a:ea typeface="Calibri"/>
                <a:cs typeface="Calibri"/>
                <a:sym typeface="Calibri"/>
              </a:rPr>
              <a:t>© Hodder &amp; Stoughton Limited 2021</a:t>
            </a:r>
            <a:endParaRPr/>
          </a:p>
        </p:txBody>
      </p:sp>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4.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5.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8.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3"/>
          <p:cNvSpPr/>
          <p:nvPr/>
        </p:nvSpPr>
        <p:spPr>
          <a:xfrm>
            <a:off x="2709208" y="4165132"/>
            <a:ext cx="4245265" cy="40011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i="0" lang="en-GB" sz="2000" u="none" cap="none" strike="noStrike">
                <a:solidFill>
                  <a:srgbClr val="0075BE"/>
                </a:solidFill>
                <a:latin typeface="Calibri"/>
                <a:ea typeface="Calibri"/>
                <a:cs typeface="Calibri"/>
                <a:sym typeface="Calibri"/>
              </a:rPr>
              <a:t>Lesson 1: A history of word processing</a:t>
            </a:r>
            <a:endParaRPr b="1" sz="2000">
              <a:solidFill>
                <a:srgbClr val="0075BE"/>
              </a:solidFill>
              <a:latin typeface="Calibri"/>
              <a:ea typeface="Calibri"/>
              <a:cs typeface="Calibri"/>
              <a:sym typeface="Calibri"/>
            </a:endParaRPr>
          </a:p>
        </p:txBody>
      </p:sp>
      <p:pic>
        <p:nvPicPr>
          <p:cNvPr id="86" name="Google Shape;86;p13"/>
          <p:cNvPicPr preferRelativeResize="0"/>
          <p:nvPr/>
        </p:nvPicPr>
        <p:blipFill rotWithShape="1">
          <a:blip r:embed="rId3">
            <a:alphaModFix/>
          </a:blip>
          <a:srcRect b="0" l="0" r="0" t="0"/>
          <a:stretch/>
        </p:blipFill>
        <p:spPr>
          <a:xfrm>
            <a:off x="7997868" y="2740504"/>
            <a:ext cx="1519603" cy="2849256"/>
          </a:xfrm>
          <a:prstGeom prst="rect">
            <a:avLst/>
          </a:prstGeom>
          <a:noFill/>
          <a:ln>
            <a:noFill/>
          </a:ln>
          <a:effectLst>
            <a:outerShdw blurRad="50800" rotWithShape="0" algn="tl" dir="2700000" dist="38100">
              <a:srgbClr val="000000">
                <a:alpha val="40000"/>
              </a:srgbClr>
            </a:outerShdw>
          </a:effectLst>
        </p:spPr>
      </p:pic>
      <p:sp>
        <p:nvSpPr>
          <p:cNvPr id="87" name="Google Shape;87;p13"/>
          <p:cNvSpPr txBox="1"/>
          <p:nvPr/>
        </p:nvSpPr>
        <p:spPr>
          <a:xfrm>
            <a:off x="906011" y="2642532"/>
            <a:ext cx="6048462" cy="1522600"/>
          </a:xfrm>
          <a:prstGeom prst="rect">
            <a:avLst/>
          </a:prstGeom>
          <a:noFill/>
          <a:ln>
            <a:noFill/>
          </a:ln>
        </p:spPr>
        <p:txBody>
          <a:bodyPr anchorCtr="0" anchor="b" bIns="45700" lIns="91425" spcFirstLastPara="1" rIns="91425" wrap="square" tIns="45700">
            <a:noAutofit/>
          </a:bodyPr>
          <a:lstStyle/>
          <a:p>
            <a:pPr indent="0" lvl="0" marL="0" marR="0" rtl="0" algn="r">
              <a:lnSpc>
                <a:spcPct val="90000"/>
              </a:lnSpc>
              <a:spcBef>
                <a:spcPts val="0"/>
              </a:spcBef>
              <a:spcAft>
                <a:spcPts val="0"/>
              </a:spcAft>
              <a:buClr>
                <a:schemeClr val="dk1"/>
              </a:buClr>
              <a:buSzPts val="4400"/>
              <a:buFont typeface="Calibri"/>
              <a:buNone/>
            </a:pPr>
            <a:r>
              <a:rPr b="1" lang="en-GB" sz="4400" u="none">
                <a:solidFill>
                  <a:schemeClr val="dk1"/>
                </a:solidFill>
                <a:latin typeface="Calibri"/>
                <a:ea typeface="Calibri"/>
                <a:cs typeface="Calibri"/>
                <a:sym typeface="Calibri"/>
              </a:rPr>
              <a:t>Computing: </a:t>
            </a:r>
            <a:endParaRPr/>
          </a:p>
          <a:p>
            <a:pPr indent="0" lvl="0" marL="0" marR="0" rtl="0" algn="r">
              <a:lnSpc>
                <a:spcPct val="90000"/>
              </a:lnSpc>
              <a:spcBef>
                <a:spcPts val="0"/>
              </a:spcBef>
              <a:spcAft>
                <a:spcPts val="0"/>
              </a:spcAft>
              <a:buClr>
                <a:schemeClr val="dk1"/>
              </a:buClr>
              <a:buSzPts val="4400"/>
              <a:buFont typeface="Calibri"/>
              <a:buNone/>
            </a:pPr>
            <a:r>
              <a:rPr b="1" lang="en-GB" sz="4400" u="none">
                <a:solidFill>
                  <a:schemeClr val="dk1"/>
                </a:solidFill>
                <a:latin typeface="Calibri"/>
                <a:ea typeface="Calibri"/>
                <a:cs typeface="Calibri"/>
                <a:sym typeface="Calibri"/>
              </a:rPr>
              <a:t>past, present and future</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14"/>
          <p:cNvSpPr txBox="1"/>
          <p:nvPr>
            <p:ph type="title"/>
          </p:nvPr>
        </p:nvSpPr>
        <p:spPr>
          <a:xfrm>
            <a:off x="1610413" y="798504"/>
            <a:ext cx="9634330" cy="766349"/>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Objectives</a:t>
            </a:r>
            <a:endParaRPr/>
          </a:p>
        </p:txBody>
      </p:sp>
      <p:sp>
        <p:nvSpPr>
          <p:cNvPr id="94" name="Google Shape;94;p14"/>
          <p:cNvSpPr/>
          <p:nvPr/>
        </p:nvSpPr>
        <p:spPr>
          <a:xfrm>
            <a:off x="1610412" y="2944860"/>
            <a:ext cx="6854079" cy="1392112"/>
          </a:xfrm>
          <a:prstGeom prst="rect">
            <a:avLst/>
          </a:prstGeom>
          <a:noFill/>
          <a:ln>
            <a:noFill/>
          </a:ln>
        </p:spPr>
        <p:txBody>
          <a:bodyPr anchorCtr="0" anchor="t" bIns="45700" lIns="91425" spcFirstLastPara="1" rIns="91425" wrap="square" tIns="45700">
            <a:noAutofit/>
          </a:bodyPr>
          <a:lstStyle/>
          <a:p>
            <a:pPr indent="0" lvl="0" marL="0" marR="0" rtl="0" algn="l">
              <a:lnSpc>
                <a:spcPct val="107000"/>
              </a:lnSpc>
              <a:spcBef>
                <a:spcPts val="0"/>
              </a:spcBef>
              <a:spcAft>
                <a:spcPts val="0"/>
              </a:spcAft>
              <a:buNone/>
            </a:pPr>
            <a:r>
              <a:rPr lang="en-GB" sz="3200">
                <a:solidFill>
                  <a:schemeClr val="dk1"/>
                </a:solidFill>
                <a:latin typeface="Calibri"/>
                <a:ea typeface="Calibri"/>
                <a:cs typeface="Calibri"/>
                <a:sym typeface="Calibri"/>
              </a:rPr>
              <a:t>In this lesson, you will:</a:t>
            </a:r>
            <a:endParaRPr sz="3200">
              <a:solidFill>
                <a:schemeClr val="dk1"/>
              </a:solidFill>
              <a:latin typeface="Calibri"/>
              <a:ea typeface="Calibri"/>
              <a:cs typeface="Calibri"/>
              <a:sym typeface="Calibri"/>
            </a:endParaRPr>
          </a:p>
          <a:p>
            <a:pPr indent="-342900" lvl="0" marL="342900" marR="0" rtl="0" algn="l">
              <a:lnSpc>
                <a:spcPct val="107000"/>
              </a:lnSpc>
              <a:spcBef>
                <a:spcPts val="0"/>
              </a:spcBef>
              <a:spcAft>
                <a:spcPts val="0"/>
              </a:spcAft>
              <a:buClr>
                <a:schemeClr val="dk1"/>
              </a:buClr>
              <a:buSzPts val="2400"/>
              <a:buFont typeface="Noto Sans Symbols"/>
              <a:buChar char="∙"/>
            </a:pPr>
            <a:r>
              <a:rPr lang="en-GB" sz="2400">
                <a:solidFill>
                  <a:schemeClr val="dk1"/>
                </a:solidFill>
                <a:latin typeface="Calibri"/>
                <a:ea typeface="Calibri"/>
                <a:cs typeface="Calibri"/>
                <a:sym typeface="Calibri"/>
              </a:rPr>
              <a:t>learn about the history of word processing</a:t>
            </a:r>
            <a:endParaRPr sz="2400">
              <a:solidFill>
                <a:schemeClr val="dk1"/>
              </a:solidFill>
              <a:latin typeface="Calibri"/>
              <a:ea typeface="Calibri"/>
              <a:cs typeface="Calibri"/>
              <a:sym typeface="Calibri"/>
            </a:endParaRPr>
          </a:p>
          <a:p>
            <a:pPr indent="-342900" lvl="0" marL="342900" marR="0" rtl="0" algn="l">
              <a:lnSpc>
                <a:spcPct val="107000"/>
              </a:lnSpc>
              <a:spcBef>
                <a:spcPts val="0"/>
              </a:spcBef>
              <a:spcAft>
                <a:spcPts val="0"/>
              </a:spcAft>
              <a:buClr>
                <a:schemeClr val="dk1"/>
              </a:buClr>
              <a:buSzPts val="2400"/>
              <a:buFont typeface="Noto Sans Symbols"/>
              <a:buChar char="∙"/>
            </a:pPr>
            <a:r>
              <a:rPr lang="en-GB" sz="2400">
                <a:solidFill>
                  <a:schemeClr val="dk1"/>
                </a:solidFill>
                <a:latin typeface="Calibri"/>
                <a:ea typeface="Calibri"/>
                <a:cs typeface="Calibri"/>
                <a:sym typeface="Calibri"/>
              </a:rPr>
              <a:t>familiarise yourself with word-processing software.</a:t>
            </a:r>
            <a:endParaRPr sz="24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15"/>
          <p:cNvSpPr txBox="1"/>
          <p:nvPr>
            <p:ph type="title"/>
          </p:nvPr>
        </p:nvSpPr>
        <p:spPr>
          <a:xfrm>
            <a:off x="1610413" y="798504"/>
            <a:ext cx="9634330" cy="766349"/>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Do Now</a:t>
            </a:r>
            <a:endParaRPr b="1">
              <a:solidFill>
                <a:schemeClr val="lt1"/>
              </a:solidFill>
            </a:endParaRPr>
          </a:p>
        </p:txBody>
      </p:sp>
      <p:sp>
        <p:nvSpPr>
          <p:cNvPr id="101" name="Google Shape;101;p15"/>
          <p:cNvSpPr/>
          <p:nvPr/>
        </p:nvSpPr>
        <p:spPr>
          <a:xfrm>
            <a:off x="1610412" y="2944860"/>
            <a:ext cx="6854079" cy="1409617"/>
          </a:xfrm>
          <a:prstGeom prst="rect">
            <a:avLst/>
          </a:prstGeom>
          <a:noFill/>
          <a:ln>
            <a:noFill/>
          </a:ln>
        </p:spPr>
        <p:txBody>
          <a:bodyPr anchorCtr="0" anchor="t" bIns="45700" lIns="91425" spcFirstLastPara="1" rIns="91425" wrap="square" tIns="45700">
            <a:noAutofit/>
          </a:bodyPr>
          <a:lstStyle/>
          <a:p>
            <a:pPr indent="0" lvl="0" marL="0" marR="0" rtl="0" algn="l">
              <a:lnSpc>
                <a:spcPct val="107000"/>
              </a:lnSpc>
              <a:spcBef>
                <a:spcPts val="0"/>
              </a:spcBef>
              <a:spcAft>
                <a:spcPts val="0"/>
              </a:spcAft>
              <a:buNone/>
            </a:pPr>
            <a:r>
              <a:rPr lang="en-GB" sz="3200">
                <a:solidFill>
                  <a:schemeClr val="dk1"/>
                </a:solidFill>
                <a:latin typeface="Calibri"/>
                <a:ea typeface="Calibri"/>
                <a:cs typeface="Calibri"/>
                <a:sym typeface="Calibri"/>
              </a:rPr>
              <a:t>Discuss in pairs:</a:t>
            </a:r>
            <a:endParaRPr sz="3200">
              <a:solidFill>
                <a:schemeClr val="dk1"/>
              </a:solidFill>
              <a:latin typeface="Calibri"/>
              <a:ea typeface="Calibri"/>
              <a:cs typeface="Calibri"/>
              <a:sym typeface="Calibri"/>
            </a:endParaRPr>
          </a:p>
          <a:p>
            <a:pPr indent="-342900" lvl="0" marL="342900" marR="0" rtl="0" algn="l">
              <a:lnSpc>
                <a:spcPct val="107000"/>
              </a:lnSpc>
              <a:spcBef>
                <a:spcPts val="0"/>
              </a:spcBef>
              <a:spcAft>
                <a:spcPts val="0"/>
              </a:spcAft>
              <a:buClr>
                <a:schemeClr val="dk1"/>
              </a:buClr>
              <a:buSzPts val="2400"/>
              <a:buFont typeface="Noto Sans Symbols"/>
              <a:buChar char="∙"/>
            </a:pPr>
            <a:r>
              <a:rPr lang="en-GB" sz="2400">
                <a:solidFill>
                  <a:schemeClr val="dk1"/>
                </a:solidFill>
                <a:latin typeface="Calibri"/>
                <a:ea typeface="Calibri"/>
                <a:cs typeface="Calibri"/>
                <a:sym typeface="Calibri"/>
              </a:rPr>
              <a:t>How did people process words in past?</a:t>
            </a:r>
            <a:endParaRPr/>
          </a:p>
          <a:p>
            <a:pPr indent="-342900" lvl="0" marL="342900" marR="0" rtl="0" algn="l">
              <a:lnSpc>
                <a:spcPct val="107000"/>
              </a:lnSpc>
              <a:spcBef>
                <a:spcPts val="0"/>
              </a:spcBef>
              <a:spcAft>
                <a:spcPts val="0"/>
              </a:spcAft>
              <a:buClr>
                <a:schemeClr val="dk1"/>
              </a:buClr>
              <a:buSzPts val="2400"/>
              <a:buFont typeface="Noto Sans Symbols"/>
              <a:buChar char="∙"/>
            </a:pPr>
            <a:r>
              <a:rPr lang="en-GB" sz="2400">
                <a:solidFill>
                  <a:schemeClr val="dk1"/>
                </a:solidFill>
                <a:latin typeface="Calibri"/>
                <a:ea typeface="Calibri"/>
                <a:cs typeface="Calibri"/>
                <a:sym typeface="Calibri"/>
              </a:rPr>
              <a:t>What word-processing software do you know?</a:t>
            </a:r>
            <a:endParaRPr sz="24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pic>
        <p:nvPicPr>
          <p:cNvPr descr="Text, letter&#10;&#10;Description automatically generated" id="107" name="Google Shape;107;p16"/>
          <p:cNvPicPr preferRelativeResize="0"/>
          <p:nvPr/>
        </p:nvPicPr>
        <p:blipFill rotWithShape="1">
          <a:blip r:embed="rId3">
            <a:alphaModFix/>
          </a:blip>
          <a:srcRect b="0" l="0" r="0" t="0"/>
          <a:stretch/>
        </p:blipFill>
        <p:spPr>
          <a:xfrm>
            <a:off x="7255474" y="1940678"/>
            <a:ext cx="4326926" cy="4218626"/>
          </a:xfrm>
          <a:prstGeom prst="rect">
            <a:avLst/>
          </a:prstGeom>
          <a:noFill/>
          <a:ln>
            <a:noFill/>
          </a:ln>
        </p:spPr>
      </p:pic>
      <p:sp>
        <p:nvSpPr>
          <p:cNvPr id="108" name="Google Shape;108;p16"/>
          <p:cNvSpPr txBox="1"/>
          <p:nvPr>
            <p:ph type="title"/>
          </p:nvPr>
        </p:nvSpPr>
        <p:spPr>
          <a:xfrm>
            <a:off x="1605489" y="794492"/>
            <a:ext cx="9773478" cy="845862"/>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Writing by hand</a:t>
            </a:r>
            <a:endParaRPr/>
          </a:p>
        </p:txBody>
      </p:sp>
      <p:sp>
        <p:nvSpPr>
          <p:cNvPr id="109" name="Google Shape;109;p16"/>
          <p:cNvSpPr/>
          <p:nvPr/>
        </p:nvSpPr>
        <p:spPr>
          <a:xfrm>
            <a:off x="1605489" y="2380590"/>
            <a:ext cx="5378785" cy="3338799"/>
          </a:xfrm>
          <a:prstGeom prst="rect">
            <a:avLst/>
          </a:prstGeom>
          <a:noFill/>
          <a:ln>
            <a:noFill/>
          </a:ln>
        </p:spPr>
        <p:txBody>
          <a:bodyPr anchorCtr="0" anchor="t" bIns="45700" lIns="91425" spcFirstLastPara="1" rIns="91425" wrap="square" tIns="45700">
            <a:noAutofit/>
          </a:bodyPr>
          <a:lstStyle/>
          <a:p>
            <a:pPr indent="0" lvl="0" marL="0" marR="0" rtl="0" algn="l">
              <a:lnSpc>
                <a:spcPct val="107000"/>
              </a:lnSpc>
              <a:spcBef>
                <a:spcPts val="0"/>
              </a:spcBef>
              <a:spcAft>
                <a:spcPts val="0"/>
              </a:spcAft>
              <a:buNone/>
            </a:pPr>
            <a:r>
              <a:rPr lang="en-GB" sz="2400">
                <a:solidFill>
                  <a:schemeClr val="dk1"/>
                </a:solidFill>
                <a:latin typeface="Calibri"/>
                <a:ea typeface="Calibri"/>
                <a:cs typeface="Calibri"/>
                <a:sym typeface="Calibri"/>
              </a:rPr>
              <a:t>Before word-processing applications, most people hand-wrote documents.</a:t>
            </a:r>
            <a:endParaRPr sz="2400">
              <a:solidFill>
                <a:schemeClr val="dk1"/>
              </a:solidFill>
              <a:latin typeface="Calibri"/>
              <a:ea typeface="Calibri"/>
              <a:cs typeface="Calibri"/>
              <a:sym typeface="Calibri"/>
            </a:endParaRPr>
          </a:p>
          <a:p>
            <a:pPr indent="0" lvl="0" marL="0" marR="0" rtl="0" algn="l">
              <a:lnSpc>
                <a:spcPct val="107000"/>
              </a:lnSpc>
              <a:spcBef>
                <a:spcPts val="0"/>
              </a:spcBef>
              <a:spcAft>
                <a:spcPts val="0"/>
              </a:spcAft>
              <a:buNone/>
            </a:pPr>
            <a:r>
              <a:t/>
            </a:r>
            <a:endParaRPr b="1" sz="2400">
              <a:solidFill>
                <a:srgbClr val="FF0000"/>
              </a:solidFill>
              <a:latin typeface="Calibri"/>
              <a:ea typeface="Calibri"/>
              <a:cs typeface="Calibri"/>
              <a:sym typeface="Calibri"/>
            </a:endParaRPr>
          </a:p>
          <a:p>
            <a:pPr indent="0" lvl="0" marL="0" marR="0" rtl="0" algn="l">
              <a:lnSpc>
                <a:spcPct val="107000"/>
              </a:lnSpc>
              <a:spcBef>
                <a:spcPts val="800"/>
              </a:spcBef>
              <a:spcAft>
                <a:spcPts val="0"/>
              </a:spcAft>
              <a:buNone/>
            </a:pPr>
            <a:r>
              <a:rPr lang="en-GB" sz="2400">
                <a:solidFill>
                  <a:schemeClr val="dk1"/>
                </a:solidFill>
                <a:latin typeface="Calibri"/>
                <a:ea typeface="Calibri"/>
                <a:cs typeface="Calibri"/>
                <a:sym typeface="Calibri"/>
              </a:rPr>
              <a:t>This is a page from </a:t>
            </a:r>
            <a:r>
              <a:rPr i="1" lang="en-GB" sz="2400">
                <a:solidFill>
                  <a:schemeClr val="dk1"/>
                </a:solidFill>
                <a:latin typeface="Calibri"/>
                <a:ea typeface="Calibri"/>
                <a:cs typeface="Calibri"/>
                <a:sym typeface="Calibri"/>
              </a:rPr>
              <a:t>The Picture of Dorian Gray</a:t>
            </a:r>
            <a:r>
              <a:rPr lang="en-GB" sz="2400">
                <a:solidFill>
                  <a:schemeClr val="dk1"/>
                </a:solidFill>
                <a:latin typeface="Calibri"/>
                <a:ea typeface="Calibri"/>
                <a:cs typeface="Calibri"/>
                <a:sym typeface="Calibri"/>
              </a:rPr>
              <a:t> by Oscar Wilde, which was first published in 1890. The printed book has about 300 pages. Imagine writing 300 pages by hand!</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17"/>
          <p:cNvSpPr txBox="1"/>
          <p:nvPr>
            <p:ph type="title"/>
          </p:nvPr>
        </p:nvSpPr>
        <p:spPr>
          <a:xfrm>
            <a:off x="1594911" y="787653"/>
            <a:ext cx="9733721" cy="83592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Using a typewriter</a:t>
            </a:r>
            <a:endParaRPr/>
          </a:p>
        </p:txBody>
      </p:sp>
      <p:sp>
        <p:nvSpPr>
          <p:cNvPr id="116" name="Google Shape;116;p17"/>
          <p:cNvSpPr/>
          <p:nvPr/>
        </p:nvSpPr>
        <p:spPr>
          <a:xfrm>
            <a:off x="1594911" y="2036972"/>
            <a:ext cx="6303764" cy="2974532"/>
          </a:xfrm>
          <a:prstGeom prst="rect">
            <a:avLst/>
          </a:prstGeom>
          <a:noFill/>
          <a:ln>
            <a:noFill/>
          </a:ln>
        </p:spPr>
        <p:txBody>
          <a:bodyPr anchorCtr="0" anchor="t" bIns="45700" lIns="91425" spcFirstLastPara="1" rIns="91425" wrap="square" tIns="45700">
            <a:noAutofit/>
          </a:bodyPr>
          <a:lstStyle/>
          <a:p>
            <a:pPr indent="0" lvl="0" marL="0" marR="0" rtl="0" algn="l">
              <a:lnSpc>
                <a:spcPct val="107000"/>
              </a:lnSpc>
              <a:spcBef>
                <a:spcPts val="0"/>
              </a:spcBef>
              <a:spcAft>
                <a:spcPts val="0"/>
              </a:spcAft>
              <a:buNone/>
            </a:pPr>
            <a:r>
              <a:rPr lang="en-GB" sz="2200">
                <a:solidFill>
                  <a:schemeClr val="dk1"/>
                </a:solidFill>
                <a:latin typeface="Calibri"/>
                <a:ea typeface="Calibri"/>
                <a:cs typeface="Calibri"/>
                <a:sym typeface="Calibri"/>
              </a:rPr>
              <a:t>From the mid-nineteenth century, people who wrote a lot were able to make use of a mechanical device known as a typewriter to format their text.</a:t>
            </a:r>
            <a:endParaRPr sz="2200">
              <a:solidFill>
                <a:schemeClr val="dk1"/>
              </a:solidFill>
              <a:latin typeface="Calibri"/>
              <a:ea typeface="Calibri"/>
              <a:cs typeface="Calibri"/>
              <a:sym typeface="Calibri"/>
            </a:endParaRPr>
          </a:p>
          <a:p>
            <a:pPr indent="0" lvl="0" marL="0" marR="0" rtl="0" algn="l">
              <a:lnSpc>
                <a:spcPct val="107000"/>
              </a:lnSpc>
              <a:spcBef>
                <a:spcPts val="0"/>
              </a:spcBef>
              <a:spcAft>
                <a:spcPts val="0"/>
              </a:spcAft>
              <a:buNone/>
            </a:pPr>
            <a:r>
              <a:rPr lang="en-GB" sz="2200">
                <a:solidFill>
                  <a:schemeClr val="dk1"/>
                </a:solidFill>
                <a:latin typeface="Calibri"/>
                <a:ea typeface="Calibri"/>
                <a:cs typeface="Calibri"/>
                <a:sym typeface="Calibri"/>
              </a:rPr>
              <a:t>A typewriter is a mechanical text-printing machine.</a:t>
            </a:r>
            <a:endParaRPr sz="2200">
              <a:solidFill>
                <a:schemeClr val="dk1"/>
              </a:solidFill>
              <a:latin typeface="Calibri"/>
              <a:ea typeface="Calibri"/>
              <a:cs typeface="Calibri"/>
              <a:sym typeface="Calibri"/>
            </a:endParaRPr>
          </a:p>
          <a:p>
            <a:pPr indent="0" lvl="0" marL="0" marR="0" rtl="0" algn="l">
              <a:lnSpc>
                <a:spcPct val="107000"/>
              </a:lnSpc>
              <a:spcBef>
                <a:spcPts val="0"/>
              </a:spcBef>
              <a:spcAft>
                <a:spcPts val="0"/>
              </a:spcAft>
              <a:buNone/>
            </a:pPr>
            <a:r>
              <a:rPr lang="en-GB" sz="2200">
                <a:solidFill>
                  <a:schemeClr val="dk1"/>
                </a:solidFill>
                <a:latin typeface="Calibri"/>
                <a:ea typeface="Calibri"/>
                <a:cs typeface="Calibri"/>
                <a:sym typeface="Calibri"/>
              </a:rPr>
              <a:t>The text is printed directly onto sheets of paper and there is only one font and one font size. </a:t>
            </a:r>
            <a:endParaRPr/>
          </a:p>
          <a:p>
            <a:pPr indent="0" lvl="0" marL="0" marR="0" rtl="0" algn="l">
              <a:lnSpc>
                <a:spcPct val="107000"/>
              </a:lnSpc>
              <a:spcBef>
                <a:spcPts val="0"/>
              </a:spcBef>
              <a:spcAft>
                <a:spcPts val="0"/>
              </a:spcAft>
              <a:buNone/>
            </a:pPr>
            <a:r>
              <a:rPr lang="en-GB" sz="2200">
                <a:solidFill>
                  <a:schemeClr val="dk1"/>
                </a:solidFill>
                <a:latin typeface="Calibri"/>
                <a:ea typeface="Calibri"/>
                <a:cs typeface="Calibri"/>
                <a:sym typeface="Calibri"/>
              </a:rPr>
              <a:t>Some typewriters can type in two colours, black and red, but most type only in black.</a:t>
            </a:r>
            <a:endParaRPr sz="2200">
              <a:solidFill>
                <a:schemeClr val="dk1"/>
              </a:solidFill>
              <a:latin typeface="Calibri"/>
              <a:ea typeface="Calibri"/>
              <a:cs typeface="Calibri"/>
              <a:sym typeface="Calibri"/>
            </a:endParaRPr>
          </a:p>
        </p:txBody>
      </p:sp>
      <p:pic>
        <p:nvPicPr>
          <p:cNvPr descr="A picture containing typewriter&#10;&#10;Description automatically generated" id="117" name="Google Shape;117;p17"/>
          <p:cNvPicPr preferRelativeResize="0"/>
          <p:nvPr/>
        </p:nvPicPr>
        <p:blipFill rotWithShape="1">
          <a:blip r:embed="rId3">
            <a:alphaModFix/>
          </a:blip>
          <a:srcRect b="0" l="0" r="0" t="0"/>
          <a:stretch/>
        </p:blipFill>
        <p:spPr>
          <a:xfrm>
            <a:off x="8199783" y="2285444"/>
            <a:ext cx="3714514" cy="2477588"/>
          </a:xfrm>
          <a:prstGeom prst="rect">
            <a:avLst/>
          </a:prstGeom>
          <a:noFill/>
          <a:ln>
            <a:noFill/>
          </a:ln>
        </p:spPr>
      </p:pic>
      <p:sp>
        <p:nvSpPr>
          <p:cNvPr id="118" name="Google Shape;118;p17"/>
          <p:cNvSpPr/>
          <p:nvPr/>
        </p:nvSpPr>
        <p:spPr>
          <a:xfrm>
            <a:off x="1594911" y="4897737"/>
            <a:ext cx="9221136" cy="1163139"/>
          </a:xfrm>
          <a:prstGeom prst="rect">
            <a:avLst/>
          </a:prstGeom>
          <a:noFill/>
          <a:ln>
            <a:noFill/>
          </a:ln>
        </p:spPr>
        <p:txBody>
          <a:bodyPr anchorCtr="0" anchor="t" bIns="45700" lIns="91425" spcFirstLastPara="1" rIns="91425" wrap="square" tIns="45700">
            <a:noAutofit/>
          </a:bodyPr>
          <a:lstStyle/>
          <a:p>
            <a:pPr indent="0" lvl="0" marL="0" marR="0" rtl="0" algn="l">
              <a:lnSpc>
                <a:spcPct val="107000"/>
              </a:lnSpc>
              <a:spcBef>
                <a:spcPts val="0"/>
              </a:spcBef>
              <a:spcAft>
                <a:spcPts val="0"/>
              </a:spcAft>
              <a:buNone/>
            </a:pPr>
            <a:r>
              <a:rPr lang="en-GB" sz="2200">
                <a:solidFill>
                  <a:schemeClr val="dk1"/>
                </a:solidFill>
                <a:latin typeface="Calibri"/>
                <a:ea typeface="Calibri"/>
                <a:cs typeface="Calibri"/>
                <a:sym typeface="Calibri"/>
              </a:rPr>
              <a:t>Documents can be duplicated using carbon paper (thin sheets of paper coated in carbon that are placed between sheets of paper ensuring the text is appears on each page).</a:t>
            </a:r>
            <a:endParaRPr sz="22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sp>
        <p:nvSpPr>
          <p:cNvPr id="124" name="Google Shape;124;p18"/>
          <p:cNvSpPr txBox="1"/>
          <p:nvPr>
            <p:ph type="title"/>
          </p:nvPr>
        </p:nvSpPr>
        <p:spPr>
          <a:xfrm>
            <a:off x="1600201" y="786103"/>
            <a:ext cx="9753599" cy="845862"/>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The first word-processing application </a:t>
            </a:r>
            <a:endParaRPr/>
          </a:p>
        </p:txBody>
      </p:sp>
      <p:sp>
        <p:nvSpPr>
          <p:cNvPr id="125" name="Google Shape;125;p18"/>
          <p:cNvSpPr/>
          <p:nvPr/>
        </p:nvSpPr>
        <p:spPr>
          <a:xfrm>
            <a:off x="1600201" y="2328031"/>
            <a:ext cx="8318862" cy="3110275"/>
          </a:xfrm>
          <a:prstGeom prst="rect">
            <a:avLst/>
          </a:prstGeom>
          <a:noFill/>
          <a:ln>
            <a:noFill/>
          </a:ln>
        </p:spPr>
        <p:txBody>
          <a:bodyPr anchorCtr="0" anchor="t" bIns="45700" lIns="91425" spcFirstLastPara="1" rIns="91425" wrap="square" tIns="45700">
            <a:noAutofit/>
          </a:bodyPr>
          <a:lstStyle/>
          <a:p>
            <a:pPr indent="0" lvl="0" marL="0" marR="0" rtl="0" algn="l">
              <a:lnSpc>
                <a:spcPct val="107000"/>
              </a:lnSpc>
              <a:spcBef>
                <a:spcPts val="0"/>
              </a:spcBef>
              <a:spcAft>
                <a:spcPts val="0"/>
              </a:spcAft>
              <a:buNone/>
            </a:pPr>
            <a:r>
              <a:rPr lang="en-GB" sz="2400">
                <a:solidFill>
                  <a:schemeClr val="dk1"/>
                </a:solidFill>
                <a:latin typeface="Calibri"/>
                <a:ea typeface="Calibri"/>
                <a:cs typeface="Calibri"/>
                <a:sym typeface="Calibri"/>
              </a:rPr>
              <a:t>It is impossible to assess the full impact that the invention of word processing has had on the world since the first commercial </a:t>
            </a:r>
            <a:r>
              <a:rPr b="1" lang="en-GB" sz="2400">
                <a:solidFill>
                  <a:srgbClr val="0069B4"/>
                </a:solidFill>
                <a:latin typeface="Calibri"/>
                <a:ea typeface="Calibri"/>
                <a:cs typeface="Calibri"/>
                <a:sym typeface="Calibri"/>
              </a:rPr>
              <a:t>word-processing software</a:t>
            </a:r>
            <a:r>
              <a:rPr lang="en-GB" sz="2400">
                <a:solidFill>
                  <a:schemeClr val="dk1"/>
                </a:solidFill>
                <a:latin typeface="Calibri"/>
                <a:ea typeface="Calibri"/>
                <a:cs typeface="Calibri"/>
                <a:sym typeface="Calibri"/>
              </a:rPr>
              <a:t>, </a:t>
            </a:r>
            <a:r>
              <a:rPr b="1" lang="en-GB" sz="2400">
                <a:solidFill>
                  <a:schemeClr val="dk1"/>
                </a:solidFill>
                <a:latin typeface="Calibri"/>
                <a:ea typeface="Calibri"/>
                <a:cs typeface="Calibri"/>
                <a:sym typeface="Calibri"/>
              </a:rPr>
              <a:t>Word Star</a:t>
            </a:r>
            <a:r>
              <a:rPr lang="en-GB" sz="2400">
                <a:solidFill>
                  <a:schemeClr val="dk1"/>
                </a:solidFill>
                <a:latin typeface="Calibri"/>
                <a:ea typeface="Calibri"/>
                <a:cs typeface="Calibri"/>
                <a:sym typeface="Calibri"/>
              </a:rPr>
              <a:t>, was published in 1978.</a:t>
            </a:r>
            <a:endParaRPr/>
          </a:p>
          <a:p>
            <a:pPr indent="0" lvl="0" marL="0" marR="0" rtl="0" algn="l">
              <a:lnSpc>
                <a:spcPct val="107000"/>
              </a:lnSpc>
              <a:spcBef>
                <a:spcPts val="0"/>
              </a:spcBef>
              <a:spcAft>
                <a:spcPts val="0"/>
              </a:spcAft>
              <a:buNone/>
            </a:pPr>
            <a:r>
              <a:t/>
            </a:r>
            <a:endParaRPr sz="2400">
              <a:solidFill>
                <a:schemeClr val="dk1"/>
              </a:solidFill>
              <a:latin typeface="Calibri"/>
              <a:ea typeface="Calibri"/>
              <a:cs typeface="Calibri"/>
              <a:sym typeface="Calibri"/>
            </a:endParaRPr>
          </a:p>
          <a:p>
            <a:pPr indent="0" lvl="0" marL="0" marR="0" rtl="0" algn="l">
              <a:lnSpc>
                <a:spcPct val="107000"/>
              </a:lnSpc>
              <a:spcBef>
                <a:spcPts val="0"/>
              </a:spcBef>
              <a:spcAft>
                <a:spcPts val="0"/>
              </a:spcAft>
              <a:buNone/>
            </a:pPr>
            <a:r>
              <a:rPr lang="en-GB" sz="2400">
                <a:solidFill>
                  <a:schemeClr val="dk1"/>
                </a:solidFill>
                <a:latin typeface="Calibri"/>
                <a:ea typeface="Calibri"/>
                <a:cs typeface="Calibri"/>
                <a:sym typeface="Calibri"/>
              </a:rPr>
              <a:t>The combination of word-processing applications, spreadsheets and affordable personal computers triggered an explosion in the market for computers, both for office and home use.</a:t>
            </a:r>
            <a:endParaRPr sz="2400">
              <a:solidFill>
                <a:schemeClr val="dk1"/>
              </a:solidFill>
              <a:latin typeface="Calibri"/>
              <a:ea typeface="Calibri"/>
              <a:cs typeface="Calibri"/>
              <a:sym typeface="Calibri"/>
            </a:endParaRPr>
          </a:p>
          <a:p>
            <a:pPr indent="0" lvl="0" marL="0" marR="0" rtl="0" algn="l">
              <a:lnSpc>
                <a:spcPct val="107000"/>
              </a:lnSpc>
              <a:spcBef>
                <a:spcPts val="0"/>
              </a:spcBef>
              <a:spcAft>
                <a:spcPts val="0"/>
              </a:spcAft>
              <a:buNone/>
            </a:pPr>
            <a:r>
              <a:t/>
            </a:r>
            <a:endParaRPr sz="16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 name="Shape 130"/>
        <p:cNvGrpSpPr/>
        <p:nvPr/>
      </p:nvGrpSpPr>
      <p:grpSpPr>
        <a:xfrm>
          <a:off x="0" y="0"/>
          <a:ext cx="0" cy="0"/>
          <a:chOff x="0" y="0"/>
          <a:chExt cx="0" cy="0"/>
        </a:xfrm>
      </p:grpSpPr>
      <p:sp>
        <p:nvSpPr>
          <p:cNvPr id="131" name="Google Shape;131;p19"/>
          <p:cNvSpPr txBox="1"/>
          <p:nvPr>
            <p:ph type="title"/>
          </p:nvPr>
        </p:nvSpPr>
        <p:spPr>
          <a:xfrm>
            <a:off x="1589632" y="796072"/>
            <a:ext cx="10037685" cy="86574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Activity 1.1: Documents through time</a:t>
            </a:r>
            <a:endParaRPr/>
          </a:p>
        </p:txBody>
      </p:sp>
      <p:pic>
        <p:nvPicPr>
          <p:cNvPr descr="A picture containing athletic game, basketball, sport&#10;&#10;Description automatically generated" id="132" name="Google Shape;132;p19"/>
          <p:cNvPicPr preferRelativeResize="0"/>
          <p:nvPr/>
        </p:nvPicPr>
        <p:blipFill rotWithShape="1">
          <a:blip r:embed="rId3">
            <a:alphaModFix/>
          </a:blip>
          <a:srcRect b="0" l="0" r="0" t="0"/>
          <a:stretch/>
        </p:blipFill>
        <p:spPr>
          <a:xfrm>
            <a:off x="3802216" y="1967027"/>
            <a:ext cx="4587567" cy="449484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600201" y="786103"/>
            <a:ext cx="9753599" cy="845862"/>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A mind map</a:t>
            </a:r>
            <a:endParaRPr/>
          </a:p>
        </p:txBody>
      </p:sp>
      <p:sp>
        <p:nvSpPr>
          <p:cNvPr id="139" name="Google Shape;139;p20"/>
          <p:cNvSpPr/>
          <p:nvPr/>
        </p:nvSpPr>
        <p:spPr>
          <a:xfrm>
            <a:off x="1600201" y="2579396"/>
            <a:ext cx="4184583" cy="2677656"/>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400">
                <a:solidFill>
                  <a:schemeClr val="dk1"/>
                </a:solidFill>
                <a:latin typeface="Calibri"/>
                <a:ea typeface="Calibri"/>
                <a:cs typeface="Calibri"/>
                <a:sym typeface="Calibri"/>
              </a:rPr>
              <a:t>A mind map is diagram that organises information around a central concept or topic. Pieces of information are linked together, with more important information closer to the centre.</a:t>
            </a:r>
            <a:endParaRPr sz="2400">
              <a:solidFill>
                <a:schemeClr val="dk1"/>
              </a:solidFill>
              <a:latin typeface="Calibri"/>
              <a:ea typeface="Calibri"/>
              <a:cs typeface="Calibri"/>
              <a:sym typeface="Calibri"/>
            </a:endParaRPr>
          </a:p>
        </p:txBody>
      </p:sp>
      <p:pic>
        <p:nvPicPr>
          <p:cNvPr descr="Diagram, schematic&#10;&#10;Description automatically generated" id="140" name="Google Shape;140;p20"/>
          <p:cNvPicPr preferRelativeResize="0"/>
          <p:nvPr/>
        </p:nvPicPr>
        <p:blipFill rotWithShape="1">
          <a:blip r:embed="rId3">
            <a:alphaModFix/>
          </a:blip>
          <a:srcRect b="0" l="0" r="0" t="0"/>
          <a:stretch/>
        </p:blipFill>
        <p:spPr>
          <a:xfrm>
            <a:off x="6096000" y="1869968"/>
            <a:ext cx="5330952" cy="4411822"/>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 name="Shape 145"/>
        <p:cNvGrpSpPr/>
        <p:nvPr/>
      </p:nvGrpSpPr>
      <p:grpSpPr>
        <a:xfrm>
          <a:off x="0" y="0"/>
          <a:ext cx="0" cy="0"/>
          <a:chOff x="0" y="0"/>
          <a:chExt cx="0" cy="0"/>
        </a:xfrm>
      </p:grpSpPr>
      <p:sp>
        <p:nvSpPr>
          <p:cNvPr id="146" name="Google Shape;146;p21"/>
          <p:cNvSpPr txBox="1"/>
          <p:nvPr>
            <p:ph type="title"/>
          </p:nvPr>
        </p:nvSpPr>
        <p:spPr>
          <a:xfrm>
            <a:off x="1594911" y="787653"/>
            <a:ext cx="9733721" cy="835923"/>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Clr>
                <a:schemeClr val="lt1"/>
              </a:buClr>
              <a:buSzPts val="3200"/>
              <a:buFont typeface="Calibri"/>
              <a:buNone/>
            </a:pPr>
            <a:r>
              <a:rPr b="1" lang="en-GB" sz="3200">
                <a:solidFill>
                  <a:schemeClr val="lt1"/>
                </a:solidFill>
              </a:rPr>
              <a:t>Using word-processing software to create a mind map</a:t>
            </a:r>
            <a:endParaRPr/>
          </a:p>
        </p:txBody>
      </p:sp>
      <p:sp>
        <p:nvSpPr>
          <p:cNvPr id="147" name="Google Shape;147;p21"/>
          <p:cNvSpPr/>
          <p:nvPr/>
        </p:nvSpPr>
        <p:spPr>
          <a:xfrm>
            <a:off x="1594911" y="2008979"/>
            <a:ext cx="9166133" cy="4061368"/>
          </a:xfrm>
          <a:prstGeom prst="rect">
            <a:avLst/>
          </a:prstGeom>
          <a:noFill/>
          <a:ln>
            <a:noFill/>
          </a:ln>
        </p:spPr>
        <p:txBody>
          <a:bodyPr anchorCtr="0" anchor="t" bIns="45700" lIns="91425" spcFirstLastPara="1" rIns="91425" wrap="square" tIns="45700">
            <a:noAutofit/>
          </a:bodyPr>
          <a:lstStyle/>
          <a:p>
            <a:pPr indent="-342900" lvl="0" marL="342900" marR="0" rtl="0" algn="l">
              <a:lnSpc>
                <a:spcPct val="107000"/>
              </a:lnSpc>
              <a:spcBef>
                <a:spcPts val="0"/>
              </a:spcBef>
              <a:spcAft>
                <a:spcPts val="0"/>
              </a:spcAft>
              <a:buClr>
                <a:schemeClr val="dk1"/>
              </a:buClr>
              <a:buSzPts val="2200"/>
              <a:buFont typeface="Arial"/>
              <a:buChar char="•"/>
            </a:pPr>
            <a:r>
              <a:rPr lang="en-GB" sz="2200">
                <a:solidFill>
                  <a:schemeClr val="dk1"/>
                </a:solidFill>
                <a:latin typeface="Calibri"/>
                <a:ea typeface="Calibri"/>
                <a:cs typeface="Calibri"/>
                <a:sym typeface="Calibri"/>
              </a:rPr>
              <a:t>You can create a mind map in a Word document using ‘Shapes’ on the ‘Insert tab’ and typing text into the shapes.</a:t>
            </a:r>
            <a:endParaRPr/>
          </a:p>
          <a:p>
            <a:pPr indent="-203200" lvl="0" marL="342900" marR="0" rtl="0" algn="l">
              <a:lnSpc>
                <a:spcPct val="107000"/>
              </a:lnSpc>
              <a:spcBef>
                <a:spcPts val="0"/>
              </a:spcBef>
              <a:spcAft>
                <a:spcPts val="0"/>
              </a:spcAft>
              <a:buClr>
                <a:schemeClr val="dk1"/>
              </a:buClr>
              <a:buSzPts val="2200"/>
              <a:buFont typeface="Arial"/>
              <a:buNone/>
            </a:pPr>
            <a:r>
              <a:t/>
            </a:r>
            <a:endParaRPr sz="2200">
              <a:solidFill>
                <a:schemeClr val="dk1"/>
              </a:solidFill>
              <a:latin typeface="Calibri"/>
              <a:ea typeface="Calibri"/>
              <a:cs typeface="Calibri"/>
              <a:sym typeface="Calibri"/>
            </a:endParaRPr>
          </a:p>
          <a:p>
            <a:pPr indent="-342900" lvl="0" marL="342900" marR="0" rtl="0" algn="l">
              <a:lnSpc>
                <a:spcPct val="107000"/>
              </a:lnSpc>
              <a:spcBef>
                <a:spcPts val="0"/>
              </a:spcBef>
              <a:spcAft>
                <a:spcPts val="0"/>
              </a:spcAft>
              <a:buClr>
                <a:schemeClr val="dk1"/>
              </a:buClr>
              <a:buSzPts val="2200"/>
              <a:buFont typeface="Arial"/>
              <a:buChar char="•"/>
            </a:pPr>
            <a:r>
              <a:rPr lang="en-GB" sz="2200">
                <a:solidFill>
                  <a:schemeClr val="dk1"/>
                </a:solidFill>
                <a:latin typeface="Calibri"/>
                <a:ea typeface="Calibri"/>
                <a:cs typeface="Calibri"/>
                <a:sym typeface="Calibri"/>
              </a:rPr>
              <a:t>You can create a mind map in Google Docs using the ‘Drawing’ tools on the ‘Insert’ tab and typing text into text boxes.</a:t>
            </a:r>
            <a:endParaRPr/>
          </a:p>
          <a:p>
            <a:pPr indent="-203200" lvl="0" marL="342900" marR="0" rtl="0" algn="l">
              <a:lnSpc>
                <a:spcPct val="107000"/>
              </a:lnSpc>
              <a:spcBef>
                <a:spcPts val="0"/>
              </a:spcBef>
              <a:spcAft>
                <a:spcPts val="0"/>
              </a:spcAft>
              <a:buClr>
                <a:schemeClr val="dk1"/>
              </a:buClr>
              <a:buSzPts val="2200"/>
              <a:buFont typeface="Arial"/>
              <a:buNone/>
            </a:pPr>
            <a:r>
              <a:t/>
            </a:r>
            <a:endParaRPr sz="2200">
              <a:solidFill>
                <a:schemeClr val="dk1"/>
              </a:solidFill>
              <a:latin typeface="Calibri"/>
              <a:ea typeface="Calibri"/>
              <a:cs typeface="Calibri"/>
              <a:sym typeface="Calibri"/>
            </a:endParaRPr>
          </a:p>
          <a:p>
            <a:pPr indent="-342900" lvl="0" marL="342900" marR="0" rtl="0" algn="l">
              <a:lnSpc>
                <a:spcPct val="107000"/>
              </a:lnSpc>
              <a:spcBef>
                <a:spcPts val="0"/>
              </a:spcBef>
              <a:spcAft>
                <a:spcPts val="0"/>
              </a:spcAft>
              <a:buClr>
                <a:schemeClr val="dk1"/>
              </a:buClr>
              <a:buSzPts val="2200"/>
              <a:buFont typeface="Arial"/>
              <a:buChar char="•"/>
            </a:pPr>
            <a:r>
              <a:rPr lang="en-GB" sz="2200">
                <a:solidFill>
                  <a:schemeClr val="dk1"/>
                </a:solidFill>
                <a:latin typeface="Calibri"/>
                <a:ea typeface="Calibri"/>
                <a:cs typeface="Calibri"/>
                <a:sym typeface="Calibri"/>
              </a:rPr>
              <a:t>You can format the colour of the text and the fill colour and outline colour of the objects, and you can link your objects together using lines.</a:t>
            </a:r>
            <a:endParaRPr/>
          </a:p>
          <a:p>
            <a:pPr indent="-203200" lvl="0" marL="342900" marR="0" rtl="0" algn="l">
              <a:lnSpc>
                <a:spcPct val="107000"/>
              </a:lnSpc>
              <a:spcBef>
                <a:spcPts val="0"/>
              </a:spcBef>
              <a:spcAft>
                <a:spcPts val="0"/>
              </a:spcAft>
              <a:buClr>
                <a:schemeClr val="dk1"/>
              </a:buClr>
              <a:buSzPts val="2200"/>
              <a:buFont typeface="Arial"/>
              <a:buNone/>
            </a:pPr>
            <a:r>
              <a:t/>
            </a:r>
            <a:endParaRPr sz="2200">
              <a:solidFill>
                <a:schemeClr val="dk1"/>
              </a:solidFill>
              <a:latin typeface="Calibri"/>
              <a:ea typeface="Calibri"/>
              <a:cs typeface="Calibri"/>
              <a:sym typeface="Calibri"/>
            </a:endParaRPr>
          </a:p>
          <a:p>
            <a:pPr indent="-342900" lvl="0" marL="342900" marR="0" rtl="0" algn="l">
              <a:lnSpc>
                <a:spcPct val="107000"/>
              </a:lnSpc>
              <a:spcBef>
                <a:spcPts val="0"/>
              </a:spcBef>
              <a:spcAft>
                <a:spcPts val="0"/>
              </a:spcAft>
              <a:buClr>
                <a:schemeClr val="dk1"/>
              </a:buClr>
              <a:buSzPts val="2200"/>
              <a:buFont typeface="Arial"/>
              <a:buChar char="•"/>
            </a:pPr>
            <a:r>
              <a:rPr lang="en-GB" sz="2200">
                <a:solidFill>
                  <a:schemeClr val="dk1"/>
                </a:solidFill>
                <a:latin typeface="Calibri"/>
                <a:ea typeface="Calibri"/>
                <a:cs typeface="Calibri"/>
                <a:sym typeface="Calibri"/>
              </a:rPr>
              <a:t>When you have finished your mind map, you should group the objects to create one block that can be moved and re-sized.</a:t>
            </a:r>
            <a:endParaRPr sz="22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p22"/>
          <p:cNvSpPr txBox="1"/>
          <p:nvPr>
            <p:ph type="title"/>
          </p:nvPr>
        </p:nvSpPr>
        <p:spPr>
          <a:xfrm>
            <a:off x="1600201" y="786103"/>
            <a:ext cx="9753599" cy="845862"/>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Activity 1.2: Creating a mind map</a:t>
            </a:r>
            <a:endParaRPr b="1">
              <a:solidFill>
                <a:schemeClr val="lt1"/>
              </a:solidFill>
            </a:endParaRPr>
          </a:p>
        </p:txBody>
      </p:sp>
      <p:pic>
        <p:nvPicPr>
          <p:cNvPr descr="A picture containing athletic game, basketball, sport&#10;&#10;Description automatically generated" id="154" name="Google Shape;154;p22"/>
          <p:cNvPicPr preferRelativeResize="0"/>
          <p:nvPr/>
        </p:nvPicPr>
        <p:blipFill rotWithShape="1">
          <a:blip r:embed="rId3">
            <a:alphaModFix/>
          </a:blip>
          <a:srcRect b="0" l="0" r="0" t="0"/>
          <a:stretch/>
        </p:blipFill>
        <p:spPr>
          <a:xfrm>
            <a:off x="1300210" y="2160696"/>
            <a:ext cx="3463819" cy="3464851"/>
          </a:xfrm>
          <a:prstGeom prst="rect">
            <a:avLst/>
          </a:prstGeom>
          <a:noFill/>
          <a:ln>
            <a:noFill/>
          </a:ln>
        </p:spPr>
      </p:pic>
      <p:sp>
        <p:nvSpPr>
          <p:cNvPr id="155" name="Google Shape;155;p22"/>
          <p:cNvSpPr/>
          <p:nvPr/>
        </p:nvSpPr>
        <p:spPr>
          <a:xfrm>
            <a:off x="4795789" y="2160697"/>
            <a:ext cx="6096000" cy="865173"/>
          </a:xfrm>
          <a:prstGeom prst="rect">
            <a:avLst/>
          </a:prstGeom>
          <a:noFill/>
          <a:ln>
            <a:noFill/>
          </a:ln>
        </p:spPr>
        <p:txBody>
          <a:bodyPr anchorCtr="0" anchor="t" bIns="45700" lIns="91425" spcFirstLastPara="1" rIns="91425" wrap="square" tIns="45700">
            <a:noAutofit/>
          </a:bodyPr>
          <a:lstStyle/>
          <a:p>
            <a:pPr indent="0" lvl="0" marL="0" marR="0" rtl="0" algn="l">
              <a:lnSpc>
                <a:spcPct val="107000"/>
              </a:lnSpc>
              <a:spcBef>
                <a:spcPts val="0"/>
              </a:spcBef>
              <a:spcAft>
                <a:spcPts val="0"/>
              </a:spcAft>
              <a:buNone/>
            </a:pPr>
            <a:r>
              <a:rPr lang="en-GB" sz="2400">
                <a:solidFill>
                  <a:schemeClr val="dk1"/>
                </a:solidFill>
                <a:latin typeface="Calibri"/>
                <a:ea typeface="Calibri"/>
                <a:cs typeface="Calibri"/>
                <a:sym typeface="Calibri"/>
              </a:rPr>
              <a:t>Here is an example of a part-completed mind map created using word-processing software:</a:t>
            </a:r>
            <a:endParaRPr sz="2000">
              <a:solidFill>
                <a:schemeClr val="dk1"/>
              </a:solidFill>
              <a:latin typeface="Calibri"/>
              <a:ea typeface="Calibri"/>
              <a:cs typeface="Calibri"/>
              <a:sym typeface="Calibri"/>
            </a:endParaRPr>
          </a:p>
        </p:txBody>
      </p:sp>
      <p:pic>
        <p:nvPicPr>
          <p:cNvPr descr="Diagram&#10;&#10;Description automatically generated" id="156" name="Google Shape;156;p22"/>
          <p:cNvPicPr preferRelativeResize="0"/>
          <p:nvPr/>
        </p:nvPicPr>
        <p:blipFill rotWithShape="1">
          <a:blip r:embed="rId4">
            <a:alphaModFix/>
          </a:blip>
          <a:srcRect b="0" l="0" r="0" t="0"/>
          <a:stretch/>
        </p:blipFill>
        <p:spPr>
          <a:xfrm>
            <a:off x="6096000" y="3188841"/>
            <a:ext cx="3724657" cy="2656687"/>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 name="Shape 161"/>
        <p:cNvGrpSpPr/>
        <p:nvPr/>
      </p:nvGrpSpPr>
      <p:grpSpPr>
        <a:xfrm>
          <a:off x="0" y="0"/>
          <a:ext cx="0" cy="0"/>
          <a:chOff x="0" y="0"/>
          <a:chExt cx="0" cy="0"/>
        </a:xfrm>
      </p:grpSpPr>
      <p:sp>
        <p:nvSpPr>
          <p:cNvPr id="162" name="Google Shape;162;p23"/>
          <p:cNvSpPr txBox="1"/>
          <p:nvPr>
            <p:ph type="title"/>
          </p:nvPr>
        </p:nvSpPr>
        <p:spPr>
          <a:xfrm>
            <a:off x="1618195" y="815637"/>
            <a:ext cx="9793357" cy="855801"/>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Finished but not complete?</a:t>
            </a:r>
            <a:endParaRPr/>
          </a:p>
        </p:txBody>
      </p:sp>
      <p:sp>
        <p:nvSpPr>
          <p:cNvPr id="163" name="Google Shape;163;p23"/>
          <p:cNvSpPr/>
          <p:nvPr/>
        </p:nvSpPr>
        <p:spPr>
          <a:xfrm>
            <a:off x="1618195" y="2092490"/>
            <a:ext cx="9354605" cy="3700244"/>
          </a:xfrm>
          <a:prstGeom prst="rect">
            <a:avLst/>
          </a:prstGeom>
          <a:noFill/>
          <a:ln>
            <a:noFill/>
          </a:ln>
        </p:spPr>
        <p:txBody>
          <a:bodyPr anchorCtr="0" anchor="t" bIns="45700" lIns="91425" spcFirstLastPara="1" rIns="91425" wrap="square" tIns="45700">
            <a:noAutofit/>
          </a:bodyPr>
          <a:lstStyle/>
          <a:p>
            <a:pPr indent="0" lvl="0" marL="0" marR="0" rtl="0" algn="l">
              <a:lnSpc>
                <a:spcPct val="107000"/>
              </a:lnSpc>
              <a:spcBef>
                <a:spcPts val="0"/>
              </a:spcBef>
              <a:spcAft>
                <a:spcPts val="0"/>
              </a:spcAft>
              <a:buNone/>
            </a:pPr>
            <a:r>
              <a:rPr lang="en-GB" sz="2000">
                <a:solidFill>
                  <a:schemeClr val="dk1"/>
                </a:solidFill>
                <a:latin typeface="Calibri"/>
                <a:ea typeface="Calibri"/>
                <a:cs typeface="Calibri"/>
                <a:sym typeface="Calibri"/>
              </a:rPr>
              <a:t>It is very common for people to think they have finished a piece of work when it is very far from complete. </a:t>
            </a:r>
            <a:endParaRPr/>
          </a:p>
          <a:p>
            <a:pPr indent="0" lvl="0" marL="0" marR="0" rtl="0" algn="l">
              <a:lnSpc>
                <a:spcPct val="107000"/>
              </a:lnSpc>
              <a:spcBef>
                <a:spcPts val="0"/>
              </a:spcBef>
              <a:spcAft>
                <a:spcPts val="0"/>
              </a:spcAft>
              <a:buNone/>
            </a:pPr>
            <a:r>
              <a:rPr lang="en-GB" sz="2000">
                <a:solidFill>
                  <a:schemeClr val="dk1"/>
                </a:solidFill>
                <a:latin typeface="Calibri"/>
                <a:ea typeface="Calibri"/>
                <a:cs typeface="Calibri"/>
                <a:sym typeface="Calibri"/>
              </a:rPr>
              <a:t>Usually, more work is needed to produce something that is ready to share with others.</a:t>
            </a:r>
            <a:endParaRPr/>
          </a:p>
          <a:p>
            <a:pPr indent="0" lvl="0" marL="0" marR="0" rtl="0" algn="l">
              <a:lnSpc>
                <a:spcPct val="107000"/>
              </a:lnSpc>
              <a:spcBef>
                <a:spcPts val="0"/>
              </a:spcBef>
              <a:spcAft>
                <a:spcPts val="0"/>
              </a:spcAft>
              <a:buNone/>
            </a:pPr>
            <a:r>
              <a:t/>
            </a:r>
            <a:endParaRPr sz="2000">
              <a:solidFill>
                <a:schemeClr val="dk1"/>
              </a:solidFill>
              <a:latin typeface="Calibri"/>
              <a:ea typeface="Calibri"/>
              <a:cs typeface="Calibri"/>
              <a:sym typeface="Calibri"/>
            </a:endParaRPr>
          </a:p>
          <a:p>
            <a:pPr indent="0" lvl="0" marL="0" marR="0" rtl="0" algn="l">
              <a:lnSpc>
                <a:spcPct val="107000"/>
              </a:lnSpc>
              <a:spcBef>
                <a:spcPts val="0"/>
              </a:spcBef>
              <a:spcAft>
                <a:spcPts val="0"/>
              </a:spcAft>
              <a:buNone/>
            </a:pPr>
            <a:r>
              <a:rPr lang="en-GB" sz="2000">
                <a:solidFill>
                  <a:schemeClr val="dk1"/>
                </a:solidFill>
                <a:latin typeface="Calibri"/>
                <a:ea typeface="Calibri"/>
                <a:cs typeface="Calibri"/>
                <a:sym typeface="Calibri"/>
              </a:rPr>
              <a:t>When you think you have finished, remember to:</a:t>
            </a:r>
            <a:endParaRPr sz="2000">
              <a:solidFill>
                <a:schemeClr val="dk1"/>
              </a:solidFill>
              <a:latin typeface="Calibri"/>
              <a:ea typeface="Calibri"/>
              <a:cs typeface="Calibri"/>
              <a:sym typeface="Calibri"/>
            </a:endParaRPr>
          </a:p>
          <a:p>
            <a:pPr indent="-342900" lvl="0" marL="342900" marR="0" rtl="0" algn="l">
              <a:lnSpc>
                <a:spcPct val="107000"/>
              </a:lnSpc>
              <a:spcBef>
                <a:spcPts val="0"/>
              </a:spcBef>
              <a:spcAft>
                <a:spcPts val="0"/>
              </a:spcAft>
              <a:buClr>
                <a:schemeClr val="dk1"/>
              </a:buClr>
              <a:buSzPts val="2000"/>
              <a:buFont typeface="Noto Sans Symbols"/>
              <a:buChar char="∙"/>
            </a:pPr>
            <a:r>
              <a:rPr b="1" lang="en-GB" sz="2000">
                <a:solidFill>
                  <a:schemeClr val="dk1"/>
                </a:solidFill>
                <a:latin typeface="Calibri"/>
                <a:ea typeface="Calibri"/>
                <a:cs typeface="Calibri"/>
                <a:sym typeface="Calibri"/>
              </a:rPr>
              <a:t>Review:</a:t>
            </a:r>
            <a:r>
              <a:rPr lang="en-GB" sz="2000">
                <a:solidFill>
                  <a:schemeClr val="dk1"/>
                </a:solidFill>
                <a:latin typeface="Calibri"/>
                <a:ea typeface="Calibri"/>
                <a:cs typeface="Calibri"/>
                <a:sym typeface="Calibri"/>
              </a:rPr>
              <a:t> Have you done everything you set out to do? Is the content presented as clearly as possible?</a:t>
            </a:r>
            <a:endParaRPr sz="2000">
              <a:solidFill>
                <a:schemeClr val="dk1"/>
              </a:solidFill>
              <a:latin typeface="Calibri"/>
              <a:ea typeface="Calibri"/>
              <a:cs typeface="Calibri"/>
              <a:sym typeface="Calibri"/>
            </a:endParaRPr>
          </a:p>
          <a:p>
            <a:pPr indent="-342900" lvl="0" marL="342900" marR="0" rtl="0" algn="l">
              <a:lnSpc>
                <a:spcPct val="107000"/>
              </a:lnSpc>
              <a:spcBef>
                <a:spcPts val="0"/>
              </a:spcBef>
              <a:spcAft>
                <a:spcPts val="0"/>
              </a:spcAft>
              <a:buClr>
                <a:schemeClr val="dk1"/>
              </a:buClr>
              <a:buSzPts val="2000"/>
              <a:buFont typeface="Noto Sans Symbols"/>
              <a:buChar char="∙"/>
            </a:pPr>
            <a:r>
              <a:rPr b="1" lang="en-GB" sz="2000">
                <a:solidFill>
                  <a:schemeClr val="dk1"/>
                </a:solidFill>
                <a:latin typeface="Calibri"/>
                <a:ea typeface="Calibri"/>
                <a:cs typeface="Calibri"/>
                <a:sym typeface="Calibri"/>
              </a:rPr>
              <a:t>Reflect: </a:t>
            </a:r>
            <a:r>
              <a:rPr lang="en-GB" sz="2000">
                <a:solidFill>
                  <a:schemeClr val="dk1"/>
                </a:solidFill>
                <a:latin typeface="Calibri"/>
                <a:ea typeface="Calibri"/>
                <a:cs typeface="Calibri"/>
                <a:sym typeface="Calibri"/>
              </a:rPr>
              <a:t>What could you do to make it better? Should you add information or reword information to make it clearer? Should you adjust the formatting to make the information easier to understand?</a:t>
            </a:r>
            <a:endParaRPr sz="2000">
              <a:solidFill>
                <a:schemeClr val="dk1"/>
              </a:solidFill>
              <a:latin typeface="Calibri"/>
              <a:ea typeface="Calibri"/>
              <a:cs typeface="Calibri"/>
              <a:sym typeface="Calibri"/>
            </a:endParaRPr>
          </a:p>
          <a:p>
            <a:pPr indent="-342900" lvl="0" marL="342900" marR="0" rtl="0" algn="l">
              <a:lnSpc>
                <a:spcPct val="107000"/>
              </a:lnSpc>
              <a:spcBef>
                <a:spcPts val="0"/>
              </a:spcBef>
              <a:spcAft>
                <a:spcPts val="0"/>
              </a:spcAft>
              <a:buClr>
                <a:schemeClr val="dk1"/>
              </a:buClr>
              <a:buSzPts val="2000"/>
              <a:buFont typeface="Noto Sans Symbols"/>
              <a:buChar char="∙"/>
            </a:pPr>
            <a:r>
              <a:rPr b="1" lang="en-GB" sz="2000">
                <a:solidFill>
                  <a:schemeClr val="dk1"/>
                </a:solidFill>
                <a:latin typeface="Calibri"/>
                <a:ea typeface="Calibri"/>
                <a:cs typeface="Calibri"/>
                <a:sym typeface="Calibri"/>
              </a:rPr>
              <a:t>Edit:</a:t>
            </a:r>
            <a:r>
              <a:rPr lang="en-GB" sz="2000">
                <a:solidFill>
                  <a:schemeClr val="dk1"/>
                </a:solidFill>
                <a:latin typeface="Calibri"/>
                <a:ea typeface="Calibri"/>
                <a:cs typeface="Calibri"/>
                <a:sym typeface="Calibri"/>
              </a:rPr>
              <a:t> Make the changes.</a:t>
            </a:r>
            <a:endParaRPr sz="20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8" name="Shape 168"/>
        <p:cNvGrpSpPr/>
        <p:nvPr/>
      </p:nvGrpSpPr>
      <p:grpSpPr>
        <a:xfrm>
          <a:off x="0" y="0"/>
          <a:ext cx="0" cy="0"/>
          <a:chOff x="0" y="0"/>
          <a:chExt cx="0" cy="0"/>
        </a:xfrm>
      </p:grpSpPr>
      <p:sp>
        <p:nvSpPr>
          <p:cNvPr id="169" name="Google Shape;169;p24"/>
          <p:cNvSpPr txBox="1"/>
          <p:nvPr>
            <p:ph type="title"/>
          </p:nvPr>
        </p:nvSpPr>
        <p:spPr>
          <a:xfrm>
            <a:off x="1600201" y="786103"/>
            <a:ext cx="9753599" cy="845862"/>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Activity 1.3: Completing your mind map</a:t>
            </a:r>
            <a:endParaRPr/>
          </a:p>
        </p:txBody>
      </p:sp>
      <p:pic>
        <p:nvPicPr>
          <p:cNvPr descr="A picture containing athletic game, basketball, sport&#10;&#10;Description automatically generated" id="170" name="Google Shape;170;p24"/>
          <p:cNvPicPr preferRelativeResize="0"/>
          <p:nvPr/>
        </p:nvPicPr>
        <p:blipFill rotWithShape="1">
          <a:blip r:embed="rId3">
            <a:alphaModFix/>
          </a:blip>
          <a:srcRect b="0" l="0" r="0" t="0"/>
          <a:stretch/>
        </p:blipFill>
        <p:spPr>
          <a:xfrm>
            <a:off x="1261709" y="2435920"/>
            <a:ext cx="3041933" cy="2980447"/>
          </a:xfrm>
          <a:prstGeom prst="rect">
            <a:avLst/>
          </a:prstGeom>
          <a:noFill/>
          <a:ln>
            <a:noFill/>
          </a:ln>
        </p:spPr>
      </p:pic>
      <p:sp>
        <p:nvSpPr>
          <p:cNvPr id="171" name="Google Shape;171;p24"/>
          <p:cNvSpPr/>
          <p:nvPr/>
        </p:nvSpPr>
        <p:spPr>
          <a:xfrm>
            <a:off x="4468525" y="2327299"/>
            <a:ext cx="7116279" cy="3370923"/>
          </a:xfrm>
          <a:prstGeom prst="rect">
            <a:avLst/>
          </a:prstGeom>
          <a:noFill/>
          <a:ln>
            <a:noFill/>
          </a:ln>
        </p:spPr>
        <p:txBody>
          <a:bodyPr anchorCtr="0" anchor="t" bIns="45700" lIns="91425" spcFirstLastPara="1" rIns="91425" wrap="square" tIns="45700">
            <a:noAutofit/>
          </a:bodyPr>
          <a:lstStyle/>
          <a:p>
            <a:pPr indent="0" lvl="0" marL="0" marR="0" rtl="0" algn="l">
              <a:lnSpc>
                <a:spcPct val="107000"/>
              </a:lnSpc>
              <a:spcBef>
                <a:spcPts val="0"/>
              </a:spcBef>
              <a:spcAft>
                <a:spcPts val="0"/>
              </a:spcAft>
              <a:buNone/>
            </a:pPr>
            <a:r>
              <a:rPr lang="en-GB" sz="2000">
                <a:solidFill>
                  <a:schemeClr val="dk1"/>
                </a:solidFill>
                <a:latin typeface="Calibri"/>
                <a:ea typeface="Calibri"/>
                <a:cs typeface="Calibri"/>
                <a:sym typeface="Calibri"/>
              </a:rPr>
              <a:t>Use the following questions to help you review, reflect on and edit the mind map you created for Activity 1.2.</a:t>
            </a:r>
            <a:endParaRPr sz="2000">
              <a:solidFill>
                <a:schemeClr val="dk1"/>
              </a:solidFill>
              <a:latin typeface="Calibri"/>
              <a:ea typeface="Calibri"/>
              <a:cs typeface="Calibri"/>
              <a:sym typeface="Calibri"/>
            </a:endParaRPr>
          </a:p>
          <a:p>
            <a:pPr indent="-342900" lvl="0" marL="342900" marR="0" rtl="0" algn="l">
              <a:lnSpc>
                <a:spcPct val="107000"/>
              </a:lnSpc>
              <a:spcBef>
                <a:spcPts val="0"/>
              </a:spcBef>
              <a:spcAft>
                <a:spcPts val="0"/>
              </a:spcAft>
              <a:buClr>
                <a:schemeClr val="dk1"/>
              </a:buClr>
              <a:buSzPts val="2000"/>
              <a:buFont typeface="Noto Sans Symbols"/>
              <a:buChar char="∙"/>
            </a:pPr>
            <a:r>
              <a:rPr lang="en-GB" sz="2000">
                <a:solidFill>
                  <a:schemeClr val="dk1"/>
                </a:solidFill>
                <a:latin typeface="Calibri"/>
                <a:ea typeface="Calibri"/>
                <a:cs typeface="Calibri"/>
                <a:sym typeface="Calibri"/>
              </a:rPr>
              <a:t>Can you use different colours to emphasise the connection between similar features?</a:t>
            </a:r>
            <a:endParaRPr sz="2000">
              <a:solidFill>
                <a:schemeClr val="dk1"/>
              </a:solidFill>
              <a:latin typeface="Calibri"/>
              <a:ea typeface="Calibri"/>
              <a:cs typeface="Calibri"/>
              <a:sym typeface="Calibri"/>
            </a:endParaRPr>
          </a:p>
          <a:p>
            <a:pPr indent="-342900" lvl="0" marL="342900" marR="0" rtl="0" algn="l">
              <a:lnSpc>
                <a:spcPct val="107000"/>
              </a:lnSpc>
              <a:spcBef>
                <a:spcPts val="0"/>
              </a:spcBef>
              <a:spcAft>
                <a:spcPts val="0"/>
              </a:spcAft>
              <a:buClr>
                <a:schemeClr val="dk1"/>
              </a:buClr>
              <a:buSzPts val="2000"/>
              <a:buFont typeface="Noto Sans Symbols"/>
              <a:buChar char="∙"/>
            </a:pPr>
            <a:r>
              <a:rPr lang="en-GB" sz="2000">
                <a:solidFill>
                  <a:schemeClr val="dk1"/>
                </a:solidFill>
                <a:latin typeface="Calibri"/>
                <a:ea typeface="Calibri"/>
                <a:cs typeface="Calibri"/>
                <a:sym typeface="Calibri"/>
              </a:rPr>
              <a:t>Can you resize and/or reposition the shapes or text boxes to make better use of the available space and make the mind map easier to read?</a:t>
            </a:r>
            <a:endParaRPr sz="2000">
              <a:solidFill>
                <a:schemeClr val="dk1"/>
              </a:solidFill>
              <a:latin typeface="Calibri"/>
              <a:ea typeface="Calibri"/>
              <a:cs typeface="Calibri"/>
              <a:sym typeface="Calibri"/>
            </a:endParaRPr>
          </a:p>
          <a:p>
            <a:pPr indent="-342900" lvl="0" marL="342900" marR="0" rtl="0" algn="l">
              <a:lnSpc>
                <a:spcPct val="107000"/>
              </a:lnSpc>
              <a:spcBef>
                <a:spcPts val="0"/>
              </a:spcBef>
              <a:spcAft>
                <a:spcPts val="0"/>
              </a:spcAft>
              <a:buClr>
                <a:schemeClr val="dk1"/>
              </a:buClr>
              <a:buSzPts val="2000"/>
              <a:buFont typeface="Noto Sans Symbols"/>
              <a:buChar char="∙"/>
            </a:pPr>
            <a:r>
              <a:rPr lang="en-GB" sz="2000">
                <a:solidFill>
                  <a:schemeClr val="dk1"/>
                </a:solidFill>
                <a:latin typeface="Calibri"/>
                <a:ea typeface="Calibri"/>
                <a:cs typeface="Calibri"/>
                <a:sym typeface="Calibri"/>
              </a:rPr>
              <a:t>Can you add screenshots to make your mind map more useful?</a:t>
            </a:r>
            <a:endParaRPr sz="2000">
              <a:solidFill>
                <a:schemeClr val="dk1"/>
              </a:solidFill>
              <a:latin typeface="Calibri"/>
              <a:ea typeface="Calibri"/>
              <a:cs typeface="Calibri"/>
              <a:sym typeface="Calibri"/>
            </a:endParaRPr>
          </a:p>
          <a:p>
            <a:pPr indent="-342900" lvl="0" marL="342900" marR="0" rtl="0" algn="l">
              <a:lnSpc>
                <a:spcPct val="107000"/>
              </a:lnSpc>
              <a:spcBef>
                <a:spcPts val="0"/>
              </a:spcBef>
              <a:spcAft>
                <a:spcPts val="0"/>
              </a:spcAft>
              <a:buClr>
                <a:schemeClr val="dk1"/>
              </a:buClr>
              <a:buSzPts val="2000"/>
              <a:buFont typeface="Noto Sans Symbols"/>
              <a:buChar char="∙"/>
            </a:pPr>
            <a:r>
              <a:rPr lang="en-GB" sz="2000">
                <a:solidFill>
                  <a:schemeClr val="dk1"/>
                </a:solidFill>
                <a:latin typeface="Calibri"/>
                <a:ea typeface="Calibri"/>
                <a:cs typeface="Calibri"/>
                <a:sym typeface="Calibri"/>
              </a:rPr>
              <a:t>Have you corrected all grammatical errors and spelling mistakes?</a:t>
            </a:r>
            <a:endParaRPr sz="20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25"/>
          <p:cNvSpPr txBox="1"/>
          <p:nvPr>
            <p:ph type="title"/>
          </p:nvPr>
        </p:nvSpPr>
        <p:spPr>
          <a:xfrm>
            <a:off x="1618195" y="815637"/>
            <a:ext cx="9793357" cy="855801"/>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Templates</a:t>
            </a:r>
            <a:endParaRPr/>
          </a:p>
        </p:txBody>
      </p:sp>
      <p:sp>
        <p:nvSpPr>
          <p:cNvPr id="178" name="Google Shape;178;p25"/>
          <p:cNvSpPr/>
          <p:nvPr/>
        </p:nvSpPr>
        <p:spPr>
          <a:xfrm>
            <a:off x="1331271" y="2704588"/>
            <a:ext cx="4477805" cy="2050690"/>
          </a:xfrm>
          <a:prstGeom prst="rect">
            <a:avLst/>
          </a:prstGeom>
          <a:noFill/>
          <a:ln>
            <a:noFill/>
          </a:ln>
        </p:spPr>
        <p:txBody>
          <a:bodyPr anchorCtr="0" anchor="t" bIns="45700" lIns="91425" spcFirstLastPara="1" rIns="91425" wrap="square" tIns="45700">
            <a:noAutofit/>
          </a:bodyPr>
          <a:lstStyle/>
          <a:p>
            <a:pPr indent="0" lvl="0" marL="0" marR="0" rtl="0" algn="l">
              <a:lnSpc>
                <a:spcPct val="107000"/>
              </a:lnSpc>
              <a:spcBef>
                <a:spcPts val="0"/>
              </a:spcBef>
              <a:spcAft>
                <a:spcPts val="0"/>
              </a:spcAft>
              <a:buNone/>
            </a:pPr>
            <a:r>
              <a:rPr lang="en-GB" sz="2400">
                <a:solidFill>
                  <a:schemeClr val="dk1"/>
                </a:solidFill>
                <a:latin typeface="Calibri"/>
                <a:ea typeface="Calibri"/>
                <a:cs typeface="Calibri"/>
                <a:sym typeface="Calibri"/>
              </a:rPr>
              <a:t>A </a:t>
            </a:r>
            <a:r>
              <a:rPr b="1" lang="en-GB" sz="2400">
                <a:solidFill>
                  <a:srgbClr val="0069B4"/>
                </a:solidFill>
                <a:latin typeface="Calibri"/>
                <a:ea typeface="Calibri"/>
                <a:cs typeface="Calibri"/>
                <a:sym typeface="Calibri"/>
              </a:rPr>
              <a:t>template</a:t>
            </a:r>
            <a:r>
              <a:rPr lang="en-GB" sz="2400">
                <a:solidFill>
                  <a:schemeClr val="dk1"/>
                </a:solidFill>
                <a:latin typeface="Calibri"/>
                <a:ea typeface="Calibri"/>
                <a:cs typeface="Calibri"/>
                <a:sym typeface="Calibri"/>
              </a:rPr>
              <a:t> is a blank document with a pre-set format.</a:t>
            </a:r>
            <a:endParaRPr sz="2400">
              <a:solidFill>
                <a:schemeClr val="dk1"/>
              </a:solidFill>
              <a:latin typeface="Calibri"/>
              <a:ea typeface="Calibri"/>
              <a:cs typeface="Calibri"/>
              <a:sym typeface="Calibri"/>
            </a:endParaRPr>
          </a:p>
          <a:p>
            <a:pPr indent="0" lvl="0" marL="0" marR="0" rtl="0" algn="l">
              <a:lnSpc>
                <a:spcPct val="107000"/>
              </a:lnSpc>
              <a:spcBef>
                <a:spcPts val="0"/>
              </a:spcBef>
              <a:spcAft>
                <a:spcPts val="0"/>
              </a:spcAft>
              <a:buNone/>
            </a:pPr>
            <a:r>
              <a:rPr lang="en-GB" sz="2400">
                <a:solidFill>
                  <a:schemeClr val="dk1"/>
                </a:solidFill>
                <a:latin typeface="Calibri"/>
                <a:ea typeface="Calibri"/>
                <a:cs typeface="Calibri"/>
                <a:sym typeface="Calibri"/>
              </a:rPr>
              <a:t>Templates can make word processing standard documents much quicker.</a:t>
            </a:r>
            <a:endParaRPr sz="2400">
              <a:solidFill>
                <a:schemeClr val="dk1"/>
              </a:solidFill>
              <a:latin typeface="Calibri"/>
              <a:ea typeface="Calibri"/>
              <a:cs typeface="Calibri"/>
              <a:sym typeface="Calibri"/>
            </a:endParaRPr>
          </a:p>
        </p:txBody>
      </p:sp>
      <p:pic>
        <p:nvPicPr>
          <p:cNvPr descr="Diagram, schematic&#10;&#10;Description automatically generated" id="179" name="Google Shape;179;p25"/>
          <p:cNvPicPr preferRelativeResize="0"/>
          <p:nvPr/>
        </p:nvPicPr>
        <p:blipFill rotWithShape="1">
          <a:blip r:embed="rId3">
            <a:alphaModFix/>
          </a:blip>
          <a:srcRect b="0" l="0" r="0" t="0"/>
          <a:stretch/>
        </p:blipFill>
        <p:spPr>
          <a:xfrm>
            <a:off x="5963629" y="1831847"/>
            <a:ext cx="5078839" cy="4371659"/>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4" name="Shape 184"/>
        <p:cNvGrpSpPr/>
        <p:nvPr/>
      </p:nvGrpSpPr>
      <p:grpSpPr>
        <a:xfrm>
          <a:off x="0" y="0"/>
          <a:ext cx="0" cy="0"/>
          <a:chOff x="0" y="0"/>
          <a:chExt cx="0" cy="0"/>
        </a:xfrm>
      </p:grpSpPr>
      <p:sp>
        <p:nvSpPr>
          <p:cNvPr id="185" name="Google Shape;185;p26"/>
          <p:cNvSpPr txBox="1"/>
          <p:nvPr>
            <p:ph type="title"/>
          </p:nvPr>
        </p:nvSpPr>
        <p:spPr>
          <a:xfrm>
            <a:off x="1589632" y="796072"/>
            <a:ext cx="10297568" cy="86574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Clr>
                <a:schemeClr val="lt1"/>
              </a:buClr>
              <a:buSzPts val="3400"/>
              <a:buFont typeface="Calibri"/>
              <a:buNone/>
            </a:pPr>
            <a:r>
              <a:rPr b="1" lang="en-GB" sz="3400">
                <a:solidFill>
                  <a:schemeClr val="lt1"/>
                </a:solidFill>
              </a:rPr>
              <a:t>Activity 1.4: How did word processors change the world?</a:t>
            </a:r>
            <a:endParaRPr/>
          </a:p>
        </p:txBody>
      </p:sp>
      <p:pic>
        <p:nvPicPr>
          <p:cNvPr descr="A picture containing athletic game, basketball, sport&#10;&#10;Description automatically generated" id="186" name="Google Shape;186;p26"/>
          <p:cNvPicPr preferRelativeResize="0"/>
          <p:nvPr/>
        </p:nvPicPr>
        <p:blipFill rotWithShape="1">
          <a:blip r:embed="rId3">
            <a:alphaModFix/>
          </a:blip>
          <a:srcRect b="0" l="0" r="0" t="0"/>
          <a:stretch/>
        </p:blipFill>
        <p:spPr>
          <a:xfrm>
            <a:off x="3939629" y="1836359"/>
            <a:ext cx="4312741" cy="4225569"/>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 name="Shape 191"/>
        <p:cNvGrpSpPr/>
        <p:nvPr/>
      </p:nvGrpSpPr>
      <p:grpSpPr>
        <a:xfrm>
          <a:off x="0" y="0"/>
          <a:ext cx="0" cy="0"/>
          <a:chOff x="0" y="0"/>
          <a:chExt cx="0" cy="0"/>
        </a:xfrm>
      </p:grpSpPr>
      <p:sp>
        <p:nvSpPr>
          <p:cNvPr id="192" name="Google Shape;192;p27"/>
          <p:cNvSpPr txBox="1"/>
          <p:nvPr/>
        </p:nvSpPr>
        <p:spPr>
          <a:xfrm>
            <a:off x="1608570" y="796388"/>
            <a:ext cx="9793357" cy="855801"/>
          </a:xfrm>
          <a:prstGeom prst="rect">
            <a:avLst/>
          </a:prstGeom>
          <a:noFill/>
          <a:ln>
            <a:noFill/>
          </a:ln>
        </p:spPr>
        <p:txBody>
          <a:bodyPr anchorCtr="0" anchor="ctr" bIns="45700" lIns="91425" spcFirstLastPara="1" rIns="91425" wrap="square" tIns="45700">
            <a:normAutofit/>
          </a:bodyPr>
          <a:lstStyle/>
          <a:p>
            <a:pPr indent="0" lvl="0" marL="0" marR="0" rtl="0" algn="l">
              <a:lnSpc>
                <a:spcPct val="90000"/>
              </a:lnSpc>
              <a:spcBef>
                <a:spcPts val="0"/>
              </a:spcBef>
              <a:spcAft>
                <a:spcPts val="0"/>
              </a:spcAft>
              <a:buClr>
                <a:schemeClr val="lt1"/>
              </a:buClr>
              <a:buSzPts val="4400"/>
              <a:buFont typeface="Calibri"/>
              <a:buNone/>
            </a:pPr>
            <a:r>
              <a:rPr b="1" lang="en-GB" sz="4400">
                <a:solidFill>
                  <a:schemeClr val="lt1"/>
                </a:solidFill>
                <a:latin typeface="Calibri"/>
                <a:ea typeface="Calibri"/>
                <a:cs typeface="Calibri"/>
                <a:sym typeface="Calibri"/>
              </a:rPr>
              <a:t>Quiz 1</a:t>
            </a:r>
            <a:endParaRPr/>
          </a:p>
        </p:txBody>
      </p:sp>
      <p:pic>
        <p:nvPicPr>
          <p:cNvPr descr="A picture containing athletic game, basketball, sport&#10;&#10;Description automatically generated" id="193" name="Google Shape;193;p27"/>
          <p:cNvPicPr preferRelativeResize="0"/>
          <p:nvPr/>
        </p:nvPicPr>
        <p:blipFill rotWithShape="1">
          <a:blip r:embed="rId3">
            <a:alphaModFix/>
          </a:blip>
          <a:srcRect b="0" l="0" r="0" t="0"/>
          <a:stretch/>
        </p:blipFill>
        <p:spPr>
          <a:xfrm>
            <a:off x="3939629" y="1836043"/>
            <a:ext cx="4312741" cy="422556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