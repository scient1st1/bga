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hape, rectangle&#10;&#10;Description automatically generated" id="6" name="Google Shape;6;p1"/>
          <p:cNvPicPr preferRelativeResize="0"/>
          <p:nvPr/>
        </p:nvPicPr>
        <p:blipFill rotWithShape="1">
          <a:blip r:embed="rId1">
            <a:alphaModFix/>
          </a:blip>
          <a:srcRect b="0" l="0" r="0" t="0"/>
          <a:stretch/>
        </p:blipFill>
        <p:spPr>
          <a:xfrm>
            <a:off x="0" y="-25758"/>
            <a:ext cx="12192000" cy="1656196"/>
          </a:xfrm>
          <a:prstGeom prst="rect">
            <a:avLst/>
          </a:prstGeom>
          <a:noFill/>
          <a:ln>
            <a:noFill/>
          </a:ln>
        </p:spPr>
      </p:pic>
      <p:sp>
        <p:nvSpPr>
          <p:cNvPr id="7" name="Google Shape;7;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378896" y="3010438"/>
            <a:ext cx="4717104" cy="9158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GB"/>
              <a:t>Getting started</a:t>
            </a:r>
            <a:endParaRPr/>
          </a:p>
        </p:txBody>
      </p:sp>
      <p:sp>
        <p:nvSpPr>
          <p:cNvPr id="81" name="Google Shape;81;p13"/>
          <p:cNvSpPr/>
          <p:nvPr/>
        </p:nvSpPr>
        <p:spPr>
          <a:xfrm>
            <a:off x="1378896" y="3926287"/>
            <a:ext cx="2991525" cy="425501"/>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i="0" lang="en-GB" sz="2000" u="none" cap="none" strike="noStrike">
                <a:solidFill>
                  <a:srgbClr val="E84E0E"/>
                </a:solidFill>
                <a:latin typeface="Calibri"/>
                <a:ea typeface="Calibri"/>
                <a:cs typeface="Calibri"/>
                <a:sym typeface="Calibri"/>
              </a:rPr>
              <a:t>Lesson 5: Bitmap graphics </a:t>
            </a:r>
            <a:endParaRPr/>
          </a:p>
        </p:txBody>
      </p:sp>
      <p:pic>
        <p:nvPicPr>
          <p:cNvPr id="82" name="Google Shape;82;p13"/>
          <p:cNvPicPr preferRelativeResize="0"/>
          <p:nvPr/>
        </p:nvPicPr>
        <p:blipFill rotWithShape="1">
          <a:blip r:embed="rId3">
            <a:alphaModFix/>
          </a:blip>
          <a:srcRect b="0" l="0" r="0" t="0"/>
          <a:stretch/>
        </p:blipFill>
        <p:spPr>
          <a:xfrm>
            <a:off x="7305669" y="2531599"/>
            <a:ext cx="3507435" cy="278937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84000" y="792000"/>
            <a:ext cx="2903594" cy="76634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84000" y="2028616"/>
            <a:ext cx="8859411" cy="16927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the features of bitmap graphics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bitmap graphic file types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edit bitmap graphics using image editing software.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A picture containing text, night sky&#10;&#10;Description automatically generated" id="93" name="Google Shape;93;p15"/>
          <p:cNvPicPr preferRelativeResize="0"/>
          <p:nvPr/>
        </p:nvPicPr>
        <p:blipFill rotWithShape="1">
          <a:blip r:embed="rId3">
            <a:alphaModFix/>
          </a:blip>
          <a:srcRect b="0" l="0" r="0" t="0"/>
          <a:stretch/>
        </p:blipFill>
        <p:spPr>
          <a:xfrm>
            <a:off x="2362580" y="1870155"/>
            <a:ext cx="6745910" cy="44693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1584000" y="792000"/>
            <a:ext cx="7598501"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Bitmap graphics </a:t>
            </a:r>
            <a:endParaRPr/>
          </a:p>
        </p:txBody>
      </p:sp>
      <p:sp>
        <p:nvSpPr>
          <p:cNvPr id="99" name="Google Shape;99;p16"/>
          <p:cNvSpPr/>
          <p:nvPr/>
        </p:nvSpPr>
        <p:spPr>
          <a:xfrm>
            <a:off x="1584000" y="2284463"/>
            <a:ext cx="9625468" cy="36625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800">
                <a:solidFill>
                  <a:srgbClr val="0069B4"/>
                </a:solidFill>
                <a:latin typeface="Calibri"/>
                <a:ea typeface="Calibri"/>
                <a:cs typeface="Calibri"/>
                <a:sym typeface="Calibri"/>
              </a:rPr>
              <a:t>Bitmap graphics</a:t>
            </a:r>
            <a:r>
              <a:rPr lang="en-GB" sz="2800">
                <a:solidFill>
                  <a:schemeClr val="dk1"/>
                </a:solidFill>
                <a:latin typeface="Calibri"/>
                <a:ea typeface="Calibri"/>
                <a:cs typeface="Calibri"/>
                <a:sym typeface="Calibri"/>
              </a:rPr>
              <a:t>, also called </a:t>
            </a:r>
            <a:r>
              <a:rPr b="1" lang="en-GB" sz="2800">
                <a:solidFill>
                  <a:srgbClr val="0069B4"/>
                </a:solidFill>
                <a:latin typeface="Calibri"/>
                <a:ea typeface="Calibri"/>
                <a:cs typeface="Calibri"/>
                <a:sym typeface="Calibri"/>
              </a:rPr>
              <a:t>raster graphics</a:t>
            </a:r>
            <a:r>
              <a:rPr lang="en-GB" sz="2800">
                <a:solidFill>
                  <a:schemeClr val="dk1"/>
                </a:solidFill>
                <a:latin typeface="Calibri"/>
                <a:ea typeface="Calibri"/>
                <a:cs typeface="Calibri"/>
                <a:sym typeface="Calibri"/>
              </a:rPr>
              <a:t>,</a:t>
            </a:r>
            <a:r>
              <a:rPr b="1" lang="en-GB" sz="2800">
                <a:solidFill>
                  <a:schemeClr val="dk1"/>
                </a:solidFill>
                <a:latin typeface="Calibri"/>
                <a:ea typeface="Calibri"/>
                <a:cs typeface="Calibri"/>
                <a:sym typeface="Calibri"/>
              </a:rPr>
              <a:t> </a:t>
            </a:r>
            <a:r>
              <a:rPr lang="en-GB" sz="2800">
                <a:solidFill>
                  <a:schemeClr val="dk1"/>
                </a:solidFill>
                <a:latin typeface="Calibri"/>
                <a:ea typeface="Calibri"/>
                <a:cs typeface="Calibri"/>
                <a:sym typeface="Calibri"/>
              </a:rPr>
              <a:t>store an image as a matrix of dots.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Each dot is called a </a:t>
            </a:r>
            <a:r>
              <a:rPr b="1" lang="en-GB" sz="2800">
                <a:solidFill>
                  <a:srgbClr val="0069B4"/>
                </a:solidFill>
                <a:latin typeface="Calibri"/>
                <a:ea typeface="Calibri"/>
                <a:cs typeface="Calibri"/>
                <a:sym typeface="Calibri"/>
              </a:rPr>
              <a:t>pixel</a:t>
            </a:r>
            <a:r>
              <a:rPr lang="en-GB" sz="2800">
                <a:solidFill>
                  <a:schemeClr val="dk1"/>
                </a:solidFill>
                <a:latin typeface="Calibri"/>
                <a:ea typeface="Calibri"/>
                <a:cs typeface="Calibri"/>
                <a:sym typeface="Calibri"/>
              </a:rPr>
              <a:t>, short for ‘picture element’.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The colour of every pixel is stored, and every different colour in the picture has its own unique binary code.</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It is possible to edit the colour of each individual pixel separately to manipulate an image.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1584000" y="792000"/>
            <a:ext cx="4990055"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Bitmap graphics </a:t>
            </a:r>
            <a:endParaRPr/>
          </a:p>
        </p:txBody>
      </p:sp>
      <p:sp>
        <p:nvSpPr>
          <p:cNvPr id="105" name="Google Shape;105;p17"/>
          <p:cNvSpPr/>
          <p:nvPr/>
        </p:nvSpPr>
        <p:spPr>
          <a:xfrm>
            <a:off x="1583998" y="2247326"/>
            <a:ext cx="4033947" cy="39857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300">
                <a:solidFill>
                  <a:schemeClr val="dk1"/>
                </a:solidFill>
                <a:latin typeface="Calibri"/>
                <a:ea typeface="Calibri"/>
                <a:cs typeface="Calibri"/>
                <a:sym typeface="Calibri"/>
              </a:rPr>
              <a:t>There are two colours in this picture. White is represented by 0 and black is represented by 1.</a:t>
            </a:r>
            <a:endParaRPr/>
          </a:p>
          <a:p>
            <a:pPr indent="0" lvl="0" marL="0" marR="0" rtl="0" algn="l">
              <a:spcBef>
                <a:spcPts val="0"/>
              </a:spcBef>
              <a:spcAft>
                <a:spcPts val="0"/>
              </a:spcAft>
              <a:buNone/>
            </a:pPr>
            <a:r>
              <a:t/>
            </a:r>
            <a:endParaRPr sz="2300">
              <a:solidFill>
                <a:schemeClr val="dk1"/>
              </a:solidFill>
              <a:latin typeface="Calibri"/>
              <a:ea typeface="Calibri"/>
              <a:cs typeface="Calibri"/>
              <a:sym typeface="Calibri"/>
            </a:endParaRPr>
          </a:p>
          <a:p>
            <a:pPr indent="0" lvl="0" marL="0" marR="0" rtl="0" algn="l">
              <a:spcBef>
                <a:spcPts val="0"/>
              </a:spcBef>
              <a:spcAft>
                <a:spcPts val="0"/>
              </a:spcAft>
              <a:buNone/>
            </a:pPr>
            <a:r>
              <a:rPr lang="en-GB" sz="2300">
                <a:solidFill>
                  <a:schemeClr val="dk1"/>
                </a:solidFill>
                <a:latin typeface="Calibri"/>
                <a:ea typeface="Calibri"/>
                <a:cs typeface="Calibri"/>
                <a:sym typeface="Calibri"/>
              </a:rPr>
              <a:t>The image has 64 pixels and the computer stores the colour of each pixel, as well as information about the width and height of the image so that it can be recreated by a computer.</a:t>
            </a:r>
            <a:endParaRPr/>
          </a:p>
        </p:txBody>
      </p:sp>
      <p:pic>
        <p:nvPicPr>
          <p:cNvPr descr="A picture containing text, crossword puzzle&#10;&#10;Description automatically generated" id="106" name="Google Shape;106;p17"/>
          <p:cNvPicPr preferRelativeResize="0"/>
          <p:nvPr/>
        </p:nvPicPr>
        <p:blipFill rotWithShape="1">
          <a:blip r:embed="rId3">
            <a:alphaModFix/>
          </a:blip>
          <a:srcRect b="0" l="0" r="0" t="0"/>
          <a:stretch/>
        </p:blipFill>
        <p:spPr>
          <a:xfrm>
            <a:off x="6096000" y="2950006"/>
            <a:ext cx="4933784" cy="20747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1598066" y="791999"/>
            <a:ext cx="7714746"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Bitmap graphics and quality </a:t>
            </a:r>
            <a:endParaRPr/>
          </a:p>
        </p:txBody>
      </p:sp>
      <p:sp>
        <p:nvSpPr>
          <p:cNvPr id="112" name="Google Shape;112;p18"/>
          <p:cNvSpPr/>
          <p:nvPr/>
        </p:nvSpPr>
        <p:spPr>
          <a:xfrm>
            <a:off x="1598065" y="2136338"/>
            <a:ext cx="8761549" cy="3416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 quality of a bitmap image depends on its </a:t>
            </a:r>
            <a:r>
              <a:rPr b="1" lang="en-GB" sz="2400">
                <a:solidFill>
                  <a:srgbClr val="0069B4"/>
                </a:solidFill>
                <a:latin typeface="Calibri"/>
                <a:ea typeface="Calibri"/>
                <a:cs typeface="Calibri"/>
                <a:sym typeface="Calibri"/>
              </a:rPr>
              <a:t>resolution</a:t>
            </a:r>
            <a:r>
              <a:rPr lang="en-GB" sz="2400">
                <a:solidFill>
                  <a:schemeClr val="dk1"/>
                </a:solidFill>
                <a:latin typeface="Calibri"/>
                <a:ea typeface="Calibri"/>
                <a:cs typeface="Calibri"/>
                <a:sym typeface="Calibri"/>
              </a:rPr>
              <a:t>. This is the number of pixels in the image.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 higher the resolution, the better quality and more realistic the image. A resolution of 300 dpi (dots per inch) is likely to produce a good quality image.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However, the data for each individual pixel has to be stored, which means that bitmap graphic files are often </a:t>
            </a:r>
            <a:r>
              <a:rPr b="1" lang="en-GB" sz="2400">
                <a:solidFill>
                  <a:srgbClr val="0069B4"/>
                </a:solidFill>
                <a:latin typeface="Calibri"/>
                <a:ea typeface="Calibri"/>
                <a:cs typeface="Calibri"/>
                <a:sym typeface="Calibri"/>
              </a:rPr>
              <a:t>large</a:t>
            </a:r>
            <a:r>
              <a:rPr lang="en-GB" sz="2400">
                <a:solidFill>
                  <a:schemeClr val="dk1"/>
                </a:solidFill>
                <a:latin typeface="Calibri"/>
                <a:ea typeface="Calibri"/>
                <a:cs typeface="Calibri"/>
                <a:sym typeface="Calibri"/>
              </a:rPr>
              <a: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When a bitmap graphic is enlarged it loses quality and it is sometimes possible to see the individual pixels.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1584000" y="792000"/>
            <a:ext cx="6269082" cy="76634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GB">
                <a:solidFill>
                  <a:schemeClr val="lt1"/>
                </a:solidFill>
              </a:rPr>
              <a:t>Bitmap graphics and file size </a:t>
            </a:r>
            <a:endParaRPr/>
          </a:p>
        </p:txBody>
      </p:sp>
      <p:sp>
        <p:nvSpPr>
          <p:cNvPr id="118" name="Google Shape;118;p19"/>
          <p:cNvSpPr/>
          <p:nvPr/>
        </p:nvSpPr>
        <p:spPr>
          <a:xfrm>
            <a:off x="1584000" y="2358189"/>
            <a:ext cx="8829402" cy="3293209"/>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The size of a bitmap graphic file depends on the resolution of the image, and also the size of the image and how many unique colours it contains.</a:t>
            </a:r>
            <a:endParaRPr/>
          </a:p>
          <a:p>
            <a:pPr indent="-457200" lvl="0" marL="457200" marR="0" rtl="0" algn="l">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Bigger images contain more pixels and unusual colours have longer numbers, so there is more data to store.</a:t>
            </a:r>
            <a:endParaRPr/>
          </a:p>
          <a:p>
            <a:pPr indent="-457200" lvl="0" marL="457200" marR="0" rtl="0" algn="l">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Bitmap graphic files are generally much larger than vector graphic files because of the amount of information the computer needs to store to recreate the image.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Bitmap graphics and file types</a:t>
            </a:r>
            <a:endParaRPr/>
          </a:p>
        </p:txBody>
      </p:sp>
      <p:sp>
        <p:nvSpPr>
          <p:cNvPr id="124" name="Google Shape;124;p20"/>
          <p:cNvSpPr/>
          <p:nvPr/>
        </p:nvSpPr>
        <p:spPr>
          <a:xfrm>
            <a:off x="1589632" y="2034513"/>
            <a:ext cx="9436956" cy="40934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600">
                <a:solidFill>
                  <a:schemeClr val="dk1"/>
                </a:solidFill>
                <a:latin typeface="Calibri"/>
                <a:ea typeface="Calibri"/>
                <a:cs typeface="Calibri"/>
                <a:sym typeface="Calibri"/>
              </a:rPr>
              <a:t>Common bitmap graphic formats are:</a:t>
            </a:r>
            <a:endParaRPr/>
          </a:p>
          <a:p>
            <a:pPr indent="0" lvl="0" marL="0" marR="0" rtl="0" algn="l">
              <a:spcBef>
                <a:spcPts val="0"/>
              </a:spcBef>
              <a:spcAft>
                <a:spcPts val="0"/>
              </a:spcAft>
              <a:buNone/>
            </a:pPr>
            <a:r>
              <a:rPr b="1" lang="en-GB" sz="2600">
                <a:solidFill>
                  <a:schemeClr val="dk1"/>
                </a:solidFill>
                <a:latin typeface="Calibri"/>
                <a:ea typeface="Calibri"/>
                <a:cs typeface="Calibri"/>
                <a:sym typeface="Calibri"/>
              </a:rPr>
              <a:t>.tif</a:t>
            </a:r>
            <a:r>
              <a:rPr lang="en-GB" sz="2600">
                <a:solidFill>
                  <a:schemeClr val="dk1"/>
                </a:solidFill>
                <a:latin typeface="Calibri"/>
                <a:ea typeface="Calibri"/>
                <a:cs typeface="Calibri"/>
                <a:sym typeface="Calibri"/>
              </a:rPr>
              <a:t>: Tagged Image File Format (very high quality but large file size)</a:t>
            </a:r>
            <a:endParaRPr/>
          </a:p>
          <a:p>
            <a:pPr indent="0" lvl="0" marL="0" marR="0" rtl="0" algn="l">
              <a:spcBef>
                <a:spcPts val="0"/>
              </a:spcBef>
              <a:spcAft>
                <a:spcPts val="0"/>
              </a:spcAft>
              <a:buNone/>
            </a:pPr>
            <a:r>
              <a:rPr b="1" lang="en-GB" sz="2600">
                <a:solidFill>
                  <a:schemeClr val="dk1"/>
                </a:solidFill>
                <a:latin typeface="Calibri"/>
                <a:ea typeface="Calibri"/>
                <a:cs typeface="Calibri"/>
                <a:sym typeface="Calibri"/>
              </a:rPr>
              <a:t>.bmp</a:t>
            </a:r>
            <a:r>
              <a:rPr lang="en-GB" sz="2600">
                <a:solidFill>
                  <a:schemeClr val="dk1"/>
                </a:solidFill>
                <a:latin typeface="Calibri"/>
                <a:ea typeface="Calibri"/>
                <a:cs typeface="Calibri"/>
                <a:sym typeface="Calibri"/>
              </a:rPr>
              <a:t>: Bitmap Image File (very high quality but large file size; developed for Microsoft® Windows)</a:t>
            </a:r>
            <a:endParaRPr/>
          </a:p>
          <a:p>
            <a:pPr indent="0" lvl="0" marL="0" marR="0" rtl="0" algn="l">
              <a:spcBef>
                <a:spcPts val="0"/>
              </a:spcBef>
              <a:spcAft>
                <a:spcPts val="0"/>
              </a:spcAft>
              <a:buNone/>
            </a:pPr>
            <a:r>
              <a:rPr b="1" lang="en-GB" sz="2600">
                <a:solidFill>
                  <a:schemeClr val="dk1"/>
                </a:solidFill>
                <a:latin typeface="Calibri"/>
                <a:ea typeface="Calibri"/>
                <a:cs typeface="Calibri"/>
                <a:sym typeface="Calibri"/>
              </a:rPr>
              <a:t>.jpg</a:t>
            </a:r>
            <a:r>
              <a:rPr lang="en-GB" sz="2600">
                <a:solidFill>
                  <a:schemeClr val="dk1"/>
                </a:solidFill>
                <a:latin typeface="Calibri"/>
                <a:ea typeface="Calibri"/>
                <a:cs typeface="Calibri"/>
                <a:sym typeface="Calibri"/>
              </a:rPr>
              <a:t>: Joint Photographic Experts Groups (good for email and presentations)</a:t>
            </a:r>
            <a:endParaRPr/>
          </a:p>
          <a:p>
            <a:pPr indent="0" lvl="0" marL="0" marR="0" rtl="0" algn="l">
              <a:spcBef>
                <a:spcPts val="0"/>
              </a:spcBef>
              <a:spcAft>
                <a:spcPts val="0"/>
              </a:spcAft>
              <a:buNone/>
            </a:pPr>
            <a:r>
              <a:rPr b="1" lang="en-GB" sz="2600">
                <a:solidFill>
                  <a:schemeClr val="dk1"/>
                </a:solidFill>
                <a:latin typeface="Calibri"/>
                <a:ea typeface="Calibri"/>
                <a:cs typeface="Calibri"/>
                <a:sym typeface="Calibri"/>
              </a:rPr>
              <a:t>.gif</a:t>
            </a:r>
            <a:r>
              <a:rPr lang="en-GB" sz="2600">
                <a:solidFill>
                  <a:schemeClr val="dk1"/>
                </a:solidFill>
                <a:latin typeface="Calibri"/>
                <a:ea typeface="Calibri"/>
                <a:cs typeface="Calibri"/>
                <a:sym typeface="Calibri"/>
              </a:rPr>
              <a:t>: Graphics Interchange Format (good for web images with up to 256 colours)</a:t>
            </a:r>
            <a:endParaRPr/>
          </a:p>
          <a:p>
            <a:pPr indent="0" lvl="0" marL="0" marR="0" rtl="0" algn="l">
              <a:spcBef>
                <a:spcPts val="0"/>
              </a:spcBef>
              <a:spcAft>
                <a:spcPts val="0"/>
              </a:spcAft>
              <a:buNone/>
            </a:pPr>
            <a:r>
              <a:rPr b="1" lang="en-GB" sz="2600">
                <a:solidFill>
                  <a:schemeClr val="dk1"/>
                </a:solidFill>
                <a:latin typeface="Calibri"/>
                <a:ea typeface="Calibri"/>
                <a:cs typeface="Calibri"/>
                <a:sym typeface="Calibri"/>
              </a:rPr>
              <a:t>.png</a:t>
            </a:r>
            <a:r>
              <a:rPr lang="en-GB" sz="2600">
                <a:solidFill>
                  <a:schemeClr val="dk1"/>
                </a:solidFill>
                <a:latin typeface="Calibri"/>
                <a:ea typeface="Calibri"/>
                <a:cs typeface="Calibri"/>
                <a:sym typeface="Calibri"/>
              </a:rPr>
              <a:t>: Portable Network Graphics (good for web images with up to 16 million colours)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nvSpPr>
        <p:spPr>
          <a:xfrm>
            <a:off x="1617785" y="759656"/>
            <a:ext cx="583608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rgbClr val="FFFFFF"/>
                </a:solidFill>
                <a:latin typeface="Calibri"/>
                <a:ea typeface="Calibri"/>
                <a:cs typeface="Calibri"/>
                <a:sym typeface="Calibri"/>
              </a:rPr>
              <a:t>Creating bitmap graphics</a:t>
            </a:r>
            <a:endParaRPr sz="1800">
              <a:solidFill>
                <a:schemeClr val="dk1"/>
              </a:solidFill>
              <a:latin typeface="Calibri"/>
              <a:ea typeface="Calibri"/>
              <a:cs typeface="Calibri"/>
              <a:sym typeface="Calibri"/>
            </a:endParaRPr>
          </a:p>
        </p:txBody>
      </p:sp>
      <p:sp>
        <p:nvSpPr>
          <p:cNvPr id="130" name="Google Shape;130;p21"/>
          <p:cNvSpPr/>
          <p:nvPr/>
        </p:nvSpPr>
        <p:spPr>
          <a:xfrm>
            <a:off x="1617785" y="2197967"/>
            <a:ext cx="8946224" cy="397031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It is not practical to draw images by defining each pixel separately. At a resolution of 300 dpi, an A4 image will contain 8,640,000 pixels.</a:t>
            </a:r>
            <a:endParaRPr/>
          </a:p>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However, it is possible to save any image in a bitmap file format. </a:t>
            </a:r>
            <a:endParaRPr/>
          </a:p>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For example, digital cameras and smartphones usually save photos in the .jpg format.</a:t>
            </a:r>
            <a:endParaRPr/>
          </a:p>
          <a:p>
            <a:pPr indent="-457200" lvl="0" marL="457200" marR="0" rtl="0" algn="l">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These images can then be edited using image editing software.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GB">
                <a:solidFill>
                  <a:srgbClr val="FFFFFF"/>
                </a:solidFill>
              </a:rPr>
              <a:t>GIMP (GNU Image Manipulation Program) </a:t>
            </a:r>
            <a:endParaRPr b="1">
              <a:solidFill>
                <a:schemeClr val="lt1"/>
              </a:solidFill>
            </a:endParaRPr>
          </a:p>
        </p:txBody>
      </p:sp>
      <p:sp>
        <p:nvSpPr>
          <p:cNvPr id="136" name="Google Shape;136;p22"/>
          <p:cNvSpPr/>
          <p:nvPr/>
        </p:nvSpPr>
        <p:spPr>
          <a:xfrm>
            <a:off x="1589631" y="1859340"/>
            <a:ext cx="8046737"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rgbClr val="000000"/>
                </a:solidFill>
                <a:latin typeface="Calibri"/>
                <a:ea typeface="Calibri"/>
                <a:cs typeface="Calibri"/>
                <a:sym typeface="Calibri"/>
              </a:rPr>
              <a:t>GIMP is free and Open Source </a:t>
            </a:r>
            <a:r>
              <a:rPr b="1" lang="en-GB" sz="2400">
                <a:solidFill>
                  <a:srgbClr val="0069B4"/>
                </a:solidFill>
                <a:latin typeface="Calibri"/>
                <a:ea typeface="Calibri"/>
                <a:cs typeface="Calibri"/>
                <a:sym typeface="Calibri"/>
              </a:rPr>
              <a:t>image editing software</a:t>
            </a:r>
            <a:r>
              <a:rPr lang="en-GB" sz="2400">
                <a:solidFill>
                  <a:srgbClr val="000000"/>
                </a:solidFill>
                <a:latin typeface="Calibri"/>
                <a:ea typeface="Calibri"/>
                <a:cs typeface="Calibri"/>
                <a:sym typeface="Calibri"/>
              </a:rPr>
              <a:t>.</a:t>
            </a:r>
            <a:endParaRPr/>
          </a:p>
        </p:txBody>
      </p:sp>
      <p:sp>
        <p:nvSpPr>
          <p:cNvPr id="137" name="Google Shape;137;p22"/>
          <p:cNvSpPr/>
          <p:nvPr/>
        </p:nvSpPr>
        <p:spPr>
          <a:xfrm>
            <a:off x="1649506" y="2541292"/>
            <a:ext cx="6096000"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a:t>
            </a:r>
            <a:r>
              <a:rPr b="1" lang="en-GB" sz="2400">
                <a:solidFill>
                  <a:schemeClr val="dk1"/>
                </a:solidFill>
                <a:latin typeface="Calibri"/>
                <a:ea typeface="Calibri"/>
                <a:cs typeface="Calibri"/>
                <a:sym typeface="Calibri"/>
              </a:rPr>
              <a:t>‘Fuzzy Select Tool’</a:t>
            </a:r>
            <a:r>
              <a:rPr lang="en-GB" sz="2400">
                <a:solidFill>
                  <a:schemeClr val="dk1"/>
                </a:solidFill>
                <a:latin typeface="Calibri"/>
                <a:ea typeface="Calibri"/>
                <a:cs typeface="Calibri"/>
                <a:sym typeface="Calibri"/>
              </a:rPr>
              <a:t> can be used to select and remove areas of the image that have similar colour hues.</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a:t>
            </a:r>
            <a:r>
              <a:rPr b="1" lang="en-GB" sz="2400">
                <a:solidFill>
                  <a:schemeClr val="dk1"/>
                </a:solidFill>
                <a:latin typeface="Calibri"/>
                <a:ea typeface="Calibri"/>
                <a:cs typeface="Calibri"/>
                <a:sym typeface="Calibri"/>
              </a:rPr>
              <a:t>‘Free Select Tool’</a:t>
            </a:r>
            <a:r>
              <a:rPr lang="en-GB" sz="2400">
                <a:solidFill>
                  <a:schemeClr val="dk1"/>
                </a:solidFill>
                <a:latin typeface="Calibri"/>
                <a:ea typeface="Calibri"/>
                <a:cs typeface="Calibri"/>
                <a:sym typeface="Calibri"/>
              </a:rPr>
              <a:t> can be used to hand draw around areas of the image, which can then be removed.</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Using a </a:t>
            </a:r>
            <a:r>
              <a:rPr b="1" lang="en-GB" sz="2400">
                <a:solidFill>
                  <a:schemeClr val="dk1"/>
                </a:solidFill>
                <a:latin typeface="Calibri"/>
                <a:ea typeface="Calibri"/>
                <a:cs typeface="Calibri"/>
                <a:sym typeface="Calibri"/>
              </a:rPr>
              <a:t>transparent background</a:t>
            </a:r>
            <a:r>
              <a:rPr lang="en-GB" sz="2400">
                <a:solidFill>
                  <a:schemeClr val="dk1"/>
                </a:solidFill>
                <a:latin typeface="Calibri"/>
                <a:ea typeface="Calibri"/>
                <a:cs typeface="Calibri"/>
                <a:sym typeface="Calibri"/>
              </a:rPr>
              <a:t>, it is possible to isolate part of an existing image and save it.</a:t>
            </a:r>
            <a:endParaRPr/>
          </a:p>
        </p:txBody>
      </p:sp>
      <p:pic>
        <p:nvPicPr>
          <p:cNvPr id="138" name="Google Shape;138;p22"/>
          <p:cNvPicPr preferRelativeResize="0"/>
          <p:nvPr/>
        </p:nvPicPr>
        <p:blipFill rotWithShape="1">
          <a:blip r:embed="rId3">
            <a:alphaModFix/>
          </a:blip>
          <a:srcRect b="0" l="0" r="0" t="0"/>
          <a:stretch/>
        </p:blipFill>
        <p:spPr>
          <a:xfrm>
            <a:off x="6524413" y="2015931"/>
            <a:ext cx="5785956" cy="4339467"/>
          </a:xfrm>
          <a:prstGeom prst="rect">
            <a:avLst/>
          </a:prstGeom>
          <a:noFill/>
          <a:ln>
            <a:noFill/>
          </a:ln>
        </p:spPr>
      </p:pic>
      <p:sp>
        <p:nvSpPr>
          <p:cNvPr id="139" name="Google Shape;139;p22"/>
          <p:cNvSpPr/>
          <p:nvPr/>
        </p:nvSpPr>
        <p:spPr>
          <a:xfrm>
            <a:off x="4373624" y="5988769"/>
            <a:ext cx="344475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Now watch Video 5.1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p:nvPr/>
        </p:nvSpPr>
        <p:spPr>
          <a:xfrm>
            <a:off x="1584883" y="806748"/>
            <a:ext cx="7303281" cy="7694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4400">
                <a:solidFill>
                  <a:schemeClr val="lt1"/>
                </a:solidFill>
                <a:latin typeface="Calibri"/>
                <a:ea typeface="Calibri"/>
                <a:cs typeface="Calibri"/>
                <a:sym typeface="Calibri"/>
              </a:rPr>
              <a:t>Activity 5.1: Isolating an image </a:t>
            </a:r>
            <a:endParaRPr sz="4400">
              <a:solidFill>
                <a:schemeClr val="lt1"/>
              </a:solidFill>
              <a:latin typeface="Calibri"/>
              <a:ea typeface="Calibri"/>
              <a:cs typeface="Calibri"/>
              <a:sym typeface="Calibri"/>
            </a:endParaRPr>
          </a:p>
        </p:txBody>
      </p:sp>
      <p:pic>
        <p:nvPicPr>
          <p:cNvPr descr="A picture containing athletic game, basketball, sport&#10;&#10;Description automatically generated" id="145" name="Google Shape;145;p23"/>
          <p:cNvPicPr preferRelativeResize="0"/>
          <p:nvPr/>
        </p:nvPicPr>
        <p:blipFill rotWithShape="1">
          <a:blip r:embed="rId3">
            <a:alphaModFix/>
          </a:blip>
          <a:srcRect b="0" l="0" r="0" t="0"/>
          <a:stretch/>
        </p:blipFill>
        <p:spPr>
          <a:xfrm>
            <a:off x="3875447" y="1882552"/>
            <a:ext cx="4441105" cy="43513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1596353" y="807868"/>
            <a:ext cx="10515600" cy="8256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5 </a:t>
            </a:r>
            <a:endParaRPr/>
          </a:p>
        </p:txBody>
      </p:sp>
      <p:pic>
        <p:nvPicPr>
          <p:cNvPr descr="A picture containing athletic game, basketball, sport&#10;&#10;Description automatically generated" id="151" name="Google Shape;151;p24"/>
          <p:cNvPicPr preferRelativeResize="0"/>
          <p:nvPr/>
        </p:nvPicPr>
        <p:blipFill rotWithShape="1">
          <a:blip r:embed="rId3">
            <a:alphaModFix/>
          </a:blip>
          <a:srcRect b="0" l="0" r="0" t="0"/>
          <a:stretch/>
        </p:blipFill>
        <p:spPr>
          <a:xfrm>
            <a:off x="3875447" y="1882552"/>
            <a:ext cx="4441105" cy="43513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