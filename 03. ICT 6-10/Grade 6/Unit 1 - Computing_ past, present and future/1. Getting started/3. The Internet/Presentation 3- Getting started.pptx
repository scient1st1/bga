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, rectangle&#10;&#10;Description automatically generated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25758"/>
            <a:ext cx="12192000" cy="16561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1378896" y="3010438"/>
            <a:ext cx="4717104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GB"/>
              <a:t>Getting started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1378896" y="3926287"/>
            <a:ext cx="4868640" cy="425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E84E0E"/>
                </a:solidFill>
                <a:latin typeface="Calibri"/>
                <a:ea typeface="Calibri"/>
                <a:cs typeface="Calibri"/>
                <a:sym typeface="Calibri"/>
              </a:rPr>
              <a:t>Lesson 3: The internet and digital wellbeing </a:t>
            </a:r>
            <a:endParaRPr/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5669" y="2531599"/>
            <a:ext cx="3507435" cy="278937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584000" y="792000"/>
            <a:ext cx="2903594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584000" y="2517503"/>
            <a:ext cx="8859411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appropriate use of digital resources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the internet for research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 wellbeing.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&#10;&#10;Description automatically generated"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8511" y="2003195"/>
            <a:ext cx="7954978" cy="428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1584000" y="835504"/>
            <a:ext cx="7598501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internet</a:t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1584000" y="1906901"/>
            <a:ext cx="8369297" cy="431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a global network that connects computers across the world so that they can communicate with one another.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These computers include servers hosting software, music and video that you can access via the internet.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internet is somewhere to: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 out information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watch videos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play games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 with friends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Something else?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1584000" y="792000"/>
            <a:ext cx="9969713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What should you use the internet for at school?</a:t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1584000" y="2521059"/>
            <a:ext cx="4953435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Accessing and handing in work via the VLE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Emailing teachers</a:t>
            </a:r>
            <a:endParaRPr/>
          </a:p>
        </p:txBody>
      </p:sp>
      <p:pic>
        <p:nvPicPr>
          <p:cNvPr descr="A picture containing bubble chart&#10;&#10;Description automatically generated" id="106" name="Google Shape;1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8856" y="2253848"/>
            <a:ext cx="3580665" cy="3672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1587308" y="824272"/>
            <a:ext cx="8298969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b="1" lang="en-GB" sz="3500">
                <a:solidFill>
                  <a:schemeClr val="lt1"/>
                </a:solidFill>
              </a:rPr>
              <a:t>What should you </a:t>
            </a:r>
            <a:r>
              <a:rPr b="1" lang="en-GB" sz="3500" u="sng">
                <a:solidFill>
                  <a:schemeClr val="lt1"/>
                </a:solidFill>
              </a:rPr>
              <a:t>not </a:t>
            </a:r>
            <a:r>
              <a:rPr b="1" lang="en-GB" sz="3500">
                <a:solidFill>
                  <a:schemeClr val="lt1"/>
                </a:solidFill>
              </a:rPr>
              <a:t>use the internet</a:t>
            </a:r>
            <a:br>
              <a:rPr b="1" lang="en-GB" sz="3500">
                <a:solidFill>
                  <a:schemeClr val="lt1"/>
                </a:solidFill>
              </a:rPr>
            </a:br>
            <a:r>
              <a:rPr b="1" lang="en-GB" sz="3500">
                <a:solidFill>
                  <a:schemeClr val="lt1"/>
                </a:solidFill>
              </a:rPr>
              <a:t> for at school? </a:t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1587308" y="2273970"/>
            <a:ext cx="4792471" cy="2985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Playing games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Watching videos or listening to music*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Messaging friends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*Unless this is something you have been asked to do as part of a lesson.</a:t>
            </a:r>
            <a:endParaRPr/>
          </a:p>
        </p:txBody>
      </p:sp>
      <p:pic>
        <p:nvPicPr>
          <p:cNvPr descr="Diagram&#10;&#10;Description automatically generated" id="113" name="Google Shape;11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8856" y="2273970"/>
            <a:ext cx="3580665" cy="3689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1584000" y="792000"/>
            <a:ext cx="6936056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Information on the internet</a:t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1584000" y="2358189"/>
            <a:ext cx="8695781" cy="37179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is a great deal of fantastic stuff on the internet and it is a really useful place to gather information about all sorts of subjects.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However, alongside all the accurate information there is a lot of unreliable and even incorrect and misleading information.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websites are written by non-specialists who present their own thoughts and ideas on a subject as facts.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 websites are written by very knowledgeable people but are biased because they present just one side of the story.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b="1" lang="en-GB" sz="3400">
                <a:solidFill>
                  <a:schemeClr val="lt1"/>
                </a:solidFill>
              </a:rPr>
              <a:t>How can we work out if information on </a:t>
            </a:r>
            <a:br>
              <a:rPr b="1" lang="en-GB" sz="3400">
                <a:solidFill>
                  <a:schemeClr val="lt1"/>
                </a:solidFill>
              </a:rPr>
            </a:br>
            <a:r>
              <a:rPr b="1" lang="en-GB" sz="3400">
                <a:solidFill>
                  <a:schemeClr val="lt1"/>
                </a:solidFill>
              </a:rPr>
              <a:t>the internet is trustworthy?</a:t>
            </a:r>
            <a:endParaRPr/>
          </a:p>
        </p:txBody>
      </p:sp>
      <p:sp>
        <p:nvSpPr>
          <p:cNvPr id="125" name="Google Shape;125;p20"/>
          <p:cNvSpPr/>
          <p:nvPr/>
        </p:nvSpPr>
        <p:spPr>
          <a:xfrm>
            <a:off x="1589632" y="2034513"/>
            <a:ext cx="205101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Look out for:</a:t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>
            <a:off x="1589631" y="2557733"/>
            <a:ext cx="8511799" cy="3816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Accuracy: Are there facts and figures to back up opinions?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Currency: When was the article written? Has it been updated recently?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Author: Is the author named? Are they qualified to comment on the subject they are writing about?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Hosting website: Is the organisation hosting the website well known and generally considered to be trustworthy?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Balanced presentation: Are both sides of an argument covered in equal measure?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∙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Professional tone: Is the article well written? It should avoid street language, textspeak and inappropriately emotional language.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/>
        </p:nvSpPr>
        <p:spPr>
          <a:xfrm>
            <a:off x="1617785" y="759656"/>
            <a:ext cx="1060796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tips for using the internet for research (1)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1"/>
          <p:cNvSpPr/>
          <p:nvPr/>
        </p:nvSpPr>
        <p:spPr>
          <a:xfrm>
            <a:off x="1617785" y="2197967"/>
            <a:ext cx="8483646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usually begin your research by typing search terms into a search engine.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keywords rather than long phrases; for example, type ‘computers history’ to find out how computers have developed over time.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Choose words that are likely to be used on the sites you want to visit.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worry about small spelling mistakes or capitalisation because the spell checker that is built into a search engine will automatically use the most common spelling.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category options, such as images, videos or news, to limit your search.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 that you can type ‘define’ and then a word to find out the word’s dictionary definition.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1589632" y="699248"/>
            <a:ext cx="10037685" cy="9251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lang="en-GB" sz="4200">
                <a:solidFill>
                  <a:srgbClr val="FFFFFF"/>
                </a:solidFill>
              </a:rPr>
              <a:t>Top tips for using the internet for research (2) </a:t>
            </a:r>
            <a:endParaRPr b="1" sz="4200">
              <a:solidFill>
                <a:schemeClr val="lt1"/>
              </a:solidFill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1589632" y="2090172"/>
            <a:ext cx="8046737" cy="329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your information from more than one unrelated source.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 sure all your sources are trustworthy.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what issues the sources agree on to identify the most accurate information.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Always rewrite the information in your own words, unless you are quoting something.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Include a list of the URLs of the sources you have used.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/>
        </p:nvSpPr>
        <p:spPr>
          <a:xfrm>
            <a:off x="1570616" y="801055"/>
            <a:ext cx="1048870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Google is the most popular search engine in the world</a:t>
            </a:r>
            <a:endParaRPr/>
          </a:p>
        </p:txBody>
      </p:sp>
      <p:pic>
        <p:nvPicPr>
          <p:cNvPr descr="Graphical user interface&#10;&#10;Description automatically generated" id="144" name="Google Shape;144;p23"/>
          <p:cNvPicPr preferRelativeResize="0"/>
          <p:nvPr/>
        </p:nvPicPr>
        <p:blipFill rotWithShape="1">
          <a:blip r:embed="rId3">
            <a:alphaModFix/>
          </a:blip>
          <a:srcRect b="31217" l="686" r="0" t="0"/>
          <a:stretch/>
        </p:blipFill>
        <p:spPr>
          <a:xfrm>
            <a:off x="3541986" y="1754858"/>
            <a:ext cx="5108028" cy="4688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1583999" y="813020"/>
            <a:ext cx="9903807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GB" sz="3200">
                <a:solidFill>
                  <a:schemeClr val="lt1"/>
                </a:solidFill>
              </a:rPr>
              <a:t>Activity 3.1:</a:t>
            </a:r>
            <a:br>
              <a:rPr b="1" lang="en-GB" sz="3200">
                <a:solidFill>
                  <a:schemeClr val="lt1"/>
                </a:solidFill>
              </a:rPr>
            </a:br>
            <a:r>
              <a:rPr b="1" lang="en-GB" sz="3200">
                <a:solidFill>
                  <a:schemeClr val="lt1"/>
                </a:solidFill>
              </a:rPr>
              <a:t>Researching how to use the internet safely and responsibly </a:t>
            </a:r>
            <a:endParaRPr/>
          </a:p>
        </p:txBody>
      </p:sp>
      <p:pic>
        <p:nvPicPr>
          <p:cNvPr descr="A picture containing athletic game, basketball, sport&#10;&#10;Description automatically generated" id="150" name="Google Shape;1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5447" y="1972368"/>
            <a:ext cx="4441105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Digital wellbeing </a:t>
            </a:r>
            <a:endParaRPr/>
          </a:p>
        </p:txBody>
      </p:sp>
      <p:sp>
        <p:nvSpPr>
          <p:cNvPr id="156" name="Google Shape;156;p25"/>
          <p:cNvSpPr/>
          <p:nvPr/>
        </p:nvSpPr>
        <p:spPr>
          <a:xfrm>
            <a:off x="1589632" y="2129806"/>
            <a:ext cx="9092712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Digital wellbeing </a:t>
            </a:r>
            <a:r>
              <a:rPr lang="en-GB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about having a healthy relationship with technology.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Research suggests that 11-year-olds spend up to 6 hours online every day.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Whether or not this is too much depends on the quality of the content you are looking at and activities you are doing online.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However, too much time spent online can affect your friendships, your health and your performance at school.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Digital wellbeing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2098284" y="2828835"/>
            <a:ext cx="799543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do you think the effects of spending too much time online might be?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1569720" y="649019"/>
            <a:ext cx="10515600" cy="11766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3.2: Digital wellbeing </a:t>
            </a:r>
            <a:endParaRPr/>
          </a:p>
        </p:txBody>
      </p:sp>
      <p:pic>
        <p:nvPicPr>
          <p:cNvPr descr="A picture containing athletic game, basketball, sport&#10;&#10;Description automatically generated" id="168" name="Google Shape;16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2905" y="1940096"/>
            <a:ext cx="4583648" cy="44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1569720" y="50006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3 </a:t>
            </a:r>
            <a:endParaRPr/>
          </a:p>
        </p:txBody>
      </p:sp>
      <p:pic>
        <p:nvPicPr>
          <p:cNvPr descr="A picture containing athletic game, basketball, sport&#10;&#10;Description automatically generated" id="174" name="Google Shape;17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2905" y="1940096"/>
            <a:ext cx="4583648" cy="44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