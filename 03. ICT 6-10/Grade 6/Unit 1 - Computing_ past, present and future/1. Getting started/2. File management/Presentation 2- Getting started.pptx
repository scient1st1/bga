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49E1E4-5B50-4342-BF3D-B819B3320F17}">
  <a:tblStyle styleId="{0249E1E4-5B50-4342-BF3D-B819B3320F1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5758"/>
            <a:ext cx="12192000" cy="16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378896" y="3010438"/>
            <a:ext cx="4717104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Getting started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1378896" y="3926287"/>
            <a:ext cx="5976316" cy="425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E84E0E"/>
                </a:solidFill>
                <a:latin typeface="Calibri"/>
                <a:ea typeface="Calibri"/>
                <a:cs typeface="Calibri"/>
                <a:sym typeface="Calibri"/>
              </a:rPr>
              <a:t>Lesson 2: File management, cloud computing and VLEs</a:t>
            </a:r>
            <a:endParaRPr/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69" y="2531599"/>
            <a:ext cx="3507435" cy="278937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84000" y="792000"/>
            <a:ext cx="2903594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84000" y="2582614"/>
            <a:ext cx="8859411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save and organise files effectively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cloud computing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access material and submit work via the school’s VLE.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5190" y="1933687"/>
            <a:ext cx="4541620" cy="4241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1584000" y="792000"/>
            <a:ext cx="7598501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Files and folders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584000" y="2284463"/>
            <a:ext cx="7993137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data stored on a computer is saved to a </a:t>
            </a:r>
            <a:r>
              <a:rPr b="1" lang="en-GB" sz="26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file that contains text is often referred to as a </a:t>
            </a:r>
            <a:r>
              <a:rPr b="1" lang="en-GB" sz="26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This is because it is like a piece of paper that has been written on.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selection of files can be stored in a</a:t>
            </a:r>
            <a:r>
              <a:rPr b="1" lang="en-GB" sz="2600">
                <a:solidFill>
                  <a:srgbClr val="C4591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26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folder</a:t>
            </a: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folder can also contain other folders, which are technically then called sub-folders.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1584000" y="792000"/>
            <a:ext cx="4990055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Organising files</a:t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1584000" y="2233061"/>
            <a:ext cx="324121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help us find our files quickly, it is good practice to use: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relevant file names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relevant folder names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sensible folder and sub-folder structure.</a:t>
            </a:r>
            <a:endParaRPr/>
          </a:p>
        </p:txBody>
      </p:sp>
      <p:pic>
        <p:nvPicPr>
          <p:cNvPr descr="Graphical user interface, application&#10;&#10;Description automatically generated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9973" y="1959033"/>
            <a:ext cx="5294152" cy="432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598066" y="791999"/>
            <a:ext cx="7714746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2.1: School file management </a:t>
            </a:r>
            <a:endParaRPr/>
          </a:p>
        </p:txBody>
      </p:sp>
      <p:pic>
        <p:nvPicPr>
          <p:cNvPr descr="A picture containing athletic game, basketball, sport&#10;&#10;Description automatically generated"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3494" y="1937210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1584000" y="792000"/>
            <a:ext cx="4990055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File extensions 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1584000" y="2358189"/>
            <a:ext cx="8695781" cy="2436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GB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we save a file, we give it a name; for example, ‘History_Project’.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GB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software then adds a </a:t>
            </a:r>
            <a:r>
              <a:rPr b="1" lang="en-GB" sz="32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file extension</a:t>
            </a:r>
            <a:r>
              <a:rPr lang="en-GB" sz="32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tells the computer what type of file it is. The file extension is usually three or four characters long.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File extensions </a:t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1589632" y="2034513"/>
            <a:ext cx="51925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common file extensions are:</a:t>
            </a:r>
            <a:endParaRPr/>
          </a:p>
        </p:txBody>
      </p:sp>
      <p:graphicFrame>
        <p:nvGraphicFramePr>
          <p:cNvPr id="125" name="Google Shape;125;p20"/>
          <p:cNvGraphicFramePr/>
          <p:nvPr/>
        </p:nvGraphicFramePr>
        <p:xfrm>
          <a:off x="2481943" y="2950029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{0249E1E4-5B50-4342-BF3D-B819B3320F17}</a:tableStyleId>
              </a:tblPr>
              <a:tblGrid>
                <a:gridCol w="3230100"/>
                <a:gridCol w="3336975"/>
              </a:tblGrid>
              <a:tr h="45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 u="none" cap="none" strike="noStrike"/>
                        <a:t>Extension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 u="none" cap="none" strike="noStrike"/>
                        <a:t>File type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.doc / .docx / .pdf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Document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.xls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Spreadsheet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.png / .jpg 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Image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.mp3 / .wav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Audio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.mp4 / .mov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Video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/>
        </p:nvSpPr>
        <p:spPr>
          <a:xfrm>
            <a:off x="1617785" y="759656"/>
            <a:ext cx="3640933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 extensions </a:t>
            </a:r>
            <a:endParaRPr sz="4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1617785" y="2197966"/>
            <a:ext cx="5368941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file extension enables the computer to use the correct software when you double click on a file to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extensions can also be used to search for files of a particular type if they have not been saved correctly.</a:t>
            </a:r>
            <a:endParaRPr/>
          </a:p>
        </p:txBody>
      </p:sp>
      <p:pic>
        <p:nvPicPr>
          <p:cNvPr descr="Graphical user interface, text, application&#10;&#10;Description automatically generated" id="132" name="Google Shape;132;p21"/>
          <p:cNvPicPr preferRelativeResize="0"/>
          <p:nvPr/>
        </p:nvPicPr>
        <p:blipFill rotWithShape="1">
          <a:blip r:embed="rId3">
            <a:alphaModFix/>
          </a:blip>
          <a:srcRect b="12048" l="0" r="60827" t="0"/>
          <a:stretch/>
        </p:blipFill>
        <p:spPr>
          <a:xfrm>
            <a:off x="7408025" y="2055924"/>
            <a:ext cx="3166190" cy="4118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FFFFF"/>
                </a:solidFill>
              </a:rPr>
              <a:t>Saving work</a:t>
            </a:r>
            <a:r>
              <a:rPr b="1" lang="en-GB" sz="4000">
                <a:solidFill>
                  <a:srgbClr val="FFFFFF"/>
                </a:solidFill>
              </a:rPr>
              <a:t>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1589631" y="1859340"/>
            <a:ext cx="804673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first time you save a piece of work, make sure you give it a suitable name and save it to the correct folder.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then save changes to the original file quickly and easily using shortcut keys: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CTRL+S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Windows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CMD+S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macOS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do not want to overwrite the original file, choose ‘Save As’ from the ‘File’ menu to save a copy of your work. Give the new file a suitable name and save it to the correct folder.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arrow&#10;&#10;Description automatically generated" id="143" name="Google Shape;1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3224" y="1886041"/>
            <a:ext cx="5585552" cy="4634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1584000" y="792000"/>
            <a:ext cx="813884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Cloud computing </a:t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1577769" y="2081630"/>
            <a:ext cx="8054503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Cloud computing</a:t>
            </a:r>
            <a:r>
              <a:rPr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where data is stored online and software is used via an internet browser, rather than being stored locally on a computer’s hard drive.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and software files are saved on a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farms are located all around the world so you do not know where your data is physically being saved when you store it in the cloud.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cloud storage are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Drive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OneDrive®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Dropbox</a:t>
            </a:r>
            <a:r>
              <a:rPr b="1" baseline="30000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TM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internet-based software are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365®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Docs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Advantages of cloud computing </a:t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1589632" y="2274838"/>
            <a:ext cx="779819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is backed up automatically.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Documents and files can be used on any computer with an internet connection.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software is updated online so you are always using the latest version.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Documents and files can be shared easily with other users.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Disadvantages of cloud computing </a:t>
            </a:r>
            <a:endParaRPr/>
          </a:p>
        </p:txBody>
      </p:sp>
      <p:sp>
        <p:nvSpPr>
          <p:cNvPr id="161" name="Google Shape;161;p26"/>
          <p:cNvSpPr/>
          <p:nvPr/>
        </p:nvSpPr>
        <p:spPr>
          <a:xfrm>
            <a:off x="1589632" y="2237536"/>
            <a:ext cx="8362237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data and software can only be accessed if you have an internet connection.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Cloud-based software does not usually have as many functions as downloadable software.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Free storage is limited.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Ongoing subscriptions can become costly over time.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 can lose legal rights to their material if it is stored online.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may be more vulnerable to being stolen if it is stored online.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1569720" y="649019"/>
            <a:ext cx="10515600" cy="1176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2.2: File types and extensions 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882588" y="3452458"/>
            <a:ext cx="4151050" cy="864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GB">
                <a:solidFill>
                  <a:srgbClr val="000000"/>
                </a:solidFill>
              </a:rPr>
              <a:t>Log into your VLE to access the activity.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 picture containing athletic game, basketball, sport&#10;&#10;Description automatically generated" id="168" name="Google Shape;1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857643"/>
            <a:ext cx="444110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569720" y="5000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2 </a:t>
            </a:r>
            <a:endParaRPr/>
          </a:p>
        </p:txBody>
      </p:sp>
      <p:pic>
        <p:nvPicPr>
          <p:cNvPr descr="A picture containing athletic game, basketball, sport&#10;&#10;Description automatically generated" id="174" name="Google Shape;174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8223" y="2234739"/>
            <a:ext cx="4295554" cy="4219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