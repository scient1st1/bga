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3"/>
    <p:sldMasterId id="214748367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This is a very well-designed slide. There is a good balance of text and images and the image links closely to the text. The image has a caption and a credit, and the text is well spaced and in a readable font and at a readable font size. The theme used for the slide is engaging but not distracting. A good presentation will use the same theme for all slides.</a:t>
            </a:r>
            <a:endParaRPr/>
          </a:p>
        </p:txBody>
      </p:sp>
      <p:sp>
        <p:nvSpPr>
          <p:cNvPr id="186" name="Google Shape;18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This slide is poorly designed. It contains far too much text and no images. It uses too many different fonts at different font sizes. It seems to rely on different coloured fonts to make the slide look attractive, but this just makes it hard to read, as does the poor contrast between the colours of the text and the colour of the background. The animation is overly complicated and makes it really hard to take in the information. The information is also too complicated for the intended audience.</a:t>
            </a:r>
            <a:endParaRPr/>
          </a:p>
        </p:txBody>
      </p:sp>
      <p:sp>
        <p:nvSpPr>
          <p:cNvPr id="195" name="Google Shape;19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This slide uses the same theme as Slide 5 and some may think it is a well-designed slide and some may think it is a poorly-designed slide. It all depends on how it is presented. A slide that contains only images can enhance a presentation if the presenter has a reason for including the slide in the deck and talks about the images, but it can be a waste of space if it doesn't have a clear purpose. Notice that all the images have credits.</a:t>
            </a:r>
            <a:endParaRPr/>
          </a:p>
        </p:txBody>
      </p:sp>
      <p:sp>
        <p:nvSpPr>
          <p:cNvPr id="204" name="Google Shape;20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This is a well-designed slide that uses the same theme as Slide 5. Notice that the key words are in bold and that the animations help the audience take in one piece of information at a time. Unfortunately, it contains spelling mistakes and has clearly not been proofread properly. The photo has a credit and a caption.</a:t>
            </a:r>
            <a:endParaRPr/>
          </a:p>
        </p:txBody>
      </p:sp>
      <p:sp>
        <p:nvSpPr>
          <p:cNvPr id="212" name="Google Shape;21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2" name="Google Shape;22;p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7" name="Google Shape;27;p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8" name="Google Shape;28;p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4" name="Google Shape;34;p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5" name="Google Shape;35;p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3" name="Google Shape;43;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4" name="Google Shape;44;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8" name="Google Shape;48;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9" name="Google Shape;49;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6" name="Shape 86"/>
        <p:cNvGrpSpPr/>
        <p:nvPr/>
      </p:nvGrpSpPr>
      <p:grpSpPr>
        <a:xfrm>
          <a:off x="0" y="0"/>
          <a:ext cx="0" cy="0"/>
          <a:chOff x="0" y="0"/>
          <a:chExt cx="0" cy="0"/>
        </a:xfrm>
      </p:grpSpPr>
      <p:sp>
        <p:nvSpPr>
          <p:cNvPr id="87" name="Google Shape;87;p1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1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89" name="Google Shape;89;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2" name="Shape 92"/>
        <p:cNvGrpSpPr/>
        <p:nvPr/>
      </p:nvGrpSpPr>
      <p:grpSpPr>
        <a:xfrm>
          <a:off x="0" y="0"/>
          <a:ext cx="0" cy="0"/>
          <a:chOff x="0" y="0"/>
          <a:chExt cx="0" cy="0"/>
        </a:xfrm>
      </p:grpSpPr>
      <p:sp>
        <p:nvSpPr>
          <p:cNvPr id="93" name="Google Shape;93;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 name="Google Shape;95;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8" name="Shape 98"/>
        <p:cNvGrpSpPr/>
        <p:nvPr/>
      </p:nvGrpSpPr>
      <p:grpSpPr>
        <a:xfrm>
          <a:off x="0" y="0"/>
          <a:ext cx="0" cy="0"/>
          <a:chOff x="0" y="0"/>
          <a:chExt cx="0" cy="0"/>
        </a:xfrm>
      </p:grpSpPr>
      <p:sp>
        <p:nvSpPr>
          <p:cNvPr id="99" name="Google Shape;99;p1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1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01" name="Google Shape;101;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4" name="Shape 104"/>
        <p:cNvGrpSpPr/>
        <p:nvPr/>
      </p:nvGrpSpPr>
      <p:grpSpPr>
        <a:xfrm>
          <a:off x="0" y="0"/>
          <a:ext cx="0" cy="0"/>
          <a:chOff x="0" y="0"/>
          <a:chExt cx="0" cy="0"/>
        </a:xfrm>
      </p:grpSpPr>
      <p:sp>
        <p:nvSpPr>
          <p:cNvPr id="105" name="Google Shape;105;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1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 name="Google Shape;108;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1" name="Shape 111"/>
        <p:cNvGrpSpPr/>
        <p:nvPr/>
      </p:nvGrpSpPr>
      <p:grpSpPr>
        <a:xfrm>
          <a:off x="0" y="0"/>
          <a:ext cx="0" cy="0"/>
          <a:chOff x="0" y="0"/>
          <a:chExt cx="0" cy="0"/>
        </a:xfrm>
      </p:grpSpPr>
      <p:sp>
        <p:nvSpPr>
          <p:cNvPr id="112" name="Google Shape;112;p1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 name="Google Shape;113;p1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14" name="Google Shape;114;p1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 name="Google Shape;115;p1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16" name="Google Shape;116;p1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7" name="Google Shape;117;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0" name="Shape 120"/>
        <p:cNvGrpSpPr/>
        <p:nvPr/>
      </p:nvGrpSpPr>
      <p:grpSpPr>
        <a:xfrm>
          <a:off x="0" y="0"/>
          <a:ext cx="0" cy="0"/>
          <a:chOff x="0" y="0"/>
          <a:chExt cx="0" cy="0"/>
        </a:xfrm>
      </p:grpSpPr>
      <p:sp>
        <p:nvSpPr>
          <p:cNvPr id="121" name="Google Shape;121;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5" name="Shape 125"/>
        <p:cNvGrpSpPr/>
        <p:nvPr/>
      </p:nvGrpSpPr>
      <p:grpSpPr>
        <a:xfrm>
          <a:off x="0" y="0"/>
          <a:ext cx="0" cy="0"/>
          <a:chOff x="0" y="0"/>
          <a:chExt cx="0" cy="0"/>
        </a:xfrm>
      </p:grpSpPr>
      <p:sp>
        <p:nvSpPr>
          <p:cNvPr id="126" name="Google Shape;126;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9" name="Shape 129"/>
        <p:cNvGrpSpPr/>
        <p:nvPr/>
      </p:nvGrpSpPr>
      <p:grpSpPr>
        <a:xfrm>
          <a:off x="0" y="0"/>
          <a:ext cx="0" cy="0"/>
          <a:chOff x="0" y="0"/>
          <a:chExt cx="0" cy="0"/>
        </a:xfrm>
      </p:grpSpPr>
      <p:sp>
        <p:nvSpPr>
          <p:cNvPr id="130" name="Google Shape;130;p2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p2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32" name="Google Shape;132;p2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33" name="Google Shape;133;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6" name="Shape 136"/>
        <p:cNvGrpSpPr/>
        <p:nvPr/>
      </p:nvGrpSpPr>
      <p:grpSpPr>
        <a:xfrm>
          <a:off x="0" y="0"/>
          <a:ext cx="0" cy="0"/>
          <a:chOff x="0" y="0"/>
          <a:chExt cx="0" cy="0"/>
        </a:xfrm>
      </p:grpSpPr>
      <p:sp>
        <p:nvSpPr>
          <p:cNvPr id="137" name="Google Shape;137;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p22"/>
          <p:cNvSpPr/>
          <p:nvPr>
            <p:ph idx="2" type="pic"/>
          </p:nvPr>
        </p:nvSpPr>
        <p:spPr>
          <a:xfrm>
            <a:off x="5183188" y="987425"/>
            <a:ext cx="6172200" cy="4873625"/>
          </a:xfrm>
          <a:prstGeom prst="rect">
            <a:avLst/>
          </a:prstGeom>
          <a:noFill/>
          <a:ln>
            <a:noFill/>
          </a:ln>
        </p:spPr>
      </p:sp>
      <p:sp>
        <p:nvSpPr>
          <p:cNvPr id="139" name="Google Shape;139;p2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40" name="Google Shape;140;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3" name="Shape 143"/>
        <p:cNvGrpSpPr/>
        <p:nvPr/>
      </p:nvGrpSpPr>
      <p:grpSpPr>
        <a:xfrm>
          <a:off x="0" y="0"/>
          <a:ext cx="0" cy="0"/>
          <a:chOff x="0" y="0"/>
          <a:chExt cx="0" cy="0"/>
        </a:xfrm>
      </p:grpSpPr>
      <p:sp>
        <p:nvSpPr>
          <p:cNvPr id="144" name="Google Shape;144;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 name="Google Shape;145;p2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 name="Google Shape;146;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9" name="Shape 149"/>
        <p:cNvGrpSpPr/>
        <p:nvPr/>
      </p:nvGrpSpPr>
      <p:grpSpPr>
        <a:xfrm>
          <a:off x="0" y="0"/>
          <a:ext cx="0" cy="0"/>
          <a:chOff x="0" y="0"/>
          <a:chExt cx="0" cy="0"/>
        </a:xfrm>
      </p:grpSpPr>
      <p:sp>
        <p:nvSpPr>
          <p:cNvPr id="150" name="Google Shape;150;p2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1" name="Google Shape;151;p2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 name="Google Shape;152;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3.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descr="Shape, rectangle&#10;&#10;Description automatically generated" id="10" name="Google Shape;10;p1"/>
          <p:cNvPicPr preferRelativeResize="0"/>
          <p:nvPr/>
        </p:nvPicPr>
        <p:blipFill rotWithShape="1">
          <a:blip r:embed="rId1">
            <a:alphaModFix/>
          </a:blip>
          <a:srcRect b="0" l="0" r="0" t="0"/>
          <a:stretch/>
        </p:blipFill>
        <p:spPr>
          <a:xfrm>
            <a:off x="0" y="-794"/>
            <a:ext cx="12192000" cy="1616288"/>
          </a:xfrm>
          <a:prstGeom prst="rect">
            <a:avLst/>
          </a:prstGeom>
          <a:noFill/>
          <a:ln>
            <a:noFill/>
          </a:ln>
        </p:spPr>
      </p:pic>
      <p:sp>
        <p:nvSpPr>
          <p:cNvPr id="11" name="Google Shape;11;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nvSpPr>
        <p:spPr>
          <a:xfrm>
            <a:off x="7547114" y="6380197"/>
            <a:ext cx="41148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GB" sz="1200" u="none" cap="none" strike="noStrike">
                <a:solidFill>
                  <a:schemeClr val="dk1"/>
                </a:solidFill>
                <a:latin typeface="Calibri"/>
                <a:ea typeface="Calibri"/>
                <a:cs typeface="Calibri"/>
                <a:sym typeface="Calibri"/>
              </a:rPr>
              <a:t>© Hodder &amp; Stoughton Limited 2021</a:t>
            </a:r>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 name="Shape 80"/>
        <p:cNvGrpSpPr/>
        <p:nvPr/>
      </p:nvGrpSpPr>
      <p:grpSpPr>
        <a:xfrm>
          <a:off x="0" y="0"/>
          <a:ext cx="0" cy="0"/>
          <a:chOff x="0" y="0"/>
          <a:chExt cx="0" cy="0"/>
        </a:xfrm>
      </p:grpSpPr>
      <p:sp>
        <p:nvSpPr>
          <p:cNvPr id="81" name="Google Shape;81;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2" name="Google Shape;82;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3" name="Google Shape;83;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4" name="Google Shape;84;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5" name="Google Shape;85;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5"/>
          <p:cNvSpPr/>
          <p:nvPr/>
        </p:nvSpPr>
        <p:spPr>
          <a:xfrm>
            <a:off x="2709208" y="4165132"/>
            <a:ext cx="3941400" cy="40011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GB" sz="2000" u="none" cap="none" strike="noStrike">
                <a:solidFill>
                  <a:srgbClr val="0075BE"/>
                </a:solidFill>
                <a:latin typeface="Calibri"/>
                <a:ea typeface="Calibri"/>
                <a:cs typeface="Calibri"/>
                <a:sym typeface="Calibri"/>
              </a:rPr>
              <a:t>Lesson 4: The history of computing </a:t>
            </a:r>
            <a:endParaRPr b="1" sz="2000">
              <a:solidFill>
                <a:srgbClr val="0075BE"/>
              </a:solidFill>
              <a:latin typeface="Calibri"/>
              <a:ea typeface="Calibri"/>
              <a:cs typeface="Calibri"/>
              <a:sym typeface="Calibri"/>
            </a:endParaRPr>
          </a:p>
        </p:txBody>
      </p:sp>
      <p:pic>
        <p:nvPicPr>
          <p:cNvPr id="160" name="Google Shape;160;p25"/>
          <p:cNvPicPr preferRelativeResize="0"/>
          <p:nvPr/>
        </p:nvPicPr>
        <p:blipFill rotWithShape="1">
          <a:blip r:embed="rId3">
            <a:alphaModFix/>
          </a:blip>
          <a:srcRect b="0" l="0" r="0" t="0"/>
          <a:stretch/>
        </p:blipFill>
        <p:spPr>
          <a:xfrm>
            <a:off x="7997868" y="2740504"/>
            <a:ext cx="1519603" cy="2849256"/>
          </a:xfrm>
          <a:prstGeom prst="rect">
            <a:avLst/>
          </a:prstGeom>
          <a:noFill/>
          <a:ln>
            <a:noFill/>
          </a:ln>
          <a:effectLst>
            <a:outerShdw blurRad="50800" rotWithShape="0" algn="tl" dir="2700000" dist="38100">
              <a:srgbClr val="000000">
                <a:alpha val="40000"/>
              </a:srgbClr>
            </a:outerShdw>
          </a:effectLst>
        </p:spPr>
      </p:pic>
      <p:sp>
        <p:nvSpPr>
          <p:cNvPr id="161" name="Google Shape;161;p25"/>
          <p:cNvSpPr txBox="1"/>
          <p:nvPr/>
        </p:nvSpPr>
        <p:spPr>
          <a:xfrm>
            <a:off x="906011" y="2642532"/>
            <a:ext cx="6048462" cy="1522600"/>
          </a:xfrm>
          <a:prstGeom prst="rect">
            <a:avLst/>
          </a:prstGeom>
          <a:noFill/>
          <a:ln>
            <a:noFill/>
          </a:ln>
        </p:spPr>
        <p:txBody>
          <a:bodyPr anchorCtr="0" anchor="b" bIns="45700" lIns="91425" spcFirstLastPara="1" rIns="91425" wrap="square" tIns="45700">
            <a:noAutofit/>
          </a:bodyPr>
          <a:lstStyle/>
          <a:p>
            <a:pPr indent="0" lvl="0" marL="0" marR="0" rtl="0" algn="r">
              <a:lnSpc>
                <a:spcPct val="90000"/>
              </a:lnSpc>
              <a:spcBef>
                <a:spcPts val="0"/>
              </a:spcBef>
              <a:spcAft>
                <a:spcPts val="0"/>
              </a:spcAft>
              <a:buClr>
                <a:schemeClr val="dk1"/>
              </a:buClr>
              <a:buSzPts val="4400"/>
              <a:buFont typeface="Calibri"/>
              <a:buNone/>
            </a:pPr>
            <a:r>
              <a:rPr b="1" lang="en-GB" sz="4400" u="none">
                <a:solidFill>
                  <a:schemeClr val="dk1"/>
                </a:solidFill>
                <a:latin typeface="Calibri"/>
                <a:ea typeface="Calibri"/>
                <a:cs typeface="Calibri"/>
                <a:sym typeface="Calibri"/>
              </a:rPr>
              <a:t>Computing: </a:t>
            </a:r>
            <a:endParaRPr/>
          </a:p>
          <a:p>
            <a:pPr indent="0" lvl="0" marL="0" marR="0" rtl="0" algn="r">
              <a:lnSpc>
                <a:spcPct val="90000"/>
              </a:lnSpc>
              <a:spcBef>
                <a:spcPts val="0"/>
              </a:spcBef>
              <a:spcAft>
                <a:spcPts val="0"/>
              </a:spcAft>
              <a:buClr>
                <a:schemeClr val="dk1"/>
              </a:buClr>
              <a:buSzPts val="4400"/>
              <a:buFont typeface="Calibri"/>
              <a:buNone/>
            </a:pPr>
            <a:r>
              <a:rPr b="1" lang="en-GB" sz="4400" u="none">
                <a:solidFill>
                  <a:schemeClr val="dk1"/>
                </a:solidFill>
                <a:latin typeface="Calibri"/>
                <a:ea typeface="Calibri"/>
                <a:cs typeface="Calibri"/>
                <a:sym typeface="Calibri"/>
              </a:rPr>
              <a:t>past, present and future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6"/>
          <p:cNvSpPr txBox="1"/>
          <p:nvPr>
            <p:ph type="title"/>
          </p:nvPr>
        </p:nvSpPr>
        <p:spPr>
          <a:xfrm>
            <a:off x="1610413" y="798504"/>
            <a:ext cx="9634330" cy="76634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Objectives</a:t>
            </a:r>
            <a:endParaRPr/>
          </a:p>
        </p:txBody>
      </p:sp>
      <p:sp>
        <p:nvSpPr>
          <p:cNvPr id="167" name="Google Shape;167;p26"/>
          <p:cNvSpPr/>
          <p:nvPr/>
        </p:nvSpPr>
        <p:spPr>
          <a:xfrm>
            <a:off x="1610413" y="2286475"/>
            <a:ext cx="6854079" cy="2445862"/>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lang="en-GB" sz="2400">
                <a:solidFill>
                  <a:schemeClr val="dk1"/>
                </a:solidFill>
                <a:latin typeface="Calibri"/>
                <a:ea typeface="Calibri"/>
                <a:cs typeface="Calibri"/>
                <a:sym typeface="Calibri"/>
              </a:rPr>
              <a:t>In this lesson, you will learn:</a:t>
            </a:r>
            <a:endParaRPr sz="2400">
              <a:solidFill>
                <a:schemeClr val="dk1"/>
              </a:solidFill>
              <a:latin typeface="Calibri"/>
              <a:ea typeface="Calibri"/>
              <a:cs typeface="Calibri"/>
              <a:sym typeface="Calibri"/>
            </a:endParaRPr>
          </a:p>
          <a:p>
            <a:pPr indent="-342900" lvl="0" marL="342900" marR="0" rtl="0" algn="l">
              <a:lnSpc>
                <a:spcPct val="107000"/>
              </a:lnSpc>
              <a:spcBef>
                <a:spcPts val="0"/>
              </a:spcBef>
              <a:spcAft>
                <a:spcPts val="0"/>
              </a:spcAft>
              <a:buClr>
                <a:schemeClr val="dk1"/>
              </a:buClr>
              <a:buSzPts val="2400"/>
              <a:buFont typeface="Noto Sans Symbols"/>
              <a:buChar char="∙"/>
            </a:pPr>
            <a:r>
              <a:rPr lang="en-GB" sz="2400">
                <a:solidFill>
                  <a:schemeClr val="dk1"/>
                </a:solidFill>
                <a:latin typeface="Calibri"/>
                <a:ea typeface="Calibri"/>
                <a:cs typeface="Calibri"/>
                <a:sym typeface="Calibri"/>
              </a:rPr>
              <a:t>about important figures in the development of computing</a:t>
            </a:r>
            <a:endParaRPr/>
          </a:p>
          <a:p>
            <a:pPr indent="-342900" lvl="0" marL="342900" marR="0" rtl="0" algn="l">
              <a:lnSpc>
                <a:spcPct val="107000"/>
              </a:lnSpc>
              <a:spcBef>
                <a:spcPts val="0"/>
              </a:spcBef>
              <a:spcAft>
                <a:spcPts val="0"/>
              </a:spcAft>
              <a:buClr>
                <a:schemeClr val="dk1"/>
              </a:buClr>
              <a:buSzPts val="2400"/>
              <a:buFont typeface="Noto Sans Symbols"/>
              <a:buChar char="∙"/>
            </a:pPr>
            <a:r>
              <a:rPr lang="en-GB" sz="2400">
                <a:solidFill>
                  <a:schemeClr val="dk1"/>
                </a:solidFill>
                <a:latin typeface="Calibri"/>
                <a:ea typeface="Calibri"/>
                <a:cs typeface="Calibri"/>
                <a:sym typeface="Calibri"/>
              </a:rPr>
              <a:t>how to use a range of presentation software tools</a:t>
            </a:r>
            <a:endParaRPr/>
          </a:p>
          <a:p>
            <a:pPr indent="-342900" lvl="0" marL="342900" marR="0" rtl="0" algn="l">
              <a:lnSpc>
                <a:spcPct val="107000"/>
              </a:lnSpc>
              <a:spcBef>
                <a:spcPts val="0"/>
              </a:spcBef>
              <a:spcAft>
                <a:spcPts val="0"/>
              </a:spcAft>
              <a:buClr>
                <a:schemeClr val="dk1"/>
              </a:buClr>
              <a:buSzPts val="2400"/>
              <a:buFont typeface="Noto Sans Symbols"/>
              <a:buChar char="∙"/>
            </a:pPr>
            <a:r>
              <a:rPr lang="en-GB" sz="2400">
                <a:solidFill>
                  <a:schemeClr val="dk1"/>
                </a:solidFill>
                <a:latin typeface="Calibri"/>
                <a:ea typeface="Calibri"/>
                <a:cs typeface="Calibri"/>
                <a:sym typeface="Calibri"/>
              </a:rPr>
              <a:t>how to create a well-designed presentation using presentation software.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1" name="Shape 171"/>
        <p:cNvGrpSpPr/>
        <p:nvPr/>
      </p:nvGrpSpPr>
      <p:grpSpPr>
        <a:xfrm>
          <a:off x="0" y="0"/>
          <a:ext cx="0" cy="0"/>
          <a:chOff x="0" y="0"/>
          <a:chExt cx="0" cy="0"/>
        </a:xfrm>
      </p:grpSpPr>
      <p:sp>
        <p:nvSpPr>
          <p:cNvPr id="172" name="Google Shape;172;p27"/>
          <p:cNvSpPr txBox="1"/>
          <p:nvPr>
            <p:ph type="title"/>
          </p:nvPr>
        </p:nvSpPr>
        <p:spPr>
          <a:xfrm>
            <a:off x="1605489" y="794492"/>
            <a:ext cx="9773478" cy="8458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3200"/>
              <a:buFont typeface="Calibri"/>
              <a:buNone/>
            </a:pPr>
            <a:r>
              <a:rPr b="1" lang="en-GB" sz="3200">
                <a:solidFill>
                  <a:schemeClr val="lt1"/>
                </a:solidFill>
              </a:rPr>
              <a:t>Activity 4.1: </a:t>
            </a:r>
            <a:br>
              <a:rPr b="1" lang="en-GB" sz="3200">
                <a:solidFill>
                  <a:schemeClr val="lt1"/>
                </a:solidFill>
              </a:rPr>
            </a:br>
            <a:r>
              <a:rPr b="1" lang="en-GB" sz="3100">
                <a:solidFill>
                  <a:schemeClr val="lt1"/>
                </a:solidFill>
              </a:rPr>
              <a:t>Word-processing software or presentation software?</a:t>
            </a:r>
            <a:endParaRPr/>
          </a:p>
        </p:txBody>
      </p:sp>
      <p:pic>
        <p:nvPicPr>
          <p:cNvPr descr="A picture containing athletic game, basketball, sport&#10;&#10;Description automatically generated" id="173" name="Google Shape;173;p27"/>
          <p:cNvPicPr preferRelativeResize="0"/>
          <p:nvPr/>
        </p:nvPicPr>
        <p:blipFill rotWithShape="1">
          <a:blip r:embed="rId3">
            <a:alphaModFix/>
          </a:blip>
          <a:srcRect b="0" l="0" r="0" t="0"/>
          <a:stretch/>
        </p:blipFill>
        <p:spPr>
          <a:xfrm>
            <a:off x="4198444" y="1956294"/>
            <a:ext cx="4587567" cy="4494840"/>
          </a:xfrm>
          <a:prstGeom prst="rect">
            <a:avLst/>
          </a:prstGeom>
          <a:noFill/>
          <a:ln>
            <a:noFill/>
          </a:ln>
        </p:spPr>
      </p:pic>
      <p:sp>
        <p:nvSpPr>
          <p:cNvPr id="174" name="Google Shape;174;p27"/>
          <p:cNvSpPr txBox="1"/>
          <p:nvPr/>
        </p:nvSpPr>
        <p:spPr>
          <a:xfrm>
            <a:off x="1605489" y="1956294"/>
            <a:ext cx="296651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chemeClr val="dk1"/>
                </a:solidFill>
                <a:latin typeface="Calibri"/>
                <a:ea typeface="Calibri"/>
                <a:cs typeface="Calibri"/>
                <a:sym typeface="Calibri"/>
              </a:rPr>
              <a:t>Complete Quiz 4.1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gtEl>
                                        <p:attrNameLst>
                                          <p:attrName>style.visibility</p:attrName>
                                        </p:attrNameLst>
                                      </p:cBhvr>
                                      <p:to>
                                        <p:strVal val="visible"/>
                                      </p:to>
                                    </p:set>
                                    <p:animEffect filter="fade" transition="in">
                                      <p:cBhvr>
                                        <p:cTn dur="500"/>
                                        <p:tgtEl>
                                          <p:spTgt spid="1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8"/>
          <p:cNvSpPr txBox="1"/>
          <p:nvPr>
            <p:ph type="title"/>
          </p:nvPr>
        </p:nvSpPr>
        <p:spPr>
          <a:xfrm>
            <a:off x="1594911" y="787653"/>
            <a:ext cx="9733721" cy="83592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00000"/>
              <a:buFont typeface="Calibri"/>
              <a:buNone/>
            </a:pPr>
            <a:r>
              <a:rPr b="1" lang="en-GB">
                <a:solidFill>
                  <a:schemeClr val="lt1"/>
                </a:solidFill>
              </a:rPr>
              <a:t>Activity 4.2: Examples of good or bad design?</a:t>
            </a:r>
            <a:endParaRPr/>
          </a:p>
        </p:txBody>
      </p:sp>
      <p:pic>
        <p:nvPicPr>
          <p:cNvPr descr="A picture containing athletic game, basketball, sport&#10;&#10;Description automatically generated" id="180" name="Google Shape;180;p28"/>
          <p:cNvPicPr preferRelativeResize="0"/>
          <p:nvPr/>
        </p:nvPicPr>
        <p:blipFill rotWithShape="1">
          <a:blip r:embed="rId3">
            <a:alphaModFix/>
          </a:blip>
          <a:srcRect b="0" l="0" r="0" t="0"/>
          <a:stretch/>
        </p:blipFill>
        <p:spPr>
          <a:xfrm>
            <a:off x="5715000" y="1894945"/>
            <a:ext cx="4373335" cy="4284938"/>
          </a:xfrm>
          <a:prstGeom prst="rect">
            <a:avLst/>
          </a:prstGeom>
          <a:noFill/>
          <a:ln>
            <a:noFill/>
          </a:ln>
        </p:spPr>
      </p:pic>
      <p:sp>
        <p:nvSpPr>
          <p:cNvPr id="181" name="Google Shape;181;p28"/>
          <p:cNvSpPr txBox="1"/>
          <p:nvPr/>
        </p:nvSpPr>
        <p:spPr>
          <a:xfrm>
            <a:off x="1594911" y="2024154"/>
            <a:ext cx="3563498" cy="3046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chemeClr val="dk1"/>
                </a:solidFill>
                <a:latin typeface="Calibri"/>
                <a:ea typeface="Calibri"/>
                <a:cs typeface="Calibri"/>
                <a:sym typeface="Calibri"/>
              </a:rPr>
              <a:t>You are going to look at five slides from a presentation about the history of computing. </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For each slide, identify examples of good and bad design.</a:t>
            </a:r>
            <a:endParaRPr/>
          </a:p>
        </p:txBody>
      </p:sp>
      <p:sp>
        <p:nvSpPr>
          <p:cNvPr id="182" name="Google Shape;182;p28"/>
          <p:cNvSpPr txBox="1"/>
          <p:nvPr/>
        </p:nvSpPr>
        <p:spPr>
          <a:xfrm>
            <a:off x="288275" y="5860495"/>
            <a:ext cx="3088385" cy="865740"/>
          </a:xfrm>
          <a:prstGeom prst="rect">
            <a:avLst/>
          </a:prstGeom>
          <a:noFill/>
          <a:ln>
            <a:noFill/>
          </a:ln>
        </p:spPr>
        <p:txBody>
          <a:bodyPr anchorCtr="0" anchor="b" bIns="45700" lIns="91425" spcFirstLastPara="1" rIns="91425" wrap="square" tIns="45700">
            <a:normAutofit lnSpcReduction="10000"/>
          </a:bodyPr>
          <a:lstStyle/>
          <a:p>
            <a:pPr indent="0" lvl="0" marL="0" marR="0" rtl="0" algn="ctr">
              <a:lnSpc>
                <a:spcPct val="90000"/>
              </a:lnSpc>
              <a:spcBef>
                <a:spcPts val="0"/>
              </a:spcBef>
              <a:spcAft>
                <a:spcPts val="0"/>
              </a:spcAft>
              <a:buClr>
                <a:srgbClr val="D8E2F3"/>
              </a:buClr>
              <a:buSzPts val="6000"/>
              <a:buFont typeface="Calibri"/>
              <a:buNone/>
            </a:pPr>
            <a:r>
              <a:rPr b="1" lang="en-GB" sz="6000">
                <a:solidFill>
                  <a:srgbClr val="D8E2F3"/>
                </a:solidFill>
                <a:latin typeface="Calibri"/>
                <a:ea typeface="Calibri"/>
                <a:cs typeface="Calibri"/>
                <a:sym typeface="Calibri"/>
              </a:rPr>
              <a:t>DO NOW</a:t>
            </a:r>
            <a:endParaRPr b="1" sz="6000">
              <a:solidFill>
                <a:srgbClr val="D8E2F3"/>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1600201" y="786103"/>
            <a:ext cx="9753599" cy="84586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al-Khwarizmi (780–850 AD)</a:t>
            </a:r>
            <a:endParaRPr/>
          </a:p>
        </p:txBody>
      </p:sp>
      <p:pic>
        <p:nvPicPr>
          <p:cNvPr id="189" name="Google Shape;189;p29"/>
          <p:cNvPicPr preferRelativeResize="0"/>
          <p:nvPr/>
        </p:nvPicPr>
        <p:blipFill rotWithShape="1">
          <a:blip r:embed="rId3">
            <a:alphaModFix/>
          </a:blip>
          <a:srcRect b="0" l="0" r="0" t="0"/>
          <a:stretch/>
        </p:blipFill>
        <p:spPr>
          <a:xfrm>
            <a:off x="7999546" y="2032385"/>
            <a:ext cx="2996441" cy="3707294"/>
          </a:xfrm>
          <a:prstGeom prst="rect">
            <a:avLst/>
          </a:prstGeom>
          <a:noFill/>
          <a:ln>
            <a:noFill/>
          </a:ln>
        </p:spPr>
      </p:pic>
      <p:sp>
        <p:nvSpPr>
          <p:cNvPr id="190" name="Google Shape;190;p29"/>
          <p:cNvSpPr txBox="1"/>
          <p:nvPr/>
        </p:nvSpPr>
        <p:spPr>
          <a:xfrm>
            <a:off x="7999546" y="5739679"/>
            <a:ext cx="3399457"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GB" sz="1400">
                <a:solidFill>
                  <a:schemeClr val="dk1"/>
                </a:solidFill>
                <a:latin typeface="Calibri"/>
                <a:ea typeface="Calibri"/>
                <a:cs typeface="Calibri"/>
                <a:sym typeface="Calibri"/>
              </a:rPr>
              <a:t>A stamp bearing the image of al-Khwarizmi. </a:t>
            </a:r>
            <a:endParaRPr i="1" sz="1400">
              <a:solidFill>
                <a:schemeClr val="dk1"/>
              </a:solidFill>
              <a:latin typeface="Calibri"/>
              <a:ea typeface="Calibri"/>
              <a:cs typeface="Calibri"/>
              <a:sym typeface="Calibri"/>
            </a:endParaRPr>
          </a:p>
        </p:txBody>
      </p:sp>
      <p:sp>
        <p:nvSpPr>
          <p:cNvPr id="191" name="Google Shape;191;p29"/>
          <p:cNvSpPr txBox="1"/>
          <p:nvPr/>
        </p:nvSpPr>
        <p:spPr>
          <a:xfrm>
            <a:off x="1600201" y="2111492"/>
            <a:ext cx="5983940" cy="41549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chemeClr val="dk1"/>
                </a:solidFill>
                <a:latin typeface="Calibri"/>
                <a:ea typeface="Calibri"/>
                <a:cs typeface="Calibri"/>
                <a:sym typeface="Calibri"/>
              </a:rPr>
              <a:t>Known as the father of algebra, al-Khwarizmi was an outstanding Persian mathematician and</a:t>
            </a:r>
            <a:r>
              <a:rPr b="1" lang="en-GB" sz="2400">
                <a:solidFill>
                  <a:schemeClr val="dk1"/>
                </a:solidFill>
                <a:latin typeface="Calibri"/>
                <a:ea typeface="Calibri"/>
                <a:cs typeface="Calibri"/>
                <a:sym typeface="Calibri"/>
              </a:rPr>
              <a:t> </a:t>
            </a:r>
            <a:r>
              <a:rPr lang="en-GB" sz="2400">
                <a:solidFill>
                  <a:schemeClr val="dk1"/>
                </a:solidFill>
                <a:latin typeface="Calibri"/>
                <a:ea typeface="Calibri"/>
                <a:cs typeface="Calibri"/>
                <a:sym typeface="Calibri"/>
              </a:rPr>
              <a:t>one of the first Directors of the House of Wisdom in Baghdad in the early ninth century.</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He oversaw the translation of important Greek and Indian books about mathematics and astronomy into Arabic.</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The word ‘algorithm’ is derived from his name.</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0"/>
          <p:cNvSpPr txBox="1"/>
          <p:nvPr/>
        </p:nvSpPr>
        <p:spPr>
          <a:xfrm>
            <a:off x="1589632" y="796072"/>
            <a:ext cx="10037685" cy="865740"/>
          </a:xfrm>
          <a:prstGeom prst="rect">
            <a:avLst/>
          </a:prstGeom>
          <a:noFill/>
          <a:ln>
            <a:noFill/>
          </a:ln>
        </p:spPr>
        <p:txBody>
          <a:bodyPr anchorCtr="0" anchor="b" bIns="45700" lIns="91425" spcFirstLastPara="1" rIns="91425" wrap="square" tIns="45700">
            <a:normAutofit lnSpcReduction="10000"/>
          </a:bodyPr>
          <a:lstStyle/>
          <a:p>
            <a:pPr indent="0" lvl="0" marL="0" marR="0" rtl="0" algn="ctr">
              <a:lnSpc>
                <a:spcPct val="90000"/>
              </a:lnSpc>
              <a:spcBef>
                <a:spcPts val="0"/>
              </a:spcBef>
              <a:spcAft>
                <a:spcPts val="0"/>
              </a:spcAft>
              <a:buClr>
                <a:srgbClr val="FF0000"/>
              </a:buClr>
              <a:buSzPts val="6000"/>
              <a:buFont typeface="Calibri"/>
              <a:buNone/>
            </a:pPr>
            <a:r>
              <a:rPr b="1" lang="en-GB" sz="6000">
                <a:solidFill>
                  <a:srgbClr val="FF0000"/>
                </a:solidFill>
                <a:latin typeface="Calibri"/>
                <a:ea typeface="Calibri"/>
                <a:cs typeface="Calibri"/>
                <a:sym typeface="Calibri"/>
              </a:rPr>
              <a:t>Alan Turing </a:t>
            </a:r>
            <a:endParaRPr/>
          </a:p>
        </p:txBody>
      </p:sp>
      <p:sp>
        <p:nvSpPr>
          <p:cNvPr id="198" name="Google Shape;198;p30"/>
          <p:cNvSpPr/>
          <p:nvPr/>
        </p:nvSpPr>
        <p:spPr>
          <a:xfrm>
            <a:off x="1803487" y="3087560"/>
            <a:ext cx="7145304" cy="246221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600">
                <a:solidFill>
                  <a:srgbClr val="FFF2CC"/>
                </a:solidFill>
                <a:latin typeface="Arial"/>
                <a:ea typeface="Arial"/>
                <a:cs typeface="Arial"/>
                <a:sym typeface="Arial"/>
              </a:rPr>
              <a:t>Bletchley Park</a:t>
            </a:r>
            <a:endParaRPr sz="1600">
              <a:solidFill>
                <a:schemeClr val="dk1"/>
              </a:solidFill>
              <a:latin typeface="Times New Roman"/>
              <a:ea typeface="Times New Roman"/>
              <a:cs typeface="Times New Roman"/>
              <a:sym typeface="Times New Roman"/>
            </a:endParaRPr>
          </a:p>
          <a:p>
            <a:pPr indent="0" lvl="0" marL="0" marR="0" rtl="0" algn="l">
              <a:spcBef>
                <a:spcPts val="1800"/>
              </a:spcBef>
              <a:spcAft>
                <a:spcPts val="0"/>
              </a:spcAft>
              <a:buNone/>
            </a:pPr>
            <a:r>
              <a:rPr lang="en-GB" sz="1200">
                <a:solidFill>
                  <a:srgbClr val="A8D08D"/>
                </a:solidFill>
                <a:latin typeface="Arial"/>
                <a:ea typeface="Arial"/>
                <a:cs typeface="Arial"/>
                <a:sym typeface="Arial"/>
              </a:rPr>
              <a:t>When Turing was invited to Bletchley Park during the Second World War to join a team of code breakers put together to crack Nazi military codes, he got a chance to put some of his theories into practice. Working with Flowers and Newman, they built </a:t>
            </a:r>
            <a:r>
              <a:rPr b="1" lang="en-GB" sz="1200">
                <a:solidFill>
                  <a:srgbClr val="A8D08D"/>
                </a:solidFill>
                <a:latin typeface="Arial"/>
                <a:ea typeface="Arial"/>
                <a:cs typeface="Arial"/>
                <a:sym typeface="Arial"/>
              </a:rPr>
              <a:t>Colossus</a:t>
            </a:r>
            <a:r>
              <a:rPr lang="en-GB" sz="1200">
                <a:solidFill>
                  <a:srgbClr val="A8D08D"/>
                </a:solidFill>
                <a:latin typeface="Arial"/>
                <a:ea typeface="Arial"/>
                <a:cs typeface="Arial"/>
                <a:sym typeface="Arial"/>
              </a:rPr>
              <a:t>, the first model of a general-purpose computer. After the war, Turing went on to build the Pilot ACE, one of Britain’s earliest stored program computers and the oldest complete general purpose electronic computer in Britain.</a:t>
            </a:r>
            <a:endParaRPr sz="1200">
              <a:solidFill>
                <a:schemeClr val="dk1"/>
              </a:solidFill>
              <a:latin typeface="Times New Roman"/>
              <a:ea typeface="Times New Roman"/>
              <a:cs typeface="Times New Roman"/>
              <a:sym typeface="Times New Roman"/>
            </a:endParaRPr>
          </a:p>
          <a:p>
            <a:pPr indent="0" lvl="0" marL="0" marR="0" rtl="0" algn="l">
              <a:spcBef>
                <a:spcPts val="1800"/>
              </a:spcBef>
              <a:spcAft>
                <a:spcPts val="0"/>
              </a:spcAft>
              <a:buNone/>
            </a:pPr>
            <a:r>
              <a:rPr i="1" lang="en-GB" sz="1200">
                <a:solidFill>
                  <a:srgbClr val="000000"/>
                </a:solidFill>
                <a:latin typeface="Arial"/>
                <a:ea typeface="Arial"/>
                <a:cs typeface="Arial"/>
                <a:sym typeface="Arial"/>
              </a:rPr>
              <a:t>By the mid-1950s, the computers imagined by Turing started to be built in real life and were becoming common in large institutions, companies and university departments. Such early machines, like the Pilot ACE and EDVAC were so enormous that they filled large rooms and they required a team of people to operate them.</a:t>
            </a:r>
            <a:endParaRPr sz="1200">
              <a:solidFill>
                <a:schemeClr val="dk1"/>
              </a:solidFill>
              <a:latin typeface="Times New Roman"/>
              <a:ea typeface="Times New Roman"/>
              <a:cs typeface="Times New Roman"/>
              <a:sym typeface="Times New Roman"/>
            </a:endParaRPr>
          </a:p>
        </p:txBody>
      </p:sp>
      <p:sp>
        <p:nvSpPr>
          <p:cNvPr id="199" name="Google Shape;199;p30"/>
          <p:cNvSpPr/>
          <p:nvPr/>
        </p:nvSpPr>
        <p:spPr>
          <a:xfrm>
            <a:off x="297951" y="1661812"/>
            <a:ext cx="11568701" cy="120032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rgbClr val="000000"/>
                </a:solidFill>
                <a:latin typeface="Arial"/>
                <a:ea typeface="Arial"/>
                <a:cs typeface="Arial"/>
                <a:sym typeface="Arial"/>
              </a:rPr>
              <a:t>In 1936, the mathematician, Alan Turing, wrote a mathematics paper, ‘On Computable Numbers, with an Application to the Entscheidungsproblem’, which came to be seen as a theoretical basis for today’s computers. In his paper, Turing imagined a single machine that could compute any problem, effectively uniting all human or problem-specific ‘computers’ into one universal device.</a:t>
            </a:r>
            <a:endParaRPr sz="1800">
              <a:solidFill>
                <a:schemeClr val="dk1"/>
              </a:solidFill>
              <a:latin typeface="Times New Roman"/>
              <a:ea typeface="Times New Roman"/>
              <a:cs typeface="Times New Roman"/>
              <a:sym typeface="Times New Roman"/>
            </a:endParaRPr>
          </a:p>
        </p:txBody>
      </p:sp>
      <p:sp>
        <p:nvSpPr>
          <p:cNvPr id="200" name="Google Shape;200;p30"/>
          <p:cNvSpPr/>
          <p:nvPr/>
        </p:nvSpPr>
        <p:spPr>
          <a:xfrm>
            <a:off x="1589633" y="5959858"/>
            <a:ext cx="8479042" cy="64633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GB" sz="1800">
                <a:solidFill>
                  <a:srgbClr val="5B9BD5"/>
                </a:solidFill>
                <a:latin typeface="Times New Roman"/>
                <a:ea typeface="Times New Roman"/>
                <a:cs typeface="Times New Roman"/>
                <a:sym typeface="Times New Roman"/>
              </a:rPr>
              <a:t>Alan Turing is now celebrated as the inventor of the modern electronic computer and is considered to be the single most important figure in the history of computing.</a:t>
            </a:r>
            <a:endParaRPr sz="18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0" st="0"/>
                                            </p:txEl>
                                          </p:spTgt>
                                        </p:tgtEl>
                                        <p:attrNameLst>
                                          <p:attrName>style.visibility</p:attrName>
                                        </p:attrNameLst>
                                      </p:cBhvr>
                                      <p:to>
                                        <p:strVal val="visible"/>
                                      </p:to>
                                    </p:set>
                                    <p:animEffect filter="fade" transition="in">
                                      <p:cBhvr>
                                        <p:cTn dur="500"/>
                                        <p:tgtEl>
                                          <p:spTgt spid="19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1" st="1"/>
                                            </p:txEl>
                                          </p:spTgt>
                                        </p:tgtEl>
                                        <p:attrNameLst>
                                          <p:attrName>style.visibility</p:attrName>
                                        </p:attrNameLst>
                                      </p:cBhvr>
                                      <p:to>
                                        <p:strVal val="visible"/>
                                      </p:to>
                                    </p:set>
                                    <p:animEffect filter="fade" transition="in">
                                      <p:cBhvr>
                                        <p:cTn dur="500"/>
                                        <p:tgtEl>
                                          <p:spTgt spid="19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2" st="2"/>
                                            </p:txEl>
                                          </p:spTgt>
                                        </p:tgtEl>
                                        <p:attrNameLst>
                                          <p:attrName>style.visibility</p:attrName>
                                        </p:attrNameLst>
                                      </p:cBhvr>
                                      <p:to>
                                        <p:strVal val="visible"/>
                                      </p:to>
                                    </p:set>
                                    <p:animEffect filter="fade" transition="in">
                                      <p:cBhvr>
                                        <p:cTn dur="500"/>
                                        <p:tgtEl>
                                          <p:spTgt spid="19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8">
                                            <p:txEl>
                                              <p:pRg end="0" st="0"/>
                                            </p:txEl>
                                          </p:spTgt>
                                        </p:tgtEl>
                                        <p:attrNameLst>
                                          <p:attrName>style.visibility</p:attrName>
                                        </p:attrNameLst>
                                      </p:cBhvr>
                                      <p:to>
                                        <p:strVal val="visible"/>
                                      </p:to>
                                    </p:set>
                                    <p:anim calcmode="lin" valueType="num">
                                      <p:cBhvr additive="base">
                                        <p:cTn dur="500"/>
                                        <p:tgtEl>
                                          <p:spTgt spid="19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8">
                                            <p:txEl>
                                              <p:pRg end="1" st="1"/>
                                            </p:txEl>
                                          </p:spTgt>
                                        </p:tgtEl>
                                        <p:attrNameLst>
                                          <p:attrName>style.visibility</p:attrName>
                                        </p:attrNameLst>
                                      </p:cBhvr>
                                      <p:to>
                                        <p:strVal val="visible"/>
                                      </p:to>
                                    </p:set>
                                    <p:anim calcmode="lin" valueType="num">
                                      <p:cBhvr additive="base">
                                        <p:cTn dur="500"/>
                                        <p:tgtEl>
                                          <p:spTgt spid="19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8">
                                            <p:txEl>
                                              <p:pRg end="2" st="2"/>
                                            </p:txEl>
                                          </p:spTgt>
                                        </p:tgtEl>
                                        <p:attrNameLst>
                                          <p:attrName>style.visibility</p:attrName>
                                        </p:attrNameLst>
                                      </p:cBhvr>
                                      <p:to>
                                        <p:strVal val="visible"/>
                                      </p:to>
                                    </p:set>
                                    <p:anim calcmode="lin" valueType="num">
                                      <p:cBhvr additive="base">
                                        <p:cTn dur="500"/>
                                        <p:tgtEl>
                                          <p:spTgt spid="198">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gtEl>
                                        <p:attrNameLst>
                                          <p:attrName>style.visibility</p:attrName>
                                        </p:attrNameLst>
                                      </p:cBhvr>
                                      <p:to>
                                        <p:strVal val="visible"/>
                                      </p:to>
                                    </p:set>
                                  </p:childTnLst>
                                </p:cTn>
                              </p:par>
                              <p:par>
                                <p:cTn fill="hold" nodeType="withEffect" presetClass="emph" presetID="8" presetSubtype="0">
                                  <p:stCondLst>
                                    <p:cond delay="0"/>
                                  </p:stCondLst>
                                  <p:childTnLst>
                                    <p:animRot by="-21600000">
                                      <p:cBhvr>
                                        <p:cTn dur="2000" fill="hold"/>
                                        <p:tgtEl>
                                          <p:spTgt spid="200"/>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descr="A picture containing text, indoor, cellphone&#10;&#10;Description automatically generated" id="206" name="Google Shape;206;p31"/>
          <p:cNvPicPr preferRelativeResize="0"/>
          <p:nvPr/>
        </p:nvPicPr>
        <p:blipFill rotWithShape="1">
          <a:blip r:embed="rId3">
            <a:alphaModFix/>
          </a:blip>
          <a:srcRect b="0" l="0" r="0" t="0"/>
          <a:stretch/>
        </p:blipFill>
        <p:spPr>
          <a:xfrm>
            <a:off x="1687098" y="2634991"/>
            <a:ext cx="1907637" cy="3027718"/>
          </a:xfrm>
          <a:prstGeom prst="rect">
            <a:avLst/>
          </a:prstGeom>
          <a:noFill/>
          <a:ln>
            <a:noFill/>
          </a:ln>
        </p:spPr>
      </p:pic>
      <p:pic>
        <p:nvPicPr>
          <p:cNvPr descr="A calculator with a screen&#10;&#10;Description automatically generated with low confidence" id="207" name="Google Shape;207;p31"/>
          <p:cNvPicPr preferRelativeResize="0"/>
          <p:nvPr/>
        </p:nvPicPr>
        <p:blipFill rotWithShape="1">
          <a:blip r:embed="rId4">
            <a:alphaModFix/>
          </a:blip>
          <a:srcRect b="0" l="0" r="0" t="0"/>
          <a:stretch/>
        </p:blipFill>
        <p:spPr>
          <a:xfrm>
            <a:off x="4836136" y="2749692"/>
            <a:ext cx="2519727" cy="2913017"/>
          </a:xfrm>
          <a:prstGeom prst="rect">
            <a:avLst/>
          </a:prstGeom>
          <a:noFill/>
          <a:ln>
            <a:noFill/>
          </a:ln>
        </p:spPr>
      </p:pic>
      <p:pic>
        <p:nvPicPr>
          <p:cNvPr descr="A picture containing text, iPod, electronics, phone&#10;&#10;Description automatically generated" id="208" name="Google Shape;208;p31"/>
          <p:cNvPicPr preferRelativeResize="0"/>
          <p:nvPr/>
        </p:nvPicPr>
        <p:blipFill rotWithShape="1">
          <a:blip r:embed="rId5">
            <a:alphaModFix/>
          </a:blip>
          <a:srcRect b="0" l="0" r="0" t="0"/>
          <a:stretch/>
        </p:blipFill>
        <p:spPr>
          <a:xfrm>
            <a:off x="8597264" y="2331680"/>
            <a:ext cx="1907638" cy="333102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2"/>
          <p:cNvSpPr txBox="1"/>
          <p:nvPr>
            <p:ph type="title"/>
          </p:nvPr>
        </p:nvSpPr>
        <p:spPr>
          <a:xfrm>
            <a:off x="1594911" y="787653"/>
            <a:ext cx="9733721" cy="83592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Quantum computing </a:t>
            </a:r>
            <a:endParaRPr/>
          </a:p>
        </p:txBody>
      </p:sp>
      <p:sp>
        <p:nvSpPr>
          <p:cNvPr id="215" name="Google Shape;215;p32"/>
          <p:cNvSpPr/>
          <p:nvPr/>
        </p:nvSpPr>
        <p:spPr>
          <a:xfrm>
            <a:off x="1594910" y="1994736"/>
            <a:ext cx="5350420" cy="452431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400">
                <a:solidFill>
                  <a:schemeClr val="dk1"/>
                </a:solidFill>
                <a:latin typeface="Calibri"/>
                <a:ea typeface="Calibri"/>
                <a:cs typeface="Calibri"/>
                <a:sym typeface="Calibri"/>
              </a:rPr>
              <a:t>Computer scientists are investigating completely new methods of computation, such as </a:t>
            </a:r>
            <a:r>
              <a:rPr b="1" lang="en-GB" sz="2400">
                <a:solidFill>
                  <a:schemeClr val="dk1"/>
                </a:solidFill>
                <a:latin typeface="Calibri"/>
                <a:ea typeface="Calibri"/>
                <a:cs typeface="Calibri"/>
                <a:sym typeface="Calibri"/>
              </a:rPr>
              <a:t>quantum computing</a:t>
            </a:r>
            <a:r>
              <a:rPr lang="en-GB" sz="24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The computer shown uses the spin property of electrons so that individual electrons are procesing and storing date.</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This means that a single atom can store many pieces of data, opening the door for infinite parallel processing.</a:t>
            </a:r>
            <a:endParaRPr/>
          </a:p>
        </p:txBody>
      </p:sp>
      <p:sp>
        <p:nvSpPr>
          <p:cNvPr id="216" name="Google Shape;216;p32"/>
          <p:cNvSpPr/>
          <p:nvPr/>
        </p:nvSpPr>
        <p:spPr>
          <a:xfrm>
            <a:off x="7476548" y="6070347"/>
            <a:ext cx="1787412"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GB" sz="1400">
                <a:solidFill>
                  <a:srgbClr val="000000"/>
                </a:solidFill>
                <a:latin typeface="Calibri"/>
                <a:ea typeface="Calibri"/>
                <a:cs typeface="Calibri"/>
                <a:sym typeface="Calibri"/>
              </a:rPr>
              <a:t>A quantum computer</a:t>
            </a:r>
            <a:r>
              <a:rPr i="1" lang="en-GB" sz="1400">
                <a:solidFill>
                  <a:schemeClr val="dk1"/>
                </a:solidFill>
                <a:latin typeface="Calibri"/>
                <a:ea typeface="Calibri"/>
                <a:cs typeface="Calibri"/>
                <a:sym typeface="Calibri"/>
              </a:rPr>
              <a:t> </a:t>
            </a:r>
            <a:endParaRPr i="1" sz="1400">
              <a:solidFill>
                <a:schemeClr val="dk1"/>
              </a:solidFill>
              <a:latin typeface="Calibri"/>
              <a:ea typeface="Calibri"/>
              <a:cs typeface="Calibri"/>
              <a:sym typeface="Calibri"/>
            </a:endParaRPr>
          </a:p>
        </p:txBody>
      </p:sp>
      <p:pic>
        <p:nvPicPr>
          <p:cNvPr descr="A picture containing text, tube, electronics&#10;&#10;Description automatically generated" id="217" name="Google Shape;217;p32"/>
          <p:cNvPicPr preferRelativeResize="0"/>
          <p:nvPr/>
        </p:nvPicPr>
        <p:blipFill rotWithShape="1">
          <a:blip r:embed="rId3">
            <a:alphaModFix/>
          </a:blip>
          <a:srcRect b="0" l="0" r="0" t="0"/>
          <a:stretch/>
        </p:blipFill>
        <p:spPr>
          <a:xfrm>
            <a:off x="7476548" y="1994736"/>
            <a:ext cx="3271969" cy="407561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5">
                                            <p:txEl>
                                              <p:pRg end="0" st="0"/>
                                            </p:txEl>
                                          </p:spTgt>
                                        </p:tgtEl>
                                        <p:attrNameLst>
                                          <p:attrName>style.visibility</p:attrName>
                                        </p:attrNameLst>
                                      </p:cBhvr>
                                      <p:to>
                                        <p:strVal val="visible"/>
                                      </p:to>
                                    </p:set>
                                    <p:anim calcmode="lin" valueType="num">
                                      <p:cBhvr additive="base">
                                        <p:cTn dur="500"/>
                                        <p:tgtEl>
                                          <p:spTgt spid="21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5">
                                            <p:txEl>
                                              <p:pRg end="1" st="1"/>
                                            </p:txEl>
                                          </p:spTgt>
                                        </p:tgtEl>
                                        <p:attrNameLst>
                                          <p:attrName>style.visibility</p:attrName>
                                        </p:attrNameLst>
                                      </p:cBhvr>
                                      <p:to>
                                        <p:strVal val="visible"/>
                                      </p:to>
                                    </p:set>
                                    <p:anim calcmode="lin" valueType="num">
                                      <p:cBhvr additive="base">
                                        <p:cTn dur="500"/>
                                        <p:tgtEl>
                                          <p:spTgt spid="21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5">
                                            <p:txEl>
                                              <p:pRg end="2" st="2"/>
                                            </p:txEl>
                                          </p:spTgt>
                                        </p:tgtEl>
                                        <p:attrNameLst>
                                          <p:attrName>style.visibility</p:attrName>
                                        </p:attrNameLst>
                                      </p:cBhvr>
                                      <p:to>
                                        <p:strVal val="visible"/>
                                      </p:to>
                                    </p:set>
                                    <p:anim calcmode="lin" valueType="num">
                                      <p:cBhvr additive="base">
                                        <p:cTn dur="500"/>
                                        <p:tgtEl>
                                          <p:spTgt spid="21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5">
                                            <p:txEl>
                                              <p:pRg end="3" st="3"/>
                                            </p:txEl>
                                          </p:spTgt>
                                        </p:tgtEl>
                                        <p:attrNameLst>
                                          <p:attrName>style.visibility</p:attrName>
                                        </p:attrNameLst>
                                      </p:cBhvr>
                                      <p:to>
                                        <p:strVal val="visible"/>
                                      </p:to>
                                    </p:set>
                                    <p:anim calcmode="lin" valueType="num">
                                      <p:cBhvr additive="base">
                                        <p:cTn dur="500"/>
                                        <p:tgtEl>
                                          <p:spTgt spid="21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5">
                                            <p:txEl>
                                              <p:pRg end="4" st="4"/>
                                            </p:txEl>
                                          </p:spTgt>
                                        </p:tgtEl>
                                        <p:attrNameLst>
                                          <p:attrName>style.visibility</p:attrName>
                                        </p:attrNameLst>
                                      </p:cBhvr>
                                      <p:to>
                                        <p:strVal val="visible"/>
                                      </p:to>
                                    </p:set>
                                    <p:anim calcmode="lin" valueType="num">
                                      <p:cBhvr additive="base">
                                        <p:cTn dur="500"/>
                                        <p:tgtEl>
                                          <p:spTgt spid="21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3"/>
          <p:cNvSpPr txBox="1"/>
          <p:nvPr>
            <p:ph type="title"/>
          </p:nvPr>
        </p:nvSpPr>
        <p:spPr>
          <a:xfrm>
            <a:off x="1600201" y="786103"/>
            <a:ext cx="9753599" cy="8458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Calibri"/>
              <a:buNone/>
            </a:pPr>
            <a:r>
              <a:rPr b="1" lang="en-GB" sz="4000">
                <a:solidFill>
                  <a:schemeClr val="lt1"/>
                </a:solidFill>
              </a:rPr>
              <a:t>The qualities of a well-designed presentation </a:t>
            </a:r>
            <a:endParaRPr/>
          </a:p>
        </p:txBody>
      </p:sp>
      <p:sp>
        <p:nvSpPr>
          <p:cNvPr id="223" name="Google Shape;223;p33"/>
          <p:cNvSpPr/>
          <p:nvPr/>
        </p:nvSpPr>
        <p:spPr>
          <a:xfrm>
            <a:off x="1600201" y="2029531"/>
            <a:ext cx="7802216" cy="43188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15000"/>
              </a:lnSpc>
              <a:spcBef>
                <a:spcPts val="0"/>
              </a:spcBef>
              <a:spcAft>
                <a:spcPts val="0"/>
              </a:spcAft>
              <a:buClr>
                <a:schemeClr val="dk1"/>
              </a:buClr>
              <a:buSzPts val="2000"/>
              <a:buFont typeface="Noto Sans Symbols"/>
              <a:buChar char="∙"/>
            </a:pPr>
            <a:r>
              <a:rPr lang="en-GB" sz="2000">
                <a:solidFill>
                  <a:schemeClr val="dk1"/>
                </a:solidFill>
                <a:latin typeface="Calibri"/>
                <a:ea typeface="Calibri"/>
                <a:cs typeface="Calibri"/>
                <a:sym typeface="Calibri"/>
              </a:rPr>
              <a:t>The presentation has a title and most slides have headings.</a:t>
            </a:r>
            <a:endParaRPr/>
          </a:p>
          <a:p>
            <a:pPr indent="-342900" lvl="0" marL="342900" marR="0" rtl="0" algn="l">
              <a:lnSpc>
                <a:spcPct val="115000"/>
              </a:lnSpc>
              <a:spcBef>
                <a:spcPts val="0"/>
              </a:spcBef>
              <a:spcAft>
                <a:spcPts val="0"/>
              </a:spcAft>
              <a:buClr>
                <a:schemeClr val="dk1"/>
              </a:buClr>
              <a:buSzPts val="2000"/>
              <a:buFont typeface="Noto Sans Symbols"/>
              <a:buChar char="∙"/>
            </a:pPr>
            <a:r>
              <a:rPr lang="en-GB" sz="2000">
                <a:solidFill>
                  <a:schemeClr val="dk1"/>
                </a:solidFill>
                <a:latin typeface="Calibri"/>
                <a:ea typeface="Calibri"/>
                <a:cs typeface="Calibri"/>
                <a:sym typeface="Calibri"/>
              </a:rPr>
              <a:t>The same approach to design is used throughout the presentation.</a:t>
            </a:r>
            <a:endParaRPr/>
          </a:p>
          <a:p>
            <a:pPr indent="-342900" lvl="0" marL="342900" marR="0" rtl="0" algn="l">
              <a:lnSpc>
                <a:spcPct val="115000"/>
              </a:lnSpc>
              <a:spcBef>
                <a:spcPts val="0"/>
              </a:spcBef>
              <a:spcAft>
                <a:spcPts val="0"/>
              </a:spcAft>
              <a:buClr>
                <a:schemeClr val="dk1"/>
              </a:buClr>
              <a:buSzPts val="2000"/>
              <a:buFont typeface="Noto Sans Symbols"/>
              <a:buChar char="∙"/>
            </a:pPr>
            <a:r>
              <a:rPr lang="en-GB" sz="2000">
                <a:solidFill>
                  <a:schemeClr val="dk1"/>
                </a:solidFill>
                <a:latin typeface="Calibri"/>
                <a:ea typeface="Calibri"/>
                <a:cs typeface="Calibri"/>
                <a:sym typeface="Calibri"/>
              </a:rPr>
              <a:t>The number of fonts, font sizes and font colours is limited; too many can be confusing.</a:t>
            </a:r>
            <a:endParaRPr/>
          </a:p>
          <a:p>
            <a:pPr indent="-342900" lvl="0" marL="342900" marR="0" rtl="0" algn="l">
              <a:lnSpc>
                <a:spcPct val="115000"/>
              </a:lnSpc>
              <a:spcBef>
                <a:spcPts val="0"/>
              </a:spcBef>
              <a:spcAft>
                <a:spcPts val="0"/>
              </a:spcAft>
              <a:buClr>
                <a:schemeClr val="dk1"/>
              </a:buClr>
              <a:buSzPts val="2000"/>
              <a:buFont typeface="Noto Sans Symbols"/>
              <a:buChar char="∙"/>
            </a:pPr>
            <a:r>
              <a:rPr lang="en-GB" sz="2000">
                <a:solidFill>
                  <a:schemeClr val="dk1"/>
                </a:solidFill>
                <a:latin typeface="Calibri"/>
                <a:ea typeface="Calibri"/>
                <a:cs typeface="Calibri"/>
                <a:sym typeface="Calibri"/>
              </a:rPr>
              <a:t>Animations add to the audience’s understanding not detract from it.</a:t>
            </a:r>
            <a:endParaRPr/>
          </a:p>
          <a:p>
            <a:pPr indent="-342900" lvl="0" marL="342900" marR="0" rtl="0" algn="l">
              <a:lnSpc>
                <a:spcPct val="115000"/>
              </a:lnSpc>
              <a:spcBef>
                <a:spcPts val="0"/>
              </a:spcBef>
              <a:spcAft>
                <a:spcPts val="0"/>
              </a:spcAft>
              <a:buClr>
                <a:schemeClr val="dk1"/>
              </a:buClr>
              <a:buSzPts val="2000"/>
              <a:buFont typeface="Noto Sans Symbols"/>
              <a:buChar char="∙"/>
            </a:pPr>
            <a:r>
              <a:rPr lang="en-GB" sz="2000">
                <a:solidFill>
                  <a:schemeClr val="dk1"/>
                </a:solidFill>
                <a:latin typeface="Calibri"/>
                <a:ea typeface="Calibri"/>
                <a:cs typeface="Calibri"/>
                <a:sym typeface="Calibri"/>
              </a:rPr>
              <a:t>There is a strong contrast between the background colour(s) and the font colour(s).</a:t>
            </a:r>
            <a:endParaRPr/>
          </a:p>
          <a:p>
            <a:pPr indent="-342900" lvl="0" marL="342900" marR="0" rtl="0" algn="l">
              <a:lnSpc>
                <a:spcPct val="115000"/>
              </a:lnSpc>
              <a:spcBef>
                <a:spcPts val="0"/>
              </a:spcBef>
              <a:spcAft>
                <a:spcPts val="0"/>
              </a:spcAft>
              <a:buClr>
                <a:schemeClr val="dk1"/>
              </a:buClr>
              <a:buSzPts val="2000"/>
              <a:buFont typeface="Noto Sans Symbols"/>
              <a:buChar char="∙"/>
            </a:pPr>
            <a:r>
              <a:rPr lang="en-GB" sz="2000">
                <a:solidFill>
                  <a:schemeClr val="dk1"/>
                </a:solidFill>
                <a:latin typeface="Calibri"/>
                <a:ea typeface="Calibri"/>
                <a:cs typeface="Calibri"/>
                <a:sym typeface="Calibri"/>
              </a:rPr>
              <a:t>There is a good balance between text and images and slides are not overcrowded.</a:t>
            </a:r>
            <a:endParaRPr/>
          </a:p>
          <a:p>
            <a:pPr indent="-342900" lvl="0" marL="342900" marR="0" rtl="0" algn="l">
              <a:lnSpc>
                <a:spcPct val="115000"/>
              </a:lnSpc>
              <a:spcBef>
                <a:spcPts val="0"/>
              </a:spcBef>
              <a:spcAft>
                <a:spcPts val="0"/>
              </a:spcAft>
              <a:buClr>
                <a:schemeClr val="dk1"/>
              </a:buClr>
              <a:buSzPts val="2000"/>
              <a:buFont typeface="Noto Sans Symbols"/>
              <a:buChar char="∙"/>
            </a:pPr>
            <a:r>
              <a:rPr lang="en-GB" sz="2000">
                <a:solidFill>
                  <a:schemeClr val="dk1"/>
                </a:solidFill>
                <a:latin typeface="Calibri"/>
                <a:ea typeface="Calibri"/>
                <a:cs typeface="Calibri"/>
                <a:sym typeface="Calibri"/>
              </a:rPr>
              <a:t>Images relate to the text, can be seen clearly and have credits.</a:t>
            </a:r>
            <a:endParaRPr/>
          </a:p>
          <a:p>
            <a:pPr indent="-342900" lvl="0" marL="342900" marR="0" rtl="0" algn="l">
              <a:lnSpc>
                <a:spcPct val="115000"/>
              </a:lnSpc>
              <a:spcBef>
                <a:spcPts val="0"/>
              </a:spcBef>
              <a:spcAft>
                <a:spcPts val="0"/>
              </a:spcAft>
              <a:buClr>
                <a:schemeClr val="dk1"/>
              </a:buClr>
              <a:buSzPts val="2000"/>
              <a:buFont typeface="Noto Sans Symbols"/>
              <a:buChar char="∙"/>
            </a:pPr>
            <a:r>
              <a:rPr lang="en-GB" sz="2000">
                <a:solidFill>
                  <a:schemeClr val="dk1"/>
                </a:solidFill>
                <a:latin typeface="Calibri"/>
                <a:ea typeface="Calibri"/>
                <a:cs typeface="Calibri"/>
                <a:sym typeface="Calibri"/>
              </a:rPr>
              <a:t>Audio and video clips should be embedded into the presentation; avoid linking to clips in another software application.</a:t>
            </a:r>
            <a:endParaRPr sz="20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4"/>
          <p:cNvSpPr txBox="1"/>
          <p:nvPr>
            <p:ph type="title"/>
          </p:nvPr>
        </p:nvSpPr>
        <p:spPr>
          <a:xfrm>
            <a:off x="1618195" y="815637"/>
            <a:ext cx="9793357" cy="85580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The design cycle </a:t>
            </a:r>
            <a:endParaRPr/>
          </a:p>
        </p:txBody>
      </p:sp>
      <p:pic>
        <p:nvPicPr>
          <p:cNvPr descr="Diagram&#10;&#10;Description automatically generated" id="229" name="Google Shape;229;p34"/>
          <p:cNvPicPr preferRelativeResize="0"/>
          <p:nvPr/>
        </p:nvPicPr>
        <p:blipFill rotWithShape="1">
          <a:blip r:embed="rId3">
            <a:alphaModFix/>
          </a:blip>
          <a:srcRect b="0" l="0" r="0" t="0"/>
          <a:stretch/>
        </p:blipFill>
        <p:spPr>
          <a:xfrm>
            <a:off x="1833880" y="2111647"/>
            <a:ext cx="5729514" cy="408334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5"/>
          <p:cNvSpPr txBox="1"/>
          <p:nvPr>
            <p:ph type="title"/>
          </p:nvPr>
        </p:nvSpPr>
        <p:spPr>
          <a:xfrm>
            <a:off x="1600201" y="786103"/>
            <a:ext cx="9753599" cy="8458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3200"/>
              <a:buFont typeface="Calibri"/>
              <a:buNone/>
            </a:pPr>
            <a:r>
              <a:rPr b="1" lang="en-GB" sz="3200">
                <a:solidFill>
                  <a:schemeClr val="lt1"/>
                </a:solidFill>
              </a:rPr>
              <a:t>Activity 4.3: </a:t>
            </a:r>
            <a:br>
              <a:rPr b="1" lang="en-GB" sz="3400">
                <a:solidFill>
                  <a:schemeClr val="lt1"/>
                </a:solidFill>
              </a:rPr>
            </a:br>
            <a:r>
              <a:rPr b="1" lang="en-GB" sz="3100">
                <a:solidFill>
                  <a:schemeClr val="lt1"/>
                </a:solidFill>
              </a:rPr>
              <a:t>A presentation about the history of computing</a:t>
            </a:r>
            <a:endParaRPr/>
          </a:p>
        </p:txBody>
      </p:sp>
      <p:pic>
        <p:nvPicPr>
          <p:cNvPr descr="A picture containing athletic game, basketball, sport&#10;&#10;Description automatically generated" id="235" name="Google Shape;235;p35"/>
          <p:cNvPicPr preferRelativeResize="0"/>
          <p:nvPr/>
        </p:nvPicPr>
        <p:blipFill rotWithShape="1">
          <a:blip r:embed="rId3">
            <a:alphaModFix/>
          </a:blip>
          <a:srcRect b="0" l="0" r="0" t="0"/>
          <a:stretch/>
        </p:blipFill>
        <p:spPr>
          <a:xfrm>
            <a:off x="4085321" y="1884254"/>
            <a:ext cx="4021357" cy="39400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6"/>
          <p:cNvSpPr txBox="1"/>
          <p:nvPr>
            <p:ph type="title"/>
          </p:nvPr>
        </p:nvSpPr>
        <p:spPr>
          <a:xfrm>
            <a:off x="1618195" y="815637"/>
            <a:ext cx="9793357" cy="785666"/>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3200"/>
              <a:buFont typeface="Calibri"/>
              <a:buNone/>
            </a:pPr>
            <a:r>
              <a:rPr b="1" lang="en-GB" sz="3200">
                <a:solidFill>
                  <a:schemeClr val="lt1"/>
                </a:solidFill>
              </a:rPr>
              <a:t>Activity 4.4: </a:t>
            </a:r>
            <a:br>
              <a:rPr b="1" lang="en-GB" sz="3200">
                <a:solidFill>
                  <a:schemeClr val="lt1"/>
                </a:solidFill>
              </a:rPr>
            </a:br>
            <a:r>
              <a:rPr b="1" lang="en-GB" sz="3100">
                <a:solidFill>
                  <a:schemeClr val="lt1"/>
                </a:solidFill>
              </a:rPr>
              <a:t>Commenting on another presentation</a:t>
            </a:r>
            <a:endParaRPr/>
          </a:p>
        </p:txBody>
      </p:sp>
      <p:pic>
        <p:nvPicPr>
          <p:cNvPr descr="A picture containing athletic game, basketball, sport&#10;&#10;Description automatically generated" id="241" name="Google Shape;241;p36"/>
          <p:cNvPicPr preferRelativeResize="0"/>
          <p:nvPr/>
        </p:nvPicPr>
        <p:blipFill rotWithShape="1">
          <a:blip r:embed="rId3">
            <a:alphaModFix/>
          </a:blip>
          <a:srcRect b="0" l="0" r="0" t="0"/>
          <a:stretch/>
        </p:blipFill>
        <p:spPr>
          <a:xfrm>
            <a:off x="6215270" y="1947462"/>
            <a:ext cx="4179377" cy="4094901"/>
          </a:xfrm>
          <a:prstGeom prst="rect">
            <a:avLst/>
          </a:prstGeom>
          <a:noFill/>
          <a:ln>
            <a:noFill/>
          </a:ln>
        </p:spPr>
      </p:pic>
      <p:sp>
        <p:nvSpPr>
          <p:cNvPr id="242" name="Google Shape;242;p36"/>
          <p:cNvSpPr/>
          <p:nvPr/>
        </p:nvSpPr>
        <p:spPr>
          <a:xfrm>
            <a:off x="1618195" y="2058503"/>
            <a:ext cx="4179377" cy="3921843"/>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2000"/>
              <a:buFont typeface="Arial"/>
              <a:buChar char="•"/>
            </a:pPr>
            <a:r>
              <a:rPr lang="en-GB" sz="2000">
                <a:solidFill>
                  <a:schemeClr val="dk1"/>
                </a:solidFill>
                <a:latin typeface="Calibri"/>
                <a:ea typeface="Calibri"/>
                <a:cs typeface="Calibri"/>
                <a:sym typeface="Calibri"/>
              </a:rPr>
              <a:t>Look at someone else’s presentation and use the comments tool to give feedback on the design of your partner’s report.</a:t>
            </a:r>
            <a:endParaRPr sz="2000">
              <a:solidFill>
                <a:schemeClr val="dk1"/>
              </a:solidFill>
              <a:latin typeface="Calibri"/>
              <a:ea typeface="Calibri"/>
              <a:cs typeface="Calibri"/>
              <a:sym typeface="Calibri"/>
            </a:endParaRPr>
          </a:p>
          <a:p>
            <a:pPr indent="-342900" lvl="0" marL="342900" marR="0" rtl="0" algn="l">
              <a:lnSpc>
                <a:spcPct val="107000"/>
              </a:lnSpc>
              <a:spcBef>
                <a:spcPts val="800"/>
              </a:spcBef>
              <a:spcAft>
                <a:spcPts val="0"/>
              </a:spcAft>
              <a:buClr>
                <a:schemeClr val="dk1"/>
              </a:buClr>
              <a:buSzPts val="2000"/>
              <a:buFont typeface="Arial"/>
              <a:buChar char="•"/>
            </a:pPr>
            <a:r>
              <a:rPr lang="en-GB" sz="2000">
                <a:solidFill>
                  <a:schemeClr val="dk1"/>
                </a:solidFill>
                <a:latin typeface="Calibri"/>
                <a:ea typeface="Calibri"/>
                <a:cs typeface="Calibri"/>
                <a:sym typeface="Calibri"/>
              </a:rPr>
              <a:t>In PowerPoint, click on ‘Review’ and ‘New comment’.</a:t>
            </a:r>
            <a:endParaRPr sz="2000">
              <a:solidFill>
                <a:schemeClr val="dk1"/>
              </a:solidFill>
              <a:latin typeface="Calibri"/>
              <a:ea typeface="Calibri"/>
              <a:cs typeface="Calibri"/>
              <a:sym typeface="Calibri"/>
            </a:endParaRPr>
          </a:p>
          <a:p>
            <a:pPr indent="-342900" lvl="0" marL="342900" marR="0" rtl="0" algn="l">
              <a:lnSpc>
                <a:spcPct val="107000"/>
              </a:lnSpc>
              <a:spcBef>
                <a:spcPts val="800"/>
              </a:spcBef>
              <a:spcAft>
                <a:spcPts val="0"/>
              </a:spcAft>
              <a:buClr>
                <a:schemeClr val="dk1"/>
              </a:buClr>
              <a:buSzPts val="2000"/>
              <a:buFont typeface="Arial"/>
              <a:buChar char="•"/>
            </a:pPr>
            <a:r>
              <a:rPr lang="en-GB" sz="2000">
                <a:solidFill>
                  <a:schemeClr val="dk1"/>
                </a:solidFill>
                <a:latin typeface="Calibri"/>
                <a:ea typeface="Calibri"/>
                <a:cs typeface="Calibri"/>
                <a:sym typeface="Calibri"/>
              </a:rPr>
              <a:t>In Google Slides, click on the ‘Add comment’ icon in the toolbar.</a:t>
            </a:r>
            <a:endParaRPr sz="2000">
              <a:solidFill>
                <a:schemeClr val="dk1"/>
              </a:solidFill>
              <a:latin typeface="Calibri"/>
              <a:ea typeface="Calibri"/>
              <a:cs typeface="Calibri"/>
              <a:sym typeface="Calibri"/>
            </a:endParaRPr>
          </a:p>
          <a:p>
            <a:pPr indent="-342900" lvl="0" marL="342900" marR="0" rtl="0" algn="l">
              <a:lnSpc>
                <a:spcPct val="107000"/>
              </a:lnSpc>
              <a:spcBef>
                <a:spcPts val="800"/>
              </a:spcBef>
              <a:spcAft>
                <a:spcPts val="0"/>
              </a:spcAft>
              <a:buClr>
                <a:schemeClr val="dk1"/>
              </a:buClr>
              <a:buSzPts val="2000"/>
              <a:buFont typeface="Arial"/>
              <a:buChar char="•"/>
            </a:pPr>
            <a:r>
              <a:rPr lang="en-GB" sz="2000">
                <a:solidFill>
                  <a:schemeClr val="dk1"/>
                </a:solidFill>
                <a:latin typeface="Calibri"/>
                <a:ea typeface="Calibri"/>
                <a:cs typeface="Calibri"/>
                <a:sym typeface="Calibri"/>
              </a:rPr>
              <a:t>Remember to save your partner’s document when you have finished adding your comments.</a:t>
            </a:r>
            <a:endParaRPr sz="20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6" name="Shape 246"/>
        <p:cNvGrpSpPr/>
        <p:nvPr/>
      </p:nvGrpSpPr>
      <p:grpSpPr>
        <a:xfrm>
          <a:off x="0" y="0"/>
          <a:ext cx="0" cy="0"/>
          <a:chOff x="0" y="0"/>
          <a:chExt cx="0" cy="0"/>
        </a:xfrm>
      </p:grpSpPr>
      <p:sp>
        <p:nvSpPr>
          <p:cNvPr id="247" name="Google Shape;247;p37"/>
          <p:cNvSpPr txBox="1"/>
          <p:nvPr>
            <p:ph type="title"/>
          </p:nvPr>
        </p:nvSpPr>
        <p:spPr>
          <a:xfrm>
            <a:off x="1589632" y="796072"/>
            <a:ext cx="10297568" cy="81406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Quiz 3</a:t>
            </a:r>
            <a:endParaRPr/>
          </a:p>
        </p:txBody>
      </p:sp>
      <p:pic>
        <p:nvPicPr>
          <p:cNvPr descr="A picture containing athletic game, basketball, sport&#10;&#10;Description automatically generated" id="248" name="Google Shape;248;p37"/>
          <p:cNvPicPr preferRelativeResize="0"/>
          <p:nvPr/>
        </p:nvPicPr>
        <p:blipFill rotWithShape="1">
          <a:blip r:embed="rId3">
            <a:alphaModFix/>
          </a:blip>
          <a:srcRect b="0" l="0" r="0" t="0"/>
          <a:stretch/>
        </p:blipFill>
        <p:spPr>
          <a:xfrm>
            <a:off x="4006311" y="1967027"/>
            <a:ext cx="4179377" cy="40949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descr="A picture containing athletic game, basketball, sport&#10;&#10;Description automatically generated" id="253" name="Google Shape;253;p38"/>
          <p:cNvPicPr preferRelativeResize="0"/>
          <p:nvPr/>
        </p:nvPicPr>
        <p:blipFill rotWithShape="1">
          <a:blip r:embed="rId3">
            <a:alphaModFix/>
          </a:blip>
          <a:srcRect b="0" l="0" r="0" t="0"/>
          <a:stretch/>
        </p:blipFill>
        <p:spPr>
          <a:xfrm>
            <a:off x="5835348" y="1957088"/>
            <a:ext cx="4357810" cy="4269727"/>
          </a:xfrm>
          <a:prstGeom prst="rect">
            <a:avLst/>
          </a:prstGeom>
          <a:noFill/>
          <a:ln>
            <a:noFill/>
          </a:ln>
        </p:spPr>
      </p:pic>
      <p:sp>
        <p:nvSpPr>
          <p:cNvPr id="254" name="Google Shape;254;p38"/>
          <p:cNvSpPr txBox="1"/>
          <p:nvPr/>
        </p:nvSpPr>
        <p:spPr>
          <a:xfrm>
            <a:off x="1608570" y="796388"/>
            <a:ext cx="9793357" cy="855801"/>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lt1"/>
              </a:buClr>
              <a:buSzPts val="4400"/>
              <a:buFont typeface="Calibri"/>
              <a:buNone/>
            </a:pPr>
            <a:r>
              <a:rPr b="1" lang="en-GB" sz="4400">
                <a:solidFill>
                  <a:schemeClr val="lt1"/>
                </a:solidFill>
                <a:latin typeface="Calibri"/>
                <a:ea typeface="Calibri"/>
                <a:cs typeface="Calibri"/>
                <a:sym typeface="Calibri"/>
              </a:rPr>
              <a:t>Activity 4.5: Finishing your presentation </a:t>
            </a:r>
            <a:endParaRPr/>
          </a:p>
        </p:txBody>
      </p:sp>
      <p:sp>
        <p:nvSpPr>
          <p:cNvPr id="255" name="Google Shape;255;p38"/>
          <p:cNvSpPr/>
          <p:nvPr/>
        </p:nvSpPr>
        <p:spPr>
          <a:xfrm>
            <a:off x="1608569" y="1957088"/>
            <a:ext cx="4007039" cy="4129144"/>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7000"/>
              </a:lnSpc>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Evaluate the feedback you received on your presentation and make improvements.</a:t>
            </a:r>
            <a:endParaRPr sz="2400">
              <a:solidFill>
                <a:schemeClr val="dk1"/>
              </a:solidFill>
              <a:latin typeface="Calibri"/>
              <a:ea typeface="Calibri"/>
              <a:cs typeface="Calibri"/>
              <a:sym typeface="Calibri"/>
            </a:endParaRPr>
          </a:p>
          <a:p>
            <a:pPr indent="-342900" lvl="0" marL="342900" marR="0" rtl="0" algn="l">
              <a:lnSpc>
                <a:spcPct val="107000"/>
              </a:lnSpc>
              <a:spcBef>
                <a:spcPts val="80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Remember to ‘Save as’ before you begin making improvements, so you always have the comments you received to refer back to.</a:t>
            </a:r>
            <a:endParaRPr sz="24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