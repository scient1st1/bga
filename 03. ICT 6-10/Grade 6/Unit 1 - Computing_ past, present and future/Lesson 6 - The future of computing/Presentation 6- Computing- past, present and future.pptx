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y="6858000" cx="12192000"/>
  <p:notesSz cx="6858000" cy="9144000"/>
  <p:embeddedFontLst>
    <p:embeddedFont>
      <p:font typeface="Noto Sans Symbols"/>
      <p:regular r:id="rId16"/>
      <p:bold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font" Target="fonts/NotoSansSymbols-bold.fntdata"/><Relationship Id="rId16" Type="http://schemas.openxmlformats.org/officeDocument/2006/relationships/font" Target="fonts/NotoSansSymbols-regular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GB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" name="Google Shape;82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" name="Google Shape;12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" name="Google Shape;129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" name="Google Shape;152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" name="Google Shape;159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7" name="Google Shape;27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4" name="Google Shape;34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3" name="Google Shape;43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4" name="Google Shape;44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8" name="Google Shape;48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3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hape, rectangle&#10;&#10;Description automatically generated" id="10" name="Google Shape;10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-794"/>
            <a:ext cx="12192000" cy="161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2" name="Google Shape;12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/>
        </p:nvSpPr>
        <p:spPr>
          <a:xfrm>
            <a:off x="7547114" y="6380197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© Hodder &amp; Stoughton Limited 2021</a:t>
            </a:r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/>
          <p:nvPr/>
        </p:nvSpPr>
        <p:spPr>
          <a:xfrm>
            <a:off x="3087068" y="4170640"/>
            <a:ext cx="3867405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0075BE"/>
                </a:solidFill>
                <a:latin typeface="Calibri"/>
                <a:ea typeface="Calibri"/>
                <a:cs typeface="Calibri"/>
                <a:sym typeface="Calibri"/>
              </a:rPr>
              <a:t>Lesson 6: The future of computing </a:t>
            </a:r>
            <a:endParaRPr b="1" sz="2000">
              <a:solidFill>
                <a:srgbClr val="0075B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6" name="Google Shape;8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97868" y="2740504"/>
            <a:ext cx="1519603" cy="2849256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sp>
        <p:nvSpPr>
          <p:cNvPr id="87" name="Google Shape;87;p13"/>
          <p:cNvSpPr txBox="1"/>
          <p:nvPr/>
        </p:nvSpPr>
        <p:spPr>
          <a:xfrm>
            <a:off x="906011" y="2642532"/>
            <a:ext cx="6048462" cy="1522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GB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Computing: </a:t>
            </a:r>
            <a:endParaRPr/>
          </a:p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GB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past, present and future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 txBox="1"/>
          <p:nvPr>
            <p:ph type="title"/>
          </p:nvPr>
        </p:nvSpPr>
        <p:spPr>
          <a:xfrm>
            <a:off x="1610413" y="798504"/>
            <a:ext cx="9634330" cy="76634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Objectives</a:t>
            </a:r>
            <a:endParaRPr/>
          </a:p>
        </p:txBody>
      </p:sp>
      <p:sp>
        <p:nvSpPr>
          <p:cNvPr id="94" name="Google Shape;94;p14"/>
          <p:cNvSpPr/>
          <p:nvPr/>
        </p:nvSpPr>
        <p:spPr>
          <a:xfrm>
            <a:off x="1610413" y="2286475"/>
            <a:ext cx="6854079" cy="1758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this lesson, you will: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●"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learn about the future of computing</a:t>
            </a:r>
            <a:endParaRPr sz="2000">
              <a:solidFill>
                <a:schemeClr val="dk1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-342900" lvl="0" marL="34290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●"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demonstrate your word-processing or your presentation skills.</a:t>
            </a:r>
            <a:endParaRPr sz="2000">
              <a:solidFill>
                <a:schemeClr val="dk1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5"/>
          <p:cNvSpPr txBox="1"/>
          <p:nvPr>
            <p:ph type="title"/>
          </p:nvPr>
        </p:nvSpPr>
        <p:spPr>
          <a:xfrm>
            <a:off x="1605489" y="794492"/>
            <a:ext cx="9773478" cy="8458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</a:pPr>
            <a:r>
              <a:rPr b="1" lang="en-GB" sz="3600">
                <a:solidFill>
                  <a:schemeClr val="lt1"/>
                </a:solidFill>
              </a:rPr>
              <a:t>Will we be using these technologies in the future? </a:t>
            </a:r>
            <a:endParaRPr/>
          </a:p>
        </p:txBody>
      </p:sp>
      <p:sp>
        <p:nvSpPr>
          <p:cNvPr id="101" name="Google Shape;101;p15"/>
          <p:cNvSpPr/>
          <p:nvPr/>
        </p:nvSpPr>
        <p:spPr>
          <a:xfrm>
            <a:off x="4056931" y="6062214"/>
            <a:ext cx="407813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Will robot dogs provide companionship? </a:t>
            </a:r>
            <a:endParaRPr/>
          </a:p>
        </p:txBody>
      </p:sp>
      <p:pic>
        <p:nvPicPr>
          <p:cNvPr descr="A picture containing grass, automaton&#10;&#10;Description automatically generated" id="102" name="Google Shape;10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54663" y="2007645"/>
            <a:ext cx="6082674" cy="40551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6"/>
          <p:cNvSpPr/>
          <p:nvPr/>
        </p:nvSpPr>
        <p:spPr>
          <a:xfrm>
            <a:off x="3663924" y="6059690"/>
            <a:ext cx="486415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Will drones deliver small packages to our homes? </a:t>
            </a:r>
            <a:endParaRPr i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6"/>
          <p:cNvSpPr txBox="1"/>
          <p:nvPr/>
        </p:nvSpPr>
        <p:spPr>
          <a:xfrm>
            <a:off x="1605489" y="794492"/>
            <a:ext cx="9773478" cy="8458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</a:pPr>
            <a:r>
              <a:rPr b="1" lang="en-GB" sz="3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Will we be using these technologies in the future? </a:t>
            </a:r>
            <a:endParaRPr b="1" sz="3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jet flying over a city&#10;&#10;Description automatically generated with low confidence" id="110" name="Google Shape;11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54663" y="2006899"/>
            <a:ext cx="6082674" cy="40566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7"/>
          <p:cNvSpPr txBox="1"/>
          <p:nvPr>
            <p:ph type="title"/>
          </p:nvPr>
        </p:nvSpPr>
        <p:spPr>
          <a:xfrm>
            <a:off x="1600201" y="786103"/>
            <a:ext cx="9753599" cy="8458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b="1" lang="en-GB" sz="3600">
                <a:solidFill>
                  <a:srgbClr val="FFFFFF"/>
                </a:solidFill>
              </a:rPr>
              <a:t>Will we be using these technologies in the future? 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17" name="Google Shape;117;p17"/>
          <p:cNvSpPr/>
          <p:nvPr/>
        </p:nvSpPr>
        <p:spPr>
          <a:xfrm>
            <a:off x="2493064" y="5512525"/>
            <a:ext cx="720586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Will we have brain chips implanted that will be able to control computers, including our mobile phones and artificial limbs, with no interaction? </a:t>
            </a:r>
            <a:endParaRPr i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8" name="Google Shape;11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39313" y="1995471"/>
            <a:ext cx="7913373" cy="35170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8"/>
          <p:cNvSpPr txBox="1"/>
          <p:nvPr>
            <p:ph type="title"/>
          </p:nvPr>
        </p:nvSpPr>
        <p:spPr>
          <a:xfrm>
            <a:off x="1589632" y="796072"/>
            <a:ext cx="10037685" cy="86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b="1" lang="en-GB" sz="3600">
                <a:solidFill>
                  <a:srgbClr val="FFFFFF"/>
                </a:solidFill>
              </a:rPr>
              <a:t>Will we be using these technologies in the future? 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25" name="Google Shape;125;p18"/>
          <p:cNvSpPr/>
          <p:nvPr/>
        </p:nvSpPr>
        <p:spPr>
          <a:xfrm>
            <a:off x="2901602" y="5858807"/>
            <a:ext cx="6388795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Will we be able to select an item in a shop and walk straight out with it, paying without queuing or interacting with a cashier? </a:t>
            </a:r>
            <a:endParaRPr i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picture containing text, scene, marketplace&#10;&#10;Description automatically generated" id="126" name="Google Shape;12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20461" y="1978398"/>
            <a:ext cx="6905988" cy="38804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9"/>
          <p:cNvSpPr txBox="1"/>
          <p:nvPr>
            <p:ph type="title"/>
          </p:nvPr>
        </p:nvSpPr>
        <p:spPr>
          <a:xfrm>
            <a:off x="1600201" y="786103"/>
            <a:ext cx="9753599" cy="8458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b="1" lang="en-GB" sz="3600">
                <a:solidFill>
                  <a:srgbClr val="FFFFFF"/>
                </a:solidFill>
              </a:rPr>
              <a:t>Will we be using these technologies in the future? 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33" name="Google Shape;133;p19"/>
          <p:cNvSpPr/>
          <p:nvPr/>
        </p:nvSpPr>
        <p:spPr>
          <a:xfrm>
            <a:off x="2488095" y="5970815"/>
            <a:ext cx="7215808" cy="3903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Will your fridge be able to tell you when food inside it is about to go off?</a:t>
            </a:r>
            <a:endParaRPr i="1"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picture containing refrigerator, open, cabinet, appliance&#10;&#10;Description automatically generated" id="134" name="Google Shape;134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96713" y="1971766"/>
            <a:ext cx="5998573" cy="39990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0"/>
          <p:cNvSpPr txBox="1"/>
          <p:nvPr>
            <p:ph type="title"/>
          </p:nvPr>
        </p:nvSpPr>
        <p:spPr>
          <a:xfrm>
            <a:off x="1594911" y="787653"/>
            <a:ext cx="9733721" cy="8359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</a:pPr>
            <a:r>
              <a:rPr b="1" lang="en-GB" sz="3600">
                <a:solidFill>
                  <a:schemeClr val="lt1"/>
                </a:solidFill>
              </a:rPr>
              <a:t>Predicting the future isn’t as easy as it might seem </a:t>
            </a:r>
            <a:endParaRPr/>
          </a:p>
        </p:txBody>
      </p:sp>
      <p:sp>
        <p:nvSpPr>
          <p:cNvPr id="141" name="Google Shape;141;p20"/>
          <p:cNvSpPr/>
          <p:nvPr/>
        </p:nvSpPr>
        <p:spPr>
          <a:xfrm>
            <a:off x="928708" y="2008979"/>
            <a:ext cx="5167292" cy="41549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Here are some of the predictions made about the computer: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‘I think there is a world market for maybe five computers.’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Thomas Watson, President of IBM, 1943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‘There is no reason anyone would want a computer in their home.’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Ken Olsen, founder of Digital Equipment Corporation, 1977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picture containing text, indoor, table, dining table&#10;&#10;Description automatically generated" id="142" name="Google Shape;142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18812" y="2666493"/>
            <a:ext cx="4733258" cy="28399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1"/>
          <p:cNvSpPr txBox="1"/>
          <p:nvPr>
            <p:ph type="title"/>
          </p:nvPr>
        </p:nvSpPr>
        <p:spPr>
          <a:xfrm>
            <a:off x="1600201" y="786103"/>
            <a:ext cx="9753599" cy="8458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The qualities of a well-designed report </a:t>
            </a:r>
            <a:endParaRPr/>
          </a:p>
        </p:txBody>
      </p:sp>
      <p:sp>
        <p:nvSpPr>
          <p:cNvPr id="149" name="Google Shape;149;p21"/>
          <p:cNvSpPr/>
          <p:nvPr/>
        </p:nvSpPr>
        <p:spPr>
          <a:xfrm>
            <a:off x="1600201" y="1843624"/>
            <a:ext cx="9753598" cy="44235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∙"/>
            </a:pPr>
            <a:r>
              <a:rPr lang="en-GB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report has a title. It could also have a sub-title.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∙"/>
            </a:pPr>
            <a:r>
              <a:rPr lang="en-GB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Headings and sub-headings are used to break up large chunks of text.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∙"/>
            </a:pPr>
            <a:r>
              <a:rPr lang="en-GB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Line spacing and margins ensure the content is easy to read and doesn’t feel cramped.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∙"/>
            </a:pPr>
            <a:r>
              <a:rPr lang="en-GB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Images add meaning to the text and are accompanied by captions. Text could flow around images.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∙"/>
            </a:pPr>
            <a:r>
              <a:rPr lang="en-GB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number of fonts, font sizes and font colours is limited; too many can be confusing.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∙"/>
            </a:pPr>
            <a:r>
              <a:rPr lang="en-GB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information is logically ordered so that the narrative flows from one point to the next.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∙"/>
            </a:pPr>
            <a:r>
              <a:rPr lang="en-GB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Data, in the form of tables or graphs, is used to support the text if appropriate.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∙"/>
            </a:pPr>
            <a:r>
              <a:rPr lang="en-GB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 sources of information are cited.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2"/>
          <p:cNvSpPr txBox="1"/>
          <p:nvPr>
            <p:ph type="title"/>
          </p:nvPr>
        </p:nvSpPr>
        <p:spPr>
          <a:xfrm>
            <a:off x="1618195" y="815637"/>
            <a:ext cx="9793357" cy="8558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The qualities of a well-designed presentation</a:t>
            </a:r>
            <a:endParaRPr/>
          </a:p>
        </p:txBody>
      </p:sp>
      <p:sp>
        <p:nvSpPr>
          <p:cNvPr id="156" name="Google Shape;156;p22"/>
          <p:cNvSpPr/>
          <p:nvPr/>
        </p:nvSpPr>
        <p:spPr>
          <a:xfrm>
            <a:off x="1618195" y="2092490"/>
            <a:ext cx="9354605" cy="41549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lang="en-GB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presentation has a title and most slides have headings.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lang="en-GB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same approach to design is used throughout the presentation.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lang="en-GB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number of fonts, font sizes and font colours is limited; too many can be confusing.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lang="en-GB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Animations add to the audience’s understanding not detract from it.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lang="en-GB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There is a strong contrast between the background colour(s) and the font colour(s).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lang="en-GB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There is a good balance between text and images and slides are not overcrowded.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lang="en-GB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Images relate to the text, can be seen clearly and have credits.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lang="en-GB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Audio and video clips should be embedded into the presentation; avoid linking to clips in another software application.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3"/>
          <p:cNvSpPr txBox="1"/>
          <p:nvPr>
            <p:ph type="title"/>
          </p:nvPr>
        </p:nvSpPr>
        <p:spPr>
          <a:xfrm>
            <a:off x="1600201" y="786103"/>
            <a:ext cx="9753599" cy="8458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</a:pPr>
            <a:r>
              <a:rPr b="1" lang="en-GB" sz="3600">
                <a:solidFill>
                  <a:schemeClr val="lt1"/>
                </a:solidFill>
              </a:rPr>
              <a:t>Activity 6.1: Where might computing take us next?</a:t>
            </a:r>
            <a:endParaRPr/>
          </a:p>
        </p:txBody>
      </p:sp>
      <p:pic>
        <p:nvPicPr>
          <p:cNvPr descr="A picture containing athletic game, basketball, sport&#10;&#10;Description automatically generated" id="163" name="Google Shape;163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34196" y="2029725"/>
            <a:ext cx="3923608" cy="3844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