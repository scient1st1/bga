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54466F4-5318-4E5D-B1B9-48822897BB46}">
  <a:tblStyle styleId="{A54466F4-5318-4E5D-B1B9-48822897BB4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fill>
          <a:solidFill>
            <a:srgbClr val="CDD4EA"/>
          </a:solidFill>
        </a:fill>
      </a:tcStyle>
    </a:band1H>
    <a:band2H>
      <a:tcTxStyle/>
    </a:band2H>
    <a:band1V>
      <a:tcTxStyle/>
      <a:tcStyle>
        <a:fill>
          <a:solidFill>
            <a:srgbClr val="CDD4EA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ape, rectangle&#10;&#10;Description automatically generated" id="10" name="Google Shape;10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-794"/>
            <a:ext cx="12192000" cy="161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/>
        </p:nvSpPr>
        <p:spPr>
          <a:xfrm>
            <a:off x="7547114" y="6380197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© Hodder &amp; Stoughton Limited 2021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jpg"/><Relationship Id="rId4" Type="http://schemas.openxmlformats.org/officeDocument/2006/relationships/image" Target="../media/image9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jpg"/><Relationship Id="rId4" Type="http://schemas.openxmlformats.org/officeDocument/2006/relationships/image" Target="../media/image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jpg"/><Relationship Id="rId4" Type="http://schemas.openxmlformats.org/officeDocument/2006/relationships/image" Target="../media/image7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/>
          <p:nvPr/>
        </p:nvSpPr>
        <p:spPr>
          <a:xfrm>
            <a:off x="4322086" y="4165132"/>
            <a:ext cx="263238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0075BE"/>
                </a:solidFill>
                <a:latin typeface="Calibri"/>
                <a:ea typeface="Calibri"/>
                <a:cs typeface="Calibri"/>
                <a:sym typeface="Calibri"/>
              </a:rPr>
              <a:t>Lesson 3: Moore’s Law </a:t>
            </a:r>
            <a:endParaRPr b="1" sz="2000">
              <a:solidFill>
                <a:srgbClr val="0075B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6" name="Google Shape;8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97868" y="2740504"/>
            <a:ext cx="1519603" cy="2849256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87" name="Google Shape;87;p13"/>
          <p:cNvSpPr txBox="1"/>
          <p:nvPr/>
        </p:nvSpPr>
        <p:spPr>
          <a:xfrm>
            <a:off x="906011" y="2642532"/>
            <a:ext cx="6048462" cy="1522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GB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Computing: </a:t>
            </a:r>
            <a:endParaRPr/>
          </a:p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GB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past, present and future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>
            <p:ph type="title"/>
          </p:nvPr>
        </p:nvSpPr>
        <p:spPr>
          <a:xfrm>
            <a:off x="1610413" y="798504"/>
            <a:ext cx="9634330" cy="7663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Objectives</a:t>
            </a:r>
            <a:endParaRPr/>
          </a:p>
        </p:txBody>
      </p:sp>
      <p:sp>
        <p:nvSpPr>
          <p:cNvPr id="94" name="Google Shape;94;p14"/>
          <p:cNvSpPr/>
          <p:nvPr/>
        </p:nvSpPr>
        <p:spPr>
          <a:xfrm>
            <a:off x="1610413" y="2286475"/>
            <a:ext cx="6854079" cy="2445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this lesson, you will learn: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about Moore's Law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computer technology has developed and changed over time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to create a report using word-processing software.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phical user interface&#10;&#10;Description automatically generated" id="100" name="Google Shape;10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06111" y="2047992"/>
            <a:ext cx="7379777" cy="4151124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5"/>
          <p:cNvSpPr txBox="1"/>
          <p:nvPr/>
        </p:nvSpPr>
        <p:spPr>
          <a:xfrm>
            <a:off x="2406111" y="2220715"/>
            <a:ext cx="737977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Watch Animation 3.1: The incredible shrinking computer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/>
          <p:nvPr>
            <p:ph type="title"/>
          </p:nvPr>
        </p:nvSpPr>
        <p:spPr>
          <a:xfrm>
            <a:off x="1594911" y="787653"/>
            <a:ext cx="9733721" cy="8359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Gordon Moore</a:t>
            </a:r>
            <a:endParaRPr/>
          </a:p>
        </p:txBody>
      </p:sp>
      <p:sp>
        <p:nvSpPr>
          <p:cNvPr id="108" name="Google Shape;108;p16"/>
          <p:cNvSpPr/>
          <p:nvPr/>
        </p:nvSpPr>
        <p:spPr>
          <a:xfrm>
            <a:off x="1594911" y="2158892"/>
            <a:ext cx="5024550" cy="3970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Moore’s Law</a:t>
            </a:r>
            <a:r>
              <a:rPr lang="en-GB" sz="2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named after Gordon Moore.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1965, Moore founded Intel Corporation with Robert Noyce.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Intel was to become the world's largest producer of computer microchips.</a:t>
            </a:r>
            <a:endParaRPr/>
          </a:p>
        </p:txBody>
      </p:sp>
      <p:pic>
        <p:nvPicPr>
          <p:cNvPr id="109" name="Google Shape;10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47453" y="2158892"/>
            <a:ext cx="4603927" cy="39703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 txBox="1"/>
          <p:nvPr>
            <p:ph type="title"/>
          </p:nvPr>
        </p:nvSpPr>
        <p:spPr>
          <a:xfrm>
            <a:off x="1589632" y="796072"/>
            <a:ext cx="10037685" cy="86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The 1940s: valve computers</a:t>
            </a:r>
            <a:endParaRPr/>
          </a:p>
        </p:txBody>
      </p:sp>
      <p:sp>
        <p:nvSpPr>
          <p:cNvPr id="116" name="Google Shape;116;p17"/>
          <p:cNvSpPr/>
          <p:nvPr/>
        </p:nvSpPr>
        <p:spPr>
          <a:xfrm>
            <a:off x="1099892" y="2091746"/>
            <a:ext cx="8923674" cy="4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early computers were enormous. They filled a large room.</a:t>
            </a:r>
            <a:endParaRPr/>
          </a:p>
        </p:txBody>
      </p:sp>
      <p:sp>
        <p:nvSpPr>
          <p:cNvPr id="117" name="Google Shape;117;p17"/>
          <p:cNvSpPr/>
          <p:nvPr/>
        </p:nvSpPr>
        <p:spPr>
          <a:xfrm>
            <a:off x="2946571" y="3318587"/>
            <a:ext cx="4621178" cy="28410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ENIAC, the first </a:t>
            </a: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electronic general-purpose digital computer, contained nearly </a:t>
            </a: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18,000 valves within its circuits. That might sound like a lot, but ENIAC's processing power was miniscule; less than a small electronic calculator today.</a:t>
            </a:r>
            <a:endParaRPr/>
          </a:p>
        </p:txBody>
      </p:sp>
      <p:sp>
        <p:nvSpPr>
          <p:cNvPr id="118" name="Google Shape;118;p17"/>
          <p:cNvSpPr/>
          <p:nvPr/>
        </p:nvSpPr>
        <p:spPr>
          <a:xfrm>
            <a:off x="1099892" y="2481618"/>
            <a:ext cx="6241434" cy="8651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switches used to process data were </a:t>
            </a:r>
            <a:r>
              <a:rPr b="1" lang="en-GB" sz="2400">
                <a:solidFill>
                  <a:srgbClr val="0069B4"/>
                </a:solidFill>
                <a:latin typeface="Calibri"/>
                <a:ea typeface="Calibri"/>
                <a:cs typeface="Calibri"/>
                <a:sym typeface="Calibri"/>
              </a:rPr>
              <a:t>valves</a:t>
            </a: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 size of a thumb.</a:t>
            </a:r>
            <a:endParaRPr/>
          </a:p>
        </p:txBody>
      </p:sp>
      <p:pic>
        <p:nvPicPr>
          <p:cNvPr descr="A picture containing text, white&#10;&#10;Description automatically generated" id="119" name="Google Shape;11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35631" y="2712948"/>
            <a:ext cx="4114800" cy="313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1442" y="3429000"/>
            <a:ext cx="1917247" cy="2919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/>
          <p:cNvSpPr txBox="1"/>
          <p:nvPr>
            <p:ph type="title"/>
          </p:nvPr>
        </p:nvSpPr>
        <p:spPr>
          <a:xfrm>
            <a:off x="1589632" y="796072"/>
            <a:ext cx="10037685" cy="86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1947: the invention of the transistor</a:t>
            </a:r>
            <a:endParaRPr/>
          </a:p>
        </p:txBody>
      </p:sp>
      <p:sp>
        <p:nvSpPr>
          <p:cNvPr id="127" name="Google Shape;127;p18"/>
          <p:cNvSpPr/>
          <p:nvPr/>
        </p:nvSpPr>
        <p:spPr>
          <a:xfrm>
            <a:off x="1589631" y="2113356"/>
            <a:ext cx="7981089" cy="8651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The first big reduction in in the size of electronic computers came when valves were replaced by much smaller </a:t>
            </a:r>
            <a:r>
              <a:rPr b="1" lang="en-GB" sz="2400">
                <a:solidFill>
                  <a:srgbClr val="0069B4"/>
                </a:solidFill>
                <a:latin typeface="Calibri"/>
                <a:ea typeface="Calibri"/>
                <a:cs typeface="Calibri"/>
                <a:sym typeface="Calibri"/>
              </a:rPr>
              <a:t>transistors</a:t>
            </a: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8"/>
          <p:cNvSpPr/>
          <p:nvPr/>
        </p:nvSpPr>
        <p:spPr>
          <a:xfrm>
            <a:off x="5048770" y="3014312"/>
            <a:ext cx="4069103" cy="3236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These computer pioneers are holding circuit boards from four generations of early computers, from ENIAC on the left to BRLESC on the right. The </a:t>
            </a:r>
            <a:r>
              <a:rPr lang="en-GB" sz="2400">
                <a:solidFill>
                  <a:srgbClr val="202122"/>
                </a:solidFill>
                <a:latin typeface="Calibri"/>
                <a:ea typeface="Calibri"/>
                <a:cs typeface="Calibri"/>
                <a:sym typeface="Calibri"/>
              </a:rPr>
              <a:t>BRLESC circuit board contains transistors; look how much smaller it is.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9" name="Google Shape;12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37531" y="2197599"/>
            <a:ext cx="2341316" cy="2794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9859" y="3014312"/>
            <a:ext cx="4079253" cy="32362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9"/>
          <p:cNvSpPr txBox="1"/>
          <p:nvPr>
            <p:ph type="title"/>
          </p:nvPr>
        </p:nvSpPr>
        <p:spPr>
          <a:xfrm>
            <a:off x="1589632" y="796072"/>
            <a:ext cx="10037685" cy="86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1959: the invention of the microchip</a:t>
            </a:r>
            <a:endParaRPr/>
          </a:p>
        </p:txBody>
      </p:sp>
      <p:sp>
        <p:nvSpPr>
          <p:cNvPr id="137" name="Google Shape;137;p19"/>
          <p:cNvSpPr/>
          <p:nvPr/>
        </p:nvSpPr>
        <p:spPr>
          <a:xfrm>
            <a:off x="1589632" y="2403655"/>
            <a:ext cx="9132910" cy="28380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The next big reduction in the size of electronic computers came when transistors were replaced by </a:t>
            </a:r>
            <a:r>
              <a:rPr b="1" lang="en-GB" sz="2800">
                <a:solidFill>
                  <a:srgbClr val="0069B4"/>
                </a:solidFill>
                <a:latin typeface="Calibri"/>
                <a:ea typeface="Calibri"/>
                <a:cs typeface="Calibri"/>
                <a:sym typeface="Calibri"/>
              </a:rPr>
              <a:t>microchips</a:t>
            </a:r>
            <a:r>
              <a:rPr lang="en-GB" sz="28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Many tiny transistors can be etched into a single silicon microchip a</a:t>
            </a: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nd, with each transistor added, the processing power of a device increases.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All our digital devices today contain microchips.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electronics, circuit&#10;&#10;Description automatically generated" id="143" name="Google Shape;14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3044" y="4155517"/>
            <a:ext cx="4026390" cy="2674244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0"/>
          <p:cNvSpPr txBox="1"/>
          <p:nvPr>
            <p:ph type="title"/>
          </p:nvPr>
        </p:nvSpPr>
        <p:spPr>
          <a:xfrm>
            <a:off x="1589632" y="796072"/>
            <a:ext cx="10037685" cy="86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Moore’s observation</a:t>
            </a:r>
            <a:endParaRPr/>
          </a:p>
        </p:txBody>
      </p:sp>
      <p:sp>
        <p:nvSpPr>
          <p:cNvPr id="145" name="Google Shape;145;p20"/>
          <p:cNvSpPr/>
          <p:nvPr/>
        </p:nvSpPr>
        <p:spPr>
          <a:xfrm>
            <a:off x="1589631" y="2101878"/>
            <a:ext cx="9200289" cy="20536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a chip developer, Moore had observed the gradual miniaturisation of the transistor and the increase in the number of transistors that could be etched onto a microchip.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 pointed out that the number of transistors on a single microchip was doubling about every two years.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the mid-1960s, Moore predicted </a:t>
            </a: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that</a:t>
            </a:r>
            <a:r>
              <a:rPr lang="en-GB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this exponential trend would continue into the future and this is Moore’s Law.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6" name="Google Shape;14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32568" y="3872053"/>
            <a:ext cx="3763064" cy="25088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1"/>
          <p:cNvSpPr txBox="1"/>
          <p:nvPr>
            <p:ph type="title"/>
          </p:nvPr>
        </p:nvSpPr>
        <p:spPr>
          <a:xfrm>
            <a:off x="1600201" y="786103"/>
            <a:ext cx="9753599" cy="845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Moore’s Law graph </a:t>
            </a:r>
            <a:endParaRPr/>
          </a:p>
        </p:txBody>
      </p:sp>
      <p:sp>
        <p:nvSpPr>
          <p:cNvPr id="153" name="Google Shape;153;p21"/>
          <p:cNvSpPr/>
          <p:nvPr/>
        </p:nvSpPr>
        <p:spPr>
          <a:xfrm>
            <a:off x="1434738" y="1830340"/>
            <a:ext cx="9753598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we draw a line on a graph to represent Moore’s Law and plot the development of the number of transistors on a microchip, we can see that Moore accurately predicted the development of the microprocessors at the heart of our digital devices many decades into the future.</a:t>
            </a:r>
            <a:endParaRPr/>
          </a:p>
        </p:txBody>
      </p:sp>
      <p:graphicFrame>
        <p:nvGraphicFramePr>
          <p:cNvPr id="154" name="Google Shape;154;p21"/>
          <p:cNvGraphicFramePr/>
          <p:nvPr/>
        </p:nvGraphicFramePr>
        <p:xfrm>
          <a:off x="1434738" y="3974876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{A54466F4-5318-4E5D-B1B9-48822897BB46}</a:tableStyleId>
              </a:tblPr>
              <a:tblGrid>
                <a:gridCol w="1908175"/>
                <a:gridCol w="1908175"/>
                <a:gridCol w="1908800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/>
                        <a:t>Processor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/>
                        <a:t>Year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/>
                        <a:t>Number of transistors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/>
                        <a:t>4004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/>
                        <a:t>1971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/>
                        <a:t>2250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/>
                        <a:t>8008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/>
                        <a:t>1972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/>
                        <a:t>2500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/>
                        <a:t>8080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/>
                        <a:t>1974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/>
                        <a:t>5000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/>
                        <a:t>8086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/>
                        <a:t>1978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/>
                        <a:t>29,000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/>
                        <a:t>286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/>
                        <a:t>1982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/>
                        <a:t>120,000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/>
                        <a:t>386</a:t>
                      </a:r>
                      <a:r>
                        <a:rPr baseline="30000" lang="en-GB" sz="1200" u="none" cap="none" strike="noStrike"/>
                        <a:t>TM</a:t>
                      </a:r>
                      <a:r>
                        <a:rPr lang="en-GB" sz="1200" u="none" cap="none" strike="noStrike"/>
                        <a:t> processor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/>
                        <a:t>1985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/>
                        <a:t>275,000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/>
                        <a:t>486</a:t>
                      </a:r>
                      <a:r>
                        <a:rPr baseline="30000" lang="en-GB" sz="1200" u="none" cap="none" strike="noStrike"/>
                        <a:t> TM</a:t>
                      </a:r>
                      <a:r>
                        <a:rPr lang="en-GB" sz="1200" u="none" cap="none" strike="noStrike"/>
                        <a:t> processor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/>
                        <a:t>1989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/>
                        <a:t>1,180,000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/>
                        <a:t>Pentium® processor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/>
                        <a:t>1993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/>
                        <a:t>3,100,000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/>
                        <a:t>Pentium® II processor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/>
                        <a:t>1997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/>
                        <a:t>7,500,000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/>
                        <a:t>Pentium® III processor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/>
                        <a:t>1999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/>
                        <a:t>24,000,000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/>
                        <a:t>Pentium® 4 processor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/>
                        <a:t>2000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/>
                        <a:t>42,000,000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/>
                        <a:t>Xeon® processor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/>
                        <a:t>2008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/>
                        <a:t>1,900,000,000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</a:tbl>
          </a:graphicData>
        </a:graphic>
      </p:graphicFrame>
      <p:sp>
        <p:nvSpPr>
          <p:cNvPr id="155" name="Google Shape;155;p21"/>
          <p:cNvSpPr/>
          <p:nvPr/>
        </p:nvSpPr>
        <p:spPr>
          <a:xfrm>
            <a:off x="1434738" y="3400000"/>
            <a:ext cx="5941422" cy="4616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i="0" lang="en-GB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data from the graph is as follows: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hart, scatter chart&#10;&#10;Description automatically generated" id="156" name="Google Shape;15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99545" y="3789061"/>
            <a:ext cx="3517392" cy="23835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2"/>
          <p:cNvSpPr txBox="1"/>
          <p:nvPr>
            <p:ph type="title"/>
          </p:nvPr>
        </p:nvSpPr>
        <p:spPr>
          <a:xfrm>
            <a:off x="1618195" y="815637"/>
            <a:ext cx="9793357" cy="855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The design cycle </a:t>
            </a:r>
            <a:endParaRPr/>
          </a:p>
        </p:txBody>
      </p:sp>
      <p:pic>
        <p:nvPicPr>
          <p:cNvPr descr="Diagram&#10;&#10;Description automatically generated" id="163" name="Google Shape;16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85423" y="1951590"/>
            <a:ext cx="6221153" cy="4440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3"/>
          <p:cNvSpPr txBox="1"/>
          <p:nvPr>
            <p:ph type="title"/>
          </p:nvPr>
        </p:nvSpPr>
        <p:spPr>
          <a:xfrm>
            <a:off x="1600201" y="786103"/>
            <a:ext cx="9753599" cy="845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The qualities of a well-designed report </a:t>
            </a:r>
            <a:endParaRPr/>
          </a:p>
        </p:txBody>
      </p:sp>
      <p:sp>
        <p:nvSpPr>
          <p:cNvPr id="170" name="Google Shape;170;p23"/>
          <p:cNvSpPr/>
          <p:nvPr/>
        </p:nvSpPr>
        <p:spPr>
          <a:xfrm>
            <a:off x="1600201" y="1949612"/>
            <a:ext cx="9424850" cy="442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GB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report has a title. It could also have a sub-title.</a:t>
            </a:r>
            <a:endParaRPr/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GB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Headings and sub-headings are used to break up large chunks of text.</a:t>
            </a:r>
            <a:endParaRPr/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GB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Line spacing and margins ensure the content is easy to read and doesn’t feel cramped.</a:t>
            </a:r>
            <a:endParaRPr/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GB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Images add meaning to the text and are accompanied by captions. Text could flow around images.</a:t>
            </a:r>
            <a:endParaRPr/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GB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number of fonts, font sizes and font colours is limited; too many can be confusing.</a:t>
            </a:r>
            <a:endParaRPr/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GB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information is logically ordered so that the narrative flows from one point to the next.</a:t>
            </a:r>
            <a:endParaRPr/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GB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Data, in the form of tables or graphs, is used to support the text if appropriate.</a:t>
            </a:r>
            <a:endParaRPr/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GB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sources of information are cited.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4"/>
          <p:cNvSpPr txBox="1"/>
          <p:nvPr>
            <p:ph type="title"/>
          </p:nvPr>
        </p:nvSpPr>
        <p:spPr>
          <a:xfrm>
            <a:off x="1618195" y="815637"/>
            <a:ext cx="9793357" cy="855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Activity 3.1: A report on Moore's Law </a:t>
            </a:r>
            <a:endParaRPr/>
          </a:p>
        </p:txBody>
      </p:sp>
      <p:pic>
        <p:nvPicPr>
          <p:cNvPr descr="A picture containing athletic game, basketball, sport&#10;&#10;Description automatically generated" id="177" name="Google Shape;17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14533" y="1876947"/>
            <a:ext cx="4362933" cy="42747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5"/>
          <p:cNvSpPr txBox="1"/>
          <p:nvPr>
            <p:ph type="title"/>
          </p:nvPr>
        </p:nvSpPr>
        <p:spPr>
          <a:xfrm>
            <a:off x="1589632" y="796072"/>
            <a:ext cx="10297568" cy="86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Calibri"/>
              <a:buNone/>
            </a:pPr>
            <a:r>
              <a:rPr b="1" lang="en-GB" sz="3800">
                <a:solidFill>
                  <a:schemeClr val="lt1"/>
                </a:solidFill>
              </a:rPr>
              <a:t>Activity 3.2: Commenting on your partner’s report </a:t>
            </a:r>
            <a:endParaRPr/>
          </a:p>
        </p:txBody>
      </p:sp>
      <p:pic>
        <p:nvPicPr>
          <p:cNvPr descr="A picture containing athletic game, basketball, sport&#10;&#10;Description automatically generated" id="184" name="Google Shape;18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01097" y="1955449"/>
            <a:ext cx="4362933" cy="4274747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5"/>
          <p:cNvSpPr/>
          <p:nvPr/>
        </p:nvSpPr>
        <p:spPr>
          <a:xfrm>
            <a:off x="1447801" y="2453477"/>
            <a:ext cx="4362933" cy="29436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Swap computers with a partner and use the comments tool to give feedback on the design of your partner’s report.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Remember to save your partner’s document when you have finished adding your comments.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athletic game, basketball, sport&#10;&#10;Description automatically generated" id="191" name="Google Shape;19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94482" y="1892899"/>
            <a:ext cx="4403035" cy="4314037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6"/>
          <p:cNvSpPr txBox="1"/>
          <p:nvPr/>
        </p:nvSpPr>
        <p:spPr>
          <a:xfrm>
            <a:off x="1608570" y="796388"/>
            <a:ext cx="9793357" cy="855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 sz="4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Quiz 3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athletic game, basketball, sport&#10;&#10;Description automatically generated" id="198" name="Google Shape;19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5248" y="1930498"/>
            <a:ext cx="4434511" cy="43448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7"/>
          <p:cNvSpPr txBox="1"/>
          <p:nvPr/>
        </p:nvSpPr>
        <p:spPr>
          <a:xfrm>
            <a:off x="1608570" y="796388"/>
            <a:ext cx="9793357" cy="855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 sz="4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Activity 3.3: Finishing your report </a:t>
            </a:r>
            <a:endParaRPr/>
          </a:p>
        </p:txBody>
      </p:sp>
      <p:sp>
        <p:nvSpPr>
          <p:cNvPr id="200" name="Google Shape;200;p27"/>
          <p:cNvSpPr/>
          <p:nvPr/>
        </p:nvSpPr>
        <p:spPr>
          <a:xfrm>
            <a:off x="1661489" y="2355159"/>
            <a:ext cx="3904424" cy="3338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Evaluate the feedback you received on your report and make improvements.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Remember to ‘Save as’ before you begin making improvements, so you always have your partner’s comments to refer back to.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