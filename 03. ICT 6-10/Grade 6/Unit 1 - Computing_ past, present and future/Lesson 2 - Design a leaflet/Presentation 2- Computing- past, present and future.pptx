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 name="Google Shape;22;p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5" name="Google Shape;35;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3" name="Google Shape;53;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 name="Google Shape;54;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0"/>
          <p:cNvSpPr/>
          <p:nvPr>
            <p:ph idx="2" type="pic"/>
          </p:nvPr>
        </p:nvSpPr>
        <p:spPr>
          <a:xfrm>
            <a:off x="5183188" y="987425"/>
            <a:ext cx="6172200" cy="4873625"/>
          </a:xfrm>
          <a:prstGeom prst="rect">
            <a:avLst/>
          </a:prstGeom>
          <a:noFill/>
          <a:ln>
            <a:noFill/>
          </a:ln>
        </p:spPr>
      </p:sp>
      <p:sp>
        <p:nvSpPr>
          <p:cNvPr id="60" name="Google Shape;60;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1" name="Google Shape;61;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hape, rectangle&#10;&#10;Description automatically generated" id="6" name="Google Shape;6;p1"/>
          <p:cNvPicPr preferRelativeResize="0"/>
          <p:nvPr/>
        </p:nvPicPr>
        <p:blipFill rotWithShape="1">
          <a:blip r:embed="rId1">
            <a:alphaModFix/>
          </a:blip>
          <a:srcRect b="0" l="0" r="0" t="0"/>
          <a:stretch/>
        </p:blipFill>
        <p:spPr>
          <a:xfrm>
            <a:off x="0" y="-794"/>
            <a:ext cx="12192000" cy="1616288"/>
          </a:xfrm>
          <a:prstGeom prst="rect">
            <a:avLst/>
          </a:prstGeom>
          <a:noFill/>
          <a:ln>
            <a:noFill/>
          </a:ln>
        </p:spPr>
      </p:pic>
      <p:sp>
        <p:nvSpPr>
          <p:cNvPr id="7" name="Google Shape;7;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nvSpPr>
        <p:spPr>
          <a:xfrm>
            <a:off x="7547114" y="6380197"/>
            <a:ext cx="4114800" cy="365125"/>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0" i="0" lang="en-GB" sz="1200" u="none" cap="none" strike="noStrike">
                <a:solidFill>
                  <a:schemeClr val="dk1"/>
                </a:solidFill>
                <a:latin typeface="Calibri"/>
                <a:ea typeface="Calibri"/>
                <a:cs typeface="Calibri"/>
                <a:sym typeface="Calibri"/>
              </a:rPr>
              <a:t>© Hodder &amp; Stoughton Limited 2021</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0"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6.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3"/>
          <p:cNvSpPr/>
          <p:nvPr/>
        </p:nvSpPr>
        <p:spPr>
          <a:xfrm>
            <a:off x="3717561" y="4161387"/>
            <a:ext cx="3236912"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GB" sz="2000" u="none" cap="none" strike="noStrike">
                <a:solidFill>
                  <a:srgbClr val="0075BE"/>
                </a:solidFill>
                <a:latin typeface="Calibri"/>
                <a:ea typeface="Calibri"/>
                <a:cs typeface="Calibri"/>
                <a:sym typeface="Calibri"/>
              </a:rPr>
              <a:t>Lesson 2: Designing a leaflet </a:t>
            </a:r>
            <a:endParaRPr b="1" sz="2000">
              <a:solidFill>
                <a:srgbClr val="0075BE"/>
              </a:solidFill>
              <a:latin typeface="Calibri"/>
              <a:ea typeface="Calibri"/>
              <a:cs typeface="Calibri"/>
              <a:sym typeface="Calibri"/>
            </a:endParaRPr>
          </a:p>
        </p:txBody>
      </p:sp>
      <p:pic>
        <p:nvPicPr>
          <p:cNvPr id="81" name="Google Shape;81;p13"/>
          <p:cNvPicPr preferRelativeResize="0"/>
          <p:nvPr/>
        </p:nvPicPr>
        <p:blipFill rotWithShape="1">
          <a:blip r:embed="rId3">
            <a:alphaModFix/>
          </a:blip>
          <a:srcRect b="0" l="0" r="0" t="0"/>
          <a:stretch/>
        </p:blipFill>
        <p:spPr>
          <a:xfrm>
            <a:off x="7997868" y="2740504"/>
            <a:ext cx="1519603" cy="2849256"/>
          </a:xfrm>
          <a:prstGeom prst="rect">
            <a:avLst/>
          </a:prstGeom>
          <a:noFill/>
          <a:ln>
            <a:noFill/>
          </a:ln>
          <a:effectLst>
            <a:outerShdw blurRad="50800" rotWithShape="0" algn="tl" dir="2700000" dist="38100">
              <a:srgbClr val="000000">
                <a:alpha val="40000"/>
              </a:srgbClr>
            </a:outerShdw>
          </a:effectLst>
        </p:spPr>
      </p:pic>
      <p:sp>
        <p:nvSpPr>
          <p:cNvPr id="82" name="Google Shape;82;p13"/>
          <p:cNvSpPr txBox="1"/>
          <p:nvPr/>
        </p:nvSpPr>
        <p:spPr>
          <a:xfrm>
            <a:off x="906011" y="2642532"/>
            <a:ext cx="6048462" cy="1522600"/>
          </a:xfrm>
          <a:prstGeom prst="rect">
            <a:avLst/>
          </a:prstGeom>
          <a:noFill/>
          <a:ln>
            <a:noFill/>
          </a:ln>
        </p:spPr>
        <p:txBody>
          <a:bodyPr anchorCtr="0" anchor="b" bIns="45700" lIns="91425" spcFirstLastPara="1" rIns="91425" wrap="square" tIns="45700">
            <a:noAutofit/>
          </a:bodyPr>
          <a:lstStyle/>
          <a:p>
            <a:pPr indent="0" lvl="0" marL="0" marR="0" rtl="0" algn="r">
              <a:lnSpc>
                <a:spcPct val="90000"/>
              </a:lnSpc>
              <a:spcBef>
                <a:spcPts val="0"/>
              </a:spcBef>
              <a:spcAft>
                <a:spcPts val="0"/>
              </a:spcAft>
              <a:buClr>
                <a:schemeClr val="dk1"/>
              </a:buClr>
              <a:buSzPts val="4400"/>
              <a:buFont typeface="Calibri"/>
              <a:buNone/>
            </a:pPr>
            <a:r>
              <a:rPr b="1" lang="en-GB" sz="4400" u="none">
                <a:solidFill>
                  <a:schemeClr val="dk1"/>
                </a:solidFill>
                <a:latin typeface="Calibri"/>
                <a:ea typeface="Calibri"/>
                <a:cs typeface="Calibri"/>
                <a:sym typeface="Calibri"/>
              </a:rPr>
              <a:t>Computing: </a:t>
            </a:r>
            <a:endParaRPr/>
          </a:p>
          <a:p>
            <a:pPr indent="0" lvl="0" marL="0" marR="0" rtl="0" algn="r">
              <a:lnSpc>
                <a:spcPct val="90000"/>
              </a:lnSpc>
              <a:spcBef>
                <a:spcPts val="0"/>
              </a:spcBef>
              <a:spcAft>
                <a:spcPts val="0"/>
              </a:spcAft>
              <a:buClr>
                <a:schemeClr val="dk1"/>
              </a:buClr>
              <a:buSzPts val="4400"/>
              <a:buFont typeface="Calibri"/>
              <a:buNone/>
            </a:pPr>
            <a:r>
              <a:rPr b="1" lang="en-GB" sz="4400" u="none">
                <a:solidFill>
                  <a:schemeClr val="dk1"/>
                </a:solidFill>
                <a:latin typeface="Calibri"/>
                <a:ea typeface="Calibri"/>
                <a:cs typeface="Calibri"/>
                <a:sym typeface="Calibri"/>
              </a:rPr>
              <a:t>past, present and future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4"/>
          <p:cNvSpPr txBox="1"/>
          <p:nvPr>
            <p:ph type="title"/>
          </p:nvPr>
        </p:nvSpPr>
        <p:spPr>
          <a:xfrm>
            <a:off x="1610413" y="798504"/>
            <a:ext cx="9634330" cy="76634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Objectives</a:t>
            </a:r>
            <a:endParaRPr/>
          </a:p>
        </p:txBody>
      </p:sp>
      <p:sp>
        <p:nvSpPr>
          <p:cNvPr id="88" name="Google Shape;88;p14"/>
          <p:cNvSpPr/>
          <p:nvPr/>
        </p:nvSpPr>
        <p:spPr>
          <a:xfrm>
            <a:off x="1610413" y="2403655"/>
            <a:ext cx="6854079" cy="205069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In this lesson, you will learn:</a:t>
            </a:r>
            <a:endParaRPr sz="2400">
              <a:solidFill>
                <a:schemeClr val="dk1"/>
              </a:solidFill>
              <a:latin typeface="Calibri"/>
              <a:ea typeface="Calibri"/>
              <a:cs typeface="Calibri"/>
              <a:sym typeface="Calibri"/>
            </a:endParaRPr>
          </a:p>
          <a:p>
            <a:pPr indent="-342900" lvl="0" marL="342900" marR="0" rtl="0" algn="l">
              <a:lnSpc>
                <a:spcPct val="107000"/>
              </a:lnSpc>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how to use a range of word-processing tools</a:t>
            </a:r>
            <a:endParaRPr/>
          </a:p>
          <a:p>
            <a:pPr indent="-342900" lvl="0" marL="342900" marR="0" rtl="0" algn="l">
              <a:lnSpc>
                <a:spcPct val="107000"/>
              </a:lnSpc>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about the design cycle</a:t>
            </a:r>
            <a:endParaRPr/>
          </a:p>
          <a:p>
            <a:pPr indent="-342900" lvl="0" marL="342900" marR="0" rtl="0" algn="l">
              <a:lnSpc>
                <a:spcPct val="107000"/>
              </a:lnSpc>
              <a:spcBef>
                <a:spcPts val="0"/>
              </a:spcBef>
              <a:spcAft>
                <a:spcPts val="0"/>
              </a:spcAft>
              <a:buClr>
                <a:schemeClr val="dk1"/>
              </a:buClr>
              <a:buSzPts val="2400"/>
              <a:buFont typeface="Arial"/>
              <a:buChar char="•"/>
            </a:pPr>
            <a:r>
              <a:rPr lang="en-GB" sz="2400">
                <a:solidFill>
                  <a:schemeClr val="dk1"/>
                </a:solidFill>
                <a:latin typeface="Calibri"/>
                <a:ea typeface="Calibri"/>
                <a:cs typeface="Calibri"/>
                <a:sym typeface="Calibri"/>
              </a:rPr>
              <a:t>how to create a well-designed leaflet using word processing software</a:t>
            </a:r>
            <a:endParaRPr sz="2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Icon&#10;&#10;Description automatically generated" id="93" name="Google Shape;93;p15"/>
          <p:cNvPicPr preferRelativeResize="0"/>
          <p:nvPr/>
        </p:nvPicPr>
        <p:blipFill rotWithShape="1">
          <a:blip r:embed="rId3">
            <a:alphaModFix/>
          </a:blip>
          <a:srcRect b="0" l="0" r="0" t="0"/>
          <a:stretch/>
        </p:blipFill>
        <p:spPr>
          <a:xfrm>
            <a:off x="9613491" y="2700851"/>
            <a:ext cx="2578509" cy="2578509"/>
          </a:xfrm>
          <a:prstGeom prst="rect">
            <a:avLst/>
          </a:prstGeom>
          <a:noFill/>
          <a:ln>
            <a:noFill/>
          </a:ln>
        </p:spPr>
      </p:pic>
      <p:sp>
        <p:nvSpPr>
          <p:cNvPr id="94" name="Google Shape;94;p15"/>
          <p:cNvSpPr txBox="1"/>
          <p:nvPr>
            <p:ph type="title"/>
          </p:nvPr>
        </p:nvSpPr>
        <p:spPr>
          <a:xfrm>
            <a:off x="1605489" y="794492"/>
            <a:ext cx="9773478"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Word-processing applications today</a:t>
            </a:r>
            <a:endParaRPr/>
          </a:p>
        </p:txBody>
      </p:sp>
      <p:sp>
        <p:nvSpPr>
          <p:cNvPr id="95" name="Google Shape;95;p15"/>
          <p:cNvSpPr/>
          <p:nvPr/>
        </p:nvSpPr>
        <p:spPr>
          <a:xfrm>
            <a:off x="1605489" y="2097280"/>
            <a:ext cx="8167776" cy="37856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The first commercial word processing application, WordStar, published in 1978.</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Compared with WordStar, modern word-processing applications are incredibly feature rich.</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Yet, in spite of all these new features, modern word-processing applications perform much the same functions as the very first word processor: you enter and format text and save and retrieve electronic documents.</a:t>
            </a:r>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Microsoft Word and Google Docs are the most popular word-processing software applications in the world.</a:t>
            </a:r>
            <a:endParaRPr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6"/>
          <p:cNvSpPr txBox="1"/>
          <p:nvPr>
            <p:ph type="title"/>
          </p:nvPr>
        </p:nvSpPr>
        <p:spPr>
          <a:xfrm>
            <a:off x="1594911" y="787653"/>
            <a:ext cx="10597089" cy="83592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3600"/>
              <a:buFont typeface="Calibri"/>
              <a:buNone/>
            </a:pPr>
            <a:r>
              <a:rPr b="1" lang="en-GB" sz="3600">
                <a:solidFill>
                  <a:schemeClr val="lt1"/>
                </a:solidFill>
              </a:rPr>
              <a:t>The most commonly used word-processing commands</a:t>
            </a:r>
            <a:endParaRPr/>
          </a:p>
        </p:txBody>
      </p:sp>
      <p:pic>
        <p:nvPicPr>
          <p:cNvPr id="101" name="Google Shape;101;p16"/>
          <p:cNvPicPr preferRelativeResize="0"/>
          <p:nvPr/>
        </p:nvPicPr>
        <p:blipFill rotWithShape="1">
          <a:blip r:embed="rId3">
            <a:alphaModFix/>
          </a:blip>
          <a:srcRect b="0" l="0" r="0" t="0"/>
          <a:stretch/>
        </p:blipFill>
        <p:spPr>
          <a:xfrm>
            <a:off x="9568485" y="2241796"/>
            <a:ext cx="1111352" cy="1057577"/>
          </a:xfrm>
          <a:prstGeom prst="rect">
            <a:avLst/>
          </a:prstGeom>
          <a:noFill/>
          <a:ln>
            <a:noFill/>
          </a:ln>
        </p:spPr>
      </p:pic>
      <p:sp>
        <p:nvSpPr>
          <p:cNvPr id="102" name="Google Shape;102;p16"/>
          <p:cNvSpPr txBox="1"/>
          <p:nvPr/>
        </p:nvSpPr>
        <p:spPr>
          <a:xfrm>
            <a:off x="9394186" y="3429238"/>
            <a:ext cx="1459951"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Copy and paste</a:t>
            </a:r>
            <a:endParaRPr/>
          </a:p>
        </p:txBody>
      </p:sp>
      <p:pic>
        <p:nvPicPr>
          <p:cNvPr id="103" name="Google Shape;103;p16"/>
          <p:cNvPicPr preferRelativeResize="0"/>
          <p:nvPr/>
        </p:nvPicPr>
        <p:blipFill rotWithShape="1">
          <a:blip r:embed="rId4">
            <a:alphaModFix/>
          </a:blip>
          <a:srcRect b="0" l="0" r="0" t="0"/>
          <a:stretch/>
        </p:blipFill>
        <p:spPr>
          <a:xfrm>
            <a:off x="1764945" y="3446446"/>
            <a:ext cx="1111811" cy="1057577"/>
          </a:xfrm>
          <a:prstGeom prst="rect">
            <a:avLst/>
          </a:prstGeom>
          <a:noFill/>
          <a:ln>
            <a:noFill/>
          </a:ln>
        </p:spPr>
      </p:pic>
      <p:sp>
        <p:nvSpPr>
          <p:cNvPr id="104" name="Google Shape;104;p16"/>
          <p:cNvSpPr txBox="1"/>
          <p:nvPr/>
        </p:nvSpPr>
        <p:spPr>
          <a:xfrm>
            <a:off x="2037246" y="4501313"/>
            <a:ext cx="56720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Save</a:t>
            </a:r>
            <a:endParaRPr/>
          </a:p>
        </p:txBody>
      </p:sp>
      <p:pic>
        <p:nvPicPr>
          <p:cNvPr id="105" name="Google Shape;105;p16"/>
          <p:cNvPicPr preferRelativeResize="0"/>
          <p:nvPr/>
        </p:nvPicPr>
        <p:blipFill rotWithShape="1">
          <a:blip r:embed="rId5">
            <a:alphaModFix/>
          </a:blip>
          <a:srcRect b="0" l="0" r="0" t="0"/>
          <a:stretch/>
        </p:blipFill>
        <p:spPr>
          <a:xfrm>
            <a:off x="2128573" y="5157648"/>
            <a:ext cx="1111351" cy="1086093"/>
          </a:xfrm>
          <a:prstGeom prst="rect">
            <a:avLst/>
          </a:prstGeom>
          <a:noFill/>
          <a:ln>
            <a:noFill/>
          </a:ln>
        </p:spPr>
      </p:pic>
      <p:sp>
        <p:nvSpPr>
          <p:cNvPr id="106" name="Google Shape;106;p16"/>
          <p:cNvSpPr txBox="1"/>
          <p:nvPr/>
        </p:nvSpPr>
        <p:spPr>
          <a:xfrm>
            <a:off x="2392501" y="6018956"/>
            <a:ext cx="58349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Print</a:t>
            </a:r>
            <a:endParaRPr/>
          </a:p>
        </p:txBody>
      </p:sp>
      <p:pic>
        <p:nvPicPr>
          <p:cNvPr id="107" name="Google Shape;107;p16"/>
          <p:cNvPicPr preferRelativeResize="0"/>
          <p:nvPr/>
        </p:nvPicPr>
        <p:blipFill rotWithShape="1">
          <a:blip r:embed="rId6">
            <a:alphaModFix/>
          </a:blip>
          <a:srcRect b="0" l="0" r="0" t="0"/>
          <a:stretch/>
        </p:blipFill>
        <p:spPr>
          <a:xfrm>
            <a:off x="7091520" y="2401859"/>
            <a:ext cx="874501" cy="897514"/>
          </a:xfrm>
          <a:prstGeom prst="rect">
            <a:avLst/>
          </a:prstGeom>
          <a:noFill/>
          <a:ln>
            <a:noFill/>
          </a:ln>
        </p:spPr>
      </p:pic>
      <p:sp>
        <p:nvSpPr>
          <p:cNvPr id="108" name="Google Shape;108;p16"/>
          <p:cNvSpPr txBox="1"/>
          <p:nvPr/>
        </p:nvSpPr>
        <p:spPr>
          <a:xfrm>
            <a:off x="6925880" y="3305421"/>
            <a:ext cx="120577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Undo typing</a:t>
            </a:r>
            <a:endParaRPr/>
          </a:p>
        </p:txBody>
      </p:sp>
      <p:pic>
        <p:nvPicPr>
          <p:cNvPr id="109" name="Google Shape;109;p16"/>
          <p:cNvPicPr preferRelativeResize="0"/>
          <p:nvPr/>
        </p:nvPicPr>
        <p:blipFill rotWithShape="1">
          <a:blip r:embed="rId7">
            <a:alphaModFix/>
          </a:blip>
          <a:srcRect b="0" l="0" r="0" t="0"/>
          <a:stretch/>
        </p:blipFill>
        <p:spPr>
          <a:xfrm>
            <a:off x="4596876" y="3603799"/>
            <a:ext cx="1025730" cy="897514"/>
          </a:xfrm>
          <a:prstGeom prst="rect">
            <a:avLst/>
          </a:prstGeom>
          <a:noFill/>
          <a:ln>
            <a:noFill/>
          </a:ln>
        </p:spPr>
      </p:pic>
      <p:sp>
        <p:nvSpPr>
          <p:cNvPr id="110" name="Google Shape;110;p16"/>
          <p:cNvSpPr txBox="1"/>
          <p:nvPr/>
        </p:nvSpPr>
        <p:spPr>
          <a:xfrm>
            <a:off x="4830083" y="4466158"/>
            <a:ext cx="559769"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Bold</a:t>
            </a:r>
            <a:endParaRPr/>
          </a:p>
        </p:txBody>
      </p:sp>
      <p:pic>
        <p:nvPicPr>
          <p:cNvPr id="111" name="Google Shape;111;p16"/>
          <p:cNvPicPr preferRelativeResize="0"/>
          <p:nvPr/>
        </p:nvPicPr>
        <p:blipFill rotWithShape="1">
          <a:blip r:embed="rId8">
            <a:alphaModFix/>
          </a:blip>
          <a:srcRect b="0" l="0" r="0" t="0"/>
          <a:stretch/>
        </p:blipFill>
        <p:spPr>
          <a:xfrm>
            <a:off x="5879293" y="5157648"/>
            <a:ext cx="1025730" cy="975694"/>
          </a:xfrm>
          <a:prstGeom prst="rect">
            <a:avLst/>
          </a:prstGeom>
          <a:noFill/>
          <a:ln>
            <a:noFill/>
          </a:ln>
        </p:spPr>
      </p:pic>
      <p:sp>
        <p:nvSpPr>
          <p:cNvPr id="112" name="Google Shape;112;p16"/>
          <p:cNvSpPr txBox="1"/>
          <p:nvPr/>
        </p:nvSpPr>
        <p:spPr>
          <a:xfrm>
            <a:off x="5796165" y="6077819"/>
            <a:ext cx="118513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Bulletpoints</a:t>
            </a:r>
            <a:endParaRPr sz="1600">
              <a:solidFill>
                <a:schemeClr val="dk1"/>
              </a:solidFill>
              <a:latin typeface="Calibri"/>
              <a:ea typeface="Calibri"/>
              <a:cs typeface="Calibri"/>
              <a:sym typeface="Calibri"/>
            </a:endParaRPr>
          </a:p>
        </p:txBody>
      </p:sp>
      <p:pic>
        <p:nvPicPr>
          <p:cNvPr id="113" name="Google Shape;113;p16"/>
          <p:cNvPicPr preferRelativeResize="0"/>
          <p:nvPr/>
        </p:nvPicPr>
        <p:blipFill rotWithShape="1">
          <a:blip r:embed="rId9">
            <a:alphaModFix/>
          </a:blip>
          <a:srcRect b="0" l="0" r="0" t="0"/>
          <a:stretch/>
        </p:blipFill>
        <p:spPr>
          <a:xfrm>
            <a:off x="1324902" y="2074816"/>
            <a:ext cx="4257104" cy="716542"/>
          </a:xfrm>
          <a:prstGeom prst="rect">
            <a:avLst/>
          </a:prstGeom>
          <a:noFill/>
          <a:ln>
            <a:noFill/>
          </a:ln>
        </p:spPr>
      </p:pic>
      <p:pic>
        <p:nvPicPr>
          <p:cNvPr id="114" name="Google Shape;114;p16"/>
          <p:cNvPicPr preferRelativeResize="0"/>
          <p:nvPr/>
        </p:nvPicPr>
        <p:blipFill rotWithShape="1">
          <a:blip r:embed="rId10">
            <a:alphaModFix/>
          </a:blip>
          <a:srcRect b="0" l="0" r="0" t="0"/>
          <a:stretch/>
        </p:blipFill>
        <p:spPr>
          <a:xfrm>
            <a:off x="8234343" y="4435833"/>
            <a:ext cx="2610170" cy="922260"/>
          </a:xfrm>
          <a:prstGeom prst="rect">
            <a:avLst/>
          </a:prstGeom>
          <a:noFill/>
          <a:ln>
            <a:noFill/>
          </a:ln>
        </p:spPr>
      </p:pic>
      <p:sp>
        <p:nvSpPr>
          <p:cNvPr id="115" name="Google Shape;115;p16"/>
          <p:cNvSpPr txBox="1"/>
          <p:nvPr/>
        </p:nvSpPr>
        <p:spPr>
          <a:xfrm>
            <a:off x="2623515" y="2770585"/>
            <a:ext cx="165987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Font and font size</a:t>
            </a:r>
            <a:endParaRPr/>
          </a:p>
        </p:txBody>
      </p:sp>
      <p:sp>
        <p:nvSpPr>
          <p:cNvPr id="116" name="Google Shape;116;p16"/>
          <p:cNvSpPr txBox="1"/>
          <p:nvPr/>
        </p:nvSpPr>
        <p:spPr>
          <a:xfrm>
            <a:off x="8234342" y="5351340"/>
            <a:ext cx="261017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600">
                <a:solidFill>
                  <a:schemeClr val="dk1"/>
                </a:solidFill>
                <a:latin typeface="Calibri"/>
                <a:ea typeface="Calibri"/>
                <a:cs typeface="Calibri"/>
                <a:sym typeface="Calibri"/>
              </a:rPr>
              <a:t>Align to Left, Centre text, Align to Right and Justify text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1600201" y="786103"/>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What to do if you don’t know what to do</a:t>
            </a:r>
            <a:endParaRPr/>
          </a:p>
        </p:txBody>
      </p:sp>
      <p:sp>
        <p:nvSpPr>
          <p:cNvPr id="122" name="Google Shape;122;p17"/>
          <p:cNvSpPr/>
          <p:nvPr/>
        </p:nvSpPr>
        <p:spPr>
          <a:xfrm>
            <a:off x="1600201" y="2173366"/>
            <a:ext cx="4064389" cy="3648884"/>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The </a:t>
            </a:r>
            <a:r>
              <a:rPr b="1" lang="en-GB" sz="2400">
                <a:solidFill>
                  <a:srgbClr val="0069B4"/>
                </a:solidFill>
                <a:latin typeface="Calibri"/>
                <a:ea typeface="Calibri"/>
                <a:cs typeface="Calibri"/>
                <a:sym typeface="Calibri"/>
              </a:rPr>
              <a:t>user interface (UI)</a:t>
            </a:r>
            <a:r>
              <a:rPr lang="en-GB" sz="2400">
                <a:solidFill>
                  <a:srgbClr val="0069B4"/>
                </a:solidFill>
                <a:latin typeface="Calibri"/>
                <a:ea typeface="Calibri"/>
                <a:cs typeface="Calibri"/>
                <a:sym typeface="Calibri"/>
              </a:rPr>
              <a:t> </a:t>
            </a:r>
            <a:r>
              <a:rPr lang="en-GB" sz="2400">
                <a:solidFill>
                  <a:schemeClr val="dk1"/>
                </a:solidFill>
                <a:latin typeface="Calibri"/>
                <a:ea typeface="Calibri"/>
                <a:cs typeface="Calibri"/>
                <a:sym typeface="Calibri"/>
              </a:rPr>
              <a:t>of word-processing applications have been designed so that they are intuitive; so that they are easy to use and understand.</a:t>
            </a:r>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For this reason, we are not going to teach you how to use Word or Google Docs.</a:t>
            </a:r>
            <a:endParaRPr sz="2400">
              <a:solidFill>
                <a:schemeClr val="dk1"/>
              </a:solidFill>
              <a:latin typeface="Calibri"/>
              <a:ea typeface="Calibri"/>
              <a:cs typeface="Calibri"/>
              <a:sym typeface="Calibri"/>
            </a:endParaRPr>
          </a:p>
        </p:txBody>
      </p:sp>
      <p:pic>
        <p:nvPicPr>
          <p:cNvPr id="123" name="Google Shape;123;p17"/>
          <p:cNvPicPr preferRelativeResize="0"/>
          <p:nvPr/>
        </p:nvPicPr>
        <p:blipFill rotWithShape="1">
          <a:blip r:embed="rId3">
            <a:alphaModFix/>
          </a:blip>
          <a:srcRect b="0" l="0" r="0" t="0"/>
          <a:stretch/>
        </p:blipFill>
        <p:spPr>
          <a:xfrm>
            <a:off x="5961503" y="2283953"/>
            <a:ext cx="5298974" cy="2548577"/>
          </a:xfrm>
          <a:prstGeom prst="rect">
            <a:avLst/>
          </a:prstGeom>
          <a:noFill/>
          <a:ln>
            <a:noFill/>
          </a:ln>
        </p:spPr>
      </p:pic>
      <p:sp>
        <p:nvSpPr>
          <p:cNvPr id="124" name="Google Shape;124;p17"/>
          <p:cNvSpPr/>
          <p:nvPr/>
        </p:nvSpPr>
        <p:spPr>
          <a:xfrm>
            <a:off x="1600201" y="5715974"/>
            <a:ext cx="9954490" cy="470000"/>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Instead, we are going to teach how to work out how to do things yourselves.</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8"/>
          <p:cNvSpPr/>
          <p:nvPr/>
        </p:nvSpPr>
        <p:spPr>
          <a:xfrm>
            <a:off x="1311896" y="1845575"/>
            <a:ext cx="9568207" cy="452431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Calibri"/>
              <a:buNone/>
            </a:pPr>
            <a:r>
              <a:rPr i="0" lang="en-GB" sz="2400" u="none" cap="none" strike="noStrike">
                <a:solidFill>
                  <a:schemeClr val="dk1"/>
                </a:solidFill>
                <a:latin typeface="Calibri"/>
                <a:ea typeface="Calibri"/>
                <a:cs typeface="Calibri"/>
                <a:sym typeface="Calibri"/>
              </a:rPr>
              <a:t>The ribbon across the top of the application gives you access a vast array of features, so the first thing you need to do is investigate what the application has to offer.</a:t>
            </a:r>
            <a:endParaRPr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rPr i="0" lang="en-GB" sz="2400" u="none" cap="none" strike="noStrike">
                <a:solidFill>
                  <a:schemeClr val="dk1"/>
                </a:solidFill>
                <a:latin typeface="Calibri"/>
                <a:ea typeface="Calibri"/>
                <a:cs typeface="Calibri"/>
                <a:sym typeface="Calibri"/>
              </a:rPr>
              <a:t>Place your mouse over the icons on the toolbars for more information.</a:t>
            </a:r>
            <a:endParaRPr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sz="24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2400"/>
              <a:buFont typeface="Calibri"/>
              <a:buNone/>
            </a:pPr>
            <a:r>
              <a:t/>
            </a:r>
            <a:endParaRPr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Try to find things out for yourself. Be prepared to experiment.</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If you need help, use the application’s built in </a:t>
            </a:r>
            <a:r>
              <a:rPr b="1" lang="en-GB" sz="2400">
                <a:solidFill>
                  <a:schemeClr val="dk1"/>
                </a:solidFill>
                <a:latin typeface="Calibri"/>
                <a:ea typeface="Calibri"/>
                <a:cs typeface="Calibri"/>
                <a:sym typeface="Calibri"/>
              </a:rPr>
              <a:t>Help</a:t>
            </a:r>
            <a:r>
              <a:rPr lang="en-GB" sz="2400">
                <a:solidFill>
                  <a:schemeClr val="dk1"/>
                </a:solidFill>
                <a:latin typeface="Calibri"/>
                <a:ea typeface="Calibri"/>
                <a:cs typeface="Calibri"/>
                <a:sym typeface="Calibri"/>
              </a:rPr>
              <a:t> feature.</a:t>
            </a:r>
            <a:endParaRPr sz="2400">
              <a:solidFill>
                <a:schemeClr val="dk1"/>
              </a:solidFill>
              <a:latin typeface="Calibri"/>
              <a:ea typeface="Calibri"/>
              <a:cs typeface="Calibri"/>
              <a:sym typeface="Calibri"/>
            </a:endParaRPr>
          </a:p>
          <a:p>
            <a:pPr indent="0" lvl="0" marL="0" marR="0" rtl="0" algn="l">
              <a:spcBef>
                <a:spcPts val="0"/>
              </a:spcBef>
              <a:spcAft>
                <a:spcPts val="0"/>
              </a:spcAft>
              <a:buNone/>
            </a:pPr>
            <a:r>
              <a:rPr lang="en-GB" sz="2400">
                <a:solidFill>
                  <a:schemeClr val="dk1"/>
                </a:solidFill>
                <a:latin typeface="Calibri"/>
                <a:ea typeface="Calibri"/>
                <a:cs typeface="Calibri"/>
                <a:sym typeface="Calibri"/>
              </a:rPr>
              <a:t>If you're really stuck, find an online tutorial.</a:t>
            </a:r>
            <a:endParaRPr sz="2400">
              <a:solidFill>
                <a:schemeClr val="dk1"/>
              </a:solidFill>
              <a:latin typeface="Calibri"/>
              <a:ea typeface="Calibri"/>
              <a:cs typeface="Calibri"/>
              <a:sym typeface="Calibri"/>
            </a:endParaRPr>
          </a:p>
        </p:txBody>
      </p:sp>
      <p:pic>
        <p:nvPicPr>
          <p:cNvPr id="130" name="Google Shape;130;p18"/>
          <p:cNvPicPr preferRelativeResize="0"/>
          <p:nvPr/>
        </p:nvPicPr>
        <p:blipFill rotWithShape="1">
          <a:blip r:embed="rId3">
            <a:alphaModFix/>
          </a:blip>
          <a:srcRect b="0" l="0" r="0" t="0"/>
          <a:stretch/>
        </p:blipFill>
        <p:spPr>
          <a:xfrm>
            <a:off x="761214" y="3644112"/>
            <a:ext cx="10669571" cy="1385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ph type="title"/>
          </p:nvPr>
        </p:nvSpPr>
        <p:spPr>
          <a:xfrm>
            <a:off x="1589632" y="796072"/>
            <a:ext cx="10297568"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Activity 2.1: Word-processing skills</a:t>
            </a:r>
            <a:endParaRPr/>
          </a:p>
        </p:txBody>
      </p:sp>
      <p:pic>
        <p:nvPicPr>
          <p:cNvPr descr="A picture containing athletic game, basketball, sport&#10;&#10;Description automatically generated" id="136" name="Google Shape;136;p19"/>
          <p:cNvPicPr preferRelativeResize="0"/>
          <p:nvPr/>
        </p:nvPicPr>
        <p:blipFill rotWithShape="1">
          <a:blip r:embed="rId3">
            <a:alphaModFix/>
          </a:blip>
          <a:srcRect b="0" l="0" r="0" t="0"/>
          <a:stretch/>
        </p:blipFill>
        <p:spPr>
          <a:xfrm>
            <a:off x="3914533" y="1967027"/>
            <a:ext cx="4362933" cy="42747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1600201" y="786103"/>
            <a:ext cx="9753599" cy="8458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GB">
                <a:solidFill>
                  <a:schemeClr val="lt1"/>
                </a:solidFill>
              </a:rPr>
              <a:t>The design cycle</a:t>
            </a:r>
            <a:endParaRPr/>
          </a:p>
        </p:txBody>
      </p:sp>
      <p:pic>
        <p:nvPicPr>
          <p:cNvPr descr="Diagram&#10;&#10;Description automatically generated" id="142" name="Google Shape;142;p20"/>
          <p:cNvPicPr preferRelativeResize="0"/>
          <p:nvPr/>
        </p:nvPicPr>
        <p:blipFill rotWithShape="1">
          <a:blip r:embed="rId3">
            <a:alphaModFix/>
          </a:blip>
          <a:srcRect b="0" l="0" r="0" t="0"/>
          <a:stretch/>
        </p:blipFill>
        <p:spPr>
          <a:xfrm>
            <a:off x="3137015" y="2034750"/>
            <a:ext cx="5917969" cy="422409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ph type="title"/>
          </p:nvPr>
        </p:nvSpPr>
        <p:spPr>
          <a:xfrm>
            <a:off x="1589632" y="796072"/>
            <a:ext cx="10297568"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Activity 2.2: Planning and creating a leaflet</a:t>
            </a:r>
            <a:endParaRPr/>
          </a:p>
        </p:txBody>
      </p:sp>
      <p:pic>
        <p:nvPicPr>
          <p:cNvPr descr="A picture containing athletic game, basketball, sport&#10;&#10;Description automatically generated" id="148" name="Google Shape;148;p21"/>
          <p:cNvPicPr preferRelativeResize="0"/>
          <p:nvPr/>
        </p:nvPicPr>
        <p:blipFill rotWithShape="1">
          <a:blip r:embed="rId3">
            <a:alphaModFix/>
          </a:blip>
          <a:srcRect b="0" l="0" r="0" t="0"/>
          <a:stretch/>
        </p:blipFill>
        <p:spPr>
          <a:xfrm>
            <a:off x="3914533" y="1967027"/>
            <a:ext cx="4362933" cy="427474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txBox="1"/>
          <p:nvPr>
            <p:ph type="title"/>
          </p:nvPr>
        </p:nvSpPr>
        <p:spPr>
          <a:xfrm>
            <a:off x="1589632" y="796072"/>
            <a:ext cx="10297568"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Activity 2.3: Commenting on your partner’s leaflet</a:t>
            </a:r>
            <a:endParaRPr/>
          </a:p>
        </p:txBody>
      </p:sp>
      <p:pic>
        <p:nvPicPr>
          <p:cNvPr descr="A picture containing athletic game, basketball, sport&#10;&#10;Description automatically generated" id="154" name="Google Shape;154;p22"/>
          <p:cNvPicPr preferRelativeResize="0"/>
          <p:nvPr/>
        </p:nvPicPr>
        <p:blipFill rotWithShape="1">
          <a:blip r:embed="rId3">
            <a:alphaModFix/>
          </a:blip>
          <a:srcRect b="0" l="0" r="0" t="0"/>
          <a:stretch/>
        </p:blipFill>
        <p:spPr>
          <a:xfrm>
            <a:off x="9162661" y="2876125"/>
            <a:ext cx="2501817" cy="2451249"/>
          </a:xfrm>
          <a:prstGeom prst="rect">
            <a:avLst/>
          </a:prstGeom>
          <a:noFill/>
          <a:ln>
            <a:noFill/>
          </a:ln>
        </p:spPr>
      </p:pic>
      <p:sp>
        <p:nvSpPr>
          <p:cNvPr id="155" name="Google Shape;155;p22"/>
          <p:cNvSpPr/>
          <p:nvPr/>
        </p:nvSpPr>
        <p:spPr>
          <a:xfrm>
            <a:off x="1459004" y="2196484"/>
            <a:ext cx="7619682" cy="381053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chemeClr val="dk1"/>
                </a:solidFill>
                <a:latin typeface="Calibri"/>
                <a:ea typeface="Calibri"/>
                <a:cs typeface="Calibri"/>
                <a:sym typeface="Calibri"/>
              </a:rPr>
              <a:t>Swap computers with a partner and use the comments tool to give feedback on the design of your partner’s leaflet.</a:t>
            </a:r>
            <a:endParaRPr sz="2400">
              <a:solidFill>
                <a:schemeClr val="dk1"/>
              </a:solidFill>
              <a:latin typeface="Calibri"/>
              <a:ea typeface="Calibri"/>
              <a:cs typeface="Calibri"/>
              <a:sym typeface="Calibri"/>
            </a:endParaRPr>
          </a:p>
          <a:p>
            <a:pPr indent="0" lvl="0" marL="0" marR="0" rtl="0" algn="l">
              <a:lnSpc>
                <a:spcPct val="107000"/>
              </a:lnSpc>
              <a:spcBef>
                <a:spcPts val="600"/>
              </a:spcBef>
              <a:spcAft>
                <a:spcPts val="0"/>
              </a:spcAft>
              <a:buNone/>
            </a:pPr>
            <a:r>
              <a:rPr lang="en-GB" sz="2400">
                <a:solidFill>
                  <a:schemeClr val="dk1"/>
                </a:solidFill>
                <a:latin typeface="Calibri"/>
                <a:ea typeface="Calibri"/>
                <a:cs typeface="Calibri"/>
                <a:sym typeface="Calibri"/>
              </a:rPr>
              <a:t>In Microsoft Word, highlight the word or phrase you want to comment on, then click on ‘Review’ and ‘New comment’.</a:t>
            </a:r>
            <a:endParaRPr sz="2400">
              <a:solidFill>
                <a:schemeClr val="dk1"/>
              </a:solidFill>
              <a:latin typeface="Calibri"/>
              <a:ea typeface="Calibri"/>
              <a:cs typeface="Calibri"/>
              <a:sym typeface="Calibri"/>
            </a:endParaRPr>
          </a:p>
          <a:p>
            <a:pPr indent="0" lvl="0" marL="0" marR="0" rtl="0" algn="l">
              <a:lnSpc>
                <a:spcPct val="107000"/>
              </a:lnSpc>
              <a:spcBef>
                <a:spcPts val="600"/>
              </a:spcBef>
              <a:spcAft>
                <a:spcPts val="0"/>
              </a:spcAft>
              <a:buNone/>
            </a:pPr>
            <a:r>
              <a:rPr lang="en-GB" sz="2400">
                <a:solidFill>
                  <a:schemeClr val="dk1"/>
                </a:solidFill>
                <a:latin typeface="Calibri"/>
                <a:ea typeface="Calibri"/>
                <a:cs typeface="Calibri"/>
                <a:sym typeface="Calibri"/>
              </a:rPr>
              <a:t>In Google Docs, highlight the word or phrase you want to comment on, then click on the ‘Add comment’ icon in the toolbar or the ‘Add comment’ icon on the right of the page.</a:t>
            </a:r>
            <a:endParaRPr sz="2400">
              <a:solidFill>
                <a:schemeClr val="dk1"/>
              </a:solidFill>
              <a:latin typeface="Calibri"/>
              <a:ea typeface="Calibri"/>
              <a:cs typeface="Calibri"/>
              <a:sym typeface="Calibri"/>
            </a:endParaRPr>
          </a:p>
          <a:p>
            <a:pPr indent="0" lvl="0" marL="0" marR="0" rtl="0" algn="l">
              <a:lnSpc>
                <a:spcPct val="107000"/>
              </a:lnSpc>
              <a:spcBef>
                <a:spcPts val="600"/>
              </a:spcBef>
              <a:spcAft>
                <a:spcPts val="0"/>
              </a:spcAft>
              <a:buNone/>
            </a:pPr>
            <a:r>
              <a:rPr lang="en-GB" sz="2400">
                <a:solidFill>
                  <a:schemeClr val="dk1"/>
                </a:solidFill>
                <a:latin typeface="Calibri"/>
                <a:ea typeface="Calibri"/>
                <a:cs typeface="Calibri"/>
                <a:sym typeface="Calibri"/>
              </a:rPr>
              <a:t>Remember to save your partner’s document when you have finished adding your comments.</a:t>
            </a:r>
            <a:endParaRPr sz="24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txBox="1"/>
          <p:nvPr>
            <p:ph type="title"/>
          </p:nvPr>
        </p:nvSpPr>
        <p:spPr>
          <a:xfrm>
            <a:off x="1589632" y="796072"/>
            <a:ext cx="10297568"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Quiz 2</a:t>
            </a:r>
            <a:endParaRPr/>
          </a:p>
        </p:txBody>
      </p:sp>
      <p:pic>
        <p:nvPicPr>
          <p:cNvPr descr="A picture containing athletic game, basketball, sport&#10;&#10;Description automatically generated" id="161" name="Google Shape;161;p23"/>
          <p:cNvPicPr preferRelativeResize="0"/>
          <p:nvPr/>
        </p:nvPicPr>
        <p:blipFill rotWithShape="1">
          <a:blip r:embed="rId3">
            <a:alphaModFix/>
          </a:blip>
          <a:srcRect b="0" l="0" r="0" t="0"/>
          <a:stretch/>
        </p:blipFill>
        <p:spPr>
          <a:xfrm>
            <a:off x="3914533" y="1967027"/>
            <a:ext cx="4362933" cy="427474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1589632" y="796072"/>
            <a:ext cx="10297568" cy="8657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000"/>
              <a:buFont typeface="Calibri"/>
              <a:buNone/>
            </a:pPr>
            <a:r>
              <a:rPr b="1" lang="en-GB" sz="4000">
                <a:solidFill>
                  <a:schemeClr val="lt1"/>
                </a:solidFill>
              </a:rPr>
              <a:t>Activity 2.4: Finishing creating your leaflet</a:t>
            </a:r>
            <a:endParaRPr/>
          </a:p>
        </p:txBody>
      </p:sp>
      <p:pic>
        <p:nvPicPr>
          <p:cNvPr descr="A picture containing athletic game, basketball, sport&#10;&#10;Description automatically generated" id="167" name="Google Shape;167;p24"/>
          <p:cNvPicPr preferRelativeResize="0"/>
          <p:nvPr/>
        </p:nvPicPr>
        <p:blipFill rotWithShape="1">
          <a:blip r:embed="rId3">
            <a:alphaModFix/>
          </a:blip>
          <a:srcRect b="0" l="0" r="0" t="0"/>
          <a:stretch/>
        </p:blipFill>
        <p:spPr>
          <a:xfrm>
            <a:off x="8137236" y="2281326"/>
            <a:ext cx="3462587" cy="3392599"/>
          </a:xfrm>
          <a:prstGeom prst="rect">
            <a:avLst/>
          </a:prstGeom>
          <a:noFill/>
          <a:ln>
            <a:noFill/>
          </a:ln>
        </p:spPr>
      </p:pic>
      <p:sp>
        <p:nvSpPr>
          <p:cNvPr id="168" name="Google Shape;168;p24"/>
          <p:cNvSpPr/>
          <p:nvPr/>
        </p:nvSpPr>
        <p:spPr>
          <a:xfrm>
            <a:off x="1589632" y="2558418"/>
            <a:ext cx="5928768" cy="2445862"/>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Evaluate the feedback you received on your leaflet and, if necessary, make improvements.</a:t>
            </a:r>
            <a:endParaRPr sz="24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 </a:t>
            </a:r>
            <a:endParaRPr sz="2400">
              <a:solidFill>
                <a:schemeClr val="dk1"/>
              </a:solidFill>
              <a:latin typeface="Calibri"/>
              <a:ea typeface="Calibri"/>
              <a:cs typeface="Calibri"/>
              <a:sym typeface="Calibri"/>
            </a:endParaRPr>
          </a:p>
          <a:p>
            <a:pPr indent="0" lvl="0" marL="0" marR="0" rtl="0" algn="l">
              <a:lnSpc>
                <a:spcPct val="107000"/>
              </a:lnSpc>
              <a:spcBef>
                <a:spcPts val="0"/>
              </a:spcBef>
              <a:spcAft>
                <a:spcPts val="0"/>
              </a:spcAft>
              <a:buNone/>
            </a:pPr>
            <a:r>
              <a:rPr lang="en-GB" sz="2400">
                <a:solidFill>
                  <a:schemeClr val="dk1"/>
                </a:solidFill>
                <a:latin typeface="Calibri"/>
                <a:ea typeface="Calibri"/>
                <a:cs typeface="Calibri"/>
                <a:sym typeface="Calibri"/>
              </a:rPr>
              <a:t>Remember to 'Save as' before you begin making improvements, so you always have your partner's comments to refer back to.</a:t>
            </a:r>
            <a:endParaRPr sz="2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