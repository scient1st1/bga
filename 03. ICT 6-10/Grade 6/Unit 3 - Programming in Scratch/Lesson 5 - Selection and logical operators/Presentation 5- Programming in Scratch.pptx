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6858000" cx="12192000"/>
  <p:notesSz cx="6858000" cy="9144000"/>
  <p:embeddedFontLst>
    <p:embeddedFont>
      <p:font typeface="Noto Sans Symbols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42B7F6C-EF4D-4285-BBA3-B29A511A4FCD}">
  <a:tblStyle styleId="{242B7F6C-EF4D-4285-BBA3-B29A511A4FC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NotoSansSymbols-regular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NotoSansSymbol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238036" cy="162239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6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1.gif"/><Relationship Id="rId5" Type="http://schemas.openxmlformats.org/officeDocument/2006/relationships/image" Target="../media/image12.gif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gif"/><Relationship Id="rId4" Type="http://schemas.openxmlformats.org/officeDocument/2006/relationships/image" Target="../media/image19.gif"/><Relationship Id="rId5" Type="http://schemas.openxmlformats.org/officeDocument/2006/relationships/image" Target="../media/image17.gif"/><Relationship Id="rId6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098958" y="3010438"/>
            <a:ext cx="5931016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</a:pPr>
            <a:r>
              <a:rPr b="1" lang="en-GB" sz="4800"/>
              <a:t>Programming in Scratch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1737328" y="3926287"/>
            <a:ext cx="5031964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Lesson 5: Selection and logical operators </a:t>
            </a:r>
            <a:endParaRPr b="1" i="0" sz="2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5669" y="2704323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10413" y="80689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10413" y="2397948"/>
            <a:ext cx="71062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 use: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multiple condition checks with if-else statements</a:t>
            </a:r>
            <a:endParaRPr sz="2400">
              <a:solidFill>
                <a:schemeClr val="dk1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logical operators within if-else statements.</a:t>
            </a:r>
            <a:endParaRPr sz="2400">
              <a:solidFill>
                <a:schemeClr val="dk1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13878" y="802881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Meeting the criteria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613878" y="2237556"/>
            <a:ext cx="790780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Write down how many of the shapes meet the criteria below:</a:t>
            </a:r>
            <a:endParaRPr/>
          </a:p>
        </p:txBody>
      </p:sp>
      <p:sp>
        <p:nvSpPr>
          <p:cNvPr id="95" name="Google Shape;95;p15"/>
          <p:cNvSpPr/>
          <p:nvPr/>
        </p:nvSpPr>
        <p:spPr>
          <a:xfrm>
            <a:off x="5989983" y="3269450"/>
            <a:ext cx="3710608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square AND circle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square OR circle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 OR circle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black AND square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 NOT square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ape, square&#10;&#10;Description automatically generated" id="96" name="Google Shape;9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85814" y="2920248"/>
            <a:ext cx="3002412" cy="31348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 txBox="1"/>
          <p:nvPr>
            <p:ph type="title"/>
          </p:nvPr>
        </p:nvSpPr>
        <p:spPr>
          <a:xfrm>
            <a:off x="1620078" y="816265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Selection </a:t>
            </a: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1620078" y="1951672"/>
            <a:ext cx="5459991" cy="4524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the last lesson, we looked at how selection can involve more than one condition.</a:t>
            </a:r>
            <a:endParaRPr/>
          </a:p>
          <a:p>
            <a:pPr indent="-1905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Look at this program and write down what it would output for the following values:</a:t>
            </a:r>
            <a:endParaRPr/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 = 42</a:t>
            </a:r>
            <a:endParaRPr/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 = 60</a:t>
            </a:r>
            <a:endParaRPr/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 = 68</a:t>
            </a:r>
            <a:endParaRPr/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 = 90</a:t>
            </a:r>
            <a:endParaRPr/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 = 23</a:t>
            </a:r>
            <a:endParaRPr/>
          </a:p>
          <a:p>
            <a:pPr indent="-1905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99243" y="1652188"/>
            <a:ext cx="2043730" cy="49144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5.1: Water state </a:t>
            </a:r>
            <a:endParaRPr/>
          </a:p>
        </p:txBody>
      </p:sp>
      <p:pic>
        <p:nvPicPr>
          <p:cNvPr descr="A picture containing athletic game, basketball, sport&#10;&#10;Description automatically generated" id="109" name="Google Shape;10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08474" y="1877575"/>
            <a:ext cx="4587567" cy="449484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7"/>
          <p:cNvSpPr/>
          <p:nvPr/>
        </p:nvSpPr>
        <p:spPr>
          <a:xfrm>
            <a:off x="2031059" y="2397099"/>
            <a:ext cx="283507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finished solution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Logo&#10;&#10;Description automatically generated" id="111" name="Google Shape;11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24495" y="2766431"/>
            <a:ext cx="4648200" cy="350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1609825" y="815951"/>
            <a:ext cx="9753599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Logical operators </a:t>
            </a:r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1609825" y="2086392"/>
            <a:ext cx="8570495" cy="353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Logical operators</a:t>
            </a:r>
            <a:r>
              <a:rPr lang="en-GB" sz="2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a </a:t>
            </a:r>
            <a:r>
              <a:rPr b="1" lang="en-GB" sz="2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Boolean value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 value that can be only True or False.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three logical operators that can be used in programming to help determine what a program should do. These are: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both conditions must be true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least one condition must be true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b="1" lang="en-GB" sz="2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anything but what is being asked for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1608567" y="815637"/>
            <a:ext cx="9793357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</a:t>
            </a:r>
            <a:r>
              <a:rPr b="1" lang="en-GB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and </a:t>
            </a:r>
            <a:r>
              <a:rPr b="1" lang="en-GB">
                <a:solidFill>
                  <a:schemeClr val="lt1"/>
                </a:solidFill>
              </a:rPr>
              <a:t>operator </a:t>
            </a:r>
            <a:endParaRPr/>
          </a:p>
        </p:txBody>
      </p:sp>
      <p:sp>
        <p:nvSpPr>
          <p:cNvPr id="123" name="Google Shape;123;p19"/>
          <p:cNvSpPr/>
          <p:nvPr/>
        </p:nvSpPr>
        <p:spPr>
          <a:xfrm>
            <a:off x="1608567" y="2272618"/>
            <a:ext cx="7932998" cy="120032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0" i="0" lang="en-GB" sz="2400" u="none" cap="none" strike="noStrike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operator allows for two conditions to be checked.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it to return True, both conditions must be true.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are some examples: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4" name="Google Shape;124;p19"/>
          <p:cNvGraphicFramePr/>
          <p:nvPr/>
        </p:nvGraphicFramePr>
        <p:xfrm>
          <a:off x="1699591" y="377580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{242B7F6C-EF4D-4285-BBA3-B29A511A4FCD}</a:tableStyleId>
              </a:tblPr>
              <a:tblGrid>
                <a:gridCol w="2737375"/>
                <a:gridCol w="2748875"/>
                <a:gridCol w="2748875"/>
              </a:tblGrid>
              <a:tr h="55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Statement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Returns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Reason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(10 &gt; 12) AND (15 &gt; 10)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Only one condition is true. 10 is not more than 12.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(A = A) AND (C = C)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Both conditions are true.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(5.5 &lt; 3) AND (G = F)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Both conditions are false.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 Using </a:t>
            </a:r>
            <a:r>
              <a:rPr lang="en-GB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and </a:t>
            </a:r>
            <a:r>
              <a:rPr b="1" lang="en-GB">
                <a:solidFill>
                  <a:schemeClr val="lt1"/>
                </a:solidFill>
              </a:rPr>
              <a:t>in Scratch </a:t>
            </a:r>
            <a:endParaRPr/>
          </a:p>
        </p:txBody>
      </p:sp>
      <p:sp>
        <p:nvSpPr>
          <p:cNvPr id="130" name="Google Shape;130;p20"/>
          <p:cNvSpPr/>
          <p:nvPr/>
        </p:nvSpPr>
        <p:spPr>
          <a:xfrm>
            <a:off x="1589632" y="2367169"/>
            <a:ext cx="7961872" cy="738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an example of </a:t>
            </a:r>
            <a:r>
              <a:rPr lang="en-GB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and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being used in Scratch:</a:t>
            </a:r>
            <a:endParaRPr b="1" i="0" sz="18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0"/>
          <p:cNvSpPr/>
          <p:nvPr/>
        </p:nvSpPr>
        <p:spPr>
          <a:xfrm>
            <a:off x="6096000" y="2919584"/>
            <a:ext cx="4310270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120 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entered, the program would say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120 is more than 50 but it is not less than 100 so both conditions are not met.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67 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entered, the program would say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67 is more than 50 and less than 100 so both conditions are met.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imeline&#10;&#10;Description automatically generated" id="132" name="Google Shape;13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9632" y="3008539"/>
            <a:ext cx="4227694" cy="2773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1600200" y="815009"/>
            <a:ext cx="9753600" cy="8756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Why use logical operators? </a:t>
            </a:r>
            <a:endParaRPr/>
          </a:p>
        </p:txBody>
      </p:sp>
      <p:sp>
        <p:nvSpPr>
          <p:cNvPr id="138" name="Google Shape;138;p21"/>
          <p:cNvSpPr/>
          <p:nvPr/>
        </p:nvSpPr>
        <p:spPr>
          <a:xfrm>
            <a:off x="1600199" y="1993949"/>
            <a:ext cx="905454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programs both work in the same way, but the first one uses the logical operator </a:t>
            </a: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and </a:t>
            </a: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inside the if-else statement. This means that only one if-else statement is needed, simplifying the program and making it easier to follow.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Timeline&#10;&#10;Description automatically generated" id="139" name="Google Shape;13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53880" y="3151678"/>
            <a:ext cx="4523120" cy="29671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31204" y="3009612"/>
            <a:ext cx="2152950" cy="3381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 txBox="1"/>
          <p:nvPr>
            <p:ph type="title"/>
          </p:nvPr>
        </p:nvSpPr>
        <p:spPr>
          <a:xfrm>
            <a:off x="1600200" y="775252"/>
            <a:ext cx="9753600" cy="834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</a:t>
            </a:r>
            <a:r>
              <a:rPr lang="en-GB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or </a:t>
            </a:r>
            <a:r>
              <a:rPr b="1" lang="en-GB">
                <a:solidFill>
                  <a:schemeClr val="lt1"/>
                </a:solidFill>
              </a:rPr>
              <a:t>operator </a:t>
            </a:r>
            <a:endParaRPr/>
          </a:p>
        </p:txBody>
      </p:sp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1600200" y="1805747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The </a:t>
            </a:r>
            <a:r>
              <a:rPr lang="en-GB" sz="2400">
                <a:latin typeface="Courier New"/>
                <a:ea typeface="Courier New"/>
                <a:cs typeface="Courier New"/>
                <a:sym typeface="Courier New"/>
              </a:rPr>
              <a:t>or</a:t>
            </a:r>
            <a:r>
              <a:rPr lang="en-GB" sz="2400"/>
              <a:t> operator allows for two conditions to be checked.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For it to return True, at least one condition must be true.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Here are some examples: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graphicFrame>
        <p:nvGraphicFramePr>
          <p:cNvPr id="147" name="Google Shape;147;p22"/>
          <p:cNvGraphicFramePr/>
          <p:nvPr/>
        </p:nvGraphicFramePr>
        <p:xfrm>
          <a:off x="1600200" y="3429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{242B7F6C-EF4D-4285-BBA3-B29A511A4FCD}</a:tableStyleId>
              </a:tblPr>
              <a:tblGrid>
                <a:gridCol w="2737375"/>
                <a:gridCol w="2748875"/>
                <a:gridCol w="2748875"/>
              </a:tblGrid>
              <a:tr h="55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Statement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Returns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Reason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(10 &gt; 12) AND (15 &gt; 10)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 least one condition is met. 15 is more than 10.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(A = A) AND (C = C)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Both conditions are true.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(5.5 &lt; 3) AND (G = F)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Both conditions are false.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1467969" y="1772801"/>
            <a:ext cx="925606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an example of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or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being used in Scratch:</a:t>
            </a:r>
            <a:endParaRPr/>
          </a:p>
        </p:txBody>
      </p:sp>
      <p:sp>
        <p:nvSpPr>
          <p:cNvPr id="153" name="Google Shape;153;p23"/>
          <p:cNvSpPr/>
          <p:nvPr/>
        </p:nvSpPr>
        <p:spPr>
          <a:xfrm>
            <a:off x="1580323" y="739502"/>
            <a:ext cx="9631016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Using </a:t>
            </a:r>
            <a:r>
              <a:rPr lang="en-GB" sz="440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or </a:t>
            </a:r>
            <a:r>
              <a:rPr b="1" lang="en-GB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 Scratch 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6217920" y="2413337"/>
            <a:ext cx="5410862" cy="37856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120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entered, the program would say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TRUE.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120 is more than 50 and it doesn’t matter if it isn’t less than 100 because only one condition needs to be met.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67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entered, the program would say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67 is more than 50 and less than 100 and at least one condition needs to be met.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imeline&#10;&#10;Description automatically generated" id="155" name="Google Shape;15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0323" y="2808144"/>
            <a:ext cx="4439473" cy="2996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1600200" y="775252"/>
            <a:ext cx="9753600" cy="834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</a:t>
            </a:r>
            <a:r>
              <a:rPr lang="en-GB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not </a:t>
            </a:r>
            <a:r>
              <a:rPr b="1" lang="en-GB">
                <a:solidFill>
                  <a:schemeClr val="lt1"/>
                </a:solidFill>
              </a:rPr>
              <a:t>operator </a:t>
            </a:r>
            <a:endParaRPr/>
          </a:p>
        </p:txBody>
      </p:sp>
      <p:sp>
        <p:nvSpPr>
          <p:cNvPr id="161" name="Google Shape;161;p24"/>
          <p:cNvSpPr txBox="1"/>
          <p:nvPr>
            <p:ph idx="1" type="body"/>
          </p:nvPr>
        </p:nvSpPr>
        <p:spPr>
          <a:xfrm>
            <a:off x="1600200" y="1805747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The </a:t>
            </a:r>
            <a:r>
              <a:rPr lang="en-GB" sz="2400">
                <a:latin typeface="Courier New"/>
                <a:ea typeface="Courier New"/>
                <a:cs typeface="Courier New"/>
                <a:sym typeface="Courier New"/>
              </a:rPr>
              <a:t>not</a:t>
            </a:r>
            <a:r>
              <a:rPr lang="en-GB" sz="2400"/>
              <a:t> operator allows for one condition to be checked.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For it to return True, the value has to be anything but the value being asked for. Here are some examples: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graphicFrame>
        <p:nvGraphicFramePr>
          <p:cNvPr id="162" name="Google Shape;162;p24"/>
          <p:cNvGraphicFramePr/>
          <p:nvPr/>
        </p:nvGraphicFramePr>
        <p:xfrm>
          <a:off x="1729408" y="315070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{242B7F6C-EF4D-4285-BBA3-B29A511A4FCD}</a:tableStyleId>
              </a:tblPr>
              <a:tblGrid>
                <a:gridCol w="3003150"/>
                <a:gridCol w="2645200"/>
                <a:gridCol w="3386325"/>
              </a:tblGrid>
              <a:tr h="55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Statement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Returns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800" u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Reason</a:t>
                      </a:r>
                      <a:endParaRPr sz="1800" u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0613"/>
                    </a:solidFill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 = NOT(B)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letter C is NOT the letter B.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 = NOT(14)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number 15 is NOT the number 14.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6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 = NOT(14)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number 14 is the number 14.</a:t>
                      </a: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3061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/>
          <p:nvPr/>
        </p:nvSpPr>
        <p:spPr>
          <a:xfrm>
            <a:off x="1467969" y="1772801"/>
            <a:ext cx="925606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an example of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not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being used in Scratch:</a:t>
            </a:r>
            <a:endParaRPr/>
          </a:p>
        </p:txBody>
      </p:sp>
      <p:sp>
        <p:nvSpPr>
          <p:cNvPr id="168" name="Google Shape;168;p25"/>
          <p:cNvSpPr/>
          <p:nvPr/>
        </p:nvSpPr>
        <p:spPr>
          <a:xfrm>
            <a:off x="1580323" y="739502"/>
            <a:ext cx="9631016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Using </a:t>
            </a:r>
            <a:r>
              <a:rPr lang="en-GB" sz="440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GB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 Scratch 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5"/>
          <p:cNvSpPr/>
          <p:nvPr/>
        </p:nvSpPr>
        <p:spPr>
          <a:xfrm>
            <a:off x="5678443" y="3015457"/>
            <a:ext cx="5428393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14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entered, the program would say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TRUE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because the number entered is NOT 15.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15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entered, the program would say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FALSE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because the number entered IS 15.</a:t>
            </a:r>
            <a:endParaRPr/>
          </a:p>
        </p:txBody>
      </p:sp>
      <p:pic>
        <p:nvPicPr>
          <p:cNvPr descr="Timeline&#10;&#10;Description automatically generated" id="170" name="Google Shape;17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57355" y="2498324"/>
            <a:ext cx="3763879" cy="37638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5.2: What is the weather like? </a:t>
            </a:r>
            <a:endParaRPr/>
          </a:p>
        </p:txBody>
      </p:sp>
      <p:pic>
        <p:nvPicPr>
          <p:cNvPr descr="A picture containing athletic game, basketball, sport&#10;&#10;Description automatically generated" id="176" name="Google Shape;17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60193" y="2950818"/>
            <a:ext cx="2863284" cy="2805409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/>
          <p:nvPr/>
        </p:nvSpPr>
        <p:spPr>
          <a:xfrm>
            <a:off x="1305930" y="2972659"/>
            <a:ext cx="283507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finished solution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5846345" y="2950818"/>
            <a:ext cx="235532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extension 1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79" name="Google Shape;179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7516" y="3319108"/>
            <a:ext cx="3771900" cy="284438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80" name="Google Shape;180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38057" y="3245576"/>
            <a:ext cx="3771900" cy="2816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07230" y="3002223"/>
            <a:ext cx="3177540" cy="239617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7"/>
          <p:cNvSpPr txBox="1"/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5.3: Same! </a:t>
            </a:r>
            <a:endParaRPr/>
          </a:p>
        </p:txBody>
      </p:sp>
      <p:sp>
        <p:nvSpPr>
          <p:cNvPr id="187" name="Google Shape;187;p27"/>
          <p:cNvSpPr/>
          <p:nvPr/>
        </p:nvSpPr>
        <p:spPr>
          <a:xfrm>
            <a:off x="1167744" y="2657228"/>
            <a:ext cx="283507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finished solution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4891888" y="2632891"/>
            <a:ext cx="2408223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extension 1 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9" name="Google Shape;189;p27"/>
          <p:cNvSpPr/>
          <p:nvPr/>
        </p:nvSpPr>
        <p:spPr>
          <a:xfrm>
            <a:off x="8600291" y="2612573"/>
            <a:ext cx="235532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of extension 2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Graphical user interface, application, Word&#10;&#10;Description automatically generated" id="190" name="Google Shape;190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880" y="3026560"/>
            <a:ext cx="3098800" cy="233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89184" y="2985571"/>
            <a:ext cx="3177541" cy="23961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athletic game, basketball, sport&#10;&#10;Description automatically generated" id="192" name="Google Shape;192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833008" y="1810616"/>
            <a:ext cx="4515076" cy="44943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8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1</a:t>
            </a:r>
            <a:endParaRPr/>
          </a:p>
        </p:txBody>
      </p:sp>
      <p:sp>
        <p:nvSpPr>
          <p:cNvPr id="198" name="Google Shape;198;p28"/>
          <p:cNvSpPr/>
          <p:nvPr/>
        </p:nvSpPr>
        <p:spPr>
          <a:xfrm>
            <a:off x="2276423" y="2951946"/>
            <a:ext cx="7639154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many conditions need to be true for the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and 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operator to return True?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9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2</a:t>
            </a:r>
            <a:endParaRPr/>
          </a:p>
        </p:txBody>
      </p:sp>
      <p:sp>
        <p:nvSpPr>
          <p:cNvPr id="204" name="Google Shape;204;p29"/>
          <p:cNvSpPr/>
          <p:nvPr/>
        </p:nvSpPr>
        <p:spPr>
          <a:xfrm>
            <a:off x="2294099" y="2951946"/>
            <a:ext cx="7603802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many conditions need to be true for the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or 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operator to return True?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0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3</a:t>
            </a:r>
            <a:endParaRPr/>
          </a:p>
        </p:txBody>
      </p:sp>
      <p:sp>
        <p:nvSpPr>
          <p:cNvPr id="210" name="Google Shape;210;p30"/>
          <p:cNvSpPr/>
          <p:nvPr/>
        </p:nvSpPr>
        <p:spPr>
          <a:xfrm>
            <a:off x="1465044" y="3302040"/>
            <a:ext cx="3764502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the problem with the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operator in this program?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Timeline&#10;&#10;Description automatically generated" id="211" name="Google Shape;21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87775" y="2022211"/>
            <a:ext cx="6001432" cy="39573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1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4</a:t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3389049" y="1972917"/>
            <a:ext cx="541389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would this program output?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Timeline&#10;&#10;Description automatically generated" id="218" name="Google Shape;2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59796" y="2588605"/>
            <a:ext cx="5272405" cy="3990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5</a:t>
            </a:r>
            <a:endParaRPr/>
          </a:p>
        </p:txBody>
      </p:sp>
      <p:pic>
        <p:nvPicPr>
          <p:cNvPr descr="A picture containing graphical user interface&#10;&#10;Description automatically generated" id="224" name="Google Shape;224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89049" y="2558406"/>
            <a:ext cx="5272405" cy="4051114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2"/>
          <p:cNvSpPr/>
          <p:nvPr/>
        </p:nvSpPr>
        <p:spPr>
          <a:xfrm>
            <a:off x="3389049" y="1972917"/>
            <a:ext cx="541389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would this program output?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website&#10;&#10;Description automatically generated" id="230" name="Google Shape;23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59796" y="2588605"/>
            <a:ext cx="5550640" cy="398907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33"/>
          <p:cNvSpPr txBox="1"/>
          <p:nvPr>
            <p:ph type="title"/>
          </p:nvPr>
        </p:nvSpPr>
        <p:spPr>
          <a:xfrm>
            <a:off x="1608882" y="805698"/>
            <a:ext cx="9783417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6</a:t>
            </a:r>
            <a:endParaRPr/>
          </a:p>
        </p:txBody>
      </p:sp>
      <p:sp>
        <p:nvSpPr>
          <p:cNvPr id="232" name="Google Shape;232;p33"/>
          <p:cNvSpPr/>
          <p:nvPr/>
        </p:nvSpPr>
        <p:spPr>
          <a:xfrm>
            <a:off x="3389049" y="1972917"/>
            <a:ext cx="541389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would this program output?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4"/>
          <p:cNvSpPr txBox="1"/>
          <p:nvPr>
            <p:ph type="title"/>
          </p:nvPr>
        </p:nvSpPr>
        <p:spPr>
          <a:xfrm>
            <a:off x="160888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5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238" name="Google Shape;238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