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2239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gif"/><Relationship Id="rId4" Type="http://schemas.openxmlformats.org/officeDocument/2006/relationships/image" Target="../media/image12.gif"/><Relationship Id="rId5" Type="http://schemas.openxmlformats.org/officeDocument/2006/relationships/image" Target="../media/image15.gif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gif"/><Relationship Id="rId5" Type="http://schemas.openxmlformats.org/officeDocument/2006/relationships/image" Target="../media/image5.gif"/><Relationship Id="rId6" Type="http://schemas.openxmlformats.org/officeDocument/2006/relationships/image" Target="../media/image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098958" y="3010438"/>
            <a:ext cx="5931016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Programming in Scratch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210554" y="3916679"/>
            <a:ext cx="503196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Lesson 4: Selection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704323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0689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397948"/>
            <a:ext cx="6718578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selection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calculations using variables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the pathway of a program using selection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if-else statements to check a single condition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nested if-else statements to check multiple conditions.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3878" y="802881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do you already know?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13879" y="2237556"/>
            <a:ext cx="5174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4.1: Single condition selection 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1613878" y="3417243"/>
            <a:ext cx="45207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complete Interactive quiz 4.1.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8427" y="1811969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620078" y="8162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Programming constructs 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620078" y="2242686"/>
            <a:ext cx="753386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Previously, we have looked at sequencing and how this works in programming. Sequencing is one of three key programming constructs: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three concepts are crucial to allow us to solve problems, both in programming and day to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Today, we will focus on selection.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609825" y="81595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Selection 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608325" y="2274838"/>
            <a:ext cx="897534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check a condition and then do one thing if the condition is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another thing if the condition is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programming, this is done using </a:t>
            </a:r>
            <a:r>
              <a:rPr b="1" lang="en-GB" sz="2400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r>
              <a:rPr lang="en-GB" sz="2400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if-</a:t>
            </a:r>
            <a:r>
              <a:rPr b="1" lang="en-GB" sz="2400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else statements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 may have come across the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in spreadsheets, if-else statements work in exactly same way.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608567" y="81563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Selection </a:t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8567" y="2361164"/>
            <a:ext cx="3848928" cy="3549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5441589" y="3743231"/>
            <a:ext cx="5767096" cy="430887"/>
          </a:xfrm>
          <a:prstGeom prst="rect">
            <a:avLst/>
          </a:prstGeom>
          <a:noFill/>
          <a:ln cap="flat" cmpd="sng" w="952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CHECK: this is what is being checked.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5457495" y="4320833"/>
            <a:ext cx="5783002" cy="1323439"/>
          </a:xfrm>
          <a:prstGeom prst="rect">
            <a:avLst/>
          </a:prstGeom>
          <a:noFill/>
          <a:ln cap="flat" cmpd="sng" w="952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TRUE: This is what the program will do if the condition is True.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statements will only do something if the condition is </a:t>
            </a: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what about if it is </a:t>
            </a: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8"/>
          <p:cNvCxnSpPr>
            <a:stCxn id="115" idx="1"/>
          </p:cNvCxnSpPr>
          <p:nvPr/>
        </p:nvCxnSpPr>
        <p:spPr>
          <a:xfrm flipH="1">
            <a:off x="4015389" y="3958675"/>
            <a:ext cx="1426200" cy="362100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8" name="Google Shape;118;p18"/>
          <p:cNvCxnSpPr/>
          <p:nvPr/>
        </p:nvCxnSpPr>
        <p:spPr>
          <a:xfrm flipH="1">
            <a:off x="4422913" y="4645089"/>
            <a:ext cx="1034582" cy="344354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610" y="2638751"/>
            <a:ext cx="3390900" cy="35382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 Selection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1588610" y="1983498"/>
            <a:ext cx="7961872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an example of an if-else statement: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326260" y="3260591"/>
            <a:ext cx="4880113" cy="369332"/>
          </a:xfrm>
          <a:prstGeom prst="rect">
            <a:avLst/>
          </a:prstGeom>
          <a:noFill/>
          <a:ln cap="flat" cmpd="sng" w="952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CHECK: this is what is being checked.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5794514" y="4067014"/>
            <a:ext cx="4880113" cy="646331"/>
          </a:xfrm>
          <a:prstGeom prst="rect">
            <a:avLst/>
          </a:prstGeom>
          <a:noFill/>
          <a:ln cap="flat" cmpd="sng" w="952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TRUE: This is what the program will do if the condition is True.</a:t>
            </a:r>
            <a:endParaRPr/>
          </a:p>
        </p:txBody>
      </p:sp>
      <p:cxnSp>
        <p:nvCxnSpPr>
          <p:cNvPr id="128" name="Google Shape;128;p19"/>
          <p:cNvCxnSpPr>
            <a:stCxn id="126" idx="1"/>
          </p:cNvCxnSpPr>
          <p:nvPr/>
        </p:nvCxnSpPr>
        <p:spPr>
          <a:xfrm flipH="1">
            <a:off x="4199260" y="3445257"/>
            <a:ext cx="2127000" cy="975900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9" name="Google Shape;129;p19"/>
          <p:cNvCxnSpPr/>
          <p:nvPr/>
        </p:nvCxnSpPr>
        <p:spPr>
          <a:xfrm flipH="1">
            <a:off x="4081676" y="4386324"/>
            <a:ext cx="1709531" cy="471815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30" name="Google Shape;130;p19"/>
          <p:cNvSpPr txBox="1"/>
          <p:nvPr/>
        </p:nvSpPr>
        <p:spPr>
          <a:xfrm>
            <a:off x="4591878" y="4870892"/>
            <a:ext cx="7224282" cy="369332"/>
          </a:xfrm>
          <a:prstGeom prst="rect">
            <a:avLst/>
          </a:prstGeom>
          <a:noFill/>
          <a:ln cap="flat" cmpd="sng" w="952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FALSE: This is what the program will do if the condition is False.</a:t>
            </a:r>
            <a:endParaRPr/>
          </a:p>
        </p:txBody>
      </p:sp>
      <p:cxnSp>
        <p:nvCxnSpPr>
          <p:cNvPr id="131" name="Google Shape;131;p19"/>
          <p:cNvCxnSpPr/>
          <p:nvPr/>
        </p:nvCxnSpPr>
        <p:spPr>
          <a:xfrm flipH="1">
            <a:off x="3995530" y="5171816"/>
            <a:ext cx="596348" cy="45191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32" name="Google Shape;132;p19"/>
          <p:cNvSpPr/>
          <p:nvPr/>
        </p:nvSpPr>
        <p:spPr>
          <a:xfrm>
            <a:off x="4936441" y="5373008"/>
            <a:ext cx="66908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 statements will perform one action if the condition is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another if it is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They will not perform both actions.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4.1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4.2: Social media sign up 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8474" y="1877575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2465879" y="1877575"/>
            <a:ext cx="28350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finished solution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&#10;&#10;Description automatically generated" id="140" name="Google Shape;1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7205" y="2462670"/>
            <a:ext cx="4312418" cy="3419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1614695" y="862612"/>
            <a:ext cx="921917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4.3: Savings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1531855" y="3285899"/>
            <a:ext cx="3098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finished solution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768456" y="3253345"/>
            <a:ext cx="2408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extension 1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8100188" y="3271239"/>
            <a:ext cx="2408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extension 2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&#10;&#10;Description automatically generated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866" y="4052957"/>
            <a:ext cx="3098800" cy="23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 with medium confidence"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6600" y="4052957"/>
            <a:ext cx="3098800" cy="23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51" name="Google Shape;1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7334" y="4060688"/>
            <a:ext cx="3098800" cy="23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athletic game, basketball, sport&#10;&#10;Description automatically generated" id="152" name="Google Shape;1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7400" y="1696803"/>
            <a:ext cx="1650333" cy="161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Multiple condition selection </a:t>
            </a: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1589632" y="2332528"/>
            <a:ext cx="822029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seen how you can use selection to check one condition. But what if you need to check more than one condition?</a:t>
            </a:r>
            <a:endParaRPr/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nest if-else statements inside if-else statements, so that </a:t>
            </a:r>
            <a:r>
              <a:rPr b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conditions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checked.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Multiple condition selection 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1589632" y="2051638"/>
            <a:ext cx="65125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an example of how you can check multiple conditions: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632" y="2841574"/>
            <a:ext cx="2942611" cy="3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4770782" y="3196354"/>
            <a:ext cx="4025348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CONDITION CHECK: this is what is being checked first.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5400263" y="3837221"/>
            <a:ext cx="4134678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TRUE: This is what the program will do if the first condition is True.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5301498" y="4526020"/>
            <a:ext cx="5422824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CONDITION CHECK: This is what the program will do if the first condition is False. It will check a second condition.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5400262" y="5214819"/>
            <a:ext cx="5711685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TRUE: This is what the program will do if the first condition is False and the second condition is True.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5046392" y="5837697"/>
            <a:ext cx="6483623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IF FALSE: This is what the program will do if the first condition is False and the second condition is False.</a:t>
            </a:r>
            <a:endParaRPr/>
          </a:p>
        </p:txBody>
      </p:sp>
      <p:cxnSp>
        <p:nvCxnSpPr>
          <p:cNvPr id="171" name="Google Shape;171;p23"/>
          <p:cNvCxnSpPr/>
          <p:nvPr/>
        </p:nvCxnSpPr>
        <p:spPr>
          <a:xfrm flipH="1">
            <a:off x="3737113" y="3677904"/>
            <a:ext cx="1033669" cy="461087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2" name="Google Shape;172;p23"/>
          <p:cNvCxnSpPr/>
          <p:nvPr/>
        </p:nvCxnSpPr>
        <p:spPr>
          <a:xfrm flipH="1">
            <a:off x="3737113" y="4042117"/>
            <a:ext cx="1663150" cy="483618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3" name="Google Shape;173;p23"/>
          <p:cNvCxnSpPr/>
          <p:nvPr/>
        </p:nvCxnSpPr>
        <p:spPr>
          <a:xfrm flipH="1">
            <a:off x="4124739" y="4634546"/>
            <a:ext cx="1176759" cy="476249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4" name="Google Shape;174;p23"/>
          <p:cNvCxnSpPr/>
          <p:nvPr/>
        </p:nvCxnSpPr>
        <p:spPr>
          <a:xfrm flipH="1">
            <a:off x="4171121" y="5358429"/>
            <a:ext cx="1229142" cy="86180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5" name="Google Shape;175;p23"/>
          <p:cNvCxnSpPr>
            <a:stCxn id="170" idx="1"/>
          </p:cNvCxnSpPr>
          <p:nvPr/>
        </p:nvCxnSpPr>
        <p:spPr>
          <a:xfrm rot="10800000">
            <a:off x="3806792" y="5920085"/>
            <a:ext cx="1239600" cy="210000"/>
          </a:xfrm>
          <a:prstGeom prst="straightConnector1">
            <a:avLst/>
          </a:prstGeom>
          <a:noFill/>
          <a:ln cap="flat" cmpd="sng" w="9525">
            <a:solidFill>
              <a:srgbClr val="E30613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Multiple condition selection </a:t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1728780" y="1726643"/>
            <a:ext cx="962340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first condition is True, the second condition check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not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take place.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want more than one condition to be checked, you need separate if statements for each check.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these programs:</a:t>
            </a:r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8983" y="2649973"/>
            <a:ext cx="2745404" cy="33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/>
          <p:nvPr/>
        </p:nvSpPr>
        <p:spPr>
          <a:xfrm>
            <a:off x="1798983" y="5973417"/>
            <a:ext cx="47917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contains a nested if-else statement. If the first condition is True, the second condition will not be checked </a:t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9117" y="2649973"/>
            <a:ext cx="2745403" cy="33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/>
          <p:nvPr/>
        </p:nvSpPr>
        <p:spPr>
          <a:xfrm>
            <a:off x="6749118" y="5973417"/>
            <a:ext cx="40348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program contains three separate if statements. All three conditions will be checked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9667946" y="4517427"/>
            <a:ext cx="2232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4.2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4.4: Multiple condition selection </a:t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7886863" y="1516792"/>
            <a:ext cx="4174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do Interactive quiz 4.4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89" y="1446202"/>
            <a:ext cx="5013256" cy="541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8826" y="2382532"/>
            <a:ext cx="6468011" cy="322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1614695" y="862612"/>
            <a:ext cx="921917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4.5: Computer game level up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1531855" y="3285899"/>
            <a:ext cx="3098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finished solution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4768456" y="3253345"/>
            <a:ext cx="2408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extension 1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100188" y="3271239"/>
            <a:ext cx="2408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extension 2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picture containing athletic game, basketball, sport&#10;&#10;Description automatically generated" id="203" name="Google Shape;2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7400" y="1696803"/>
            <a:ext cx="1650333" cy="1616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204" name="Google Shape;2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072" y="4060688"/>
            <a:ext cx="3098800" cy="23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205" name="Google Shape;20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8456" y="4060688"/>
            <a:ext cx="3098800" cy="233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206" name="Google Shape;20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397" y="4052957"/>
            <a:ext cx="3098800" cy="23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160888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4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