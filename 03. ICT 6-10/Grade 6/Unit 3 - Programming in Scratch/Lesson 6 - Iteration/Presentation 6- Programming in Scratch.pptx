
<file path=[Content_Types].xml><?xml version="1.0" encoding="utf-8"?>
<Types xmlns="http://schemas.openxmlformats.org/package/2006/content-types">
  <Default ContentType="image/jpeg" Extension="jpg"/>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2.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2.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6" Type="http://schemas.openxmlformats.org/officeDocument/2006/relationships/slide" Target="slides/slide12.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
        <p:nvSpPr>
          <p:cNvPr id="11" name="Google Shape;11;p2"/>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 name="Google Shape;12;p2"/>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3" name="Shape 13"/>
        <p:cNvGrpSpPr/>
        <p:nvPr/>
      </p:nvGrpSpPr>
      <p:grpSpPr>
        <a:xfrm>
          <a:off x="0" y="0"/>
          <a:ext cx="0" cy="0"/>
          <a:chOff x="0" y="0"/>
          <a:chExt cx="0" cy="0"/>
        </a:xfrm>
      </p:grpSpPr>
      <p:sp>
        <p:nvSpPr>
          <p:cNvPr id="14" name="Google Shape;14;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 name="Google Shape;15;p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6" name="Google Shape;16;p3"/>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7" name="Google Shape;17;p3"/>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8" name="Google Shape;18;p3"/>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b="0" i="0" sz="1800" u="none" cap="none" strike="noStrike">
                <a:solidFill>
                  <a:schemeClr val="dk1"/>
                </a:solidFill>
                <a:latin typeface="Calibri"/>
                <a:ea typeface="Calibri"/>
                <a:cs typeface="Calibri"/>
                <a:sym typeface="Calibri"/>
              </a:defRPr>
            </a:lvl1pPr>
            <a:lvl2pPr indent="0" lvl="1" marL="0" marR="0" rtl="0" algn="l">
              <a:spcBef>
                <a:spcPts val="0"/>
              </a:spcBef>
              <a:buNone/>
              <a:defRPr b="0" i="0" sz="1800" u="none" cap="none" strike="noStrike">
                <a:solidFill>
                  <a:schemeClr val="dk1"/>
                </a:solidFill>
                <a:latin typeface="Calibri"/>
                <a:ea typeface="Calibri"/>
                <a:cs typeface="Calibri"/>
                <a:sym typeface="Calibri"/>
              </a:defRPr>
            </a:lvl2pPr>
            <a:lvl3pPr indent="0" lvl="2" marL="0" marR="0" rtl="0" algn="l">
              <a:spcBef>
                <a:spcPts val="0"/>
              </a:spcBef>
              <a:buNone/>
              <a:defRPr b="0" i="0" sz="1800" u="none" cap="none" strike="noStrike">
                <a:solidFill>
                  <a:schemeClr val="dk1"/>
                </a:solidFill>
                <a:latin typeface="Calibri"/>
                <a:ea typeface="Calibri"/>
                <a:cs typeface="Calibri"/>
                <a:sym typeface="Calibri"/>
              </a:defRPr>
            </a:lvl3pPr>
            <a:lvl4pPr indent="0" lvl="3" marL="0" marR="0" rtl="0" algn="l">
              <a:spcBef>
                <a:spcPts val="0"/>
              </a:spcBef>
              <a:buNone/>
              <a:defRPr b="0" i="0" sz="1800" u="none" cap="none" strike="noStrike">
                <a:solidFill>
                  <a:schemeClr val="dk1"/>
                </a:solidFill>
                <a:latin typeface="Calibri"/>
                <a:ea typeface="Calibri"/>
                <a:cs typeface="Calibri"/>
                <a:sym typeface="Calibri"/>
              </a:defRPr>
            </a:lvl4pPr>
            <a:lvl5pPr indent="0" lvl="4" marL="0" marR="0" rtl="0" algn="l">
              <a:spcBef>
                <a:spcPts val="0"/>
              </a:spcBef>
              <a:buNone/>
              <a:defRPr b="0" i="0" sz="1800" u="none" cap="none" strike="noStrike">
                <a:solidFill>
                  <a:schemeClr val="dk1"/>
                </a:solidFill>
                <a:latin typeface="Calibri"/>
                <a:ea typeface="Calibri"/>
                <a:cs typeface="Calibri"/>
                <a:sym typeface="Calibri"/>
              </a:defRPr>
            </a:lvl5pPr>
            <a:lvl6pPr indent="0" lvl="5" marL="0" marR="0" rtl="0" algn="l">
              <a:spcBef>
                <a:spcPts val="0"/>
              </a:spcBef>
              <a:buNone/>
              <a:defRPr b="0" i="0" sz="1800" u="none" cap="none" strike="noStrike">
                <a:solidFill>
                  <a:schemeClr val="dk1"/>
                </a:solidFill>
                <a:latin typeface="Calibri"/>
                <a:ea typeface="Calibri"/>
                <a:cs typeface="Calibri"/>
                <a:sym typeface="Calibri"/>
              </a:defRPr>
            </a:lvl6pPr>
            <a:lvl7pPr indent="0" lvl="6" marL="0" marR="0" rtl="0" algn="l">
              <a:spcBef>
                <a:spcPts val="0"/>
              </a:spcBef>
              <a:buNone/>
              <a:defRPr b="0" i="0" sz="1800" u="none" cap="none" strike="noStrike">
                <a:solidFill>
                  <a:schemeClr val="dk1"/>
                </a:solidFill>
                <a:latin typeface="Calibri"/>
                <a:ea typeface="Calibri"/>
                <a:cs typeface="Calibri"/>
                <a:sym typeface="Calibri"/>
              </a:defRPr>
            </a:lvl7pPr>
            <a:lvl8pPr indent="0" lvl="7" marL="0" marR="0" rtl="0" algn="l">
              <a:spcBef>
                <a:spcPts val="0"/>
              </a:spcBef>
              <a:buNone/>
              <a:defRPr b="0" i="0" sz="1800" u="none" cap="none" strike="noStrike">
                <a:solidFill>
                  <a:schemeClr val="dk1"/>
                </a:solidFill>
                <a:latin typeface="Calibri"/>
                <a:ea typeface="Calibri"/>
                <a:cs typeface="Calibri"/>
                <a:sym typeface="Calibri"/>
              </a:defRPr>
            </a:lvl8pPr>
            <a:lvl9pPr indent="0" lvl="8" marL="0" marR="0" rtl="0" algn="l">
              <a:spcBef>
                <a:spcPts val="0"/>
              </a:spcBef>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9" name="Shape 19"/>
        <p:cNvGrpSpPr/>
        <p:nvPr/>
      </p:nvGrpSpPr>
      <p:grpSpPr>
        <a:xfrm>
          <a:off x="0" y="0"/>
          <a:ext cx="0" cy="0"/>
          <a:chOff x="0" y="0"/>
          <a:chExt cx="0" cy="0"/>
        </a:xfrm>
      </p:grpSpPr>
      <p:sp>
        <p:nvSpPr>
          <p:cNvPr id="20" name="Google Shape;20;p4"/>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 name="Google Shape;21;p4"/>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22" name="Google Shape;22;p4"/>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3" name="Google Shape;23;p4"/>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4" name="Google Shape;24;p4"/>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5" name="Shape 25"/>
        <p:cNvGrpSpPr/>
        <p:nvPr/>
      </p:nvGrpSpPr>
      <p:grpSpPr>
        <a:xfrm>
          <a:off x="0" y="0"/>
          <a:ext cx="0" cy="0"/>
          <a:chOff x="0" y="0"/>
          <a:chExt cx="0" cy="0"/>
        </a:xfrm>
      </p:grpSpPr>
      <p:sp>
        <p:nvSpPr>
          <p:cNvPr id="26" name="Google Shape;26;p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 name="Google Shape;27;p5"/>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8" name="Google Shape;28;p5"/>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9" name="Google Shape;29;p5"/>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0" name="Google Shape;30;p5"/>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1" name="Google Shape;31;p5"/>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2" name="Shape 32"/>
        <p:cNvGrpSpPr/>
        <p:nvPr/>
      </p:nvGrpSpPr>
      <p:grpSpPr>
        <a:xfrm>
          <a:off x="0" y="0"/>
          <a:ext cx="0" cy="0"/>
          <a:chOff x="0" y="0"/>
          <a:chExt cx="0" cy="0"/>
        </a:xfrm>
      </p:grpSpPr>
      <p:sp>
        <p:nvSpPr>
          <p:cNvPr id="33" name="Google Shape;33;p6"/>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4" name="Google Shape;34;p6"/>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5" name="Google Shape;35;p6"/>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6" name="Google Shape;36;p6"/>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7" name="Google Shape;37;p6"/>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8" name="Google Shape;38;p6"/>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9" name="Google Shape;39;p6"/>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0" name="Google Shape;40;p6"/>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1" name="Shape 41"/>
        <p:cNvGrpSpPr/>
        <p:nvPr/>
      </p:nvGrpSpPr>
      <p:grpSpPr>
        <a:xfrm>
          <a:off x="0" y="0"/>
          <a:ext cx="0" cy="0"/>
          <a:chOff x="0" y="0"/>
          <a:chExt cx="0" cy="0"/>
        </a:xfrm>
      </p:grpSpPr>
      <p:sp>
        <p:nvSpPr>
          <p:cNvPr id="42" name="Google Shape;42;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 name="Google Shape;43;p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4" name="Google Shape;44;p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5" name="Google Shape;45;p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6" name="Shape 46"/>
        <p:cNvGrpSpPr/>
        <p:nvPr/>
      </p:nvGrpSpPr>
      <p:grpSpPr>
        <a:xfrm>
          <a:off x="0" y="0"/>
          <a:ext cx="0" cy="0"/>
          <a:chOff x="0" y="0"/>
          <a:chExt cx="0" cy="0"/>
        </a:xfrm>
      </p:grpSpPr>
      <p:sp>
        <p:nvSpPr>
          <p:cNvPr id="47" name="Google Shape;47;p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8" name="Google Shape;48;p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9" name="Google Shape;49;p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0" name="Shape 50"/>
        <p:cNvGrpSpPr/>
        <p:nvPr/>
      </p:nvGrpSpPr>
      <p:grpSpPr>
        <a:xfrm>
          <a:off x="0" y="0"/>
          <a:ext cx="0" cy="0"/>
          <a:chOff x="0" y="0"/>
          <a:chExt cx="0" cy="0"/>
        </a:xfrm>
      </p:grpSpPr>
      <p:sp>
        <p:nvSpPr>
          <p:cNvPr id="51" name="Google Shape;51;p9"/>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2" name="Google Shape;52;p9"/>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3" name="Google Shape;53;p9"/>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4" name="Google Shape;54;p9"/>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5" name="Google Shape;55;p9"/>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6" name="Google Shape;56;p9"/>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57" name="Shape 57"/>
        <p:cNvGrpSpPr/>
        <p:nvPr/>
      </p:nvGrpSpPr>
      <p:grpSpPr>
        <a:xfrm>
          <a:off x="0" y="0"/>
          <a:ext cx="0" cy="0"/>
          <a:chOff x="0" y="0"/>
          <a:chExt cx="0" cy="0"/>
        </a:xfrm>
      </p:grpSpPr>
      <p:sp>
        <p:nvSpPr>
          <p:cNvPr id="58" name="Google Shape;58;p1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9" name="Google Shape;59;p10"/>
          <p:cNvSpPr/>
          <p:nvPr>
            <p:ph idx="2" type="pic"/>
          </p:nvPr>
        </p:nvSpPr>
        <p:spPr>
          <a:xfrm>
            <a:off x="5183188" y="987425"/>
            <a:ext cx="6172200" cy="4873625"/>
          </a:xfrm>
          <a:prstGeom prst="rect">
            <a:avLst/>
          </a:prstGeom>
          <a:noFill/>
          <a:ln>
            <a:noFill/>
          </a:ln>
        </p:spPr>
      </p:sp>
      <p:sp>
        <p:nvSpPr>
          <p:cNvPr id="60" name="Google Shape;60;p10"/>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1" name="Google Shape;61;p10"/>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2" name="Google Shape;62;p10"/>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3" name="Google Shape;63;p10"/>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4" name="Shape 64"/>
        <p:cNvGrpSpPr/>
        <p:nvPr/>
      </p:nvGrpSpPr>
      <p:grpSpPr>
        <a:xfrm>
          <a:off x="0" y="0"/>
          <a:ext cx="0" cy="0"/>
          <a:chOff x="0" y="0"/>
          <a:chExt cx="0" cy="0"/>
        </a:xfrm>
      </p:grpSpPr>
      <p:sp>
        <p:nvSpPr>
          <p:cNvPr id="65" name="Google Shape;65;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6" name="Google Shape;66;p11"/>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7" name="Google Shape;67;p11"/>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8" name="Google Shape;68;p11"/>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9" name="Google Shape;69;p11"/>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0" name="Shape 70"/>
        <p:cNvGrpSpPr/>
        <p:nvPr/>
      </p:nvGrpSpPr>
      <p:grpSpPr>
        <a:xfrm>
          <a:off x="0" y="0"/>
          <a:ext cx="0" cy="0"/>
          <a:chOff x="0" y="0"/>
          <a:chExt cx="0" cy="0"/>
        </a:xfrm>
      </p:grpSpPr>
      <p:sp>
        <p:nvSpPr>
          <p:cNvPr id="71" name="Google Shape;71;p12"/>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2"/>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3" name="Google Shape;73;p12"/>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4" name="Google Shape;74;p12"/>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5" name="Google Shape;75;p12"/>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theme" Target="../theme/theme1.xml"/><Relationship Id="rId12" Type="http://schemas.openxmlformats.org/officeDocument/2006/relationships/slideLayout" Target="../slideLayouts/slideLayout11.xml"/><Relationship Id="rId1" Type="http://schemas.openxmlformats.org/officeDocument/2006/relationships/image" Target="../media/image1.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1"/>
          <p:cNvSpPr txBox="1"/>
          <p:nvPr/>
        </p:nvSpPr>
        <p:spPr>
          <a:xfrm>
            <a:off x="7547114" y="6380197"/>
            <a:ext cx="4114800" cy="365125"/>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b="0" i="0" lang="en-GB" sz="1200" u="none" cap="none" strike="noStrike">
                <a:solidFill>
                  <a:schemeClr val="dk1"/>
                </a:solidFill>
                <a:latin typeface="Calibri"/>
                <a:ea typeface="Calibri"/>
                <a:cs typeface="Calibri"/>
                <a:sym typeface="Calibri"/>
              </a:rPr>
              <a:t>© Hodder &amp; Stoughton Limited 2021</a:t>
            </a:r>
            <a:endParaRPr/>
          </a:p>
        </p:txBody>
      </p:sp>
      <p:pic>
        <p:nvPicPr>
          <p:cNvPr id="9" name="Google Shape;9;p1"/>
          <p:cNvPicPr preferRelativeResize="0"/>
          <p:nvPr/>
        </p:nvPicPr>
        <p:blipFill rotWithShape="1">
          <a:blip r:embed="rId1">
            <a:alphaModFix/>
          </a:blip>
          <a:srcRect b="0" l="0" r="0" t="0"/>
          <a:stretch/>
        </p:blipFill>
        <p:spPr>
          <a:xfrm>
            <a:off x="0" y="0"/>
            <a:ext cx="12238036" cy="1622391"/>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6.gif"/><Relationship Id="rId5" Type="http://schemas.openxmlformats.org/officeDocument/2006/relationships/image" Target="../media/image8.gi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12.gif"/><Relationship Id="rId5" Type="http://schemas.openxmlformats.org/officeDocument/2006/relationships/image" Target="../media/image7.gi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14.gif"/><Relationship Id="rId5" Type="http://schemas.openxmlformats.org/officeDocument/2006/relationships/image" Target="../media/image15.g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3"/>
          <p:cNvSpPr txBox="1"/>
          <p:nvPr>
            <p:ph type="ctrTitle"/>
          </p:nvPr>
        </p:nvSpPr>
        <p:spPr>
          <a:xfrm>
            <a:off x="1098958" y="3010438"/>
            <a:ext cx="5931016" cy="915850"/>
          </a:xfrm>
          <a:prstGeom prst="rect">
            <a:avLst/>
          </a:prstGeom>
          <a:noFill/>
          <a:ln>
            <a:noFill/>
          </a:ln>
        </p:spPr>
        <p:txBody>
          <a:bodyPr anchorCtr="0" anchor="b" bIns="45700" lIns="91425" spcFirstLastPara="1" rIns="91425" wrap="square" tIns="45700">
            <a:noAutofit/>
          </a:bodyPr>
          <a:lstStyle/>
          <a:p>
            <a:pPr indent="0" lvl="0" marL="0" rtl="0" algn="l">
              <a:lnSpc>
                <a:spcPct val="90000"/>
              </a:lnSpc>
              <a:spcBef>
                <a:spcPts val="0"/>
              </a:spcBef>
              <a:spcAft>
                <a:spcPts val="0"/>
              </a:spcAft>
              <a:buClr>
                <a:schemeClr val="dk1"/>
              </a:buClr>
              <a:buSzPts val="4800"/>
              <a:buFont typeface="Calibri"/>
              <a:buNone/>
            </a:pPr>
            <a:r>
              <a:rPr b="1" lang="en-GB" sz="4800"/>
              <a:t>Programming in Scratch</a:t>
            </a:r>
            <a:endParaRPr/>
          </a:p>
        </p:txBody>
      </p:sp>
      <p:sp>
        <p:nvSpPr>
          <p:cNvPr id="81" name="Google Shape;81;p13"/>
          <p:cNvSpPr/>
          <p:nvPr/>
        </p:nvSpPr>
        <p:spPr>
          <a:xfrm>
            <a:off x="1190676" y="3926618"/>
            <a:ext cx="5031964" cy="40011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b="1" i="0" lang="en-GB" sz="2000" u="none" cap="none" strike="noStrike">
                <a:solidFill>
                  <a:srgbClr val="E30613"/>
                </a:solidFill>
                <a:latin typeface="Calibri"/>
                <a:ea typeface="Calibri"/>
                <a:cs typeface="Calibri"/>
                <a:sym typeface="Calibri"/>
              </a:rPr>
              <a:t>Lesson 6: Iteration </a:t>
            </a:r>
            <a:endParaRPr b="1" i="0" sz="2000" u="none" cap="none" strike="noStrike">
              <a:solidFill>
                <a:srgbClr val="E30613"/>
              </a:solidFill>
              <a:latin typeface="Calibri"/>
              <a:ea typeface="Calibri"/>
              <a:cs typeface="Calibri"/>
              <a:sym typeface="Calibri"/>
            </a:endParaRPr>
          </a:p>
        </p:txBody>
      </p:sp>
      <p:pic>
        <p:nvPicPr>
          <p:cNvPr id="82" name="Google Shape;82;p13"/>
          <p:cNvPicPr preferRelativeResize="0"/>
          <p:nvPr/>
        </p:nvPicPr>
        <p:blipFill rotWithShape="1">
          <a:blip r:embed="rId3">
            <a:alphaModFix/>
          </a:blip>
          <a:srcRect b="0" l="0" r="0" t="0"/>
          <a:stretch/>
        </p:blipFill>
        <p:spPr>
          <a:xfrm>
            <a:off x="7305669" y="2704323"/>
            <a:ext cx="2937413" cy="2443928"/>
          </a:xfrm>
          <a:prstGeom prst="rect">
            <a:avLst/>
          </a:prstGeom>
          <a:noFill/>
          <a:ln>
            <a:noFill/>
          </a:ln>
          <a:effectLst>
            <a:outerShdw blurRad="50800" rotWithShape="0" algn="tl" dir="2700000" dist="38100">
              <a:srgbClr val="000000">
                <a:alpha val="4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sp>
        <p:nvSpPr>
          <p:cNvPr id="87" name="Google Shape;87;p14"/>
          <p:cNvSpPr txBox="1"/>
          <p:nvPr>
            <p:ph type="title"/>
          </p:nvPr>
        </p:nvSpPr>
        <p:spPr>
          <a:xfrm>
            <a:off x="1610413" y="806893"/>
            <a:ext cx="9634330" cy="766349"/>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Objectives</a:t>
            </a:r>
            <a:endParaRPr/>
          </a:p>
        </p:txBody>
      </p:sp>
      <p:sp>
        <p:nvSpPr>
          <p:cNvPr id="88" name="Google Shape;88;p14"/>
          <p:cNvSpPr/>
          <p:nvPr/>
        </p:nvSpPr>
        <p:spPr>
          <a:xfrm>
            <a:off x="1610413" y="2397948"/>
            <a:ext cx="7106204" cy="2062103"/>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3200">
                <a:solidFill>
                  <a:schemeClr val="dk1"/>
                </a:solidFill>
                <a:latin typeface="Calibri"/>
                <a:ea typeface="Calibri"/>
                <a:cs typeface="Calibri"/>
                <a:sym typeface="Calibri"/>
              </a:rPr>
              <a:t>In this lesson, you will learn how to use:</a:t>
            </a:r>
            <a:endParaRPr sz="3200">
              <a:solidFill>
                <a:schemeClr val="dk1"/>
              </a:solidFill>
              <a:latin typeface="Times New Roman"/>
              <a:ea typeface="Times New Roman"/>
              <a:cs typeface="Times New Roman"/>
              <a:sym typeface="Times New Roman"/>
            </a:endParaRPr>
          </a:p>
          <a:p>
            <a:pPr indent="-342900" lvl="0" marL="342900" marR="0" rtl="0" algn="l">
              <a:spcBef>
                <a:spcPts val="0"/>
              </a:spcBef>
              <a:spcAft>
                <a:spcPts val="0"/>
              </a:spcAft>
              <a:buClr>
                <a:schemeClr val="dk1"/>
              </a:buClr>
              <a:buSzPts val="2400"/>
              <a:buFont typeface="Arial"/>
              <a:buChar char="●"/>
            </a:pPr>
            <a:r>
              <a:rPr lang="en-GB" sz="2400">
                <a:solidFill>
                  <a:schemeClr val="dk1"/>
                </a:solidFill>
                <a:latin typeface="Calibri"/>
                <a:ea typeface="Calibri"/>
                <a:cs typeface="Calibri"/>
                <a:sym typeface="Calibri"/>
              </a:rPr>
              <a:t>define iteration</a:t>
            </a:r>
            <a:endParaRPr/>
          </a:p>
          <a:p>
            <a:pPr indent="-342900" lvl="0" marL="342900" marR="0" rtl="0" algn="l">
              <a:spcBef>
                <a:spcPts val="0"/>
              </a:spcBef>
              <a:spcAft>
                <a:spcPts val="0"/>
              </a:spcAft>
              <a:buClr>
                <a:schemeClr val="dk1"/>
              </a:buClr>
              <a:buSzPts val="2400"/>
              <a:buFont typeface="Arial"/>
              <a:buChar char="●"/>
            </a:pPr>
            <a:r>
              <a:rPr lang="en-GB" sz="2400">
                <a:solidFill>
                  <a:schemeClr val="dk1"/>
                </a:solidFill>
                <a:latin typeface="Calibri"/>
                <a:ea typeface="Calibri"/>
                <a:cs typeface="Calibri"/>
                <a:sym typeface="Calibri"/>
              </a:rPr>
              <a:t>identify patterns in programming code</a:t>
            </a:r>
            <a:endParaRPr/>
          </a:p>
          <a:p>
            <a:pPr indent="-342900" lvl="0" marL="342900" marR="0" rtl="0" algn="l">
              <a:spcBef>
                <a:spcPts val="0"/>
              </a:spcBef>
              <a:spcAft>
                <a:spcPts val="0"/>
              </a:spcAft>
              <a:buClr>
                <a:schemeClr val="dk1"/>
              </a:buClr>
              <a:buSzPts val="2400"/>
              <a:buFont typeface="Arial"/>
              <a:buChar char="●"/>
            </a:pPr>
            <a:r>
              <a:rPr lang="en-GB" sz="2400">
                <a:solidFill>
                  <a:schemeClr val="dk1"/>
                </a:solidFill>
                <a:latin typeface="Calibri"/>
                <a:ea typeface="Calibri"/>
                <a:cs typeface="Calibri"/>
                <a:sym typeface="Calibri"/>
              </a:rPr>
              <a:t>use iteration to make programs shorter and easier to code.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15"/>
          <p:cNvSpPr txBox="1"/>
          <p:nvPr>
            <p:ph type="title"/>
          </p:nvPr>
        </p:nvSpPr>
        <p:spPr>
          <a:xfrm>
            <a:off x="1613878" y="802881"/>
            <a:ext cx="9773478" cy="84586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Racing car </a:t>
            </a:r>
            <a:endParaRPr/>
          </a:p>
        </p:txBody>
      </p:sp>
      <p:sp>
        <p:nvSpPr>
          <p:cNvPr id="94" name="Google Shape;94;p15"/>
          <p:cNvSpPr/>
          <p:nvPr/>
        </p:nvSpPr>
        <p:spPr>
          <a:xfrm>
            <a:off x="1613878" y="2038773"/>
            <a:ext cx="5055278" cy="34778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000">
                <a:solidFill>
                  <a:schemeClr val="dk1"/>
                </a:solidFill>
                <a:latin typeface="Calibri"/>
                <a:ea typeface="Calibri"/>
                <a:cs typeface="Calibri"/>
                <a:sym typeface="Calibri"/>
              </a:rPr>
              <a:t>Do you remember this track from Lesson 1?</a:t>
            </a:r>
            <a:endParaRPr/>
          </a:p>
          <a:p>
            <a:pPr indent="0" lvl="0" marL="0" marR="0" rtl="0" algn="l">
              <a:spcBef>
                <a:spcPts val="0"/>
              </a:spcBef>
              <a:spcAft>
                <a:spcPts val="0"/>
              </a:spcAft>
              <a:buNone/>
            </a:pPr>
            <a:r>
              <a:t/>
            </a:r>
            <a:endParaRPr sz="2000">
              <a:solidFill>
                <a:schemeClr val="dk1"/>
              </a:solidFill>
              <a:latin typeface="Calibri"/>
              <a:ea typeface="Calibri"/>
              <a:cs typeface="Calibri"/>
              <a:sym typeface="Calibri"/>
            </a:endParaRPr>
          </a:p>
          <a:p>
            <a:pPr indent="0" lvl="0" marL="0" marR="0" rtl="0" algn="l">
              <a:spcBef>
                <a:spcPts val="0"/>
              </a:spcBef>
              <a:spcAft>
                <a:spcPts val="0"/>
              </a:spcAft>
              <a:buNone/>
            </a:pPr>
            <a:r>
              <a:rPr lang="en-GB" sz="2000">
                <a:solidFill>
                  <a:schemeClr val="dk1"/>
                </a:solidFill>
                <a:latin typeface="Calibri"/>
                <a:ea typeface="Calibri"/>
                <a:cs typeface="Calibri"/>
                <a:sym typeface="Calibri"/>
              </a:rPr>
              <a:t>Write a sequence of instructions that uses as few lines of code as possible to get the car from the start to the chequered flag. </a:t>
            </a:r>
            <a:endParaRPr/>
          </a:p>
          <a:p>
            <a:pPr indent="0" lvl="0" marL="0" marR="0" rtl="0" algn="l">
              <a:spcBef>
                <a:spcPts val="0"/>
              </a:spcBef>
              <a:spcAft>
                <a:spcPts val="0"/>
              </a:spcAft>
              <a:buNone/>
            </a:pPr>
            <a:r>
              <a:t/>
            </a:r>
            <a:endParaRPr sz="2000">
              <a:solidFill>
                <a:schemeClr val="dk1"/>
              </a:solidFill>
              <a:latin typeface="Calibri"/>
              <a:ea typeface="Calibri"/>
              <a:cs typeface="Calibri"/>
              <a:sym typeface="Calibri"/>
            </a:endParaRPr>
          </a:p>
          <a:p>
            <a:pPr indent="0" lvl="0" marL="0" marR="0" rtl="0" algn="l">
              <a:spcBef>
                <a:spcPts val="0"/>
              </a:spcBef>
              <a:spcAft>
                <a:spcPts val="0"/>
              </a:spcAft>
              <a:buNone/>
            </a:pPr>
            <a:r>
              <a:rPr lang="en-GB" sz="2000">
                <a:solidFill>
                  <a:schemeClr val="dk1"/>
                </a:solidFill>
                <a:latin typeface="Calibri"/>
                <a:ea typeface="Calibri"/>
                <a:cs typeface="Calibri"/>
                <a:sym typeface="Calibri"/>
              </a:rPr>
              <a:t>The only commands the car understands are:</a:t>
            </a:r>
            <a:endParaRPr/>
          </a:p>
          <a:p>
            <a:pPr indent="0" lvl="0" marL="0" marR="0" rtl="0" algn="l">
              <a:spcBef>
                <a:spcPts val="0"/>
              </a:spcBef>
              <a:spcAft>
                <a:spcPts val="0"/>
              </a:spcAft>
              <a:buNone/>
            </a:pPr>
            <a:r>
              <a:rPr lang="en-GB" sz="2000">
                <a:solidFill>
                  <a:schemeClr val="dk1"/>
                </a:solidFill>
                <a:latin typeface="Courier"/>
                <a:ea typeface="Courier"/>
                <a:cs typeface="Courier"/>
                <a:sym typeface="Courier"/>
              </a:rPr>
              <a:t>Move X square(s) forward </a:t>
            </a:r>
            <a:endParaRPr/>
          </a:p>
          <a:p>
            <a:pPr indent="0" lvl="0" marL="0" marR="0" rtl="0" algn="l">
              <a:spcBef>
                <a:spcPts val="0"/>
              </a:spcBef>
              <a:spcAft>
                <a:spcPts val="0"/>
              </a:spcAft>
              <a:buNone/>
            </a:pPr>
            <a:r>
              <a:rPr lang="en-GB" sz="2000">
                <a:solidFill>
                  <a:schemeClr val="dk1"/>
                </a:solidFill>
                <a:latin typeface="Courier"/>
                <a:ea typeface="Courier"/>
                <a:cs typeface="Courier"/>
                <a:sym typeface="Courier"/>
              </a:rPr>
              <a:t>Turn X degrees right</a:t>
            </a:r>
            <a:endParaRPr/>
          </a:p>
          <a:p>
            <a:pPr indent="0" lvl="0" marL="0" marR="0" rtl="0" algn="l">
              <a:spcBef>
                <a:spcPts val="0"/>
              </a:spcBef>
              <a:spcAft>
                <a:spcPts val="0"/>
              </a:spcAft>
              <a:buNone/>
            </a:pPr>
            <a:r>
              <a:rPr lang="en-GB" sz="2000">
                <a:solidFill>
                  <a:schemeClr val="dk1"/>
                </a:solidFill>
                <a:latin typeface="Courier"/>
                <a:ea typeface="Courier"/>
                <a:cs typeface="Courier"/>
                <a:sym typeface="Courier"/>
              </a:rPr>
              <a:t>Turn X degrees left </a:t>
            </a:r>
            <a:endParaRPr/>
          </a:p>
          <a:p>
            <a:pPr indent="0" lvl="0" marL="0" marR="0" rtl="0" algn="l">
              <a:spcBef>
                <a:spcPts val="0"/>
              </a:spcBef>
              <a:spcAft>
                <a:spcPts val="0"/>
              </a:spcAft>
              <a:buNone/>
            </a:pPr>
            <a:r>
              <a:rPr lang="en-GB" sz="2000">
                <a:solidFill>
                  <a:schemeClr val="dk1"/>
                </a:solidFill>
                <a:latin typeface="Courier"/>
                <a:ea typeface="Courier"/>
                <a:cs typeface="Courier"/>
                <a:sym typeface="Courier"/>
              </a:rPr>
              <a:t>Repeat X times</a:t>
            </a:r>
            <a:endParaRPr/>
          </a:p>
        </p:txBody>
      </p:sp>
      <p:pic>
        <p:nvPicPr>
          <p:cNvPr descr="Chart, treemap chart&#10;&#10;Description automatically generated" id="95" name="Google Shape;95;p15"/>
          <p:cNvPicPr preferRelativeResize="0"/>
          <p:nvPr/>
        </p:nvPicPr>
        <p:blipFill rotWithShape="1">
          <a:blip r:embed="rId3">
            <a:alphaModFix/>
          </a:blip>
          <a:srcRect b="0" l="0" r="0" t="0"/>
          <a:stretch/>
        </p:blipFill>
        <p:spPr>
          <a:xfrm>
            <a:off x="7294990" y="2038773"/>
            <a:ext cx="3283132" cy="4314973"/>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16"/>
          <p:cNvSpPr txBox="1"/>
          <p:nvPr>
            <p:ph type="title"/>
          </p:nvPr>
        </p:nvSpPr>
        <p:spPr>
          <a:xfrm>
            <a:off x="1620078" y="816265"/>
            <a:ext cx="9733721" cy="83592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Programming constructs  </a:t>
            </a:r>
            <a:endParaRPr/>
          </a:p>
        </p:txBody>
      </p:sp>
      <p:sp>
        <p:nvSpPr>
          <p:cNvPr id="101" name="Google Shape;101;p16"/>
          <p:cNvSpPr/>
          <p:nvPr/>
        </p:nvSpPr>
        <p:spPr>
          <a:xfrm>
            <a:off x="1620078" y="1964353"/>
            <a:ext cx="7623313" cy="4893647"/>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Previously, we have looked at sequencing and selection and how these work in programming. </a:t>
            </a:r>
            <a:endParaRPr/>
          </a:p>
          <a:p>
            <a:pPr indent="0" lvl="0" marL="0" marR="0" rtl="0" algn="l">
              <a:spcBef>
                <a:spcPts val="0"/>
              </a:spcBef>
              <a:spcAft>
                <a:spcPts val="0"/>
              </a:spcAft>
              <a:buNone/>
            </a:pPr>
            <a:r>
              <a:t/>
            </a:r>
            <a:endParaRPr sz="2400">
              <a:solidFill>
                <a:schemeClr val="dk1"/>
              </a:solidFill>
              <a:latin typeface="Calibri"/>
              <a:ea typeface="Calibri"/>
              <a:cs typeface="Calibri"/>
              <a:sym typeface="Calibri"/>
            </a:endParaRPr>
          </a:p>
          <a:p>
            <a:pPr indent="0" lvl="0" marL="0" marR="0" rtl="0" algn="l">
              <a:spcBef>
                <a:spcPts val="0"/>
              </a:spcBef>
              <a:spcAft>
                <a:spcPts val="0"/>
              </a:spcAft>
              <a:buNone/>
            </a:pPr>
            <a:r>
              <a:rPr lang="en-GB" sz="2400">
                <a:solidFill>
                  <a:schemeClr val="dk1"/>
                </a:solidFill>
                <a:latin typeface="Calibri"/>
                <a:ea typeface="Calibri"/>
                <a:cs typeface="Calibri"/>
                <a:sym typeface="Calibri"/>
              </a:rPr>
              <a:t>Sequencing and selection are two of three key programming constructs:</a:t>
            </a:r>
            <a:endParaRPr/>
          </a:p>
          <a:p>
            <a:pPr indent="-285750" lvl="0" marL="285750" marR="0" rtl="0" algn="l">
              <a:spcBef>
                <a:spcPts val="0"/>
              </a:spcBef>
              <a:spcAft>
                <a:spcPts val="0"/>
              </a:spcAft>
              <a:buClr>
                <a:schemeClr val="dk1"/>
              </a:buClr>
              <a:buSzPts val="2400"/>
              <a:buFont typeface="Arial"/>
              <a:buChar char="•"/>
            </a:pPr>
            <a:r>
              <a:rPr lang="en-GB" sz="2400">
                <a:solidFill>
                  <a:schemeClr val="dk1"/>
                </a:solidFill>
                <a:latin typeface="Calibri"/>
                <a:ea typeface="Calibri"/>
                <a:cs typeface="Calibri"/>
                <a:sym typeface="Calibri"/>
              </a:rPr>
              <a:t>Sequence</a:t>
            </a:r>
            <a:endParaRPr/>
          </a:p>
          <a:p>
            <a:pPr indent="-285750" lvl="0" marL="285750" marR="0" rtl="0" algn="l">
              <a:spcBef>
                <a:spcPts val="0"/>
              </a:spcBef>
              <a:spcAft>
                <a:spcPts val="0"/>
              </a:spcAft>
              <a:buClr>
                <a:schemeClr val="dk1"/>
              </a:buClr>
              <a:buSzPts val="2400"/>
              <a:buFont typeface="Arial"/>
              <a:buChar char="•"/>
            </a:pPr>
            <a:r>
              <a:rPr lang="en-GB" sz="2400">
                <a:solidFill>
                  <a:schemeClr val="dk1"/>
                </a:solidFill>
                <a:latin typeface="Calibri"/>
                <a:ea typeface="Calibri"/>
                <a:cs typeface="Calibri"/>
                <a:sym typeface="Calibri"/>
              </a:rPr>
              <a:t>Selection</a:t>
            </a:r>
            <a:endParaRPr/>
          </a:p>
          <a:p>
            <a:pPr indent="-285750" lvl="0" marL="285750" marR="0" rtl="0" algn="l">
              <a:spcBef>
                <a:spcPts val="0"/>
              </a:spcBef>
              <a:spcAft>
                <a:spcPts val="0"/>
              </a:spcAft>
              <a:buClr>
                <a:schemeClr val="dk1"/>
              </a:buClr>
              <a:buSzPts val="2400"/>
              <a:buFont typeface="Arial"/>
              <a:buChar char="•"/>
            </a:pPr>
            <a:r>
              <a:rPr lang="en-GB" sz="2400">
                <a:solidFill>
                  <a:schemeClr val="dk1"/>
                </a:solidFill>
                <a:latin typeface="Calibri"/>
                <a:ea typeface="Calibri"/>
                <a:cs typeface="Calibri"/>
                <a:sym typeface="Calibri"/>
              </a:rPr>
              <a:t>Iteration</a:t>
            </a:r>
            <a:endParaRPr/>
          </a:p>
          <a:p>
            <a:pPr indent="0" lvl="0" marL="0" marR="0" rtl="0" algn="l">
              <a:spcBef>
                <a:spcPts val="0"/>
              </a:spcBef>
              <a:spcAft>
                <a:spcPts val="0"/>
              </a:spcAft>
              <a:buNone/>
            </a:pPr>
            <a:r>
              <a:t/>
            </a:r>
            <a:endParaRPr sz="2400">
              <a:solidFill>
                <a:schemeClr val="dk1"/>
              </a:solidFill>
              <a:latin typeface="Calibri"/>
              <a:ea typeface="Calibri"/>
              <a:cs typeface="Calibri"/>
              <a:sym typeface="Calibri"/>
            </a:endParaRPr>
          </a:p>
          <a:p>
            <a:pPr indent="0" lvl="0" marL="0" marR="0" rtl="0" algn="l">
              <a:spcBef>
                <a:spcPts val="0"/>
              </a:spcBef>
              <a:spcAft>
                <a:spcPts val="0"/>
              </a:spcAft>
              <a:buNone/>
            </a:pPr>
            <a:r>
              <a:rPr lang="en-GB" sz="2400">
                <a:solidFill>
                  <a:schemeClr val="dk1"/>
                </a:solidFill>
                <a:latin typeface="Calibri"/>
                <a:ea typeface="Calibri"/>
                <a:cs typeface="Calibri"/>
                <a:sym typeface="Calibri"/>
              </a:rPr>
              <a:t>These three concepts are crucial to allow us to solve problems, both in programming and day to day.</a:t>
            </a:r>
            <a:endParaRPr/>
          </a:p>
          <a:p>
            <a:pPr indent="0" lvl="0" marL="0" marR="0" rtl="0" algn="l">
              <a:spcBef>
                <a:spcPts val="0"/>
              </a:spcBef>
              <a:spcAft>
                <a:spcPts val="0"/>
              </a:spcAft>
              <a:buNone/>
            </a:pPr>
            <a:r>
              <a:rPr lang="en-GB" sz="2400">
                <a:solidFill>
                  <a:schemeClr val="dk1"/>
                </a:solidFill>
                <a:latin typeface="Calibri"/>
                <a:ea typeface="Calibri"/>
                <a:cs typeface="Calibri"/>
                <a:sym typeface="Calibri"/>
              </a:rPr>
              <a:t>Today we will focus on iteration.</a:t>
            </a:r>
            <a:endParaRPr/>
          </a:p>
          <a:p>
            <a:pPr indent="-190500" lvl="0" marL="342900" marR="0" rtl="0" algn="l">
              <a:spcBef>
                <a:spcPts val="0"/>
              </a:spcBef>
              <a:spcAft>
                <a:spcPts val="0"/>
              </a:spcAft>
              <a:buClr>
                <a:schemeClr val="dk1"/>
              </a:buClr>
              <a:buSzPts val="2400"/>
              <a:buFont typeface="Arial"/>
              <a:buNone/>
            </a:pPr>
            <a:r>
              <a:t/>
            </a:r>
            <a:endParaRPr sz="24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17"/>
          <p:cNvSpPr txBox="1"/>
          <p:nvPr>
            <p:ph type="title"/>
          </p:nvPr>
        </p:nvSpPr>
        <p:spPr>
          <a:xfrm>
            <a:off x="158963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Iteration </a:t>
            </a:r>
            <a:endParaRPr/>
          </a:p>
        </p:txBody>
      </p:sp>
      <p:sp>
        <p:nvSpPr>
          <p:cNvPr id="107" name="Google Shape;107;p17"/>
          <p:cNvSpPr/>
          <p:nvPr/>
        </p:nvSpPr>
        <p:spPr>
          <a:xfrm>
            <a:off x="1589631" y="2413338"/>
            <a:ext cx="8110959" cy="34163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GB" sz="2400">
                <a:solidFill>
                  <a:srgbClr val="C0504D"/>
                </a:solidFill>
                <a:latin typeface="Calibri"/>
                <a:ea typeface="Calibri"/>
                <a:cs typeface="Calibri"/>
                <a:sym typeface="Calibri"/>
              </a:rPr>
              <a:t>Iteration</a:t>
            </a:r>
            <a:r>
              <a:rPr b="1" lang="en-GB" sz="2400">
                <a:solidFill>
                  <a:schemeClr val="dk1"/>
                </a:solidFill>
                <a:latin typeface="Calibri"/>
                <a:ea typeface="Calibri"/>
                <a:cs typeface="Calibri"/>
                <a:sym typeface="Calibri"/>
              </a:rPr>
              <a:t> </a:t>
            </a:r>
            <a:r>
              <a:rPr lang="en-GB" sz="2400">
                <a:solidFill>
                  <a:schemeClr val="dk1"/>
                </a:solidFill>
                <a:latin typeface="Calibri"/>
                <a:ea typeface="Calibri"/>
                <a:cs typeface="Calibri"/>
                <a:sym typeface="Calibri"/>
              </a:rPr>
              <a:t>is when a set of instructions is repeated. It is used when a program needs to complete the same process multiple times to make programs shorter and easier to code.</a:t>
            </a:r>
            <a:endParaRPr sz="24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2400">
              <a:solidFill>
                <a:schemeClr val="dk1"/>
              </a:solidFill>
              <a:latin typeface="Calibri"/>
              <a:ea typeface="Calibri"/>
              <a:cs typeface="Calibri"/>
              <a:sym typeface="Calibri"/>
            </a:endParaRPr>
          </a:p>
          <a:p>
            <a:pPr indent="0" lvl="0" marL="0" marR="0" rtl="0" algn="l">
              <a:spcBef>
                <a:spcPts val="0"/>
              </a:spcBef>
              <a:spcAft>
                <a:spcPts val="0"/>
              </a:spcAft>
              <a:buNone/>
            </a:pPr>
            <a:r>
              <a:rPr lang="en-GB" sz="2400">
                <a:solidFill>
                  <a:schemeClr val="dk1"/>
                </a:solidFill>
                <a:latin typeface="Calibri"/>
                <a:ea typeface="Calibri"/>
                <a:cs typeface="Calibri"/>
                <a:sym typeface="Calibri"/>
              </a:rPr>
              <a:t>Iteration can also be referred to as using a </a:t>
            </a:r>
            <a:r>
              <a:rPr b="1" lang="en-GB" sz="2400">
                <a:solidFill>
                  <a:srgbClr val="C0504D"/>
                </a:solidFill>
                <a:latin typeface="Calibri"/>
                <a:ea typeface="Calibri"/>
                <a:cs typeface="Calibri"/>
                <a:sym typeface="Calibri"/>
              </a:rPr>
              <a:t>loop</a:t>
            </a:r>
            <a:r>
              <a:rPr lang="en-GB" sz="2400">
                <a:solidFill>
                  <a:schemeClr val="dk1"/>
                </a:solidFill>
                <a:latin typeface="Calibri"/>
                <a:ea typeface="Calibri"/>
                <a:cs typeface="Calibri"/>
                <a:sym typeface="Calibri"/>
              </a:rPr>
              <a:t>.</a:t>
            </a:r>
            <a:endParaRPr/>
          </a:p>
          <a:p>
            <a:pPr indent="0" lvl="0" marL="0" marR="0" rtl="0" algn="l">
              <a:spcBef>
                <a:spcPts val="0"/>
              </a:spcBef>
              <a:spcAft>
                <a:spcPts val="0"/>
              </a:spcAft>
              <a:buNone/>
            </a:pPr>
            <a:r>
              <a:t/>
            </a:r>
            <a:endParaRPr sz="2400">
              <a:solidFill>
                <a:schemeClr val="dk1"/>
              </a:solidFill>
              <a:latin typeface="Calibri"/>
              <a:ea typeface="Calibri"/>
              <a:cs typeface="Calibri"/>
              <a:sym typeface="Calibri"/>
            </a:endParaRPr>
          </a:p>
          <a:p>
            <a:pPr indent="0" lvl="0" marL="0" marR="0" rtl="0" algn="l">
              <a:spcBef>
                <a:spcPts val="0"/>
              </a:spcBef>
              <a:spcAft>
                <a:spcPts val="0"/>
              </a:spcAft>
              <a:buNone/>
            </a:pPr>
            <a:r>
              <a:rPr lang="en-GB" sz="2400">
                <a:solidFill>
                  <a:schemeClr val="dk1"/>
                </a:solidFill>
                <a:latin typeface="Calibri"/>
                <a:ea typeface="Calibri"/>
                <a:cs typeface="Calibri"/>
                <a:sym typeface="Calibri"/>
              </a:rPr>
              <a:t>The most common form of iteration in Scratch is the ‘repeat’</a:t>
            </a:r>
            <a:r>
              <a:rPr b="1" lang="en-GB" sz="2400">
                <a:solidFill>
                  <a:schemeClr val="dk1"/>
                </a:solidFill>
                <a:latin typeface="Calibri"/>
                <a:ea typeface="Calibri"/>
                <a:cs typeface="Calibri"/>
                <a:sym typeface="Calibri"/>
              </a:rPr>
              <a:t> </a:t>
            </a:r>
            <a:r>
              <a:rPr lang="en-GB" sz="2400">
                <a:solidFill>
                  <a:schemeClr val="dk1"/>
                </a:solidFill>
                <a:latin typeface="Calibri"/>
                <a:ea typeface="Calibri"/>
                <a:cs typeface="Calibri"/>
                <a:sym typeface="Calibri"/>
              </a:rPr>
              <a:t>block. You set how many times you want something to repeat, or ask it to repeat until a condition is met.</a:t>
            </a:r>
            <a:endParaRPr sz="24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18"/>
          <p:cNvSpPr txBox="1"/>
          <p:nvPr>
            <p:ph type="title"/>
          </p:nvPr>
        </p:nvSpPr>
        <p:spPr>
          <a:xfrm>
            <a:off x="1609825" y="815951"/>
            <a:ext cx="9753599" cy="84586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Iteration </a:t>
            </a:r>
            <a:endParaRPr/>
          </a:p>
        </p:txBody>
      </p:sp>
      <p:sp>
        <p:nvSpPr>
          <p:cNvPr id="113" name="Google Shape;113;p18"/>
          <p:cNvSpPr/>
          <p:nvPr/>
        </p:nvSpPr>
        <p:spPr>
          <a:xfrm>
            <a:off x="1609825" y="1973180"/>
            <a:ext cx="9303340" cy="1015663"/>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000">
                <a:solidFill>
                  <a:schemeClr val="dk1"/>
                </a:solidFill>
                <a:latin typeface="Calibri"/>
                <a:ea typeface="Calibri"/>
                <a:cs typeface="Calibri"/>
                <a:sym typeface="Calibri"/>
              </a:rPr>
              <a:t>Here are two programs that ask the user to enter three scores. They add the scores and display the total. Both programs do exactly the same thing, but the one on the right makes use of iteration.</a:t>
            </a:r>
            <a:endParaRPr/>
          </a:p>
        </p:txBody>
      </p:sp>
      <p:pic>
        <p:nvPicPr>
          <p:cNvPr id="114" name="Google Shape;114;p18"/>
          <p:cNvPicPr preferRelativeResize="0"/>
          <p:nvPr/>
        </p:nvPicPr>
        <p:blipFill rotWithShape="1">
          <a:blip r:embed="rId3">
            <a:alphaModFix/>
          </a:blip>
          <a:srcRect b="0" l="0" r="0" t="0"/>
          <a:stretch/>
        </p:blipFill>
        <p:spPr>
          <a:xfrm>
            <a:off x="2287201" y="3125668"/>
            <a:ext cx="2423948" cy="3195619"/>
          </a:xfrm>
          <a:prstGeom prst="rect">
            <a:avLst/>
          </a:prstGeom>
          <a:noFill/>
          <a:ln>
            <a:noFill/>
          </a:ln>
        </p:spPr>
      </p:pic>
      <p:sp>
        <p:nvSpPr>
          <p:cNvPr id="115" name="Google Shape;115;p18"/>
          <p:cNvSpPr/>
          <p:nvPr/>
        </p:nvSpPr>
        <p:spPr>
          <a:xfrm>
            <a:off x="2035929" y="6311348"/>
            <a:ext cx="2675220" cy="276999"/>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i="1" lang="en-GB" sz="1200">
                <a:solidFill>
                  <a:schemeClr val="dk1"/>
                </a:solidFill>
                <a:latin typeface="Calibri"/>
                <a:ea typeface="Calibri"/>
                <a:cs typeface="Calibri"/>
                <a:sym typeface="Calibri"/>
              </a:rPr>
              <a:t>Doesn’t use iteration: 9 blocks required </a:t>
            </a:r>
            <a:endParaRPr i="1" sz="1200">
              <a:solidFill>
                <a:schemeClr val="dk1"/>
              </a:solidFill>
              <a:latin typeface="Calibri"/>
              <a:ea typeface="Calibri"/>
              <a:cs typeface="Calibri"/>
              <a:sym typeface="Calibri"/>
            </a:endParaRPr>
          </a:p>
        </p:txBody>
      </p:sp>
      <p:pic>
        <p:nvPicPr>
          <p:cNvPr id="116" name="Google Shape;116;p18"/>
          <p:cNvPicPr preferRelativeResize="0"/>
          <p:nvPr/>
        </p:nvPicPr>
        <p:blipFill rotWithShape="1">
          <a:blip r:embed="rId4">
            <a:alphaModFix/>
          </a:blip>
          <a:srcRect b="0" l="0" r="0" t="0"/>
          <a:stretch/>
        </p:blipFill>
        <p:spPr>
          <a:xfrm>
            <a:off x="5538995" y="3185414"/>
            <a:ext cx="2724150" cy="2806700"/>
          </a:xfrm>
          <a:prstGeom prst="rect">
            <a:avLst/>
          </a:prstGeom>
          <a:noFill/>
          <a:ln>
            <a:noFill/>
          </a:ln>
        </p:spPr>
      </p:pic>
      <p:sp>
        <p:nvSpPr>
          <p:cNvPr id="117" name="Google Shape;117;p18"/>
          <p:cNvSpPr/>
          <p:nvPr/>
        </p:nvSpPr>
        <p:spPr>
          <a:xfrm>
            <a:off x="5601823" y="6311347"/>
            <a:ext cx="2225289" cy="276999"/>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i="1" lang="en-GB" sz="1200">
                <a:solidFill>
                  <a:schemeClr val="dk1"/>
                </a:solidFill>
                <a:latin typeface="Calibri"/>
                <a:ea typeface="Calibri"/>
                <a:cs typeface="Calibri"/>
                <a:sym typeface="Calibri"/>
              </a:rPr>
              <a:t>Uses iteration: 6 blocks required </a:t>
            </a:r>
            <a:endParaRPr i="1" sz="1200">
              <a:solidFill>
                <a:schemeClr val="dk1"/>
              </a:solidFill>
              <a:latin typeface="Calibri"/>
              <a:ea typeface="Calibri"/>
              <a:cs typeface="Calibri"/>
              <a:sym typeface="Calibri"/>
            </a:endParaRPr>
          </a:p>
        </p:txBody>
      </p:sp>
      <p:sp>
        <p:nvSpPr>
          <p:cNvPr id="118" name="Google Shape;118;p18"/>
          <p:cNvSpPr/>
          <p:nvPr/>
        </p:nvSpPr>
        <p:spPr>
          <a:xfrm>
            <a:off x="8263145" y="3125668"/>
            <a:ext cx="2868681" cy="255454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000">
                <a:solidFill>
                  <a:schemeClr val="dk1"/>
                </a:solidFill>
                <a:latin typeface="Calibri"/>
                <a:ea typeface="Calibri"/>
                <a:cs typeface="Calibri"/>
                <a:sym typeface="Calibri"/>
              </a:rPr>
              <a:t>The repeated blocks are placed inside the ‘repeat’ block (inside the loop) to reduce the amount of code needed.</a:t>
            </a:r>
            <a:endParaRPr/>
          </a:p>
          <a:p>
            <a:pPr indent="0" lvl="0" marL="0" marR="0" rtl="0" algn="l">
              <a:spcBef>
                <a:spcPts val="0"/>
              </a:spcBef>
              <a:spcAft>
                <a:spcPts val="0"/>
              </a:spcAft>
              <a:buNone/>
            </a:pPr>
            <a:r>
              <a:t/>
            </a:r>
            <a:endParaRPr sz="20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2000">
              <a:solidFill>
                <a:schemeClr val="dk1"/>
              </a:solidFill>
              <a:latin typeface="Calibri"/>
              <a:ea typeface="Calibri"/>
              <a:cs typeface="Calibri"/>
              <a:sym typeface="Calibri"/>
            </a:endParaRPr>
          </a:p>
          <a:p>
            <a:pPr indent="0" lvl="0" marL="0" marR="0" rtl="0" algn="l">
              <a:spcBef>
                <a:spcPts val="0"/>
              </a:spcBef>
              <a:spcAft>
                <a:spcPts val="0"/>
              </a:spcAft>
              <a:buNone/>
            </a:pPr>
            <a:r>
              <a:rPr lang="en-GB" sz="2000">
                <a:solidFill>
                  <a:schemeClr val="dk1"/>
                </a:solidFill>
                <a:latin typeface="Calibri"/>
                <a:ea typeface="Calibri"/>
                <a:cs typeface="Calibri"/>
                <a:sym typeface="Calibri"/>
              </a:rPr>
              <a:t>Watch Video 6.1.</a:t>
            </a:r>
            <a:endParaRPr sz="20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19"/>
          <p:cNvSpPr txBox="1"/>
          <p:nvPr>
            <p:ph type="title"/>
          </p:nvPr>
        </p:nvSpPr>
        <p:spPr>
          <a:xfrm>
            <a:off x="158963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6.1: Octagon </a:t>
            </a:r>
            <a:endParaRPr/>
          </a:p>
        </p:txBody>
      </p:sp>
      <p:pic>
        <p:nvPicPr>
          <p:cNvPr descr="A picture containing athletic game, basketball, sport&#10;&#10;Description automatically generated" id="124" name="Google Shape;124;p19"/>
          <p:cNvPicPr preferRelativeResize="0"/>
          <p:nvPr/>
        </p:nvPicPr>
        <p:blipFill rotWithShape="1">
          <a:blip r:embed="rId3">
            <a:alphaModFix/>
          </a:blip>
          <a:srcRect b="0" l="0" r="0" t="0"/>
          <a:stretch/>
        </p:blipFill>
        <p:spPr>
          <a:xfrm>
            <a:off x="8529611" y="2409264"/>
            <a:ext cx="3335173" cy="3267760"/>
          </a:xfrm>
          <a:prstGeom prst="rect">
            <a:avLst/>
          </a:prstGeom>
          <a:noFill/>
          <a:ln>
            <a:noFill/>
          </a:ln>
        </p:spPr>
      </p:pic>
      <p:sp>
        <p:nvSpPr>
          <p:cNvPr id="125" name="Google Shape;125;p19"/>
          <p:cNvSpPr/>
          <p:nvPr/>
        </p:nvSpPr>
        <p:spPr>
          <a:xfrm>
            <a:off x="1582349" y="2670522"/>
            <a:ext cx="2835071" cy="3693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1800">
                <a:solidFill>
                  <a:schemeClr val="dk1"/>
                </a:solidFill>
                <a:latin typeface="Calibri"/>
                <a:ea typeface="Calibri"/>
                <a:cs typeface="Calibri"/>
                <a:sym typeface="Calibri"/>
              </a:rPr>
              <a:t>Example of finished solution</a:t>
            </a:r>
            <a:endParaRPr sz="1800">
              <a:solidFill>
                <a:schemeClr val="dk1"/>
              </a:solidFill>
              <a:latin typeface="Times New Roman"/>
              <a:ea typeface="Times New Roman"/>
              <a:cs typeface="Times New Roman"/>
              <a:sym typeface="Times New Roman"/>
            </a:endParaRPr>
          </a:p>
        </p:txBody>
      </p:sp>
      <p:sp>
        <p:nvSpPr>
          <p:cNvPr id="126" name="Google Shape;126;p19"/>
          <p:cNvSpPr/>
          <p:nvPr/>
        </p:nvSpPr>
        <p:spPr>
          <a:xfrm>
            <a:off x="5430811" y="2685694"/>
            <a:ext cx="2355325" cy="3693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1800">
                <a:solidFill>
                  <a:schemeClr val="dk1"/>
                </a:solidFill>
                <a:latin typeface="Calibri"/>
                <a:ea typeface="Calibri"/>
                <a:cs typeface="Calibri"/>
                <a:sym typeface="Calibri"/>
              </a:rPr>
              <a:t>Example of extension 1</a:t>
            </a:r>
            <a:endParaRPr sz="1800">
              <a:solidFill>
                <a:schemeClr val="dk1"/>
              </a:solidFill>
              <a:latin typeface="Times New Roman"/>
              <a:ea typeface="Times New Roman"/>
              <a:cs typeface="Times New Roman"/>
              <a:sym typeface="Times New Roman"/>
            </a:endParaRPr>
          </a:p>
        </p:txBody>
      </p:sp>
      <p:pic>
        <p:nvPicPr>
          <p:cNvPr descr="Graphical user interface&#10;&#10;Description automatically generated with low confidence" id="127" name="Google Shape;127;p19"/>
          <p:cNvPicPr preferRelativeResize="0"/>
          <p:nvPr/>
        </p:nvPicPr>
        <p:blipFill rotWithShape="1">
          <a:blip r:embed="rId4">
            <a:alphaModFix/>
          </a:blip>
          <a:srcRect b="0" l="0" r="0" t="0"/>
          <a:stretch/>
        </p:blipFill>
        <p:spPr>
          <a:xfrm>
            <a:off x="5059074" y="3039854"/>
            <a:ext cx="3098800" cy="2336800"/>
          </a:xfrm>
          <a:prstGeom prst="rect">
            <a:avLst/>
          </a:prstGeom>
          <a:noFill/>
          <a:ln>
            <a:noFill/>
          </a:ln>
        </p:spPr>
      </p:pic>
      <p:pic>
        <p:nvPicPr>
          <p:cNvPr descr="Graphical user interface&#10;&#10;Description automatically generated with medium confidence" id="128" name="Google Shape;128;p19"/>
          <p:cNvPicPr preferRelativeResize="0"/>
          <p:nvPr/>
        </p:nvPicPr>
        <p:blipFill rotWithShape="1">
          <a:blip r:embed="rId5">
            <a:alphaModFix/>
          </a:blip>
          <a:srcRect b="0" l="0" r="0" t="0"/>
          <a:stretch/>
        </p:blipFill>
        <p:spPr>
          <a:xfrm>
            <a:off x="1450485" y="3039854"/>
            <a:ext cx="3098800" cy="23368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0"/>
          <p:cNvSpPr txBox="1"/>
          <p:nvPr>
            <p:ph type="title"/>
          </p:nvPr>
        </p:nvSpPr>
        <p:spPr>
          <a:xfrm>
            <a:off x="158963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6.2: Squares </a:t>
            </a:r>
            <a:endParaRPr/>
          </a:p>
        </p:txBody>
      </p:sp>
      <p:pic>
        <p:nvPicPr>
          <p:cNvPr descr="A picture containing athletic game, basketball, sport&#10;&#10;Description automatically generated" id="134" name="Google Shape;134;p20"/>
          <p:cNvPicPr preferRelativeResize="0"/>
          <p:nvPr/>
        </p:nvPicPr>
        <p:blipFill rotWithShape="1">
          <a:blip r:embed="rId3">
            <a:alphaModFix/>
          </a:blip>
          <a:srcRect b="0" l="0" r="0" t="0"/>
          <a:stretch/>
        </p:blipFill>
        <p:spPr>
          <a:xfrm>
            <a:off x="8399394" y="2556613"/>
            <a:ext cx="3183399" cy="3168814"/>
          </a:xfrm>
          <a:prstGeom prst="rect">
            <a:avLst/>
          </a:prstGeom>
          <a:noFill/>
          <a:ln>
            <a:noFill/>
          </a:ln>
        </p:spPr>
      </p:pic>
      <p:sp>
        <p:nvSpPr>
          <p:cNvPr id="135" name="Google Shape;135;p20"/>
          <p:cNvSpPr/>
          <p:nvPr/>
        </p:nvSpPr>
        <p:spPr>
          <a:xfrm>
            <a:off x="1450929" y="2693908"/>
            <a:ext cx="2835071" cy="3693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1800">
                <a:solidFill>
                  <a:schemeClr val="dk1"/>
                </a:solidFill>
                <a:latin typeface="Calibri"/>
                <a:ea typeface="Calibri"/>
                <a:cs typeface="Calibri"/>
                <a:sym typeface="Calibri"/>
              </a:rPr>
              <a:t>Example of finished solution</a:t>
            </a:r>
            <a:endParaRPr sz="1800">
              <a:solidFill>
                <a:schemeClr val="dk1"/>
              </a:solidFill>
              <a:latin typeface="Times New Roman"/>
              <a:ea typeface="Times New Roman"/>
              <a:cs typeface="Times New Roman"/>
              <a:sym typeface="Times New Roman"/>
            </a:endParaRPr>
          </a:p>
        </p:txBody>
      </p:sp>
      <p:sp>
        <p:nvSpPr>
          <p:cNvPr id="136" name="Google Shape;136;p20"/>
          <p:cNvSpPr/>
          <p:nvPr/>
        </p:nvSpPr>
        <p:spPr>
          <a:xfrm>
            <a:off x="5131035" y="2693908"/>
            <a:ext cx="2408223" cy="3693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1800">
                <a:solidFill>
                  <a:schemeClr val="dk1"/>
                </a:solidFill>
                <a:latin typeface="Calibri"/>
                <a:ea typeface="Calibri"/>
                <a:cs typeface="Calibri"/>
                <a:sym typeface="Calibri"/>
              </a:rPr>
              <a:t>Example of extension 1 </a:t>
            </a:r>
            <a:endParaRPr sz="1800">
              <a:solidFill>
                <a:schemeClr val="dk1"/>
              </a:solidFill>
              <a:latin typeface="Times New Roman"/>
              <a:ea typeface="Times New Roman"/>
              <a:cs typeface="Times New Roman"/>
              <a:sym typeface="Times New Roman"/>
            </a:endParaRPr>
          </a:p>
        </p:txBody>
      </p:sp>
      <p:pic>
        <p:nvPicPr>
          <p:cNvPr descr="Graphical user interface, application&#10;&#10;Description automatically generated" id="137" name="Google Shape;137;p20"/>
          <p:cNvPicPr preferRelativeResize="0"/>
          <p:nvPr/>
        </p:nvPicPr>
        <p:blipFill rotWithShape="1">
          <a:blip r:embed="rId4">
            <a:alphaModFix/>
          </a:blip>
          <a:srcRect b="0" l="0" r="0" t="0"/>
          <a:stretch/>
        </p:blipFill>
        <p:spPr>
          <a:xfrm>
            <a:off x="1316944" y="3019666"/>
            <a:ext cx="3103043" cy="2340000"/>
          </a:xfrm>
          <a:prstGeom prst="rect">
            <a:avLst/>
          </a:prstGeom>
          <a:noFill/>
          <a:ln>
            <a:noFill/>
          </a:ln>
        </p:spPr>
      </p:pic>
      <p:pic>
        <p:nvPicPr>
          <p:cNvPr descr="Graphical user interface, application, Word&#10;&#10;Description automatically generated" id="138" name="Google Shape;138;p20"/>
          <p:cNvPicPr preferRelativeResize="0"/>
          <p:nvPr/>
        </p:nvPicPr>
        <p:blipFill rotWithShape="1">
          <a:blip r:embed="rId5">
            <a:alphaModFix/>
          </a:blip>
          <a:srcRect b="0" l="0" r="0" t="0"/>
          <a:stretch/>
        </p:blipFill>
        <p:spPr>
          <a:xfrm>
            <a:off x="4785747" y="3025427"/>
            <a:ext cx="3098800" cy="23368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1"/>
          <p:cNvSpPr txBox="1"/>
          <p:nvPr>
            <p:ph type="title"/>
          </p:nvPr>
        </p:nvSpPr>
        <p:spPr>
          <a:xfrm>
            <a:off x="1608567" y="815637"/>
            <a:ext cx="9793357" cy="855801"/>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Nested iteration and variables </a:t>
            </a:r>
            <a:endParaRPr/>
          </a:p>
        </p:txBody>
      </p:sp>
      <p:sp>
        <p:nvSpPr>
          <p:cNvPr id="144" name="Google Shape;144;p21"/>
          <p:cNvSpPr/>
          <p:nvPr/>
        </p:nvSpPr>
        <p:spPr>
          <a:xfrm>
            <a:off x="1608567" y="2261956"/>
            <a:ext cx="7932998" cy="461665"/>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Draw what you think this code draws when the program is run</a:t>
            </a:r>
            <a:r>
              <a:rPr lang="en-GB" sz="1800">
                <a:solidFill>
                  <a:schemeClr val="dk1"/>
                </a:solidFill>
                <a:latin typeface="Calibri"/>
                <a:ea typeface="Calibri"/>
                <a:cs typeface="Calibri"/>
                <a:sym typeface="Calibri"/>
              </a:rPr>
              <a:t>.</a:t>
            </a:r>
            <a:endParaRPr/>
          </a:p>
        </p:txBody>
      </p:sp>
      <p:pic>
        <p:nvPicPr>
          <p:cNvPr id="145" name="Google Shape;145;p21"/>
          <p:cNvPicPr preferRelativeResize="0"/>
          <p:nvPr/>
        </p:nvPicPr>
        <p:blipFill rotWithShape="1">
          <a:blip r:embed="rId3">
            <a:alphaModFix/>
          </a:blip>
          <a:srcRect b="0" l="0" r="0" t="0"/>
          <a:stretch/>
        </p:blipFill>
        <p:spPr>
          <a:xfrm>
            <a:off x="1807472" y="2723622"/>
            <a:ext cx="1929641" cy="3826266"/>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4944696" y="3314139"/>
            <a:ext cx="3306419" cy="3071191"/>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6"/>
                                        </p:tgtEl>
                                        <p:attrNameLst>
                                          <p:attrName>style.visibility</p:attrName>
                                        </p:attrNameLst>
                                      </p:cBhvr>
                                      <p:to>
                                        <p:strVal val="visible"/>
                                      </p:to>
                                    </p:set>
                                    <p:animEffect filter="fade" transition="in">
                                      <p:cBhvr>
                                        <p:cTn dur="800"/>
                                        <p:tgtEl>
                                          <p:spTgt spid="14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pic>
        <p:nvPicPr>
          <p:cNvPr id="151" name="Google Shape;151;p22"/>
          <p:cNvPicPr preferRelativeResize="0"/>
          <p:nvPr/>
        </p:nvPicPr>
        <p:blipFill rotWithShape="1">
          <a:blip r:embed="rId3">
            <a:alphaModFix/>
          </a:blip>
          <a:srcRect b="0" l="0" r="0" t="0"/>
          <a:stretch/>
        </p:blipFill>
        <p:spPr>
          <a:xfrm>
            <a:off x="1595022" y="2172492"/>
            <a:ext cx="2271299" cy="3363604"/>
          </a:xfrm>
          <a:prstGeom prst="rect">
            <a:avLst/>
          </a:prstGeom>
          <a:noFill/>
          <a:ln>
            <a:noFill/>
          </a:ln>
        </p:spPr>
      </p:pic>
      <p:sp>
        <p:nvSpPr>
          <p:cNvPr id="152" name="Google Shape;152;p22"/>
          <p:cNvSpPr txBox="1"/>
          <p:nvPr/>
        </p:nvSpPr>
        <p:spPr>
          <a:xfrm>
            <a:off x="4094238" y="1715936"/>
            <a:ext cx="2586949" cy="646331"/>
          </a:xfrm>
          <a:prstGeom prst="rect">
            <a:avLst/>
          </a:prstGeom>
          <a:noFill/>
          <a:ln cap="flat" cmpd="sng" w="9525">
            <a:solidFill>
              <a:srgbClr val="E30613"/>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spcBef>
                <a:spcPts val="0"/>
              </a:spcBef>
              <a:spcAft>
                <a:spcPts val="0"/>
              </a:spcAft>
              <a:buNone/>
            </a:pPr>
            <a:r>
              <a:rPr lang="en-GB" sz="1200">
                <a:solidFill>
                  <a:schemeClr val="dk1"/>
                </a:solidFill>
                <a:latin typeface="Calibri"/>
                <a:ea typeface="Calibri"/>
                <a:cs typeface="Calibri"/>
                <a:sym typeface="Calibri"/>
              </a:rPr>
              <a:t>The length of the line is set as a variable, </a:t>
            </a:r>
            <a:r>
              <a:rPr lang="en-GB" sz="1200">
                <a:solidFill>
                  <a:schemeClr val="dk1"/>
                </a:solidFill>
                <a:latin typeface="Courier"/>
                <a:ea typeface="Courier"/>
                <a:cs typeface="Courier"/>
                <a:sym typeface="Courier"/>
              </a:rPr>
              <a:t>size</a:t>
            </a:r>
            <a:r>
              <a:rPr lang="en-GB" sz="1200">
                <a:solidFill>
                  <a:schemeClr val="dk1"/>
                </a:solidFill>
                <a:latin typeface="Calibri"/>
                <a:ea typeface="Calibri"/>
                <a:cs typeface="Calibri"/>
                <a:sym typeface="Calibri"/>
              </a:rPr>
              <a:t>, before the outer loop starts. It is set at </a:t>
            </a:r>
            <a:r>
              <a:rPr lang="en-GB" sz="1200">
                <a:solidFill>
                  <a:schemeClr val="dk1"/>
                </a:solidFill>
                <a:latin typeface="Courier"/>
                <a:ea typeface="Courier"/>
                <a:cs typeface="Courier"/>
                <a:sym typeface="Courier"/>
              </a:rPr>
              <a:t>50.</a:t>
            </a:r>
            <a:endParaRPr/>
          </a:p>
        </p:txBody>
      </p:sp>
      <p:sp>
        <p:nvSpPr>
          <p:cNvPr id="153" name="Google Shape;153;p22"/>
          <p:cNvSpPr txBox="1"/>
          <p:nvPr/>
        </p:nvSpPr>
        <p:spPr>
          <a:xfrm>
            <a:off x="4093673" y="2450541"/>
            <a:ext cx="2588077" cy="461665"/>
          </a:xfrm>
          <a:prstGeom prst="rect">
            <a:avLst/>
          </a:prstGeom>
          <a:noFill/>
          <a:ln cap="flat" cmpd="sng" w="9525">
            <a:solidFill>
              <a:srgbClr val="E30613"/>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spcBef>
                <a:spcPts val="0"/>
              </a:spcBef>
              <a:spcAft>
                <a:spcPts val="0"/>
              </a:spcAft>
              <a:buNone/>
            </a:pPr>
            <a:r>
              <a:rPr lang="en-GB" sz="1200">
                <a:solidFill>
                  <a:schemeClr val="dk1"/>
                </a:solidFill>
                <a:latin typeface="Calibri"/>
                <a:ea typeface="Calibri"/>
                <a:cs typeface="Calibri"/>
                <a:sym typeface="Calibri"/>
              </a:rPr>
              <a:t>The outer loop is entered and it goes straight into the inner loop.</a:t>
            </a:r>
            <a:endParaRPr/>
          </a:p>
        </p:txBody>
      </p:sp>
      <p:sp>
        <p:nvSpPr>
          <p:cNvPr id="154" name="Google Shape;154;p22"/>
          <p:cNvSpPr txBox="1"/>
          <p:nvPr/>
        </p:nvSpPr>
        <p:spPr>
          <a:xfrm>
            <a:off x="4118136" y="3574794"/>
            <a:ext cx="3423567" cy="784830"/>
          </a:xfrm>
          <a:prstGeom prst="rect">
            <a:avLst/>
          </a:prstGeom>
          <a:noFill/>
          <a:ln cap="flat" cmpd="sng" w="9525">
            <a:solidFill>
              <a:srgbClr val="E30613"/>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spcBef>
                <a:spcPts val="0"/>
              </a:spcBef>
              <a:spcAft>
                <a:spcPts val="0"/>
              </a:spcAft>
              <a:buNone/>
            </a:pPr>
            <a:r>
              <a:rPr lang="en-GB" sz="1200">
                <a:solidFill>
                  <a:schemeClr val="dk1"/>
                </a:solidFill>
                <a:latin typeface="Calibri"/>
                <a:ea typeface="Calibri"/>
                <a:cs typeface="Calibri"/>
                <a:sym typeface="Calibri"/>
              </a:rPr>
              <a:t>The inner loop repeats the following 3 times: </a:t>
            </a:r>
            <a:endParaRPr/>
          </a:p>
          <a:p>
            <a:pPr indent="0" lvl="1" marL="457200" marR="0" rtl="0" algn="l">
              <a:spcBef>
                <a:spcPts val="0"/>
              </a:spcBef>
              <a:spcAft>
                <a:spcPts val="0"/>
              </a:spcAft>
              <a:buNone/>
            </a:pPr>
            <a:r>
              <a:rPr b="0" i="0" lang="en-GB" sz="1100" u="none" cap="none" strike="noStrike">
                <a:solidFill>
                  <a:schemeClr val="dk1"/>
                </a:solidFill>
                <a:latin typeface="Calibri"/>
                <a:ea typeface="Calibri"/>
                <a:cs typeface="Calibri"/>
                <a:sym typeface="Calibri"/>
              </a:rPr>
              <a:t>Waits 1 second.</a:t>
            </a:r>
            <a:endParaRPr/>
          </a:p>
          <a:p>
            <a:pPr indent="0" lvl="1" marL="457200" marR="0" rtl="0" algn="l">
              <a:spcBef>
                <a:spcPts val="0"/>
              </a:spcBef>
              <a:spcAft>
                <a:spcPts val="0"/>
              </a:spcAft>
              <a:buNone/>
            </a:pPr>
            <a:r>
              <a:rPr b="0" i="0" lang="en-GB" sz="1100" u="none" cap="none" strike="noStrike">
                <a:solidFill>
                  <a:schemeClr val="dk1"/>
                </a:solidFill>
                <a:latin typeface="Calibri"/>
                <a:ea typeface="Calibri"/>
                <a:cs typeface="Calibri"/>
                <a:sym typeface="Calibri"/>
              </a:rPr>
              <a:t>Moves </a:t>
            </a:r>
            <a:r>
              <a:rPr b="0" i="0" lang="en-GB" sz="1100" u="none" cap="none" strike="noStrike">
                <a:solidFill>
                  <a:schemeClr val="dk1"/>
                </a:solidFill>
                <a:latin typeface="Courier New"/>
                <a:ea typeface="Courier New"/>
                <a:cs typeface="Courier New"/>
                <a:sym typeface="Courier New"/>
              </a:rPr>
              <a:t>size</a:t>
            </a:r>
            <a:r>
              <a:rPr b="0" i="0" lang="en-GB" sz="1100" u="none" cap="none" strike="noStrike">
                <a:solidFill>
                  <a:schemeClr val="dk1"/>
                </a:solidFill>
                <a:latin typeface="Calibri"/>
                <a:ea typeface="Calibri"/>
                <a:cs typeface="Calibri"/>
                <a:sym typeface="Calibri"/>
              </a:rPr>
              <a:t> steps which, at the moment, is </a:t>
            </a:r>
            <a:r>
              <a:rPr b="0" i="0" lang="en-GB" sz="1100" u="none" cap="none" strike="noStrike">
                <a:solidFill>
                  <a:schemeClr val="dk1"/>
                </a:solidFill>
                <a:latin typeface="Courier New"/>
                <a:ea typeface="Courier New"/>
                <a:cs typeface="Courier New"/>
                <a:sym typeface="Courier New"/>
              </a:rPr>
              <a:t>50</a:t>
            </a:r>
            <a:r>
              <a:rPr b="0" i="0" lang="en-GB" sz="1100" u="none" cap="none" strike="noStrike">
                <a:solidFill>
                  <a:schemeClr val="dk1"/>
                </a:solidFill>
                <a:latin typeface="Calibri"/>
                <a:ea typeface="Calibri"/>
                <a:cs typeface="Calibri"/>
                <a:sym typeface="Calibri"/>
              </a:rPr>
              <a:t>.</a:t>
            </a:r>
            <a:endParaRPr/>
          </a:p>
          <a:p>
            <a:pPr indent="0" lvl="1" marL="457200" marR="0" rtl="0" algn="l">
              <a:spcBef>
                <a:spcPts val="0"/>
              </a:spcBef>
              <a:spcAft>
                <a:spcPts val="0"/>
              </a:spcAft>
              <a:buNone/>
            </a:pPr>
            <a:r>
              <a:rPr b="0" i="0" lang="en-GB" sz="1100" u="none" cap="none" strike="noStrike">
                <a:solidFill>
                  <a:schemeClr val="dk1"/>
                </a:solidFill>
                <a:latin typeface="Calibri"/>
                <a:ea typeface="Calibri"/>
                <a:cs typeface="Calibri"/>
                <a:sym typeface="Calibri"/>
              </a:rPr>
              <a:t>Turns </a:t>
            </a:r>
            <a:r>
              <a:rPr b="0" i="0" lang="en-GB" sz="1100" u="none" cap="none" strike="noStrike">
                <a:solidFill>
                  <a:schemeClr val="dk1"/>
                </a:solidFill>
                <a:latin typeface="Courier New"/>
                <a:ea typeface="Courier New"/>
                <a:cs typeface="Courier New"/>
                <a:sym typeface="Courier New"/>
              </a:rPr>
              <a:t>120</a:t>
            </a:r>
            <a:r>
              <a:rPr b="0" i="0" lang="en-GB" sz="1100" u="none" cap="none" strike="noStrike">
                <a:solidFill>
                  <a:schemeClr val="dk1"/>
                </a:solidFill>
                <a:latin typeface="Calibri"/>
                <a:ea typeface="Calibri"/>
                <a:cs typeface="Calibri"/>
                <a:sym typeface="Calibri"/>
              </a:rPr>
              <a:t> degrees left.</a:t>
            </a:r>
            <a:endParaRPr/>
          </a:p>
        </p:txBody>
      </p:sp>
      <p:sp>
        <p:nvSpPr>
          <p:cNvPr id="155" name="Google Shape;155;p22"/>
          <p:cNvSpPr txBox="1"/>
          <p:nvPr/>
        </p:nvSpPr>
        <p:spPr>
          <a:xfrm>
            <a:off x="4093110" y="4932993"/>
            <a:ext cx="2735588" cy="461665"/>
          </a:xfrm>
          <a:prstGeom prst="rect">
            <a:avLst/>
          </a:prstGeom>
          <a:noFill/>
          <a:ln cap="flat" cmpd="sng" w="9525">
            <a:solidFill>
              <a:srgbClr val="E30613"/>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spcBef>
                <a:spcPts val="0"/>
              </a:spcBef>
              <a:spcAft>
                <a:spcPts val="0"/>
              </a:spcAft>
              <a:buNone/>
            </a:pPr>
            <a:r>
              <a:rPr lang="en-GB" sz="1200">
                <a:solidFill>
                  <a:schemeClr val="dk1"/>
                </a:solidFill>
                <a:latin typeface="Calibri"/>
                <a:ea typeface="Calibri"/>
                <a:cs typeface="Calibri"/>
                <a:sym typeface="Calibri"/>
              </a:rPr>
              <a:t>The inner loop finishes, </a:t>
            </a:r>
            <a:r>
              <a:rPr lang="en-GB" sz="1200">
                <a:solidFill>
                  <a:schemeClr val="dk1"/>
                </a:solidFill>
                <a:latin typeface="Courier New"/>
                <a:ea typeface="Courier New"/>
                <a:cs typeface="Courier New"/>
                <a:sym typeface="Courier New"/>
              </a:rPr>
              <a:t>size</a:t>
            </a:r>
            <a:r>
              <a:rPr lang="en-GB" sz="1200">
                <a:solidFill>
                  <a:schemeClr val="dk1"/>
                </a:solidFill>
                <a:latin typeface="Calibri"/>
                <a:ea typeface="Calibri"/>
                <a:cs typeface="Calibri"/>
                <a:sym typeface="Calibri"/>
              </a:rPr>
              <a:t> is increased by </a:t>
            </a:r>
            <a:r>
              <a:rPr lang="en-GB" sz="1200">
                <a:solidFill>
                  <a:schemeClr val="dk1"/>
                </a:solidFill>
                <a:latin typeface="Courier New"/>
                <a:ea typeface="Courier New"/>
                <a:cs typeface="Courier New"/>
                <a:sym typeface="Courier New"/>
              </a:rPr>
              <a:t>50</a:t>
            </a:r>
            <a:r>
              <a:rPr lang="en-GB" sz="1200">
                <a:solidFill>
                  <a:schemeClr val="dk1"/>
                </a:solidFill>
                <a:latin typeface="Calibri"/>
                <a:ea typeface="Calibri"/>
                <a:cs typeface="Calibri"/>
                <a:sym typeface="Calibri"/>
              </a:rPr>
              <a:t>, from </a:t>
            </a:r>
            <a:r>
              <a:rPr lang="en-GB" sz="1200">
                <a:solidFill>
                  <a:schemeClr val="dk1"/>
                </a:solidFill>
                <a:latin typeface="Courier New"/>
                <a:ea typeface="Courier New"/>
                <a:cs typeface="Courier New"/>
                <a:sym typeface="Courier New"/>
              </a:rPr>
              <a:t>50</a:t>
            </a:r>
            <a:r>
              <a:rPr lang="en-GB" sz="1200">
                <a:solidFill>
                  <a:schemeClr val="dk1"/>
                </a:solidFill>
                <a:latin typeface="Calibri"/>
                <a:ea typeface="Calibri"/>
                <a:cs typeface="Calibri"/>
                <a:sym typeface="Calibri"/>
              </a:rPr>
              <a:t> to </a:t>
            </a:r>
            <a:r>
              <a:rPr lang="en-GB" sz="1200">
                <a:solidFill>
                  <a:schemeClr val="dk1"/>
                </a:solidFill>
                <a:latin typeface="Courier New"/>
                <a:ea typeface="Courier New"/>
                <a:cs typeface="Courier New"/>
                <a:sym typeface="Courier New"/>
              </a:rPr>
              <a:t>100</a:t>
            </a:r>
            <a:r>
              <a:rPr lang="en-GB" sz="1200">
                <a:solidFill>
                  <a:schemeClr val="dk1"/>
                </a:solidFill>
                <a:latin typeface="Calibri"/>
                <a:ea typeface="Calibri"/>
                <a:cs typeface="Calibri"/>
                <a:sym typeface="Calibri"/>
              </a:rPr>
              <a:t>.</a:t>
            </a:r>
            <a:endParaRPr/>
          </a:p>
        </p:txBody>
      </p:sp>
      <p:sp>
        <p:nvSpPr>
          <p:cNvPr id="156" name="Google Shape;156;p22"/>
          <p:cNvSpPr txBox="1"/>
          <p:nvPr/>
        </p:nvSpPr>
        <p:spPr>
          <a:xfrm>
            <a:off x="7913990" y="2783173"/>
            <a:ext cx="2902590" cy="830997"/>
          </a:xfrm>
          <a:prstGeom prst="rect">
            <a:avLst/>
          </a:prstGeom>
          <a:noFill/>
          <a:ln cap="flat" cmpd="sng" w="9525">
            <a:solidFill>
              <a:srgbClr val="E30613"/>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spcBef>
                <a:spcPts val="0"/>
              </a:spcBef>
              <a:spcAft>
                <a:spcPts val="0"/>
              </a:spcAft>
              <a:buNone/>
            </a:pPr>
            <a:r>
              <a:rPr lang="en-GB" sz="1200">
                <a:solidFill>
                  <a:schemeClr val="dk1"/>
                </a:solidFill>
                <a:latin typeface="Calibri"/>
                <a:ea typeface="Calibri"/>
                <a:cs typeface="Calibri"/>
                <a:sym typeface="Calibri"/>
              </a:rPr>
              <a:t>The program returns to the beginning of the outer loop and starts this for the second time. It goes straight into the inner loop for a second time.</a:t>
            </a:r>
            <a:endParaRPr/>
          </a:p>
        </p:txBody>
      </p:sp>
      <p:cxnSp>
        <p:nvCxnSpPr>
          <p:cNvPr id="157" name="Google Shape;157;p22"/>
          <p:cNvCxnSpPr>
            <a:stCxn id="152" idx="1"/>
          </p:cNvCxnSpPr>
          <p:nvPr/>
        </p:nvCxnSpPr>
        <p:spPr>
          <a:xfrm flipH="1">
            <a:off x="3374838" y="2039102"/>
            <a:ext cx="719400" cy="160800"/>
          </a:xfrm>
          <a:prstGeom prst="straightConnector1">
            <a:avLst/>
          </a:prstGeom>
          <a:noFill/>
          <a:ln cap="flat" cmpd="sng" w="9525">
            <a:solidFill>
              <a:schemeClr val="accent1"/>
            </a:solidFill>
            <a:prstDash val="solid"/>
            <a:miter lim="8000"/>
            <a:headEnd len="sm" w="sm" type="none"/>
            <a:tailEnd len="med" w="med" type="triangle"/>
          </a:ln>
        </p:spPr>
      </p:cxnSp>
      <p:cxnSp>
        <p:nvCxnSpPr>
          <p:cNvPr id="158" name="Google Shape;158;p22"/>
          <p:cNvCxnSpPr>
            <a:stCxn id="156" idx="1"/>
          </p:cNvCxnSpPr>
          <p:nvPr/>
        </p:nvCxnSpPr>
        <p:spPr>
          <a:xfrm rot="10800000">
            <a:off x="3065090" y="2740872"/>
            <a:ext cx="4848900" cy="457800"/>
          </a:xfrm>
          <a:prstGeom prst="straightConnector1">
            <a:avLst/>
          </a:prstGeom>
          <a:noFill/>
          <a:ln cap="flat" cmpd="sng" w="9525">
            <a:solidFill>
              <a:schemeClr val="accent1"/>
            </a:solidFill>
            <a:prstDash val="solid"/>
            <a:miter lim="8000"/>
            <a:headEnd len="sm" w="sm" type="none"/>
            <a:tailEnd len="med" w="med" type="triangle"/>
          </a:ln>
        </p:spPr>
      </p:cxnSp>
      <p:cxnSp>
        <p:nvCxnSpPr>
          <p:cNvPr id="159" name="Google Shape;159;p22"/>
          <p:cNvCxnSpPr>
            <a:stCxn id="155" idx="1"/>
          </p:cNvCxnSpPr>
          <p:nvPr/>
        </p:nvCxnSpPr>
        <p:spPr>
          <a:xfrm rot="10800000">
            <a:off x="3734610" y="4933126"/>
            <a:ext cx="358500" cy="230700"/>
          </a:xfrm>
          <a:prstGeom prst="straightConnector1">
            <a:avLst/>
          </a:prstGeom>
          <a:noFill/>
          <a:ln cap="flat" cmpd="sng" w="9525">
            <a:solidFill>
              <a:schemeClr val="accent1"/>
            </a:solidFill>
            <a:prstDash val="solid"/>
            <a:miter lim="8000"/>
            <a:headEnd len="sm" w="sm" type="none"/>
            <a:tailEnd len="med" w="med" type="triangle"/>
          </a:ln>
        </p:spPr>
      </p:cxnSp>
      <p:cxnSp>
        <p:nvCxnSpPr>
          <p:cNvPr id="160" name="Google Shape;160;p22"/>
          <p:cNvCxnSpPr>
            <a:stCxn id="154" idx="1"/>
          </p:cNvCxnSpPr>
          <p:nvPr/>
        </p:nvCxnSpPr>
        <p:spPr>
          <a:xfrm flipH="1">
            <a:off x="3767436" y="3967209"/>
            <a:ext cx="350700" cy="58200"/>
          </a:xfrm>
          <a:prstGeom prst="straightConnector1">
            <a:avLst/>
          </a:prstGeom>
          <a:noFill/>
          <a:ln cap="flat" cmpd="sng" w="9525">
            <a:solidFill>
              <a:schemeClr val="accent1"/>
            </a:solidFill>
            <a:prstDash val="solid"/>
            <a:miter lim="8000"/>
            <a:headEnd len="sm" w="sm" type="none"/>
            <a:tailEnd len="med" w="med" type="triangle"/>
          </a:ln>
        </p:spPr>
      </p:cxnSp>
      <p:cxnSp>
        <p:nvCxnSpPr>
          <p:cNvPr id="161" name="Google Shape;161;p22"/>
          <p:cNvCxnSpPr/>
          <p:nvPr/>
        </p:nvCxnSpPr>
        <p:spPr>
          <a:xfrm flipH="1">
            <a:off x="3045799" y="2640802"/>
            <a:ext cx="1039517" cy="6441"/>
          </a:xfrm>
          <a:prstGeom prst="straightConnector1">
            <a:avLst/>
          </a:prstGeom>
          <a:noFill/>
          <a:ln cap="flat" cmpd="sng" w="9525">
            <a:solidFill>
              <a:srgbClr val="FF0000"/>
            </a:solidFill>
            <a:prstDash val="solid"/>
            <a:miter lim="8000"/>
            <a:headEnd len="sm" w="sm" type="none"/>
            <a:tailEnd len="med" w="med" type="triangle"/>
          </a:ln>
        </p:spPr>
      </p:cxnSp>
      <p:sp>
        <p:nvSpPr>
          <p:cNvPr id="162" name="Google Shape;162;p22"/>
          <p:cNvSpPr txBox="1"/>
          <p:nvPr/>
        </p:nvSpPr>
        <p:spPr>
          <a:xfrm>
            <a:off x="7913990" y="4431003"/>
            <a:ext cx="2902590" cy="461665"/>
          </a:xfrm>
          <a:prstGeom prst="rect">
            <a:avLst/>
          </a:prstGeom>
          <a:noFill/>
          <a:ln cap="flat" cmpd="sng" w="9525">
            <a:solidFill>
              <a:srgbClr val="E30613"/>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spcBef>
                <a:spcPts val="0"/>
              </a:spcBef>
              <a:spcAft>
                <a:spcPts val="0"/>
              </a:spcAft>
              <a:buNone/>
            </a:pPr>
            <a:r>
              <a:rPr lang="en-GB" sz="1200">
                <a:solidFill>
                  <a:schemeClr val="dk1"/>
                </a:solidFill>
                <a:latin typeface="Calibri"/>
                <a:ea typeface="Calibri"/>
                <a:cs typeface="Calibri"/>
                <a:sym typeface="Calibri"/>
              </a:rPr>
              <a:t>The inner loop finishes, </a:t>
            </a:r>
            <a:r>
              <a:rPr lang="en-GB" sz="1200">
                <a:solidFill>
                  <a:schemeClr val="dk1"/>
                </a:solidFill>
                <a:latin typeface="Courier New"/>
                <a:ea typeface="Courier New"/>
                <a:cs typeface="Courier New"/>
                <a:sym typeface="Courier New"/>
              </a:rPr>
              <a:t>size</a:t>
            </a:r>
            <a:r>
              <a:rPr lang="en-GB" sz="1200">
                <a:solidFill>
                  <a:schemeClr val="dk1"/>
                </a:solidFill>
                <a:latin typeface="Calibri"/>
                <a:ea typeface="Calibri"/>
                <a:cs typeface="Calibri"/>
                <a:sym typeface="Calibri"/>
              </a:rPr>
              <a:t> is increased by </a:t>
            </a:r>
            <a:r>
              <a:rPr lang="en-GB" sz="1200">
                <a:solidFill>
                  <a:schemeClr val="dk1"/>
                </a:solidFill>
                <a:latin typeface="Courier New"/>
                <a:ea typeface="Courier New"/>
                <a:cs typeface="Courier New"/>
                <a:sym typeface="Courier New"/>
              </a:rPr>
              <a:t>50</a:t>
            </a:r>
            <a:r>
              <a:rPr lang="en-GB" sz="1200">
                <a:solidFill>
                  <a:schemeClr val="dk1"/>
                </a:solidFill>
                <a:latin typeface="Calibri"/>
                <a:ea typeface="Calibri"/>
                <a:cs typeface="Calibri"/>
                <a:sym typeface="Calibri"/>
              </a:rPr>
              <a:t> again, from </a:t>
            </a:r>
            <a:r>
              <a:rPr lang="en-GB" sz="1200">
                <a:solidFill>
                  <a:schemeClr val="dk1"/>
                </a:solidFill>
                <a:latin typeface="Courier New"/>
                <a:ea typeface="Courier New"/>
                <a:cs typeface="Courier New"/>
                <a:sym typeface="Courier New"/>
              </a:rPr>
              <a:t>100</a:t>
            </a:r>
            <a:r>
              <a:rPr lang="en-GB" sz="1200">
                <a:solidFill>
                  <a:schemeClr val="dk1"/>
                </a:solidFill>
                <a:latin typeface="Calibri"/>
                <a:ea typeface="Calibri"/>
                <a:cs typeface="Calibri"/>
                <a:sym typeface="Calibri"/>
              </a:rPr>
              <a:t> to </a:t>
            </a:r>
            <a:r>
              <a:rPr lang="en-GB" sz="1200">
                <a:solidFill>
                  <a:schemeClr val="dk1"/>
                </a:solidFill>
                <a:latin typeface="Courier New"/>
                <a:ea typeface="Courier New"/>
                <a:cs typeface="Courier New"/>
                <a:sym typeface="Courier New"/>
              </a:rPr>
              <a:t>150</a:t>
            </a:r>
            <a:r>
              <a:rPr lang="en-GB" sz="1200">
                <a:solidFill>
                  <a:schemeClr val="dk1"/>
                </a:solidFill>
                <a:latin typeface="Calibri"/>
                <a:ea typeface="Calibri"/>
                <a:cs typeface="Calibri"/>
                <a:sym typeface="Calibri"/>
              </a:rPr>
              <a:t>.</a:t>
            </a:r>
            <a:endParaRPr/>
          </a:p>
        </p:txBody>
      </p:sp>
      <p:sp>
        <p:nvSpPr>
          <p:cNvPr id="163" name="Google Shape;163;p22"/>
          <p:cNvSpPr txBox="1"/>
          <p:nvPr/>
        </p:nvSpPr>
        <p:spPr>
          <a:xfrm>
            <a:off x="7913990" y="5216141"/>
            <a:ext cx="2902590" cy="646331"/>
          </a:xfrm>
          <a:prstGeom prst="rect">
            <a:avLst/>
          </a:prstGeom>
          <a:noFill/>
          <a:ln cap="flat" cmpd="sng" w="9525">
            <a:solidFill>
              <a:srgbClr val="E30613"/>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spcBef>
                <a:spcPts val="0"/>
              </a:spcBef>
              <a:spcAft>
                <a:spcPts val="0"/>
              </a:spcAft>
              <a:buNone/>
            </a:pPr>
            <a:r>
              <a:rPr lang="en-GB" sz="1200">
                <a:solidFill>
                  <a:schemeClr val="dk1"/>
                </a:solidFill>
                <a:latin typeface="Calibri"/>
                <a:ea typeface="Calibri"/>
                <a:cs typeface="Calibri"/>
                <a:sym typeface="Calibri"/>
              </a:rPr>
              <a:t>The program returns to the beginning of the first loop and it is repeated for the third – and final – time ...</a:t>
            </a:r>
            <a:endParaRPr/>
          </a:p>
        </p:txBody>
      </p:sp>
      <p:cxnSp>
        <p:nvCxnSpPr>
          <p:cNvPr id="164" name="Google Shape;164;p22"/>
          <p:cNvCxnSpPr/>
          <p:nvPr/>
        </p:nvCxnSpPr>
        <p:spPr>
          <a:xfrm flipH="1">
            <a:off x="3734570" y="4809538"/>
            <a:ext cx="4179420" cy="247062"/>
          </a:xfrm>
          <a:prstGeom prst="straightConnector1">
            <a:avLst/>
          </a:prstGeom>
          <a:noFill/>
          <a:ln cap="flat" cmpd="sng" w="9525">
            <a:solidFill>
              <a:srgbClr val="FF0000"/>
            </a:solidFill>
            <a:prstDash val="solid"/>
            <a:miter lim="8000"/>
            <a:headEnd len="sm" w="sm" type="none"/>
            <a:tailEnd len="med" w="med" type="triangle"/>
          </a:ln>
        </p:spPr>
      </p:cxnSp>
      <p:cxnSp>
        <p:nvCxnSpPr>
          <p:cNvPr id="165" name="Google Shape;165;p22"/>
          <p:cNvCxnSpPr/>
          <p:nvPr/>
        </p:nvCxnSpPr>
        <p:spPr>
          <a:xfrm rot="10800000">
            <a:off x="3065003" y="2807598"/>
            <a:ext cx="4848987" cy="2526387"/>
          </a:xfrm>
          <a:prstGeom prst="straightConnector1">
            <a:avLst/>
          </a:prstGeom>
          <a:noFill/>
          <a:ln cap="flat" cmpd="sng" w="9525">
            <a:solidFill>
              <a:srgbClr val="00B050"/>
            </a:solidFill>
            <a:prstDash val="solid"/>
            <a:miter lim="8000"/>
            <a:headEnd len="sm" w="sm" type="none"/>
            <a:tailEnd len="med" w="med" type="triangle"/>
          </a:ln>
        </p:spPr>
      </p:cxnSp>
      <p:sp>
        <p:nvSpPr>
          <p:cNvPr id="166" name="Google Shape;166;p22"/>
          <p:cNvSpPr/>
          <p:nvPr/>
        </p:nvSpPr>
        <p:spPr>
          <a:xfrm>
            <a:off x="3274424" y="3208755"/>
            <a:ext cx="492902" cy="1369950"/>
          </a:xfrm>
          <a:prstGeom prst="rightBracket">
            <a:avLst>
              <a:gd fmla="val 8333" name="adj"/>
            </a:avLst>
          </a:prstGeom>
          <a:noFill/>
          <a:ln cap="flat" cmpd="sng" w="19050">
            <a:solidFill>
              <a:schemeClr val="accen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23"/>
          <p:cNvSpPr txBox="1"/>
          <p:nvPr>
            <p:ph type="title"/>
          </p:nvPr>
        </p:nvSpPr>
        <p:spPr>
          <a:xfrm>
            <a:off x="158963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6.3: Spirograph </a:t>
            </a:r>
            <a:endParaRPr/>
          </a:p>
        </p:txBody>
      </p:sp>
      <p:pic>
        <p:nvPicPr>
          <p:cNvPr descr="A picture containing athletic game, basketball, sport&#10;&#10;Description automatically generated" id="172" name="Google Shape;172;p23"/>
          <p:cNvPicPr preferRelativeResize="0"/>
          <p:nvPr/>
        </p:nvPicPr>
        <p:blipFill rotWithShape="1">
          <a:blip r:embed="rId3">
            <a:alphaModFix/>
          </a:blip>
          <a:srcRect b="0" l="0" r="0" t="0"/>
          <a:stretch/>
        </p:blipFill>
        <p:spPr>
          <a:xfrm>
            <a:off x="8764033" y="2970696"/>
            <a:ext cx="2863284" cy="2805409"/>
          </a:xfrm>
          <a:prstGeom prst="rect">
            <a:avLst/>
          </a:prstGeom>
          <a:noFill/>
          <a:ln>
            <a:noFill/>
          </a:ln>
        </p:spPr>
      </p:pic>
      <p:sp>
        <p:nvSpPr>
          <p:cNvPr id="173" name="Google Shape;173;p23"/>
          <p:cNvSpPr/>
          <p:nvPr/>
        </p:nvSpPr>
        <p:spPr>
          <a:xfrm>
            <a:off x="1850705" y="3000032"/>
            <a:ext cx="2835071" cy="3693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1800">
                <a:solidFill>
                  <a:schemeClr val="dk1"/>
                </a:solidFill>
                <a:latin typeface="Calibri"/>
                <a:ea typeface="Calibri"/>
                <a:cs typeface="Calibri"/>
                <a:sym typeface="Calibri"/>
              </a:rPr>
              <a:t>Example of finished solution</a:t>
            </a:r>
            <a:endParaRPr sz="1800">
              <a:solidFill>
                <a:schemeClr val="dk1"/>
              </a:solidFill>
              <a:latin typeface="Times New Roman"/>
              <a:ea typeface="Times New Roman"/>
              <a:cs typeface="Times New Roman"/>
              <a:sym typeface="Times New Roman"/>
            </a:endParaRPr>
          </a:p>
        </p:txBody>
      </p:sp>
      <p:sp>
        <p:nvSpPr>
          <p:cNvPr id="174" name="Google Shape;174;p23"/>
          <p:cNvSpPr/>
          <p:nvPr/>
        </p:nvSpPr>
        <p:spPr>
          <a:xfrm>
            <a:off x="5679107" y="3000032"/>
            <a:ext cx="2355325" cy="3693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1800">
                <a:solidFill>
                  <a:schemeClr val="dk1"/>
                </a:solidFill>
                <a:latin typeface="Calibri"/>
                <a:ea typeface="Calibri"/>
                <a:cs typeface="Calibri"/>
                <a:sym typeface="Calibri"/>
              </a:rPr>
              <a:t>Example of extension 1</a:t>
            </a:r>
            <a:endParaRPr sz="1800">
              <a:solidFill>
                <a:schemeClr val="dk1"/>
              </a:solidFill>
              <a:latin typeface="Times New Roman"/>
              <a:ea typeface="Times New Roman"/>
              <a:cs typeface="Times New Roman"/>
              <a:sym typeface="Times New Roman"/>
            </a:endParaRPr>
          </a:p>
        </p:txBody>
      </p:sp>
      <p:pic>
        <p:nvPicPr>
          <p:cNvPr descr="A picture containing graphical user interface&#10;&#10;Description automatically generated" id="175" name="Google Shape;175;p23"/>
          <p:cNvPicPr preferRelativeResize="0"/>
          <p:nvPr/>
        </p:nvPicPr>
        <p:blipFill rotWithShape="1">
          <a:blip r:embed="rId4">
            <a:alphaModFix/>
          </a:blip>
          <a:srcRect b="0" l="0" r="0" t="0"/>
          <a:stretch/>
        </p:blipFill>
        <p:spPr>
          <a:xfrm>
            <a:off x="1718841" y="3369364"/>
            <a:ext cx="3098800" cy="2712515"/>
          </a:xfrm>
          <a:prstGeom prst="rect">
            <a:avLst/>
          </a:prstGeom>
          <a:noFill/>
          <a:ln>
            <a:noFill/>
          </a:ln>
        </p:spPr>
      </p:pic>
      <p:pic>
        <p:nvPicPr>
          <p:cNvPr descr="A picture containing logo&#10;&#10;Description automatically generated" id="176" name="Google Shape;176;p23"/>
          <p:cNvPicPr preferRelativeResize="0"/>
          <p:nvPr/>
        </p:nvPicPr>
        <p:blipFill rotWithShape="1">
          <a:blip r:embed="rId5">
            <a:alphaModFix/>
          </a:blip>
          <a:srcRect b="0" l="0" r="0" t="0"/>
          <a:stretch/>
        </p:blipFill>
        <p:spPr>
          <a:xfrm>
            <a:off x="5088835" y="3369365"/>
            <a:ext cx="3409122" cy="271251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3"/>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7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7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24"/>
          <p:cNvSpPr txBox="1"/>
          <p:nvPr>
            <p:ph type="title"/>
          </p:nvPr>
        </p:nvSpPr>
        <p:spPr>
          <a:xfrm>
            <a:off x="160888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Quiz 6</a:t>
            </a:r>
            <a:endParaRPr/>
          </a:p>
        </p:txBody>
      </p:sp>
      <p:pic>
        <p:nvPicPr>
          <p:cNvPr descr="A picture containing athletic game, basketball, sport&#10;&#10;Description automatically generated" id="182" name="Google Shape;182;p24"/>
          <p:cNvPicPr preferRelativeResize="0"/>
          <p:nvPr/>
        </p:nvPicPr>
        <p:blipFill rotWithShape="1">
          <a:blip r:embed="rId3">
            <a:alphaModFix/>
          </a:blip>
          <a:srcRect b="0" l="0" r="0" t="0"/>
          <a:stretch/>
        </p:blipFill>
        <p:spPr>
          <a:xfrm>
            <a:off x="3802216" y="1967027"/>
            <a:ext cx="4587567" cy="449484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