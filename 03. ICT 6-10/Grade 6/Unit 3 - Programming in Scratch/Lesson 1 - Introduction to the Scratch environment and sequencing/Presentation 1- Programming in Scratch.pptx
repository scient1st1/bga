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embeddedFontLst>
    <p:embeddedFont>
      <p:font typeface="Noto Sans Symbols"/>
      <p:regular r:id="rId21"/>
      <p:bold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font" Target="fonts/NotoSansSymbols-bold.fntdata"/><Relationship Id="rId10" Type="http://schemas.openxmlformats.org/officeDocument/2006/relationships/slide" Target="slides/slide6.xml"/><Relationship Id="rId21" Type="http://schemas.openxmlformats.org/officeDocument/2006/relationships/font" Target="fonts/NotoSansSymbols-regular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238036" cy="1622391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gif"/><Relationship Id="rId5" Type="http://schemas.openxmlformats.org/officeDocument/2006/relationships/image" Target="../media/image8.gif"/><Relationship Id="rId6" Type="http://schemas.openxmlformats.org/officeDocument/2006/relationships/image" Target="../media/image7.gif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1098958" y="3010438"/>
            <a:ext cx="5931016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Calibri"/>
              <a:buNone/>
            </a:pPr>
            <a:r>
              <a:rPr b="1" lang="en-GB" sz="4800"/>
              <a:t>Programming in Scratch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1998010" y="3926287"/>
            <a:ext cx="5031964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Lesson 1: Introduction to the Scratch environment and sequencing</a:t>
            </a:r>
            <a:endParaRPr b="1" i="0" sz="2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05669" y="2704323"/>
            <a:ext cx="2937413" cy="2443928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610413" y="806893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610413" y="2397948"/>
            <a:ext cx="6678822" cy="16927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 how to: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define sequencing</a:t>
            </a:r>
            <a:endParaRPr sz="2400">
              <a:solidFill>
                <a:schemeClr val="dk1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sequencing in a program</a:t>
            </a:r>
            <a:endParaRPr sz="2400">
              <a:solidFill>
                <a:schemeClr val="dk1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construct a working program to solve a problem.</a:t>
            </a:r>
            <a:endParaRPr sz="2400">
              <a:solidFill>
                <a:schemeClr val="dk1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613878" y="802881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Racing car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629961" y="2584876"/>
            <a:ext cx="5797575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Write a sequence of instructions that will get the car from the start to the chequered flag. The only commands the car understands are: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GB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Move X square(s) forward</a:t>
            </a:r>
            <a:endParaRPr sz="2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GB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Turn X degrees right</a:t>
            </a:r>
            <a:endParaRPr sz="2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GB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Turn X degrees left</a:t>
            </a:r>
            <a:endParaRPr sz="2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descr="Chart, treemap chart&#10;&#10;Description automatically generated" id="95" name="Google Shape;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7382" y="2142656"/>
            <a:ext cx="2976874" cy="39124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/>
          <p:nvPr>
            <p:ph type="title"/>
          </p:nvPr>
        </p:nvSpPr>
        <p:spPr>
          <a:xfrm>
            <a:off x="1620078" y="816265"/>
            <a:ext cx="9733721" cy="8359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Programming constructs</a:t>
            </a:r>
            <a:endParaRPr/>
          </a:p>
        </p:txBody>
      </p:sp>
      <p:sp>
        <p:nvSpPr>
          <p:cNvPr id="101" name="Google Shape;101;p16"/>
          <p:cNvSpPr/>
          <p:nvPr/>
        </p:nvSpPr>
        <p:spPr>
          <a:xfrm>
            <a:off x="1620078" y="2242686"/>
            <a:ext cx="8573076" cy="353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module, you will learn about the three </a:t>
            </a:r>
            <a:r>
              <a:rPr b="1" lang="en-GB" sz="2800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programming constructs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●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Sequence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●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Selection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●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Iteration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three concepts are crucial in allowing us to solve problems, when programming and in day-to-day life.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will start by focusing on sequencing.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 txBox="1"/>
          <p:nvPr>
            <p:ph type="title"/>
          </p:nvPr>
        </p:nvSpPr>
        <p:spPr>
          <a:xfrm>
            <a:off x="1609825" y="815951"/>
            <a:ext cx="9753599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Sequencing</a:t>
            </a: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1609825" y="1973180"/>
            <a:ext cx="8997215" cy="4093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Sequencing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when a set of instructions is carried out in order.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Sequencing is important because, if your instructions are in the wrong order, what you want to happen won’t happen!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wrong with the sequence of these instructions to find the average of three numbers?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Total = number 1 + number 2 + number 3</a:t>
            </a:r>
            <a:endParaRPr sz="2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Enter number 1</a:t>
            </a:r>
            <a:endParaRPr sz="2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Enter number 3</a:t>
            </a:r>
            <a:endParaRPr sz="2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Enter number 2</a:t>
            </a:r>
            <a:endParaRPr sz="2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Mean = Total / 3</a:t>
            </a:r>
            <a:endParaRPr sz="2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Display Mean</a:t>
            </a:r>
            <a:endParaRPr sz="2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8"/>
          <p:cNvSpPr txBox="1"/>
          <p:nvPr>
            <p:ph type="title"/>
          </p:nvPr>
        </p:nvSpPr>
        <p:spPr>
          <a:xfrm>
            <a:off x="1608567" y="815637"/>
            <a:ext cx="9793357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What is Scratch?</a:t>
            </a:r>
            <a:endParaRPr/>
          </a:p>
        </p:txBody>
      </p:sp>
      <p:sp>
        <p:nvSpPr>
          <p:cNvPr id="113" name="Google Shape;113;p18"/>
          <p:cNvSpPr/>
          <p:nvPr/>
        </p:nvSpPr>
        <p:spPr>
          <a:xfrm>
            <a:off x="1608567" y="1934678"/>
            <a:ext cx="5374853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●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Scratch is a program that allows you to piece blocks of code together to solve problems.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●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a block-based programming language because you do not need to type any code.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4" name="Google Shape;11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77831" y="2334788"/>
            <a:ext cx="3404008" cy="3923012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8"/>
          <p:cNvSpPr/>
          <p:nvPr/>
        </p:nvSpPr>
        <p:spPr>
          <a:xfrm>
            <a:off x="7377831" y="1934678"/>
            <a:ext cx="4233796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what blocks in Scratch look like: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6" name="Google Shape;116;p18"/>
          <p:cNvSpPr/>
          <p:nvPr/>
        </p:nvSpPr>
        <p:spPr>
          <a:xfrm>
            <a:off x="1608567" y="5280604"/>
            <a:ext cx="328295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 Video 5.1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1.1: Your first Scratch program</a:t>
            </a:r>
            <a:endParaRPr/>
          </a:p>
        </p:txBody>
      </p:sp>
      <p:pic>
        <p:nvPicPr>
          <p:cNvPr descr="A picture containing athletic game, basketball, sport&#10;&#10;Description automatically generated" id="122" name="Google Shape;12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76966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title"/>
          </p:nvPr>
        </p:nvSpPr>
        <p:spPr>
          <a:xfrm>
            <a:off x="1600200" y="815009"/>
            <a:ext cx="9753600" cy="785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The pen extension</a:t>
            </a:r>
            <a:endParaRPr/>
          </a:p>
        </p:txBody>
      </p:sp>
      <p:sp>
        <p:nvSpPr>
          <p:cNvPr id="128" name="Google Shape;128;p20"/>
          <p:cNvSpPr/>
          <p:nvPr/>
        </p:nvSpPr>
        <p:spPr>
          <a:xfrm>
            <a:off x="1600200" y="2468956"/>
            <a:ext cx="3578192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pen extension allows the cat to draw different shapes. You will be using sequencing to draw different shapes.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4934" y="2468956"/>
            <a:ext cx="6178656" cy="3171448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0"/>
          <p:cNvSpPr/>
          <p:nvPr/>
        </p:nvSpPr>
        <p:spPr>
          <a:xfrm>
            <a:off x="5822591" y="1803745"/>
            <a:ext cx="524541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are the blocks you will need to use: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1.2: Using the pen to draw shapes</a:t>
            </a:r>
            <a:endParaRPr/>
          </a:p>
        </p:txBody>
      </p:sp>
      <p:pic>
        <p:nvPicPr>
          <p:cNvPr descr="A picture containing athletic game, basketball, sport&#10;&#10;Description automatically generated" id="136" name="Google Shape;13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86905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1.3: Drawing a square</a:t>
            </a:r>
            <a:endParaRPr/>
          </a:p>
        </p:txBody>
      </p:sp>
      <p:pic>
        <p:nvPicPr>
          <p:cNvPr descr="A picture containing athletic game, basketball, sport&#10;&#10;Description automatically generated" id="142" name="Google Shape;14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1820" y="1746121"/>
            <a:ext cx="1148359" cy="1125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3303" y="3429000"/>
            <a:ext cx="3659592" cy="2759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66204" y="3429000"/>
            <a:ext cx="3659592" cy="27596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logo&#10;&#10;Description automatically generated" id="145" name="Google Shape;145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209105" y="3428999"/>
            <a:ext cx="3659592" cy="275969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2"/>
          <p:cNvSpPr/>
          <p:nvPr/>
        </p:nvSpPr>
        <p:spPr>
          <a:xfrm>
            <a:off x="732764" y="2955577"/>
            <a:ext cx="284066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of finished solution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2"/>
          <p:cNvSpPr/>
          <p:nvPr/>
        </p:nvSpPr>
        <p:spPr>
          <a:xfrm>
            <a:off x="4878359" y="2955577"/>
            <a:ext cx="243528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of extension 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2"/>
          <p:cNvSpPr/>
          <p:nvPr/>
        </p:nvSpPr>
        <p:spPr>
          <a:xfrm>
            <a:off x="8863658" y="2955577"/>
            <a:ext cx="235048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of extension 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/>
          <p:nvPr>
            <p:ph type="title"/>
          </p:nvPr>
        </p:nvSpPr>
        <p:spPr>
          <a:xfrm>
            <a:off x="1608882" y="805698"/>
            <a:ext cx="9783417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1</a:t>
            </a:r>
            <a:endParaRPr/>
          </a:p>
        </p:txBody>
      </p:sp>
      <p:sp>
        <p:nvSpPr>
          <p:cNvPr id="154" name="Google Shape;154;p23"/>
          <p:cNvSpPr/>
          <p:nvPr/>
        </p:nvSpPr>
        <p:spPr>
          <a:xfrm>
            <a:off x="3860420" y="3339548"/>
            <a:ext cx="4471160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sequencing?</a:t>
            </a:r>
            <a:endParaRPr sz="4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4"/>
          <p:cNvSpPr txBox="1"/>
          <p:nvPr>
            <p:ph type="title"/>
          </p:nvPr>
        </p:nvSpPr>
        <p:spPr>
          <a:xfrm>
            <a:off x="1608882" y="805698"/>
            <a:ext cx="9783417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2</a:t>
            </a:r>
            <a:endParaRPr/>
          </a:p>
        </p:txBody>
      </p:sp>
      <p:sp>
        <p:nvSpPr>
          <p:cNvPr id="160" name="Google Shape;160;p24"/>
          <p:cNvSpPr/>
          <p:nvPr/>
        </p:nvSpPr>
        <p:spPr>
          <a:xfrm>
            <a:off x="2841057" y="2951946"/>
            <a:ext cx="6509886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the name of the area in Scratch where you can view your program running?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/>
          <p:nvPr>
            <p:ph type="title"/>
          </p:nvPr>
        </p:nvSpPr>
        <p:spPr>
          <a:xfrm>
            <a:off x="1608882" y="805698"/>
            <a:ext cx="9783417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3</a:t>
            </a:r>
            <a:endParaRPr/>
          </a:p>
        </p:txBody>
      </p:sp>
      <p:sp>
        <p:nvSpPr>
          <p:cNvPr id="166" name="Google Shape;166;p25"/>
          <p:cNvSpPr/>
          <p:nvPr/>
        </p:nvSpPr>
        <p:spPr>
          <a:xfrm>
            <a:off x="1994033" y="2967335"/>
            <a:ext cx="8203933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which category would you find the block to change direction?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56384" y="3965714"/>
            <a:ext cx="3892838" cy="1324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 txBox="1"/>
          <p:nvPr>
            <p:ph type="title"/>
          </p:nvPr>
        </p:nvSpPr>
        <p:spPr>
          <a:xfrm>
            <a:off x="1608882" y="805698"/>
            <a:ext cx="9783417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4</a:t>
            </a:r>
            <a:endParaRPr/>
          </a:p>
        </p:txBody>
      </p:sp>
      <p:sp>
        <p:nvSpPr>
          <p:cNvPr id="173" name="Google Shape;173;p26"/>
          <p:cNvSpPr/>
          <p:nvPr/>
        </p:nvSpPr>
        <p:spPr>
          <a:xfrm>
            <a:off x="1457385" y="2114448"/>
            <a:ext cx="550042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would the following code do?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3431" y="2077815"/>
            <a:ext cx="1266825" cy="459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7"/>
          <p:cNvSpPr txBox="1"/>
          <p:nvPr>
            <p:ph type="title"/>
          </p:nvPr>
        </p:nvSpPr>
        <p:spPr>
          <a:xfrm>
            <a:off x="1608882" y="805698"/>
            <a:ext cx="9783417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5</a:t>
            </a:r>
            <a:endParaRPr/>
          </a:p>
        </p:txBody>
      </p:sp>
      <p:sp>
        <p:nvSpPr>
          <p:cNvPr id="180" name="Google Shape;180;p27"/>
          <p:cNvSpPr/>
          <p:nvPr/>
        </p:nvSpPr>
        <p:spPr>
          <a:xfrm>
            <a:off x="1572089" y="2086235"/>
            <a:ext cx="4599272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would the following code do?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7807" y="1712849"/>
            <a:ext cx="2418699" cy="4508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8"/>
          <p:cNvSpPr txBox="1"/>
          <p:nvPr>
            <p:ph type="title"/>
          </p:nvPr>
        </p:nvSpPr>
        <p:spPr>
          <a:xfrm>
            <a:off x="160888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1</a:t>
            </a:r>
            <a:endParaRPr/>
          </a:p>
        </p:txBody>
      </p:sp>
      <p:pic>
        <p:nvPicPr>
          <p:cNvPr descr="A picture containing athletic game, basketball, sport&#10;&#10;Description automatically generated" id="187" name="Google Shape;18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76966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