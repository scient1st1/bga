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pic>
        <p:nvPicPr>
          <p:cNvPr descr="Shape, rectangle&#10;&#10;Description automatically generated" id="13" name="Google Shape;13;p1"/>
          <p:cNvPicPr preferRelativeResize="0"/>
          <p:nvPr/>
        </p:nvPicPr>
        <p:blipFill rotWithShape="1">
          <a:blip r:embed="rId1">
            <a:alphaModFix/>
          </a:blip>
          <a:srcRect b="0" l="0" r="0" t="0"/>
          <a:stretch/>
        </p:blipFill>
        <p:spPr>
          <a:xfrm>
            <a:off x="0" y="0"/>
            <a:ext cx="12238036" cy="164781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1079541" y="3250362"/>
            <a:ext cx="6226128" cy="852692"/>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4800"/>
              <a:buFont typeface="Calibri"/>
              <a:buNone/>
            </a:pPr>
            <a:r>
              <a:rPr b="1" lang="en-GB" sz="4800"/>
              <a:t>Computing components</a:t>
            </a:r>
            <a:endParaRPr/>
          </a:p>
        </p:txBody>
      </p:sp>
      <p:sp>
        <p:nvSpPr>
          <p:cNvPr id="86" name="Google Shape;86;p13"/>
          <p:cNvSpPr/>
          <p:nvPr/>
        </p:nvSpPr>
        <p:spPr>
          <a:xfrm>
            <a:off x="3596961" y="4103054"/>
            <a:ext cx="3708708" cy="40011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GB" sz="2000" u="none" cap="none" strike="noStrike">
                <a:solidFill>
                  <a:srgbClr val="0089A7"/>
                </a:solidFill>
                <a:latin typeface="Calibri"/>
                <a:ea typeface="Calibri"/>
                <a:cs typeface="Calibri"/>
                <a:sym typeface="Calibri"/>
              </a:rPr>
              <a:t>Lesson 4: Storage devices/media </a:t>
            </a:r>
            <a:endParaRPr b="1" i="0" sz="2000" u="none" cap="none" strike="noStrike">
              <a:solidFill>
                <a:srgbClr val="0089A7"/>
              </a:solidFill>
              <a:latin typeface="Calibri"/>
              <a:ea typeface="Calibri"/>
              <a:cs typeface="Calibri"/>
              <a:sym typeface="Calibri"/>
            </a:endParaRPr>
          </a:p>
        </p:txBody>
      </p:sp>
      <p:pic>
        <p:nvPicPr>
          <p:cNvPr id="87" name="Google Shape;87;p13"/>
          <p:cNvPicPr preferRelativeResize="0"/>
          <p:nvPr/>
        </p:nvPicPr>
        <p:blipFill rotWithShape="1">
          <a:blip r:embed="rId3">
            <a:alphaModFix/>
          </a:blip>
          <a:srcRect b="0" l="0" r="0" t="0"/>
          <a:stretch/>
        </p:blipFill>
        <p:spPr>
          <a:xfrm>
            <a:off x="7305669" y="2885133"/>
            <a:ext cx="3115069" cy="2435843"/>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1593636" y="840449"/>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94" name="Google Shape;94;p14"/>
          <p:cNvSpPr/>
          <p:nvPr/>
        </p:nvSpPr>
        <p:spPr>
          <a:xfrm>
            <a:off x="1593636" y="2321940"/>
            <a:ext cx="7013651" cy="35394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In this lesson, you will learn how to:</a:t>
            </a:r>
            <a:endParaRPr sz="54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explain the difference between storage devices and storage media</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explain the difference between primary and secondary storage</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identify the different types of storage devices/media</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justify the most appropriate storage device/storage medium for a given scenario.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1588711" y="844826"/>
            <a:ext cx="9773478"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Storage devices and storage media</a:t>
            </a:r>
            <a:endParaRPr/>
          </a:p>
        </p:txBody>
      </p:sp>
      <p:sp>
        <p:nvSpPr>
          <p:cNvPr id="101" name="Google Shape;101;p15"/>
          <p:cNvSpPr/>
          <p:nvPr/>
        </p:nvSpPr>
        <p:spPr>
          <a:xfrm>
            <a:off x="1588710" y="2111881"/>
            <a:ext cx="9465370" cy="41549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A </a:t>
            </a:r>
            <a:r>
              <a:rPr b="1" lang="en-GB" sz="2400">
                <a:solidFill>
                  <a:srgbClr val="0089A7"/>
                </a:solidFill>
                <a:latin typeface="Calibri"/>
                <a:ea typeface="Calibri"/>
                <a:cs typeface="Calibri"/>
                <a:sym typeface="Calibri"/>
              </a:rPr>
              <a:t>storage device</a:t>
            </a:r>
            <a:r>
              <a:rPr lang="en-GB" sz="2400">
                <a:solidFill>
                  <a:srgbClr val="0089A7"/>
                </a:solidFill>
                <a:latin typeface="Calibri"/>
                <a:ea typeface="Calibri"/>
                <a:cs typeface="Calibri"/>
                <a:sym typeface="Calibri"/>
              </a:rPr>
              <a:t> </a:t>
            </a:r>
            <a:r>
              <a:rPr lang="en-GB" sz="2400">
                <a:solidFill>
                  <a:schemeClr val="dk1"/>
                </a:solidFill>
                <a:latin typeface="Calibri"/>
                <a:ea typeface="Calibri"/>
                <a:cs typeface="Calibri"/>
                <a:sym typeface="Calibri"/>
              </a:rPr>
              <a:t>is the hardware or computer peripheral that stores data or saves data to a storage medium.</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Magnetic hard drives, memory sticks and Solid State drives store data, while CD drives, DVD drives, Blu-ray Disc drives and tape drives save data to a storage medium.</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A </a:t>
            </a:r>
            <a:r>
              <a:rPr b="1" lang="en-GB" sz="2400">
                <a:solidFill>
                  <a:srgbClr val="0089A7"/>
                </a:solidFill>
                <a:latin typeface="Calibri"/>
                <a:ea typeface="Calibri"/>
                <a:cs typeface="Calibri"/>
                <a:sym typeface="Calibri"/>
              </a:rPr>
              <a:t>storage medium</a:t>
            </a:r>
            <a:r>
              <a:rPr lang="en-GB" sz="2400">
                <a:solidFill>
                  <a:srgbClr val="0089A7"/>
                </a:solidFill>
                <a:latin typeface="Calibri"/>
                <a:ea typeface="Calibri"/>
                <a:cs typeface="Calibri"/>
                <a:sym typeface="Calibri"/>
              </a:rPr>
              <a:t> </a:t>
            </a:r>
            <a:r>
              <a:rPr lang="en-GB" sz="2400">
                <a:solidFill>
                  <a:schemeClr val="dk1"/>
                </a:solidFill>
                <a:latin typeface="Calibri"/>
                <a:ea typeface="Calibri"/>
                <a:cs typeface="Calibri"/>
                <a:sym typeface="Calibri"/>
              </a:rPr>
              <a:t>is the thing that stores the data for a storage device that cannot store it itself.</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Examples of storage media include CDs, DVDs and Blu-ray Disc.</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Note that the plural of ‘medium’ is ‘media’, so one CD is an example of a storage medium and five CDs are an example of storage media.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1589632" y="796072"/>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4.1: Capacity of storage devices</a:t>
            </a:r>
            <a:endParaRPr/>
          </a:p>
        </p:txBody>
      </p:sp>
      <p:pic>
        <p:nvPicPr>
          <p:cNvPr descr="A picture containing athletic game, basketball, sport&#10;&#10;Description automatically generated" id="108" name="Google Shape;108;p16"/>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1594910" y="837987"/>
            <a:ext cx="10597089" cy="83592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Primary and secondary storage</a:t>
            </a:r>
            <a:endParaRPr/>
          </a:p>
        </p:txBody>
      </p:sp>
      <p:sp>
        <p:nvSpPr>
          <p:cNvPr id="115" name="Google Shape;115;p17"/>
          <p:cNvSpPr/>
          <p:nvPr/>
        </p:nvSpPr>
        <p:spPr>
          <a:xfrm>
            <a:off x="1594910" y="2061091"/>
            <a:ext cx="7807506" cy="37856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Computers use two types of storage.</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Calibri"/>
              <a:buAutoNum type="arabicPeriod"/>
            </a:pPr>
            <a:r>
              <a:rPr b="1" lang="en-GB" sz="2400">
                <a:solidFill>
                  <a:srgbClr val="0089A7"/>
                </a:solidFill>
                <a:latin typeface="Calibri"/>
                <a:ea typeface="Calibri"/>
                <a:cs typeface="Calibri"/>
                <a:sym typeface="Calibri"/>
              </a:rPr>
              <a:t>Primary storage</a:t>
            </a:r>
            <a:r>
              <a:rPr lang="en-GB" sz="2400">
                <a:solidFill>
                  <a:srgbClr val="0089A7"/>
                </a:solidFill>
                <a:latin typeface="Calibri"/>
                <a:ea typeface="Calibri"/>
                <a:cs typeface="Calibri"/>
                <a:sym typeface="Calibri"/>
              </a:rPr>
              <a:t> </a:t>
            </a:r>
            <a:r>
              <a:rPr lang="en-GB" sz="2400">
                <a:solidFill>
                  <a:schemeClr val="dk1"/>
                </a:solidFill>
                <a:latin typeface="Calibri"/>
                <a:ea typeface="Calibri"/>
                <a:cs typeface="Calibri"/>
                <a:sym typeface="Calibri"/>
              </a:rPr>
              <a:t>is accessed directly by the CPU and is normally the fastest memory in a computer. RAM is an example. Most of the time, primary storage will lose all the data it contains when the power is switched off.</a:t>
            </a:r>
            <a:endParaRPr/>
          </a:p>
          <a:p>
            <a:pPr indent="-457200" lvl="0" marL="457200" marR="0" rtl="0" algn="l">
              <a:spcBef>
                <a:spcPts val="0"/>
              </a:spcBef>
              <a:spcAft>
                <a:spcPts val="0"/>
              </a:spcAft>
              <a:buClr>
                <a:schemeClr val="dk1"/>
              </a:buClr>
              <a:buSzPts val="2400"/>
              <a:buFont typeface="Calibri"/>
              <a:buAutoNum type="arabicPeriod"/>
            </a:pPr>
            <a:r>
              <a:rPr b="1" lang="en-GB" sz="2400">
                <a:solidFill>
                  <a:srgbClr val="0089A7"/>
                </a:solidFill>
                <a:latin typeface="Calibri"/>
                <a:ea typeface="Calibri"/>
                <a:cs typeface="Calibri"/>
                <a:sym typeface="Calibri"/>
              </a:rPr>
              <a:t>Secondary storage</a:t>
            </a:r>
            <a:r>
              <a:rPr lang="en-GB" sz="2400">
                <a:solidFill>
                  <a:srgbClr val="0089A7"/>
                </a:solidFill>
                <a:latin typeface="Calibri"/>
                <a:ea typeface="Calibri"/>
                <a:cs typeface="Calibri"/>
                <a:sym typeface="Calibri"/>
              </a:rPr>
              <a:t> </a:t>
            </a:r>
            <a:r>
              <a:rPr lang="en-GB" sz="2400">
                <a:solidFill>
                  <a:schemeClr val="dk1"/>
                </a:solidFill>
                <a:latin typeface="Calibri"/>
                <a:ea typeface="Calibri"/>
                <a:cs typeface="Calibri"/>
                <a:sym typeface="Calibri"/>
              </a:rPr>
              <a:t>is not accessed constantly by the computer. It includes a computer’s hard disc and external storage. Secondary storage will not lost lose all the data it contains when the device is switched off.</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1594911" y="837987"/>
            <a:ext cx="10451680" cy="83592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Types of secondary storage</a:t>
            </a:r>
            <a:endParaRPr/>
          </a:p>
        </p:txBody>
      </p:sp>
      <p:sp>
        <p:nvSpPr>
          <p:cNvPr id="122" name="Google Shape;122;p18"/>
          <p:cNvSpPr/>
          <p:nvPr/>
        </p:nvSpPr>
        <p:spPr>
          <a:xfrm>
            <a:off x="1594911" y="2223227"/>
            <a:ext cx="8688198" cy="30469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There are three types of secondary storage.</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400"/>
              <a:buFont typeface="Calibri"/>
              <a:buAutoNum type="arabicPeriod"/>
            </a:pPr>
            <a:r>
              <a:rPr b="1" lang="en-GB" sz="2400">
                <a:solidFill>
                  <a:srgbClr val="0089A7"/>
                </a:solidFill>
                <a:latin typeface="Calibri"/>
                <a:ea typeface="Calibri"/>
                <a:cs typeface="Calibri"/>
                <a:sym typeface="Calibri"/>
              </a:rPr>
              <a:t>Optical storage </a:t>
            </a:r>
            <a:r>
              <a:rPr lang="en-GB" sz="2400">
                <a:solidFill>
                  <a:schemeClr val="dk1"/>
                </a:solidFill>
                <a:latin typeface="Calibri"/>
                <a:ea typeface="Calibri"/>
                <a:cs typeface="Calibri"/>
                <a:sym typeface="Calibri"/>
              </a:rPr>
              <a:t>uses a laser to write data to and read data from a disc.</a:t>
            </a:r>
            <a:endParaRPr sz="24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Calibri"/>
              <a:buAutoNum type="arabicPeriod"/>
            </a:pPr>
            <a:r>
              <a:rPr b="1" lang="en-GB" sz="2400">
                <a:solidFill>
                  <a:srgbClr val="0089A7"/>
                </a:solidFill>
                <a:latin typeface="Calibri"/>
                <a:ea typeface="Calibri"/>
                <a:cs typeface="Calibri"/>
                <a:sym typeface="Calibri"/>
              </a:rPr>
              <a:t>Magnetic storage </a:t>
            </a:r>
            <a:r>
              <a:rPr lang="en-GB" sz="2400">
                <a:solidFill>
                  <a:schemeClr val="dk1"/>
                </a:solidFill>
                <a:latin typeface="Calibri"/>
                <a:ea typeface="Calibri"/>
                <a:cs typeface="Calibri"/>
                <a:sym typeface="Calibri"/>
              </a:rPr>
              <a:t>uses magnetic platters and a write/read head to writes to and read from the disc.</a:t>
            </a:r>
            <a:endParaRPr sz="24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Calibri"/>
              <a:buAutoNum type="arabicPeriod"/>
            </a:pPr>
            <a:r>
              <a:rPr b="1" lang="en-GB" sz="2400">
                <a:solidFill>
                  <a:srgbClr val="0089A7"/>
                </a:solidFill>
                <a:latin typeface="Calibri"/>
                <a:ea typeface="Calibri"/>
                <a:cs typeface="Calibri"/>
                <a:sym typeface="Calibri"/>
              </a:rPr>
              <a:t>Solid State storage </a:t>
            </a:r>
            <a:r>
              <a:rPr lang="en-GB" sz="2400">
                <a:solidFill>
                  <a:schemeClr val="dk1"/>
                </a:solidFill>
                <a:latin typeface="Calibri"/>
                <a:ea typeface="Calibri"/>
                <a:cs typeface="Calibri"/>
                <a:sym typeface="Calibri"/>
              </a:rPr>
              <a:t>has no moving parts and provides very fast access to data.</a:t>
            </a:r>
            <a:endParaRPr sz="24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1589632" y="796072"/>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Font typeface="Calibri"/>
              <a:buNone/>
            </a:pPr>
            <a:r>
              <a:rPr b="1" lang="en-GB" sz="3200">
                <a:solidFill>
                  <a:schemeClr val="lt1"/>
                </a:solidFill>
              </a:rPr>
              <a:t>Activity 4.2: Types of secondary storage device/medium</a:t>
            </a:r>
            <a:endParaRPr/>
          </a:p>
        </p:txBody>
      </p:sp>
      <p:pic>
        <p:nvPicPr>
          <p:cNvPr descr="A picture containing athletic game, basketball, sport&#10;&#10;Description automatically generated" id="129" name="Google Shape;129;p19"/>
          <p:cNvPicPr preferRelativeResize="0"/>
          <p:nvPr/>
        </p:nvPicPr>
        <p:blipFill rotWithShape="1">
          <a:blip r:embed="rId3">
            <a:alphaModFix/>
          </a:blip>
          <a:srcRect b="0" l="0" r="0" t="0"/>
          <a:stretch/>
        </p:blipFill>
        <p:spPr>
          <a:xfrm>
            <a:off x="6014801" y="1866757"/>
            <a:ext cx="4587567" cy="4494840"/>
          </a:xfrm>
          <a:prstGeom prst="rect">
            <a:avLst/>
          </a:prstGeom>
          <a:noFill/>
          <a:ln>
            <a:noFill/>
          </a:ln>
        </p:spPr>
      </p:pic>
      <p:sp>
        <p:nvSpPr>
          <p:cNvPr id="130" name="Google Shape;130;p19"/>
          <p:cNvSpPr/>
          <p:nvPr/>
        </p:nvSpPr>
        <p:spPr>
          <a:xfrm>
            <a:off x="1337084" y="3852567"/>
            <a:ext cx="4537011"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Complete Interactive quiz 4.2</a:t>
            </a:r>
            <a:endParaRPr sz="2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1589632" y="796072"/>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Font typeface="Calibri"/>
              <a:buNone/>
            </a:pPr>
            <a:r>
              <a:rPr b="1" lang="en-GB" sz="3200">
                <a:solidFill>
                  <a:schemeClr val="lt1"/>
                </a:solidFill>
              </a:rPr>
              <a:t>Activity 4.3: Comparing secondary storage devices/media</a:t>
            </a:r>
            <a:endParaRPr/>
          </a:p>
        </p:txBody>
      </p:sp>
      <p:pic>
        <p:nvPicPr>
          <p:cNvPr descr="A picture containing athletic game, basketball, sport&#10;&#10;Description automatically generated" id="137" name="Google Shape;137;p20"/>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ph type="title"/>
          </p:nvPr>
        </p:nvSpPr>
        <p:spPr>
          <a:xfrm>
            <a:off x="1589632" y="796072"/>
            <a:ext cx="10516229" cy="86574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600"/>
              <a:buFont typeface="Calibri"/>
              <a:buNone/>
            </a:pPr>
            <a:r>
              <a:rPr b="1" lang="en-GB" sz="3600">
                <a:solidFill>
                  <a:schemeClr val="lt1"/>
                </a:solidFill>
              </a:rPr>
              <a:t>Activity 4.4: Choosing secondary storage devices/media </a:t>
            </a:r>
            <a:endParaRPr/>
          </a:p>
        </p:txBody>
      </p:sp>
      <p:pic>
        <p:nvPicPr>
          <p:cNvPr descr="A picture containing athletic game, basketball, sport&#10;&#10;Description automatically generated" id="144" name="Google Shape;144;p21"/>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1589632" y="796072"/>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Question 1</a:t>
            </a:r>
            <a:endParaRPr/>
          </a:p>
        </p:txBody>
      </p:sp>
      <p:sp>
        <p:nvSpPr>
          <p:cNvPr id="151" name="Google Shape;151;p22"/>
          <p:cNvSpPr/>
          <p:nvPr/>
        </p:nvSpPr>
        <p:spPr>
          <a:xfrm>
            <a:off x="1589632" y="2413338"/>
            <a:ext cx="7007716" cy="35394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Is each of the following magnetic, optical or Solid State storage?</a:t>
            </a:r>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514350" lvl="0" marL="514350" marR="0" rtl="0" algn="l">
              <a:spcBef>
                <a:spcPts val="0"/>
              </a:spcBef>
              <a:spcAft>
                <a:spcPts val="0"/>
              </a:spcAft>
              <a:buClr>
                <a:schemeClr val="dk1"/>
              </a:buClr>
              <a:buSzPts val="2800"/>
              <a:buFont typeface="Calibri"/>
              <a:buAutoNum type="arabicPeriod"/>
            </a:pPr>
            <a:r>
              <a:rPr lang="en-GB" sz="2800">
                <a:solidFill>
                  <a:schemeClr val="dk1"/>
                </a:solidFill>
                <a:latin typeface="Calibri"/>
                <a:ea typeface="Calibri"/>
                <a:cs typeface="Calibri"/>
                <a:sym typeface="Calibri"/>
              </a:rPr>
              <a:t>Tape drive/data tape</a:t>
            </a:r>
            <a:endParaRPr/>
          </a:p>
          <a:p>
            <a:pPr indent="-514350" lvl="0" marL="514350" marR="0" rtl="0" algn="l">
              <a:spcBef>
                <a:spcPts val="0"/>
              </a:spcBef>
              <a:spcAft>
                <a:spcPts val="0"/>
              </a:spcAft>
              <a:buClr>
                <a:schemeClr val="dk1"/>
              </a:buClr>
              <a:buSzPts val="2800"/>
              <a:buFont typeface="Calibri"/>
              <a:buAutoNum type="arabicPeriod"/>
            </a:pPr>
            <a:r>
              <a:rPr lang="en-GB" sz="2800">
                <a:solidFill>
                  <a:schemeClr val="dk1"/>
                </a:solidFill>
                <a:latin typeface="Calibri"/>
                <a:ea typeface="Calibri"/>
                <a:cs typeface="Calibri"/>
                <a:sym typeface="Calibri"/>
              </a:rPr>
              <a:t>DVD drive/DVD</a:t>
            </a:r>
            <a:endParaRPr/>
          </a:p>
          <a:p>
            <a:pPr indent="-514350" lvl="0" marL="514350" marR="0" rtl="0" algn="l">
              <a:spcBef>
                <a:spcPts val="0"/>
              </a:spcBef>
              <a:spcAft>
                <a:spcPts val="0"/>
              </a:spcAft>
              <a:buClr>
                <a:schemeClr val="dk1"/>
              </a:buClr>
              <a:buSzPts val="2800"/>
              <a:buFont typeface="Calibri"/>
              <a:buAutoNum type="arabicPeriod"/>
            </a:pPr>
            <a:r>
              <a:rPr lang="en-GB" sz="2800">
                <a:solidFill>
                  <a:schemeClr val="dk1"/>
                </a:solidFill>
                <a:latin typeface="Calibri"/>
                <a:ea typeface="Calibri"/>
                <a:cs typeface="Calibri"/>
                <a:sym typeface="Calibri"/>
              </a:rPr>
              <a:t>Memory stick</a:t>
            </a:r>
            <a:endParaRPr/>
          </a:p>
          <a:p>
            <a:pPr indent="-514350" lvl="0" marL="514350" marR="0" rtl="0" algn="l">
              <a:spcBef>
                <a:spcPts val="0"/>
              </a:spcBef>
              <a:spcAft>
                <a:spcPts val="0"/>
              </a:spcAft>
              <a:buClr>
                <a:schemeClr val="dk1"/>
              </a:buClr>
              <a:buSzPts val="2800"/>
              <a:buFont typeface="Calibri"/>
              <a:buAutoNum type="arabicPeriod"/>
            </a:pPr>
            <a:r>
              <a:rPr lang="en-GB" sz="2800">
                <a:solidFill>
                  <a:schemeClr val="dk1"/>
                </a:solidFill>
                <a:latin typeface="Calibri"/>
                <a:ea typeface="Calibri"/>
                <a:cs typeface="Calibri"/>
                <a:sym typeface="Calibri"/>
              </a:rPr>
              <a:t>Hard drive</a:t>
            </a:r>
            <a:endParaRPr/>
          </a:p>
          <a:p>
            <a:pPr indent="-514350" lvl="0" marL="514350" marR="0" rtl="0" algn="l">
              <a:spcBef>
                <a:spcPts val="0"/>
              </a:spcBef>
              <a:spcAft>
                <a:spcPts val="0"/>
              </a:spcAft>
              <a:buClr>
                <a:schemeClr val="dk1"/>
              </a:buClr>
              <a:buSzPts val="2800"/>
              <a:buFont typeface="Calibri"/>
              <a:buAutoNum type="arabicPeriod"/>
            </a:pPr>
            <a:r>
              <a:rPr lang="en-GB" sz="2800">
                <a:solidFill>
                  <a:schemeClr val="dk1"/>
                </a:solidFill>
                <a:latin typeface="Calibri"/>
                <a:ea typeface="Calibri"/>
                <a:cs typeface="Calibri"/>
                <a:sym typeface="Calibri"/>
              </a:rPr>
              <a:t>CD drive/CD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1589632" y="796072"/>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Question 2</a:t>
            </a:r>
            <a:endParaRPr/>
          </a:p>
        </p:txBody>
      </p:sp>
      <p:sp>
        <p:nvSpPr>
          <p:cNvPr id="158" name="Google Shape;158;p23"/>
          <p:cNvSpPr/>
          <p:nvPr/>
        </p:nvSpPr>
        <p:spPr>
          <a:xfrm>
            <a:off x="1589631" y="2065469"/>
            <a:ext cx="8667551" cy="40934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600">
                <a:solidFill>
                  <a:schemeClr val="dk1"/>
                </a:solidFill>
                <a:latin typeface="Calibri"/>
                <a:ea typeface="Calibri"/>
                <a:cs typeface="Calibri"/>
                <a:sym typeface="Calibri"/>
              </a:rPr>
              <a:t>James works in an office. He has prepared a presentation to show the company director at the next board meeting. He is unsure of the best way to transfer the presentation from his PC to the presentation laptop. Which storage device/medium would be best?</a:t>
            </a:r>
            <a:endParaRPr/>
          </a:p>
          <a:p>
            <a:pPr indent="0" lvl="0" marL="0" marR="0" rtl="0" algn="l">
              <a:spcBef>
                <a:spcPts val="0"/>
              </a:spcBef>
              <a:spcAft>
                <a:spcPts val="0"/>
              </a:spcAft>
              <a:buNone/>
            </a:pPr>
            <a:r>
              <a:t/>
            </a:r>
            <a:endParaRPr sz="2600">
              <a:solidFill>
                <a:schemeClr val="dk1"/>
              </a:solidFill>
              <a:latin typeface="Calibri"/>
              <a:ea typeface="Calibri"/>
              <a:cs typeface="Calibri"/>
              <a:sym typeface="Calibri"/>
            </a:endParaRPr>
          </a:p>
          <a:p>
            <a:pPr indent="-514350" lvl="0" marL="514350" marR="0" rtl="0" algn="l">
              <a:spcBef>
                <a:spcPts val="0"/>
              </a:spcBef>
              <a:spcAft>
                <a:spcPts val="0"/>
              </a:spcAft>
              <a:buClr>
                <a:schemeClr val="dk1"/>
              </a:buClr>
              <a:buSzPts val="2600"/>
              <a:buFont typeface="Calibri"/>
              <a:buAutoNum type="arabicPeriod"/>
            </a:pPr>
            <a:r>
              <a:rPr lang="en-GB" sz="2600">
                <a:solidFill>
                  <a:schemeClr val="dk1"/>
                </a:solidFill>
                <a:latin typeface="Calibri"/>
                <a:ea typeface="Calibri"/>
                <a:cs typeface="Calibri"/>
                <a:sym typeface="Calibri"/>
              </a:rPr>
              <a:t>Magnetic hard drive</a:t>
            </a:r>
            <a:endParaRPr/>
          </a:p>
          <a:p>
            <a:pPr indent="-514350" lvl="0" marL="514350" marR="0" rtl="0" algn="l">
              <a:spcBef>
                <a:spcPts val="0"/>
              </a:spcBef>
              <a:spcAft>
                <a:spcPts val="0"/>
              </a:spcAft>
              <a:buClr>
                <a:schemeClr val="dk1"/>
              </a:buClr>
              <a:buSzPts val="2600"/>
              <a:buFont typeface="Calibri"/>
              <a:buAutoNum type="arabicPeriod"/>
            </a:pPr>
            <a:r>
              <a:rPr lang="en-GB" sz="2600">
                <a:solidFill>
                  <a:schemeClr val="dk1"/>
                </a:solidFill>
                <a:latin typeface="Calibri"/>
                <a:ea typeface="Calibri"/>
                <a:cs typeface="Calibri"/>
                <a:sym typeface="Calibri"/>
              </a:rPr>
              <a:t>CD drive/CD</a:t>
            </a:r>
            <a:endParaRPr/>
          </a:p>
          <a:p>
            <a:pPr indent="-514350" lvl="0" marL="514350" marR="0" rtl="0" algn="l">
              <a:spcBef>
                <a:spcPts val="0"/>
              </a:spcBef>
              <a:spcAft>
                <a:spcPts val="0"/>
              </a:spcAft>
              <a:buClr>
                <a:schemeClr val="dk1"/>
              </a:buClr>
              <a:buSzPts val="2600"/>
              <a:buFont typeface="Calibri"/>
              <a:buAutoNum type="arabicPeriod"/>
            </a:pPr>
            <a:r>
              <a:rPr lang="en-GB" sz="2600">
                <a:solidFill>
                  <a:schemeClr val="dk1"/>
                </a:solidFill>
                <a:latin typeface="Calibri"/>
                <a:ea typeface="Calibri"/>
                <a:cs typeface="Calibri"/>
                <a:sym typeface="Calibri"/>
              </a:rPr>
              <a:t>Memory stick</a:t>
            </a:r>
            <a:endParaRPr/>
          </a:p>
          <a:p>
            <a:pPr indent="-514350" lvl="0" marL="514350" marR="0" rtl="0" algn="l">
              <a:spcBef>
                <a:spcPts val="0"/>
              </a:spcBef>
              <a:spcAft>
                <a:spcPts val="0"/>
              </a:spcAft>
              <a:buClr>
                <a:schemeClr val="dk1"/>
              </a:buClr>
              <a:buSzPts val="2600"/>
              <a:buFont typeface="Calibri"/>
              <a:buAutoNum type="arabicPeriod"/>
            </a:pPr>
            <a:r>
              <a:rPr lang="en-GB" sz="2600">
                <a:solidFill>
                  <a:schemeClr val="dk1"/>
                </a:solidFill>
                <a:latin typeface="Calibri"/>
                <a:ea typeface="Calibri"/>
                <a:cs typeface="Calibri"/>
                <a:sym typeface="Calibri"/>
              </a:rPr>
              <a:t>Solid State Drive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1589632" y="796072"/>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Question 3</a:t>
            </a:r>
            <a:endParaRPr/>
          </a:p>
        </p:txBody>
      </p:sp>
      <p:sp>
        <p:nvSpPr>
          <p:cNvPr id="165" name="Google Shape;165;p24"/>
          <p:cNvSpPr/>
          <p:nvPr/>
        </p:nvSpPr>
        <p:spPr>
          <a:xfrm>
            <a:off x="1589631" y="2065469"/>
            <a:ext cx="8667551" cy="40934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600">
                <a:solidFill>
                  <a:schemeClr val="dk1"/>
                </a:solidFill>
                <a:latin typeface="Calibri"/>
                <a:ea typeface="Calibri"/>
                <a:cs typeface="Calibri"/>
                <a:sym typeface="Calibri"/>
              </a:rPr>
              <a:t>Jennifer has got back from a holiday with her family and wants to send the photographs she took while she was away to her grandparents in Scotland. They do not have access to the internet, but they do have a PC. Which storage device/medium would be best?</a:t>
            </a:r>
            <a:endParaRPr sz="2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600">
              <a:solidFill>
                <a:schemeClr val="dk1"/>
              </a:solidFill>
              <a:latin typeface="Calibri"/>
              <a:ea typeface="Calibri"/>
              <a:cs typeface="Calibri"/>
              <a:sym typeface="Calibri"/>
            </a:endParaRPr>
          </a:p>
          <a:p>
            <a:pPr indent="-514350" lvl="0" marL="514350" marR="0" rtl="0" algn="l">
              <a:spcBef>
                <a:spcPts val="0"/>
              </a:spcBef>
              <a:spcAft>
                <a:spcPts val="0"/>
              </a:spcAft>
              <a:buClr>
                <a:schemeClr val="dk1"/>
              </a:buClr>
              <a:buSzPts val="2600"/>
              <a:buFont typeface="Calibri"/>
              <a:buAutoNum type="arabicPeriod"/>
            </a:pPr>
            <a:r>
              <a:rPr lang="en-GB" sz="2600">
                <a:solidFill>
                  <a:schemeClr val="dk1"/>
                </a:solidFill>
                <a:latin typeface="Calibri"/>
                <a:ea typeface="Calibri"/>
                <a:cs typeface="Calibri"/>
                <a:sym typeface="Calibri"/>
              </a:rPr>
              <a:t>Memory card</a:t>
            </a:r>
            <a:endParaRPr sz="2600">
              <a:solidFill>
                <a:schemeClr val="dk1"/>
              </a:solidFill>
              <a:latin typeface="Calibri"/>
              <a:ea typeface="Calibri"/>
              <a:cs typeface="Calibri"/>
              <a:sym typeface="Calibri"/>
            </a:endParaRPr>
          </a:p>
          <a:p>
            <a:pPr indent="-514350" lvl="0" marL="514350" marR="0" rtl="0" algn="l">
              <a:spcBef>
                <a:spcPts val="0"/>
              </a:spcBef>
              <a:spcAft>
                <a:spcPts val="0"/>
              </a:spcAft>
              <a:buClr>
                <a:schemeClr val="dk1"/>
              </a:buClr>
              <a:buSzPts val="2600"/>
              <a:buFont typeface="Calibri"/>
              <a:buAutoNum type="arabicPeriod"/>
            </a:pPr>
            <a:r>
              <a:rPr lang="en-GB" sz="2600">
                <a:solidFill>
                  <a:schemeClr val="dk1"/>
                </a:solidFill>
                <a:latin typeface="Calibri"/>
                <a:ea typeface="Calibri"/>
                <a:cs typeface="Calibri"/>
                <a:sym typeface="Calibri"/>
              </a:rPr>
              <a:t>Memory stick</a:t>
            </a:r>
            <a:endParaRPr sz="2600">
              <a:solidFill>
                <a:schemeClr val="dk1"/>
              </a:solidFill>
              <a:latin typeface="Calibri"/>
              <a:ea typeface="Calibri"/>
              <a:cs typeface="Calibri"/>
              <a:sym typeface="Calibri"/>
            </a:endParaRPr>
          </a:p>
          <a:p>
            <a:pPr indent="-514350" lvl="0" marL="514350" marR="0" rtl="0" algn="l">
              <a:spcBef>
                <a:spcPts val="0"/>
              </a:spcBef>
              <a:spcAft>
                <a:spcPts val="0"/>
              </a:spcAft>
              <a:buClr>
                <a:schemeClr val="dk1"/>
              </a:buClr>
              <a:buSzPts val="2600"/>
              <a:buFont typeface="Calibri"/>
              <a:buAutoNum type="arabicPeriod"/>
            </a:pPr>
            <a:r>
              <a:rPr lang="en-GB" sz="2600">
                <a:solidFill>
                  <a:schemeClr val="dk1"/>
                </a:solidFill>
                <a:latin typeface="Calibri"/>
                <a:ea typeface="Calibri"/>
                <a:cs typeface="Calibri"/>
                <a:sym typeface="Calibri"/>
              </a:rPr>
              <a:t>Tape drive/data tape</a:t>
            </a:r>
            <a:endParaRPr sz="2600">
              <a:solidFill>
                <a:schemeClr val="dk1"/>
              </a:solidFill>
              <a:latin typeface="Calibri"/>
              <a:ea typeface="Calibri"/>
              <a:cs typeface="Calibri"/>
              <a:sym typeface="Calibri"/>
            </a:endParaRPr>
          </a:p>
          <a:p>
            <a:pPr indent="-514350" lvl="0" marL="514350" marR="0" rtl="0" algn="l">
              <a:spcBef>
                <a:spcPts val="0"/>
              </a:spcBef>
              <a:spcAft>
                <a:spcPts val="0"/>
              </a:spcAft>
              <a:buClr>
                <a:schemeClr val="dk1"/>
              </a:buClr>
              <a:buSzPts val="2600"/>
              <a:buFont typeface="Calibri"/>
              <a:buAutoNum type="arabicPeriod"/>
            </a:pPr>
            <a:r>
              <a:rPr lang="en-GB" sz="2600">
                <a:solidFill>
                  <a:schemeClr val="dk1"/>
                </a:solidFill>
                <a:latin typeface="Calibri"/>
                <a:ea typeface="Calibri"/>
                <a:cs typeface="Calibri"/>
                <a:sym typeface="Calibri"/>
              </a:rPr>
              <a:t>CD drive/CD</a:t>
            </a:r>
            <a:endParaRPr sz="26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1589632" y="796072"/>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Question 4</a:t>
            </a:r>
            <a:endParaRPr/>
          </a:p>
        </p:txBody>
      </p:sp>
      <p:sp>
        <p:nvSpPr>
          <p:cNvPr id="172" name="Google Shape;172;p25"/>
          <p:cNvSpPr/>
          <p:nvPr/>
        </p:nvSpPr>
        <p:spPr>
          <a:xfrm>
            <a:off x="1589631" y="2065469"/>
            <a:ext cx="8667551" cy="369331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600">
                <a:solidFill>
                  <a:schemeClr val="dk1"/>
                </a:solidFill>
                <a:latin typeface="Calibri"/>
                <a:ea typeface="Calibri"/>
                <a:cs typeface="Calibri"/>
                <a:sym typeface="Calibri"/>
              </a:rPr>
              <a:t>Kalib works for HodderVids, a new company that makes videos for clients. The high-definition files can be quite large (2–4 GB each). What is the best storage device/medium for transferring the files to clients?</a:t>
            </a:r>
            <a:endParaRPr/>
          </a:p>
          <a:p>
            <a:pPr indent="0" lvl="0" marL="0" marR="0" rtl="0" algn="l">
              <a:spcBef>
                <a:spcPts val="0"/>
              </a:spcBef>
              <a:spcAft>
                <a:spcPts val="0"/>
              </a:spcAft>
              <a:buNone/>
            </a:pPr>
            <a:r>
              <a:t/>
            </a:r>
            <a:endParaRPr sz="2600">
              <a:solidFill>
                <a:schemeClr val="dk1"/>
              </a:solidFill>
              <a:latin typeface="Calibri"/>
              <a:ea typeface="Calibri"/>
              <a:cs typeface="Calibri"/>
              <a:sym typeface="Calibri"/>
            </a:endParaRPr>
          </a:p>
          <a:p>
            <a:pPr indent="-514350" lvl="0" marL="514350" marR="0" rtl="0" algn="l">
              <a:spcBef>
                <a:spcPts val="0"/>
              </a:spcBef>
              <a:spcAft>
                <a:spcPts val="0"/>
              </a:spcAft>
              <a:buClr>
                <a:schemeClr val="dk1"/>
              </a:buClr>
              <a:buSzPts val="2600"/>
              <a:buFont typeface="Calibri"/>
              <a:buAutoNum type="arabicPeriod"/>
            </a:pPr>
            <a:r>
              <a:rPr lang="en-GB" sz="2600">
                <a:solidFill>
                  <a:schemeClr val="dk1"/>
                </a:solidFill>
                <a:latin typeface="Calibri"/>
                <a:ea typeface="Calibri"/>
                <a:cs typeface="Calibri"/>
                <a:sym typeface="Calibri"/>
              </a:rPr>
              <a:t>Memory stick</a:t>
            </a:r>
            <a:endParaRPr/>
          </a:p>
          <a:p>
            <a:pPr indent="-514350" lvl="0" marL="514350" marR="0" rtl="0" algn="l">
              <a:spcBef>
                <a:spcPts val="0"/>
              </a:spcBef>
              <a:spcAft>
                <a:spcPts val="0"/>
              </a:spcAft>
              <a:buClr>
                <a:schemeClr val="dk1"/>
              </a:buClr>
              <a:buSzPts val="2600"/>
              <a:buFont typeface="Calibri"/>
              <a:buAutoNum type="arabicPeriod"/>
            </a:pPr>
            <a:r>
              <a:rPr lang="en-GB" sz="2600">
                <a:solidFill>
                  <a:schemeClr val="dk1"/>
                </a:solidFill>
                <a:latin typeface="Calibri"/>
                <a:ea typeface="Calibri"/>
                <a:cs typeface="Calibri"/>
                <a:sym typeface="Calibri"/>
              </a:rPr>
              <a:t>DVD drive/DVD</a:t>
            </a:r>
            <a:endParaRPr/>
          </a:p>
          <a:p>
            <a:pPr indent="-514350" lvl="0" marL="514350" marR="0" rtl="0" algn="l">
              <a:spcBef>
                <a:spcPts val="0"/>
              </a:spcBef>
              <a:spcAft>
                <a:spcPts val="0"/>
              </a:spcAft>
              <a:buClr>
                <a:schemeClr val="dk1"/>
              </a:buClr>
              <a:buSzPts val="2600"/>
              <a:buFont typeface="Calibri"/>
              <a:buAutoNum type="arabicPeriod"/>
            </a:pPr>
            <a:r>
              <a:rPr lang="en-GB" sz="2600">
                <a:solidFill>
                  <a:schemeClr val="dk1"/>
                </a:solidFill>
                <a:latin typeface="Calibri"/>
                <a:ea typeface="Calibri"/>
                <a:cs typeface="Calibri"/>
                <a:sym typeface="Calibri"/>
              </a:rPr>
              <a:t>Solid State Drive</a:t>
            </a:r>
            <a:endParaRPr/>
          </a:p>
          <a:p>
            <a:pPr indent="-514350" lvl="0" marL="514350" marR="0" rtl="0" algn="l">
              <a:spcBef>
                <a:spcPts val="0"/>
              </a:spcBef>
              <a:spcAft>
                <a:spcPts val="0"/>
              </a:spcAft>
              <a:buClr>
                <a:schemeClr val="dk1"/>
              </a:buClr>
              <a:buSzPts val="2600"/>
              <a:buFont typeface="Calibri"/>
              <a:buAutoNum type="arabicPeriod"/>
            </a:pPr>
            <a:r>
              <a:rPr lang="en-GB" sz="2600">
                <a:solidFill>
                  <a:schemeClr val="dk1"/>
                </a:solidFill>
                <a:latin typeface="Calibri"/>
                <a:ea typeface="Calibri"/>
                <a:cs typeface="Calibri"/>
                <a:sym typeface="Calibri"/>
              </a:rPr>
              <a:t>Blu-ray Disc drive/Blu-ray Disc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1589632" y="796072"/>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4</a:t>
            </a:r>
            <a:endParaRPr b="1">
              <a:solidFill>
                <a:schemeClr val="lt1"/>
              </a:solidFill>
            </a:endParaRPr>
          </a:p>
        </p:txBody>
      </p:sp>
      <p:pic>
        <p:nvPicPr>
          <p:cNvPr descr="A picture containing athletic game, basketball, sport&#10;&#10;Description automatically generated" id="179" name="Google Shape;179;p26"/>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