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/>
        </p:nvSpPr>
        <p:spPr>
          <a:xfrm>
            <a:off x="7547114" y="638019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Hodder &amp; Stoughton Limited 2021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hape, rectangle&#10;&#10;Description automatically generated" id="13" name="Google Shape;13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238036" cy="1647814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956345" y="3250362"/>
            <a:ext cx="6349324" cy="8526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b="1" lang="en-GB" sz="4800"/>
              <a:t>Computing components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2936396" y="4103054"/>
            <a:ext cx="436927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Lessons 5 and 6: The Internet of Things </a:t>
            </a:r>
            <a:endParaRPr b="1" i="0" sz="2000" u="none" cap="none" strike="noStrike">
              <a:solidFill>
                <a:srgbClr val="0089A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05669" y="2885133"/>
            <a:ext cx="3115069" cy="2435843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1593636" y="840449"/>
            <a:ext cx="9634330" cy="766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Objectives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1593636" y="2321940"/>
            <a:ext cx="7411216" cy="2185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lesson, you will learn how to:</a:t>
            </a:r>
            <a:endParaRPr b="0" i="0" sz="5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GB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identify the different IoT devices available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GB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explain how IoT devices can be used with sensors to create automation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GB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discuss the benefits and drawbacks of IoT devices.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1588711" y="844826"/>
            <a:ext cx="9773478" cy="845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Internet of Things devices </a:t>
            </a:r>
            <a:endParaRPr/>
          </a:p>
        </p:txBody>
      </p:sp>
      <p:sp>
        <p:nvSpPr>
          <p:cNvPr id="101" name="Google Shape;101;p15"/>
          <p:cNvSpPr/>
          <p:nvPr/>
        </p:nvSpPr>
        <p:spPr>
          <a:xfrm>
            <a:off x="1588711" y="2237741"/>
            <a:ext cx="7592127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GB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</a:t>
            </a:r>
            <a:r>
              <a:rPr b="1" i="0" lang="en-GB" sz="2800" u="none" cap="none" strike="noStrike">
                <a:solidFill>
                  <a:srgbClr val="C4591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GB" sz="2800" u="none" cap="none" strike="noStrike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Internet of Things (IoT)</a:t>
            </a:r>
            <a:r>
              <a:rPr b="0" i="0" lang="en-GB" sz="2800" u="none" cap="none" strike="noStrike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GB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device is a device that connects to the internet so that it can ‘talk’ to other devices.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GB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IoT device collects data, analyses it and, if appropriate, automates a process by talking to another IoT device.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GB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IoT devices in the home are often referred to as ‘smart’ devices, but IoT devices are used in factories and other industries too.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1594910" y="837987"/>
            <a:ext cx="10597089" cy="8359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IoT in action </a:t>
            </a:r>
            <a:endParaRPr/>
          </a:p>
        </p:txBody>
      </p:sp>
      <p:sp>
        <p:nvSpPr>
          <p:cNvPr id="108" name="Google Shape;108;p16"/>
          <p:cNvSpPr/>
          <p:nvPr/>
        </p:nvSpPr>
        <p:spPr>
          <a:xfrm>
            <a:off x="1594910" y="2037985"/>
            <a:ext cx="9769774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 is an example of how IoT devices work together to automate processes.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raphical user interface&#10;&#10;Description automatically generated with medium confidence" id="109" name="Google Shape;10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5966" y="2637085"/>
            <a:ext cx="7080068" cy="37599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type="title"/>
          </p:nvPr>
        </p:nvSpPr>
        <p:spPr>
          <a:xfrm>
            <a:off x="1589632" y="796072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5.1: For or against? </a:t>
            </a:r>
            <a:endParaRPr/>
          </a:p>
        </p:txBody>
      </p:sp>
      <p:pic>
        <p:nvPicPr>
          <p:cNvPr descr="A picture containing athletic game, basketball, sport&#10;&#10;Description automatically generated" id="116" name="Google Shape;11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67921" y="2103928"/>
            <a:ext cx="3578881" cy="3506542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7"/>
          <p:cNvSpPr/>
          <p:nvPr/>
        </p:nvSpPr>
        <p:spPr>
          <a:xfrm>
            <a:off x="1589632" y="2417436"/>
            <a:ext cx="6096000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IoT devices have benefits and drawbacks.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Construct an argument FOR or AGAINST the use of IoT devices.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Remember, regardless of whether you are arguing FOR or AGAINST IoT devices, you need to consider the benefits and drawbacks to create an effective argument.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/>
          <p:nvPr>
            <p:ph type="title"/>
          </p:nvPr>
        </p:nvSpPr>
        <p:spPr>
          <a:xfrm>
            <a:off x="1594911" y="837987"/>
            <a:ext cx="10451680" cy="8359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IoT and data input </a:t>
            </a:r>
            <a:endParaRPr/>
          </a:p>
        </p:txBody>
      </p:sp>
      <p:sp>
        <p:nvSpPr>
          <p:cNvPr id="124" name="Google Shape;124;p18"/>
          <p:cNvSpPr/>
          <p:nvPr/>
        </p:nvSpPr>
        <p:spPr>
          <a:xfrm>
            <a:off x="1512815" y="2123836"/>
            <a:ext cx="8688198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data that enables IoT devices to make decisions and automate processes is collected by input devices.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9A7"/>
              </a:buClr>
              <a:buSzPts val="2400"/>
              <a:buFont typeface="Arial"/>
              <a:buChar char="•"/>
            </a:pPr>
            <a:r>
              <a:rPr b="1" i="0" lang="en-GB" sz="2400" u="none" cap="none" strike="noStrike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Keyboards </a:t>
            </a: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collect data when text or numbers are input.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9A7"/>
              </a:buClr>
              <a:buSzPts val="2400"/>
              <a:buFont typeface="Arial"/>
              <a:buChar char="•"/>
            </a:pPr>
            <a:r>
              <a:rPr b="1" i="0" lang="en-GB" sz="2400" u="none" cap="none" strike="noStrike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Microphones</a:t>
            </a: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collect data when speech or other sounds are detected.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9A7"/>
              </a:buClr>
              <a:buSzPts val="2400"/>
              <a:buFont typeface="Arial"/>
              <a:buChar char="•"/>
            </a:pPr>
            <a:r>
              <a:rPr b="1" i="0" lang="en-GB" sz="2400" u="none" cap="none" strike="noStrike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Temperature sensors</a:t>
            </a:r>
            <a:r>
              <a:rPr b="0" i="0" lang="en-GB" sz="2400" u="none" cap="none" strike="noStrike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collect data on how warm or cold an area 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9A7"/>
              </a:buClr>
              <a:buSzPts val="2400"/>
              <a:buFont typeface="Arial"/>
              <a:buChar char="•"/>
            </a:pPr>
            <a:r>
              <a:rPr b="1" i="0" lang="en-GB" sz="2400" u="none" cap="none" strike="noStrike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Light sensors </a:t>
            </a: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collect data on how much light there is in an area.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9A7"/>
              </a:buClr>
              <a:buSzPts val="2400"/>
              <a:buFont typeface="Arial"/>
              <a:buChar char="•"/>
            </a:pPr>
            <a:r>
              <a:rPr b="1" i="0" lang="en-GB" sz="2400" u="none" cap="none" strike="noStrike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Motion sensors </a:t>
            </a: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collect data on movements in an area.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9A7"/>
              </a:buClr>
              <a:buSzPts val="2400"/>
              <a:buFont typeface="Arial"/>
              <a:buChar char="•"/>
            </a:pPr>
            <a:r>
              <a:rPr b="1" i="0" lang="en-GB" sz="2400" u="none" cap="none" strike="noStrike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Pressure sensors </a:t>
            </a: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collect data on the force being applied to a device.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9A7"/>
              </a:buClr>
              <a:buSzPts val="2400"/>
              <a:buFont typeface="Arial"/>
              <a:buChar char="•"/>
            </a:pPr>
            <a:r>
              <a:rPr b="1" i="0" lang="en-GB" sz="2400" u="none" cap="none" strike="noStrike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GPS</a:t>
            </a:r>
            <a:r>
              <a:rPr b="1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collects data on the location of a device.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/>
          <p:nvPr>
            <p:ph type="title"/>
          </p:nvPr>
        </p:nvSpPr>
        <p:spPr>
          <a:xfrm>
            <a:off x="1588711" y="844826"/>
            <a:ext cx="9773478" cy="845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IoT and data input </a:t>
            </a:r>
            <a:endParaRPr/>
          </a:p>
        </p:txBody>
      </p:sp>
      <p:sp>
        <p:nvSpPr>
          <p:cNvPr id="131" name="Google Shape;131;p19"/>
          <p:cNvSpPr/>
          <p:nvPr/>
        </p:nvSpPr>
        <p:spPr>
          <a:xfrm>
            <a:off x="1588711" y="2133492"/>
            <a:ext cx="7866077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Once data that has been collected, the IoT device uses it to make a decision.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are three parts to the decision-making process.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9A7"/>
              </a:buClr>
              <a:buSzPts val="2400"/>
              <a:buFont typeface="Calibri"/>
              <a:buAutoNum type="arabicPeriod"/>
            </a:pPr>
            <a:r>
              <a:rPr b="1" i="0" lang="en-GB" sz="2400" u="none" cap="none" strike="noStrike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Trigger(s): </a:t>
            </a: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data collected by the input device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9A7"/>
              </a:buClr>
              <a:buSzPts val="2400"/>
              <a:buFont typeface="Calibri"/>
              <a:buAutoNum type="arabicPeriod"/>
            </a:pPr>
            <a:r>
              <a:rPr b="1" i="0" lang="en-GB" sz="2400" u="none" cap="none" strike="noStrike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Condition(s): </a:t>
            </a: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the data has to be for the action to be performed.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9A7"/>
              </a:buClr>
              <a:buSzPts val="2400"/>
              <a:buFont typeface="Calibri"/>
              <a:buAutoNum type="arabicPeriod"/>
            </a:pPr>
            <a:r>
              <a:rPr b="1" i="0" lang="en-GB" sz="2400" u="none" cap="none" strike="noStrike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Action(s): </a:t>
            </a: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output if the condition is met.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can compare the decision-making process of an IoT device with an IF statement in spreadsheets: IF this data is captured, do this.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 txBox="1"/>
          <p:nvPr>
            <p:ph type="title"/>
          </p:nvPr>
        </p:nvSpPr>
        <p:spPr>
          <a:xfrm>
            <a:off x="1589632" y="796072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5.2: Automation</a:t>
            </a:r>
            <a:endParaRPr/>
          </a:p>
        </p:txBody>
      </p:sp>
      <p:pic>
        <p:nvPicPr>
          <p:cNvPr descr="A picture containing athletic game, basketball, sport&#10;&#10;Description automatically generated" id="138" name="Google Shape;13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2216" y="1967027"/>
            <a:ext cx="4587567" cy="4494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 txBox="1"/>
          <p:nvPr>
            <p:ph type="title"/>
          </p:nvPr>
        </p:nvSpPr>
        <p:spPr>
          <a:xfrm>
            <a:off x="1589632" y="796072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5.3: Automating a home </a:t>
            </a:r>
            <a:endParaRPr/>
          </a:p>
        </p:txBody>
      </p:sp>
      <p:pic>
        <p:nvPicPr>
          <p:cNvPr descr="A picture containing athletic game, basketball, sport&#10;&#10;Description automatically generated" id="145" name="Google Shape;14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2216" y="1967027"/>
            <a:ext cx="4587567" cy="4494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type="title"/>
          </p:nvPr>
        </p:nvSpPr>
        <p:spPr>
          <a:xfrm>
            <a:off x="1589632" y="796072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5.5: IoT devices and the environment</a:t>
            </a:r>
            <a:endParaRPr/>
          </a:p>
        </p:txBody>
      </p:sp>
      <p:pic>
        <p:nvPicPr>
          <p:cNvPr descr="A picture containing athletic game, basketball, sport&#10;&#10;Description automatically generated" id="152" name="Google Shape;15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98527" y="1947149"/>
            <a:ext cx="3997743" cy="3916938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2"/>
          <p:cNvSpPr/>
          <p:nvPr/>
        </p:nvSpPr>
        <p:spPr>
          <a:xfrm>
            <a:off x="1560443" y="1947149"/>
            <a:ext cx="4535557" cy="31085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GB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pairs or small groups, discuss the following question: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GB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could the automation you designed for your smart home help the environment?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