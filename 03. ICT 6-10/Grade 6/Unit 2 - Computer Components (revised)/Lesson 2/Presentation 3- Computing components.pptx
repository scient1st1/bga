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C6D5A8C-4B22-40C3-940D-FCF9A999A90B}">
  <a:tblStyle styleId="{8C6D5A8C-4B22-40C3-940D-FCF9A999A90B}"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 name="Google Shape;83;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 name="Google Shape;9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 name="Google Shape;10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 name="Google Shape;10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 name="Google Shape;111;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 name="Google Shape;112;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GB"/>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 name="Google Shape;11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3" name="Google Shape;13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 name="Google Shape;143;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 name="Google Shape;15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 name="Google Shape;15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 name="Google Shape;16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4" name="Google Shape;16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 name="Google Shape;17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8" name="Google Shape;17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5" name="Google Shape;18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GB"/>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4" name="Shape 14"/>
        <p:cNvGrpSpPr/>
        <p:nvPr/>
      </p:nvGrpSpPr>
      <p:grpSpPr>
        <a:xfrm>
          <a:off x="0" y="0"/>
          <a:ext cx="0" cy="0"/>
          <a:chOff x="0" y="0"/>
          <a:chExt cx="0" cy="0"/>
        </a:xfrm>
      </p:grpSpPr>
      <p:sp>
        <p:nvSpPr>
          <p:cNvPr id="15" name="Google Shape;15;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21" name="Google Shape;21;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22" name="Google Shape;22;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6" name="Google Shape;26;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27" name="Google Shape;27;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28" name="Google Shape;28;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34" name="Google Shape;34;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35" name="Google Shape;35;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3" name="Google Shape;43;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4" name="Google Shape;44;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2" name="Google Shape;52;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3" name="Google Shape;53;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9" name="Google Shape;59;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0" name="Google Shape;60;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p:nvPr>
            <p:ph idx="2" type="pic"/>
          </p:nvPr>
        </p:nvSpPr>
        <p:spPr>
          <a:xfrm>
            <a:off x="5183188" y="987425"/>
            <a:ext cx="6172200" cy="4873625"/>
          </a:xfrm>
          <a:prstGeom prst="rect">
            <a:avLst/>
          </a:prstGeom>
          <a:noFill/>
          <a:ln>
            <a:noFill/>
          </a:ln>
        </p:spPr>
      </p:sp>
      <p:sp>
        <p:nvSpPr>
          <p:cNvPr id="64" name="Google Shape;64;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6" name="Google Shape;66;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7" name="Google Shape;67;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72" name="Google Shape;72;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73" name="Google Shape;73;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78" name="Google Shape;78;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79" name="Google Shape;79;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r>
              <a:rPr b="0" i="0" lang="en-GB" sz="1200" u="none" cap="none" strike="noStrike">
                <a:solidFill>
                  <a:schemeClr val="dk1"/>
                </a:solidFill>
                <a:latin typeface="Calibri"/>
                <a:ea typeface="Calibri"/>
                <a:cs typeface="Calibri"/>
                <a:sym typeface="Calibri"/>
              </a:rPr>
              <a:t>© Hodder &amp; Stoughton Limited 2021</a:t>
            </a:r>
            <a:endParaRPr b="0" i="0" sz="1400" u="none" cap="none" strike="noStrike">
              <a:solidFill>
                <a:srgbClr val="000000"/>
              </a:solidFill>
              <a:latin typeface="Arial"/>
              <a:ea typeface="Arial"/>
              <a:cs typeface="Arial"/>
              <a:sym typeface="Arial"/>
            </a:endParaRPr>
          </a:p>
        </p:txBody>
      </p:sp>
      <p:pic>
        <p:nvPicPr>
          <p:cNvPr descr="Shape, rectangle&#10;&#10;Description automatically generated" id="13" name="Google Shape;13;p1"/>
          <p:cNvPicPr preferRelativeResize="0"/>
          <p:nvPr/>
        </p:nvPicPr>
        <p:blipFill rotWithShape="1">
          <a:blip r:embed="rId1">
            <a:alphaModFix/>
          </a:blip>
          <a:srcRect b="0" l="0" r="0" t="0"/>
          <a:stretch/>
        </p:blipFill>
        <p:spPr>
          <a:xfrm>
            <a:off x="0" y="0"/>
            <a:ext cx="12238036" cy="1647814"/>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txBox="1"/>
          <p:nvPr>
            <p:ph type="ctrTitle"/>
          </p:nvPr>
        </p:nvSpPr>
        <p:spPr>
          <a:xfrm>
            <a:off x="1079541" y="3250362"/>
            <a:ext cx="6226128" cy="852692"/>
          </a:xfrm>
          <a:prstGeom prst="rect">
            <a:avLst/>
          </a:prstGeom>
          <a:noFill/>
          <a:ln>
            <a:noFill/>
          </a:ln>
        </p:spPr>
        <p:txBody>
          <a:bodyPr anchorCtr="0" anchor="b" bIns="45700" lIns="91425" spcFirstLastPara="1" rIns="91425" wrap="square" tIns="45700">
            <a:normAutofit/>
          </a:bodyPr>
          <a:lstStyle/>
          <a:p>
            <a:pPr indent="0" lvl="0" marL="0" rtl="0" algn="r">
              <a:lnSpc>
                <a:spcPct val="90000"/>
              </a:lnSpc>
              <a:spcBef>
                <a:spcPts val="0"/>
              </a:spcBef>
              <a:spcAft>
                <a:spcPts val="0"/>
              </a:spcAft>
              <a:buClr>
                <a:schemeClr val="dk1"/>
              </a:buClr>
              <a:buSzPts val="4800"/>
              <a:buFont typeface="Calibri"/>
              <a:buNone/>
            </a:pPr>
            <a:r>
              <a:rPr b="1" lang="en-GB" sz="4800"/>
              <a:t>Computing components</a:t>
            </a:r>
            <a:endParaRPr/>
          </a:p>
        </p:txBody>
      </p:sp>
      <p:sp>
        <p:nvSpPr>
          <p:cNvPr id="86" name="Google Shape;86;p13"/>
          <p:cNvSpPr/>
          <p:nvPr/>
        </p:nvSpPr>
        <p:spPr>
          <a:xfrm>
            <a:off x="3596961" y="4103054"/>
            <a:ext cx="3708708" cy="40011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2000"/>
              <a:buFont typeface="Arial"/>
              <a:buNone/>
            </a:pPr>
            <a:r>
              <a:rPr b="1" i="0" lang="en-GB" sz="2000" u="none" cap="none" strike="noStrike">
                <a:solidFill>
                  <a:srgbClr val="0089A7"/>
                </a:solidFill>
                <a:latin typeface="Calibri"/>
                <a:ea typeface="Calibri"/>
                <a:cs typeface="Calibri"/>
                <a:sym typeface="Calibri"/>
              </a:rPr>
              <a:t>Lesson 3: Storage devices/media </a:t>
            </a:r>
            <a:endParaRPr b="1" i="0" sz="2000" u="none" cap="none" strike="noStrike">
              <a:solidFill>
                <a:srgbClr val="0089A7"/>
              </a:solidFill>
              <a:latin typeface="Calibri"/>
              <a:ea typeface="Calibri"/>
              <a:cs typeface="Calibri"/>
              <a:sym typeface="Calibri"/>
            </a:endParaRPr>
          </a:p>
        </p:txBody>
      </p:sp>
      <p:pic>
        <p:nvPicPr>
          <p:cNvPr id="87" name="Google Shape;87;p13"/>
          <p:cNvPicPr preferRelativeResize="0"/>
          <p:nvPr/>
        </p:nvPicPr>
        <p:blipFill rotWithShape="1">
          <a:blip r:embed="rId3">
            <a:alphaModFix/>
          </a:blip>
          <a:srcRect b="0" l="0" r="0" t="0"/>
          <a:stretch/>
        </p:blipFill>
        <p:spPr>
          <a:xfrm>
            <a:off x="7305669" y="2885133"/>
            <a:ext cx="3115069" cy="2435843"/>
          </a:xfrm>
          <a:prstGeom prst="rect">
            <a:avLst/>
          </a:prstGeom>
          <a:noFill/>
          <a:ln>
            <a:noFill/>
          </a:ln>
          <a:effectLst>
            <a:outerShdw blurRad="50800" rotWithShape="0" algn="tl" dir="2700000" dist="3810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4"/>
          <p:cNvSpPr txBox="1"/>
          <p:nvPr>
            <p:ph type="title"/>
          </p:nvPr>
        </p:nvSpPr>
        <p:spPr>
          <a:xfrm>
            <a:off x="1593636" y="840449"/>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94" name="Google Shape;94;p14"/>
          <p:cNvSpPr/>
          <p:nvPr/>
        </p:nvSpPr>
        <p:spPr>
          <a:xfrm>
            <a:off x="1593636" y="2321940"/>
            <a:ext cx="7013651" cy="353943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0" i="0" lang="en-GB" sz="3200" u="none" cap="none" strike="noStrike">
                <a:solidFill>
                  <a:schemeClr val="dk1"/>
                </a:solidFill>
                <a:latin typeface="Calibri"/>
                <a:ea typeface="Calibri"/>
                <a:cs typeface="Calibri"/>
                <a:sym typeface="Calibri"/>
              </a:rPr>
              <a:t>In this lesson, you will learn how to:</a:t>
            </a:r>
            <a:endParaRPr b="0" i="0" sz="5400" u="none" cap="none" strike="noStrike">
              <a:solidFill>
                <a:schemeClr val="dk1"/>
              </a:solidFill>
              <a:latin typeface="Times New Roman"/>
              <a:ea typeface="Times New Roman"/>
              <a:cs typeface="Times New Roman"/>
              <a:sym typeface="Times New Roman"/>
            </a:endParaRPr>
          </a:p>
          <a:p>
            <a:pPr indent="-342900" lvl="0" marL="342900" marR="0" rtl="0" algn="l">
              <a:lnSpc>
                <a:spcPct val="100000"/>
              </a:lnSpc>
              <a:spcBef>
                <a:spcPts val="0"/>
              </a:spcBef>
              <a:spcAft>
                <a:spcPts val="0"/>
              </a:spcAft>
              <a:buClr>
                <a:schemeClr val="dk1"/>
              </a:buClr>
              <a:buSzPts val="2400"/>
              <a:buFont typeface="Arial"/>
              <a:buChar char="●"/>
            </a:pPr>
            <a:r>
              <a:rPr b="0" i="0" lang="en-GB" sz="2400" u="none" cap="none" strike="noStrike">
                <a:solidFill>
                  <a:schemeClr val="dk1"/>
                </a:solidFill>
                <a:latin typeface="Calibri"/>
                <a:ea typeface="Calibri"/>
                <a:cs typeface="Calibri"/>
                <a:sym typeface="Calibri"/>
              </a:rPr>
              <a:t>explain the difference between storage devices and storage media</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400"/>
              <a:buFont typeface="Arial"/>
              <a:buChar char="●"/>
            </a:pPr>
            <a:r>
              <a:rPr b="0" i="0" lang="en-GB" sz="2400" u="none" cap="none" strike="noStrike">
                <a:solidFill>
                  <a:schemeClr val="dk1"/>
                </a:solidFill>
                <a:latin typeface="Calibri"/>
                <a:ea typeface="Calibri"/>
                <a:cs typeface="Calibri"/>
                <a:sym typeface="Calibri"/>
              </a:rPr>
              <a:t>explain the difference between primary and secondary storage</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400"/>
              <a:buFont typeface="Arial"/>
              <a:buChar char="●"/>
            </a:pPr>
            <a:r>
              <a:rPr b="0" i="0" lang="en-GB" sz="2400" u="none" cap="none" strike="noStrike">
                <a:solidFill>
                  <a:schemeClr val="dk1"/>
                </a:solidFill>
                <a:latin typeface="Calibri"/>
                <a:ea typeface="Calibri"/>
                <a:cs typeface="Calibri"/>
                <a:sym typeface="Calibri"/>
              </a:rPr>
              <a:t>identify the different types of storage devices/media</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400"/>
              <a:buFont typeface="Arial"/>
              <a:buChar char="●"/>
            </a:pPr>
            <a:r>
              <a:rPr b="0" i="0" lang="en-GB" sz="2400" u="none" cap="none" strike="noStrike">
                <a:solidFill>
                  <a:schemeClr val="dk1"/>
                </a:solidFill>
                <a:latin typeface="Calibri"/>
                <a:ea typeface="Calibri"/>
                <a:cs typeface="Calibri"/>
                <a:sym typeface="Calibri"/>
              </a:rPr>
              <a:t>justify the most appropriate storage device/storage medium for a given scenario.</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5"/>
          <p:cNvSpPr txBox="1"/>
          <p:nvPr>
            <p:ph type="title"/>
          </p:nvPr>
        </p:nvSpPr>
        <p:spPr>
          <a:xfrm>
            <a:off x="1588711" y="844826"/>
            <a:ext cx="9773478"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Storage devices and storage media</a:t>
            </a:r>
            <a:endParaRPr/>
          </a:p>
        </p:txBody>
      </p:sp>
      <p:sp>
        <p:nvSpPr>
          <p:cNvPr id="101" name="Google Shape;101;p15"/>
          <p:cNvSpPr/>
          <p:nvPr/>
        </p:nvSpPr>
        <p:spPr>
          <a:xfrm>
            <a:off x="1588710" y="2111881"/>
            <a:ext cx="9465370" cy="415498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A </a:t>
            </a:r>
            <a:r>
              <a:rPr b="1" i="0" lang="en-GB" sz="2400" u="none" cap="none" strike="noStrike">
                <a:solidFill>
                  <a:srgbClr val="0089A7"/>
                </a:solidFill>
                <a:latin typeface="Calibri"/>
                <a:ea typeface="Calibri"/>
                <a:cs typeface="Calibri"/>
                <a:sym typeface="Calibri"/>
              </a:rPr>
              <a:t>storage device</a:t>
            </a:r>
            <a:r>
              <a:rPr b="0" i="0" lang="en-GB" sz="2400" u="none" cap="none" strike="noStrike">
                <a:solidFill>
                  <a:srgbClr val="0089A7"/>
                </a:solidFill>
                <a:latin typeface="Calibri"/>
                <a:ea typeface="Calibri"/>
                <a:cs typeface="Calibri"/>
                <a:sym typeface="Calibri"/>
              </a:rPr>
              <a:t> </a:t>
            </a:r>
            <a:r>
              <a:rPr b="0" i="0" lang="en-GB" sz="2400" u="none" cap="none" strike="noStrike">
                <a:solidFill>
                  <a:schemeClr val="dk1"/>
                </a:solidFill>
                <a:latin typeface="Calibri"/>
                <a:ea typeface="Calibri"/>
                <a:cs typeface="Calibri"/>
                <a:sym typeface="Calibri"/>
              </a:rPr>
              <a:t>is the hardware or computer peripheral that stores data or saves data to a storage medium.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Magnetic hard drives, memory sticks and Solid State drives store data, while CD drives, DVD drives, Blu-ray Disc drives and tape drives save data to a storage medium.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A </a:t>
            </a:r>
            <a:r>
              <a:rPr b="1" i="0" lang="en-GB" sz="2400" u="none" cap="none" strike="noStrike">
                <a:solidFill>
                  <a:srgbClr val="0089A7"/>
                </a:solidFill>
                <a:latin typeface="Calibri"/>
                <a:ea typeface="Calibri"/>
                <a:cs typeface="Calibri"/>
                <a:sym typeface="Calibri"/>
              </a:rPr>
              <a:t>storage medium</a:t>
            </a:r>
            <a:r>
              <a:rPr b="0" i="0" lang="en-GB" sz="2400" u="none" cap="none" strike="noStrike">
                <a:solidFill>
                  <a:srgbClr val="0089A7"/>
                </a:solidFill>
                <a:latin typeface="Calibri"/>
                <a:ea typeface="Calibri"/>
                <a:cs typeface="Calibri"/>
                <a:sym typeface="Calibri"/>
              </a:rPr>
              <a:t> </a:t>
            </a:r>
            <a:r>
              <a:rPr b="0" i="0" lang="en-GB" sz="2400" u="none" cap="none" strike="noStrike">
                <a:solidFill>
                  <a:schemeClr val="dk1"/>
                </a:solidFill>
                <a:latin typeface="Calibri"/>
                <a:ea typeface="Calibri"/>
                <a:cs typeface="Calibri"/>
                <a:sym typeface="Calibri"/>
              </a:rPr>
              <a:t>is the thing that stores the data for a storage device that cannot store it itself.</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Examples of storage media include CDs, DVDs and Blu-ray Disc.</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Note that the plural of ‘medium’ is ‘media’, so one CD is an example of a storage medium and five CDs are an example of storage media.</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6"/>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4.1: Capacity of storage devices</a:t>
            </a:r>
            <a:endParaRPr/>
          </a:p>
        </p:txBody>
      </p:sp>
      <p:graphicFrame>
        <p:nvGraphicFramePr>
          <p:cNvPr id="108" name="Google Shape;108;p16"/>
          <p:cNvGraphicFramePr/>
          <p:nvPr/>
        </p:nvGraphicFramePr>
        <p:xfrm>
          <a:off x="1338147" y="1862252"/>
          <a:ext cx="3000000" cy="3000000"/>
        </p:xfrm>
        <a:graphic>
          <a:graphicData uri="http://schemas.openxmlformats.org/drawingml/2006/table">
            <a:tbl>
              <a:tblPr>
                <a:noFill/>
                <a:tableStyleId>{8C6D5A8C-4B22-40C3-940D-FCF9A999A90B}</a:tableStyleId>
              </a:tblPr>
              <a:tblGrid>
                <a:gridCol w="4496175"/>
                <a:gridCol w="2462200"/>
                <a:gridCol w="2141025"/>
              </a:tblGrid>
              <a:tr h="959000">
                <a:tc>
                  <a:txBody>
                    <a:bodyPr/>
                    <a:lstStyle/>
                    <a:p>
                      <a:pPr indent="0" lvl="0" marL="0" marR="0" rtl="0" algn="ctr">
                        <a:lnSpc>
                          <a:spcPct val="100000"/>
                        </a:lnSpc>
                        <a:spcBef>
                          <a:spcPts val="0"/>
                        </a:spcBef>
                        <a:spcAft>
                          <a:spcPts val="0"/>
                        </a:spcAft>
                        <a:buClr>
                          <a:srgbClr val="000000"/>
                        </a:buClr>
                        <a:buSzPts val="2800"/>
                        <a:buFont typeface="Arial"/>
                        <a:buNone/>
                      </a:pPr>
                      <a:r>
                        <a:rPr b="1" i="0" lang="en-GB" sz="2800" u="none" cap="none" strike="noStrike">
                          <a:solidFill>
                            <a:srgbClr val="000000"/>
                          </a:solidFill>
                          <a:latin typeface="Calibri"/>
                          <a:ea typeface="Calibri"/>
                          <a:cs typeface="Calibri"/>
                          <a:sym typeface="Calibri"/>
                        </a:rPr>
                        <a:t>Storage device/storage medium</a:t>
                      </a:r>
                      <a:endParaRPr sz="1400" u="none" cap="none" strike="noStrike"/>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DAF1F3"/>
                    </a:solidFill>
                  </a:tcPr>
                </a:tc>
                <a:tc>
                  <a:txBody>
                    <a:bodyPr/>
                    <a:lstStyle/>
                    <a:p>
                      <a:pPr indent="0" lvl="0" marL="0" marR="0" rtl="0" algn="ctr">
                        <a:lnSpc>
                          <a:spcPct val="100000"/>
                        </a:lnSpc>
                        <a:spcBef>
                          <a:spcPts val="0"/>
                        </a:spcBef>
                        <a:spcAft>
                          <a:spcPts val="0"/>
                        </a:spcAft>
                        <a:buClr>
                          <a:srgbClr val="000000"/>
                        </a:buClr>
                        <a:buSzPts val="2800"/>
                        <a:buFont typeface="Arial"/>
                        <a:buNone/>
                      </a:pPr>
                      <a:r>
                        <a:rPr b="1" i="0" lang="en-GB" sz="2800" u="none" cap="none" strike="noStrike">
                          <a:solidFill>
                            <a:srgbClr val="000000"/>
                          </a:solidFill>
                          <a:latin typeface="Calibri"/>
                          <a:ea typeface="Calibri"/>
                          <a:cs typeface="Calibri"/>
                          <a:sym typeface="Calibri"/>
                        </a:rPr>
                        <a:t>Storage capacity</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DAF1F3"/>
                    </a:solidFill>
                  </a:tcPr>
                </a:tc>
                <a:tc>
                  <a:txBody>
                    <a:bodyPr/>
                    <a:lstStyle/>
                    <a:p>
                      <a:pPr indent="0" lvl="0" marL="0" marR="0" rtl="0" algn="ctr">
                        <a:lnSpc>
                          <a:spcPct val="100000"/>
                        </a:lnSpc>
                        <a:spcBef>
                          <a:spcPts val="0"/>
                        </a:spcBef>
                        <a:spcAft>
                          <a:spcPts val="0"/>
                        </a:spcAft>
                        <a:buClr>
                          <a:srgbClr val="000000"/>
                        </a:buClr>
                        <a:buSzPts val="2800"/>
                        <a:buFont typeface="Arial"/>
                        <a:buNone/>
                      </a:pPr>
                      <a:r>
                        <a:rPr b="1" i="0" lang="en-GB" sz="2800" u="none" cap="none" strike="noStrike">
                          <a:solidFill>
                            <a:srgbClr val="000000"/>
                          </a:solidFill>
                          <a:latin typeface="Calibri"/>
                          <a:ea typeface="Calibri"/>
                          <a:cs typeface="Calibri"/>
                          <a:sym typeface="Calibri"/>
                        </a:rPr>
                        <a:t>Storage capacity (MB)</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DAF1F3"/>
                    </a:solidFill>
                  </a:tcPr>
                </a:tc>
              </a:tr>
              <a:tr h="479500">
                <a:tc>
                  <a:txBody>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CD drive/CD</a:t>
                      </a:r>
                      <a:endParaRPr sz="1400" u="none" cap="none" strike="noStrike"/>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0.7 GB</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700</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DVD drive/DVD</a:t>
                      </a:r>
                      <a:endParaRPr sz="1400" u="none" cap="none" strike="noStrike"/>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4.7 GB</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 </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Blu-ray Disc drive/Blu-ray Disc</a:t>
                      </a:r>
                      <a:endParaRPr sz="1400" u="none" cap="none" strike="noStrike"/>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25 GB</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 </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Magnetic hard drive</a:t>
                      </a:r>
                      <a:endParaRPr sz="1400" u="none" cap="none" strike="noStrike"/>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2 TB</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 </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Memory stick</a:t>
                      </a:r>
                      <a:endParaRPr sz="1400" u="none" cap="none" strike="noStrike"/>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32 GB</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 </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Solid State Drive</a:t>
                      </a:r>
                      <a:endParaRPr sz="1400" u="none" cap="none" strike="noStrike"/>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256 GB</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 </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Tape drive/data tape</a:t>
                      </a:r>
                      <a:endParaRPr sz="1400" u="none" cap="none" strike="noStrike"/>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1 TB</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00"/>
                        </a:buClr>
                        <a:buSzPts val="2800"/>
                        <a:buFont typeface="Arial"/>
                        <a:buNone/>
                      </a:pPr>
                      <a:r>
                        <a:rPr b="0" i="0" lang="en-GB" sz="2800" u="none" cap="none" strike="noStrike">
                          <a:solidFill>
                            <a:srgbClr val="000000"/>
                          </a:solidFill>
                          <a:latin typeface="Calibri"/>
                          <a:ea typeface="Calibri"/>
                          <a:cs typeface="Calibri"/>
                          <a:sym typeface="Calibri"/>
                        </a:rPr>
                        <a:t> </a:t>
                      </a:r>
                      <a:endParaRPr sz="1400" u="none" cap="none" strike="noStrike"/>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pic>
        <p:nvPicPr>
          <p:cNvPr id="114" name="Google Shape;114;p17"/>
          <p:cNvPicPr preferRelativeResize="0"/>
          <p:nvPr/>
        </p:nvPicPr>
        <p:blipFill rotWithShape="1">
          <a:blip r:embed="rId3">
            <a:alphaModFix/>
          </a:blip>
          <a:srcRect b="0" l="0" r="0" t="0"/>
          <a:stretch/>
        </p:blipFill>
        <p:spPr>
          <a:xfrm>
            <a:off x="644657" y="2500657"/>
            <a:ext cx="10902674" cy="4159650"/>
          </a:xfrm>
          <a:prstGeom prst="rect">
            <a:avLst/>
          </a:prstGeom>
          <a:noFill/>
          <a:ln>
            <a:noFill/>
          </a:ln>
        </p:spPr>
      </p:pic>
      <p:sp>
        <p:nvSpPr>
          <p:cNvPr id="115" name="Google Shape;115;p17"/>
          <p:cNvSpPr txBox="1"/>
          <p:nvPr/>
        </p:nvSpPr>
        <p:spPr>
          <a:xfrm>
            <a:off x="644649" y="1823550"/>
            <a:ext cx="11357100" cy="677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0" i="0" lang="en-GB" sz="1600" u="none" cap="none" strike="noStrike">
                <a:solidFill>
                  <a:srgbClr val="000000"/>
                </a:solidFill>
                <a:latin typeface="Arial"/>
                <a:ea typeface="Arial"/>
                <a:cs typeface="Arial"/>
                <a:sym typeface="Arial"/>
              </a:rPr>
              <a:t>To convert the given storage capacities into MB, we use: 1 GB = 1024 MB</a:t>
            </a:r>
            <a:endParaRPr b="0" i="0" sz="1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GB" sz="1600" u="none" cap="none" strike="noStrike">
                <a:solidFill>
                  <a:srgbClr val="000000"/>
                </a:solidFill>
                <a:latin typeface="Arial"/>
                <a:ea typeface="Arial"/>
                <a:cs typeface="Arial"/>
                <a:sym typeface="Arial"/>
              </a:rPr>
              <a:t>1 TB = 1024 GB = 1,048,576 MB</a:t>
            </a:r>
            <a:endParaRPr b="0" i="0" sz="16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8"/>
          <p:cNvSpPr txBox="1"/>
          <p:nvPr>
            <p:ph type="title"/>
          </p:nvPr>
        </p:nvSpPr>
        <p:spPr>
          <a:xfrm>
            <a:off x="1594910" y="837987"/>
            <a:ext cx="10597089" cy="83592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Primary and secondary storage</a:t>
            </a:r>
            <a:endParaRPr/>
          </a:p>
        </p:txBody>
      </p:sp>
      <p:sp>
        <p:nvSpPr>
          <p:cNvPr id="122" name="Google Shape;122;p18"/>
          <p:cNvSpPr/>
          <p:nvPr/>
        </p:nvSpPr>
        <p:spPr>
          <a:xfrm>
            <a:off x="1594910" y="2061091"/>
            <a:ext cx="7807506" cy="378565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Computers use two types of storage.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1" i="0" sz="2400" u="none" cap="none" strike="noStrike">
              <a:solidFill>
                <a:schemeClr val="dk1"/>
              </a:solidFill>
              <a:latin typeface="Calibri"/>
              <a:ea typeface="Calibri"/>
              <a:cs typeface="Calibri"/>
              <a:sym typeface="Calibri"/>
            </a:endParaRPr>
          </a:p>
          <a:p>
            <a:pPr indent="-457200" lvl="0" marL="457200" marR="0" rtl="0" algn="l">
              <a:lnSpc>
                <a:spcPct val="100000"/>
              </a:lnSpc>
              <a:spcBef>
                <a:spcPts val="0"/>
              </a:spcBef>
              <a:spcAft>
                <a:spcPts val="0"/>
              </a:spcAft>
              <a:buClr>
                <a:schemeClr val="dk1"/>
              </a:buClr>
              <a:buSzPts val="2400"/>
              <a:buFont typeface="Calibri"/>
              <a:buAutoNum type="arabicPeriod"/>
            </a:pPr>
            <a:r>
              <a:rPr b="1" i="0" lang="en-GB" sz="2400" u="none" cap="none" strike="noStrike">
                <a:solidFill>
                  <a:srgbClr val="0089A7"/>
                </a:solidFill>
                <a:latin typeface="Calibri"/>
                <a:ea typeface="Calibri"/>
                <a:cs typeface="Calibri"/>
                <a:sym typeface="Calibri"/>
              </a:rPr>
              <a:t>Primary storage</a:t>
            </a:r>
            <a:r>
              <a:rPr b="0" i="0" lang="en-GB" sz="2400" u="none" cap="none" strike="noStrike">
                <a:solidFill>
                  <a:srgbClr val="0089A7"/>
                </a:solidFill>
                <a:latin typeface="Calibri"/>
                <a:ea typeface="Calibri"/>
                <a:cs typeface="Calibri"/>
                <a:sym typeface="Calibri"/>
              </a:rPr>
              <a:t> </a:t>
            </a:r>
            <a:r>
              <a:rPr b="0" i="0" lang="en-GB" sz="2400" u="none" cap="none" strike="noStrike">
                <a:solidFill>
                  <a:schemeClr val="dk1"/>
                </a:solidFill>
                <a:latin typeface="Calibri"/>
                <a:ea typeface="Calibri"/>
                <a:cs typeface="Calibri"/>
                <a:sym typeface="Calibri"/>
              </a:rPr>
              <a:t>is accessed directly by the CPU and is normally the fastest memory in a computer. RAM is an example. Most of the time, primary storage will lose all the data it contains when the power is switched off.</a:t>
            </a:r>
            <a:endParaRPr b="0" i="0" sz="1400" u="none" cap="none" strike="noStrike">
              <a:solidFill>
                <a:srgbClr val="000000"/>
              </a:solidFill>
              <a:latin typeface="Arial"/>
              <a:ea typeface="Arial"/>
              <a:cs typeface="Arial"/>
              <a:sym typeface="Arial"/>
            </a:endParaRPr>
          </a:p>
          <a:p>
            <a:pPr indent="-457200" lvl="0" marL="457200" marR="0" rtl="0" algn="l">
              <a:lnSpc>
                <a:spcPct val="100000"/>
              </a:lnSpc>
              <a:spcBef>
                <a:spcPts val="0"/>
              </a:spcBef>
              <a:spcAft>
                <a:spcPts val="0"/>
              </a:spcAft>
              <a:buClr>
                <a:schemeClr val="dk1"/>
              </a:buClr>
              <a:buSzPts val="2400"/>
              <a:buFont typeface="Calibri"/>
              <a:buAutoNum type="arabicPeriod"/>
            </a:pPr>
            <a:r>
              <a:rPr b="1" i="0" lang="en-GB" sz="2400" u="none" cap="none" strike="noStrike">
                <a:solidFill>
                  <a:srgbClr val="0089A7"/>
                </a:solidFill>
                <a:latin typeface="Calibri"/>
                <a:ea typeface="Calibri"/>
                <a:cs typeface="Calibri"/>
                <a:sym typeface="Calibri"/>
              </a:rPr>
              <a:t>Secondary storage</a:t>
            </a:r>
            <a:r>
              <a:rPr b="0" i="0" lang="en-GB" sz="2400" u="none" cap="none" strike="noStrike">
                <a:solidFill>
                  <a:srgbClr val="0089A7"/>
                </a:solidFill>
                <a:latin typeface="Calibri"/>
                <a:ea typeface="Calibri"/>
                <a:cs typeface="Calibri"/>
                <a:sym typeface="Calibri"/>
              </a:rPr>
              <a:t> </a:t>
            </a:r>
            <a:r>
              <a:rPr b="0" i="0" lang="en-GB" sz="2400" u="none" cap="none" strike="noStrike">
                <a:solidFill>
                  <a:schemeClr val="dk1"/>
                </a:solidFill>
                <a:latin typeface="Calibri"/>
                <a:ea typeface="Calibri"/>
                <a:cs typeface="Calibri"/>
                <a:sym typeface="Calibri"/>
              </a:rPr>
              <a:t>is not accessed constantly by the computer. It includes a computer’s hard disc and external storage. Secondary storage will not lost lose all the data it contains when the device is switched off.</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9"/>
          <p:cNvSpPr txBox="1"/>
          <p:nvPr>
            <p:ph type="title"/>
          </p:nvPr>
        </p:nvSpPr>
        <p:spPr>
          <a:xfrm>
            <a:off x="1594911" y="837987"/>
            <a:ext cx="10451680" cy="83592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Types of secondary storage</a:t>
            </a:r>
            <a:endParaRPr/>
          </a:p>
        </p:txBody>
      </p:sp>
      <p:sp>
        <p:nvSpPr>
          <p:cNvPr id="129" name="Google Shape;129;p19"/>
          <p:cNvSpPr/>
          <p:nvPr/>
        </p:nvSpPr>
        <p:spPr>
          <a:xfrm>
            <a:off x="1594911" y="2223227"/>
            <a:ext cx="8688198" cy="304698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There are three types of secondary storage.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a:p>
            <a:pPr indent="-457200" lvl="0" marL="457200" marR="0" rtl="0" algn="l">
              <a:lnSpc>
                <a:spcPct val="100000"/>
              </a:lnSpc>
              <a:spcBef>
                <a:spcPts val="0"/>
              </a:spcBef>
              <a:spcAft>
                <a:spcPts val="0"/>
              </a:spcAft>
              <a:buClr>
                <a:schemeClr val="dk1"/>
              </a:buClr>
              <a:buSzPts val="2400"/>
              <a:buFont typeface="Calibri"/>
              <a:buAutoNum type="arabicPeriod"/>
            </a:pPr>
            <a:r>
              <a:rPr b="1" i="0" lang="en-GB" sz="2400" u="none" cap="none" strike="noStrike">
                <a:solidFill>
                  <a:srgbClr val="0089A7"/>
                </a:solidFill>
                <a:latin typeface="Calibri"/>
                <a:ea typeface="Calibri"/>
                <a:cs typeface="Calibri"/>
                <a:sym typeface="Calibri"/>
              </a:rPr>
              <a:t>Optical storage </a:t>
            </a:r>
            <a:r>
              <a:rPr b="0" i="0" lang="en-GB" sz="2400" u="none" cap="none" strike="noStrike">
                <a:solidFill>
                  <a:schemeClr val="dk1"/>
                </a:solidFill>
                <a:latin typeface="Calibri"/>
                <a:ea typeface="Calibri"/>
                <a:cs typeface="Calibri"/>
                <a:sym typeface="Calibri"/>
              </a:rPr>
              <a:t>uses a laser to write data to and read data from a disc.</a:t>
            </a:r>
            <a:endParaRPr b="0" i="0" sz="2400" u="none" cap="none" strike="noStrike">
              <a:solidFill>
                <a:schemeClr val="dk1"/>
              </a:solidFill>
              <a:latin typeface="Calibri"/>
              <a:ea typeface="Calibri"/>
              <a:cs typeface="Calibri"/>
              <a:sym typeface="Calibri"/>
            </a:endParaRPr>
          </a:p>
          <a:p>
            <a:pPr indent="-457200" lvl="0" marL="457200" marR="0" rtl="0" algn="l">
              <a:lnSpc>
                <a:spcPct val="100000"/>
              </a:lnSpc>
              <a:spcBef>
                <a:spcPts val="0"/>
              </a:spcBef>
              <a:spcAft>
                <a:spcPts val="0"/>
              </a:spcAft>
              <a:buClr>
                <a:schemeClr val="dk1"/>
              </a:buClr>
              <a:buSzPts val="2400"/>
              <a:buFont typeface="Calibri"/>
              <a:buAutoNum type="arabicPeriod"/>
            </a:pPr>
            <a:r>
              <a:rPr b="1" i="0" lang="en-GB" sz="2400" u="none" cap="none" strike="noStrike">
                <a:solidFill>
                  <a:srgbClr val="0089A7"/>
                </a:solidFill>
                <a:latin typeface="Calibri"/>
                <a:ea typeface="Calibri"/>
                <a:cs typeface="Calibri"/>
                <a:sym typeface="Calibri"/>
              </a:rPr>
              <a:t>Magnetic storage </a:t>
            </a:r>
            <a:r>
              <a:rPr b="0" i="0" lang="en-GB" sz="2400" u="none" cap="none" strike="noStrike">
                <a:solidFill>
                  <a:schemeClr val="dk1"/>
                </a:solidFill>
                <a:latin typeface="Calibri"/>
                <a:ea typeface="Calibri"/>
                <a:cs typeface="Calibri"/>
                <a:sym typeface="Calibri"/>
              </a:rPr>
              <a:t>uses magnetic platters and a write/read head to writes to and read from the disc.</a:t>
            </a:r>
            <a:endParaRPr b="0" i="0" sz="2400" u="none" cap="none" strike="noStrike">
              <a:solidFill>
                <a:schemeClr val="dk1"/>
              </a:solidFill>
              <a:latin typeface="Calibri"/>
              <a:ea typeface="Calibri"/>
              <a:cs typeface="Calibri"/>
              <a:sym typeface="Calibri"/>
            </a:endParaRPr>
          </a:p>
          <a:p>
            <a:pPr indent="-457200" lvl="0" marL="457200" marR="0" rtl="0" algn="l">
              <a:lnSpc>
                <a:spcPct val="100000"/>
              </a:lnSpc>
              <a:spcBef>
                <a:spcPts val="0"/>
              </a:spcBef>
              <a:spcAft>
                <a:spcPts val="0"/>
              </a:spcAft>
              <a:buClr>
                <a:schemeClr val="dk1"/>
              </a:buClr>
              <a:buSzPts val="2400"/>
              <a:buFont typeface="Calibri"/>
              <a:buAutoNum type="arabicPeriod"/>
            </a:pPr>
            <a:r>
              <a:rPr b="1" i="0" lang="en-GB" sz="2400" u="none" cap="none" strike="noStrike">
                <a:solidFill>
                  <a:srgbClr val="0089A7"/>
                </a:solidFill>
                <a:latin typeface="Calibri"/>
                <a:ea typeface="Calibri"/>
                <a:cs typeface="Calibri"/>
                <a:sym typeface="Calibri"/>
              </a:rPr>
              <a:t>Solid State storage </a:t>
            </a:r>
            <a:r>
              <a:rPr b="0" i="0" lang="en-GB" sz="2400" u="none" cap="none" strike="noStrike">
                <a:solidFill>
                  <a:schemeClr val="dk1"/>
                </a:solidFill>
                <a:latin typeface="Calibri"/>
                <a:ea typeface="Calibri"/>
                <a:cs typeface="Calibri"/>
                <a:sym typeface="Calibri"/>
              </a:rPr>
              <a:t>has no moving parts and provides very fast access to data.</a:t>
            </a:r>
            <a:endParaRPr b="0" i="0" sz="24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0"/>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3200"/>
              <a:buFont typeface="Calibri"/>
              <a:buNone/>
            </a:pPr>
            <a:r>
              <a:rPr b="1" lang="en-GB" sz="3200">
                <a:solidFill>
                  <a:schemeClr val="lt1"/>
                </a:solidFill>
              </a:rPr>
              <a:t>Activity 4.2: Types of secondary storage device/medium</a:t>
            </a:r>
            <a:endParaRPr/>
          </a:p>
        </p:txBody>
      </p:sp>
      <p:pic>
        <p:nvPicPr>
          <p:cNvPr id="136" name="Google Shape;136;p20"/>
          <p:cNvPicPr preferRelativeResize="0"/>
          <p:nvPr/>
        </p:nvPicPr>
        <p:blipFill rotWithShape="1">
          <a:blip r:embed="rId3">
            <a:alphaModFix/>
          </a:blip>
          <a:srcRect b="0" l="0" r="0" t="0"/>
          <a:stretch/>
        </p:blipFill>
        <p:spPr>
          <a:xfrm>
            <a:off x="1589632" y="3543825"/>
            <a:ext cx="8983329" cy="2896004"/>
          </a:xfrm>
          <a:prstGeom prst="rect">
            <a:avLst/>
          </a:prstGeom>
          <a:noFill/>
          <a:ln>
            <a:noFill/>
          </a:ln>
        </p:spPr>
      </p:pic>
      <p:pic>
        <p:nvPicPr>
          <p:cNvPr id="137" name="Google Shape;137;p20"/>
          <p:cNvPicPr preferRelativeResize="0"/>
          <p:nvPr/>
        </p:nvPicPr>
        <p:blipFill rotWithShape="1">
          <a:blip r:embed="rId4">
            <a:alphaModFix/>
          </a:blip>
          <a:srcRect b="0" l="0" r="0" t="0"/>
          <a:stretch/>
        </p:blipFill>
        <p:spPr>
          <a:xfrm>
            <a:off x="1589632" y="1908384"/>
            <a:ext cx="1133633" cy="552527"/>
          </a:xfrm>
          <a:prstGeom prst="rect">
            <a:avLst/>
          </a:prstGeom>
          <a:noFill/>
          <a:ln>
            <a:noFill/>
          </a:ln>
        </p:spPr>
      </p:pic>
      <p:pic>
        <p:nvPicPr>
          <p:cNvPr id="138" name="Google Shape;138;p20"/>
          <p:cNvPicPr preferRelativeResize="0"/>
          <p:nvPr/>
        </p:nvPicPr>
        <p:blipFill rotWithShape="1">
          <a:blip r:embed="rId5">
            <a:alphaModFix/>
          </a:blip>
          <a:srcRect b="0" l="0" r="0" t="0"/>
          <a:stretch/>
        </p:blipFill>
        <p:spPr>
          <a:xfrm>
            <a:off x="5768680" y="1908384"/>
            <a:ext cx="1457528" cy="428685"/>
          </a:xfrm>
          <a:prstGeom prst="rect">
            <a:avLst/>
          </a:prstGeom>
          <a:noFill/>
          <a:ln>
            <a:noFill/>
          </a:ln>
        </p:spPr>
      </p:pic>
      <p:pic>
        <p:nvPicPr>
          <p:cNvPr id="139" name="Google Shape;139;p20"/>
          <p:cNvPicPr preferRelativeResize="0"/>
          <p:nvPr/>
        </p:nvPicPr>
        <p:blipFill rotWithShape="1">
          <a:blip r:embed="rId6">
            <a:alphaModFix/>
          </a:blip>
          <a:srcRect b="0" l="0" r="0" t="0"/>
          <a:stretch/>
        </p:blipFill>
        <p:spPr>
          <a:xfrm>
            <a:off x="9404088" y="1908384"/>
            <a:ext cx="1524213" cy="48584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1"/>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3200"/>
              <a:buFont typeface="Calibri"/>
              <a:buNone/>
            </a:pPr>
            <a:r>
              <a:rPr b="1" lang="en-GB" sz="3200">
                <a:solidFill>
                  <a:schemeClr val="lt1"/>
                </a:solidFill>
              </a:rPr>
              <a:t>Activity 4.2: Types of secondary storage device/medium</a:t>
            </a:r>
            <a:endParaRPr/>
          </a:p>
        </p:txBody>
      </p:sp>
      <p:pic>
        <p:nvPicPr>
          <p:cNvPr id="146" name="Google Shape;146;p21"/>
          <p:cNvPicPr preferRelativeResize="0"/>
          <p:nvPr/>
        </p:nvPicPr>
        <p:blipFill rotWithShape="1">
          <a:blip r:embed="rId3">
            <a:alphaModFix/>
          </a:blip>
          <a:srcRect b="0" l="0" r="0" t="0"/>
          <a:stretch/>
        </p:blipFill>
        <p:spPr>
          <a:xfrm>
            <a:off x="1589631" y="1756812"/>
            <a:ext cx="9282807" cy="510118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2"/>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1</a:t>
            </a:r>
            <a:endParaRPr/>
          </a:p>
        </p:txBody>
      </p:sp>
      <p:sp>
        <p:nvSpPr>
          <p:cNvPr id="153" name="Google Shape;153;p22"/>
          <p:cNvSpPr/>
          <p:nvPr/>
        </p:nvSpPr>
        <p:spPr>
          <a:xfrm>
            <a:off x="1589632" y="2413338"/>
            <a:ext cx="7007716" cy="353943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chemeClr val="dk1"/>
                </a:solidFill>
                <a:latin typeface="Calibri"/>
                <a:ea typeface="Calibri"/>
                <a:cs typeface="Calibri"/>
                <a:sym typeface="Calibri"/>
              </a:rPr>
              <a:t>Is each of the following magnetic, optical or Solid State storage?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Calibri"/>
              <a:ea typeface="Calibri"/>
              <a:cs typeface="Calibri"/>
              <a:sym typeface="Calibri"/>
            </a:endParaRPr>
          </a:p>
          <a:p>
            <a:pPr indent="-514350" lvl="0" marL="514350" marR="0" rtl="0" algn="l">
              <a:lnSpc>
                <a:spcPct val="100000"/>
              </a:lnSpc>
              <a:spcBef>
                <a:spcPts val="0"/>
              </a:spcBef>
              <a:spcAft>
                <a:spcPts val="0"/>
              </a:spcAft>
              <a:buClr>
                <a:schemeClr val="dk1"/>
              </a:buClr>
              <a:buSzPts val="2800"/>
              <a:buFont typeface="Calibri"/>
              <a:buAutoNum type="arabicPeriod"/>
            </a:pPr>
            <a:r>
              <a:rPr b="0" i="0" lang="en-GB" sz="2800" u="none" cap="none" strike="noStrike">
                <a:solidFill>
                  <a:schemeClr val="dk1"/>
                </a:solidFill>
                <a:latin typeface="Calibri"/>
                <a:ea typeface="Calibri"/>
                <a:cs typeface="Calibri"/>
                <a:sym typeface="Calibri"/>
              </a:rPr>
              <a:t>Tape drive/data tape</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800"/>
              <a:buFont typeface="Calibri"/>
              <a:buAutoNum type="arabicPeriod"/>
            </a:pPr>
            <a:r>
              <a:rPr b="0" i="0" lang="en-GB" sz="2800" u="none" cap="none" strike="noStrike">
                <a:solidFill>
                  <a:schemeClr val="dk1"/>
                </a:solidFill>
                <a:latin typeface="Calibri"/>
                <a:ea typeface="Calibri"/>
                <a:cs typeface="Calibri"/>
                <a:sym typeface="Calibri"/>
              </a:rPr>
              <a:t>DVD drive/DVD</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800"/>
              <a:buFont typeface="Calibri"/>
              <a:buAutoNum type="arabicPeriod"/>
            </a:pPr>
            <a:r>
              <a:rPr b="0" i="0" lang="en-GB" sz="2800" u="none" cap="none" strike="noStrike">
                <a:solidFill>
                  <a:schemeClr val="dk1"/>
                </a:solidFill>
                <a:latin typeface="Calibri"/>
                <a:ea typeface="Calibri"/>
                <a:cs typeface="Calibri"/>
                <a:sym typeface="Calibri"/>
              </a:rPr>
              <a:t>Memory stick</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800"/>
              <a:buFont typeface="Calibri"/>
              <a:buAutoNum type="arabicPeriod"/>
            </a:pPr>
            <a:r>
              <a:rPr b="0" i="0" lang="en-GB" sz="2800" u="none" cap="none" strike="noStrike">
                <a:solidFill>
                  <a:schemeClr val="dk1"/>
                </a:solidFill>
                <a:latin typeface="Calibri"/>
                <a:ea typeface="Calibri"/>
                <a:cs typeface="Calibri"/>
                <a:sym typeface="Calibri"/>
              </a:rPr>
              <a:t>Hard drive</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800"/>
              <a:buFont typeface="Calibri"/>
              <a:buAutoNum type="arabicPeriod"/>
            </a:pPr>
            <a:r>
              <a:rPr b="0" i="0" lang="en-GB" sz="2800" u="none" cap="none" strike="noStrike">
                <a:solidFill>
                  <a:schemeClr val="dk1"/>
                </a:solidFill>
                <a:latin typeface="Calibri"/>
                <a:ea typeface="Calibri"/>
                <a:cs typeface="Calibri"/>
                <a:sym typeface="Calibri"/>
              </a:rPr>
              <a:t>CD drive/CD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3"/>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2</a:t>
            </a:r>
            <a:endParaRPr/>
          </a:p>
        </p:txBody>
      </p:sp>
      <p:sp>
        <p:nvSpPr>
          <p:cNvPr id="160" name="Google Shape;160;p23"/>
          <p:cNvSpPr/>
          <p:nvPr/>
        </p:nvSpPr>
        <p:spPr>
          <a:xfrm>
            <a:off x="1589631" y="2065469"/>
            <a:ext cx="8667551" cy="409342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dk1"/>
                </a:solidFill>
                <a:latin typeface="Calibri"/>
                <a:ea typeface="Calibri"/>
                <a:cs typeface="Calibri"/>
                <a:sym typeface="Calibri"/>
              </a:rPr>
              <a:t>James works in an office. He has prepared a presentation to show the company director at the next board meeting. He is unsure of the best way to transfer the presentation from his PC to the presentation laptop. Which storage device/medium would be best?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chemeClr val="dk1"/>
              </a:solidFill>
              <a:latin typeface="Calibri"/>
              <a:ea typeface="Calibri"/>
              <a:cs typeface="Calibri"/>
              <a:sym typeface="Calibri"/>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Magnetic hard drive</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CD drive/CD</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Memory stick</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Solid State Drive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4"/>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3</a:t>
            </a:r>
            <a:endParaRPr/>
          </a:p>
        </p:txBody>
      </p:sp>
      <p:sp>
        <p:nvSpPr>
          <p:cNvPr id="167" name="Google Shape;167;p24"/>
          <p:cNvSpPr/>
          <p:nvPr/>
        </p:nvSpPr>
        <p:spPr>
          <a:xfrm>
            <a:off x="1589631" y="2065469"/>
            <a:ext cx="8667551" cy="409342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dk1"/>
                </a:solidFill>
                <a:latin typeface="Calibri"/>
                <a:ea typeface="Calibri"/>
                <a:cs typeface="Calibri"/>
                <a:sym typeface="Calibri"/>
              </a:rPr>
              <a:t>Jennifer has got back from a holiday with her family and wants to send the photographs she took while she was away to her grandparents in Scotland. They do not have access to the internet, but they do have a PC. Which storage device/medium would be best?</a:t>
            </a:r>
            <a:endParaRPr b="0" i="0" sz="2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chemeClr val="dk1"/>
              </a:solidFill>
              <a:latin typeface="Calibri"/>
              <a:ea typeface="Calibri"/>
              <a:cs typeface="Calibri"/>
              <a:sym typeface="Calibri"/>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Memory card</a:t>
            </a:r>
            <a:endParaRPr b="0" i="0" sz="2600" u="none" cap="none" strike="noStrike">
              <a:solidFill>
                <a:schemeClr val="dk1"/>
              </a:solidFill>
              <a:latin typeface="Calibri"/>
              <a:ea typeface="Calibri"/>
              <a:cs typeface="Calibri"/>
              <a:sym typeface="Calibri"/>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Memory stick</a:t>
            </a:r>
            <a:endParaRPr b="0" i="0" sz="2600" u="none" cap="none" strike="noStrike">
              <a:solidFill>
                <a:schemeClr val="dk1"/>
              </a:solidFill>
              <a:latin typeface="Calibri"/>
              <a:ea typeface="Calibri"/>
              <a:cs typeface="Calibri"/>
              <a:sym typeface="Calibri"/>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Tape drive/data tape</a:t>
            </a:r>
            <a:endParaRPr b="0" i="0" sz="2600" u="none" cap="none" strike="noStrike">
              <a:solidFill>
                <a:schemeClr val="dk1"/>
              </a:solidFill>
              <a:latin typeface="Calibri"/>
              <a:ea typeface="Calibri"/>
              <a:cs typeface="Calibri"/>
              <a:sym typeface="Calibri"/>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CD drive/CD</a:t>
            </a:r>
            <a:endParaRPr b="0" i="0" sz="26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5"/>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4</a:t>
            </a:r>
            <a:endParaRPr/>
          </a:p>
        </p:txBody>
      </p:sp>
      <p:sp>
        <p:nvSpPr>
          <p:cNvPr id="174" name="Google Shape;174;p25"/>
          <p:cNvSpPr/>
          <p:nvPr/>
        </p:nvSpPr>
        <p:spPr>
          <a:xfrm>
            <a:off x="1589631" y="2065469"/>
            <a:ext cx="8667551" cy="369331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dk1"/>
                </a:solidFill>
                <a:latin typeface="Calibri"/>
                <a:ea typeface="Calibri"/>
                <a:cs typeface="Calibri"/>
                <a:sym typeface="Calibri"/>
              </a:rPr>
              <a:t>Kalib works for HodderVids, a new company that makes videos for clients. The high-definition files can be quite large (2–4 GB each). What is the best storage device/medium for transferring the files to clients?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chemeClr val="dk1"/>
              </a:solidFill>
              <a:latin typeface="Calibri"/>
              <a:ea typeface="Calibri"/>
              <a:cs typeface="Calibri"/>
              <a:sym typeface="Calibri"/>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Memory stick</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DVD drive/DVD</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Solid State Drive</a:t>
            </a:r>
            <a:endParaRPr b="0" i="0" sz="1400" u="none" cap="none" strike="noStrike">
              <a:solidFill>
                <a:srgbClr val="000000"/>
              </a:solidFill>
              <a:latin typeface="Arial"/>
              <a:ea typeface="Arial"/>
              <a:cs typeface="Arial"/>
              <a:sym typeface="Arial"/>
            </a:endParaRPr>
          </a:p>
          <a:p>
            <a:pPr indent="-514350" lvl="0" marL="514350" marR="0" rtl="0" algn="l">
              <a:lnSpc>
                <a:spcPct val="100000"/>
              </a:lnSpc>
              <a:spcBef>
                <a:spcPts val="0"/>
              </a:spcBef>
              <a:spcAft>
                <a:spcPts val="0"/>
              </a:spcAft>
              <a:buClr>
                <a:schemeClr val="dk1"/>
              </a:buClr>
              <a:buSzPts val="2600"/>
              <a:buFont typeface="Calibri"/>
              <a:buAutoNum type="arabicPeriod"/>
            </a:pPr>
            <a:r>
              <a:rPr b="0" i="0" lang="en-GB" sz="2600" u="none" cap="none" strike="noStrike">
                <a:solidFill>
                  <a:schemeClr val="dk1"/>
                </a:solidFill>
                <a:latin typeface="Calibri"/>
                <a:ea typeface="Calibri"/>
                <a:cs typeface="Calibri"/>
                <a:sym typeface="Calibri"/>
              </a:rPr>
              <a:t>Blu-ray Disc drive/Blu-ray Disc</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6"/>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a:t>
            </a:r>
            <a:endParaRPr b="1">
              <a:solidFill>
                <a:schemeClr val="lt1"/>
              </a:solidFill>
            </a:endParaRPr>
          </a:p>
        </p:txBody>
      </p:sp>
      <p:pic>
        <p:nvPicPr>
          <p:cNvPr id="181" name="Google Shape;181;p26"/>
          <p:cNvPicPr preferRelativeResize="0"/>
          <p:nvPr/>
        </p:nvPicPr>
        <p:blipFill rotWithShape="1">
          <a:blip r:embed="rId3">
            <a:alphaModFix/>
          </a:blip>
          <a:srcRect b="0" l="0" r="0" t="0"/>
          <a:stretch/>
        </p:blipFill>
        <p:spPr>
          <a:xfrm>
            <a:off x="3983974" y="1737995"/>
            <a:ext cx="5249008" cy="504895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7"/>
          <p:cNvSpPr txBox="1"/>
          <p:nvPr>
            <p:ph type="title"/>
          </p:nvPr>
        </p:nvSpPr>
        <p:spPr>
          <a:xfrm>
            <a:off x="204400" y="2747525"/>
            <a:ext cx="11208900" cy="8658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197AC"/>
              </a:buClr>
              <a:buSzPts val="3200"/>
              <a:buFont typeface="Calibri"/>
              <a:buNone/>
            </a:pPr>
            <a:r>
              <a:rPr b="1" lang="en-GB" sz="3200">
                <a:solidFill>
                  <a:srgbClr val="2197AC"/>
                </a:solidFill>
              </a:rPr>
              <a:t>Activity 3.3: Comparing secondary storage devices/media</a:t>
            </a:r>
            <a:endParaRPr sz="3200"/>
          </a:p>
        </p:txBody>
      </p:sp>
      <p:sp>
        <p:nvSpPr>
          <p:cNvPr id="188" name="Google Shape;188;p27"/>
          <p:cNvSpPr txBox="1"/>
          <p:nvPr/>
        </p:nvSpPr>
        <p:spPr>
          <a:xfrm>
            <a:off x="204400" y="1710475"/>
            <a:ext cx="11752800" cy="8658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3600"/>
              <a:buFont typeface="Calibri"/>
              <a:buNone/>
            </a:pPr>
            <a:r>
              <a:rPr b="1" i="0" lang="en-GB" sz="3200" u="none" cap="none" strike="noStrike">
                <a:solidFill>
                  <a:srgbClr val="0089A7"/>
                </a:solidFill>
                <a:latin typeface="Calibri"/>
                <a:ea typeface="Calibri"/>
                <a:cs typeface="Calibri"/>
                <a:sym typeface="Calibri"/>
              </a:rPr>
              <a:t>Activity 3.4: Choosing secondary storage devices/media </a:t>
            </a:r>
            <a:endParaRPr b="1" i="0" sz="3200" u="none" cap="none" strike="noStrike">
              <a:solidFill>
                <a:srgbClr val="0089A7"/>
              </a:solidFill>
              <a:latin typeface="Calibri"/>
              <a:ea typeface="Calibri"/>
              <a:cs typeface="Calibri"/>
              <a:sym typeface="Calibri"/>
            </a:endParaRPr>
          </a:p>
        </p:txBody>
      </p:sp>
      <p:pic>
        <p:nvPicPr>
          <p:cNvPr descr="A picture containing athletic game, basketball, sport&#10;&#10;Description automatically generated" id="189" name="Google Shape;189;p27"/>
          <p:cNvPicPr preferRelativeResize="0"/>
          <p:nvPr/>
        </p:nvPicPr>
        <p:blipFill rotWithShape="1">
          <a:blip r:embed="rId3">
            <a:alphaModFix/>
          </a:blip>
          <a:srcRect b="0" l="0" r="0" t="0"/>
          <a:stretch/>
        </p:blipFill>
        <p:spPr>
          <a:xfrm>
            <a:off x="4641139" y="3613329"/>
            <a:ext cx="3044218" cy="298268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