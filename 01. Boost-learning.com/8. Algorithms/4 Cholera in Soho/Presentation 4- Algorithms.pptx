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8" r:id="rId10"/>
    <p:sldId id="277" r:id="rId11"/>
    <p:sldId id="270" r:id="rId12"/>
    <p:sldId id="267" r:id="rId13"/>
    <p:sldId id="271" r:id="rId14"/>
    <p:sldId id="273" r:id="rId15"/>
    <p:sldId id="272"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6" autoAdjust="0"/>
    <p:restoredTop sz="94660"/>
  </p:normalViewPr>
  <p:slideViewPr>
    <p:cSldViewPr snapToGrid="0">
      <p:cViewPr varScale="1">
        <p:scale>
          <a:sx n="110" d="100"/>
          <a:sy n="110" d="100"/>
        </p:scale>
        <p:origin x="2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6" name="Picture 5">
            <a:extLst>
              <a:ext uri="{FF2B5EF4-FFF2-40B4-BE49-F238E27FC236}">
                <a16:creationId xmlns:a16="http://schemas.microsoft.com/office/drawing/2014/main" id="{9F570252-6D27-224F-B897-578AE4F8D1E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1641616"/>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1F750F5-9BE7-428B-865A-760BC6100F77}"/>
              </a:ext>
            </a:extLst>
          </p:cNvPr>
          <p:cNvSpPr>
            <a:spLocks noGrp="1"/>
          </p:cNvSpPr>
          <p:nvPr>
            <p:ph type="ctrTitle"/>
          </p:nvPr>
        </p:nvSpPr>
        <p:spPr>
          <a:xfrm>
            <a:off x="1864450" y="2971075"/>
            <a:ext cx="4231550" cy="915850"/>
          </a:xfrm>
        </p:spPr>
        <p:txBody>
          <a:bodyPr/>
          <a:lstStyle/>
          <a:p>
            <a:pPr algn="r"/>
            <a:r>
              <a:rPr lang="en-GB" b="1" dirty="0"/>
              <a:t>Algorithms</a:t>
            </a:r>
          </a:p>
        </p:txBody>
      </p:sp>
      <p:sp>
        <p:nvSpPr>
          <p:cNvPr id="8" name="Rectangle 7">
            <a:extLst>
              <a:ext uri="{FF2B5EF4-FFF2-40B4-BE49-F238E27FC236}">
                <a16:creationId xmlns:a16="http://schemas.microsoft.com/office/drawing/2014/main" id="{83857DB8-6307-48C9-81A3-8AE5B9166EDC}"/>
              </a:ext>
            </a:extLst>
          </p:cNvPr>
          <p:cNvSpPr/>
          <p:nvPr/>
        </p:nvSpPr>
        <p:spPr>
          <a:xfrm>
            <a:off x="2475879" y="3886925"/>
            <a:ext cx="3620121" cy="400110"/>
          </a:xfrm>
          <a:prstGeom prst="rect">
            <a:avLst/>
          </a:prstGeom>
        </p:spPr>
        <p:txBody>
          <a:bodyPr wrap="square">
            <a:spAutoFit/>
          </a:bodyPr>
          <a:lstStyle/>
          <a:p>
            <a:pPr algn="r"/>
            <a:r>
              <a:rPr lang="en-GB" sz="2000" b="1" dirty="0">
                <a:solidFill>
                  <a:srgbClr val="00B0F0"/>
                </a:solidFill>
                <a:latin typeface="Calibri" panose="020F0502020204030204" pitchFamily="34" charset="0"/>
                <a:ea typeface="Times New Roman" panose="02020603050405020304" pitchFamily="18" charset="0"/>
              </a:rPr>
              <a:t>Lesson 4: Cholera in Soho</a:t>
            </a:r>
          </a:p>
        </p:txBody>
      </p:sp>
      <p:pic>
        <p:nvPicPr>
          <p:cNvPr id="9" name="Picture 8" descr="A picture containing text, electronics, display, screenshot&#10;&#10;Description automatically generated">
            <a:extLst>
              <a:ext uri="{FF2B5EF4-FFF2-40B4-BE49-F238E27FC236}">
                <a16:creationId xmlns:a16="http://schemas.microsoft.com/office/drawing/2014/main" id="{19267D56-3604-479F-9E8E-527C99770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7429" y="2607043"/>
            <a:ext cx="2937410" cy="2420426"/>
          </a:xfrm>
          <a:prstGeom prst="rect">
            <a:avLst/>
          </a:prstGeom>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80322" y="874643"/>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580322" y="2244060"/>
            <a:ext cx="8199404" cy="2369880"/>
          </a:xfrm>
          <a:prstGeom prst="rect">
            <a:avLst/>
          </a:prstGeom>
        </p:spPr>
        <p:txBody>
          <a:bodyPr wrap="square">
            <a:spAutoFit/>
          </a:bodyPr>
          <a:lstStyle/>
          <a:p>
            <a:pPr>
              <a:spcAft>
                <a:spcPts val="0"/>
              </a:spcAft>
            </a:pPr>
            <a:r>
              <a:rPr lang="en-GB" sz="2800" dirty="0">
                <a:latin typeface="Calibri" panose="020F0502020204030204" pitchFamily="34" charset="0"/>
                <a:ea typeface="Times New Roman" panose="02020603050405020304" pitchFamily="18" charset="0"/>
              </a:rPr>
              <a:t>In this lesson, you will learn how to:</a:t>
            </a:r>
            <a:endParaRPr lang="en-GB" sz="2800"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use decomposition and abstraction to gain an understanding of a real-world problem</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apply pattern recognition to identify the cause of a real-world problem and understand how it can be solved</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analyse different approaches to solving problems.</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845862"/>
          </a:xfrm>
        </p:spPr>
        <p:txBody>
          <a:bodyPr/>
          <a:lstStyle/>
          <a:p>
            <a:r>
              <a:rPr lang="en-GB" b="1" dirty="0">
                <a:solidFill>
                  <a:schemeClr val="bg1"/>
                </a:solidFill>
              </a:rPr>
              <a:t>The Soho cholera outbreak of 1854 </a:t>
            </a:r>
          </a:p>
        </p:txBody>
      </p:sp>
      <p:sp>
        <p:nvSpPr>
          <p:cNvPr id="3" name="Rectangle 2">
            <a:extLst>
              <a:ext uri="{FF2B5EF4-FFF2-40B4-BE49-F238E27FC236}">
                <a16:creationId xmlns:a16="http://schemas.microsoft.com/office/drawing/2014/main" id="{FE9FBE1F-1E6D-3A42-BFA6-D6CC1C29A554}"/>
              </a:ext>
            </a:extLst>
          </p:cNvPr>
          <p:cNvSpPr/>
          <p:nvPr/>
        </p:nvSpPr>
        <p:spPr>
          <a:xfrm>
            <a:off x="1580322" y="2109692"/>
            <a:ext cx="5943884" cy="3934154"/>
          </a:xfrm>
          <a:prstGeom prst="rect">
            <a:avLst/>
          </a:prstGeom>
        </p:spPr>
        <p:txBody>
          <a:bodyPr wrap="square">
            <a:spAutoFit/>
          </a:bodyPr>
          <a:lstStyle/>
          <a:p>
            <a:pPr>
              <a:spcAft>
                <a:spcPts val="600"/>
              </a:spcAft>
            </a:pPr>
            <a:r>
              <a:rPr lang="en-GB" sz="2000" dirty="0"/>
              <a:t>Covid-19 has had a big impact on our lives since the beginning of 2020, but the experience of battling disease is not new and we have overcome serious health crises in the past.</a:t>
            </a:r>
          </a:p>
          <a:p>
            <a:pPr>
              <a:lnSpc>
                <a:spcPct val="115000"/>
              </a:lnSpc>
              <a:spcAft>
                <a:spcPts val="600"/>
              </a:spcAft>
            </a:pPr>
            <a:r>
              <a:rPr lang="en-GB" sz="2000" dirty="0">
                <a:ea typeface="Arial" panose="020B0604020202020204" pitchFamily="34" charset="0"/>
              </a:rPr>
              <a:t>In 1854, the Soho district of London was being ravaged by cholera. Hundreds of people were already dead and more were dying every day.</a:t>
            </a:r>
          </a:p>
          <a:p>
            <a:pPr>
              <a:lnSpc>
                <a:spcPct val="115000"/>
              </a:lnSpc>
              <a:spcAft>
                <a:spcPts val="600"/>
              </a:spcAft>
            </a:pPr>
            <a:r>
              <a:rPr lang="en-GB" sz="2000" dirty="0">
                <a:ea typeface="Arial" panose="020B0604020202020204" pitchFamily="34" charset="0"/>
              </a:rPr>
              <a:t>Bacteria had not yet been identified as the cause of cholera. A commonly held view was that it was ‘miasma’, foul-smelling air, possibly from the highly polluted River Thames, that spread the disease.</a:t>
            </a:r>
          </a:p>
        </p:txBody>
      </p:sp>
      <p:pic>
        <p:nvPicPr>
          <p:cNvPr id="8" name="Picture 7" descr="A picture containing text, book&#10;&#10;Description automatically generated">
            <a:extLst>
              <a:ext uri="{FF2B5EF4-FFF2-40B4-BE49-F238E27FC236}">
                <a16:creationId xmlns:a16="http://schemas.microsoft.com/office/drawing/2014/main" id="{AB82A11A-2014-4FF9-92B9-CE69B7B81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7182" y="2434412"/>
            <a:ext cx="4119508" cy="3130826"/>
          </a:xfrm>
          <a:prstGeom prst="rect">
            <a:avLst/>
          </a:prstGeom>
        </p:spPr>
      </p:pic>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854765"/>
            <a:ext cx="10197548" cy="765313"/>
          </a:xfrm>
        </p:spPr>
        <p:txBody>
          <a:bodyPr>
            <a:noAutofit/>
          </a:bodyPr>
          <a:lstStyle/>
          <a:p>
            <a:r>
              <a:rPr lang="en-GB" b="1" dirty="0">
                <a:solidFill>
                  <a:prstClr val="white"/>
                </a:solidFill>
              </a:rPr>
              <a:t>Dr John Snow </a:t>
            </a:r>
            <a:endParaRPr lang="en-GB" b="1" dirty="0">
              <a:solidFill>
                <a:schemeClr val="bg1"/>
              </a:solidFill>
            </a:endParaRP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2209546"/>
            <a:ext cx="5660288" cy="3327767"/>
          </a:xfrm>
        </p:spPr>
        <p:txBody>
          <a:bodyPr>
            <a:noAutofit/>
          </a:bodyPr>
          <a:lstStyle/>
          <a:p>
            <a:pPr marL="0" indent="0">
              <a:buNone/>
            </a:pPr>
            <a:r>
              <a:rPr lang="en-GB" sz="2400" dirty="0"/>
              <a:t>This was the challenge facing Dr John Snow.</a:t>
            </a:r>
          </a:p>
          <a:p>
            <a:pPr marL="0" indent="0">
              <a:buNone/>
            </a:pPr>
            <a:r>
              <a:rPr lang="en-GB" sz="2400" dirty="0"/>
              <a:t>He did not accept the miasma theory and set about proving that something else was causing the spread of cholera in Soho.</a:t>
            </a:r>
          </a:p>
          <a:p>
            <a:pPr marL="0" indent="0">
              <a:buNone/>
            </a:pPr>
            <a:r>
              <a:rPr lang="en-GB" sz="2400" dirty="0"/>
              <a:t>Although the term was not used at the time, Dr Snow applied some of the principles of </a:t>
            </a:r>
            <a:r>
              <a:rPr lang="en-GB" sz="2400" b="1" dirty="0">
                <a:solidFill>
                  <a:srgbClr val="0069B4"/>
                </a:solidFill>
              </a:rPr>
              <a:t>computational thinking</a:t>
            </a:r>
            <a:r>
              <a:rPr lang="en-GB" sz="2400" dirty="0">
                <a:solidFill>
                  <a:srgbClr val="0069B4"/>
                </a:solidFill>
              </a:rPr>
              <a:t> </a:t>
            </a:r>
            <a:r>
              <a:rPr lang="en-GB" sz="2400" dirty="0"/>
              <a:t>as he set about working out what was killing people.</a:t>
            </a:r>
          </a:p>
        </p:txBody>
      </p:sp>
      <p:pic>
        <p:nvPicPr>
          <p:cNvPr id="6" name="Picture 5">
            <a:extLst>
              <a:ext uri="{FF2B5EF4-FFF2-40B4-BE49-F238E27FC236}">
                <a16:creationId xmlns:a16="http://schemas.microsoft.com/office/drawing/2014/main" id="{FD6496D2-4311-4D76-9011-C1A4CD7A8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4137" y="1879386"/>
            <a:ext cx="3249367" cy="4123849"/>
          </a:xfrm>
          <a:prstGeom prst="rect">
            <a:avLst/>
          </a:prstGeom>
        </p:spPr>
      </p:pic>
    </p:spTree>
    <p:extLst>
      <p:ext uri="{BB962C8B-B14F-4D97-AF65-F5344CB8AC3E}">
        <p14:creationId xmlns:p14="http://schemas.microsoft.com/office/powerpoint/2010/main" val="30057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600201" y="844826"/>
            <a:ext cx="9753598" cy="775252"/>
          </a:xfrm>
        </p:spPr>
        <p:txBody>
          <a:bodyPr/>
          <a:lstStyle/>
          <a:p>
            <a:r>
              <a:rPr lang="en-GB" b="1" dirty="0">
                <a:solidFill>
                  <a:schemeClr val="bg1"/>
                </a:solidFill>
              </a:rPr>
              <a:t>Understanding the problem  </a:t>
            </a:r>
          </a:p>
        </p:txBody>
      </p:sp>
      <p:sp>
        <p:nvSpPr>
          <p:cNvPr id="3" name="Content Placeholder 2">
            <a:extLst>
              <a:ext uri="{FF2B5EF4-FFF2-40B4-BE49-F238E27FC236}">
                <a16:creationId xmlns:a16="http://schemas.microsoft.com/office/drawing/2014/main" id="{928FB485-6993-428E-81B4-749465982CC5}"/>
              </a:ext>
            </a:extLst>
          </p:cNvPr>
          <p:cNvSpPr>
            <a:spLocks noGrp="1"/>
          </p:cNvSpPr>
          <p:nvPr>
            <p:ph idx="1"/>
          </p:nvPr>
        </p:nvSpPr>
        <p:spPr>
          <a:xfrm>
            <a:off x="1600201" y="1905137"/>
            <a:ext cx="8736873" cy="4351338"/>
          </a:xfrm>
        </p:spPr>
        <p:txBody>
          <a:bodyPr>
            <a:noAutofit/>
          </a:bodyPr>
          <a:lstStyle/>
          <a:p>
            <a:pPr marL="0" indent="0">
              <a:buNone/>
            </a:pPr>
            <a:r>
              <a:rPr lang="en-GB" sz="2000" dirty="0"/>
              <a:t>Dr Snow's first goal was to understand the outbreak.</a:t>
            </a:r>
          </a:p>
          <a:p>
            <a:pPr marL="0" indent="0">
              <a:buNone/>
            </a:pPr>
            <a:r>
              <a:rPr lang="en-GB" sz="2000" dirty="0"/>
              <a:t>He began by applying </a:t>
            </a:r>
            <a:r>
              <a:rPr lang="en-GB" sz="2000" b="1" dirty="0">
                <a:solidFill>
                  <a:srgbClr val="0069B4"/>
                </a:solidFill>
              </a:rPr>
              <a:t>decomposition</a:t>
            </a:r>
            <a:r>
              <a:rPr lang="en-GB" sz="2000" dirty="0">
                <a:solidFill>
                  <a:srgbClr val="00B0F0"/>
                </a:solidFill>
              </a:rPr>
              <a:t> </a:t>
            </a:r>
            <a:r>
              <a:rPr lang="en-GB" sz="2000" dirty="0"/>
              <a:t>and </a:t>
            </a:r>
            <a:r>
              <a:rPr lang="en-GB" sz="2000" b="1" dirty="0">
                <a:solidFill>
                  <a:srgbClr val="0069B4"/>
                </a:solidFill>
              </a:rPr>
              <a:t>pattern recognition</a:t>
            </a:r>
            <a:r>
              <a:rPr lang="en-GB" sz="2000" dirty="0"/>
              <a:t>, asking questions and gathering as much data as he could and examining it for patterns.</a:t>
            </a:r>
          </a:p>
          <a:p>
            <a:pPr marL="0" indent="0">
              <a:buNone/>
            </a:pPr>
            <a:r>
              <a:rPr lang="en-GB" sz="2000" dirty="0"/>
              <a:t>Here are some of the vital clues Dr Snow collected:</a:t>
            </a:r>
          </a:p>
          <a:p>
            <a:pPr lvl="0"/>
            <a:r>
              <a:rPr lang="en-GB" sz="2000" dirty="0"/>
              <a:t>Brewery workers rarely caught cholera. They did not drink water, preferring to drink the free beer available to them.</a:t>
            </a:r>
          </a:p>
          <a:p>
            <a:pPr lvl="0"/>
            <a:r>
              <a:rPr lang="en-GB" sz="2000" dirty="0"/>
              <a:t>A workhouse near Soho had 535 inmates but almost no cases of cholera. The workhouse had its own well.</a:t>
            </a:r>
          </a:p>
          <a:p>
            <a:pPr lvl="0"/>
            <a:r>
              <a:rPr lang="en-GB" sz="2000" dirty="0"/>
              <a:t>Two women living some distance from Soho died of cholera. They had water from the Broad Street pump in Soho brough to them regularly.</a:t>
            </a:r>
          </a:p>
          <a:p>
            <a:pPr lvl="0"/>
            <a:r>
              <a:rPr lang="en-GB" sz="2000" dirty="0"/>
              <a:t>Hundreds of people contracted cholera after spending time in schools, restaurants, businesses and pubs near the Broad Street pump.</a:t>
            </a:r>
          </a:p>
          <a:p>
            <a:pPr marL="0" indent="0">
              <a:buNone/>
            </a:pPr>
            <a:endParaRPr lang="en-GB" dirty="0"/>
          </a:p>
        </p:txBody>
      </p:sp>
    </p:spTree>
    <p:extLst>
      <p:ext uri="{BB962C8B-B14F-4D97-AF65-F5344CB8AC3E}">
        <p14:creationId xmlns:p14="http://schemas.microsoft.com/office/powerpoint/2010/main" val="353817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BA82-FE7D-4DE6-BC00-A388E38B624C}"/>
              </a:ext>
            </a:extLst>
          </p:cNvPr>
          <p:cNvSpPr>
            <a:spLocks noGrp="1"/>
          </p:cNvSpPr>
          <p:nvPr>
            <p:ph type="title"/>
          </p:nvPr>
        </p:nvSpPr>
        <p:spPr>
          <a:xfrm>
            <a:off x="1560442" y="834888"/>
            <a:ext cx="9793357" cy="817010"/>
          </a:xfrm>
        </p:spPr>
        <p:txBody>
          <a:bodyPr/>
          <a:lstStyle/>
          <a:p>
            <a:r>
              <a:rPr lang="en-GB" b="1" dirty="0">
                <a:solidFill>
                  <a:schemeClr val="bg1"/>
                </a:solidFill>
              </a:rPr>
              <a:t>Collecting data  </a:t>
            </a:r>
          </a:p>
        </p:txBody>
      </p:sp>
      <p:sp>
        <p:nvSpPr>
          <p:cNvPr id="3" name="Content Placeholder 2">
            <a:extLst>
              <a:ext uri="{FF2B5EF4-FFF2-40B4-BE49-F238E27FC236}">
                <a16:creationId xmlns:a16="http://schemas.microsoft.com/office/drawing/2014/main" id="{64D89CB4-E14F-4A81-9700-8E0CB5DA89CB}"/>
              </a:ext>
            </a:extLst>
          </p:cNvPr>
          <p:cNvSpPr>
            <a:spLocks noGrp="1"/>
          </p:cNvSpPr>
          <p:nvPr>
            <p:ph idx="1"/>
          </p:nvPr>
        </p:nvSpPr>
        <p:spPr>
          <a:xfrm>
            <a:off x="1560442" y="2113860"/>
            <a:ext cx="8219284" cy="3433500"/>
          </a:xfrm>
        </p:spPr>
        <p:txBody>
          <a:bodyPr>
            <a:normAutofit/>
          </a:bodyPr>
          <a:lstStyle/>
          <a:p>
            <a:pPr marL="0" indent="0">
              <a:buNone/>
            </a:pPr>
            <a:r>
              <a:rPr lang="en-GB" sz="2400" dirty="0"/>
              <a:t>Dr Snow also compiled a detailed ‘spot map’ to record the locations where people died of cholera.</a:t>
            </a:r>
          </a:p>
          <a:p>
            <a:pPr marL="0" indent="0">
              <a:buNone/>
            </a:pPr>
            <a:r>
              <a:rPr lang="en-GB" sz="2400" dirty="0"/>
              <a:t>The map is an </a:t>
            </a:r>
            <a:r>
              <a:rPr lang="en-GB" sz="2400" b="1" dirty="0">
                <a:solidFill>
                  <a:srgbClr val="0069B4"/>
                </a:solidFill>
              </a:rPr>
              <a:t>abstraction</a:t>
            </a:r>
            <a:r>
              <a:rPr lang="en-GB" sz="2400" dirty="0"/>
              <a:t> of the cholera outbreak. Each bar drawn on the map represents a person who died.</a:t>
            </a:r>
          </a:p>
          <a:p>
            <a:pPr marL="0" indent="0">
              <a:buNone/>
            </a:pPr>
            <a:r>
              <a:rPr lang="en-GB" sz="2400" dirty="0"/>
              <a:t>Without lots of personal information about each person, Dr Snow was able to recognise patterns in the locations of infected people.</a:t>
            </a:r>
          </a:p>
        </p:txBody>
      </p:sp>
    </p:spTree>
    <p:extLst>
      <p:ext uri="{BB962C8B-B14F-4D97-AF65-F5344CB8AC3E}">
        <p14:creationId xmlns:p14="http://schemas.microsoft.com/office/powerpoint/2010/main" val="3615003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Diagram&#10;&#10;Description automatically generated">
            <a:extLst>
              <a:ext uri="{FF2B5EF4-FFF2-40B4-BE49-F238E27FC236}">
                <a16:creationId xmlns:a16="http://schemas.microsoft.com/office/drawing/2014/main" id="{37EABCD6-4DD2-40FD-9A56-8F2DEBF724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709" y="1983457"/>
            <a:ext cx="2750885" cy="4524103"/>
          </a:xfrm>
          <a:prstGeom prst="rect">
            <a:avLst/>
          </a:prstGeom>
        </p:spPr>
      </p:pic>
      <p:pic>
        <p:nvPicPr>
          <p:cNvPr id="11" name="Picture 10" descr="Diagram&#10;&#10;Description automatically generated">
            <a:extLst>
              <a:ext uri="{FF2B5EF4-FFF2-40B4-BE49-F238E27FC236}">
                <a16:creationId xmlns:a16="http://schemas.microsoft.com/office/drawing/2014/main" id="{188BC804-5C6C-45FB-A317-E47C075D1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0843" y="3400962"/>
            <a:ext cx="2146905" cy="2520279"/>
          </a:xfrm>
          <a:prstGeom prst="rect">
            <a:avLst/>
          </a:prstGeom>
        </p:spPr>
      </p:pic>
      <p:sp>
        <p:nvSpPr>
          <p:cNvPr id="6" name="Rectangle 5">
            <a:extLst>
              <a:ext uri="{FF2B5EF4-FFF2-40B4-BE49-F238E27FC236}">
                <a16:creationId xmlns:a16="http://schemas.microsoft.com/office/drawing/2014/main" id="{A40ABCFA-2E78-1A47-950D-D1D76F141129}"/>
              </a:ext>
            </a:extLst>
          </p:cNvPr>
          <p:cNvSpPr/>
          <p:nvPr/>
        </p:nvSpPr>
        <p:spPr>
          <a:xfrm>
            <a:off x="3477014" y="1738583"/>
            <a:ext cx="5237972" cy="489749"/>
          </a:xfrm>
          <a:prstGeom prst="rect">
            <a:avLst/>
          </a:prstGeom>
        </p:spPr>
        <p:txBody>
          <a:bodyPr wrap="none">
            <a:spAutoFit/>
          </a:bodyPr>
          <a:lstStyle/>
          <a:p>
            <a:pPr>
              <a:lnSpc>
                <a:spcPct val="115000"/>
              </a:lnSpc>
            </a:pPr>
            <a:r>
              <a:rPr lang="en-GB" sz="2400" dirty="0">
                <a:latin typeface="Calibri" panose="020F0502020204030204" pitchFamily="34" charset="0"/>
                <a:ea typeface="Arial" panose="020B0604020202020204" pitchFamily="34" charset="0"/>
              </a:rPr>
              <a:t>Here are two sections of Dr Snow's map:</a:t>
            </a:r>
            <a:endParaRPr lang="en-GB" sz="2400" dirty="0">
              <a:effectLst/>
              <a:latin typeface="Arial" panose="020B0604020202020204" pitchFamily="34" charset="0"/>
              <a:ea typeface="Arial" panose="020B0604020202020204" pitchFamily="34" charset="0"/>
            </a:endParaRPr>
          </a:p>
        </p:txBody>
      </p:sp>
      <p:sp>
        <p:nvSpPr>
          <p:cNvPr id="8" name="Rectangle 7">
            <a:extLst>
              <a:ext uri="{FF2B5EF4-FFF2-40B4-BE49-F238E27FC236}">
                <a16:creationId xmlns:a16="http://schemas.microsoft.com/office/drawing/2014/main" id="{13D10EB3-5056-F045-95EC-E3CD7B7CA3D8}"/>
              </a:ext>
            </a:extLst>
          </p:cNvPr>
          <p:cNvSpPr/>
          <p:nvPr/>
        </p:nvSpPr>
        <p:spPr>
          <a:xfrm>
            <a:off x="3642046" y="2795083"/>
            <a:ext cx="5441803" cy="1983107"/>
          </a:xfrm>
          <a:prstGeom prst="rect">
            <a:avLst/>
          </a:prstGeom>
          <a:ln>
            <a:solidFill>
              <a:srgbClr val="00B0F0"/>
            </a:solidFill>
          </a:ln>
        </p:spPr>
        <p:txBody>
          <a:bodyPr wrap="square">
            <a:spAutoFit/>
          </a:bodyPr>
          <a:lstStyle/>
          <a:p>
            <a:pPr>
              <a:lnSpc>
                <a:spcPct val="115000"/>
              </a:lnSpc>
            </a:pPr>
            <a:r>
              <a:rPr lang="en-GB" dirty="0">
                <a:latin typeface="Calibri" panose="020F0502020204030204" pitchFamily="34" charset="0"/>
                <a:ea typeface="Arial" panose="020B0604020202020204" pitchFamily="34" charset="0"/>
              </a:rPr>
              <a:t>Each bar represents a person who died of cholera. Some houses on Marshall Street have no bars; no one died in these houses. Some houses have four bars.</a:t>
            </a:r>
            <a:endParaRPr lang="en-GB" sz="1600" dirty="0">
              <a:latin typeface="Arial" panose="020B0604020202020204" pitchFamily="34" charset="0"/>
              <a:ea typeface="Arial" panose="020B0604020202020204" pitchFamily="34" charset="0"/>
            </a:endParaRPr>
          </a:p>
          <a:p>
            <a:pPr>
              <a:lnSpc>
                <a:spcPct val="115000"/>
              </a:lnSpc>
            </a:pPr>
            <a:r>
              <a:rPr lang="en-GB" dirty="0">
                <a:latin typeface="Calibri" panose="020F0502020204030204" pitchFamily="34" charset="0"/>
                <a:ea typeface="Arial" panose="020B0604020202020204" pitchFamily="34" charset="0"/>
              </a:rPr>
              <a:t>If we count all the bars that run parallel to the road, we can see that at least 31 people died in the portion of Marshall Street shown here.</a:t>
            </a:r>
            <a:endParaRPr lang="en-GB" sz="1600" dirty="0">
              <a:effectLst/>
              <a:latin typeface="Arial" panose="020B0604020202020204" pitchFamily="34" charset="0"/>
              <a:ea typeface="Arial" panose="020B0604020202020204" pitchFamily="34" charset="0"/>
            </a:endParaRPr>
          </a:p>
        </p:txBody>
      </p:sp>
      <p:sp>
        <p:nvSpPr>
          <p:cNvPr id="10" name="Rectangle 9">
            <a:extLst>
              <a:ext uri="{FF2B5EF4-FFF2-40B4-BE49-F238E27FC236}">
                <a16:creationId xmlns:a16="http://schemas.microsoft.com/office/drawing/2014/main" id="{AAC937C7-F347-1C4C-AA9E-69C1FD0F2021}"/>
              </a:ext>
            </a:extLst>
          </p:cNvPr>
          <p:cNvSpPr/>
          <p:nvPr/>
        </p:nvSpPr>
        <p:spPr>
          <a:xfrm>
            <a:off x="3712138" y="5333091"/>
            <a:ext cx="5441802" cy="1027461"/>
          </a:xfrm>
          <a:prstGeom prst="rect">
            <a:avLst/>
          </a:prstGeom>
          <a:ln>
            <a:solidFill>
              <a:srgbClr val="00B0F0"/>
            </a:solidFill>
          </a:ln>
        </p:spPr>
        <p:txBody>
          <a:bodyPr wrap="square">
            <a:spAutoFit/>
          </a:bodyPr>
          <a:lstStyle/>
          <a:p>
            <a:pPr>
              <a:lnSpc>
                <a:spcPct val="115000"/>
              </a:lnSpc>
            </a:pPr>
            <a:r>
              <a:rPr lang="en-GB" dirty="0">
                <a:latin typeface="Calibri" panose="020F0502020204030204" pitchFamily="34" charset="0"/>
                <a:ea typeface="Arial" panose="020B0604020202020204" pitchFamily="34" charset="0"/>
              </a:rPr>
              <a:t>Dr Snow's map also recorded the locations of the drinking water pumps, where people collected water. People did not have taps in their houses.</a:t>
            </a:r>
            <a:endParaRPr lang="en-GB" sz="1600" dirty="0">
              <a:effectLst/>
              <a:latin typeface="Arial" panose="020B0604020202020204" pitchFamily="34" charset="0"/>
              <a:ea typeface="Arial" panose="020B0604020202020204" pitchFamily="34" charset="0"/>
            </a:endParaRPr>
          </a:p>
        </p:txBody>
      </p:sp>
      <p:cxnSp>
        <p:nvCxnSpPr>
          <p:cNvPr id="12" name="Straight Arrow Connector 11">
            <a:extLst>
              <a:ext uri="{FF2B5EF4-FFF2-40B4-BE49-F238E27FC236}">
                <a16:creationId xmlns:a16="http://schemas.microsoft.com/office/drawing/2014/main" id="{A02F361F-C77B-5946-874C-0A839163F1CA}"/>
              </a:ext>
            </a:extLst>
          </p:cNvPr>
          <p:cNvCxnSpPr>
            <a:cxnSpLocks/>
          </p:cNvCxnSpPr>
          <p:nvPr/>
        </p:nvCxnSpPr>
        <p:spPr>
          <a:xfrm flipH="1">
            <a:off x="2586446" y="3400962"/>
            <a:ext cx="1055601" cy="38567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9B2BF0A-93C0-7442-8964-D889D49786B2}"/>
              </a:ext>
            </a:extLst>
          </p:cNvPr>
          <p:cNvCxnSpPr>
            <a:cxnSpLocks/>
          </p:cNvCxnSpPr>
          <p:nvPr/>
        </p:nvCxnSpPr>
        <p:spPr>
          <a:xfrm flipV="1">
            <a:off x="9153940" y="5016137"/>
            <a:ext cx="852209" cy="535577"/>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8936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7"/>
            <a:ext cx="9783417" cy="785191"/>
          </a:xfrm>
        </p:spPr>
        <p:txBody>
          <a:bodyPr/>
          <a:lstStyle/>
          <a:p>
            <a:r>
              <a:rPr lang="en-GB" b="1" dirty="0">
                <a:solidFill>
                  <a:schemeClr val="bg1"/>
                </a:solidFill>
              </a:rPr>
              <a:t>Activity 4.1: Dr Snow's cholera map</a:t>
            </a:r>
          </a:p>
        </p:txBody>
      </p:sp>
      <p:pic>
        <p:nvPicPr>
          <p:cNvPr id="4" name="Picture 3" descr="A picture containing athletic game, basketball, sport&#10;&#10;Description automatically generated">
            <a:extLst>
              <a:ext uri="{FF2B5EF4-FFF2-40B4-BE49-F238E27FC236}">
                <a16:creationId xmlns:a16="http://schemas.microsoft.com/office/drawing/2014/main" id="{6469DB0B-7500-467D-9874-FC31E3CC9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838" y="1807678"/>
            <a:ext cx="4846323" cy="4748366"/>
          </a:xfrm>
          <a:prstGeom prst="rect">
            <a:avLst/>
          </a:prstGeom>
        </p:spPr>
      </p:pic>
    </p:spTree>
    <p:extLst>
      <p:ext uri="{BB962C8B-B14F-4D97-AF65-F5344CB8AC3E}">
        <p14:creationId xmlns:p14="http://schemas.microsoft.com/office/powerpoint/2010/main" val="29228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8971-0D9A-4A36-8231-D006AA258032}"/>
              </a:ext>
            </a:extLst>
          </p:cNvPr>
          <p:cNvSpPr>
            <a:spLocks noGrp="1"/>
          </p:cNvSpPr>
          <p:nvPr>
            <p:ph type="title"/>
          </p:nvPr>
        </p:nvSpPr>
        <p:spPr>
          <a:xfrm>
            <a:off x="1570382" y="824948"/>
            <a:ext cx="10621618" cy="795130"/>
          </a:xfrm>
        </p:spPr>
        <p:txBody>
          <a:bodyPr>
            <a:noAutofit/>
          </a:bodyPr>
          <a:lstStyle/>
          <a:p>
            <a:r>
              <a:rPr lang="en-GB" sz="3200" b="1" dirty="0">
                <a:solidFill>
                  <a:schemeClr val="bg1"/>
                </a:solidFill>
              </a:rPr>
              <a:t>The well beneath the Broad Street pump and 40 Broad Street </a:t>
            </a:r>
          </a:p>
        </p:txBody>
      </p:sp>
      <p:sp>
        <p:nvSpPr>
          <p:cNvPr id="5" name="Rectangle 4">
            <a:extLst>
              <a:ext uri="{FF2B5EF4-FFF2-40B4-BE49-F238E27FC236}">
                <a16:creationId xmlns:a16="http://schemas.microsoft.com/office/drawing/2014/main" id="{1FFC7642-4690-4712-A4BC-8F54E828D94D}"/>
              </a:ext>
            </a:extLst>
          </p:cNvPr>
          <p:cNvSpPr/>
          <p:nvPr/>
        </p:nvSpPr>
        <p:spPr>
          <a:xfrm>
            <a:off x="1570381" y="2088253"/>
            <a:ext cx="5605481" cy="4154984"/>
          </a:xfrm>
          <a:prstGeom prst="rect">
            <a:avLst/>
          </a:prstGeom>
        </p:spPr>
        <p:txBody>
          <a:bodyPr wrap="square">
            <a:spAutoFit/>
          </a:bodyPr>
          <a:lstStyle/>
          <a:p>
            <a:r>
              <a:rPr lang="en-GB" sz="2400" dirty="0"/>
              <a:t>Further detective work to identify the cause of the cholera found that a cesspit filled with toilet waste, below 40 Broad Street, was leaking into the well that the Broad Street pump drew water from.</a:t>
            </a:r>
          </a:p>
          <a:p>
            <a:endParaRPr lang="en-GB" sz="2400" dirty="0"/>
          </a:p>
          <a:p>
            <a:r>
              <a:rPr lang="en-GB" sz="2400" dirty="0"/>
              <a:t>A child living at 40 Broad Street died of cholera two days before the outbreak. The child’s mother had been disposing of the child’s toilet waste into the cesspit. This was the cause of the infected pump water.</a:t>
            </a:r>
          </a:p>
        </p:txBody>
      </p:sp>
      <p:pic>
        <p:nvPicPr>
          <p:cNvPr id="7" name="Picture 6">
            <a:extLst>
              <a:ext uri="{FF2B5EF4-FFF2-40B4-BE49-F238E27FC236}">
                <a16:creationId xmlns:a16="http://schemas.microsoft.com/office/drawing/2014/main" id="{73B37111-0DF8-4BF5-BF35-F3E9AB897B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781" y="1964547"/>
            <a:ext cx="3303431" cy="4404575"/>
          </a:xfrm>
          <a:prstGeom prst="rect">
            <a:avLst/>
          </a:prstGeom>
        </p:spPr>
      </p:pic>
    </p:spTree>
    <p:extLst>
      <p:ext uri="{BB962C8B-B14F-4D97-AF65-F5344CB8AC3E}">
        <p14:creationId xmlns:p14="http://schemas.microsoft.com/office/powerpoint/2010/main" val="3424911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8971-0D9A-4A36-8231-D006AA258032}"/>
              </a:ext>
            </a:extLst>
          </p:cNvPr>
          <p:cNvSpPr>
            <a:spLocks noGrp="1"/>
          </p:cNvSpPr>
          <p:nvPr>
            <p:ph type="title"/>
          </p:nvPr>
        </p:nvSpPr>
        <p:spPr>
          <a:xfrm>
            <a:off x="1570382" y="824948"/>
            <a:ext cx="10621618" cy="795130"/>
          </a:xfrm>
        </p:spPr>
        <p:txBody>
          <a:bodyPr>
            <a:noAutofit/>
          </a:bodyPr>
          <a:lstStyle/>
          <a:p>
            <a:r>
              <a:rPr lang="en-GB" b="1" dirty="0">
                <a:solidFill>
                  <a:schemeClr val="bg1"/>
                </a:solidFill>
              </a:rPr>
              <a:t>Dr Snow and epidemiology</a:t>
            </a:r>
          </a:p>
        </p:txBody>
      </p:sp>
      <p:sp>
        <p:nvSpPr>
          <p:cNvPr id="5" name="Rectangle 4">
            <a:extLst>
              <a:ext uri="{FF2B5EF4-FFF2-40B4-BE49-F238E27FC236}">
                <a16:creationId xmlns:a16="http://schemas.microsoft.com/office/drawing/2014/main" id="{1FFC7642-4690-4712-A4BC-8F54E828D94D}"/>
              </a:ext>
            </a:extLst>
          </p:cNvPr>
          <p:cNvSpPr/>
          <p:nvPr/>
        </p:nvSpPr>
        <p:spPr>
          <a:xfrm>
            <a:off x="1570382" y="2157924"/>
            <a:ext cx="8235469" cy="3416320"/>
          </a:xfrm>
          <a:prstGeom prst="rect">
            <a:avLst/>
          </a:prstGeom>
        </p:spPr>
        <p:txBody>
          <a:bodyPr wrap="square">
            <a:spAutoFit/>
          </a:bodyPr>
          <a:lstStyle/>
          <a:p>
            <a:r>
              <a:rPr lang="en-GB" sz="2400" dirty="0"/>
              <a:t>Dr Snow saved many lives in Soho, but his greater contribution to medicine is the algorithm he invented. He is considered to be the ‘father of epidemiology’.</a:t>
            </a:r>
          </a:p>
          <a:p>
            <a:endParaRPr lang="en-GB" sz="2400" dirty="0"/>
          </a:p>
          <a:p>
            <a:r>
              <a:rPr lang="en-GB" sz="2400" dirty="0"/>
              <a:t>Epidemiology is the study of the distribution (who, when and where) and causes of health and disease in defined populations. The computational-thinking approach to tackling disease outbreaks that Dr Snow invented can be seen in epidemiologists' important role in responding to Covid-19.</a:t>
            </a:r>
          </a:p>
        </p:txBody>
      </p:sp>
    </p:spTree>
    <p:extLst>
      <p:ext uri="{BB962C8B-B14F-4D97-AF65-F5344CB8AC3E}">
        <p14:creationId xmlns:p14="http://schemas.microsoft.com/office/powerpoint/2010/main" val="3469538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110D6-9DED-4A63-8F81-14093CD9874C}"/>
              </a:ext>
            </a:extLst>
          </p:cNvPr>
          <p:cNvSpPr>
            <a:spLocks noGrp="1"/>
          </p:cNvSpPr>
          <p:nvPr>
            <p:ph type="title"/>
          </p:nvPr>
        </p:nvSpPr>
        <p:spPr>
          <a:xfrm>
            <a:off x="1580322" y="824948"/>
            <a:ext cx="9773478" cy="805069"/>
          </a:xfrm>
        </p:spPr>
        <p:txBody>
          <a:bodyPr/>
          <a:lstStyle/>
          <a:p>
            <a:r>
              <a:rPr lang="en-GB" b="1" dirty="0">
                <a:solidFill>
                  <a:schemeClr val="bg1"/>
                </a:solidFill>
              </a:rPr>
              <a:t>Activity 4.2: Dr Snow's algorithm</a:t>
            </a:r>
          </a:p>
        </p:txBody>
      </p:sp>
      <p:pic>
        <p:nvPicPr>
          <p:cNvPr id="4" name="Picture 3" descr="A picture containing athletic game, basketball, sport&#10;&#10;Description automatically generated">
            <a:extLst>
              <a:ext uri="{FF2B5EF4-FFF2-40B4-BE49-F238E27FC236}">
                <a16:creationId xmlns:a16="http://schemas.microsoft.com/office/drawing/2014/main" id="{17317B98-3CE4-43BB-ACA5-34A915A6B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838" y="1807678"/>
            <a:ext cx="4846323" cy="4748366"/>
          </a:xfrm>
          <a:prstGeom prst="rect">
            <a:avLst/>
          </a:prstGeom>
        </p:spPr>
      </p:pic>
    </p:spTree>
    <p:extLst>
      <p:ext uri="{BB962C8B-B14F-4D97-AF65-F5344CB8AC3E}">
        <p14:creationId xmlns:p14="http://schemas.microsoft.com/office/powerpoint/2010/main" val="2322716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36AC-12A9-4A2C-9D8A-8D001EE0DA6B}"/>
              </a:ext>
            </a:extLst>
          </p:cNvPr>
          <p:cNvSpPr>
            <a:spLocks noGrp="1"/>
          </p:cNvSpPr>
          <p:nvPr>
            <p:ph type="title"/>
          </p:nvPr>
        </p:nvSpPr>
        <p:spPr>
          <a:xfrm>
            <a:off x="1580322" y="824948"/>
            <a:ext cx="10611678" cy="795130"/>
          </a:xfrm>
        </p:spPr>
        <p:txBody>
          <a:bodyPr>
            <a:noAutofit/>
          </a:bodyPr>
          <a:lstStyle/>
          <a:p>
            <a:r>
              <a:rPr lang="en-GB" b="1" dirty="0">
                <a:solidFill>
                  <a:schemeClr val="bg1"/>
                </a:solidFill>
              </a:rPr>
              <a:t>Activity 4.2: Dr Snow’s algorithm</a:t>
            </a:r>
          </a:p>
        </p:txBody>
      </p:sp>
      <p:sp>
        <p:nvSpPr>
          <p:cNvPr id="3" name="Content Placeholder 2">
            <a:extLst>
              <a:ext uri="{FF2B5EF4-FFF2-40B4-BE49-F238E27FC236}">
                <a16:creationId xmlns:a16="http://schemas.microsoft.com/office/drawing/2014/main" id="{10CCC13E-1871-4787-BADF-14253538B2A6}"/>
              </a:ext>
            </a:extLst>
          </p:cNvPr>
          <p:cNvSpPr>
            <a:spLocks noGrp="1"/>
          </p:cNvSpPr>
          <p:nvPr>
            <p:ph idx="1"/>
          </p:nvPr>
        </p:nvSpPr>
        <p:spPr>
          <a:xfrm>
            <a:off x="1580320" y="2018382"/>
            <a:ext cx="9803445" cy="548909"/>
          </a:xfrm>
        </p:spPr>
        <p:txBody>
          <a:bodyPr>
            <a:normAutofit/>
          </a:bodyPr>
          <a:lstStyle/>
          <a:p>
            <a:pPr marL="0" indent="0">
              <a:buNone/>
            </a:pPr>
            <a:r>
              <a:rPr lang="en-GB" sz="2400" dirty="0"/>
              <a:t>Here are some hints to help you with the activity, in no particular order.</a:t>
            </a:r>
          </a:p>
        </p:txBody>
      </p:sp>
      <p:sp>
        <p:nvSpPr>
          <p:cNvPr id="5" name="Rectangle 4">
            <a:extLst>
              <a:ext uri="{FF2B5EF4-FFF2-40B4-BE49-F238E27FC236}">
                <a16:creationId xmlns:a16="http://schemas.microsoft.com/office/drawing/2014/main" id="{554AE32E-B212-174E-B62E-BBFD33B4AB40}"/>
              </a:ext>
            </a:extLst>
          </p:cNvPr>
          <p:cNvSpPr/>
          <p:nvPr/>
        </p:nvSpPr>
        <p:spPr>
          <a:xfrm>
            <a:off x="6227493" y="4324034"/>
            <a:ext cx="3842975" cy="492443"/>
          </a:xfrm>
          <a:prstGeom prst="rect">
            <a:avLst/>
          </a:prstGeom>
        </p:spPr>
        <p:txBody>
          <a:bodyPr wrap="none">
            <a:spAutoFit/>
          </a:bodyPr>
          <a:lstStyle/>
          <a:p>
            <a:r>
              <a:rPr lang="en-US" sz="2600" dirty="0"/>
              <a:t>Come up with a hypothesis</a:t>
            </a:r>
          </a:p>
        </p:txBody>
      </p:sp>
      <p:sp>
        <p:nvSpPr>
          <p:cNvPr id="6" name="Rectangle 5">
            <a:extLst>
              <a:ext uri="{FF2B5EF4-FFF2-40B4-BE49-F238E27FC236}">
                <a16:creationId xmlns:a16="http://schemas.microsoft.com/office/drawing/2014/main" id="{09BCED97-6683-844B-926C-6F8C1420B3C1}"/>
              </a:ext>
            </a:extLst>
          </p:cNvPr>
          <p:cNvSpPr/>
          <p:nvPr/>
        </p:nvSpPr>
        <p:spPr>
          <a:xfrm>
            <a:off x="7365345" y="5540609"/>
            <a:ext cx="1786963" cy="492443"/>
          </a:xfrm>
          <a:prstGeom prst="rect">
            <a:avLst/>
          </a:prstGeom>
        </p:spPr>
        <p:txBody>
          <a:bodyPr wrap="none">
            <a:spAutoFit/>
          </a:bodyPr>
          <a:lstStyle/>
          <a:p>
            <a:pPr algn="ctr"/>
            <a:r>
              <a:rPr lang="en-GB" sz="2600" dirty="0"/>
              <a:t>Collect data</a:t>
            </a:r>
          </a:p>
        </p:txBody>
      </p:sp>
      <p:sp>
        <p:nvSpPr>
          <p:cNvPr id="4" name="Rectangle 3">
            <a:extLst>
              <a:ext uri="{FF2B5EF4-FFF2-40B4-BE49-F238E27FC236}">
                <a16:creationId xmlns:a16="http://schemas.microsoft.com/office/drawing/2014/main" id="{B653B7CB-A8D3-43FF-9A0E-7E72E12DC182}"/>
              </a:ext>
            </a:extLst>
          </p:cNvPr>
          <p:cNvSpPr/>
          <p:nvPr/>
        </p:nvSpPr>
        <p:spPr>
          <a:xfrm>
            <a:off x="5178007" y="2791091"/>
            <a:ext cx="2098973" cy="461665"/>
          </a:xfrm>
          <a:prstGeom prst="rect">
            <a:avLst/>
          </a:prstGeom>
        </p:spPr>
        <p:txBody>
          <a:bodyPr wrap="none">
            <a:spAutoFit/>
          </a:bodyPr>
          <a:lstStyle/>
          <a:p>
            <a:r>
              <a:rPr lang="en-GB" sz="2400" dirty="0"/>
              <a:t>Test hypothesis</a:t>
            </a:r>
          </a:p>
        </p:txBody>
      </p:sp>
      <p:sp>
        <p:nvSpPr>
          <p:cNvPr id="7" name="Rectangle 6">
            <a:extLst>
              <a:ext uri="{FF2B5EF4-FFF2-40B4-BE49-F238E27FC236}">
                <a16:creationId xmlns:a16="http://schemas.microsoft.com/office/drawing/2014/main" id="{898AD960-FCF2-44B3-84BD-B9AEE59FF457}"/>
              </a:ext>
            </a:extLst>
          </p:cNvPr>
          <p:cNvSpPr/>
          <p:nvPr/>
        </p:nvSpPr>
        <p:spPr>
          <a:xfrm>
            <a:off x="2552216" y="5453599"/>
            <a:ext cx="3163238" cy="461665"/>
          </a:xfrm>
          <a:prstGeom prst="rect">
            <a:avLst/>
          </a:prstGeom>
        </p:spPr>
        <p:txBody>
          <a:bodyPr wrap="none">
            <a:spAutoFit/>
          </a:bodyPr>
          <a:lstStyle/>
          <a:p>
            <a:r>
              <a:rPr lang="en-GB" sz="2400" dirty="0"/>
              <a:t>Identify infected people</a:t>
            </a:r>
          </a:p>
        </p:txBody>
      </p:sp>
      <p:sp>
        <p:nvSpPr>
          <p:cNvPr id="8" name="Rectangle 7">
            <a:extLst>
              <a:ext uri="{FF2B5EF4-FFF2-40B4-BE49-F238E27FC236}">
                <a16:creationId xmlns:a16="http://schemas.microsoft.com/office/drawing/2014/main" id="{99395318-D7C5-47DF-97EF-6524F820A252}"/>
              </a:ext>
            </a:extLst>
          </p:cNvPr>
          <p:cNvSpPr/>
          <p:nvPr/>
        </p:nvSpPr>
        <p:spPr>
          <a:xfrm>
            <a:off x="7998992" y="3252756"/>
            <a:ext cx="3384773" cy="461665"/>
          </a:xfrm>
          <a:prstGeom prst="rect">
            <a:avLst/>
          </a:prstGeom>
        </p:spPr>
        <p:txBody>
          <a:bodyPr wrap="none">
            <a:spAutoFit/>
          </a:bodyPr>
          <a:lstStyle/>
          <a:p>
            <a:r>
              <a:rPr lang="en-GB" sz="2400" dirty="0"/>
              <a:t>Is the hypothesis correct?</a:t>
            </a:r>
          </a:p>
        </p:txBody>
      </p:sp>
      <p:sp>
        <p:nvSpPr>
          <p:cNvPr id="9" name="Rectangle 8">
            <a:extLst>
              <a:ext uri="{FF2B5EF4-FFF2-40B4-BE49-F238E27FC236}">
                <a16:creationId xmlns:a16="http://schemas.microsoft.com/office/drawing/2014/main" id="{99644BF4-D10F-4662-A6EB-20EAF31C2514}"/>
              </a:ext>
            </a:extLst>
          </p:cNvPr>
          <p:cNvSpPr/>
          <p:nvPr/>
        </p:nvSpPr>
        <p:spPr>
          <a:xfrm>
            <a:off x="2017368" y="3400676"/>
            <a:ext cx="2320443" cy="461665"/>
          </a:xfrm>
          <a:prstGeom prst="rect">
            <a:avLst/>
          </a:prstGeom>
        </p:spPr>
        <p:txBody>
          <a:bodyPr wrap="none">
            <a:spAutoFit/>
          </a:bodyPr>
          <a:lstStyle/>
          <a:p>
            <a:r>
              <a:rPr lang="en-GB" sz="2400" dirty="0"/>
              <a:t>Look for patterns</a:t>
            </a:r>
          </a:p>
        </p:txBody>
      </p:sp>
      <p:sp>
        <p:nvSpPr>
          <p:cNvPr id="10" name="Rectangle 9">
            <a:extLst>
              <a:ext uri="{FF2B5EF4-FFF2-40B4-BE49-F238E27FC236}">
                <a16:creationId xmlns:a16="http://schemas.microsoft.com/office/drawing/2014/main" id="{566875DE-92B6-4EC5-A92D-86DD3A3E6455}"/>
              </a:ext>
            </a:extLst>
          </p:cNvPr>
          <p:cNvSpPr/>
          <p:nvPr/>
        </p:nvSpPr>
        <p:spPr>
          <a:xfrm>
            <a:off x="1580320" y="4427137"/>
            <a:ext cx="2959593" cy="461665"/>
          </a:xfrm>
          <a:prstGeom prst="rect">
            <a:avLst/>
          </a:prstGeom>
        </p:spPr>
        <p:txBody>
          <a:bodyPr wrap="none">
            <a:spAutoFit/>
          </a:bodyPr>
          <a:lstStyle/>
          <a:p>
            <a:r>
              <a:rPr lang="en-GB" sz="2400" dirty="0"/>
              <a:t>Implement treatment </a:t>
            </a:r>
          </a:p>
        </p:txBody>
      </p:sp>
    </p:spTree>
    <p:extLst>
      <p:ext uri="{BB962C8B-B14F-4D97-AF65-F5344CB8AC3E}">
        <p14:creationId xmlns:p14="http://schemas.microsoft.com/office/powerpoint/2010/main" val="141227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p:bldP spid="7" grpId="0"/>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49DE-C14A-43C9-9DD0-7CF72DC6D209}"/>
              </a:ext>
            </a:extLst>
          </p:cNvPr>
          <p:cNvSpPr>
            <a:spLocks noGrp="1"/>
          </p:cNvSpPr>
          <p:nvPr>
            <p:ph type="title"/>
          </p:nvPr>
        </p:nvSpPr>
        <p:spPr>
          <a:xfrm>
            <a:off x="1580322" y="824948"/>
            <a:ext cx="9773478" cy="795130"/>
          </a:xfrm>
        </p:spPr>
        <p:txBody>
          <a:bodyPr/>
          <a:lstStyle/>
          <a:p>
            <a:r>
              <a:rPr lang="en-GB" b="1" dirty="0">
                <a:solidFill>
                  <a:schemeClr val="bg1"/>
                </a:solidFill>
              </a:rPr>
              <a:t>Activity 4.2: Dr Snow’s algorithm </a:t>
            </a:r>
          </a:p>
        </p:txBody>
      </p:sp>
      <p:sp>
        <p:nvSpPr>
          <p:cNvPr id="3" name="Rectangle 2">
            <a:extLst>
              <a:ext uri="{FF2B5EF4-FFF2-40B4-BE49-F238E27FC236}">
                <a16:creationId xmlns:a16="http://schemas.microsoft.com/office/drawing/2014/main" id="{F7F92AC3-C00E-2E45-B4BE-BD819B71DBDE}"/>
              </a:ext>
            </a:extLst>
          </p:cNvPr>
          <p:cNvSpPr/>
          <p:nvPr/>
        </p:nvSpPr>
        <p:spPr>
          <a:xfrm>
            <a:off x="1580322" y="3429000"/>
            <a:ext cx="4515678" cy="461665"/>
          </a:xfrm>
          <a:prstGeom prst="rect">
            <a:avLst/>
          </a:prstGeom>
        </p:spPr>
        <p:txBody>
          <a:bodyPr wrap="square">
            <a:spAutoFit/>
          </a:bodyPr>
          <a:lstStyle/>
          <a:p>
            <a:pPr lvl="0"/>
            <a:r>
              <a:rPr lang="en-GB" sz="2400" dirty="0">
                <a:solidFill>
                  <a:prstClr val="black"/>
                </a:solidFill>
              </a:rPr>
              <a:t>Here is one possible solution:</a:t>
            </a:r>
          </a:p>
        </p:txBody>
      </p:sp>
      <p:pic>
        <p:nvPicPr>
          <p:cNvPr id="7" name="Picture 6" descr="Diagram&#10;&#10;Description automatically generated">
            <a:extLst>
              <a:ext uri="{FF2B5EF4-FFF2-40B4-BE49-F238E27FC236}">
                <a16:creationId xmlns:a16="http://schemas.microsoft.com/office/drawing/2014/main" id="{3A059E98-7A24-4958-BF99-7D213D4A4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179712"/>
            <a:ext cx="3307269" cy="4019147"/>
          </a:xfrm>
          <a:prstGeom prst="rect">
            <a:avLst/>
          </a:prstGeom>
        </p:spPr>
      </p:pic>
    </p:spTree>
    <p:extLst>
      <p:ext uri="{BB962C8B-B14F-4D97-AF65-F5344CB8AC3E}">
        <p14:creationId xmlns:p14="http://schemas.microsoft.com/office/powerpoint/2010/main" val="1980793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49DE-C14A-43C9-9DD0-7CF72DC6D209}"/>
              </a:ext>
            </a:extLst>
          </p:cNvPr>
          <p:cNvSpPr>
            <a:spLocks noGrp="1"/>
          </p:cNvSpPr>
          <p:nvPr>
            <p:ph type="title"/>
          </p:nvPr>
        </p:nvSpPr>
        <p:spPr>
          <a:xfrm>
            <a:off x="1580322" y="824948"/>
            <a:ext cx="9773478" cy="830997"/>
          </a:xfrm>
        </p:spPr>
        <p:txBody>
          <a:bodyPr/>
          <a:lstStyle/>
          <a:p>
            <a:r>
              <a:rPr lang="en-GB" b="1" dirty="0">
                <a:solidFill>
                  <a:schemeClr val="bg1"/>
                </a:solidFill>
              </a:rPr>
              <a:t>Generalisation </a:t>
            </a:r>
          </a:p>
        </p:txBody>
      </p:sp>
      <p:sp>
        <p:nvSpPr>
          <p:cNvPr id="3" name="Rectangle 2">
            <a:extLst>
              <a:ext uri="{FF2B5EF4-FFF2-40B4-BE49-F238E27FC236}">
                <a16:creationId xmlns:a16="http://schemas.microsoft.com/office/drawing/2014/main" id="{F7F92AC3-C00E-2E45-B4BE-BD819B71DBDE}"/>
              </a:ext>
            </a:extLst>
          </p:cNvPr>
          <p:cNvSpPr/>
          <p:nvPr/>
        </p:nvSpPr>
        <p:spPr>
          <a:xfrm>
            <a:off x="1580322" y="2101521"/>
            <a:ext cx="8591094" cy="3416320"/>
          </a:xfrm>
          <a:prstGeom prst="rect">
            <a:avLst/>
          </a:prstGeom>
        </p:spPr>
        <p:txBody>
          <a:bodyPr wrap="square">
            <a:spAutoFit/>
          </a:bodyPr>
          <a:lstStyle/>
          <a:p>
            <a:pPr lvl="0"/>
            <a:r>
              <a:rPr lang="en-GB" sz="2400" dirty="0">
                <a:solidFill>
                  <a:prstClr val="black"/>
                </a:solidFill>
              </a:rPr>
              <a:t>Dr Snow's algorithm is still relevant today.</a:t>
            </a:r>
          </a:p>
          <a:p>
            <a:pPr lvl="0"/>
            <a:endParaRPr lang="en-GB" sz="2400" dirty="0">
              <a:solidFill>
                <a:prstClr val="black"/>
              </a:solidFill>
            </a:endParaRPr>
          </a:p>
          <a:p>
            <a:pPr lvl="0"/>
            <a:r>
              <a:rPr lang="en-GB" sz="2400" dirty="0">
                <a:solidFill>
                  <a:prstClr val="black"/>
                </a:solidFill>
              </a:rPr>
              <a:t>When a solution to a problem – like Dr Snow's algorithm – is applied to many similar types of problems, this is known as </a:t>
            </a:r>
            <a:r>
              <a:rPr lang="en-GB" sz="2400" b="1" dirty="0">
                <a:solidFill>
                  <a:srgbClr val="0069B4"/>
                </a:solidFill>
              </a:rPr>
              <a:t>generalisation</a:t>
            </a:r>
            <a:r>
              <a:rPr lang="en-GB" sz="2400" dirty="0">
                <a:solidFill>
                  <a:prstClr val="black"/>
                </a:solidFill>
              </a:rPr>
              <a:t> and it is a key technique used in computing.</a:t>
            </a:r>
          </a:p>
          <a:p>
            <a:pPr lvl="0"/>
            <a:endParaRPr lang="en-GB" sz="2400" dirty="0">
              <a:solidFill>
                <a:prstClr val="black"/>
              </a:solidFill>
            </a:endParaRPr>
          </a:p>
          <a:p>
            <a:pPr lvl="0"/>
            <a:r>
              <a:rPr lang="en-GB" sz="2400" dirty="0">
                <a:solidFill>
                  <a:prstClr val="black"/>
                </a:solidFill>
              </a:rPr>
              <a:t>Computer programmers frequently borrow and adapt code written for a different but similar purpose. Generalisation makes coding much more efficient and improves productivity.</a:t>
            </a:r>
          </a:p>
        </p:txBody>
      </p:sp>
    </p:spTree>
    <p:extLst>
      <p:ext uri="{BB962C8B-B14F-4D97-AF65-F5344CB8AC3E}">
        <p14:creationId xmlns:p14="http://schemas.microsoft.com/office/powerpoint/2010/main" val="400440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4D36-2121-417F-8DFB-DF55C238082A}"/>
              </a:ext>
            </a:extLst>
          </p:cNvPr>
          <p:cNvSpPr>
            <a:spLocks noGrp="1"/>
          </p:cNvSpPr>
          <p:nvPr>
            <p:ph type="title"/>
          </p:nvPr>
        </p:nvSpPr>
        <p:spPr>
          <a:xfrm>
            <a:off x="1590260" y="805070"/>
            <a:ext cx="9763539" cy="824947"/>
          </a:xfrm>
        </p:spPr>
        <p:txBody>
          <a:bodyPr/>
          <a:lstStyle/>
          <a:p>
            <a:r>
              <a:rPr lang="en-GB" b="1" i="1" dirty="0">
                <a:solidFill>
                  <a:schemeClr val="bg1"/>
                </a:solidFill>
              </a:rPr>
              <a:t>East African News </a:t>
            </a:r>
          </a:p>
        </p:txBody>
      </p:sp>
      <p:sp>
        <p:nvSpPr>
          <p:cNvPr id="19" name="Rectangle 18">
            <a:extLst>
              <a:ext uri="{FF2B5EF4-FFF2-40B4-BE49-F238E27FC236}">
                <a16:creationId xmlns:a16="http://schemas.microsoft.com/office/drawing/2014/main" id="{957B0C3C-949C-854B-9477-59E20F5D4111}"/>
              </a:ext>
            </a:extLst>
          </p:cNvPr>
          <p:cNvSpPr/>
          <p:nvPr/>
        </p:nvSpPr>
        <p:spPr>
          <a:xfrm>
            <a:off x="1590260" y="2165327"/>
            <a:ext cx="4297018" cy="1763944"/>
          </a:xfrm>
          <a:prstGeom prst="rect">
            <a:avLst/>
          </a:prstGeom>
        </p:spPr>
        <p:txBody>
          <a:bodyPr wrap="square">
            <a:spAutoFit/>
          </a:bodyPr>
          <a:lstStyle/>
          <a:p>
            <a:pPr>
              <a:lnSpc>
                <a:spcPct val="115000"/>
              </a:lnSpc>
            </a:pPr>
            <a:r>
              <a:rPr lang="en-GB" sz="2400" dirty="0">
                <a:latin typeface="Calibri" panose="020F0502020204030204" pitchFamily="34" charset="0"/>
                <a:ea typeface="Arial" panose="020B0604020202020204" pitchFamily="34" charset="0"/>
              </a:rPr>
              <a:t>Malaria is the deadliest disease on Earth. It is spread by the </a:t>
            </a:r>
            <a:r>
              <a:rPr lang="en-GB" sz="2400" i="1" dirty="0">
                <a:latin typeface="Calibri" panose="020F0502020204030204" pitchFamily="34" charset="0"/>
                <a:ea typeface="Arial" panose="020B0604020202020204" pitchFamily="34" charset="0"/>
              </a:rPr>
              <a:t>Anopheles</a:t>
            </a:r>
            <a:r>
              <a:rPr lang="en-GB" sz="2400" dirty="0">
                <a:latin typeface="Calibri" panose="020F0502020204030204" pitchFamily="34" charset="0"/>
                <a:ea typeface="Arial" panose="020B0604020202020204" pitchFamily="34" charset="0"/>
              </a:rPr>
              <a:t> mosquito and kills millions of people every year.</a:t>
            </a:r>
            <a:endParaRPr lang="en-GB" sz="2400" dirty="0">
              <a:latin typeface="Arial" panose="020B0604020202020204" pitchFamily="34" charset="0"/>
              <a:ea typeface="Arial" panose="020B0604020202020204" pitchFamily="34" charset="0"/>
            </a:endParaRPr>
          </a:p>
        </p:txBody>
      </p:sp>
      <p:sp>
        <p:nvSpPr>
          <p:cNvPr id="25" name="Rectangle 24">
            <a:extLst>
              <a:ext uri="{FF2B5EF4-FFF2-40B4-BE49-F238E27FC236}">
                <a16:creationId xmlns:a16="http://schemas.microsoft.com/office/drawing/2014/main" id="{048FF536-7C81-D348-8247-87B60ADA08F4}"/>
              </a:ext>
            </a:extLst>
          </p:cNvPr>
          <p:cNvSpPr/>
          <p:nvPr/>
        </p:nvSpPr>
        <p:spPr>
          <a:xfrm>
            <a:off x="6679568" y="2165327"/>
            <a:ext cx="4297018" cy="3887603"/>
          </a:xfrm>
          <a:prstGeom prst="rect">
            <a:avLst/>
          </a:prstGeom>
        </p:spPr>
        <p:txBody>
          <a:bodyPr wrap="square">
            <a:spAutoFit/>
          </a:bodyPr>
          <a:lstStyle/>
          <a:p>
            <a:pPr>
              <a:lnSpc>
                <a:spcPct val="115000"/>
              </a:lnSpc>
            </a:pPr>
            <a:r>
              <a:rPr lang="en-GB" sz="2400" dirty="0">
                <a:latin typeface="Calibri" panose="020F0502020204030204" pitchFamily="34" charset="0"/>
                <a:ea typeface="Arial" panose="020B0604020202020204" pitchFamily="34" charset="0"/>
              </a:rPr>
              <a:t>The most effective way of preventing malaria is to destroy the mosquito in its breeding grounds by spraying them with insecticide, but insecticides are expensive and polluting. Mosquito nets can stop people being bitten in the first place, but not everyone uses them.</a:t>
            </a:r>
            <a:endParaRPr lang="en-GB" sz="2400" dirty="0">
              <a:latin typeface="Arial" panose="020B0604020202020204" pitchFamily="34" charset="0"/>
              <a:ea typeface="Arial" panose="020B0604020202020204" pitchFamily="34" charset="0"/>
            </a:endParaRPr>
          </a:p>
        </p:txBody>
      </p:sp>
      <p:pic>
        <p:nvPicPr>
          <p:cNvPr id="8" name="Picture 7">
            <a:extLst>
              <a:ext uri="{FF2B5EF4-FFF2-40B4-BE49-F238E27FC236}">
                <a16:creationId xmlns:a16="http://schemas.microsoft.com/office/drawing/2014/main" id="{5AF5755D-428A-48D5-8759-100EA8FF4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2668" y="3929271"/>
            <a:ext cx="2499361" cy="1778116"/>
          </a:xfrm>
          <a:prstGeom prst="rect">
            <a:avLst/>
          </a:prstGeom>
        </p:spPr>
      </p:pic>
      <p:pic>
        <p:nvPicPr>
          <p:cNvPr id="6" name="Picture 5" descr="Text&#10;&#10;Description automatically generated">
            <a:extLst>
              <a:ext uri="{FF2B5EF4-FFF2-40B4-BE49-F238E27FC236}">
                <a16:creationId xmlns:a16="http://schemas.microsoft.com/office/drawing/2014/main" id="{A65359C8-D8A2-4C2C-AEBB-A56E51A2BC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877" y="4998907"/>
            <a:ext cx="4091500" cy="1416959"/>
          </a:xfrm>
          <a:prstGeom prst="rect">
            <a:avLst/>
          </a:prstGeom>
        </p:spPr>
      </p:pic>
    </p:spTree>
    <p:extLst>
      <p:ext uri="{BB962C8B-B14F-4D97-AF65-F5344CB8AC3E}">
        <p14:creationId xmlns:p14="http://schemas.microsoft.com/office/powerpoint/2010/main" val="191224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4D36-2121-417F-8DFB-DF55C238082A}"/>
              </a:ext>
            </a:extLst>
          </p:cNvPr>
          <p:cNvSpPr>
            <a:spLocks noGrp="1"/>
          </p:cNvSpPr>
          <p:nvPr>
            <p:ph type="title"/>
          </p:nvPr>
        </p:nvSpPr>
        <p:spPr>
          <a:xfrm>
            <a:off x="1590260" y="805070"/>
            <a:ext cx="9763539" cy="834887"/>
          </a:xfrm>
        </p:spPr>
        <p:txBody>
          <a:bodyPr/>
          <a:lstStyle/>
          <a:p>
            <a:r>
              <a:rPr lang="en-GB" b="1" dirty="0">
                <a:solidFill>
                  <a:schemeClr val="bg1"/>
                </a:solidFill>
              </a:rPr>
              <a:t>Quiz 4</a:t>
            </a:r>
          </a:p>
        </p:txBody>
      </p:sp>
      <p:pic>
        <p:nvPicPr>
          <p:cNvPr id="4" name="Picture 3" descr="A picture containing athletic game, basketball, sport&#10;&#10;Description automatically generated">
            <a:extLst>
              <a:ext uri="{FF2B5EF4-FFF2-40B4-BE49-F238E27FC236}">
                <a16:creationId xmlns:a16="http://schemas.microsoft.com/office/drawing/2014/main" id="{B9C899A7-5087-4421-A4B4-319B6288D0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838" y="1807678"/>
            <a:ext cx="4846323" cy="4748366"/>
          </a:xfrm>
          <a:prstGeom prst="rect">
            <a:avLst/>
          </a:prstGeom>
        </p:spPr>
      </p:pic>
    </p:spTree>
    <p:extLst>
      <p:ext uri="{BB962C8B-B14F-4D97-AF65-F5344CB8AC3E}">
        <p14:creationId xmlns:p14="http://schemas.microsoft.com/office/powerpoint/2010/main" val="2066048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TotalTime>
  <Words>921</Words>
  <Application>Microsoft Office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Symbol</vt:lpstr>
      <vt:lpstr>Times New Roman</vt:lpstr>
      <vt:lpstr>Office Theme</vt:lpstr>
      <vt:lpstr>Algorithms</vt:lpstr>
      <vt:lpstr>Objectives</vt:lpstr>
      <vt:lpstr>The Soho cholera outbreak of 1854 </vt:lpstr>
      <vt:lpstr>Dr John Snow </vt:lpstr>
      <vt:lpstr>Understanding the problem  </vt:lpstr>
      <vt:lpstr>Collecting data  </vt:lpstr>
      <vt:lpstr>PowerPoint Presentation</vt:lpstr>
      <vt:lpstr>Activity 4.1: Dr Snow's cholera map</vt:lpstr>
      <vt:lpstr>The well beneath the Broad Street pump and 40 Broad Street </vt:lpstr>
      <vt:lpstr>Dr Snow and epidemiology</vt:lpstr>
      <vt:lpstr>Activity 4.2: Dr Snow's algorithm</vt:lpstr>
      <vt:lpstr>Activity 4.2: Dr Snow’s algorithm</vt:lpstr>
      <vt:lpstr>Activity 4.2: Dr Snow’s algorithm </vt:lpstr>
      <vt:lpstr>Generalisation </vt:lpstr>
      <vt:lpstr>East African News </vt:lpstr>
      <vt:lpstr>Quiz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51</cp:revision>
  <dcterms:created xsi:type="dcterms:W3CDTF">2020-11-04T15:22:46Z</dcterms:created>
  <dcterms:modified xsi:type="dcterms:W3CDTF">2021-06-07T15:43:42Z</dcterms:modified>
</cp:coreProperties>
</file>