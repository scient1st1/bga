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3" r:id="rId17"/>
    <p:sldId id="272" r:id="rId18"/>
    <p:sldId id="275" r:id="rId19"/>
    <p:sldId id="274" r:id="rId20"/>
    <p:sldId id="27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a Albrechtsen" initials="LA" lastIdx="2" clrIdx="0">
    <p:extLst>
      <p:ext uri="{19B8F6BF-5375-455C-9EA6-DF929625EA0E}">
        <p15:presenceInfo xmlns:p15="http://schemas.microsoft.com/office/powerpoint/2012/main" userId="S::Lea.Albrechtsen@hoddereducation.co.uk::4df490f3-5904-4e82-a5b6-23281874b6f0" providerId="AD"/>
      </p:ext>
    </p:extLst>
  </p:cmAuthor>
  <p:cmAuthor id="2" name="Guest User" initials="GU" lastIdx="1" clrIdx="1">
    <p:extLst>
      <p:ext uri="{19B8F6BF-5375-455C-9EA6-DF929625EA0E}">
        <p15:presenceInfo xmlns:p15="http://schemas.microsoft.com/office/powerpoint/2012/main" userId="S::urn:spo:anon#1c71ce6b7564bcecd268cea4ae45c370c564a7caa1ac31beb172c3a85fcac20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69B4"/>
    <a:srgbClr val="1DAE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35896F-513A-DA94-FC55-7D3E9E63E848}" v="2" dt="2021-05-11T21:07:49.7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624" autoAdjust="0"/>
    <p:restoredTop sz="94660"/>
  </p:normalViewPr>
  <p:slideViewPr>
    <p:cSldViewPr snapToGrid="0">
      <p:cViewPr varScale="1">
        <p:scale>
          <a:sx n="96" d="100"/>
          <a:sy n="96" d="100"/>
        </p:scale>
        <p:origin x="96" y="4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 Id="rId27"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F7712-1F3B-4253-AEF1-0FE171523E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DC14F2F-A2B8-4861-8B33-2CF08A1C25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3137814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60902-80CF-4DD3-B59F-8E58611CF13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B756315-CBCB-4124-93B3-3DEF3C56BD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DFA47B5-60C4-46E0-B317-50F50E6D857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5" name="Footer Placeholder 4">
            <a:extLst>
              <a:ext uri="{FF2B5EF4-FFF2-40B4-BE49-F238E27FC236}">
                <a16:creationId xmlns:a16="http://schemas.microsoft.com/office/drawing/2014/main" id="{5F049A0D-7474-4882-A51A-CF35E154FD2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99F5A12C-5BED-457E-A6CE-2E58C8D0DEDC}"/>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323353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C2461-8DBB-43F0-A3AC-126E643979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596A727-278D-4E57-850B-78E0D727C7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41C733-75AA-40FE-8179-B58FA4EA5EE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5" name="Footer Placeholder 4">
            <a:extLst>
              <a:ext uri="{FF2B5EF4-FFF2-40B4-BE49-F238E27FC236}">
                <a16:creationId xmlns:a16="http://schemas.microsoft.com/office/drawing/2014/main" id="{FB8C4D2E-FA87-41DA-961F-7D250DD08DA8}"/>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BF020F2E-2A86-4F16-B83F-E86E7319950C}"/>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361104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5B458-3AE6-4C21-BEBE-F7B76061980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32FF206-47D4-451B-80B7-578E10A3E6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1D2DF79-B13E-46C5-AAA1-F49C3BABAB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F199702-3758-423C-8C91-550D5C885DF9}"/>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6" name="Footer Placeholder 5">
            <a:extLst>
              <a:ext uri="{FF2B5EF4-FFF2-40B4-BE49-F238E27FC236}">
                <a16:creationId xmlns:a16="http://schemas.microsoft.com/office/drawing/2014/main" id="{4355CC31-BF31-4EB1-8B54-2DD0D6BE79BC}"/>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303EFAF2-4586-4670-8EF7-78067B1872A1}"/>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4116154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05FA2-A60C-405C-A307-880C049CB03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A970388-4034-4A46-8B98-D37491E014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C39A8B-6B00-4329-AC44-AD6EBE236E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55DFF08-1C59-4E60-A964-4D4A369007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548497-A585-4527-B8A6-BB01B9FBC4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77C2D4B-BCC3-48CF-B358-D817886727C0}"/>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8" name="Footer Placeholder 7">
            <a:extLst>
              <a:ext uri="{FF2B5EF4-FFF2-40B4-BE49-F238E27FC236}">
                <a16:creationId xmlns:a16="http://schemas.microsoft.com/office/drawing/2014/main" id="{B393C415-FAAE-444A-BBA1-9059E1C450A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9" name="Slide Number Placeholder 8">
            <a:extLst>
              <a:ext uri="{FF2B5EF4-FFF2-40B4-BE49-F238E27FC236}">
                <a16:creationId xmlns:a16="http://schemas.microsoft.com/office/drawing/2014/main" id="{16C512DB-E555-4910-92DC-7AB19F87F8E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47741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D8A33-5CA5-4826-9B83-0B2F6A50C2B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17C1E61-1B5E-44DC-BC0F-2F956B04C019}"/>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4" name="Footer Placeholder 3">
            <a:extLst>
              <a:ext uri="{FF2B5EF4-FFF2-40B4-BE49-F238E27FC236}">
                <a16:creationId xmlns:a16="http://schemas.microsoft.com/office/drawing/2014/main" id="{DBA212BA-9EF0-4463-A9C0-997D5572049B}"/>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a:extLst>
              <a:ext uri="{FF2B5EF4-FFF2-40B4-BE49-F238E27FC236}">
                <a16:creationId xmlns:a16="http://schemas.microsoft.com/office/drawing/2014/main" id="{E350D64F-9F3A-43FB-A563-07763EE16E2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279599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739767-A677-43FB-A13E-C6E76D21E158}"/>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3" name="Footer Placeholder 2">
            <a:extLst>
              <a:ext uri="{FF2B5EF4-FFF2-40B4-BE49-F238E27FC236}">
                <a16:creationId xmlns:a16="http://schemas.microsoft.com/office/drawing/2014/main" id="{BFA103BA-C2DE-41DE-842B-306DECB788D5}"/>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5B8320D2-03FC-47A8-B437-7B7CEBDD6176}"/>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747179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B20E6-8664-4FD7-A9B2-0B5C17E861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D75017E-7CE6-4AFE-8756-092A858401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85C17A6-B2E1-42BB-9629-032C80545F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1DC4D7-18F9-4992-BB61-15FA97A5299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6" name="Footer Placeholder 5">
            <a:extLst>
              <a:ext uri="{FF2B5EF4-FFF2-40B4-BE49-F238E27FC236}">
                <a16:creationId xmlns:a16="http://schemas.microsoft.com/office/drawing/2014/main" id="{4FB52144-EB56-46FB-8C3D-7A8702354378}"/>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E7142B02-C27D-4AC0-9DE7-A653F338FB9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895581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FD8A0-DA8A-463F-AC82-9A3D896B80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3B553CB-6BB8-4D69-8270-E69093C148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00E0B06-F972-42E3-B94A-6BA4824458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FCFE24-5759-425E-A7E5-6EAACD13BAA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6" name="Footer Placeholder 5">
            <a:extLst>
              <a:ext uri="{FF2B5EF4-FFF2-40B4-BE49-F238E27FC236}">
                <a16:creationId xmlns:a16="http://schemas.microsoft.com/office/drawing/2014/main" id="{EC458F3E-34B5-48AA-B148-66ED69F30671}"/>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AB133722-4E46-4BF0-841D-DC92DCB48251}"/>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2153194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A43C2-4F61-40F8-A06C-596F42B7D0A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012D4A7-8F4B-484D-90BE-4A6A303F65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BBE0C66-2DCD-4454-98BE-EE8ADD1D798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5" name="Footer Placeholder 4">
            <a:extLst>
              <a:ext uri="{FF2B5EF4-FFF2-40B4-BE49-F238E27FC236}">
                <a16:creationId xmlns:a16="http://schemas.microsoft.com/office/drawing/2014/main" id="{B6C655C5-A5ED-4766-97E4-846A805367DD}"/>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17ADFEEA-B282-4D56-A557-4193031EB4A7}"/>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901290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1B7A8B-8DD3-4239-8EA1-87394625413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5621B91-126F-434B-86F2-89E6778E91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7BFCCA6-FBA0-4A4B-97BC-8B2465C0186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07/06/2021</a:t>
            </a:fld>
            <a:endParaRPr lang="en-GB"/>
          </a:p>
        </p:txBody>
      </p:sp>
      <p:sp>
        <p:nvSpPr>
          <p:cNvPr id="5" name="Footer Placeholder 4">
            <a:extLst>
              <a:ext uri="{FF2B5EF4-FFF2-40B4-BE49-F238E27FC236}">
                <a16:creationId xmlns:a16="http://schemas.microsoft.com/office/drawing/2014/main" id="{5A17EED6-4B0F-4C58-A54B-C4F0F72D7BAA}"/>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51249905-D4AB-4930-9B2A-6E8E550A0D1E}"/>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308111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B9995C-D844-455E-9E19-BF66C81EFD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D204189-41E9-4E09-B418-B033E7F147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4">
            <a:extLst>
              <a:ext uri="{FF2B5EF4-FFF2-40B4-BE49-F238E27FC236}">
                <a16:creationId xmlns:a16="http://schemas.microsoft.com/office/drawing/2014/main" id="{4D739203-7E29-BA40-9D51-8F9968799BF3}"/>
              </a:ext>
            </a:extLst>
          </p:cNvPr>
          <p:cNvSpPr txBox="1">
            <a:spLocks/>
          </p:cNvSpPr>
          <p:nvPr userDrawn="1"/>
        </p:nvSpPr>
        <p:spPr>
          <a:xfrm>
            <a:off x="7547114" y="6380197"/>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GB" sz="1200" dirty="0"/>
              <a:t>© Hodder &amp; Stoughton Limited 2021</a:t>
            </a:r>
          </a:p>
        </p:txBody>
      </p:sp>
      <p:pic>
        <p:nvPicPr>
          <p:cNvPr id="6" name="Picture 5">
            <a:extLst>
              <a:ext uri="{FF2B5EF4-FFF2-40B4-BE49-F238E27FC236}">
                <a16:creationId xmlns:a16="http://schemas.microsoft.com/office/drawing/2014/main" id="{9F570252-6D27-224F-B897-578AE4F8D1EC}"/>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192000" cy="1641616"/>
          </a:xfrm>
          <a:prstGeom prst="rect">
            <a:avLst/>
          </a:prstGeom>
        </p:spPr>
      </p:pic>
    </p:spTree>
    <p:extLst>
      <p:ext uri="{BB962C8B-B14F-4D97-AF65-F5344CB8AC3E}">
        <p14:creationId xmlns:p14="http://schemas.microsoft.com/office/powerpoint/2010/main" val="26587743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2B9C3-E44C-4313-895D-D43DD1C92CE3}"/>
              </a:ext>
            </a:extLst>
          </p:cNvPr>
          <p:cNvSpPr>
            <a:spLocks noGrp="1"/>
          </p:cNvSpPr>
          <p:nvPr>
            <p:ph type="ctrTitle"/>
          </p:nvPr>
        </p:nvSpPr>
        <p:spPr>
          <a:xfrm>
            <a:off x="1864450" y="2971075"/>
            <a:ext cx="4231550" cy="915850"/>
          </a:xfrm>
        </p:spPr>
        <p:txBody>
          <a:bodyPr/>
          <a:lstStyle/>
          <a:p>
            <a:pPr algn="r"/>
            <a:r>
              <a:rPr lang="en-GB" b="1" dirty="0"/>
              <a:t>Algorithms</a:t>
            </a:r>
          </a:p>
        </p:txBody>
      </p:sp>
      <p:sp>
        <p:nvSpPr>
          <p:cNvPr id="11" name="Rectangle 10">
            <a:extLst>
              <a:ext uri="{FF2B5EF4-FFF2-40B4-BE49-F238E27FC236}">
                <a16:creationId xmlns:a16="http://schemas.microsoft.com/office/drawing/2014/main" id="{5346DB13-257C-4484-9CB0-C755672B55D3}"/>
              </a:ext>
            </a:extLst>
          </p:cNvPr>
          <p:cNvSpPr/>
          <p:nvPr/>
        </p:nvSpPr>
        <p:spPr>
          <a:xfrm>
            <a:off x="2475879" y="3886925"/>
            <a:ext cx="3620121" cy="707886"/>
          </a:xfrm>
          <a:prstGeom prst="rect">
            <a:avLst/>
          </a:prstGeom>
        </p:spPr>
        <p:txBody>
          <a:bodyPr wrap="square">
            <a:spAutoFit/>
          </a:bodyPr>
          <a:lstStyle/>
          <a:p>
            <a:pPr algn="r"/>
            <a:r>
              <a:rPr lang="en-GB" sz="2000" b="1" dirty="0">
                <a:solidFill>
                  <a:srgbClr val="00B0F0"/>
                </a:solidFill>
                <a:latin typeface="Calibri" panose="020F0502020204030204" pitchFamily="34" charset="0"/>
                <a:ea typeface="Times New Roman" panose="02020603050405020304" pitchFamily="18" charset="0"/>
              </a:rPr>
              <a:t>Lesson 1: Using computational thinking to solve problems</a:t>
            </a:r>
          </a:p>
        </p:txBody>
      </p:sp>
      <p:pic>
        <p:nvPicPr>
          <p:cNvPr id="4" name="Picture 3" descr="A picture containing text, electronics, display, screenshot&#10;&#10;Description automatically generated">
            <a:extLst>
              <a:ext uri="{FF2B5EF4-FFF2-40B4-BE49-F238E27FC236}">
                <a16:creationId xmlns:a16="http://schemas.microsoft.com/office/drawing/2014/main" id="{F8F3B8AB-9F88-F24D-A4A9-2518C4DFCE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7429" y="2607043"/>
            <a:ext cx="2937410" cy="2420426"/>
          </a:xfrm>
          <a:prstGeom prst="rect">
            <a:avLst/>
          </a:prstGeom>
        </p:spPr>
      </p:pic>
    </p:spTree>
    <p:extLst>
      <p:ext uri="{BB962C8B-B14F-4D97-AF65-F5344CB8AC3E}">
        <p14:creationId xmlns:p14="http://schemas.microsoft.com/office/powerpoint/2010/main" val="10543161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C4667-2A3C-4536-9386-00402F3C6EE6}"/>
              </a:ext>
            </a:extLst>
          </p:cNvPr>
          <p:cNvSpPr>
            <a:spLocks noGrp="1"/>
          </p:cNvSpPr>
          <p:nvPr>
            <p:ph type="title"/>
          </p:nvPr>
        </p:nvSpPr>
        <p:spPr>
          <a:xfrm>
            <a:off x="1580322" y="874643"/>
            <a:ext cx="9634330" cy="766349"/>
          </a:xfrm>
        </p:spPr>
        <p:txBody>
          <a:bodyPr/>
          <a:lstStyle/>
          <a:p>
            <a:r>
              <a:rPr lang="en-GB" b="1" dirty="0">
                <a:solidFill>
                  <a:schemeClr val="bg1"/>
                </a:solidFill>
              </a:rPr>
              <a:t>Objectives</a:t>
            </a:r>
          </a:p>
        </p:txBody>
      </p:sp>
      <p:sp>
        <p:nvSpPr>
          <p:cNvPr id="5" name="Rectangle 4">
            <a:extLst>
              <a:ext uri="{FF2B5EF4-FFF2-40B4-BE49-F238E27FC236}">
                <a16:creationId xmlns:a16="http://schemas.microsoft.com/office/drawing/2014/main" id="{8430BE0A-41D5-4110-A78D-A6ACD33DE78B}"/>
              </a:ext>
            </a:extLst>
          </p:cNvPr>
          <p:cNvSpPr/>
          <p:nvPr/>
        </p:nvSpPr>
        <p:spPr>
          <a:xfrm>
            <a:off x="1393937" y="2305615"/>
            <a:ext cx="7488806" cy="2000548"/>
          </a:xfrm>
          <a:prstGeom prst="rect">
            <a:avLst/>
          </a:prstGeom>
        </p:spPr>
        <p:txBody>
          <a:bodyPr wrap="square">
            <a:spAutoFit/>
          </a:bodyPr>
          <a:lstStyle/>
          <a:p>
            <a:pPr>
              <a:spcAft>
                <a:spcPts val="0"/>
              </a:spcAft>
            </a:pPr>
            <a:r>
              <a:rPr lang="en-GB" sz="2800" dirty="0">
                <a:latin typeface="Calibri" panose="020F0502020204030204" pitchFamily="34" charset="0"/>
                <a:ea typeface="Times New Roman" panose="02020603050405020304" pitchFamily="18" charset="0"/>
              </a:rPr>
              <a:t>In this lesson, you will learn how to:</a:t>
            </a:r>
            <a:endParaRPr lang="en-GB" sz="2800" dirty="0">
              <a:latin typeface="Times New Roman" panose="02020603050405020304" pitchFamily="18" charset="0"/>
              <a:ea typeface="Times New Roman" panose="02020603050405020304" pitchFamily="18" charset="0"/>
            </a:endParaRPr>
          </a:p>
          <a:p>
            <a:pPr marL="342900" lvl="0" indent="-342900">
              <a:spcAft>
                <a:spcPts val="0"/>
              </a:spcAft>
              <a:buFont typeface="Symbol" panose="05050102010706020507" pitchFamily="18" charset="2"/>
              <a:buChar char=""/>
            </a:pPr>
            <a:r>
              <a:rPr lang="en-GB" sz="2400" dirty="0">
                <a:latin typeface="Calibri" panose="020F0502020204030204" pitchFamily="34" charset="0"/>
                <a:ea typeface="Calibri" panose="020F0502020204030204" pitchFamily="34" charset="0"/>
                <a:cs typeface="Times New Roman" panose="02020603050405020304" pitchFamily="18" charset="0"/>
              </a:rPr>
              <a:t>apply a logical approach to problem solving</a:t>
            </a:r>
          </a:p>
          <a:p>
            <a:pPr marL="342900" lvl="0" indent="-342900">
              <a:spcAft>
                <a:spcPts val="0"/>
              </a:spcAft>
              <a:buFont typeface="Symbol" panose="05050102010706020507" pitchFamily="18" charset="2"/>
              <a:buChar char=""/>
            </a:pPr>
            <a:r>
              <a:rPr lang="en-GB" sz="2400" dirty="0">
                <a:latin typeface="Calibri" panose="020F0502020204030204" pitchFamily="34" charset="0"/>
                <a:ea typeface="Calibri" panose="020F0502020204030204" pitchFamily="34" charset="0"/>
                <a:cs typeface="Times New Roman" panose="02020603050405020304" pitchFamily="18" charset="0"/>
              </a:rPr>
              <a:t>create solutions to problems that can be implemented by following a series of simple instructions</a:t>
            </a:r>
          </a:p>
          <a:p>
            <a:pPr marL="342900" lvl="0" indent="-342900">
              <a:spcAft>
                <a:spcPts val="0"/>
              </a:spcAft>
              <a:buFont typeface="Symbol" panose="05050102010706020507" pitchFamily="18" charset="2"/>
              <a:buChar char=""/>
            </a:pPr>
            <a:r>
              <a:rPr lang="en-GB" sz="2400" dirty="0">
                <a:latin typeface="Calibri" panose="020F0502020204030204" pitchFamily="34" charset="0"/>
                <a:ea typeface="Calibri" panose="020F0502020204030204" pitchFamily="34" charset="0"/>
                <a:cs typeface="Times New Roman" panose="02020603050405020304" pitchFamily="18" charset="0"/>
              </a:rPr>
              <a:t>compare different approaches to problem solving.</a:t>
            </a:r>
          </a:p>
        </p:txBody>
      </p:sp>
    </p:spTree>
    <p:extLst>
      <p:ext uri="{BB962C8B-B14F-4D97-AF65-F5344CB8AC3E}">
        <p14:creationId xmlns:p14="http://schemas.microsoft.com/office/powerpoint/2010/main" val="1699810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905C-00CB-4FC9-83B7-66A2E3C077C8}"/>
              </a:ext>
            </a:extLst>
          </p:cNvPr>
          <p:cNvSpPr>
            <a:spLocks noGrp="1"/>
          </p:cNvSpPr>
          <p:nvPr>
            <p:ph type="title"/>
          </p:nvPr>
        </p:nvSpPr>
        <p:spPr>
          <a:xfrm>
            <a:off x="1580322" y="844826"/>
            <a:ext cx="9773478" cy="845862"/>
          </a:xfrm>
        </p:spPr>
        <p:txBody>
          <a:bodyPr/>
          <a:lstStyle/>
          <a:p>
            <a:r>
              <a:rPr lang="en-GB" b="1" dirty="0">
                <a:solidFill>
                  <a:schemeClr val="bg1"/>
                </a:solidFill>
              </a:rPr>
              <a:t>Your cousin’s problem </a:t>
            </a:r>
          </a:p>
        </p:txBody>
      </p:sp>
      <p:sp>
        <p:nvSpPr>
          <p:cNvPr id="3" name="Rectangle 2">
            <a:extLst>
              <a:ext uri="{FF2B5EF4-FFF2-40B4-BE49-F238E27FC236}">
                <a16:creationId xmlns:a16="http://schemas.microsoft.com/office/drawing/2014/main" id="{FE9FBE1F-1E6D-3A42-BFA6-D6CC1C29A554}"/>
              </a:ext>
            </a:extLst>
          </p:cNvPr>
          <p:cNvSpPr/>
          <p:nvPr/>
        </p:nvSpPr>
        <p:spPr>
          <a:xfrm>
            <a:off x="1580322" y="2546127"/>
            <a:ext cx="4989443" cy="3040512"/>
          </a:xfrm>
          <a:prstGeom prst="rect">
            <a:avLst/>
          </a:prstGeom>
        </p:spPr>
        <p:txBody>
          <a:bodyPr wrap="square">
            <a:spAutoFit/>
          </a:bodyPr>
          <a:lstStyle/>
          <a:p>
            <a:pPr lvl="0">
              <a:lnSpc>
                <a:spcPct val="115000"/>
              </a:lnSpc>
            </a:pPr>
            <a:r>
              <a:rPr lang="en-GB" sz="2400" dirty="0">
                <a:solidFill>
                  <a:prstClr val="black"/>
                </a:solidFill>
                <a:ea typeface="Arial" panose="020B0604020202020204" pitchFamily="34" charset="0"/>
              </a:rPr>
              <a:t>When she visited your house, your cousin saw a model helicopter that you had built with a construction toy.</a:t>
            </a:r>
          </a:p>
          <a:p>
            <a:pPr lvl="0">
              <a:lnSpc>
                <a:spcPct val="115000"/>
              </a:lnSpc>
            </a:pPr>
            <a:r>
              <a:rPr lang="en-GB" sz="2400" dirty="0">
                <a:solidFill>
                  <a:prstClr val="black"/>
                </a:solidFill>
                <a:ea typeface="Arial" panose="020B0604020202020204" pitchFamily="34" charset="0"/>
              </a:rPr>
              <a:t>She has asked you to send her some instructions to follow so that she can build the same model for herself, using the same construction toy.</a:t>
            </a:r>
          </a:p>
        </p:txBody>
      </p:sp>
      <p:pic>
        <p:nvPicPr>
          <p:cNvPr id="7" name="Picture 6" descr="A picture containing toy&#10;&#10;Description automatically generated">
            <a:extLst>
              <a:ext uri="{FF2B5EF4-FFF2-40B4-BE49-F238E27FC236}">
                <a16:creationId xmlns:a16="http://schemas.microsoft.com/office/drawing/2014/main" id="{23A97856-AB93-4E01-99BC-C6D1BF1D85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9238" y="2546127"/>
            <a:ext cx="3800856" cy="3038856"/>
          </a:xfrm>
          <a:prstGeom prst="rect">
            <a:avLst/>
          </a:prstGeom>
        </p:spPr>
      </p:pic>
    </p:spTree>
    <p:extLst>
      <p:ext uri="{BB962C8B-B14F-4D97-AF65-F5344CB8AC3E}">
        <p14:creationId xmlns:p14="http://schemas.microsoft.com/office/powerpoint/2010/main" val="1166166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C3D19-1115-422D-B31A-F4EC856863A4}"/>
              </a:ext>
            </a:extLst>
          </p:cNvPr>
          <p:cNvSpPr>
            <a:spLocks noGrp="1"/>
          </p:cNvSpPr>
          <p:nvPr>
            <p:ph type="title"/>
          </p:nvPr>
        </p:nvSpPr>
        <p:spPr>
          <a:xfrm>
            <a:off x="1620078" y="854765"/>
            <a:ext cx="10197548" cy="835923"/>
          </a:xfrm>
        </p:spPr>
        <p:txBody>
          <a:bodyPr>
            <a:noAutofit/>
          </a:bodyPr>
          <a:lstStyle/>
          <a:p>
            <a:r>
              <a:rPr lang="en-GB" sz="3200" b="1" dirty="0">
                <a:solidFill>
                  <a:prstClr val="white"/>
                </a:solidFill>
              </a:rPr>
              <a:t>Using computational thinking to solve your cousin’s problem</a:t>
            </a:r>
            <a:endParaRPr lang="en-GB" sz="3200" b="1" dirty="0">
              <a:solidFill>
                <a:schemeClr val="bg1"/>
              </a:solidFill>
            </a:endParaRPr>
          </a:p>
        </p:txBody>
      </p:sp>
      <p:sp>
        <p:nvSpPr>
          <p:cNvPr id="3" name="Content Placeholder 2">
            <a:extLst>
              <a:ext uri="{FF2B5EF4-FFF2-40B4-BE49-F238E27FC236}">
                <a16:creationId xmlns:a16="http://schemas.microsoft.com/office/drawing/2014/main" id="{603992AB-7463-4849-AFE8-C91C20C45440}"/>
              </a:ext>
            </a:extLst>
          </p:cNvPr>
          <p:cNvSpPr>
            <a:spLocks noGrp="1"/>
          </p:cNvSpPr>
          <p:nvPr>
            <p:ph idx="1"/>
          </p:nvPr>
        </p:nvSpPr>
        <p:spPr>
          <a:xfrm>
            <a:off x="1620078" y="2123799"/>
            <a:ext cx="8925340" cy="3879436"/>
          </a:xfrm>
        </p:spPr>
        <p:txBody>
          <a:bodyPr>
            <a:normAutofit/>
          </a:bodyPr>
          <a:lstStyle/>
          <a:p>
            <a:pPr marL="0" lvl="0" indent="0">
              <a:lnSpc>
                <a:spcPct val="115000"/>
              </a:lnSpc>
              <a:spcBef>
                <a:spcPts val="0"/>
              </a:spcBef>
              <a:buNone/>
            </a:pPr>
            <a:r>
              <a:rPr lang="en-GB" sz="2400" dirty="0">
                <a:solidFill>
                  <a:prstClr val="black"/>
                </a:solidFill>
                <a:ea typeface="Arial" panose="020B0604020202020204" pitchFamily="34" charset="0"/>
              </a:rPr>
              <a:t>A computer scientist would tackle your cousin’s problem in a logical way, by applying an approach known as </a:t>
            </a:r>
            <a:r>
              <a:rPr lang="en-GB" sz="2400" b="1" dirty="0">
                <a:solidFill>
                  <a:srgbClr val="0069B4"/>
                </a:solidFill>
                <a:ea typeface="Arial" panose="020B0604020202020204" pitchFamily="34" charset="0"/>
              </a:rPr>
              <a:t>computational</a:t>
            </a:r>
            <a:r>
              <a:rPr lang="en-GB" sz="2400" b="1" dirty="0">
                <a:solidFill>
                  <a:srgbClr val="00B0F0"/>
                </a:solidFill>
                <a:ea typeface="Arial" panose="020B0604020202020204" pitchFamily="34" charset="0"/>
              </a:rPr>
              <a:t> </a:t>
            </a:r>
            <a:r>
              <a:rPr lang="en-GB" sz="2400" b="1" dirty="0">
                <a:solidFill>
                  <a:srgbClr val="0069B4"/>
                </a:solidFill>
                <a:ea typeface="Arial" panose="020B0604020202020204" pitchFamily="34" charset="0"/>
              </a:rPr>
              <a:t>thinking</a:t>
            </a:r>
            <a:r>
              <a:rPr lang="en-GB" sz="2400" dirty="0">
                <a:solidFill>
                  <a:prstClr val="black"/>
                </a:solidFill>
                <a:ea typeface="Arial" panose="020B0604020202020204" pitchFamily="34" charset="0"/>
              </a:rPr>
              <a:t>.</a:t>
            </a:r>
          </a:p>
          <a:p>
            <a:pPr marL="0" lvl="0" indent="0">
              <a:lnSpc>
                <a:spcPct val="115000"/>
              </a:lnSpc>
              <a:spcBef>
                <a:spcPts val="0"/>
              </a:spcBef>
              <a:buNone/>
            </a:pPr>
            <a:endParaRPr lang="en-GB" sz="2400" dirty="0">
              <a:solidFill>
                <a:srgbClr val="231F20"/>
              </a:solidFill>
              <a:ea typeface="Arial" panose="020B0604020202020204" pitchFamily="34" charset="0"/>
            </a:endParaRPr>
          </a:p>
          <a:p>
            <a:pPr marL="0" lvl="0" indent="0">
              <a:lnSpc>
                <a:spcPct val="115000"/>
              </a:lnSpc>
              <a:spcBef>
                <a:spcPts val="0"/>
              </a:spcBef>
              <a:buNone/>
            </a:pPr>
            <a:r>
              <a:rPr lang="en-GB" sz="2400" dirty="0">
                <a:solidFill>
                  <a:srgbClr val="231F20"/>
                </a:solidFill>
                <a:ea typeface="Arial" panose="020B0604020202020204" pitchFamily="34" charset="0"/>
              </a:rPr>
              <a:t>Computational thinking allows us to take a complex problem, understand what the problem is and develop possible solutions.</a:t>
            </a:r>
            <a:endParaRPr lang="en-GB" sz="2400" dirty="0">
              <a:solidFill>
                <a:prstClr val="black"/>
              </a:solidFill>
              <a:ea typeface="Arial" panose="020B0604020202020204" pitchFamily="34" charset="0"/>
            </a:endParaRPr>
          </a:p>
          <a:p>
            <a:pPr marL="0" lvl="0" indent="0">
              <a:lnSpc>
                <a:spcPct val="115000"/>
              </a:lnSpc>
              <a:spcBef>
                <a:spcPts val="0"/>
              </a:spcBef>
              <a:buNone/>
            </a:pPr>
            <a:endParaRPr lang="en-GB" sz="2400" dirty="0">
              <a:solidFill>
                <a:prstClr val="black"/>
              </a:solidFill>
              <a:ea typeface="Arial" panose="020B0604020202020204" pitchFamily="34" charset="0"/>
            </a:endParaRPr>
          </a:p>
          <a:p>
            <a:pPr marL="0" lvl="0" indent="0">
              <a:lnSpc>
                <a:spcPct val="115000"/>
              </a:lnSpc>
              <a:spcBef>
                <a:spcPts val="0"/>
              </a:spcBef>
              <a:buNone/>
            </a:pPr>
            <a:r>
              <a:rPr lang="en-GB" sz="2400" dirty="0">
                <a:solidFill>
                  <a:prstClr val="black"/>
                </a:solidFill>
                <a:ea typeface="Arial" panose="020B0604020202020204" pitchFamily="34" charset="0"/>
              </a:rPr>
              <a:t>There are a number of distinct stages or </a:t>
            </a:r>
            <a:r>
              <a:rPr lang="en-GB" sz="2400" b="1" dirty="0">
                <a:solidFill>
                  <a:prstClr val="black"/>
                </a:solidFill>
                <a:ea typeface="Arial" panose="020B0604020202020204" pitchFamily="34" charset="0"/>
              </a:rPr>
              <a:t>cornerstones</a:t>
            </a:r>
            <a:r>
              <a:rPr lang="en-GB" sz="2400" dirty="0">
                <a:solidFill>
                  <a:prstClr val="black"/>
                </a:solidFill>
                <a:ea typeface="Arial" panose="020B0604020202020204" pitchFamily="34" charset="0"/>
              </a:rPr>
              <a:t> to computational thinking. The first is called </a:t>
            </a:r>
            <a:r>
              <a:rPr lang="en-GB" sz="2400" b="1" dirty="0">
                <a:solidFill>
                  <a:srgbClr val="0069B4"/>
                </a:solidFill>
                <a:ea typeface="Arial" panose="020B0604020202020204" pitchFamily="34" charset="0"/>
              </a:rPr>
              <a:t>decomposition</a:t>
            </a:r>
            <a:r>
              <a:rPr lang="en-GB" sz="2400" dirty="0">
                <a:solidFill>
                  <a:prstClr val="black"/>
                </a:solidFill>
                <a:ea typeface="Arial" panose="020B0604020202020204" pitchFamily="34" charset="0"/>
              </a:rPr>
              <a:t>.</a:t>
            </a:r>
          </a:p>
        </p:txBody>
      </p:sp>
    </p:spTree>
    <p:extLst>
      <p:ext uri="{BB962C8B-B14F-4D97-AF65-F5344CB8AC3E}">
        <p14:creationId xmlns:p14="http://schemas.microsoft.com/office/powerpoint/2010/main" val="300574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5B0F3-7F56-4F5C-81F1-A743D46BDBD9}"/>
              </a:ext>
            </a:extLst>
          </p:cNvPr>
          <p:cNvSpPr>
            <a:spLocks noGrp="1"/>
          </p:cNvSpPr>
          <p:nvPr>
            <p:ph type="title"/>
          </p:nvPr>
        </p:nvSpPr>
        <p:spPr>
          <a:xfrm>
            <a:off x="1600201" y="844826"/>
            <a:ext cx="9753598" cy="775252"/>
          </a:xfrm>
        </p:spPr>
        <p:txBody>
          <a:bodyPr/>
          <a:lstStyle/>
          <a:p>
            <a:r>
              <a:rPr lang="en-GB" b="1" dirty="0">
                <a:solidFill>
                  <a:schemeClr val="bg1"/>
                </a:solidFill>
              </a:rPr>
              <a:t>Decomposition </a:t>
            </a:r>
          </a:p>
        </p:txBody>
      </p:sp>
      <p:sp>
        <p:nvSpPr>
          <p:cNvPr id="3" name="Content Placeholder 2">
            <a:extLst>
              <a:ext uri="{FF2B5EF4-FFF2-40B4-BE49-F238E27FC236}">
                <a16:creationId xmlns:a16="http://schemas.microsoft.com/office/drawing/2014/main" id="{928FB485-6993-428E-81B4-749465982CC5}"/>
              </a:ext>
            </a:extLst>
          </p:cNvPr>
          <p:cNvSpPr>
            <a:spLocks noGrp="1"/>
          </p:cNvSpPr>
          <p:nvPr>
            <p:ph idx="1"/>
          </p:nvPr>
        </p:nvSpPr>
        <p:spPr>
          <a:xfrm>
            <a:off x="1600201" y="1905137"/>
            <a:ext cx="9481930" cy="4351338"/>
          </a:xfrm>
        </p:spPr>
        <p:txBody>
          <a:bodyPr/>
          <a:lstStyle/>
          <a:p>
            <a:pPr marL="0" indent="0">
              <a:spcAft>
                <a:spcPts val="0"/>
              </a:spcAft>
              <a:buNone/>
            </a:pPr>
            <a:r>
              <a:rPr lang="en-GB" sz="2400" dirty="0">
                <a:latin typeface="Calibri" panose="020F0502020204030204" pitchFamily="34" charset="0"/>
                <a:ea typeface="Calibri" panose="020F0502020204030204" pitchFamily="34" charset="0"/>
                <a:cs typeface="Times New Roman" panose="02020603050405020304" pitchFamily="18" charset="0"/>
              </a:rPr>
              <a:t>To gain a really good understanding of a complex problem, it helps to break it down or decompose it into a number of smaller problems.</a:t>
            </a:r>
          </a:p>
          <a:p>
            <a:pPr marL="0" indent="0">
              <a:buNone/>
            </a:pPr>
            <a:endParaRPr lang="en-GB" dirty="0"/>
          </a:p>
        </p:txBody>
      </p:sp>
      <p:pic>
        <p:nvPicPr>
          <p:cNvPr id="9" name="Picture 8">
            <a:extLst>
              <a:ext uri="{FF2B5EF4-FFF2-40B4-BE49-F238E27FC236}">
                <a16:creationId xmlns:a16="http://schemas.microsoft.com/office/drawing/2014/main" id="{C49F8F9E-A627-4140-814E-0DD7CA2AA1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201" y="3135004"/>
            <a:ext cx="3800856" cy="3038856"/>
          </a:xfrm>
          <a:prstGeom prst="rect">
            <a:avLst/>
          </a:prstGeom>
        </p:spPr>
      </p:pic>
      <p:pic>
        <p:nvPicPr>
          <p:cNvPr id="11" name="Picture 10">
            <a:extLst>
              <a:ext uri="{FF2B5EF4-FFF2-40B4-BE49-F238E27FC236}">
                <a16:creationId xmlns:a16="http://schemas.microsoft.com/office/drawing/2014/main" id="{27031B1A-BB79-4EA3-BCE8-E9EDD05E47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85720" y="3135004"/>
            <a:ext cx="4371197" cy="3038856"/>
          </a:xfrm>
          <a:prstGeom prst="rect">
            <a:avLst/>
          </a:prstGeom>
        </p:spPr>
      </p:pic>
      <p:sp>
        <p:nvSpPr>
          <p:cNvPr id="12" name="Arrow: Right 11">
            <a:extLst>
              <a:ext uri="{FF2B5EF4-FFF2-40B4-BE49-F238E27FC236}">
                <a16:creationId xmlns:a16="http://schemas.microsoft.com/office/drawing/2014/main" id="{5DFA03DF-2D60-47A5-B522-BFC695E357F5}"/>
              </a:ext>
            </a:extLst>
          </p:cNvPr>
          <p:cNvSpPr/>
          <p:nvPr/>
        </p:nvSpPr>
        <p:spPr>
          <a:xfrm>
            <a:off x="5499102" y="4454134"/>
            <a:ext cx="1088572" cy="400595"/>
          </a:xfrm>
          <a:prstGeom prst="rightArrow">
            <a:avLst/>
          </a:prstGeom>
          <a:solidFill>
            <a:srgbClr val="1DAEE4"/>
          </a:solidFill>
          <a:ln>
            <a:solidFill>
              <a:srgbClr val="1DAE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38170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4BA82-FE7D-4DE6-BC00-A388E38B624C}"/>
              </a:ext>
            </a:extLst>
          </p:cNvPr>
          <p:cNvSpPr>
            <a:spLocks noGrp="1"/>
          </p:cNvSpPr>
          <p:nvPr>
            <p:ph type="title"/>
          </p:nvPr>
        </p:nvSpPr>
        <p:spPr>
          <a:xfrm>
            <a:off x="1560442" y="834888"/>
            <a:ext cx="9793357" cy="817010"/>
          </a:xfrm>
        </p:spPr>
        <p:txBody>
          <a:bodyPr/>
          <a:lstStyle/>
          <a:p>
            <a:r>
              <a:rPr lang="en-GB" b="1" dirty="0">
                <a:solidFill>
                  <a:schemeClr val="bg1"/>
                </a:solidFill>
              </a:rPr>
              <a:t>Decomposition </a:t>
            </a:r>
          </a:p>
        </p:txBody>
      </p:sp>
      <p:sp>
        <p:nvSpPr>
          <p:cNvPr id="3" name="Content Placeholder 2">
            <a:extLst>
              <a:ext uri="{FF2B5EF4-FFF2-40B4-BE49-F238E27FC236}">
                <a16:creationId xmlns:a16="http://schemas.microsoft.com/office/drawing/2014/main" id="{64D89CB4-E14F-4A81-9700-8E0CB5DA89CB}"/>
              </a:ext>
            </a:extLst>
          </p:cNvPr>
          <p:cNvSpPr>
            <a:spLocks noGrp="1"/>
          </p:cNvSpPr>
          <p:nvPr>
            <p:ph idx="1"/>
          </p:nvPr>
        </p:nvSpPr>
        <p:spPr>
          <a:xfrm>
            <a:off x="1560441" y="1882879"/>
            <a:ext cx="8488019" cy="817010"/>
          </a:xfrm>
        </p:spPr>
        <p:txBody>
          <a:bodyPr>
            <a:normAutofit/>
          </a:bodyPr>
          <a:lstStyle/>
          <a:p>
            <a:pPr marL="0" indent="0">
              <a:buNone/>
            </a:pPr>
            <a:r>
              <a:rPr lang="en-GB" sz="2400" dirty="0"/>
              <a:t>These problems might, in turn, need to be decomposed further until the true nature of the problem is fully understood.</a:t>
            </a:r>
          </a:p>
        </p:txBody>
      </p:sp>
      <p:pic>
        <p:nvPicPr>
          <p:cNvPr id="9" name="Picture 8" descr="A picture containing indoor&#10;&#10;Description automatically generated">
            <a:extLst>
              <a:ext uri="{FF2B5EF4-FFF2-40B4-BE49-F238E27FC236}">
                <a16:creationId xmlns:a16="http://schemas.microsoft.com/office/drawing/2014/main" id="{82AECDD6-0398-4CC1-B7F5-5774290831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0441" y="3041514"/>
            <a:ext cx="4423809" cy="3075432"/>
          </a:xfrm>
          <a:prstGeom prst="rect">
            <a:avLst/>
          </a:prstGeom>
        </p:spPr>
      </p:pic>
      <p:pic>
        <p:nvPicPr>
          <p:cNvPr id="11" name="Picture 10" descr="A picture containing indoor, several&#10;&#10;Description automatically generated">
            <a:extLst>
              <a:ext uri="{FF2B5EF4-FFF2-40B4-BE49-F238E27FC236}">
                <a16:creationId xmlns:a16="http://schemas.microsoft.com/office/drawing/2014/main" id="{A2ECD106-79EF-459B-8C9C-DD4CA394C3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0702" y="3041514"/>
            <a:ext cx="3800856" cy="3075432"/>
          </a:xfrm>
          <a:prstGeom prst="rect">
            <a:avLst/>
          </a:prstGeom>
        </p:spPr>
      </p:pic>
      <p:sp>
        <p:nvSpPr>
          <p:cNvPr id="12" name="Arrow: Right 11">
            <a:extLst>
              <a:ext uri="{FF2B5EF4-FFF2-40B4-BE49-F238E27FC236}">
                <a16:creationId xmlns:a16="http://schemas.microsoft.com/office/drawing/2014/main" id="{E3A2DE71-43F9-4273-8F52-3D3CA5F87A48}"/>
              </a:ext>
            </a:extLst>
          </p:cNvPr>
          <p:cNvSpPr/>
          <p:nvPr/>
        </p:nvSpPr>
        <p:spPr>
          <a:xfrm>
            <a:off x="6079457" y="4378932"/>
            <a:ext cx="656038" cy="400595"/>
          </a:xfrm>
          <a:prstGeom prst="rightArrow">
            <a:avLst/>
          </a:prstGeom>
          <a:solidFill>
            <a:srgbClr val="1DAEE4"/>
          </a:solidFill>
          <a:ln>
            <a:solidFill>
              <a:srgbClr val="1DAE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15003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B468A-662A-4290-A763-CBC919D3C24C}"/>
              </a:ext>
            </a:extLst>
          </p:cNvPr>
          <p:cNvSpPr>
            <a:spLocks noGrp="1"/>
          </p:cNvSpPr>
          <p:nvPr>
            <p:ph type="title"/>
          </p:nvPr>
        </p:nvSpPr>
        <p:spPr>
          <a:xfrm>
            <a:off x="1600200" y="815009"/>
            <a:ext cx="9753600" cy="875679"/>
          </a:xfrm>
        </p:spPr>
        <p:txBody>
          <a:bodyPr/>
          <a:lstStyle/>
          <a:p>
            <a:r>
              <a:rPr lang="en-GB" b="1" dirty="0">
                <a:solidFill>
                  <a:schemeClr val="bg1"/>
                </a:solidFill>
              </a:rPr>
              <a:t>Decomposition</a:t>
            </a:r>
          </a:p>
        </p:txBody>
      </p:sp>
      <p:sp>
        <p:nvSpPr>
          <p:cNvPr id="3" name="Content Placeholder 2">
            <a:extLst>
              <a:ext uri="{FF2B5EF4-FFF2-40B4-BE49-F238E27FC236}">
                <a16:creationId xmlns:a16="http://schemas.microsoft.com/office/drawing/2014/main" id="{64289632-8C78-45F6-A718-168D82D91E56}"/>
              </a:ext>
            </a:extLst>
          </p:cNvPr>
          <p:cNvSpPr>
            <a:spLocks noGrp="1"/>
          </p:cNvSpPr>
          <p:nvPr>
            <p:ph idx="1"/>
          </p:nvPr>
        </p:nvSpPr>
        <p:spPr>
          <a:xfrm>
            <a:off x="1600199" y="2067339"/>
            <a:ext cx="8706679" cy="4109624"/>
          </a:xfrm>
        </p:spPr>
        <p:txBody>
          <a:bodyPr/>
          <a:lstStyle/>
          <a:p>
            <a:pPr marL="457200" indent="-457200"/>
            <a:r>
              <a:rPr lang="en-GB" dirty="0">
                <a:latin typeface="Calibri" panose="020F0502020204030204" pitchFamily="34" charset="0"/>
                <a:ea typeface="Calibri" panose="020F0502020204030204" pitchFamily="34" charset="0"/>
                <a:cs typeface="Times New Roman" panose="02020603050405020304" pitchFamily="18" charset="0"/>
              </a:rPr>
              <a:t>By decomposing a problem, you gain a much deeper understanding of it.</a:t>
            </a:r>
          </a:p>
          <a:p>
            <a:pPr marL="457200" indent="-457200"/>
            <a:r>
              <a:rPr lang="en-GB" dirty="0">
                <a:latin typeface="Calibri" panose="020F0502020204030204" pitchFamily="34" charset="0"/>
                <a:ea typeface="Calibri" panose="020F0502020204030204" pitchFamily="34" charset="0"/>
                <a:cs typeface="Times New Roman" panose="02020603050405020304" pitchFamily="18" charset="0"/>
              </a:rPr>
              <a:t>You have broken a problem down into a number of smaller problems. Each one of these smaller problems is easier to solve than the big problem you started with. And when you have solved the smaller problems, you have also solved the big problem.</a:t>
            </a:r>
          </a:p>
          <a:p>
            <a:pPr marL="457200" indent="-457200"/>
            <a:r>
              <a:rPr lang="en-GB" dirty="0">
                <a:latin typeface="Calibri" panose="020F0502020204030204" pitchFamily="34" charset="0"/>
                <a:ea typeface="Calibri" panose="020F0502020204030204" pitchFamily="34" charset="0"/>
                <a:cs typeface="Times New Roman" panose="02020603050405020304" pitchFamily="18" charset="0"/>
              </a:rPr>
              <a:t>Decomposition can be applied to any problem, even a simple daily routine such as brushing your teeth.</a:t>
            </a:r>
          </a:p>
          <a:p>
            <a:pPr marL="0" indent="0">
              <a:buNone/>
            </a:pPr>
            <a:endParaRPr lang="en-GB" dirty="0"/>
          </a:p>
        </p:txBody>
      </p:sp>
    </p:spTree>
    <p:extLst>
      <p:ext uri="{BB962C8B-B14F-4D97-AF65-F5344CB8AC3E}">
        <p14:creationId xmlns:p14="http://schemas.microsoft.com/office/powerpoint/2010/main" val="1548936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0D3D-3B5A-405C-A85C-D55D7E6FEF9A}"/>
              </a:ext>
            </a:extLst>
          </p:cNvPr>
          <p:cNvSpPr>
            <a:spLocks noGrp="1"/>
          </p:cNvSpPr>
          <p:nvPr>
            <p:ph type="title"/>
          </p:nvPr>
        </p:nvSpPr>
        <p:spPr>
          <a:xfrm>
            <a:off x="1570382" y="824948"/>
            <a:ext cx="9783417" cy="865740"/>
          </a:xfrm>
        </p:spPr>
        <p:txBody>
          <a:bodyPr/>
          <a:lstStyle/>
          <a:p>
            <a:r>
              <a:rPr lang="en-GB" b="1" dirty="0">
                <a:solidFill>
                  <a:schemeClr val="bg1"/>
                </a:solidFill>
              </a:rPr>
              <a:t>How do you brush your teeth?</a:t>
            </a:r>
          </a:p>
        </p:txBody>
      </p:sp>
      <p:sp>
        <p:nvSpPr>
          <p:cNvPr id="3" name="Rectangle 2">
            <a:extLst>
              <a:ext uri="{FF2B5EF4-FFF2-40B4-BE49-F238E27FC236}">
                <a16:creationId xmlns:a16="http://schemas.microsoft.com/office/drawing/2014/main" id="{8946BABC-7940-7642-8320-B5E9E2F49271}"/>
              </a:ext>
            </a:extLst>
          </p:cNvPr>
          <p:cNvSpPr/>
          <p:nvPr/>
        </p:nvSpPr>
        <p:spPr>
          <a:xfrm>
            <a:off x="6579704" y="2698161"/>
            <a:ext cx="4393096" cy="2615781"/>
          </a:xfrm>
          <a:prstGeom prst="rect">
            <a:avLst/>
          </a:prstGeom>
        </p:spPr>
        <p:txBody>
          <a:bodyPr wrap="square">
            <a:spAutoFit/>
          </a:bodyPr>
          <a:lstStyle/>
          <a:p>
            <a:pPr marL="342900" lvl="0" indent="-342900">
              <a:lnSpc>
                <a:spcPct val="115000"/>
              </a:lnSpc>
              <a:buFont typeface="Arial" panose="020B0604020202020204" pitchFamily="34" charset="0"/>
              <a:buChar char="•"/>
            </a:pPr>
            <a:r>
              <a:rPr lang="en-GB" sz="2400" dirty="0">
                <a:solidFill>
                  <a:prstClr val="black"/>
                </a:solidFill>
                <a:ea typeface="Arial" panose="020B0604020202020204" pitchFamily="34" charset="0"/>
              </a:rPr>
              <a:t>What is involved in brushing your teeth?</a:t>
            </a:r>
          </a:p>
          <a:p>
            <a:pPr marL="342900" lvl="0" indent="-342900">
              <a:lnSpc>
                <a:spcPct val="115000"/>
              </a:lnSpc>
              <a:buFont typeface="Arial" panose="020B0604020202020204" pitchFamily="34" charset="0"/>
              <a:buChar char="•"/>
            </a:pPr>
            <a:r>
              <a:rPr lang="en-GB" sz="2400" dirty="0">
                <a:solidFill>
                  <a:prstClr val="black"/>
                </a:solidFill>
                <a:ea typeface="Arial" panose="020B0604020202020204" pitchFamily="34" charset="0"/>
              </a:rPr>
              <a:t>What are the things you must do to make sure that your teeth are clean and your gums stay healthy?</a:t>
            </a:r>
          </a:p>
        </p:txBody>
      </p:sp>
      <p:pic>
        <p:nvPicPr>
          <p:cNvPr id="6" name="Picture 5" descr="A picture containing person, wall, indoor, bathroom&#10;&#10;Description automatically generated">
            <a:extLst>
              <a:ext uri="{FF2B5EF4-FFF2-40B4-BE49-F238E27FC236}">
                <a16:creationId xmlns:a16="http://schemas.microsoft.com/office/drawing/2014/main" id="{4696342E-D368-40E5-B802-1E30BC41A7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9857" y="2254005"/>
            <a:ext cx="5256143" cy="3504095"/>
          </a:xfrm>
          <a:prstGeom prst="rect">
            <a:avLst/>
          </a:prstGeom>
        </p:spPr>
      </p:pic>
    </p:spTree>
    <p:extLst>
      <p:ext uri="{BB962C8B-B14F-4D97-AF65-F5344CB8AC3E}">
        <p14:creationId xmlns:p14="http://schemas.microsoft.com/office/powerpoint/2010/main" val="2669437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CC9AE2-1B54-42D8-BF3D-9A34E69A491C}"/>
              </a:ext>
            </a:extLst>
          </p:cNvPr>
          <p:cNvSpPr>
            <a:spLocks noGrp="1"/>
          </p:cNvSpPr>
          <p:nvPr>
            <p:ph idx="1"/>
          </p:nvPr>
        </p:nvSpPr>
        <p:spPr>
          <a:xfrm>
            <a:off x="1610138" y="1825625"/>
            <a:ext cx="7368399" cy="4351338"/>
          </a:xfrm>
        </p:spPr>
        <p:txBody>
          <a:bodyPr>
            <a:normAutofit fontScale="77500" lnSpcReduction="20000"/>
          </a:bodyPr>
          <a:lstStyle/>
          <a:p>
            <a:pPr marL="0" indent="0">
              <a:lnSpc>
                <a:spcPct val="115000"/>
              </a:lnSpc>
              <a:buNone/>
            </a:pPr>
            <a:r>
              <a:rPr lang="en-GB" dirty="0">
                <a:ea typeface="Arial" panose="020B0604020202020204" pitchFamily="34" charset="0"/>
              </a:rPr>
              <a:t>A teenager’s first attempt at decomposing the problem of how to brush your teeth might look something like this:</a:t>
            </a:r>
          </a:p>
          <a:p>
            <a:pPr marL="342900" indent="-342900">
              <a:lnSpc>
                <a:spcPct val="115000"/>
              </a:lnSpc>
            </a:pPr>
            <a:r>
              <a:rPr lang="en-GB" dirty="0">
                <a:ea typeface="Arial" panose="020B0604020202020204" pitchFamily="34" charset="0"/>
              </a:rPr>
              <a:t>place your mobile phone beside you</a:t>
            </a:r>
          </a:p>
          <a:p>
            <a:pPr marL="342900" indent="-342900">
              <a:lnSpc>
                <a:spcPct val="115000"/>
              </a:lnSpc>
            </a:pPr>
            <a:r>
              <a:rPr lang="en-GB" dirty="0">
                <a:ea typeface="Arial" panose="020B0604020202020204" pitchFamily="34" charset="0"/>
              </a:rPr>
              <a:t>locate a toothbrush</a:t>
            </a:r>
          </a:p>
          <a:p>
            <a:pPr marL="342900" indent="-342900">
              <a:lnSpc>
                <a:spcPct val="115000"/>
              </a:lnSpc>
            </a:pPr>
            <a:r>
              <a:rPr lang="en-GB" dirty="0">
                <a:ea typeface="Arial" panose="020B0604020202020204" pitchFamily="34" charset="0"/>
              </a:rPr>
              <a:t>choose a blue toothbrush</a:t>
            </a:r>
          </a:p>
          <a:p>
            <a:pPr marL="342900" indent="-342900">
              <a:lnSpc>
                <a:spcPct val="115000"/>
              </a:lnSpc>
            </a:pPr>
            <a:r>
              <a:rPr lang="en-GB" dirty="0">
                <a:ea typeface="Arial" panose="020B0604020202020204" pitchFamily="34" charset="0"/>
              </a:rPr>
              <a:t>locate the toothpaste</a:t>
            </a:r>
          </a:p>
          <a:p>
            <a:pPr marL="342900" indent="-342900">
              <a:lnSpc>
                <a:spcPct val="115000"/>
              </a:lnSpc>
            </a:pPr>
            <a:r>
              <a:rPr lang="en-GB" dirty="0">
                <a:ea typeface="Arial" panose="020B0604020202020204" pitchFamily="34" charset="0"/>
              </a:rPr>
              <a:t>locate the sink</a:t>
            </a:r>
          </a:p>
          <a:p>
            <a:pPr marL="342900" indent="-342900">
              <a:lnSpc>
                <a:spcPct val="115000"/>
              </a:lnSpc>
            </a:pPr>
            <a:r>
              <a:rPr lang="en-GB" dirty="0">
                <a:ea typeface="Arial" panose="020B0604020202020204" pitchFamily="34" charset="0"/>
              </a:rPr>
              <a:t>start brushing your teeth</a:t>
            </a:r>
          </a:p>
          <a:p>
            <a:pPr marL="342900" indent="-342900">
              <a:lnSpc>
                <a:spcPct val="115000"/>
              </a:lnSpc>
            </a:pPr>
            <a:r>
              <a:rPr lang="en-GB" dirty="0">
                <a:ea typeface="Arial" panose="020B0604020202020204" pitchFamily="34" charset="0"/>
              </a:rPr>
              <a:t>put on some loud music</a:t>
            </a:r>
          </a:p>
          <a:p>
            <a:pPr marL="342900" indent="-342900">
              <a:lnSpc>
                <a:spcPct val="115000"/>
              </a:lnSpc>
            </a:pPr>
            <a:r>
              <a:rPr lang="en-GB" dirty="0">
                <a:ea typeface="Arial" panose="020B0604020202020204" pitchFamily="34" charset="0"/>
              </a:rPr>
              <a:t>finish brushing your teeth.</a:t>
            </a:r>
          </a:p>
          <a:p>
            <a:pPr marL="0" indent="0">
              <a:buNone/>
            </a:pPr>
            <a:endParaRPr lang="en-GB" dirty="0"/>
          </a:p>
        </p:txBody>
      </p:sp>
      <p:sp>
        <p:nvSpPr>
          <p:cNvPr id="6" name="Title 1">
            <a:extLst>
              <a:ext uri="{FF2B5EF4-FFF2-40B4-BE49-F238E27FC236}">
                <a16:creationId xmlns:a16="http://schemas.microsoft.com/office/drawing/2014/main" id="{FBD6E243-AAEE-4318-95F5-8EF40AB06AA8}"/>
              </a:ext>
            </a:extLst>
          </p:cNvPr>
          <p:cNvSpPr txBox="1">
            <a:spLocks/>
          </p:cNvSpPr>
          <p:nvPr/>
        </p:nvSpPr>
        <p:spPr>
          <a:xfrm>
            <a:off x="1570382" y="824948"/>
            <a:ext cx="9783417" cy="86574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a:solidFill>
                  <a:schemeClr val="bg1"/>
                </a:solidFill>
              </a:rPr>
              <a:t>How do you brush your teeth?</a:t>
            </a:r>
            <a:endParaRPr lang="en-GB" b="1" dirty="0">
              <a:solidFill>
                <a:schemeClr val="bg1"/>
              </a:solidFill>
            </a:endParaRPr>
          </a:p>
        </p:txBody>
      </p:sp>
    </p:spTree>
    <p:extLst>
      <p:ext uri="{BB962C8B-B14F-4D97-AF65-F5344CB8AC3E}">
        <p14:creationId xmlns:p14="http://schemas.microsoft.com/office/powerpoint/2010/main" val="1770592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6ADEC-A2F9-49DF-85E0-654131E269B5}"/>
              </a:ext>
            </a:extLst>
          </p:cNvPr>
          <p:cNvSpPr>
            <a:spLocks noGrp="1"/>
          </p:cNvSpPr>
          <p:nvPr>
            <p:ph type="title"/>
          </p:nvPr>
        </p:nvSpPr>
        <p:spPr>
          <a:xfrm>
            <a:off x="1590260" y="824948"/>
            <a:ext cx="9763539" cy="865740"/>
          </a:xfrm>
        </p:spPr>
        <p:txBody>
          <a:bodyPr/>
          <a:lstStyle/>
          <a:p>
            <a:r>
              <a:rPr lang="en-GB" b="1" dirty="0">
                <a:solidFill>
                  <a:schemeClr val="bg1"/>
                </a:solidFill>
              </a:rPr>
              <a:t>Abstraction </a:t>
            </a:r>
          </a:p>
        </p:txBody>
      </p:sp>
      <p:sp>
        <p:nvSpPr>
          <p:cNvPr id="3" name="Content Placeholder 2">
            <a:extLst>
              <a:ext uri="{FF2B5EF4-FFF2-40B4-BE49-F238E27FC236}">
                <a16:creationId xmlns:a16="http://schemas.microsoft.com/office/drawing/2014/main" id="{3F5C10A6-C706-480F-B379-38FDA6FFE9D8}"/>
              </a:ext>
            </a:extLst>
          </p:cNvPr>
          <p:cNvSpPr>
            <a:spLocks noGrp="1"/>
          </p:cNvSpPr>
          <p:nvPr>
            <p:ph idx="1"/>
          </p:nvPr>
        </p:nvSpPr>
        <p:spPr>
          <a:xfrm>
            <a:off x="1590260" y="2143677"/>
            <a:ext cx="8159915" cy="3124062"/>
          </a:xfrm>
        </p:spPr>
        <p:txBody>
          <a:bodyPr>
            <a:normAutofit/>
          </a:bodyPr>
          <a:lstStyle/>
          <a:p>
            <a:pPr marL="0" indent="0">
              <a:lnSpc>
                <a:spcPct val="115000"/>
              </a:lnSpc>
              <a:buNone/>
            </a:pPr>
            <a:r>
              <a:rPr lang="en-GB" sz="2400" dirty="0">
                <a:ea typeface="Arial" panose="020B0604020202020204" pitchFamily="34" charset="0"/>
              </a:rPr>
              <a:t>It is illogical and unhelpful to include tasks that do not help you solve your problem.</a:t>
            </a:r>
          </a:p>
          <a:p>
            <a:pPr marL="0" indent="0">
              <a:lnSpc>
                <a:spcPct val="115000"/>
              </a:lnSpc>
              <a:buNone/>
            </a:pPr>
            <a:r>
              <a:rPr lang="en-GB" sz="2400" dirty="0">
                <a:ea typeface="Arial" panose="020B0604020202020204" pitchFamily="34" charset="0"/>
              </a:rPr>
              <a:t>The second cornerstone of computational thinking is to remove unnecessary and unhelpful detail. This process is known as </a:t>
            </a:r>
            <a:r>
              <a:rPr lang="en-GB" sz="2400" b="1" dirty="0">
                <a:solidFill>
                  <a:srgbClr val="0069B4"/>
                </a:solidFill>
                <a:ea typeface="Arial" panose="020B0604020202020204" pitchFamily="34" charset="0"/>
              </a:rPr>
              <a:t>abstraction</a:t>
            </a:r>
            <a:r>
              <a:rPr lang="en-GB" sz="2400" dirty="0">
                <a:ea typeface="Arial" panose="020B0604020202020204" pitchFamily="34" charset="0"/>
              </a:rPr>
              <a:t>.</a:t>
            </a:r>
          </a:p>
        </p:txBody>
      </p:sp>
    </p:spTree>
    <p:extLst>
      <p:ext uri="{BB962C8B-B14F-4D97-AF65-F5344CB8AC3E}">
        <p14:creationId xmlns:p14="http://schemas.microsoft.com/office/powerpoint/2010/main" val="3867962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06696-8D12-4574-BDC3-2DC3137EF4C6}"/>
              </a:ext>
            </a:extLst>
          </p:cNvPr>
          <p:cNvSpPr>
            <a:spLocks noGrp="1"/>
          </p:cNvSpPr>
          <p:nvPr>
            <p:ph type="title"/>
          </p:nvPr>
        </p:nvSpPr>
        <p:spPr>
          <a:xfrm>
            <a:off x="1570382" y="834887"/>
            <a:ext cx="9783417" cy="855801"/>
          </a:xfrm>
        </p:spPr>
        <p:txBody>
          <a:bodyPr/>
          <a:lstStyle/>
          <a:p>
            <a:r>
              <a:rPr lang="en-GB" b="1" dirty="0">
                <a:solidFill>
                  <a:schemeClr val="bg1"/>
                </a:solidFill>
              </a:rPr>
              <a:t>Activity 1.1: Abstraction</a:t>
            </a:r>
          </a:p>
        </p:txBody>
      </p:sp>
      <p:pic>
        <p:nvPicPr>
          <p:cNvPr id="4" name="Picture 3" descr="A picture containing athletic game, basketball, sport&#10;&#10;Description automatically generated">
            <a:extLst>
              <a:ext uri="{FF2B5EF4-FFF2-40B4-BE49-F238E27FC236}">
                <a16:creationId xmlns:a16="http://schemas.microsoft.com/office/drawing/2014/main" id="{1E2600D5-6A37-4268-ACFD-748EBE7CCF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2977" y="1885897"/>
            <a:ext cx="4686046" cy="4591328"/>
          </a:xfrm>
          <a:prstGeom prst="rect">
            <a:avLst/>
          </a:prstGeom>
        </p:spPr>
      </p:pic>
    </p:spTree>
    <p:extLst>
      <p:ext uri="{BB962C8B-B14F-4D97-AF65-F5344CB8AC3E}">
        <p14:creationId xmlns:p14="http://schemas.microsoft.com/office/powerpoint/2010/main" val="2922878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E36AC-12A9-4A2C-9D8A-8D001EE0DA6B}"/>
              </a:ext>
            </a:extLst>
          </p:cNvPr>
          <p:cNvSpPr>
            <a:spLocks noGrp="1"/>
          </p:cNvSpPr>
          <p:nvPr>
            <p:ph type="title"/>
          </p:nvPr>
        </p:nvSpPr>
        <p:spPr>
          <a:xfrm>
            <a:off x="1580322" y="824948"/>
            <a:ext cx="10611678" cy="865740"/>
          </a:xfrm>
        </p:spPr>
        <p:txBody>
          <a:bodyPr>
            <a:noAutofit/>
          </a:bodyPr>
          <a:lstStyle/>
          <a:p>
            <a:r>
              <a:rPr lang="en-GB" sz="3600" b="1" dirty="0">
                <a:solidFill>
                  <a:prstClr val="white"/>
                </a:solidFill>
              </a:rPr>
              <a:t>Teeth brushing problem decomposed and abstracted </a:t>
            </a:r>
            <a:endParaRPr lang="en-GB" sz="3600" b="1" dirty="0">
              <a:solidFill>
                <a:schemeClr val="bg1"/>
              </a:solidFill>
            </a:endParaRPr>
          </a:p>
        </p:txBody>
      </p:sp>
      <p:sp>
        <p:nvSpPr>
          <p:cNvPr id="3" name="Content Placeholder 2">
            <a:extLst>
              <a:ext uri="{FF2B5EF4-FFF2-40B4-BE49-F238E27FC236}">
                <a16:creationId xmlns:a16="http://schemas.microsoft.com/office/drawing/2014/main" id="{10CCC13E-1871-4787-BADF-14253538B2A6}"/>
              </a:ext>
            </a:extLst>
          </p:cNvPr>
          <p:cNvSpPr>
            <a:spLocks noGrp="1"/>
          </p:cNvSpPr>
          <p:nvPr>
            <p:ph idx="1"/>
          </p:nvPr>
        </p:nvSpPr>
        <p:spPr>
          <a:xfrm>
            <a:off x="1580322" y="2266122"/>
            <a:ext cx="8169965" cy="4377980"/>
          </a:xfrm>
        </p:spPr>
        <p:txBody>
          <a:bodyPr>
            <a:normAutofit/>
          </a:bodyPr>
          <a:lstStyle/>
          <a:p>
            <a:pPr marL="0" indent="0">
              <a:buNone/>
            </a:pPr>
            <a:r>
              <a:rPr lang="en-GB" dirty="0"/>
              <a:t>This is the decomposed problem after abstraction has been carried out:</a:t>
            </a:r>
          </a:p>
          <a:p>
            <a:pPr marL="457200" lvl="0" indent="-457200"/>
            <a:r>
              <a:rPr lang="en-GB" dirty="0"/>
              <a:t>locate a toothbrush</a:t>
            </a:r>
          </a:p>
          <a:p>
            <a:pPr marL="457200" lvl="0" indent="-457200"/>
            <a:r>
              <a:rPr lang="en-GB" dirty="0"/>
              <a:t>locate the toothpaste</a:t>
            </a:r>
          </a:p>
          <a:p>
            <a:pPr marL="457200" lvl="0" indent="-457200"/>
            <a:r>
              <a:rPr lang="en-GB" dirty="0"/>
              <a:t>locate the sink</a:t>
            </a:r>
          </a:p>
          <a:p>
            <a:pPr marL="457200" lvl="0" indent="-457200"/>
            <a:r>
              <a:rPr lang="en-GB" dirty="0"/>
              <a:t>start brushing your teeth</a:t>
            </a:r>
          </a:p>
          <a:p>
            <a:pPr marL="457200" lvl="0" indent="-457200"/>
            <a:r>
              <a:rPr lang="en-GB" dirty="0"/>
              <a:t>finish brushing your teeth.</a:t>
            </a:r>
          </a:p>
          <a:p>
            <a:pPr marL="0" indent="0">
              <a:buNone/>
            </a:pPr>
            <a:endParaRPr lang="en-GB" dirty="0"/>
          </a:p>
        </p:txBody>
      </p:sp>
    </p:spTree>
    <p:extLst>
      <p:ext uri="{BB962C8B-B14F-4D97-AF65-F5344CB8AC3E}">
        <p14:creationId xmlns:p14="http://schemas.microsoft.com/office/powerpoint/2010/main" val="1412272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D8971-0D9A-4A36-8231-D006AA258032}"/>
              </a:ext>
            </a:extLst>
          </p:cNvPr>
          <p:cNvSpPr>
            <a:spLocks noGrp="1"/>
          </p:cNvSpPr>
          <p:nvPr>
            <p:ph type="title"/>
          </p:nvPr>
        </p:nvSpPr>
        <p:spPr>
          <a:xfrm>
            <a:off x="1570382" y="824948"/>
            <a:ext cx="10621618" cy="865740"/>
          </a:xfrm>
        </p:spPr>
        <p:txBody>
          <a:bodyPr>
            <a:noAutofit/>
          </a:bodyPr>
          <a:lstStyle/>
          <a:p>
            <a:r>
              <a:rPr lang="en-GB" b="1" dirty="0">
                <a:solidFill>
                  <a:schemeClr val="bg1"/>
                </a:solidFill>
              </a:rPr>
              <a:t>Further decomposition to add sufficient detail </a:t>
            </a:r>
          </a:p>
        </p:txBody>
      </p:sp>
      <p:sp>
        <p:nvSpPr>
          <p:cNvPr id="5" name="Rectangle 4">
            <a:extLst>
              <a:ext uri="{FF2B5EF4-FFF2-40B4-BE49-F238E27FC236}">
                <a16:creationId xmlns:a16="http://schemas.microsoft.com/office/drawing/2014/main" id="{1FFC7642-4690-4712-A4BC-8F54E828D94D}"/>
              </a:ext>
            </a:extLst>
          </p:cNvPr>
          <p:cNvSpPr/>
          <p:nvPr/>
        </p:nvSpPr>
        <p:spPr>
          <a:xfrm>
            <a:off x="1570382" y="2088253"/>
            <a:ext cx="9591260" cy="4154984"/>
          </a:xfrm>
          <a:prstGeom prst="rect">
            <a:avLst/>
          </a:prstGeom>
        </p:spPr>
        <p:txBody>
          <a:bodyPr wrap="square">
            <a:spAutoFit/>
          </a:bodyPr>
          <a:lstStyle/>
          <a:p>
            <a:r>
              <a:rPr lang="en-GB" sz="2200" b="1" dirty="0">
                <a:solidFill>
                  <a:srgbClr val="0069B4"/>
                </a:solidFill>
              </a:rPr>
              <a:t>Abstraction</a:t>
            </a:r>
            <a:r>
              <a:rPr lang="en-GB" sz="2200" dirty="0"/>
              <a:t> removes unhelpful or unnecessary detail. </a:t>
            </a:r>
          </a:p>
          <a:p>
            <a:r>
              <a:rPr lang="en-GB" sz="2200" b="1" dirty="0">
                <a:solidFill>
                  <a:srgbClr val="0069B4"/>
                </a:solidFill>
              </a:rPr>
              <a:t>Further decomposition</a:t>
            </a:r>
            <a:r>
              <a:rPr lang="en-GB" sz="2200" b="1" dirty="0">
                <a:solidFill>
                  <a:srgbClr val="00B0F0"/>
                </a:solidFill>
              </a:rPr>
              <a:t> </a:t>
            </a:r>
            <a:r>
              <a:rPr lang="en-GB" sz="2200" dirty="0"/>
              <a:t>makes sure that the solution is sufficiently detailed to solve the problem.</a:t>
            </a:r>
          </a:p>
          <a:p>
            <a:r>
              <a:rPr lang="en-GB" sz="2200" dirty="0"/>
              <a:t>The teenager has decomposed the teeth brushing problem and we have abstracted it, but is the list detailed enough?</a:t>
            </a:r>
          </a:p>
          <a:p>
            <a:r>
              <a:rPr lang="en-GB" sz="2200" dirty="0"/>
              <a:t>Let us further decompose the first item in the list: Locate a toothbrush.</a:t>
            </a:r>
          </a:p>
          <a:p>
            <a:pPr marL="342900" indent="-342900">
              <a:buFont typeface="Arial" panose="020B0604020202020204" pitchFamily="34" charset="0"/>
              <a:buChar char="•"/>
            </a:pPr>
            <a:r>
              <a:rPr lang="en-GB" sz="2200" dirty="0"/>
              <a:t>What sort of brush do you need?</a:t>
            </a:r>
          </a:p>
          <a:p>
            <a:pPr marL="342900" indent="-342900">
              <a:buFont typeface="Arial" panose="020B0604020202020204" pitchFamily="34" charset="0"/>
              <a:buChar char="•"/>
            </a:pPr>
            <a:r>
              <a:rPr lang="en-GB" sz="2200" dirty="0"/>
              <a:t>Is the brush clean?</a:t>
            </a:r>
          </a:p>
          <a:p>
            <a:pPr marL="342900" indent="-342900">
              <a:buFont typeface="Arial" panose="020B0604020202020204" pitchFamily="34" charset="0"/>
              <a:buChar char="•"/>
            </a:pPr>
            <a:r>
              <a:rPr lang="en-GB" sz="2200" dirty="0"/>
              <a:t>You need a toothbrush but should it be a manual or an electric toothbrush?</a:t>
            </a:r>
          </a:p>
          <a:p>
            <a:pPr marL="342900" indent="-342900">
              <a:buFont typeface="Arial" panose="020B0604020202020204" pitchFamily="34" charset="0"/>
              <a:buChar char="•"/>
            </a:pPr>
            <a:r>
              <a:rPr lang="en-GB" sz="2200" dirty="0"/>
              <a:t>If it is an electric toothbrush, is it charged?</a:t>
            </a:r>
          </a:p>
          <a:p>
            <a:pPr marL="342900" indent="-342900">
              <a:buFont typeface="Arial" panose="020B0604020202020204" pitchFamily="34" charset="0"/>
              <a:buChar char="•"/>
            </a:pPr>
            <a:r>
              <a:rPr lang="en-GB" sz="2200" dirty="0"/>
              <a:t>If it needs charging, is there a charging point nearby?</a:t>
            </a:r>
          </a:p>
          <a:p>
            <a:pPr marL="342900" indent="-342900">
              <a:buFont typeface="Arial" panose="020B0604020202020204" pitchFamily="34" charset="0"/>
              <a:buChar char="•"/>
            </a:pPr>
            <a:r>
              <a:rPr lang="en-GB" sz="2200" dirty="0"/>
              <a:t>Do you have a brush head that fits an electric toothbrush?</a:t>
            </a:r>
          </a:p>
        </p:txBody>
      </p:sp>
    </p:spTree>
    <p:extLst>
      <p:ext uri="{BB962C8B-B14F-4D97-AF65-F5344CB8AC3E}">
        <p14:creationId xmlns:p14="http://schemas.microsoft.com/office/powerpoint/2010/main" val="34249111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110D6-9DED-4A63-8F81-14093CD9874C}"/>
              </a:ext>
            </a:extLst>
          </p:cNvPr>
          <p:cNvSpPr>
            <a:spLocks noGrp="1"/>
          </p:cNvSpPr>
          <p:nvPr>
            <p:ph type="title"/>
          </p:nvPr>
        </p:nvSpPr>
        <p:spPr>
          <a:xfrm>
            <a:off x="1580322" y="824948"/>
            <a:ext cx="9773478" cy="805069"/>
          </a:xfrm>
        </p:spPr>
        <p:txBody>
          <a:bodyPr/>
          <a:lstStyle/>
          <a:p>
            <a:r>
              <a:rPr lang="en-GB" b="1" dirty="0">
                <a:solidFill>
                  <a:schemeClr val="bg1"/>
                </a:solidFill>
              </a:rPr>
              <a:t>Activity 1.2: Decomposing a daily routine </a:t>
            </a:r>
            <a:endParaRPr lang="en-US" b="1" dirty="0"/>
          </a:p>
        </p:txBody>
      </p:sp>
      <p:pic>
        <p:nvPicPr>
          <p:cNvPr id="4" name="Picture 3" descr="A picture containing athletic game, basketball, sport&#10;&#10;Description automatically generated">
            <a:extLst>
              <a:ext uri="{FF2B5EF4-FFF2-40B4-BE49-F238E27FC236}">
                <a16:creationId xmlns:a16="http://schemas.microsoft.com/office/drawing/2014/main" id="{752D1C6D-A16D-4FCB-874B-5B58349A9E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2977" y="1885897"/>
            <a:ext cx="4686046" cy="4591328"/>
          </a:xfrm>
          <a:prstGeom prst="rect">
            <a:avLst/>
          </a:prstGeom>
        </p:spPr>
      </p:pic>
    </p:spTree>
    <p:extLst>
      <p:ext uri="{BB962C8B-B14F-4D97-AF65-F5344CB8AC3E}">
        <p14:creationId xmlns:p14="http://schemas.microsoft.com/office/powerpoint/2010/main" val="2322716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349DE-C14A-43C9-9DD0-7CF72DC6D209}"/>
              </a:ext>
            </a:extLst>
          </p:cNvPr>
          <p:cNvSpPr>
            <a:spLocks noGrp="1"/>
          </p:cNvSpPr>
          <p:nvPr>
            <p:ph type="title"/>
          </p:nvPr>
        </p:nvSpPr>
        <p:spPr>
          <a:xfrm>
            <a:off x="1580322" y="824948"/>
            <a:ext cx="9773478" cy="865740"/>
          </a:xfrm>
        </p:spPr>
        <p:txBody>
          <a:bodyPr/>
          <a:lstStyle/>
          <a:p>
            <a:r>
              <a:rPr lang="en-GB" b="1" dirty="0">
                <a:solidFill>
                  <a:schemeClr val="bg1"/>
                </a:solidFill>
              </a:rPr>
              <a:t>Algorithm design </a:t>
            </a:r>
          </a:p>
        </p:txBody>
      </p:sp>
      <p:sp>
        <p:nvSpPr>
          <p:cNvPr id="3" name="Rectangle 2">
            <a:extLst>
              <a:ext uri="{FF2B5EF4-FFF2-40B4-BE49-F238E27FC236}">
                <a16:creationId xmlns:a16="http://schemas.microsoft.com/office/drawing/2014/main" id="{F7F92AC3-C00E-2E45-B4BE-BD819B71DBDE}"/>
              </a:ext>
            </a:extLst>
          </p:cNvPr>
          <p:cNvSpPr/>
          <p:nvPr/>
        </p:nvSpPr>
        <p:spPr>
          <a:xfrm>
            <a:off x="1580322" y="2029602"/>
            <a:ext cx="8839200" cy="4154984"/>
          </a:xfrm>
          <a:prstGeom prst="rect">
            <a:avLst/>
          </a:prstGeom>
        </p:spPr>
        <p:txBody>
          <a:bodyPr wrap="square">
            <a:spAutoFit/>
          </a:bodyPr>
          <a:lstStyle/>
          <a:p>
            <a:pPr lvl="0"/>
            <a:r>
              <a:rPr lang="en-GB" sz="2400" dirty="0">
                <a:solidFill>
                  <a:prstClr val="black"/>
                </a:solidFill>
              </a:rPr>
              <a:t>The third cornerstone of computational thinking is </a:t>
            </a:r>
            <a:r>
              <a:rPr lang="en-GB" sz="2400" b="1" dirty="0">
                <a:solidFill>
                  <a:srgbClr val="0069B4"/>
                </a:solidFill>
              </a:rPr>
              <a:t>algorithm design</a:t>
            </a:r>
            <a:r>
              <a:rPr lang="en-GB" sz="2400" dirty="0">
                <a:solidFill>
                  <a:prstClr val="black"/>
                </a:solidFill>
              </a:rPr>
              <a:t>, planning a solution based on your understanding of the problem.</a:t>
            </a:r>
          </a:p>
          <a:p>
            <a:pPr lvl="0"/>
            <a:r>
              <a:rPr lang="en-GB" sz="2400" dirty="0">
                <a:solidFill>
                  <a:prstClr val="black"/>
                </a:solidFill>
              </a:rPr>
              <a:t>The solution will take the form of a series of simple, logical, step-by-step instructions that must be followed in a strict sequence.</a:t>
            </a:r>
          </a:p>
          <a:p>
            <a:pPr lvl="0"/>
            <a:r>
              <a:rPr lang="en-GB" sz="2400" dirty="0">
                <a:solidFill>
                  <a:prstClr val="black"/>
                </a:solidFill>
              </a:rPr>
              <a:t>To make a good</a:t>
            </a:r>
            <a:r>
              <a:rPr lang="en-GB" sz="2400" dirty="0">
                <a:solidFill>
                  <a:srgbClr val="00B0F0"/>
                </a:solidFill>
              </a:rPr>
              <a:t> </a:t>
            </a:r>
            <a:r>
              <a:rPr lang="en-GB" sz="2400" b="1" dirty="0">
                <a:solidFill>
                  <a:srgbClr val="0069B4"/>
                </a:solidFill>
              </a:rPr>
              <a:t>algorithm</a:t>
            </a:r>
            <a:r>
              <a:rPr lang="en-GB" sz="2400" dirty="0">
                <a:solidFill>
                  <a:prstClr val="black"/>
                </a:solidFill>
              </a:rPr>
              <a:t>, the instructions must be:</a:t>
            </a:r>
          </a:p>
          <a:p>
            <a:pPr marL="342900" lvl="0" indent="-342900">
              <a:buFont typeface="Arial" panose="020B0604020202020204" pitchFamily="34" charset="0"/>
              <a:buChar char="•"/>
            </a:pPr>
            <a:r>
              <a:rPr lang="en-GB" sz="2400" dirty="0">
                <a:solidFill>
                  <a:prstClr val="black"/>
                </a:solidFill>
              </a:rPr>
              <a:t>clear</a:t>
            </a:r>
          </a:p>
          <a:p>
            <a:pPr marL="342900" lvl="0" indent="-342900">
              <a:buFont typeface="Arial" panose="020B0604020202020204" pitchFamily="34" charset="0"/>
              <a:buChar char="•"/>
            </a:pPr>
            <a:r>
              <a:rPr lang="en-GB" sz="2400" dirty="0">
                <a:solidFill>
                  <a:prstClr val="black"/>
                </a:solidFill>
              </a:rPr>
              <a:t>simple</a:t>
            </a:r>
          </a:p>
          <a:p>
            <a:pPr marL="342900" lvl="0" indent="-342900">
              <a:buFont typeface="Arial" panose="020B0604020202020204" pitchFamily="34" charset="0"/>
              <a:buChar char="•"/>
            </a:pPr>
            <a:r>
              <a:rPr lang="en-GB" sz="2400" dirty="0">
                <a:solidFill>
                  <a:prstClr val="black"/>
                </a:solidFill>
              </a:rPr>
              <a:t>unambiguous</a:t>
            </a:r>
          </a:p>
          <a:p>
            <a:pPr marL="342900" lvl="0" indent="-342900">
              <a:buFont typeface="Arial" panose="020B0604020202020204" pitchFamily="34" charset="0"/>
              <a:buChar char="•"/>
            </a:pPr>
            <a:r>
              <a:rPr lang="en-GB" sz="2400" dirty="0">
                <a:solidFill>
                  <a:prstClr val="black"/>
                </a:solidFill>
              </a:rPr>
              <a:t>precise</a:t>
            </a:r>
          </a:p>
          <a:p>
            <a:pPr marL="342900" lvl="0" indent="-342900">
              <a:buFont typeface="Arial" panose="020B0604020202020204" pitchFamily="34" charset="0"/>
              <a:buChar char="•"/>
            </a:pPr>
            <a:r>
              <a:rPr lang="en-GB" sz="2400" dirty="0">
                <a:solidFill>
                  <a:prstClr val="black"/>
                </a:solidFill>
              </a:rPr>
              <a:t>correctly sequenced</a:t>
            </a:r>
          </a:p>
          <a:p>
            <a:pPr marL="342900" lvl="0" indent="-342900">
              <a:buFont typeface="Arial" panose="020B0604020202020204" pitchFamily="34" charset="0"/>
              <a:buChar char="•"/>
            </a:pPr>
            <a:r>
              <a:rPr lang="en-GB" sz="2400" dirty="0">
                <a:solidFill>
                  <a:prstClr val="black"/>
                </a:solidFill>
              </a:rPr>
              <a:t>sufficiently detailed to complete the task.</a:t>
            </a:r>
          </a:p>
        </p:txBody>
      </p:sp>
    </p:spTree>
    <p:extLst>
      <p:ext uri="{BB962C8B-B14F-4D97-AF65-F5344CB8AC3E}">
        <p14:creationId xmlns:p14="http://schemas.microsoft.com/office/powerpoint/2010/main" val="1980793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349DE-C14A-43C9-9DD0-7CF72DC6D209}"/>
              </a:ext>
            </a:extLst>
          </p:cNvPr>
          <p:cNvSpPr>
            <a:spLocks noGrp="1"/>
          </p:cNvSpPr>
          <p:nvPr>
            <p:ph type="title"/>
          </p:nvPr>
        </p:nvSpPr>
        <p:spPr>
          <a:xfrm>
            <a:off x="1580322" y="824948"/>
            <a:ext cx="9773478" cy="865740"/>
          </a:xfrm>
        </p:spPr>
        <p:txBody>
          <a:bodyPr/>
          <a:lstStyle/>
          <a:p>
            <a:r>
              <a:rPr lang="en-GB" b="1" dirty="0">
                <a:solidFill>
                  <a:schemeClr val="bg1"/>
                </a:solidFill>
              </a:rPr>
              <a:t>Algorithm </a:t>
            </a:r>
          </a:p>
        </p:txBody>
      </p:sp>
      <p:sp>
        <p:nvSpPr>
          <p:cNvPr id="3" name="Rectangle 2">
            <a:extLst>
              <a:ext uri="{FF2B5EF4-FFF2-40B4-BE49-F238E27FC236}">
                <a16:creationId xmlns:a16="http://schemas.microsoft.com/office/drawing/2014/main" id="{F7F92AC3-C00E-2E45-B4BE-BD819B71DBDE}"/>
              </a:ext>
            </a:extLst>
          </p:cNvPr>
          <p:cNvSpPr/>
          <p:nvPr/>
        </p:nvSpPr>
        <p:spPr>
          <a:xfrm>
            <a:off x="6692348" y="2568834"/>
            <a:ext cx="4134678" cy="1938992"/>
          </a:xfrm>
          <a:prstGeom prst="rect">
            <a:avLst/>
          </a:prstGeom>
        </p:spPr>
        <p:txBody>
          <a:bodyPr wrap="square">
            <a:spAutoFit/>
          </a:bodyPr>
          <a:lstStyle/>
          <a:p>
            <a:pPr lvl="0"/>
            <a:r>
              <a:rPr lang="en-GB" sz="2400" dirty="0">
                <a:solidFill>
                  <a:prstClr val="black"/>
                </a:solidFill>
              </a:rPr>
              <a:t>The word ‘algorithm’ is derived from the name of the Persian mathematician and astronomer, </a:t>
            </a:r>
            <a:r>
              <a:rPr lang="en-GB" sz="2400" b="1" dirty="0"/>
              <a:t>al-Khwarizmi</a:t>
            </a:r>
            <a:r>
              <a:rPr lang="en-GB" sz="2400" dirty="0">
                <a:solidFill>
                  <a:prstClr val="black"/>
                </a:solidFill>
              </a:rPr>
              <a:t> (780–850 CE).</a:t>
            </a:r>
          </a:p>
        </p:txBody>
      </p:sp>
      <p:pic>
        <p:nvPicPr>
          <p:cNvPr id="6" name="Picture 5" descr="A picture containing text&#10;&#10;Description automatically generated">
            <a:extLst>
              <a:ext uri="{FF2B5EF4-FFF2-40B4-BE49-F238E27FC236}">
                <a16:creationId xmlns:a16="http://schemas.microsoft.com/office/drawing/2014/main" id="{6A8003A9-41FA-4A60-97F9-5AA892A040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818" y="1839775"/>
            <a:ext cx="3809182" cy="4645052"/>
          </a:xfrm>
          <a:prstGeom prst="rect">
            <a:avLst/>
          </a:prstGeom>
        </p:spPr>
      </p:pic>
    </p:spTree>
    <p:extLst>
      <p:ext uri="{BB962C8B-B14F-4D97-AF65-F5344CB8AC3E}">
        <p14:creationId xmlns:p14="http://schemas.microsoft.com/office/powerpoint/2010/main" val="4004408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B4D36-2121-417F-8DFB-DF55C238082A}"/>
              </a:ext>
            </a:extLst>
          </p:cNvPr>
          <p:cNvSpPr>
            <a:spLocks noGrp="1"/>
          </p:cNvSpPr>
          <p:nvPr>
            <p:ph type="title"/>
          </p:nvPr>
        </p:nvSpPr>
        <p:spPr>
          <a:xfrm>
            <a:off x="1590260" y="805070"/>
            <a:ext cx="9763539" cy="885618"/>
          </a:xfrm>
        </p:spPr>
        <p:txBody>
          <a:bodyPr/>
          <a:lstStyle/>
          <a:p>
            <a:r>
              <a:rPr lang="en-GB" b="1" dirty="0">
                <a:solidFill>
                  <a:schemeClr val="bg1"/>
                </a:solidFill>
              </a:rPr>
              <a:t>Activity 1.3: Paper aeroplane algorithm</a:t>
            </a:r>
          </a:p>
        </p:txBody>
      </p:sp>
      <p:pic>
        <p:nvPicPr>
          <p:cNvPr id="4" name="Picture 3" descr="A picture containing athletic game, basketball, sport&#10;&#10;Description automatically generated">
            <a:extLst>
              <a:ext uri="{FF2B5EF4-FFF2-40B4-BE49-F238E27FC236}">
                <a16:creationId xmlns:a16="http://schemas.microsoft.com/office/drawing/2014/main" id="{75A0F500-110A-49CA-9409-9F15A6D6AF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2977" y="1885897"/>
            <a:ext cx="4686046" cy="4591328"/>
          </a:xfrm>
          <a:prstGeom prst="rect">
            <a:avLst/>
          </a:prstGeom>
        </p:spPr>
      </p:pic>
    </p:spTree>
    <p:extLst>
      <p:ext uri="{BB962C8B-B14F-4D97-AF65-F5344CB8AC3E}">
        <p14:creationId xmlns:p14="http://schemas.microsoft.com/office/powerpoint/2010/main" val="1912247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349DE-C14A-43C9-9DD0-7CF72DC6D209}"/>
              </a:ext>
            </a:extLst>
          </p:cNvPr>
          <p:cNvSpPr>
            <a:spLocks noGrp="1"/>
          </p:cNvSpPr>
          <p:nvPr>
            <p:ph type="title"/>
          </p:nvPr>
        </p:nvSpPr>
        <p:spPr>
          <a:xfrm>
            <a:off x="1580322" y="824948"/>
            <a:ext cx="10611678" cy="830997"/>
          </a:xfrm>
        </p:spPr>
        <p:txBody>
          <a:bodyPr>
            <a:noAutofit/>
          </a:bodyPr>
          <a:lstStyle/>
          <a:p>
            <a:r>
              <a:rPr lang="en-GB" sz="3600" b="1" dirty="0">
                <a:solidFill>
                  <a:schemeClr val="bg1"/>
                </a:solidFill>
              </a:rPr>
              <a:t>Why is a logical approach to problem solving important?</a:t>
            </a:r>
          </a:p>
        </p:txBody>
      </p:sp>
      <p:sp>
        <p:nvSpPr>
          <p:cNvPr id="3" name="Rectangle 2">
            <a:extLst>
              <a:ext uri="{FF2B5EF4-FFF2-40B4-BE49-F238E27FC236}">
                <a16:creationId xmlns:a16="http://schemas.microsoft.com/office/drawing/2014/main" id="{F7F92AC3-C00E-2E45-B4BE-BD819B71DBDE}"/>
              </a:ext>
            </a:extLst>
          </p:cNvPr>
          <p:cNvSpPr/>
          <p:nvPr/>
        </p:nvSpPr>
        <p:spPr>
          <a:xfrm>
            <a:off x="1580322" y="2090172"/>
            <a:ext cx="8839200" cy="2677656"/>
          </a:xfrm>
          <a:prstGeom prst="rect">
            <a:avLst/>
          </a:prstGeom>
        </p:spPr>
        <p:txBody>
          <a:bodyPr wrap="square">
            <a:spAutoFit/>
          </a:bodyPr>
          <a:lstStyle/>
          <a:p>
            <a:r>
              <a:rPr lang="en-GB" sz="2400" dirty="0"/>
              <a:t>Computational thinking (decomposition, abstraction and algorithm design) is a logical approach to problem solving that is commonly used by computer programmers.</a:t>
            </a:r>
          </a:p>
          <a:p>
            <a:endParaRPr lang="en-GB" sz="2400" dirty="0"/>
          </a:p>
          <a:p>
            <a:r>
              <a:rPr lang="en-GB" sz="2400" dirty="0"/>
              <a:t>This is because computers can only follow instructions and so, for a computer to implement the solution to a problem, the problem must be written as a series of instructions.</a:t>
            </a:r>
          </a:p>
        </p:txBody>
      </p:sp>
    </p:spTree>
    <p:extLst>
      <p:ext uri="{BB962C8B-B14F-4D97-AF65-F5344CB8AC3E}">
        <p14:creationId xmlns:p14="http://schemas.microsoft.com/office/powerpoint/2010/main" val="2659827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B4D36-2121-417F-8DFB-DF55C238082A}"/>
              </a:ext>
            </a:extLst>
          </p:cNvPr>
          <p:cNvSpPr>
            <a:spLocks noGrp="1"/>
          </p:cNvSpPr>
          <p:nvPr>
            <p:ph type="title"/>
          </p:nvPr>
        </p:nvSpPr>
        <p:spPr>
          <a:xfrm>
            <a:off x="1590260" y="805070"/>
            <a:ext cx="9763539" cy="834887"/>
          </a:xfrm>
        </p:spPr>
        <p:txBody>
          <a:bodyPr/>
          <a:lstStyle/>
          <a:p>
            <a:r>
              <a:rPr lang="en-GB" b="1" dirty="0">
                <a:solidFill>
                  <a:schemeClr val="bg1"/>
                </a:solidFill>
              </a:rPr>
              <a:t>Quiz 1</a:t>
            </a:r>
          </a:p>
        </p:txBody>
      </p:sp>
      <p:pic>
        <p:nvPicPr>
          <p:cNvPr id="4" name="Picture 3" descr="A picture containing athletic game, basketball, sport&#10;&#10;Description automatically generated">
            <a:extLst>
              <a:ext uri="{FF2B5EF4-FFF2-40B4-BE49-F238E27FC236}">
                <a16:creationId xmlns:a16="http://schemas.microsoft.com/office/drawing/2014/main" id="{0B7D0949-01EA-4201-BC55-76AD53A967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2977" y="1885897"/>
            <a:ext cx="4686046" cy="4591328"/>
          </a:xfrm>
          <a:prstGeom prst="rect">
            <a:avLst/>
          </a:prstGeom>
        </p:spPr>
      </p:pic>
    </p:spTree>
    <p:extLst>
      <p:ext uri="{BB962C8B-B14F-4D97-AF65-F5344CB8AC3E}">
        <p14:creationId xmlns:p14="http://schemas.microsoft.com/office/powerpoint/2010/main" val="20660483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B4D36-2121-417F-8DFB-DF55C238082A}"/>
              </a:ext>
            </a:extLst>
          </p:cNvPr>
          <p:cNvSpPr>
            <a:spLocks noGrp="1"/>
          </p:cNvSpPr>
          <p:nvPr>
            <p:ph type="title"/>
          </p:nvPr>
        </p:nvSpPr>
        <p:spPr>
          <a:xfrm>
            <a:off x="1590260" y="805070"/>
            <a:ext cx="9763539" cy="815008"/>
          </a:xfrm>
        </p:spPr>
        <p:txBody>
          <a:bodyPr/>
          <a:lstStyle/>
          <a:p>
            <a:r>
              <a:rPr lang="en-GB" b="1" dirty="0">
                <a:solidFill>
                  <a:schemeClr val="bg1"/>
                </a:solidFill>
              </a:rPr>
              <a:t>Activity 1.4: Teach yourself turtle graphics</a:t>
            </a:r>
          </a:p>
        </p:txBody>
      </p:sp>
      <p:pic>
        <p:nvPicPr>
          <p:cNvPr id="4" name="Picture 3" descr="A picture containing athletic game, basketball, sport&#10;&#10;Description automatically generated">
            <a:extLst>
              <a:ext uri="{FF2B5EF4-FFF2-40B4-BE49-F238E27FC236}">
                <a16:creationId xmlns:a16="http://schemas.microsoft.com/office/drawing/2014/main" id="{4BCAAD54-BFEF-4217-BD7C-825F5611C2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2977" y="1885897"/>
            <a:ext cx="4686046" cy="4591328"/>
          </a:xfrm>
          <a:prstGeom prst="rect">
            <a:avLst/>
          </a:prstGeom>
        </p:spPr>
      </p:pic>
    </p:spTree>
    <p:extLst>
      <p:ext uri="{BB962C8B-B14F-4D97-AF65-F5344CB8AC3E}">
        <p14:creationId xmlns:p14="http://schemas.microsoft.com/office/powerpoint/2010/main" val="24707626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396</TotalTime>
  <Words>792</Words>
  <Application>Microsoft Office PowerPoint</Application>
  <PresentationFormat>Widescreen</PresentationFormat>
  <Paragraphs>79</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Calibri Light</vt:lpstr>
      <vt:lpstr>Symbol</vt:lpstr>
      <vt:lpstr>Times New Roman</vt:lpstr>
      <vt:lpstr>Office Theme</vt:lpstr>
      <vt:lpstr>Algorithms</vt:lpstr>
      <vt:lpstr>Objectives</vt:lpstr>
      <vt:lpstr>Your cousin’s problem </vt:lpstr>
      <vt:lpstr>Using computational thinking to solve your cousin’s problem</vt:lpstr>
      <vt:lpstr>Decomposition </vt:lpstr>
      <vt:lpstr>Decomposition </vt:lpstr>
      <vt:lpstr>Decomposition</vt:lpstr>
      <vt:lpstr>How do you brush your teeth?</vt:lpstr>
      <vt:lpstr>PowerPoint Presentation</vt:lpstr>
      <vt:lpstr>Abstraction </vt:lpstr>
      <vt:lpstr>Activity 1.1: Abstraction</vt:lpstr>
      <vt:lpstr>Teeth brushing problem decomposed and abstracted </vt:lpstr>
      <vt:lpstr>Further decomposition to add sufficient detail </vt:lpstr>
      <vt:lpstr>Activity 1.2: Decomposing a daily routine </vt:lpstr>
      <vt:lpstr>Algorithm design </vt:lpstr>
      <vt:lpstr>Algorithm </vt:lpstr>
      <vt:lpstr>Activity 1.3: Paper aeroplane algorithm</vt:lpstr>
      <vt:lpstr>Why is a logical approach to problem solving important?</vt:lpstr>
      <vt:lpstr>Quiz 1</vt:lpstr>
      <vt:lpstr>Activity 1.4: Teach yourself turtle graphics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Introducing spreadsheets</dc:title>
  <dc:creator>Lea Albrechtsen</dc:creator>
  <cp:lastModifiedBy>Lea Albrechtsen</cp:lastModifiedBy>
  <cp:revision>38</cp:revision>
  <dcterms:created xsi:type="dcterms:W3CDTF">2020-11-04T15:22:46Z</dcterms:created>
  <dcterms:modified xsi:type="dcterms:W3CDTF">2021-06-07T15:36:09Z</dcterms:modified>
</cp:coreProperties>
</file>