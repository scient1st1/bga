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83" r:id="rId5"/>
    <p:sldId id="258" r:id="rId6"/>
    <p:sldId id="285" r:id="rId7"/>
    <p:sldId id="286" r:id="rId8"/>
    <p:sldId id="259" r:id="rId9"/>
    <p:sldId id="277" r:id="rId10"/>
    <p:sldId id="266" r:id="rId11"/>
    <p:sldId id="279" r:id="rId12"/>
    <p:sldId id="280" r:id="rId13"/>
    <p:sldId id="260" r:id="rId14"/>
    <p:sldId id="281" r:id="rId15"/>
    <p:sldId id="282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>
        <p:scale>
          <a:sx n="100" d="100"/>
          <a:sy n="100" d="100"/>
        </p:scale>
        <p:origin x="-612" y="-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70252-6D27-224F-B897-578AE4F8D1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199EF32-DDE7-4ADB-885C-A27653194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450" y="2971075"/>
            <a:ext cx="4231550" cy="915850"/>
          </a:xfrm>
        </p:spPr>
        <p:txBody>
          <a:bodyPr/>
          <a:lstStyle/>
          <a:p>
            <a:pPr algn="r"/>
            <a:r>
              <a:rPr lang="en-GB" b="1" dirty="0"/>
              <a:t>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754ED-462E-421F-9B73-2803F0A34839}"/>
              </a:ext>
            </a:extLst>
          </p:cNvPr>
          <p:cNvSpPr/>
          <p:nvPr/>
        </p:nvSpPr>
        <p:spPr>
          <a:xfrm>
            <a:off x="2133507" y="3886925"/>
            <a:ext cx="39624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Lessons 5 and 6: Malaria in </a:t>
            </a:r>
            <a:r>
              <a:rPr lang="en-GB" sz="2000" b="1" dirty="0" err="1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Kitanga</a:t>
            </a:r>
            <a:endParaRPr lang="en-GB" sz="20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9" name="Picture 8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252F71F2-4D17-48A6-83AF-835154EB4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429" y="2607043"/>
            <a:ext cx="2937410" cy="24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7464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393937" y="2305615"/>
            <a:ext cx="9559198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In this lesson, you will learn how to: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the concepts of decomposition, abstraction, pattern recognition and algorithm design to a real-world problem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 and analyse data to identify the cause of a real-world problem and suggest a solution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 different approaches to solving problems.</a:t>
            </a:r>
            <a:endParaRPr lang="en-GB" b="1" dirty="0"/>
          </a:p>
          <a:p>
            <a:pPr lvl="0">
              <a:spcAft>
                <a:spcPts val="0"/>
              </a:spcAft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7464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423433" y="1951654"/>
            <a:ext cx="955919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Key terminology</a:t>
            </a:r>
          </a:p>
          <a:p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b="1" dirty="0"/>
              <a:t>Generalization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Decomposition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Data collection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Abstraction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Pattern recognition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2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i="1" dirty="0">
                <a:solidFill>
                  <a:schemeClr val="bg1"/>
                </a:solidFill>
              </a:rPr>
              <a:t>East African News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64454-CACC-4E1D-BEA8-EB5E618DDAA2}"/>
              </a:ext>
            </a:extLst>
          </p:cNvPr>
          <p:cNvSpPr/>
          <p:nvPr/>
        </p:nvSpPr>
        <p:spPr>
          <a:xfrm>
            <a:off x="1570382" y="2470109"/>
            <a:ext cx="39160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Read the front page of the </a:t>
            </a:r>
            <a:r>
              <a:rPr lang="en-GB" sz="2400" i="1" dirty="0">
                <a:latin typeface="Calibri" panose="020F0502020204030204" pitchFamily="34" charset="0"/>
                <a:ea typeface="Calibri" panose="020F0502020204030204" pitchFamily="34" charset="0"/>
              </a:rPr>
              <a:t>East African News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 and look at the map of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Kitanga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 District.</a:t>
            </a:r>
            <a:endParaRPr lang="en-GB" sz="2400" dirty="0"/>
          </a:p>
        </p:txBody>
      </p:sp>
      <p:pic>
        <p:nvPicPr>
          <p:cNvPr id="4" name="Picture 3" descr="Diagram, map&#10;&#10;Description automatically generated">
            <a:extLst>
              <a:ext uri="{FF2B5EF4-FFF2-40B4-BE49-F238E27FC236}">
                <a16:creationId xmlns:a16="http://schemas.microsoft.com/office/drawing/2014/main" id="{3E054CA1-839F-4B9B-AFC0-235EDAB7B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2" y="1922198"/>
            <a:ext cx="4376928" cy="4329581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3266014-EE55-4D9A-934B-620C2188E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83" y="4336047"/>
            <a:ext cx="5112290" cy="17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5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253"/>
            <a:ext cx="9773478" cy="75594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Dr Snow’s algorithm 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C8B6506-6448-4366-8B82-4778CBEC5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157" y="1820656"/>
            <a:ext cx="3719686" cy="452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253"/>
            <a:ext cx="9773478" cy="75594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Dr Snow’s algorithm 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7C8B1F01-BFF0-4D50-97FD-EAF48380359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334" y="1812586"/>
            <a:ext cx="8576401" cy="483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29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253"/>
            <a:ext cx="9773478" cy="75594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Dr Snow’s algorithm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2CB3BA-FB98-410A-B716-584F47842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77" y="1745932"/>
            <a:ext cx="4754413" cy="50169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9A1767-BB23-4E99-A7FE-570ABE8375E4}"/>
              </a:ext>
            </a:extLst>
          </p:cNvPr>
          <p:cNvSpPr/>
          <p:nvPr/>
        </p:nvSpPr>
        <p:spPr>
          <a:xfrm>
            <a:off x="5545393" y="1745932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population = 0</a:t>
            </a:r>
          </a:p>
          <a:p>
            <a:r>
              <a:rPr lang="en-US" dirty="0"/>
              <a:t>nets = 0</a:t>
            </a:r>
          </a:p>
          <a:p>
            <a:r>
              <a:rPr lang="en-US" dirty="0"/>
              <a:t>infected = 0</a:t>
            </a:r>
          </a:p>
          <a:p>
            <a:r>
              <a:rPr lang="en-US" dirty="0" err="1"/>
              <a:t>infection_rate</a:t>
            </a:r>
            <a:r>
              <a:rPr lang="en-US" dirty="0"/>
              <a:t> = 0</a:t>
            </a:r>
          </a:p>
          <a:p>
            <a:r>
              <a:rPr lang="en-US" dirty="0"/>
              <a:t>distance = 0</a:t>
            </a:r>
          </a:p>
          <a:p>
            <a:r>
              <a:rPr lang="en-US" dirty="0"/>
              <a:t>population = int(input('What is the village population? '))</a:t>
            </a:r>
          </a:p>
          <a:p>
            <a:r>
              <a:rPr lang="en-US" dirty="0"/>
              <a:t>nets = int(input('How many villagers use nets? '))</a:t>
            </a:r>
          </a:p>
          <a:p>
            <a:r>
              <a:rPr lang="en-US" dirty="0"/>
              <a:t>infected = int(input('How many villagers are infected? '))</a:t>
            </a:r>
          </a:p>
          <a:p>
            <a:r>
              <a:rPr lang="en-US" dirty="0" err="1"/>
              <a:t>infection_rate</a:t>
            </a:r>
            <a:r>
              <a:rPr lang="en-US" dirty="0"/>
              <a:t> = (infected/(population - nets))</a:t>
            </a:r>
          </a:p>
          <a:p>
            <a:r>
              <a:rPr lang="en-US" dirty="0"/>
              <a:t>distance = int(input('What is distance to the swamp? '))</a:t>
            </a:r>
          </a:p>
          <a:p>
            <a:r>
              <a:rPr lang="en-US" dirty="0"/>
              <a:t>risk = (</a:t>
            </a:r>
            <a:r>
              <a:rPr lang="en-US" dirty="0" err="1"/>
              <a:t>infection_rate</a:t>
            </a:r>
            <a:r>
              <a:rPr lang="en-US" dirty="0"/>
              <a:t> / distance)</a:t>
            </a:r>
          </a:p>
          <a:p>
            <a:r>
              <a:rPr lang="en-US" dirty="0"/>
              <a:t>print('The risk is:')</a:t>
            </a:r>
          </a:p>
          <a:p>
            <a:r>
              <a:rPr lang="en-US" dirty="0"/>
              <a:t>print(risk)</a:t>
            </a:r>
          </a:p>
        </p:txBody>
      </p:sp>
    </p:spTree>
    <p:extLst>
      <p:ext uri="{BB962C8B-B14F-4D97-AF65-F5344CB8AC3E}">
        <p14:creationId xmlns:p14="http://schemas.microsoft.com/office/powerpoint/2010/main" val="120329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7" y="854766"/>
            <a:ext cx="10197548" cy="755374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prstClr val="white"/>
                </a:solidFill>
              </a:rPr>
              <a:t>Generalisation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7" y="2065750"/>
            <a:ext cx="8517836" cy="2726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Dr Snow's algorithm is still relevant today.</a:t>
            </a:r>
          </a:p>
          <a:p>
            <a:pPr marL="0" indent="0">
              <a:buNone/>
            </a:pPr>
            <a:r>
              <a:rPr lang="en-GB" sz="2400" dirty="0"/>
              <a:t>When a solution to a problem – like Dr Snow's algorithm – is applied to many similar types of problems, this is known as </a:t>
            </a:r>
            <a:r>
              <a:rPr lang="en-GB" sz="2400" b="1" dirty="0">
                <a:solidFill>
                  <a:srgbClr val="00B0F0"/>
                </a:solidFill>
              </a:rPr>
              <a:t>generalisation</a:t>
            </a:r>
            <a:r>
              <a:rPr lang="en-GB" sz="2400" dirty="0"/>
              <a:t> and it is a key technique used in computing.</a:t>
            </a:r>
          </a:p>
          <a:p>
            <a:pPr marL="0" indent="0">
              <a:buNone/>
            </a:pPr>
            <a:r>
              <a:rPr lang="en-GB" sz="2400" dirty="0"/>
              <a:t>Computer programmers frequently borrow and adapt code written for a different but similar purpose. Generalisation makes coding much more efficient and improves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5.1: </a:t>
            </a:r>
            <a:r>
              <a:rPr lang="en-GB" b="1" i="1" dirty="0">
                <a:solidFill>
                  <a:schemeClr val="bg1"/>
                </a:solidFill>
              </a:rPr>
              <a:t>East African News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DC055BC5-AF9A-4783-B4C4-179F07069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3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0EFD09D-E5E7-42CB-B7A7-30AC653A8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5.2: Data collection </a:t>
            </a:r>
          </a:p>
        </p:txBody>
      </p:sp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Activity 5.3: Abstraction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D3F1058A-F7D2-45F0-9AC8-F9E6C345B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2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Activity 5.4: Pattern recognition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B60A1F7-6997-49CA-A58E-642393D45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2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844826"/>
            <a:ext cx="975359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Which swamp should be sprayed? </a:t>
            </a:r>
          </a:p>
        </p:txBody>
      </p:sp>
      <p:pic>
        <p:nvPicPr>
          <p:cNvPr id="4" name="Picture 3" descr="Chart, bar chart, histogram&#10;&#10;Description automatically generated">
            <a:extLst>
              <a:ext uri="{FF2B5EF4-FFF2-40B4-BE49-F238E27FC236}">
                <a16:creationId xmlns:a16="http://schemas.microsoft.com/office/drawing/2014/main" id="{58CDE358-A8A8-4BB5-A6CF-53354DEE0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218" y="1837214"/>
            <a:ext cx="4643563" cy="458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Activity 5.5: Meet the Potato Heads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25A3290E-DD50-4966-A767-34F34C9AF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10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Activity 5.6: Infection risk app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2AE85525-8CB5-4237-8554-B71BD3BBA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38" y="1807678"/>
            <a:ext cx="4846323" cy="4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62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805071"/>
            <a:ext cx="9753600" cy="87567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9632-8C78-45F6-A718-168D82D9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199" y="2302470"/>
            <a:ext cx="7866018" cy="4109624"/>
          </a:xfrm>
        </p:spPr>
        <p:txBody>
          <a:bodyPr>
            <a:normAutofit/>
          </a:bodyPr>
          <a:lstStyle/>
          <a:p>
            <a:r>
              <a:rPr lang="en-GB" sz="2400" dirty="0"/>
              <a:t>Name three things you have learnt during this module that you did not know before.</a:t>
            </a:r>
          </a:p>
          <a:p>
            <a:r>
              <a:rPr lang="en-GB" sz="2400" dirty="0"/>
              <a:t>Name two things you would like to know more about.</a:t>
            </a:r>
          </a:p>
          <a:p>
            <a:r>
              <a:rPr lang="en-GB" sz="2400" dirty="0"/>
              <a:t>Will you apply the computational-thinking approach to problem solving when you have problems of your own to solve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359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Office Theme</vt:lpstr>
      <vt:lpstr>Algorithms</vt:lpstr>
      <vt:lpstr>Objectives</vt:lpstr>
      <vt:lpstr>Objectives</vt:lpstr>
      <vt:lpstr>East African News</vt:lpstr>
      <vt:lpstr>Dr Snow’s algorithm </vt:lpstr>
      <vt:lpstr>Dr Snow’s algorithm </vt:lpstr>
      <vt:lpstr>Dr Snow’s algorithm </vt:lpstr>
      <vt:lpstr>Generalisation </vt:lpstr>
      <vt:lpstr>Activity 5.1: East African News</vt:lpstr>
      <vt:lpstr>Activity 5.2: Data collection </vt:lpstr>
      <vt:lpstr>Activity 5.3: Abstraction </vt:lpstr>
      <vt:lpstr>Activity 5.4: Pattern recognition </vt:lpstr>
      <vt:lpstr>Which swamp should be sprayed? </vt:lpstr>
      <vt:lpstr>Activity 5.5: Meet the Potato Heads </vt:lpstr>
      <vt:lpstr>Activity 5.6: Infection risk app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Tamar Zedginidze</cp:lastModifiedBy>
  <cp:revision>44</cp:revision>
  <dcterms:created xsi:type="dcterms:W3CDTF">2020-11-04T15:22:46Z</dcterms:created>
  <dcterms:modified xsi:type="dcterms:W3CDTF">2025-05-15T05:48:26Z</dcterms:modified>
</cp:coreProperties>
</file>