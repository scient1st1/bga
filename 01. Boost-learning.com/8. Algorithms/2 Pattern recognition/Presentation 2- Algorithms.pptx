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7" r:id="rId6"/>
    <p:sldId id="260" r:id="rId7"/>
    <p:sldId id="261" r:id="rId8"/>
    <p:sldId id="266" r:id="rId9"/>
    <p:sldId id="267" r:id="rId10"/>
    <p:sldId id="278" r:id="rId11"/>
    <p:sldId id="281" r:id="rId12"/>
    <p:sldId id="268" r:id="rId13"/>
    <p:sldId id="271" r:id="rId14"/>
    <p:sldId id="279" r:id="rId15"/>
    <p:sldId id="280" r:id="rId16"/>
    <p:sldId id="282" r:id="rId17"/>
    <p:sldId id="273" r:id="rId18"/>
    <p:sldId id="270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a Albrechtsen" initials="LA" lastIdx="2" clrIdx="0">
    <p:extLst>
      <p:ext uri="{19B8F6BF-5375-455C-9EA6-DF929625EA0E}">
        <p15:presenceInfo xmlns:p15="http://schemas.microsoft.com/office/powerpoint/2012/main" userId="S::Lea.Albrechtsen@hoddereducation.co.uk::4df490f3-5904-4e82-a5b6-23281874b6f0" providerId="AD"/>
      </p:ext>
    </p:extLst>
  </p:cmAuthor>
  <p:cmAuthor id="2" name="Guest User" initials="GU" lastIdx="1" clrIdx="1">
    <p:extLst>
      <p:ext uri="{19B8F6BF-5375-455C-9EA6-DF929625EA0E}">
        <p15:presenceInfo xmlns:p15="http://schemas.microsoft.com/office/powerpoint/2012/main" userId="S::urn:spo:anon#1c71ce6b7564bcecd268cea4ae45c370c564a7caa1ac31beb172c3a85fcac20a::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9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F31F97-346C-92BA-CD4D-6F3ADE835DE1}" v="1" dt="2021-05-11T21:43:53.9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561" autoAdjust="0"/>
    <p:restoredTop sz="94660"/>
  </p:normalViewPr>
  <p:slideViewPr>
    <p:cSldViewPr snapToGrid="0">
      <p:cViewPr>
        <p:scale>
          <a:sx n="80" d="100"/>
          <a:sy n="80" d="100"/>
        </p:scale>
        <p:origin x="-60" y="-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anon#1c71ce6b7564bcecd268cea4ae45c370c564a7caa1ac31beb172c3a85fcac20a::" providerId="AD" clId="Web-{69F31F97-346C-92BA-CD4D-6F3ADE835DE1}"/>
    <pc:docChg chg="">
      <pc:chgData name="Guest User" userId="S::urn:spo:anon#1c71ce6b7564bcecd268cea4ae45c370c564a7caa1ac31beb172c3a85fcac20a::" providerId="AD" clId="Web-{69F31F97-346C-92BA-CD4D-6F3ADE835DE1}" dt="2021-05-11T21:43:53.998" v="0"/>
      <pc:docMkLst>
        <pc:docMk/>
      </pc:docMkLst>
      <pc:sldChg chg="addCm">
        <pc:chgData name="Guest User" userId="S::urn:spo:anon#1c71ce6b7564bcecd268cea4ae45c370c564a7caa1ac31beb172c3a85fcac20a::" providerId="AD" clId="Web-{69F31F97-346C-92BA-CD4D-6F3ADE835DE1}" dt="2021-05-11T21:43:53.998" v="0"/>
        <pc:sldMkLst>
          <pc:docMk/>
          <pc:sldMk cId="1412272687" sldId="26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F7712-1F3B-4253-AEF1-0FE171523E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C14F2F-A2B8-4861-8B33-2CF08A1C25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7814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60902-80CF-4DD3-B59F-8E58611CF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56315-CBCB-4124-93B3-3DEF3C56BD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A47B5-60C4-46E0-B317-50F50E6D85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16/05/2025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49A0D-7474-4882-A51A-CF35E154F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F5A12C-5BED-457E-A6CE-2E58C8D0D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3353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2461-8DBB-43F0-A3AC-126E64397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96A727-278D-4E57-850B-78E0D727C7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1C733-75AA-40FE-8179-B58FA4EA5E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16/05/2025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C4D2E-FA87-41DA-961F-7D250DD08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20F2E-2A86-4F16-B83F-E86E73199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1104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5B458-3AE6-4C21-BEBE-F7B760619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FF206-47D4-451B-80B7-578E10A3E6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D2DF79-B13E-46C5-AAA1-F49C3BABAB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199702-3758-423C-8C91-550D5C885D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16/05/2025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55CC31-BF31-4EB1-8B54-2DD0D6BE7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3EFAF2-4586-4670-8EF7-78067B187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6154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05FA2-A60C-405C-A307-880C049CB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70388-4034-4A46-8B98-D37491E01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C39A8B-6B00-4329-AC44-AD6EBE236E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5DFF08-1C59-4E60-A964-4D4A369007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548497-A585-4527-B8A6-BB01B9FBC4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C2D4B-BCC3-48CF-B358-D817886727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16/05/2025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93C415-FAAE-444A-BBA1-9059E1C45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C512DB-E555-4910-92DC-7AB19F87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741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D8A33-5CA5-4826-9B83-0B2F6A50C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7C1E61-1B5E-44DC-BC0F-2F956B04C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16/05/2025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A212BA-9EF0-4463-A9C0-997D55720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50D64F-9F3A-43FB-A563-07763EE16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9599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739767-A677-43FB-A13E-C6E76D21E1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16/05/2025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A103BA-C2DE-41DE-842B-306DECB78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320D2-03FC-47A8-B437-7B7CEBDD6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7179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B20E6-8664-4FD7-A9B2-0B5C17E86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5017E-7CE6-4AFE-8756-092A85840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5C17A6-B2E1-42BB-9629-032C80545F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1DC4D7-18F9-4992-BB61-15FA97A529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16/05/2025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B52144-EB56-46FB-8C3D-7A8702354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142B02-C27D-4AC0-9DE7-A653F338F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5581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FD8A0-DA8A-463F-AC82-9A3D896B8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B553CB-6BB8-4D69-8270-E69093C148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0E0B06-F972-42E3-B94A-6BA4824458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FCFE24-5759-425E-A7E5-6EAACD13BA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16/05/2025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458F3E-34B5-48AA-B148-66ED69F30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133722-4E46-4BF0-841D-DC92DCB48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3194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A43C2-4F61-40F8-A06C-596F42B7D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12D4A7-8F4B-484D-90BE-4A6A303F65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E0C66-2DCD-4454-98BE-EE8ADD1D79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16/05/2025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655C5-A5ED-4766-97E4-846A80536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DFEEA-B282-4D56-A557-4193031EB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1290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1B7A8B-8DD3-4239-8EA1-8739462541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21B91-126F-434B-86F2-89E6778E91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FCCA6-FBA0-4A4B-97BC-8B2465C018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16/05/2025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7EED6-4B0F-4C58-A54B-C4F0F72D7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49905-D4AB-4930-9B2A-6E8E550A0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111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B9995C-D844-455E-9E19-BF66C81EF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204189-41E9-4E09-B418-B033E7F14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D739203-7E29-BA40-9D51-8F9968799BF3}"/>
              </a:ext>
            </a:extLst>
          </p:cNvPr>
          <p:cNvSpPr txBox="1">
            <a:spLocks/>
          </p:cNvSpPr>
          <p:nvPr userDrawn="1"/>
        </p:nvSpPr>
        <p:spPr>
          <a:xfrm>
            <a:off x="7547114" y="6380197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1200" dirty="0"/>
              <a:t>© Hodder &amp; Stoughton Limited 2021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570252-6D27-224F-B897-578AE4F8D1E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41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774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6F56193-B47D-44FB-B876-3D3860CEC7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4450" y="2971075"/>
            <a:ext cx="4231550" cy="915850"/>
          </a:xfrm>
        </p:spPr>
        <p:txBody>
          <a:bodyPr/>
          <a:lstStyle/>
          <a:p>
            <a:pPr algn="r"/>
            <a:r>
              <a:rPr lang="en-GB" b="1" dirty="0"/>
              <a:t>Algorithms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DFCF44-D532-480E-818B-792853EDE34C}"/>
              </a:ext>
            </a:extLst>
          </p:cNvPr>
          <p:cNvSpPr/>
          <p:nvPr/>
        </p:nvSpPr>
        <p:spPr>
          <a:xfrm>
            <a:off x="2475879" y="3886925"/>
            <a:ext cx="362012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GB" sz="2000" b="1" dirty="0">
                <a:solidFill>
                  <a:srgbClr val="00B0F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Lesson 2: Pattern recognition</a:t>
            </a:r>
          </a:p>
        </p:txBody>
      </p:sp>
      <p:pic>
        <p:nvPicPr>
          <p:cNvPr id="9" name="Picture 8" descr="A picture containing text, electronics, display, screenshot&#10;&#10;Description automatically generated">
            <a:extLst>
              <a:ext uri="{FF2B5EF4-FFF2-40B4-BE49-F238E27FC236}">
                <a16:creationId xmlns:a16="http://schemas.microsoft.com/office/drawing/2014/main" id="{5FF8C5B7-90BF-420B-B889-32974519CD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7429" y="2607043"/>
            <a:ext cx="2937410" cy="2420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316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C4667-2A3C-4536-9386-00402F3C6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322" y="874643"/>
            <a:ext cx="9634330" cy="766349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Objectives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30BE0A-41D5-4110-A78D-A6ACD33DE78B}"/>
              </a:ext>
            </a:extLst>
          </p:cNvPr>
          <p:cNvSpPr/>
          <p:nvPr/>
        </p:nvSpPr>
        <p:spPr>
          <a:xfrm>
            <a:off x="1580321" y="2213282"/>
            <a:ext cx="7084707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GB" sz="3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this lesson, you will learn:</a:t>
            </a: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to solve a range of problems by combining decomposition, abstraction and algorithm design with pattern recognition</a:t>
            </a: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benefits of a modular approach to programming.</a:t>
            </a:r>
          </a:p>
        </p:txBody>
      </p:sp>
    </p:spTree>
    <p:extLst>
      <p:ext uri="{BB962C8B-B14F-4D97-AF65-F5344CB8AC3E}">
        <p14:creationId xmlns:p14="http://schemas.microsoft.com/office/powerpoint/2010/main" val="1699810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7905C-00CB-4FC9-83B7-66A2E3C07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322" y="832895"/>
            <a:ext cx="9773478" cy="767305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One flower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1DBFCF-9752-4B24-8194-9A6E71B061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0787" y="1849903"/>
            <a:ext cx="4630425" cy="4607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166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C3D19-1115-422D-B31A-F4EC85686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77" y="864704"/>
            <a:ext cx="10197548" cy="765313"/>
          </a:xfrm>
        </p:spPr>
        <p:txBody>
          <a:bodyPr>
            <a:noAutofit/>
          </a:bodyPr>
          <a:lstStyle/>
          <a:p>
            <a:r>
              <a:rPr lang="en-GB" b="1" dirty="0">
                <a:solidFill>
                  <a:prstClr val="white"/>
                </a:solidFill>
              </a:rPr>
              <a:t>Pattern recognition 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992AB-7463-4849-AFE8-C91C20C45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0077" y="2113860"/>
            <a:ext cx="9223513" cy="3879436"/>
          </a:xfrm>
        </p:spPr>
        <p:txBody>
          <a:bodyPr>
            <a:normAutofit lnSpcReduction="10000"/>
          </a:bodyPr>
          <a:lstStyle/>
          <a:p>
            <a:pPr marL="0" lv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GB" b="1" dirty="0">
                <a:solidFill>
                  <a:srgbClr val="0069B4"/>
                </a:solidFill>
                <a:ea typeface="Arial" panose="020B0604020202020204" pitchFamily="34" charset="0"/>
              </a:rPr>
              <a:t>Pattern recognition </a:t>
            </a:r>
            <a:r>
              <a:rPr lang="en-GB" dirty="0">
                <a:solidFill>
                  <a:prstClr val="black"/>
                </a:solidFill>
                <a:ea typeface="Arial" panose="020B0604020202020204" pitchFamily="34" charset="0"/>
              </a:rPr>
              <a:t>is the fourth cornerstone of computational thinking.</a:t>
            </a:r>
          </a:p>
          <a:p>
            <a:pPr marL="0" lv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GB" dirty="0">
                <a:solidFill>
                  <a:prstClr val="black"/>
                </a:solidFill>
                <a:ea typeface="Arial" panose="020B0604020202020204" pitchFamily="34" charset="0"/>
              </a:rPr>
              <a:t>It is an important part of problem solving because, if you can identify similarities between two different problems, you might be able to apply the same or a slightly modified solution to both problems.</a:t>
            </a:r>
          </a:p>
          <a:p>
            <a:pPr marL="0" lv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GB" dirty="0">
                <a:solidFill>
                  <a:prstClr val="black"/>
                </a:solidFill>
                <a:ea typeface="Arial" panose="020B0604020202020204" pitchFamily="34" charset="0"/>
              </a:rPr>
              <a:t>This enables computer programmers to work efficiently, solving problems more quickly and writing less code.</a:t>
            </a:r>
          </a:p>
          <a:p>
            <a:pPr marL="0" lvl="0" indent="0">
              <a:lnSpc>
                <a:spcPct val="115000"/>
              </a:lnSpc>
              <a:spcBef>
                <a:spcPts val="0"/>
              </a:spcBef>
              <a:buNone/>
            </a:pPr>
            <a:endParaRPr lang="en-GB" sz="7000" dirty="0">
              <a:solidFill>
                <a:prstClr val="black"/>
              </a:solidFill>
              <a:ea typeface="Arial" panose="020B0604020202020204" pitchFamily="34" charset="0"/>
            </a:endParaRPr>
          </a:p>
          <a:p>
            <a:pPr marL="0" lvl="0" indent="0">
              <a:lnSpc>
                <a:spcPct val="115000"/>
              </a:lnSpc>
              <a:spcBef>
                <a:spcPts val="0"/>
              </a:spcBef>
              <a:buNone/>
            </a:pPr>
            <a:endParaRPr lang="en-GB" sz="7000" dirty="0">
              <a:solidFill>
                <a:prstClr val="black"/>
              </a:solidFill>
              <a:ea typeface="Arial" panose="020B0604020202020204" pitchFamily="34" charset="0"/>
            </a:endParaRPr>
          </a:p>
          <a:p>
            <a:pPr marL="0" lvl="0" indent="0">
              <a:lnSpc>
                <a:spcPct val="115000"/>
              </a:lnSpc>
              <a:spcBef>
                <a:spcPts val="0"/>
              </a:spcBef>
              <a:buNone/>
            </a:pPr>
            <a:endParaRPr lang="en-GB" sz="7000" dirty="0">
              <a:solidFill>
                <a:prstClr val="black"/>
              </a:solidFill>
              <a:ea typeface="Arial" panose="020B0604020202020204" pitchFamily="34" charset="0"/>
            </a:endParaRPr>
          </a:p>
          <a:p>
            <a:pPr marL="0" lvl="0" indent="0">
              <a:lnSpc>
                <a:spcPct val="115000"/>
              </a:lnSpc>
              <a:spcBef>
                <a:spcPts val="0"/>
              </a:spcBef>
              <a:buNone/>
            </a:pPr>
            <a:endParaRPr lang="en-GB" sz="7000" dirty="0">
              <a:solidFill>
                <a:prstClr val="black"/>
              </a:solidFill>
              <a:ea typeface="Arial" panose="020B0604020202020204" pitchFamily="34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0574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696-8D12-4574-BDC3-2DC3137EF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0382" y="834887"/>
            <a:ext cx="9783417" cy="815009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Activity 2.1: Flower design problem</a:t>
            </a:r>
          </a:p>
        </p:txBody>
      </p:sp>
      <p:pic>
        <p:nvPicPr>
          <p:cNvPr id="4" name="Picture 3" descr="A picture containing athletic game, basketball, sport&#10;&#10;Description automatically generated">
            <a:extLst>
              <a:ext uri="{FF2B5EF4-FFF2-40B4-BE49-F238E27FC236}">
                <a16:creationId xmlns:a16="http://schemas.microsoft.com/office/drawing/2014/main" id="{6D1E13CE-DDB7-4546-BAF8-C7F3D56598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2977" y="1885897"/>
            <a:ext cx="4686046" cy="4591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99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5B0F3-7F56-4F5C-81F1-A743D46BD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1" y="844826"/>
            <a:ext cx="9753598" cy="775252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Two flowers </a:t>
            </a:r>
          </a:p>
        </p:txBody>
      </p:sp>
      <p:pic>
        <p:nvPicPr>
          <p:cNvPr id="12" name="Picture 11" descr="Shape, polygon&#10;&#10;Description automatically generated">
            <a:extLst>
              <a:ext uri="{FF2B5EF4-FFF2-40B4-BE49-F238E27FC236}">
                <a16:creationId xmlns:a16="http://schemas.microsoft.com/office/drawing/2014/main" id="{ED744311-70A3-4450-8F0D-6375EDF876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0695" y="2166658"/>
            <a:ext cx="3897008" cy="3995389"/>
          </a:xfrm>
          <a:prstGeom prst="rect">
            <a:avLst/>
          </a:prstGeom>
        </p:spPr>
      </p:pic>
      <p:pic>
        <p:nvPicPr>
          <p:cNvPr id="14" name="Picture 13" descr="Chart, radar chart&#10;&#10;Description automatically generated">
            <a:extLst>
              <a:ext uri="{FF2B5EF4-FFF2-40B4-BE49-F238E27FC236}">
                <a16:creationId xmlns:a16="http://schemas.microsoft.com/office/drawing/2014/main" id="{FE952ADE-7631-457C-8C18-F6AFE425A1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1" y="2166658"/>
            <a:ext cx="4021105" cy="4001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170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4BA82-FE7D-4DE6-BC00-A388E38B6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0442" y="834888"/>
            <a:ext cx="9793357" cy="817010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Computational thinking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41180FF-850D-3C40-873F-9CF6FD0BFA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0442" y="1776619"/>
            <a:ext cx="9581252" cy="46494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/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 you were thinking about the flower designs, you were carrying out computational thinking.</a:t>
            </a:r>
          </a:p>
          <a:p>
            <a:pPr marL="342900" indent="-342900"/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 you were identifying patterns in the original flower, you were decomposing the flower and carrying out pattern recognition.</a:t>
            </a:r>
          </a:p>
          <a:p>
            <a:pPr marL="342900" indent="-342900"/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 you made a list of elements that could be removed or changed and still leave a recognisable flower design, you were carrying out abstraction.</a:t>
            </a:r>
          </a:p>
          <a:p>
            <a:pPr marL="342900" indent="-342900"/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 you were identifying the similarities and differences between the flowers, you were carrying out pattern recognition.</a:t>
            </a:r>
          </a:p>
          <a:p>
            <a:pPr marL="342900" indent="-342900"/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Computational thinking will help you create an algorithm for drawing the abstracted flower, an algorithm that could then be adapted to draw an infinite number of different flowers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150031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696-8D12-4574-BDC3-2DC3137EF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0382" y="834887"/>
            <a:ext cx="9783417" cy="855801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Activity 2.2: Flower algorithm</a:t>
            </a:r>
          </a:p>
        </p:txBody>
      </p:sp>
      <p:pic>
        <p:nvPicPr>
          <p:cNvPr id="4" name="Picture 3" descr="A picture containing athletic game, basketball, sport&#10;&#10;Description automatically generated">
            <a:extLst>
              <a:ext uri="{FF2B5EF4-FFF2-40B4-BE49-F238E27FC236}">
                <a16:creationId xmlns:a16="http://schemas.microsoft.com/office/drawing/2014/main" id="{EC204E26-CF8C-422C-A440-E01024A11D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2977" y="1885897"/>
            <a:ext cx="4686046" cy="4591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87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E36AC-12A9-4A2C-9D8A-8D001EE0D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322" y="824948"/>
            <a:ext cx="10611678" cy="785191"/>
          </a:xfrm>
        </p:spPr>
        <p:txBody>
          <a:bodyPr>
            <a:no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Modular programming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CC13E-1871-4787-BADF-14253538B2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0322" y="2067339"/>
            <a:ext cx="8169965" cy="4377980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GB" sz="8000" dirty="0"/>
              <a:t>Where possible, you should take a modular</a:t>
            </a:r>
            <a:r>
              <a:rPr lang="en-GB" sz="8000" b="1" dirty="0"/>
              <a:t> </a:t>
            </a:r>
            <a:r>
              <a:rPr lang="en-GB" sz="8000" dirty="0"/>
              <a:t>approach to programming.</a:t>
            </a:r>
          </a:p>
          <a:p>
            <a:endParaRPr lang="en-GB" sz="8000" dirty="0"/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GB" sz="8000" dirty="0"/>
              <a:t>Modules are small chunks of code that perform a discrete task. In Logo, these chunks of code are called ‘procedures’. They are called on by the main program when needed. </a:t>
            </a:r>
          </a:p>
          <a:p>
            <a:pPr marL="0" indent="0">
              <a:buNone/>
            </a:pPr>
            <a:r>
              <a:rPr lang="en-GB" sz="8000" dirty="0"/>
              <a:t>Modularity brings a number of important benefits to the programmer.</a:t>
            </a:r>
          </a:p>
          <a:p>
            <a:pPr marL="342900" lvl="0" indent="-342900"/>
            <a:r>
              <a:rPr lang="en-GB" sz="8000" dirty="0"/>
              <a:t>A module can be used many times within a single program.</a:t>
            </a:r>
          </a:p>
          <a:p>
            <a:pPr marL="342900" lvl="0" indent="-342900"/>
            <a:r>
              <a:rPr lang="en-GB" sz="8000" dirty="0"/>
              <a:t>A module can be used in more than one program.</a:t>
            </a:r>
          </a:p>
          <a:p>
            <a:pPr marL="342900" lvl="0" indent="-342900"/>
            <a:r>
              <a:rPr lang="en-GB" sz="8000" dirty="0"/>
              <a:t>A module can easily be changed to do something similar but slightly different.</a:t>
            </a:r>
          </a:p>
          <a:p>
            <a:pPr marL="342900" lvl="0" indent="-342900"/>
            <a:r>
              <a:rPr lang="en-GB" sz="8000" dirty="0"/>
              <a:t>Code written in modules is easier to read and debug than a single long sequence of code.</a:t>
            </a:r>
          </a:p>
          <a:p>
            <a:pPr marL="342900" lvl="0" indent="-342900"/>
            <a:r>
              <a:rPr lang="en-GB" sz="8000" dirty="0"/>
              <a:t>Modules are more efficient for the programmer to write because they use fewer lines of code.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122726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110D6-9DED-4A63-8F81-14093CD98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322" y="824948"/>
            <a:ext cx="9773478" cy="805069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Activity 2.3: Flower program</a:t>
            </a:r>
            <a:endParaRPr lang="en-US" b="1" dirty="0"/>
          </a:p>
        </p:txBody>
      </p:sp>
      <p:pic>
        <p:nvPicPr>
          <p:cNvPr id="4" name="Picture 3" descr="A picture containing athletic game, basketball, sport&#10;&#10;Description automatically generated">
            <a:extLst>
              <a:ext uri="{FF2B5EF4-FFF2-40B4-BE49-F238E27FC236}">
                <a16:creationId xmlns:a16="http://schemas.microsoft.com/office/drawing/2014/main" id="{5E21A24B-238E-442B-8329-91869BB944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2977" y="1885897"/>
            <a:ext cx="4686046" cy="4591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2688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B4D36-2121-417F-8DFB-DF55C2380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0260" y="805070"/>
            <a:ext cx="9763539" cy="834887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Question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A841F9-E1E4-42C0-93DB-49C6E76686FA}"/>
              </a:ext>
            </a:extLst>
          </p:cNvPr>
          <p:cNvSpPr/>
          <p:nvPr/>
        </p:nvSpPr>
        <p:spPr>
          <a:xfrm>
            <a:off x="755375" y="3093057"/>
            <a:ext cx="1076606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5400" dirty="0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repeat 4 [</a:t>
            </a:r>
            <a:r>
              <a:rPr lang="en-GB" sz="5400" dirty="0" err="1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fd</a:t>
            </a:r>
            <a:r>
              <a:rPr lang="en-GB" sz="5400" dirty="0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100 rt 90] 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19358580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D8971-0D9A-4A36-8231-D006AA258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0382" y="824948"/>
            <a:ext cx="10621618" cy="821503"/>
          </a:xfrm>
        </p:spPr>
        <p:txBody>
          <a:bodyPr>
            <a:no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Flower program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33520A-BEBA-9D49-9301-11EE6DB0A18F}"/>
              </a:ext>
            </a:extLst>
          </p:cNvPr>
          <p:cNvSpPr/>
          <p:nvPr/>
        </p:nvSpPr>
        <p:spPr>
          <a:xfrm>
            <a:off x="7429480" y="2000906"/>
            <a:ext cx="3143553" cy="397609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r>
              <a:rPr lang="en-GB" dirty="0">
                <a:latin typeface="Calibri" panose="020F0502020204030204" pitchFamily="34" charset="0"/>
                <a:ea typeface="Arial" panose="020B0604020202020204" pitchFamily="34" charset="0"/>
              </a:rPr>
              <a:t>Creates a procedure called </a:t>
            </a:r>
            <a:r>
              <a:rPr lang="en-GB" dirty="0" err="1">
                <a:latin typeface="Courier" pitchFamily="2" charset="0"/>
                <a:ea typeface="Arial" panose="020B0604020202020204" pitchFamily="34" charset="0"/>
              </a:rPr>
              <a:t>squ</a:t>
            </a:r>
            <a:endParaRPr lang="en-GB" sz="1600" dirty="0">
              <a:effectLst/>
              <a:latin typeface="Courier" pitchFamily="2" charset="0"/>
              <a:ea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8D503C-9828-FF4C-8867-BB0A1C493896}"/>
              </a:ext>
            </a:extLst>
          </p:cNvPr>
          <p:cNvSpPr/>
          <p:nvPr/>
        </p:nvSpPr>
        <p:spPr>
          <a:xfrm>
            <a:off x="7429480" y="2473433"/>
            <a:ext cx="4078357" cy="708912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GB" dirty="0">
                <a:latin typeface="Calibri" panose="020F0502020204030204" pitchFamily="34" charset="0"/>
                <a:ea typeface="Arial" panose="020B0604020202020204" pitchFamily="34" charset="0"/>
              </a:rPr>
              <a:t>Creates a loop that will repeat four times (draw line, turn 90 degrees right)</a:t>
            </a:r>
            <a:endParaRPr lang="en-GB" sz="1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174868-3C7A-BB45-8469-ADDBC2433BA2}"/>
              </a:ext>
            </a:extLst>
          </p:cNvPr>
          <p:cNvSpPr/>
          <p:nvPr/>
        </p:nvSpPr>
        <p:spPr>
          <a:xfrm>
            <a:off x="7463257" y="3233818"/>
            <a:ext cx="2019784" cy="390363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r>
              <a:rPr lang="en-GB" dirty="0">
                <a:latin typeface="Calibri" panose="020F0502020204030204" pitchFamily="34" charset="0"/>
                <a:ea typeface="Arial" panose="020B0604020202020204" pitchFamily="34" charset="0"/>
              </a:rPr>
              <a:t>Ends the procedure</a:t>
            </a:r>
            <a:endParaRPr lang="en-GB" sz="1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5B6409-951A-DE4E-B179-DC0B9F96402F}"/>
              </a:ext>
            </a:extLst>
          </p:cNvPr>
          <p:cNvSpPr/>
          <p:nvPr/>
        </p:nvSpPr>
        <p:spPr>
          <a:xfrm>
            <a:off x="7443863" y="3652601"/>
            <a:ext cx="2865528" cy="390363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r>
              <a:rPr lang="en-GB" dirty="0">
                <a:latin typeface="Calibri" panose="020F0502020204030204" pitchFamily="34" charset="0"/>
                <a:ea typeface="Arial" panose="020B0604020202020204" pitchFamily="34" charset="0"/>
              </a:rPr>
              <a:t>Changes the line width to 10</a:t>
            </a:r>
            <a:endParaRPr lang="en-GB" sz="1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F5705B-FE38-2D48-95CA-A87B35911C60}"/>
              </a:ext>
            </a:extLst>
          </p:cNvPr>
          <p:cNvSpPr/>
          <p:nvPr/>
        </p:nvSpPr>
        <p:spPr>
          <a:xfrm>
            <a:off x="7443863" y="4104896"/>
            <a:ext cx="4239311" cy="718082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GB" dirty="0">
                <a:latin typeface="Calibri" panose="020F0502020204030204" pitchFamily="34" charset="0"/>
                <a:ea typeface="Arial" panose="020B0604020202020204" pitchFamily="34" charset="0"/>
              </a:rPr>
              <a:t>Creates a loop that will repeat 6 times (calling the </a:t>
            </a:r>
            <a:r>
              <a:rPr lang="en-GB" dirty="0" err="1">
                <a:latin typeface="Courier"/>
                <a:ea typeface="Arial" panose="020B0604020202020204" pitchFamily="34" charset="0"/>
              </a:rPr>
              <a:t>squ</a:t>
            </a:r>
            <a:r>
              <a:rPr lang="en-GB" dirty="0">
                <a:latin typeface="Calibri" panose="020F0502020204030204" pitchFamily="34" charset="0"/>
                <a:ea typeface="Arial" panose="020B0604020202020204" pitchFamily="34" charset="0"/>
              </a:rPr>
              <a:t> procedure)</a:t>
            </a:r>
            <a:endParaRPr lang="en-GB" sz="1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D1EE84-B4D7-B942-B1BA-CFA7F312F30F}"/>
              </a:ext>
            </a:extLst>
          </p:cNvPr>
          <p:cNvSpPr/>
          <p:nvPr/>
        </p:nvSpPr>
        <p:spPr>
          <a:xfrm>
            <a:off x="7425277" y="4927012"/>
            <a:ext cx="1653017" cy="390363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r>
              <a:rPr lang="en-GB" dirty="0">
                <a:latin typeface="Calibri" panose="020F0502020204030204" pitchFamily="34" charset="0"/>
                <a:ea typeface="Arial" panose="020B0604020202020204" pitchFamily="34" charset="0"/>
              </a:rPr>
              <a:t>Hides the turtle</a:t>
            </a:r>
            <a:endParaRPr lang="en-GB" sz="1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E22E65A-C347-8C45-8ACD-B4D824AA075D}"/>
              </a:ext>
            </a:extLst>
          </p:cNvPr>
          <p:cNvCxnSpPr>
            <a:cxnSpLocks/>
          </p:cNvCxnSpPr>
          <p:nvPr/>
        </p:nvCxnSpPr>
        <p:spPr>
          <a:xfrm flipH="1" flipV="1">
            <a:off x="3405809" y="4927012"/>
            <a:ext cx="4039347" cy="20512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2A34EB5-7D0A-9848-97FC-0F9D33F4AB85}"/>
              </a:ext>
            </a:extLst>
          </p:cNvPr>
          <p:cNvCxnSpPr>
            <a:cxnSpLocks/>
          </p:cNvCxnSpPr>
          <p:nvPr/>
        </p:nvCxnSpPr>
        <p:spPr>
          <a:xfrm flipH="1">
            <a:off x="6555231" y="4459352"/>
            <a:ext cx="888632" cy="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995BFEB-E5FC-C644-8609-E7E2F1CC3B39}"/>
              </a:ext>
            </a:extLst>
          </p:cNvPr>
          <p:cNvCxnSpPr>
            <a:cxnSpLocks/>
          </p:cNvCxnSpPr>
          <p:nvPr/>
        </p:nvCxnSpPr>
        <p:spPr>
          <a:xfrm flipH="1">
            <a:off x="4691270" y="3847782"/>
            <a:ext cx="2771988" cy="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5894BFB-8F05-B140-B077-217A7F1FC000}"/>
              </a:ext>
            </a:extLst>
          </p:cNvPr>
          <p:cNvCxnSpPr>
            <a:cxnSpLocks/>
          </p:cNvCxnSpPr>
          <p:nvPr/>
        </p:nvCxnSpPr>
        <p:spPr>
          <a:xfrm flipH="1">
            <a:off x="3154017" y="3428999"/>
            <a:ext cx="4271261" cy="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FCE979B-9CA4-D645-9A9E-D911124BB85A}"/>
              </a:ext>
            </a:extLst>
          </p:cNvPr>
          <p:cNvCxnSpPr>
            <a:cxnSpLocks/>
          </p:cNvCxnSpPr>
          <p:nvPr/>
        </p:nvCxnSpPr>
        <p:spPr>
          <a:xfrm flipH="1">
            <a:off x="7209184" y="2887709"/>
            <a:ext cx="216093" cy="41021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F9D6A66-70F3-F54C-8681-EAD075D10B22}"/>
              </a:ext>
            </a:extLst>
          </p:cNvPr>
          <p:cNvCxnSpPr>
            <a:cxnSpLocks/>
          </p:cNvCxnSpPr>
          <p:nvPr/>
        </p:nvCxnSpPr>
        <p:spPr>
          <a:xfrm flipH="1">
            <a:off x="3551583" y="2199711"/>
            <a:ext cx="3877897" cy="269216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70489E6C-D47D-E148-812F-9D4C1F50040E}"/>
              </a:ext>
            </a:extLst>
          </p:cNvPr>
          <p:cNvSpPr/>
          <p:nvPr/>
        </p:nvSpPr>
        <p:spPr>
          <a:xfrm>
            <a:off x="1618966" y="2154683"/>
            <a:ext cx="6047415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GB" sz="3200" dirty="0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to </a:t>
            </a:r>
            <a:r>
              <a:rPr lang="en-GB" sz="3200" dirty="0" err="1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squ</a:t>
            </a:r>
            <a:endParaRPr lang="en-GB" sz="3200" dirty="0">
              <a:solidFill>
                <a:prstClr val="black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lvl="0"/>
            <a:r>
              <a:rPr lang="en-GB" sz="3200" dirty="0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repeat 4 [</a:t>
            </a:r>
            <a:r>
              <a:rPr lang="en-GB" sz="3200" dirty="0" err="1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fd</a:t>
            </a:r>
            <a:r>
              <a:rPr lang="en-GB" sz="3200" dirty="0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100 rt 90] end</a:t>
            </a:r>
          </a:p>
          <a:p>
            <a:pPr lvl="0"/>
            <a:r>
              <a:rPr lang="en-GB" sz="3200" dirty="0" err="1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setwidth</a:t>
            </a:r>
            <a:r>
              <a:rPr lang="en-GB" sz="3200" dirty="0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10</a:t>
            </a:r>
          </a:p>
          <a:p>
            <a:pPr lvl="0"/>
            <a:r>
              <a:rPr lang="en-GB" sz="3200" dirty="0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repeat 6 [</a:t>
            </a:r>
            <a:r>
              <a:rPr lang="en-GB" sz="3200" dirty="0" err="1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squ</a:t>
            </a:r>
            <a:r>
              <a:rPr lang="en-GB" sz="3200" dirty="0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rt 60]</a:t>
            </a:r>
          </a:p>
          <a:p>
            <a:pPr lvl="0"/>
            <a:r>
              <a:rPr lang="en-GB" sz="3200" dirty="0" err="1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ht</a:t>
            </a:r>
            <a:endParaRPr lang="en-GB" sz="3200" dirty="0">
              <a:solidFill>
                <a:prstClr val="black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49111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349DE-C14A-43C9-9DD0-7CF72DC6D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322" y="824948"/>
            <a:ext cx="9773478" cy="785191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Spot the pattern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F92AC3-C00E-2E45-B4BE-BD819B71DBDE}"/>
              </a:ext>
            </a:extLst>
          </p:cNvPr>
          <p:cNvSpPr/>
          <p:nvPr/>
        </p:nvSpPr>
        <p:spPr>
          <a:xfrm>
            <a:off x="1580322" y="2029602"/>
            <a:ext cx="10012680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dirty="0"/>
              <a:t>How will a flower drawn using the code below differ from the flower shown?</a:t>
            </a:r>
          </a:p>
          <a:p>
            <a:endParaRPr lang="en-GB" sz="2400" dirty="0">
              <a:latin typeface="Courier" pitchFamily="2" charset="0"/>
            </a:endParaRPr>
          </a:p>
          <a:p>
            <a:r>
              <a:rPr lang="en-GB" sz="2400" dirty="0">
                <a:latin typeface="Courier" pitchFamily="2" charset="0"/>
              </a:rPr>
              <a:t>to petal</a:t>
            </a:r>
          </a:p>
          <a:p>
            <a:r>
              <a:rPr lang="en-GB" sz="2400" dirty="0">
                <a:latin typeface="Courier" pitchFamily="2" charset="0"/>
              </a:rPr>
              <a:t>repeat 8 [</a:t>
            </a:r>
            <a:r>
              <a:rPr lang="en-GB" sz="2400" dirty="0" err="1">
                <a:latin typeface="Courier" pitchFamily="2" charset="0"/>
              </a:rPr>
              <a:t>fd</a:t>
            </a:r>
            <a:r>
              <a:rPr lang="en-GB" sz="2400" dirty="0">
                <a:latin typeface="Courier" pitchFamily="2" charset="0"/>
              </a:rPr>
              <a:t> 50 rt 45]</a:t>
            </a:r>
          </a:p>
          <a:p>
            <a:r>
              <a:rPr lang="en-GB" sz="2400" dirty="0">
                <a:latin typeface="Courier" pitchFamily="2" charset="0"/>
              </a:rPr>
              <a:t>end</a:t>
            </a:r>
          </a:p>
          <a:p>
            <a:r>
              <a:rPr lang="en-GB" sz="2400" dirty="0" err="1">
                <a:latin typeface="Courier" pitchFamily="2" charset="0"/>
              </a:rPr>
              <a:t>setwidth</a:t>
            </a:r>
            <a:r>
              <a:rPr lang="en-GB" sz="2400" dirty="0">
                <a:latin typeface="Courier" pitchFamily="2" charset="0"/>
              </a:rPr>
              <a:t> 3</a:t>
            </a:r>
          </a:p>
          <a:p>
            <a:r>
              <a:rPr lang="en-GB" sz="2400" dirty="0" err="1">
                <a:latin typeface="Courier" pitchFamily="2" charset="0"/>
              </a:rPr>
              <a:t>setpencolor</a:t>
            </a:r>
            <a:r>
              <a:rPr lang="en-GB" sz="2400" dirty="0">
                <a:latin typeface="Courier" pitchFamily="2" charset="0"/>
              </a:rPr>
              <a:t> random 15</a:t>
            </a:r>
          </a:p>
          <a:p>
            <a:r>
              <a:rPr lang="en-GB" sz="2400" dirty="0">
                <a:latin typeface="Courier" pitchFamily="2" charset="0"/>
              </a:rPr>
              <a:t>repeat 10 [petal rt 36 </a:t>
            </a:r>
            <a:r>
              <a:rPr lang="en-GB" sz="2400" dirty="0" err="1">
                <a:latin typeface="Courier" pitchFamily="2" charset="0"/>
              </a:rPr>
              <a:t>setpencolor</a:t>
            </a:r>
            <a:r>
              <a:rPr lang="en-GB" sz="2400" dirty="0">
                <a:latin typeface="Courier" pitchFamily="2" charset="0"/>
              </a:rPr>
              <a:t> random 15</a:t>
            </a:r>
          </a:p>
          <a:p>
            <a:r>
              <a:rPr lang="en-GB" sz="2400" dirty="0">
                <a:latin typeface="Courier" pitchFamily="2" charset="0"/>
              </a:rPr>
              <a:t>]</a:t>
            </a:r>
          </a:p>
          <a:p>
            <a:r>
              <a:rPr lang="en-GB" sz="2400" dirty="0" err="1">
                <a:latin typeface="Courier" pitchFamily="2" charset="0"/>
              </a:rPr>
              <a:t>ht</a:t>
            </a:r>
            <a:endParaRPr lang="en-GB" sz="2400" dirty="0">
              <a:latin typeface="Courier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2A94C6-67A8-4A12-B470-293EFC3D98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4364" y="2482078"/>
            <a:ext cx="2643784" cy="2630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7934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349DE-C14A-43C9-9DD0-7CF72DC6D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322" y="824948"/>
            <a:ext cx="9773478" cy="785191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Spot the pattern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F92AC3-C00E-2E45-B4BE-BD819B71DBDE}"/>
              </a:ext>
            </a:extLst>
          </p:cNvPr>
          <p:cNvSpPr/>
          <p:nvPr/>
        </p:nvSpPr>
        <p:spPr>
          <a:xfrm>
            <a:off x="1128039" y="1610139"/>
            <a:ext cx="6560788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GB" sz="2400" dirty="0">
              <a:latin typeface="Courier" pitchFamily="2" charset="0"/>
            </a:endParaRPr>
          </a:p>
          <a:p>
            <a:r>
              <a:rPr lang="en-GB" sz="2400" dirty="0">
                <a:latin typeface="Courier" pitchFamily="2" charset="0"/>
              </a:rPr>
              <a:t>to petal</a:t>
            </a:r>
          </a:p>
          <a:p>
            <a:r>
              <a:rPr lang="en-GB" sz="2400" dirty="0">
                <a:latin typeface="Courier" pitchFamily="2" charset="0"/>
              </a:rPr>
              <a:t>repeat 4</a:t>
            </a:r>
          </a:p>
          <a:p>
            <a:r>
              <a:rPr lang="en-GB" sz="2400" dirty="0">
                <a:latin typeface="Courier" pitchFamily="2" charset="0"/>
              </a:rPr>
              <a:t>[ </a:t>
            </a:r>
          </a:p>
          <a:p>
            <a:r>
              <a:rPr lang="en-GB" sz="2400" dirty="0" err="1">
                <a:latin typeface="Courier" pitchFamily="2" charset="0"/>
              </a:rPr>
              <a:t>fd</a:t>
            </a:r>
            <a:r>
              <a:rPr lang="en-GB" sz="2400" dirty="0">
                <a:latin typeface="Courier" pitchFamily="2" charset="0"/>
              </a:rPr>
              <a:t> 100 rt 60</a:t>
            </a:r>
          </a:p>
          <a:p>
            <a:r>
              <a:rPr lang="en-GB" sz="2400" dirty="0" err="1">
                <a:latin typeface="Courier" pitchFamily="2" charset="0"/>
              </a:rPr>
              <a:t>fd</a:t>
            </a:r>
            <a:r>
              <a:rPr lang="en-GB" sz="2400" dirty="0">
                <a:latin typeface="Courier" pitchFamily="2" charset="0"/>
              </a:rPr>
              <a:t> 100 </a:t>
            </a:r>
            <a:r>
              <a:rPr lang="en-GB" sz="2400" dirty="0" err="1">
                <a:latin typeface="Courier" pitchFamily="2" charset="0"/>
              </a:rPr>
              <a:t>lt</a:t>
            </a:r>
            <a:r>
              <a:rPr lang="en-GB" sz="2400" dirty="0">
                <a:latin typeface="Courier" pitchFamily="2" charset="0"/>
              </a:rPr>
              <a:t> -120</a:t>
            </a:r>
          </a:p>
          <a:p>
            <a:r>
              <a:rPr lang="en-GB" sz="2400" dirty="0" err="1">
                <a:latin typeface="Courier" pitchFamily="2" charset="0"/>
              </a:rPr>
              <a:t>fd</a:t>
            </a:r>
            <a:r>
              <a:rPr lang="en-GB" sz="2400" dirty="0">
                <a:latin typeface="Courier" pitchFamily="2" charset="0"/>
              </a:rPr>
              <a:t> 100 </a:t>
            </a:r>
            <a:r>
              <a:rPr lang="en-GB" sz="2400" dirty="0" err="1">
                <a:latin typeface="Courier" pitchFamily="2" charset="0"/>
              </a:rPr>
              <a:t>lt</a:t>
            </a:r>
            <a:r>
              <a:rPr lang="en-GB" sz="2400" dirty="0">
                <a:latin typeface="Courier" pitchFamily="2" charset="0"/>
              </a:rPr>
              <a:t> -60</a:t>
            </a:r>
          </a:p>
          <a:p>
            <a:r>
              <a:rPr lang="en-GB" sz="2400" dirty="0" err="1">
                <a:latin typeface="Courier" pitchFamily="2" charset="0"/>
              </a:rPr>
              <a:t>fd</a:t>
            </a:r>
            <a:r>
              <a:rPr lang="en-GB" sz="2400" dirty="0">
                <a:latin typeface="Courier" pitchFamily="2" charset="0"/>
              </a:rPr>
              <a:t> 100]</a:t>
            </a:r>
          </a:p>
          <a:p>
            <a:r>
              <a:rPr lang="en-GB" sz="2400" dirty="0">
                <a:latin typeface="Courier" pitchFamily="2" charset="0"/>
              </a:rPr>
              <a:t>end</a:t>
            </a:r>
          </a:p>
          <a:p>
            <a:r>
              <a:rPr lang="en-GB" sz="2400" dirty="0">
                <a:latin typeface="Courier" pitchFamily="2" charset="0"/>
              </a:rPr>
              <a:t>repeat 6 [petal rt 10]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6C3AE1-99F6-49F4-BA32-73AF023FB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7061" y="1965127"/>
            <a:ext cx="3778444" cy="3733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9215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E8A45E-2E78-4A15-85A6-23F37B120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3021" y="1610139"/>
            <a:ext cx="3873699" cy="39308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A1349DE-C14A-43C9-9DD0-7CF72DC6D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322" y="824948"/>
            <a:ext cx="9773478" cy="785191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Spot the pattern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F92AC3-C00E-2E45-B4BE-BD819B71DBDE}"/>
              </a:ext>
            </a:extLst>
          </p:cNvPr>
          <p:cNvSpPr/>
          <p:nvPr/>
        </p:nvSpPr>
        <p:spPr>
          <a:xfrm>
            <a:off x="879988" y="1394533"/>
            <a:ext cx="9773477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GB" dirty="0">
              <a:latin typeface="Courier" pitchFamily="2" charset="0"/>
            </a:endParaRPr>
          </a:p>
          <a:p>
            <a:r>
              <a:rPr lang="en-GB" dirty="0">
                <a:latin typeface="Courier" pitchFamily="2" charset="0"/>
              </a:rPr>
              <a:t>to petal</a:t>
            </a:r>
          </a:p>
          <a:p>
            <a:r>
              <a:rPr lang="en-GB" dirty="0">
                <a:latin typeface="Courier" pitchFamily="2" charset="0"/>
              </a:rPr>
              <a:t>repeat 4</a:t>
            </a:r>
          </a:p>
          <a:p>
            <a:r>
              <a:rPr lang="en-GB" dirty="0">
                <a:latin typeface="Courier" pitchFamily="2" charset="0"/>
              </a:rPr>
              <a:t>[ </a:t>
            </a:r>
          </a:p>
          <a:p>
            <a:r>
              <a:rPr lang="en-GB" dirty="0" err="1">
                <a:latin typeface="Courier" pitchFamily="2" charset="0"/>
              </a:rPr>
              <a:t>fd</a:t>
            </a:r>
            <a:r>
              <a:rPr lang="en-GB" dirty="0">
                <a:latin typeface="Courier" pitchFamily="2" charset="0"/>
              </a:rPr>
              <a:t> 100 rt 60</a:t>
            </a:r>
          </a:p>
          <a:p>
            <a:r>
              <a:rPr lang="en-GB" dirty="0" err="1">
                <a:latin typeface="Courier" pitchFamily="2" charset="0"/>
              </a:rPr>
              <a:t>fd</a:t>
            </a:r>
            <a:r>
              <a:rPr lang="en-GB" dirty="0">
                <a:latin typeface="Courier" pitchFamily="2" charset="0"/>
              </a:rPr>
              <a:t> 100 </a:t>
            </a:r>
            <a:r>
              <a:rPr lang="en-GB" dirty="0" err="1">
                <a:latin typeface="Courier" pitchFamily="2" charset="0"/>
              </a:rPr>
              <a:t>lt</a:t>
            </a:r>
            <a:r>
              <a:rPr lang="en-GB" dirty="0">
                <a:latin typeface="Courier" pitchFamily="2" charset="0"/>
              </a:rPr>
              <a:t> -120 </a:t>
            </a:r>
          </a:p>
          <a:p>
            <a:r>
              <a:rPr lang="en-GB" dirty="0" err="1">
                <a:latin typeface="Courier" pitchFamily="2" charset="0"/>
              </a:rPr>
              <a:t>fd</a:t>
            </a:r>
            <a:r>
              <a:rPr lang="en-GB" dirty="0">
                <a:latin typeface="Courier" pitchFamily="2" charset="0"/>
              </a:rPr>
              <a:t> 100 </a:t>
            </a:r>
            <a:r>
              <a:rPr lang="en-GB" dirty="0" err="1">
                <a:latin typeface="Courier" pitchFamily="2" charset="0"/>
              </a:rPr>
              <a:t>lt</a:t>
            </a:r>
            <a:r>
              <a:rPr lang="en-GB" dirty="0">
                <a:latin typeface="Courier" pitchFamily="2" charset="0"/>
              </a:rPr>
              <a:t> -60</a:t>
            </a:r>
          </a:p>
          <a:p>
            <a:r>
              <a:rPr lang="en-GB" dirty="0" err="1">
                <a:latin typeface="Courier" pitchFamily="2" charset="0"/>
              </a:rPr>
              <a:t>fd</a:t>
            </a:r>
            <a:r>
              <a:rPr lang="en-GB" dirty="0">
                <a:latin typeface="Courier" pitchFamily="2" charset="0"/>
              </a:rPr>
              <a:t> 100]</a:t>
            </a:r>
          </a:p>
          <a:p>
            <a:r>
              <a:rPr lang="en-GB" dirty="0">
                <a:latin typeface="Courier" pitchFamily="2" charset="0"/>
              </a:rPr>
              <a:t>end</a:t>
            </a:r>
          </a:p>
          <a:p>
            <a:r>
              <a:rPr lang="en-GB" dirty="0">
                <a:latin typeface="Courier" pitchFamily="2" charset="0"/>
              </a:rPr>
              <a:t>cs</a:t>
            </a:r>
          </a:p>
          <a:p>
            <a:r>
              <a:rPr lang="en-GB" dirty="0">
                <a:latin typeface="Courier" pitchFamily="2" charset="0"/>
              </a:rPr>
              <a:t>repeat 6 [</a:t>
            </a:r>
          </a:p>
          <a:p>
            <a:r>
              <a:rPr lang="en-GB" dirty="0">
                <a:latin typeface="Courier" pitchFamily="2" charset="0"/>
              </a:rPr>
              <a:t>  </a:t>
            </a:r>
            <a:r>
              <a:rPr lang="en-GB" dirty="0" err="1">
                <a:latin typeface="Courier" pitchFamily="2" charset="0"/>
              </a:rPr>
              <a:t>setpc</a:t>
            </a:r>
            <a:r>
              <a:rPr lang="en-GB" dirty="0">
                <a:latin typeface="Courier" pitchFamily="2" charset="0"/>
              </a:rPr>
              <a:t> </a:t>
            </a:r>
            <a:r>
              <a:rPr lang="en-GB" dirty="0" err="1">
                <a:latin typeface="Courier" pitchFamily="2" charset="0"/>
              </a:rPr>
              <a:t>repcount</a:t>
            </a:r>
            <a:r>
              <a:rPr lang="en-GB" dirty="0">
                <a:latin typeface="Courier" pitchFamily="2" charset="0"/>
              </a:rPr>
              <a:t>  ; </a:t>
            </a:r>
            <a:r>
              <a:rPr lang="en-GB" dirty="0" err="1">
                <a:latin typeface="Courier" pitchFamily="2" charset="0"/>
              </a:rPr>
              <a:t>repcount</a:t>
            </a:r>
            <a:r>
              <a:rPr lang="en-GB" dirty="0">
                <a:latin typeface="Courier" pitchFamily="2" charset="0"/>
              </a:rPr>
              <a:t> = 1, 2, ..., 6 (auto variable inside repeat)</a:t>
            </a:r>
          </a:p>
          <a:p>
            <a:r>
              <a:rPr lang="en-GB" dirty="0">
                <a:latin typeface="Courier" pitchFamily="2" charset="0"/>
              </a:rPr>
              <a:t>  petal</a:t>
            </a:r>
          </a:p>
          <a:p>
            <a:r>
              <a:rPr lang="en-GB" dirty="0">
                <a:latin typeface="Courier" pitchFamily="2" charset="0"/>
              </a:rPr>
              <a:t>  rt 90</a:t>
            </a:r>
          </a:p>
          <a:p>
            <a:r>
              <a:rPr lang="en-GB" dirty="0">
                <a:latin typeface="Courier" pitchFamily="2" charset="0"/>
              </a:rPr>
              <a:t>]</a:t>
            </a:r>
            <a:r>
              <a:rPr lang="ka-GE" dirty="0">
                <a:latin typeface="Courier" pitchFamily="2" charset="0"/>
              </a:rPr>
              <a:t>                         </a:t>
            </a:r>
            <a:r>
              <a:rPr lang="en-US" dirty="0" err="1">
                <a:latin typeface="Courier" pitchFamily="2" charset="0"/>
              </a:rPr>
              <a:t>setpc</a:t>
            </a:r>
            <a:r>
              <a:rPr lang="en-US" dirty="0">
                <a:latin typeface="Courier" pitchFamily="2" charset="0"/>
              </a:rPr>
              <a:t> random 15 – also may be used</a:t>
            </a:r>
            <a:endParaRPr lang="en-GB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41578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B4D36-2121-417F-8DFB-DF55C2380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0260" y="805070"/>
            <a:ext cx="9763539" cy="834887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Question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A841F9-E1E4-42C0-93DB-49C6E76686FA}"/>
              </a:ext>
            </a:extLst>
          </p:cNvPr>
          <p:cNvSpPr/>
          <p:nvPr/>
        </p:nvSpPr>
        <p:spPr>
          <a:xfrm>
            <a:off x="1088996" y="2041006"/>
            <a:ext cx="1076606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to petal</a:t>
            </a:r>
          </a:p>
          <a:p>
            <a:r>
              <a:rPr lang="en-US" sz="2400" dirty="0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repeat 8</a:t>
            </a:r>
          </a:p>
          <a:p>
            <a:r>
              <a:rPr lang="en-US" sz="2400" dirty="0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[</a:t>
            </a:r>
            <a:r>
              <a:rPr lang="en-US" sz="2400" dirty="0" err="1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fd</a:t>
            </a:r>
            <a:r>
              <a:rPr lang="en-US" sz="2400" dirty="0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100 rt 45]</a:t>
            </a:r>
          </a:p>
          <a:p>
            <a:r>
              <a:rPr lang="en-US" sz="2400" dirty="0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</a:t>
            </a:r>
          </a:p>
          <a:p>
            <a:r>
              <a:rPr lang="en-US" sz="2400" dirty="0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repeat 6 [</a:t>
            </a:r>
          </a:p>
          <a:p>
            <a:r>
              <a:rPr lang="en-US" sz="2400" dirty="0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</a:t>
            </a:r>
            <a:r>
              <a:rPr lang="en-US" sz="2400" dirty="0" err="1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setpc</a:t>
            </a:r>
            <a:r>
              <a:rPr lang="en-US" sz="2400" dirty="0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repcount</a:t>
            </a:r>
            <a:r>
              <a:rPr lang="en-US" sz="2400" dirty="0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; </a:t>
            </a:r>
            <a:r>
              <a:rPr lang="en-US" sz="2400" dirty="0" err="1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repcount</a:t>
            </a:r>
            <a:r>
              <a:rPr lang="en-US" sz="2400" dirty="0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= 1, 2, ..., 6 (auto variable inside repeat)</a:t>
            </a:r>
          </a:p>
          <a:p>
            <a:r>
              <a:rPr lang="en-US" sz="2400" dirty="0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petal</a:t>
            </a:r>
          </a:p>
          <a:p>
            <a:r>
              <a:rPr lang="en-US" sz="2400" dirty="0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rt 60</a:t>
            </a:r>
          </a:p>
          <a:p>
            <a:r>
              <a:rPr lang="en-US" sz="2400" dirty="0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]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500537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34.png">
            <a:extLst>
              <a:ext uri="{FF2B5EF4-FFF2-40B4-BE49-F238E27FC236}">
                <a16:creationId xmlns:a16="http://schemas.microsoft.com/office/drawing/2014/main" id="{E51E858E-B50A-3B45-AACF-DBFCB220F5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044" t="42450" r="45352" b="9401"/>
          <a:stretch>
            <a:fillRect/>
          </a:stretch>
        </p:blipFill>
        <p:spPr>
          <a:xfrm>
            <a:off x="1741073" y="2166658"/>
            <a:ext cx="3930371" cy="4001199"/>
          </a:xfrm>
          <a:prstGeom prst="rect">
            <a:avLst/>
          </a:prstGeom>
          <a:ln/>
        </p:spPr>
      </p:pic>
      <p:pic>
        <p:nvPicPr>
          <p:cNvPr id="12" name="Picture 11" descr="Chart, radar chart&#10;&#10;Description automatically generated">
            <a:extLst>
              <a:ext uri="{FF2B5EF4-FFF2-40B4-BE49-F238E27FC236}">
                <a16:creationId xmlns:a16="http://schemas.microsoft.com/office/drawing/2014/main" id="{CCDBDAC3-C0E9-4887-A7D4-77D45BEA03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0557" y="2166658"/>
            <a:ext cx="4021105" cy="4001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408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110D6-9DED-4A63-8F81-14093CD98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322" y="824948"/>
            <a:ext cx="9773478" cy="805069"/>
          </a:xfrm>
        </p:spPr>
        <p:txBody>
          <a:bodyPr/>
          <a:lstStyle/>
          <a:p>
            <a:r>
              <a:rPr lang="en-GB" b="1" dirty="0">
                <a:solidFill>
                  <a:schemeClr val="bg1">
                    <a:lumMod val="95000"/>
                  </a:schemeClr>
                </a:solidFill>
              </a:rPr>
              <a:t>Activity 2.4: Comparing code</a:t>
            </a:r>
            <a:endParaRPr lang="en-US" b="1" dirty="0"/>
          </a:p>
        </p:txBody>
      </p:sp>
      <p:pic>
        <p:nvPicPr>
          <p:cNvPr id="4" name="Picture 3" descr="A picture containing athletic game, basketball, sport&#10;&#10;Description automatically generated">
            <a:extLst>
              <a:ext uri="{FF2B5EF4-FFF2-40B4-BE49-F238E27FC236}">
                <a16:creationId xmlns:a16="http://schemas.microsoft.com/office/drawing/2014/main" id="{9CEF2849-8EDF-42D9-9059-9C0246081A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2977" y="1885897"/>
            <a:ext cx="4686046" cy="4591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7165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B4D36-2121-417F-8DFB-DF55C2380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0260" y="805070"/>
            <a:ext cx="9763539" cy="834887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Quiz 2</a:t>
            </a:r>
          </a:p>
        </p:txBody>
      </p:sp>
      <p:pic>
        <p:nvPicPr>
          <p:cNvPr id="4" name="Picture 3" descr="A picture containing athletic game, basketball, sport&#10;&#10;Description automatically generated">
            <a:extLst>
              <a:ext uri="{FF2B5EF4-FFF2-40B4-BE49-F238E27FC236}">
                <a16:creationId xmlns:a16="http://schemas.microsoft.com/office/drawing/2014/main" id="{CBFF2074-ED8E-403E-95A3-3440DC6004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2977" y="1885897"/>
            <a:ext cx="4686046" cy="4591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0483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986</TotalTime>
  <Words>643</Words>
  <Application>Microsoft Office PowerPoint</Application>
  <PresentationFormat>Widescreen</PresentationFormat>
  <Paragraphs>98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Calibri Light</vt:lpstr>
      <vt:lpstr>Courier</vt:lpstr>
      <vt:lpstr>Courier New</vt:lpstr>
      <vt:lpstr>Symbol</vt:lpstr>
      <vt:lpstr>Office Theme</vt:lpstr>
      <vt:lpstr>Algorithms</vt:lpstr>
      <vt:lpstr>Objectives</vt:lpstr>
      <vt:lpstr>One flower </vt:lpstr>
      <vt:lpstr>Pattern recognition </vt:lpstr>
      <vt:lpstr>Activity 2.1: Flower design problem</vt:lpstr>
      <vt:lpstr>Two flowers </vt:lpstr>
      <vt:lpstr>Computational thinking </vt:lpstr>
      <vt:lpstr>Activity 2.2: Flower algorithm</vt:lpstr>
      <vt:lpstr>Modular programming </vt:lpstr>
      <vt:lpstr>Activity 2.3: Flower program</vt:lpstr>
      <vt:lpstr>Question 1</vt:lpstr>
      <vt:lpstr>Flower program</vt:lpstr>
      <vt:lpstr>Spot the pattern </vt:lpstr>
      <vt:lpstr>Spot the pattern </vt:lpstr>
      <vt:lpstr>Spot the pattern </vt:lpstr>
      <vt:lpstr>Question 2</vt:lpstr>
      <vt:lpstr>PowerPoint Presentation</vt:lpstr>
      <vt:lpstr>Activity 2.4: Comparing code</vt:lpstr>
      <vt:lpstr>Quiz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Introducing spreadsheets</dc:title>
  <dc:creator>Lea Albrechtsen</dc:creator>
  <cp:lastModifiedBy>Tamar Zedginidze</cp:lastModifiedBy>
  <cp:revision>56</cp:revision>
  <dcterms:created xsi:type="dcterms:W3CDTF">2020-11-04T15:22:46Z</dcterms:created>
  <dcterms:modified xsi:type="dcterms:W3CDTF">2025-05-16T11:25:09Z</dcterms:modified>
</cp:coreProperties>
</file>