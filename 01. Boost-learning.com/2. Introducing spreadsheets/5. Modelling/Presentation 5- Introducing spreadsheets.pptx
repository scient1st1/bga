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7" r:id="rId3"/>
    <p:sldId id="258" r:id="rId4"/>
    <p:sldId id="260" r:id="rId5"/>
    <p:sldId id="284" r:id="rId6"/>
    <p:sldId id="261" r:id="rId7"/>
    <p:sldId id="274" r:id="rId8"/>
    <p:sldId id="262" r:id="rId9"/>
    <p:sldId id="28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9B4"/>
    <a:srgbClr val="BBE3FA"/>
    <a:srgbClr val="94C1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24" autoAdjust="0"/>
    <p:restoredTop sz="94660"/>
  </p:normalViewPr>
  <p:slideViewPr>
    <p:cSldViewPr snapToGrid="0">
      <p:cViewPr varScale="1">
        <p:scale>
          <a:sx n="96" d="100"/>
          <a:sy n="96" d="100"/>
        </p:scale>
        <p:origin x="96" y="4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pic>
        <p:nvPicPr>
          <p:cNvPr id="8" name="Picture 7" descr="Shape, rectangle&#10;&#10;Description automatically generated">
            <a:extLst>
              <a:ext uri="{FF2B5EF4-FFF2-40B4-BE49-F238E27FC236}">
                <a16:creationId xmlns:a16="http://schemas.microsoft.com/office/drawing/2014/main" id="{8E162879-1CE5-EF46-AF8E-A0A77F5B7A12}"/>
              </a:ext>
            </a:extLst>
          </p:cNvPr>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1695610"/>
          </a:xfrm>
          <a:prstGeom prst="rect">
            <a:avLst/>
          </a:prstGeom>
        </p:spPr>
      </p:pic>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2B9C3-E44C-4313-895D-D43DD1C92CE3}"/>
              </a:ext>
            </a:extLst>
          </p:cNvPr>
          <p:cNvSpPr>
            <a:spLocks noGrp="1"/>
          </p:cNvSpPr>
          <p:nvPr>
            <p:ph type="ctrTitle"/>
          </p:nvPr>
        </p:nvSpPr>
        <p:spPr>
          <a:xfrm>
            <a:off x="813732" y="3010438"/>
            <a:ext cx="7062388" cy="915850"/>
          </a:xfrm>
        </p:spPr>
        <p:txBody>
          <a:bodyPr>
            <a:normAutofit fontScale="90000"/>
          </a:bodyPr>
          <a:lstStyle/>
          <a:p>
            <a:pPr algn="l"/>
            <a:r>
              <a:rPr lang="en-GB" b="1" dirty="0"/>
              <a:t>Introducing spreadsheets</a:t>
            </a:r>
          </a:p>
        </p:txBody>
      </p:sp>
      <p:sp>
        <p:nvSpPr>
          <p:cNvPr id="11" name="Rectangle 10">
            <a:extLst>
              <a:ext uri="{FF2B5EF4-FFF2-40B4-BE49-F238E27FC236}">
                <a16:creationId xmlns:a16="http://schemas.microsoft.com/office/drawing/2014/main" id="{5346DB13-257C-4484-9CB0-C755672B55D3}"/>
              </a:ext>
            </a:extLst>
          </p:cNvPr>
          <p:cNvSpPr/>
          <p:nvPr/>
        </p:nvSpPr>
        <p:spPr>
          <a:xfrm>
            <a:off x="5578695" y="3926288"/>
            <a:ext cx="2297425" cy="400110"/>
          </a:xfrm>
          <a:prstGeom prst="rect">
            <a:avLst/>
          </a:prstGeom>
        </p:spPr>
        <p:txBody>
          <a:bodyPr wrap="none">
            <a:spAutoFit/>
          </a:bodyPr>
          <a:lstStyle/>
          <a:p>
            <a:pPr algn="r"/>
            <a:r>
              <a:rPr lang="en-GB" sz="2000" b="1" dirty="0">
                <a:solidFill>
                  <a:srgbClr val="94C11F"/>
                </a:solidFill>
                <a:latin typeface="Calibri" panose="020F0502020204030204" pitchFamily="34" charset="0"/>
                <a:ea typeface="Times New Roman" panose="02020603050405020304" pitchFamily="18" charset="0"/>
              </a:rPr>
              <a:t>Lesson 5: Modelling</a:t>
            </a:r>
            <a:endParaRPr lang="en-GB" sz="2000" b="1" dirty="0">
              <a:solidFill>
                <a:srgbClr val="94C11F"/>
              </a:solidFill>
            </a:endParaRPr>
          </a:p>
        </p:txBody>
      </p:sp>
      <p:pic>
        <p:nvPicPr>
          <p:cNvPr id="5" name="Picture 4">
            <a:extLst>
              <a:ext uri="{FF2B5EF4-FFF2-40B4-BE49-F238E27FC236}">
                <a16:creationId xmlns:a16="http://schemas.microsoft.com/office/drawing/2014/main" id="{8503DC8E-5658-4048-A4CA-3B474C3F77BD}"/>
              </a:ext>
            </a:extLst>
          </p:cNvPr>
          <p:cNvPicPr>
            <a:picLocks noChangeAspect="1"/>
          </p:cNvPicPr>
          <p:nvPr/>
        </p:nvPicPr>
        <p:blipFill>
          <a:blip r:embed="rId2"/>
          <a:stretch>
            <a:fillRect/>
          </a:stretch>
        </p:blipFill>
        <p:spPr>
          <a:xfrm>
            <a:off x="8069068" y="2704324"/>
            <a:ext cx="2937413" cy="24439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67043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593635" y="832060"/>
            <a:ext cx="9634330" cy="766349"/>
          </a:xfrm>
        </p:spPr>
        <p:txBody>
          <a:bodyPr/>
          <a:lstStyle/>
          <a:p>
            <a:r>
              <a:rPr lang="en-GB" b="1" dirty="0">
                <a:solidFill>
                  <a:schemeClr val="bg1"/>
                </a:solidFill>
              </a:rPr>
              <a:t>Objectives</a:t>
            </a:r>
          </a:p>
        </p:txBody>
      </p:sp>
      <p:sp>
        <p:nvSpPr>
          <p:cNvPr id="5" name="Rectangle 4">
            <a:extLst>
              <a:ext uri="{FF2B5EF4-FFF2-40B4-BE49-F238E27FC236}">
                <a16:creationId xmlns:a16="http://schemas.microsoft.com/office/drawing/2014/main" id="{8430BE0A-41D5-4110-A78D-A6ACD33DE78B}"/>
              </a:ext>
            </a:extLst>
          </p:cNvPr>
          <p:cNvSpPr/>
          <p:nvPr/>
        </p:nvSpPr>
        <p:spPr>
          <a:xfrm>
            <a:off x="1593635" y="2767280"/>
            <a:ext cx="10285396" cy="1692771"/>
          </a:xfrm>
          <a:prstGeom prst="rect">
            <a:avLst/>
          </a:prstGeom>
        </p:spPr>
        <p:txBody>
          <a:bodyPr wrap="square">
            <a:spAutoFit/>
          </a:bodyPr>
          <a:lstStyle/>
          <a:p>
            <a:pPr>
              <a:spcAft>
                <a:spcPts val="0"/>
              </a:spcAft>
            </a:pPr>
            <a:r>
              <a:rPr lang="en-GB" sz="3200" dirty="0">
                <a:latin typeface="Calibri" panose="020F0502020204030204" pitchFamily="34" charset="0"/>
                <a:ea typeface="Times New Roman" panose="02020603050405020304" pitchFamily="18" charset="0"/>
              </a:rPr>
              <a:t>In this lesson you will learn:</a:t>
            </a:r>
            <a:endParaRPr lang="en-GB" sz="3200"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sz="2400" dirty="0">
                <a:latin typeface="Calibri" panose="020F0502020204030204" pitchFamily="34" charset="0"/>
                <a:ea typeface="Times New Roman" panose="02020603050405020304" pitchFamily="18" charset="0"/>
              </a:rPr>
              <a:t>how spreadsheets are used to model different situations</a:t>
            </a:r>
          </a:p>
          <a:p>
            <a:pPr marL="342900" indent="-342900">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to develop a spreadsheet so that different scenarios can be tested</a:t>
            </a:r>
            <a:r>
              <a:rPr lang="en-GB" sz="2400" dirty="0"/>
              <a:t> </a:t>
            </a:r>
            <a:endParaRPr lang="en-GB" sz="2400" dirty="0">
              <a:latin typeface="Calibri" panose="020F0502020204030204" pitchFamily="34" charset="0"/>
              <a:ea typeface="Times New Roman" panose="02020603050405020304" pitchFamily="18" charset="0"/>
            </a:endParaRPr>
          </a:p>
          <a:p>
            <a:pPr marL="342900" lvl="0" indent="-342900">
              <a:spcAft>
                <a:spcPts val="0"/>
              </a:spcAft>
              <a:buFont typeface="Symbol" panose="05050102010706020507" pitchFamily="18" charset="2"/>
              <a:buChar char=""/>
            </a:pPr>
            <a:r>
              <a:rPr lang="en-GB" sz="2400" dirty="0">
                <a:latin typeface="Calibri" panose="020F0502020204030204" pitchFamily="34" charset="0"/>
                <a:ea typeface="Times New Roman" panose="02020603050405020304" pitchFamily="18" charset="0"/>
                <a:cs typeface="Courier New" panose="02070309020205020404" pitchFamily="49" charset="0"/>
              </a:rPr>
              <a:t>how to use Goal Seek to answer what-if questions.</a:t>
            </a:r>
            <a:endParaRPr lang="en-GB" sz="2400" dirty="0">
              <a:ea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6EF404-3382-3D48-9487-42F4B9904419}"/>
              </a:ext>
            </a:extLst>
          </p:cNvPr>
          <p:cNvSpPr txBox="1"/>
          <p:nvPr/>
        </p:nvSpPr>
        <p:spPr>
          <a:xfrm>
            <a:off x="1580322" y="832515"/>
            <a:ext cx="2512230" cy="769441"/>
          </a:xfrm>
          <a:prstGeom prst="rect">
            <a:avLst/>
          </a:prstGeom>
          <a:noFill/>
        </p:spPr>
        <p:txBody>
          <a:bodyPr wrap="square" rtlCol="0">
            <a:spAutoFit/>
          </a:bodyPr>
          <a:lstStyle/>
          <a:p>
            <a:r>
              <a:rPr lang="en-GB" sz="4400" b="1">
                <a:solidFill>
                  <a:prstClr val="white"/>
                </a:solidFill>
                <a:latin typeface="Calibri Light" panose="020F0302020204030204"/>
                <a:ea typeface="+mj-ea"/>
                <a:cs typeface="+mj-cs"/>
              </a:rPr>
              <a:t>Modelling</a:t>
            </a:r>
            <a:endParaRPr lang="en-US" dirty="0"/>
          </a:p>
        </p:txBody>
      </p:sp>
      <p:pic>
        <p:nvPicPr>
          <p:cNvPr id="5" name="Picture 4" descr="A picture containing website&#10;&#10;Description automatically generated">
            <a:extLst>
              <a:ext uri="{FF2B5EF4-FFF2-40B4-BE49-F238E27FC236}">
                <a16:creationId xmlns:a16="http://schemas.microsoft.com/office/drawing/2014/main" id="{F81F94BF-C24D-4325-849B-A887F001F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2615" y="1856408"/>
            <a:ext cx="6786770" cy="4524513"/>
          </a:xfrm>
          <a:prstGeom prst="rect">
            <a:avLst/>
          </a:prstGeom>
        </p:spPr>
      </p:pic>
    </p:spTree>
    <p:extLst>
      <p:ext uri="{BB962C8B-B14F-4D97-AF65-F5344CB8AC3E}">
        <p14:creationId xmlns:p14="http://schemas.microsoft.com/office/powerpoint/2010/main" val="1166166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B0F3-7F56-4F5C-81F1-A743D46BDBD9}"/>
              </a:ext>
            </a:extLst>
          </p:cNvPr>
          <p:cNvSpPr>
            <a:spLocks noGrp="1"/>
          </p:cNvSpPr>
          <p:nvPr>
            <p:ph type="title"/>
          </p:nvPr>
        </p:nvSpPr>
        <p:spPr>
          <a:xfrm>
            <a:off x="1591812" y="819659"/>
            <a:ext cx="9753599" cy="845862"/>
          </a:xfrm>
        </p:spPr>
        <p:txBody>
          <a:bodyPr/>
          <a:lstStyle/>
          <a:p>
            <a:r>
              <a:rPr lang="en-GB" b="1" dirty="0">
                <a:solidFill>
                  <a:schemeClr val="bg1"/>
                </a:solidFill>
              </a:rPr>
              <a:t>Modelling</a:t>
            </a:r>
          </a:p>
        </p:txBody>
      </p:sp>
      <p:sp>
        <p:nvSpPr>
          <p:cNvPr id="4" name="Rectangle 3">
            <a:extLst>
              <a:ext uri="{FF2B5EF4-FFF2-40B4-BE49-F238E27FC236}">
                <a16:creationId xmlns:a16="http://schemas.microsoft.com/office/drawing/2014/main" id="{B9DD86F4-61EF-4BFB-BDC7-DC6E99021D27}"/>
              </a:ext>
            </a:extLst>
          </p:cNvPr>
          <p:cNvSpPr/>
          <p:nvPr/>
        </p:nvSpPr>
        <p:spPr>
          <a:xfrm>
            <a:off x="1591812" y="2168738"/>
            <a:ext cx="8774596" cy="3401637"/>
          </a:xfrm>
          <a:prstGeom prst="rect">
            <a:avLst/>
          </a:prstGeom>
        </p:spPr>
        <p:txBody>
          <a:bodyPr wrap="square">
            <a:spAutoFit/>
          </a:bodyPr>
          <a:lstStyle/>
          <a:p>
            <a:pPr>
              <a:lnSpc>
                <a:spcPct val="107000"/>
              </a:lnSpc>
              <a:spcAft>
                <a:spcPts val="800"/>
              </a:spcAft>
            </a:pPr>
            <a:r>
              <a:rPr lang="en-GB" sz="2800" dirty="0">
                <a:solidFill>
                  <a:srgbClr val="0069B4"/>
                </a:solidFill>
                <a:latin typeface="Calibri" panose="020F0502020204030204" pitchFamily="34" charset="0"/>
                <a:ea typeface="Calibri" panose="020F0502020204030204" pitchFamily="34" charset="0"/>
                <a:cs typeface="Times New Roman" panose="02020603050405020304" pitchFamily="18" charset="0"/>
              </a:rPr>
              <a:t>Modelling</a:t>
            </a:r>
            <a:r>
              <a:rPr lang="en-GB" sz="2800" dirty="0">
                <a:latin typeface="Calibri" panose="020F0502020204030204" pitchFamily="34" charset="0"/>
                <a:ea typeface="Calibri" panose="020F0502020204030204" pitchFamily="34" charset="0"/>
                <a:cs typeface="Times New Roman" panose="02020603050405020304" pitchFamily="18" charset="0"/>
              </a:rPr>
              <a:t> allows us to predict what is likely to happen when something changes, for example, working out how much profit will be made if prices change.</a:t>
            </a:r>
          </a:p>
          <a:p>
            <a:pPr>
              <a:lnSpc>
                <a:spcPct val="107000"/>
              </a:lnSpc>
              <a:spcAft>
                <a:spcPts val="800"/>
              </a:spcAft>
            </a:pPr>
            <a:r>
              <a:rPr lang="en-GB" sz="2800" dirty="0">
                <a:latin typeface="Calibri" panose="020F0502020204030204" pitchFamily="34" charset="0"/>
                <a:ea typeface="Calibri" panose="020F0502020204030204" pitchFamily="34" charset="0"/>
                <a:cs typeface="Times New Roman" panose="02020603050405020304" pitchFamily="18" charset="0"/>
              </a:rPr>
              <a:t>Spreadsheets are excellent for modelling because it is easy to set them up and perform calculations on data. It is also possible to try out lots of different scenarios to find the best result.</a:t>
            </a:r>
          </a:p>
        </p:txBody>
      </p:sp>
    </p:spTree>
    <p:extLst>
      <p:ext uri="{BB962C8B-B14F-4D97-AF65-F5344CB8AC3E}">
        <p14:creationId xmlns:p14="http://schemas.microsoft.com/office/powerpoint/2010/main" val="3538170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B0F3-7F56-4F5C-81F1-A743D46BDBD9}"/>
              </a:ext>
            </a:extLst>
          </p:cNvPr>
          <p:cNvSpPr>
            <a:spLocks noGrp="1"/>
          </p:cNvSpPr>
          <p:nvPr>
            <p:ph type="title"/>
          </p:nvPr>
        </p:nvSpPr>
        <p:spPr>
          <a:xfrm>
            <a:off x="1591812" y="819659"/>
            <a:ext cx="9753599" cy="845862"/>
          </a:xfrm>
        </p:spPr>
        <p:txBody>
          <a:bodyPr/>
          <a:lstStyle/>
          <a:p>
            <a:r>
              <a:rPr lang="en-GB" b="1" dirty="0">
                <a:solidFill>
                  <a:schemeClr val="bg1"/>
                </a:solidFill>
              </a:rPr>
              <a:t>Uses of modelling</a:t>
            </a:r>
          </a:p>
        </p:txBody>
      </p:sp>
      <p:sp>
        <p:nvSpPr>
          <p:cNvPr id="5" name="Rectangle 4">
            <a:extLst>
              <a:ext uri="{FF2B5EF4-FFF2-40B4-BE49-F238E27FC236}">
                <a16:creationId xmlns:a16="http://schemas.microsoft.com/office/drawing/2014/main" id="{B6319046-D83D-442A-8764-8E62C77B280C}"/>
              </a:ext>
            </a:extLst>
          </p:cNvPr>
          <p:cNvSpPr/>
          <p:nvPr/>
        </p:nvSpPr>
        <p:spPr>
          <a:xfrm>
            <a:off x="1591811" y="2139978"/>
            <a:ext cx="8245207" cy="470000"/>
          </a:xfrm>
          <a:prstGeom prst="rect">
            <a:avLst/>
          </a:prstGeom>
        </p:spPr>
        <p:txBody>
          <a:bodyPr wrap="square">
            <a:spAutoFit/>
          </a:bodyPr>
          <a:lstStyle/>
          <a:p>
            <a:pPr>
              <a:lnSpc>
                <a:spcPct val="107000"/>
              </a:lnSpc>
              <a:spcAft>
                <a:spcPts val="800"/>
              </a:spcAft>
            </a:pPr>
            <a:r>
              <a:rPr lang="en-GB" sz="2400" dirty="0">
                <a:latin typeface="Calibri" panose="020F0502020204030204" pitchFamily="34" charset="0"/>
                <a:ea typeface="Calibri" panose="020F0502020204030204" pitchFamily="34" charset="0"/>
                <a:cs typeface="Times New Roman" panose="02020603050405020304" pitchFamily="18" charset="0"/>
              </a:rPr>
              <a:t>Modelling is used for many different purposes, including:</a:t>
            </a:r>
          </a:p>
        </p:txBody>
      </p:sp>
      <p:sp>
        <p:nvSpPr>
          <p:cNvPr id="9" name="Rectangle 8">
            <a:extLst>
              <a:ext uri="{FF2B5EF4-FFF2-40B4-BE49-F238E27FC236}">
                <a16:creationId xmlns:a16="http://schemas.microsoft.com/office/drawing/2014/main" id="{D1DFD9A0-3990-4B94-A309-7C57A8CD7F99}"/>
              </a:ext>
            </a:extLst>
          </p:cNvPr>
          <p:cNvSpPr/>
          <p:nvPr/>
        </p:nvSpPr>
        <p:spPr>
          <a:xfrm>
            <a:off x="1591811" y="2609978"/>
            <a:ext cx="4722362" cy="3646576"/>
          </a:xfrm>
          <a:prstGeom prst="rect">
            <a:avLst/>
          </a:prstGeom>
        </p:spPr>
        <p:txBody>
          <a:bodyPr wrap="square">
            <a:spAutoFit/>
          </a:bodyPr>
          <a:lstStyle/>
          <a:p>
            <a:pPr marL="342900" lvl="0" indent="-342900">
              <a:lnSpc>
                <a:spcPct val="107000"/>
              </a:lnSpc>
              <a:spcAft>
                <a:spcPts val="0"/>
              </a:spcAft>
              <a:buFont typeface="Calibri" panose="020F050202020403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weather forecasting</a:t>
            </a:r>
          </a:p>
          <a:p>
            <a:pPr marL="342900" lvl="0" indent="-342900">
              <a:lnSpc>
                <a:spcPct val="107000"/>
              </a:lnSpc>
              <a:spcAft>
                <a:spcPts val="0"/>
              </a:spcAft>
              <a:buFont typeface="Calibri" panose="020F050202020403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financial decision making, including budgeting</a:t>
            </a:r>
          </a:p>
          <a:p>
            <a:pPr marL="342900" lvl="0" indent="-342900">
              <a:lnSpc>
                <a:spcPct val="107000"/>
              </a:lnSpc>
              <a:spcAft>
                <a:spcPts val="800"/>
              </a:spcAft>
              <a:buFont typeface="Calibri" panose="020F050202020403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science:</a:t>
            </a:r>
          </a:p>
          <a:p>
            <a:pPr marL="800100" lvl="1" indent="-342900">
              <a:lnSpc>
                <a:spcPct val="107000"/>
              </a:lnSpc>
              <a:spcAft>
                <a:spcPts val="800"/>
              </a:spcAft>
              <a:buFont typeface="Calibri" panose="020F050202020403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epidemiology</a:t>
            </a:r>
          </a:p>
          <a:p>
            <a:pPr marL="342900" lvl="0" indent="-342900">
              <a:lnSpc>
                <a:spcPct val="107000"/>
              </a:lnSpc>
              <a:spcAft>
                <a:spcPts val="800"/>
              </a:spcAft>
              <a:buFont typeface="Calibri" panose="020F050202020403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engineering:</a:t>
            </a:r>
          </a:p>
          <a:p>
            <a:pPr marL="800100" lvl="1" indent="-342900">
              <a:lnSpc>
                <a:spcPct val="107000"/>
              </a:lnSpc>
              <a:spcAft>
                <a:spcPts val="800"/>
              </a:spcAft>
              <a:buFont typeface="Calibri" panose="020F050202020403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bridge design</a:t>
            </a:r>
          </a:p>
          <a:p>
            <a:pPr marL="800100" lvl="1" indent="-342900">
              <a:lnSpc>
                <a:spcPct val="107000"/>
              </a:lnSpc>
              <a:spcAft>
                <a:spcPts val="800"/>
              </a:spcAft>
              <a:buFont typeface="Calibri" panose="020F0502020204030204" pitchFamily="34" charset="0"/>
              <a:buChar char="•"/>
            </a:pPr>
            <a:r>
              <a:rPr lang="en-GB" sz="2400" dirty="0">
                <a:latin typeface="Calibri" panose="020F0502020204030204" pitchFamily="34" charset="0"/>
                <a:ea typeface="Calibri" panose="020F0502020204030204" pitchFamily="34" charset="0"/>
                <a:cs typeface="Times New Roman" panose="02020603050405020304" pitchFamily="18" charset="0"/>
              </a:rPr>
              <a:t>rollercoaster design.</a:t>
            </a:r>
          </a:p>
        </p:txBody>
      </p:sp>
      <p:pic>
        <p:nvPicPr>
          <p:cNvPr id="6" name="Picture 5" descr="A picture containing bridge, building, outdoor, ride&#10;&#10;Description automatically generated">
            <a:extLst>
              <a:ext uri="{FF2B5EF4-FFF2-40B4-BE49-F238E27FC236}">
                <a16:creationId xmlns:a16="http://schemas.microsoft.com/office/drawing/2014/main" id="{0311DC8C-0C3A-4603-A924-6D772DBA84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4173" y="2890100"/>
            <a:ext cx="4722362" cy="3148241"/>
          </a:xfrm>
          <a:prstGeom prst="rect">
            <a:avLst/>
          </a:prstGeom>
        </p:spPr>
      </p:pic>
    </p:spTree>
    <p:extLst>
      <p:ext uri="{BB962C8B-B14F-4D97-AF65-F5344CB8AC3E}">
        <p14:creationId xmlns:p14="http://schemas.microsoft.com/office/powerpoint/2010/main" val="574962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4BA82-FE7D-4DE6-BC00-A388E38B624C}"/>
              </a:ext>
            </a:extLst>
          </p:cNvPr>
          <p:cNvSpPr>
            <a:spLocks noGrp="1"/>
          </p:cNvSpPr>
          <p:nvPr>
            <p:ph type="title"/>
          </p:nvPr>
        </p:nvSpPr>
        <p:spPr>
          <a:xfrm>
            <a:off x="1560442" y="834887"/>
            <a:ext cx="9793357" cy="855801"/>
          </a:xfrm>
        </p:spPr>
        <p:txBody>
          <a:bodyPr/>
          <a:lstStyle/>
          <a:p>
            <a:r>
              <a:rPr lang="en-GB" b="1" dirty="0">
                <a:solidFill>
                  <a:schemeClr val="bg1"/>
                </a:solidFill>
              </a:rPr>
              <a:t>Sweet shop</a:t>
            </a:r>
          </a:p>
        </p:txBody>
      </p:sp>
      <p:sp>
        <p:nvSpPr>
          <p:cNvPr id="5" name="Rectangle 4">
            <a:extLst>
              <a:ext uri="{FF2B5EF4-FFF2-40B4-BE49-F238E27FC236}">
                <a16:creationId xmlns:a16="http://schemas.microsoft.com/office/drawing/2014/main" id="{81B936C1-1C6D-412A-94B9-C3268DC6A8D6}"/>
              </a:ext>
            </a:extLst>
          </p:cNvPr>
          <p:cNvSpPr/>
          <p:nvPr/>
        </p:nvSpPr>
        <p:spPr>
          <a:xfrm>
            <a:off x="1560442" y="2403655"/>
            <a:ext cx="4052418" cy="2050690"/>
          </a:xfrm>
          <a:prstGeom prst="rect">
            <a:avLst/>
          </a:prstGeom>
        </p:spPr>
        <p:txBody>
          <a:bodyPr wrap="square">
            <a:spAutoFit/>
          </a:bodyPr>
          <a:lstStyle/>
          <a:p>
            <a:pPr>
              <a:lnSpc>
                <a:spcPct val="107000"/>
              </a:lnSpc>
              <a:spcAft>
                <a:spcPts val="800"/>
              </a:spcAft>
            </a:pPr>
            <a:r>
              <a:rPr lang="en-GB" sz="2400" dirty="0">
                <a:latin typeface="Calibri" panose="020F0502020204030204" pitchFamily="34" charset="0"/>
                <a:ea typeface="Calibri" panose="020F0502020204030204" pitchFamily="34" charset="0"/>
                <a:cs typeface="Times New Roman" panose="02020603050405020304" pitchFamily="18" charset="0"/>
              </a:rPr>
              <a:t>This spreadsheet allows us to set a budget and then model how we can best spend the money to buy a wide range of different sweets.</a:t>
            </a:r>
          </a:p>
        </p:txBody>
      </p:sp>
      <p:pic>
        <p:nvPicPr>
          <p:cNvPr id="4" name="Picture 3" descr="Graphical user interface, table, Excel&#10;&#10;Description automatically generated">
            <a:extLst>
              <a:ext uri="{FF2B5EF4-FFF2-40B4-BE49-F238E27FC236}">
                <a16:creationId xmlns:a16="http://schemas.microsoft.com/office/drawing/2014/main" id="{79D16D4A-B466-4A3D-90EE-EE8BF1E455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172512"/>
            <a:ext cx="4535558" cy="3645712"/>
          </a:xfrm>
          <a:prstGeom prst="rect">
            <a:avLst/>
          </a:prstGeom>
        </p:spPr>
      </p:pic>
      <p:sp>
        <p:nvSpPr>
          <p:cNvPr id="11" name="Rectangle 10">
            <a:extLst>
              <a:ext uri="{FF2B5EF4-FFF2-40B4-BE49-F238E27FC236}">
                <a16:creationId xmlns:a16="http://schemas.microsoft.com/office/drawing/2014/main" id="{BC6AC065-8F0E-47D1-A6ED-928A0B818F43}"/>
              </a:ext>
            </a:extLst>
          </p:cNvPr>
          <p:cNvSpPr/>
          <p:nvPr/>
        </p:nvSpPr>
        <p:spPr>
          <a:xfrm>
            <a:off x="1560442" y="5171429"/>
            <a:ext cx="3258342" cy="523220"/>
          </a:xfrm>
          <a:prstGeom prst="rect">
            <a:avLst/>
          </a:prstGeom>
        </p:spPr>
        <p:txBody>
          <a:bodyPr wrap="square">
            <a:spAutoFit/>
          </a:bodyPr>
          <a:lstStyle/>
          <a:p>
            <a:pPr algn="ctr">
              <a:spcAft>
                <a:spcPts val="0"/>
              </a:spcAft>
              <a:tabLst>
                <a:tab pos="5727700" algn="r"/>
              </a:tabLst>
            </a:pPr>
            <a:r>
              <a:rPr lang="en-GB" sz="2800" i="1" dirty="0">
                <a:latin typeface="Calibri" panose="020F0502020204030204" pitchFamily="34" charset="0"/>
                <a:ea typeface="Times New Roman" panose="02020603050405020304" pitchFamily="18" charset="0"/>
              </a:rPr>
              <a:t>Now watch video 5.1</a:t>
            </a:r>
            <a:endParaRPr lang="en-GB" sz="2800" i="1"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15003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824949"/>
            <a:ext cx="10037685" cy="865740"/>
          </a:xfrm>
        </p:spPr>
        <p:txBody>
          <a:bodyPr>
            <a:normAutofit/>
          </a:bodyPr>
          <a:lstStyle/>
          <a:p>
            <a:r>
              <a:rPr lang="en-GB" b="1" dirty="0">
                <a:solidFill>
                  <a:schemeClr val="bg1"/>
                </a:solidFill>
              </a:rPr>
              <a:t>Activity 5.1: Sweet shop</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1772874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468A-662A-4290-A763-CBC919D3C24C}"/>
              </a:ext>
            </a:extLst>
          </p:cNvPr>
          <p:cNvSpPr>
            <a:spLocks noGrp="1"/>
          </p:cNvSpPr>
          <p:nvPr>
            <p:ph type="title"/>
          </p:nvPr>
        </p:nvSpPr>
        <p:spPr>
          <a:xfrm>
            <a:off x="1600200" y="815009"/>
            <a:ext cx="9753600" cy="875679"/>
          </a:xfrm>
        </p:spPr>
        <p:txBody>
          <a:bodyPr/>
          <a:lstStyle/>
          <a:p>
            <a:r>
              <a:rPr lang="en-GB" b="1" dirty="0">
                <a:solidFill>
                  <a:schemeClr val="bg1"/>
                </a:solidFill>
              </a:rPr>
              <a:t>Goal Seek</a:t>
            </a:r>
          </a:p>
        </p:txBody>
      </p:sp>
      <p:sp>
        <p:nvSpPr>
          <p:cNvPr id="5" name="Rectangle 4">
            <a:extLst>
              <a:ext uri="{FF2B5EF4-FFF2-40B4-BE49-F238E27FC236}">
                <a16:creationId xmlns:a16="http://schemas.microsoft.com/office/drawing/2014/main" id="{2479F0FA-384D-4CC3-BF14-3AEDFDBD5884}"/>
              </a:ext>
            </a:extLst>
          </p:cNvPr>
          <p:cNvSpPr/>
          <p:nvPr/>
        </p:nvSpPr>
        <p:spPr>
          <a:xfrm>
            <a:off x="1600200" y="2125564"/>
            <a:ext cx="8852836" cy="2940613"/>
          </a:xfrm>
          <a:prstGeom prst="rect">
            <a:avLst/>
          </a:prstGeom>
        </p:spPr>
        <p:txBody>
          <a:bodyPr wrap="square">
            <a:spAutoFit/>
          </a:bodyPr>
          <a:lstStyle/>
          <a:p>
            <a:pPr>
              <a:lnSpc>
                <a:spcPct val="107000"/>
              </a:lnSpc>
              <a:spcAft>
                <a:spcPts val="800"/>
              </a:spcAft>
            </a:pPr>
            <a:r>
              <a:rPr lang="en-GB" sz="2800" dirty="0">
                <a:solidFill>
                  <a:srgbClr val="0069B4"/>
                </a:solidFill>
                <a:latin typeface="Calibri" panose="020F0502020204030204" pitchFamily="34" charset="0"/>
                <a:ea typeface="Calibri" panose="020F0502020204030204" pitchFamily="34" charset="0"/>
                <a:cs typeface="Times New Roman" panose="02020603050405020304" pitchFamily="18" charset="0"/>
              </a:rPr>
              <a:t>Goal Seek </a:t>
            </a:r>
            <a:r>
              <a:rPr lang="en-GB" sz="2800" dirty="0">
                <a:latin typeface="Calibri" panose="020F0502020204030204" pitchFamily="34" charset="0"/>
                <a:ea typeface="Calibri" panose="020F0502020204030204" pitchFamily="34" charset="0"/>
                <a:cs typeface="Times New Roman" panose="02020603050405020304" pitchFamily="18" charset="0"/>
              </a:rPr>
              <a:t>is a spreadsheet tool that</a:t>
            </a:r>
            <a:r>
              <a:rPr lang="en-GB" sz="2800" dirty="0">
                <a:solidFill>
                  <a:srgbClr val="C45911"/>
                </a:solidFill>
                <a:latin typeface="Calibri" panose="020F0502020204030204" pitchFamily="34" charset="0"/>
                <a:ea typeface="Calibri" panose="020F0502020204030204" pitchFamily="34" charset="0"/>
                <a:cs typeface="Times New Roman" panose="02020603050405020304" pitchFamily="18" charset="0"/>
              </a:rPr>
              <a:t> </a:t>
            </a:r>
            <a:r>
              <a:rPr lang="en-GB" sz="2800" dirty="0">
                <a:latin typeface="Calibri" panose="020F0502020204030204" pitchFamily="34" charset="0"/>
                <a:ea typeface="Calibri" panose="020F0502020204030204" pitchFamily="34" charset="0"/>
                <a:cs typeface="Times New Roman" panose="02020603050405020304" pitchFamily="18" charset="0"/>
              </a:rPr>
              <a:t>allows you to see how changing one value in a formula affects another.</a:t>
            </a:r>
          </a:p>
          <a:p>
            <a:pPr>
              <a:lnSpc>
                <a:spcPct val="107000"/>
              </a:lnSpc>
              <a:spcAft>
                <a:spcPts val="800"/>
              </a:spcAft>
            </a:pPr>
            <a:r>
              <a:rPr lang="en-GB" sz="2800" dirty="0">
                <a:latin typeface="Calibri" panose="020F0502020204030204" pitchFamily="34" charset="0"/>
                <a:ea typeface="Calibri" panose="020F0502020204030204" pitchFamily="34" charset="0"/>
                <a:cs typeface="Times New Roman" panose="02020603050405020304" pitchFamily="18" charset="0"/>
              </a:rPr>
              <a:t>It enables you to ask what-if questions to achieve a </a:t>
            </a:r>
            <a:r>
              <a:rPr lang="en-GB" sz="2800" b="1" dirty="0">
                <a:latin typeface="Calibri" panose="020F0502020204030204" pitchFamily="34" charset="0"/>
                <a:ea typeface="Calibri" panose="020F0502020204030204" pitchFamily="34" charset="0"/>
                <a:cs typeface="Times New Roman" panose="02020603050405020304" pitchFamily="18" charset="0"/>
              </a:rPr>
              <a:t>specific goal</a:t>
            </a:r>
            <a:r>
              <a:rPr lang="en-GB" sz="2800" dirty="0">
                <a:latin typeface="Calibri" panose="020F0502020204030204" pitchFamily="34" charset="0"/>
                <a:ea typeface="Calibri" panose="020F0502020204030204" pitchFamily="34" charset="0"/>
                <a:cs typeface="Times New Roman" panose="02020603050405020304" pitchFamily="18" charset="0"/>
              </a:rPr>
              <a:t>, for example, you can use it to find out the price you need to sell an item for in order to make a certain amount of profit.</a:t>
            </a:r>
          </a:p>
        </p:txBody>
      </p:sp>
      <p:sp>
        <p:nvSpPr>
          <p:cNvPr id="6" name="Rectangle 5">
            <a:extLst>
              <a:ext uri="{FF2B5EF4-FFF2-40B4-BE49-F238E27FC236}">
                <a16:creationId xmlns:a16="http://schemas.microsoft.com/office/drawing/2014/main" id="{A65CD48A-F312-464D-85D1-73AF4A52049A}"/>
              </a:ext>
            </a:extLst>
          </p:cNvPr>
          <p:cNvSpPr/>
          <p:nvPr/>
        </p:nvSpPr>
        <p:spPr>
          <a:xfrm>
            <a:off x="4466829" y="5501053"/>
            <a:ext cx="3258342" cy="523220"/>
          </a:xfrm>
          <a:prstGeom prst="rect">
            <a:avLst/>
          </a:prstGeom>
        </p:spPr>
        <p:txBody>
          <a:bodyPr wrap="square">
            <a:spAutoFit/>
          </a:bodyPr>
          <a:lstStyle/>
          <a:p>
            <a:pPr algn="ctr">
              <a:spcAft>
                <a:spcPts val="0"/>
              </a:spcAft>
              <a:tabLst>
                <a:tab pos="5727700" algn="r"/>
              </a:tabLst>
            </a:pPr>
            <a:r>
              <a:rPr lang="en-GB" sz="2800" i="1" dirty="0">
                <a:latin typeface="Calibri" panose="020F0502020204030204" pitchFamily="34" charset="0"/>
                <a:ea typeface="Times New Roman" panose="02020603050405020304" pitchFamily="18" charset="0"/>
              </a:rPr>
              <a:t>Now watch video 5.2</a:t>
            </a:r>
            <a:endParaRPr lang="en-GB" sz="2800" i="1"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4893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824949"/>
            <a:ext cx="10037685" cy="865740"/>
          </a:xfrm>
        </p:spPr>
        <p:txBody>
          <a:bodyPr>
            <a:normAutofit/>
          </a:bodyPr>
          <a:lstStyle/>
          <a:p>
            <a:r>
              <a:rPr lang="en-GB" b="1" dirty="0">
                <a:solidFill>
                  <a:schemeClr val="bg1"/>
                </a:solidFill>
              </a:rPr>
              <a:t>Activity 5.2: Cupcake challenge</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882302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TotalTime>
  <Words>253</Words>
  <Application>Microsoft Office PowerPoint</Application>
  <PresentationFormat>Widescreen</PresentationFormat>
  <Paragraphs>29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Symbol</vt:lpstr>
      <vt:lpstr>Times New Roman</vt:lpstr>
      <vt:lpstr>Office Theme</vt:lpstr>
      <vt:lpstr>Introducing spreadsheets</vt:lpstr>
      <vt:lpstr>Objectives</vt:lpstr>
      <vt:lpstr>PowerPoint Presentation</vt:lpstr>
      <vt:lpstr>Modelling</vt:lpstr>
      <vt:lpstr>Uses of modelling</vt:lpstr>
      <vt:lpstr>Sweet shop</vt:lpstr>
      <vt:lpstr>Activity 5.1: Sweet shop</vt:lpstr>
      <vt:lpstr>Goal Seek</vt:lpstr>
      <vt:lpstr>Activity 5.2: Cupcake challenge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Lea Albrechtsen</cp:lastModifiedBy>
  <cp:revision>37</cp:revision>
  <dcterms:created xsi:type="dcterms:W3CDTF">2020-11-04T15:22:46Z</dcterms:created>
  <dcterms:modified xsi:type="dcterms:W3CDTF">2021-06-07T08:23:31Z</dcterms:modified>
</cp:coreProperties>
</file>