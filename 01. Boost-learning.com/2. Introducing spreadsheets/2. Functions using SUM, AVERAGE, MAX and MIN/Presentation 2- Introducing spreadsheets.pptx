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57" r:id="rId3"/>
    <p:sldId id="258" r:id="rId4"/>
    <p:sldId id="259" r:id="rId5"/>
    <p:sldId id="260" r:id="rId6"/>
    <p:sldId id="281" r:id="rId7"/>
    <p:sldId id="261" r:id="rId8"/>
    <p:sldId id="262" r:id="rId9"/>
    <p:sldId id="274" r:id="rId10"/>
    <p:sldId id="264" r:id="rId11"/>
    <p:sldId id="275" r:id="rId12"/>
    <p:sldId id="265" r:id="rId13"/>
    <p:sldId id="276" r:id="rId14"/>
    <p:sldId id="277" r:id="rId15"/>
    <p:sldId id="278" r:id="rId16"/>
    <p:sldId id="279" r:id="rId17"/>
    <p:sldId id="28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9B4"/>
    <a:srgbClr val="BBE3FA"/>
    <a:srgbClr val="94C1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624" autoAdjust="0"/>
    <p:restoredTop sz="94660"/>
  </p:normalViewPr>
  <p:slideViewPr>
    <p:cSldViewPr snapToGrid="0">
      <p:cViewPr varScale="1">
        <p:scale>
          <a:sx n="65" d="100"/>
          <a:sy n="65" d="100"/>
        </p:scale>
        <p:origin x="54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8" name="Picture 7" descr="Shape, rectangle&#10;&#10;Description automatically generated">
            <a:extLst>
              <a:ext uri="{FF2B5EF4-FFF2-40B4-BE49-F238E27FC236}">
                <a16:creationId xmlns:a16="http://schemas.microsoft.com/office/drawing/2014/main" id="{8E162879-1CE5-EF46-AF8E-A0A77F5B7A12}"/>
              </a:ext>
            </a:extLst>
          </p:cNvPr>
          <p:cNvPicPr/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695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3732" y="3010438"/>
            <a:ext cx="7062388" cy="915850"/>
          </a:xfrm>
        </p:spPr>
        <p:txBody>
          <a:bodyPr>
            <a:normAutofit fontScale="90000"/>
          </a:bodyPr>
          <a:lstStyle/>
          <a:p>
            <a:pPr algn="l"/>
            <a:r>
              <a:rPr lang="en-GB" b="1" dirty="0"/>
              <a:t>Introducing spreadsheets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1683656" y="3936559"/>
            <a:ext cx="619246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94C11F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sz="2000" b="1" dirty="0">
                <a:solidFill>
                  <a:srgbClr val="94C11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sz="2000" b="1" dirty="0">
                <a:solidFill>
                  <a:srgbClr val="94C11F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sz="2000" b="1" dirty="0">
                <a:solidFill>
                  <a:srgbClr val="94C11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sz="2000" b="1" dirty="0">
                <a:solidFill>
                  <a:srgbClr val="94C11F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sz="2000" b="1" dirty="0">
                <a:solidFill>
                  <a:srgbClr val="94C11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sz="2000" b="1" dirty="0">
                <a:solidFill>
                  <a:srgbClr val="94C11F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sz="2000" b="1" dirty="0">
                <a:solidFill>
                  <a:srgbClr val="94C11F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sz="2000" b="1" dirty="0">
              <a:solidFill>
                <a:srgbClr val="94C11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03DC8E-5658-4048-A4CA-3B474C3F7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068" y="2704324"/>
            <a:ext cx="2937413" cy="24439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7043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635" y="832060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620337" y="2308078"/>
            <a:ext cx="8951326" cy="2896183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latin typeface="Calibri" panose="020F0502020204030204" pitchFamily="34" charset="0"/>
                <a:ea typeface="Times New Roman" panose="02020603050405020304" pitchFamily="18" charset="0"/>
              </a:rPr>
              <a:t>In this lesson you will learn how to:</a:t>
            </a:r>
            <a:endParaRPr lang="en-GB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write functions to:</a:t>
            </a:r>
          </a:p>
          <a:p>
            <a:pPr marL="800100" lvl="1" indent="-342900"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add up the values in a range of cells</a:t>
            </a:r>
          </a:p>
          <a:p>
            <a:pPr marL="800100" lvl="1" indent="-342900"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find the average of a set of values</a:t>
            </a:r>
          </a:p>
          <a:p>
            <a:pPr marL="800100" lvl="1" indent="-342900"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find the largest value in a range of cells</a:t>
            </a:r>
          </a:p>
          <a:p>
            <a:pPr marL="800100" lvl="1" indent="-342900"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find the smallest value in a range of cells.</a:t>
            </a:r>
          </a:p>
          <a:p>
            <a:pPr marL="342900" indent="-342900"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choose the appropriate function to complete a task.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063FEB-F11E-467B-A3D9-1D4852674F1E}"/>
              </a:ext>
            </a:extLst>
          </p:cNvPr>
          <p:cNvSpPr/>
          <p:nvPr/>
        </p:nvSpPr>
        <p:spPr>
          <a:xfrm>
            <a:off x="1359191" y="277171"/>
            <a:ext cx="619246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sz="2000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sz="2000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sz="2000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sz="2000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sz="2000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sz="2000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sz="2000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sz="2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828048"/>
            <a:ext cx="9773478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Using a formula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EACFA3-E38C-4DAB-9319-829A73DA2C98}"/>
              </a:ext>
            </a:extLst>
          </p:cNvPr>
          <p:cNvSpPr/>
          <p:nvPr/>
        </p:nvSpPr>
        <p:spPr>
          <a:xfrm>
            <a:off x="2377197" y="4768021"/>
            <a:ext cx="7955152" cy="1302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cell H3, you could use the formula:</a:t>
            </a: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4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=</a:t>
            </a:r>
            <a:r>
              <a:rPr lang="en-GB" sz="4400" noProof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A3+B3+C3+D3+E3+F3+G3</a:t>
            </a:r>
            <a:endParaRPr lang="en-GB" sz="4400" noProof="1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Picture 3" descr="Table, calendar&#10;&#10;Description automatically generated">
            <a:extLst>
              <a:ext uri="{FF2B5EF4-FFF2-40B4-BE49-F238E27FC236}">
                <a16:creationId xmlns:a16="http://schemas.microsoft.com/office/drawing/2014/main" id="{47BE3B26-8C1D-4CAC-B0C0-3B2E0CB622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9647" y="2336923"/>
            <a:ext cx="8472702" cy="218415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001063D-565C-492E-B41E-6FEB5F7A293F}"/>
              </a:ext>
            </a:extLst>
          </p:cNvPr>
          <p:cNvSpPr/>
          <p:nvPr/>
        </p:nvSpPr>
        <p:spPr>
          <a:xfrm>
            <a:off x="1487011" y="343535"/>
            <a:ext cx="55435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8133" y="829598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Functions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F8A516-3295-4D68-BAFD-D64433445E89}"/>
              </a:ext>
            </a:extLst>
          </p:cNvPr>
          <p:cNvSpPr/>
          <p:nvPr/>
        </p:nvSpPr>
        <p:spPr>
          <a:xfrm>
            <a:off x="1578133" y="2301063"/>
            <a:ext cx="8114508" cy="2255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Functions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are pre-programmed into spreadsheets.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They allow us to perform longer or more complex calculations with ease.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Today, we will be concentrating on four functions:</a:t>
            </a:r>
            <a:r>
              <a:rPr lang="en-GB" sz="24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SUM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GB" sz="2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AVERAGE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GB" sz="2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MAX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and </a:t>
            </a:r>
            <a:r>
              <a:rPr lang="en-GB" sz="2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MIN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0B242B-CEC3-41BE-86CA-3F92129708AF}"/>
              </a:ext>
            </a:extLst>
          </p:cNvPr>
          <p:cNvSpPr/>
          <p:nvPr/>
        </p:nvSpPr>
        <p:spPr>
          <a:xfrm>
            <a:off x="1485615" y="460266"/>
            <a:ext cx="55435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1812" y="819659"/>
            <a:ext cx="9753599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Using a function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67AB89-473E-4FA4-9758-FDB3A29E204B}"/>
              </a:ext>
            </a:extLst>
          </p:cNvPr>
          <p:cNvSpPr/>
          <p:nvPr/>
        </p:nvSpPr>
        <p:spPr>
          <a:xfrm>
            <a:off x="1591811" y="2117557"/>
            <a:ext cx="9753599" cy="3353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All functions start with an equals sign </a:t>
            </a:r>
            <a:r>
              <a:rPr lang="en-GB" sz="2400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=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followed by the </a:t>
            </a:r>
            <a:r>
              <a:rPr lang="en-GB" sz="24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function name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data to be used by the function is referenced using </a:t>
            </a:r>
            <a:r>
              <a:rPr lang="en-GB" sz="24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individual cell references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or a </a:t>
            </a:r>
            <a:r>
              <a:rPr lang="en-GB" sz="24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cell range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enclosed within </a:t>
            </a:r>
            <a:r>
              <a:rPr lang="en-GB" sz="24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parentheses</a:t>
            </a:r>
            <a:r>
              <a:rPr lang="en-GB" sz="2400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 )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 example: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solidFill>
                  <a:srgbClr val="C4591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en-GB" sz="2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=SUM(A3:G3)               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This function will add together the values in the cell range </a:t>
            </a: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A3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to </a:t>
            </a: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G3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CDF5B3-4AE8-484C-895C-9EC67BE0CD33}"/>
              </a:ext>
            </a:extLst>
          </p:cNvPr>
          <p:cNvSpPr txBox="1"/>
          <p:nvPr/>
        </p:nvSpPr>
        <p:spPr>
          <a:xfrm>
            <a:off x="4677877" y="3570972"/>
            <a:ext cx="1126157" cy="369332"/>
          </a:xfrm>
          <a:prstGeom prst="rect">
            <a:avLst/>
          </a:prstGeom>
          <a:solidFill>
            <a:srgbClr val="BBE3F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Cell range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C33ACE4-C0F8-4CF5-BB35-39AFD6F4D9A5}"/>
              </a:ext>
            </a:extLst>
          </p:cNvPr>
          <p:cNvCxnSpPr>
            <a:cxnSpLocks/>
          </p:cNvCxnSpPr>
          <p:nvPr/>
        </p:nvCxnSpPr>
        <p:spPr>
          <a:xfrm flipV="1">
            <a:off x="3965608" y="3750411"/>
            <a:ext cx="712269" cy="3158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DEB546F-8EA1-4519-8ABF-95D1E6E680EC}"/>
              </a:ext>
            </a:extLst>
          </p:cNvPr>
          <p:cNvSpPr txBox="1"/>
          <p:nvPr/>
        </p:nvSpPr>
        <p:spPr>
          <a:xfrm>
            <a:off x="3041583" y="4601885"/>
            <a:ext cx="1599399" cy="369332"/>
          </a:xfrm>
          <a:prstGeom prst="rect">
            <a:avLst/>
          </a:prstGeom>
          <a:solidFill>
            <a:srgbClr val="BBE3F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Function name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C77792-DAC0-4590-BFB0-FD092C68B48B}"/>
              </a:ext>
            </a:extLst>
          </p:cNvPr>
          <p:cNvCxnSpPr>
            <a:cxnSpLocks/>
          </p:cNvCxnSpPr>
          <p:nvPr/>
        </p:nvCxnSpPr>
        <p:spPr>
          <a:xfrm flipH="1" flipV="1">
            <a:off x="3041583" y="4398746"/>
            <a:ext cx="799699" cy="20313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6ACADE3-1A19-42C6-8788-18845F408D61}"/>
              </a:ext>
            </a:extLst>
          </p:cNvPr>
          <p:cNvSpPr/>
          <p:nvPr/>
        </p:nvSpPr>
        <p:spPr>
          <a:xfrm>
            <a:off x="6848937" y="3940304"/>
            <a:ext cx="4896323" cy="4810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=</a:t>
            </a:r>
            <a:r>
              <a:rPr lang="en-GB" sz="2400" noProof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A3+B3+C3+D3+E3+F3+G3</a:t>
            </a:r>
            <a:endParaRPr lang="en-GB" sz="2400" noProof="1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47A320-8F83-42EE-8092-B05A35601B2A}"/>
              </a:ext>
            </a:extLst>
          </p:cNvPr>
          <p:cNvSpPr/>
          <p:nvPr/>
        </p:nvSpPr>
        <p:spPr>
          <a:xfrm>
            <a:off x="1591811" y="360608"/>
            <a:ext cx="55435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817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34573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How to write a function in Excel: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0AD00E-2691-400A-8EB1-0357516B0715}"/>
              </a:ext>
            </a:extLst>
          </p:cNvPr>
          <p:cNvSpPr/>
          <p:nvPr/>
        </p:nvSpPr>
        <p:spPr>
          <a:xfrm>
            <a:off x="1589632" y="353651"/>
            <a:ext cx="55435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4315B8-C5AB-457D-9D61-403C3B8114B7}"/>
              </a:ext>
            </a:extLst>
          </p:cNvPr>
          <p:cNvSpPr/>
          <p:nvPr/>
        </p:nvSpPr>
        <p:spPr>
          <a:xfrm>
            <a:off x="963561" y="2967335"/>
            <a:ext cx="7600336" cy="310854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Find the cell where to write a function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Write  =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Write name of the function with parenthesis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Write </a:t>
            </a:r>
            <a:r>
              <a:rPr lang="en-GB" sz="28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cell range </a:t>
            </a: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enclosed within </a:t>
            </a:r>
            <a:r>
              <a:rPr lang="en-GB" sz="28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parentheses</a:t>
            </a:r>
            <a:endParaRPr lang="en-US" sz="28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514350" indent="-514350">
              <a:buAutoNum type="arabicPeriod"/>
            </a:pP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DD783A-C421-4B3E-B900-B5F95535369D}"/>
              </a:ext>
            </a:extLst>
          </p:cNvPr>
          <p:cNvSpPr/>
          <p:nvPr/>
        </p:nvSpPr>
        <p:spPr>
          <a:xfrm>
            <a:off x="8357419" y="3565002"/>
            <a:ext cx="305783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= SUM(A3:G3)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C9CF07C-8611-4448-B167-C5A35A496A58}"/>
              </a:ext>
            </a:extLst>
          </p:cNvPr>
          <p:cNvCxnSpPr>
            <a:endCxn id="6" idx="1"/>
          </p:cNvCxnSpPr>
          <p:nvPr/>
        </p:nvCxnSpPr>
        <p:spPr>
          <a:xfrm flipV="1">
            <a:off x="3136490" y="3888168"/>
            <a:ext cx="5220929" cy="1823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45F87B3-4726-47BE-A2B7-A5199055487D}"/>
              </a:ext>
            </a:extLst>
          </p:cNvPr>
          <p:cNvCxnSpPr/>
          <p:nvPr/>
        </p:nvCxnSpPr>
        <p:spPr>
          <a:xfrm flipV="1">
            <a:off x="8062452" y="4211333"/>
            <a:ext cx="1052051" cy="56714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52E3F-ABC9-42F2-AE52-737C261D8F25}"/>
              </a:ext>
            </a:extLst>
          </p:cNvPr>
          <p:cNvCxnSpPr>
            <a:cxnSpLocks/>
          </p:cNvCxnSpPr>
          <p:nvPr/>
        </p:nvCxnSpPr>
        <p:spPr>
          <a:xfrm flipV="1">
            <a:off x="8224684" y="4070555"/>
            <a:ext cx="2109019" cy="126702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3695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4BA82-FE7D-4DE6-BC00-A388E38B6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442" y="834887"/>
            <a:ext cx="9793357" cy="855801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Using a function</a:t>
            </a:r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3DEC2CCE-0917-4B6E-A1CC-F9EE2EE3B7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2685" y="1913182"/>
            <a:ext cx="2366629" cy="46303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4E00E5E-0A55-4AC6-95DB-33DC0164399A}"/>
              </a:ext>
            </a:extLst>
          </p:cNvPr>
          <p:cNvSpPr/>
          <p:nvPr/>
        </p:nvSpPr>
        <p:spPr>
          <a:xfrm>
            <a:off x="1652763" y="354308"/>
            <a:ext cx="55435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5003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B468A-662A-4290-A763-CBC919D3C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815009"/>
            <a:ext cx="9753600" cy="87567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The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GB" b="1" dirty="0">
                <a:solidFill>
                  <a:schemeClr val="bg1"/>
                </a:solidFill>
              </a:rPr>
              <a:t> function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DBD194-6FEE-45BB-B426-5E8BCA4E0916}"/>
              </a:ext>
            </a:extLst>
          </p:cNvPr>
          <p:cNvSpPr/>
          <p:nvPr/>
        </p:nvSpPr>
        <p:spPr>
          <a:xfrm>
            <a:off x="2578026" y="5781381"/>
            <a:ext cx="324127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tabLst>
                <a:tab pos="5727700" algn="r"/>
              </a:tabLst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video 2.1</a:t>
            </a:r>
            <a:endParaRPr lang="en-GB" sz="2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91068E-23FE-49E6-9BF3-54566BAF45BA}"/>
              </a:ext>
            </a:extLst>
          </p:cNvPr>
          <p:cNvSpPr/>
          <p:nvPr/>
        </p:nvSpPr>
        <p:spPr>
          <a:xfrm>
            <a:off x="1600200" y="2160363"/>
            <a:ext cx="5196924" cy="28062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3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</a:t>
            </a:r>
            <a:r>
              <a:rPr lang="en-GB" sz="32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SUM</a:t>
            </a:r>
            <a:r>
              <a:rPr lang="en-GB" sz="3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function </a:t>
            </a:r>
            <a:r>
              <a:rPr lang="en-GB" sz="3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adds</a:t>
            </a:r>
            <a:r>
              <a:rPr lang="en-GB" sz="3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up the values in a range of cells.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3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add up the total score for the group use the formula: </a:t>
            </a:r>
            <a:r>
              <a:rPr lang="en-GB" sz="32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=SUM(</a:t>
            </a:r>
            <a:r>
              <a:rPr lang="en-GB" sz="32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B4:B7</a:t>
            </a:r>
            <a:r>
              <a:rPr lang="en-GB" sz="32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)</a:t>
            </a:r>
            <a:r>
              <a:rPr lang="en-GB" sz="3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A464AB6C-E165-4BB9-BF76-FFB23A6C38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5800" y="2137193"/>
            <a:ext cx="4242629" cy="328570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58EFEB8-7D6F-4E91-8CD0-311A4B816641}"/>
              </a:ext>
            </a:extLst>
          </p:cNvPr>
          <p:cNvSpPr/>
          <p:nvPr/>
        </p:nvSpPr>
        <p:spPr>
          <a:xfrm>
            <a:off x="1600200" y="345334"/>
            <a:ext cx="55435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8936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24949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2.1: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2E55EFF-8B27-4929-A334-095D1242FA9A}"/>
              </a:ext>
            </a:extLst>
          </p:cNvPr>
          <p:cNvSpPr/>
          <p:nvPr/>
        </p:nvSpPr>
        <p:spPr>
          <a:xfrm>
            <a:off x="1672428" y="396133"/>
            <a:ext cx="55435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2874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F7C2D-0665-4934-9161-95808A939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138" y="774303"/>
            <a:ext cx="9743661" cy="916385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The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AVERAGE</a:t>
            </a:r>
            <a:r>
              <a:rPr lang="en-GB" b="1" dirty="0">
                <a:solidFill>
                  <a:schemeClr val="bg1"/>
                </a:solidFill>
              </a:rPr>
              <a:t> function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ACA41D-3E48-473C-BF97-26CED696A2BB}"/>
              </a:ext>
            </a:extLst>
          </p:cNvPr>
          <p:cNvSpPr/>
          <p:nvPr/>
        </p:nvSpPr>
        <p:spPr>
          <a:xfrm>
            <a:off x="1610138" y="2177305"/>
            <a:ext cx="4762566" cy="33479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3200" dirty="0">
                <a:ea typeface="Calibri" panose="020F0502020204030204" pitchFamily="34" charset="0"/>
                <a:cs typeface="Times New Roman" panose="02020603050405020304" pitchFamily="18" charset="0"/>
              </a:rPr>
              <a:t>The </a:t>
            </a:r>
            <a:r>
              <a:rPr lang="en-GB" sz="32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AVERAGE</a:t>
            </a:r>
            <a:r>
              <a:rPr lang="en-GB" sz="3200" dirty="0">
                <a:ea typeface="Calibri" panose="020F0502020204030204" pitchFamily="34" charset="0"/>
                <a:cs typeface="Times New Roman" panose="02020603050405020304" pitchFamily="18" charset="0"/>
              </a:rPr>
              <a:t> function works in much the same way as the </a:t>
            </a:r>
            <a:r>
              <a:rPr lang="en-GB" sz="32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SUM</a:t>
            </a:r>
            <a:r>
              <a:rPr lang="en-GB" sz="3200" dirty="0">
                <a:ea typeface="Calibri" panose="020F0502020204030204" pitchFamily="34" charset="0"/>
                <a:cs typeface="Times New Roman" panose="02020603050405020304" pitchFamily="18" charset="0"/>
              </a:rPr>
              <a:t> function.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3200" dirty="0">
                <a:ea typeface="Calibri" panose="020F0502020204030204" pitchFamily="34" charset="0"/>
                <a:cs typeface="Times New Roman" panose="02020603050405020304" pitchFamily="18" charset="0"/>
              </a:rPr>
              <a:t>To work out the average mark use the formula: </a:t>
            </a:r>
            <a:r>
              <a:rPr lang="en-GB" sz="32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=AVERAGE(</a:t>
            </a:r>
            <a:r>
              <a:rPr lang="en-GB" sz="32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B4:B7</a:t>
            </a:r>
            <a:r>
              <a:rPr lang="en-GB" sz="32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)</a:t>
            </a:r>
            <a:r>
              <a:rPr lang="en-GB" sz="3200" dirty="0"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9C36B0-D9EB-435F-BC11-30742AA68496}"/>
              </a:ext>
            </a:extLst>
          </p:cNvPr>
          <p:cNvSpPr/>
          <p:nvPr/>
        </p:nvSpPr>
        <p:spPr>
          <a:xfrm>
            <a:off x="2578026" y="5781381"/>
            <a:ext cx="324127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tabLst>
                <a:tab pos="5727700" algn="r"/>
              </a:tabLst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video 2.2</a:t>
            </a:r>
            <a:endParaRPr lang="en-GB" sz="2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B09262-CF98-4FEB-8892-C61A637106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704" y="2177305"/>
            <a:ext cx="5066573" cy="368304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FA13D1E-5D28-497D-8171-DBD9FDBD0839}"/>
              </a:ext>
            </a:extLst>
          </p:cNvPr>
          <p:cNvSpPr/>
          <p:nvPr/>
        </p:nvSpPr>
        <p:spPr>
          <a:xfrm>
            <a:off x="1610138" y="404971"/>
            <a:ext cx="55435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0592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44198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2.2: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AVERAGE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F909487-7552-4F6C-A230-D8CEDB19AB75}"/>
              </a:ext>
            </a:extLst>
          </p:cNvPr>
          <p:cNvSpPr/>
          <p:nvPr/>
        </p:nvSpPr>
        <p:spPr>
          <a:xfrm>
            <a:off x="1589632" y="402443"/>
            <a:ext cx="55435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63774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6ADEC-A2F9-49DF-85E0-654131E26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0" y="824948"/>
            <a:ext cx="9763539" cy="865740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The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GB" b="1" dirty="0">
                <a:solidFill>
                  <a:schemeClr val="bg1"/>
                </a:solidFill>
              </a:rPr>
              <a:t> functions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EB9EEF-9D03-4AFE-A908-3E9ABF690786}"/>
              </a:ext>
            </a:extLst>
          </p:cNvPr>
          <p:cNvSpPr/>
          <p:nvPr/>
        </p:nvSpPr>
        <p:spPr>
          <a:xfrm>
            <a:off x="1590260" y="2240550"/>
            <a:ext cx="5224426" cy="3543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find the largest value in a range, use the </a:t>
            </a:r>
            <a:r>
              <a:rPr lang="en-GB" sz="2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MAX</a:t>
            </a:r>
            <a:r>
              <a:rPr lang="en-GB" sz="2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highest exam mark is found using the formula: </a:t>
            </a:r>
            <a:r>
              <a:rPr lang="en-GB" sz="2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=MAX(</a:t>
            </a:r>
            <a:r>
              <a:rPr lang="en-GB" sz="24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B4:B7</a:t>
            </a:r>
            <a:r>
              <a:rPr lang="en-GB" sz="2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)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find the smallest value in a range, use the </a:t>
            </a:r>
            <a:r>
              <a:rPr lang="en-GB" sz="2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MIN</a:t>
            </a:r>
            <a:r>
              <a:rPr lang="en-GB" sz="2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function.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lowest exam mark is found using the formula: </a:t>
            </a:r>
            <a:r>
              <a:rPr lang="en-GB" sz="2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=MIN(</a:t>
            </a:r>
            <a:r>
              <a:rPr lang="en-GB" sz="24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B4:B7</a:t>
            </a:r>
            <a:r>
              <a:rPr lang="en-GB" sz="2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)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9EA2E8-C7A2-404E-98CC-BB20D3E301F1}"/>
              </a:ext>
            </a:extLst>
          </p:cNvPr>
          <p:cNvSpPr/>
          <p:nvPr/>
        </p:nvSpPr>
        <p:spPr>
          <a:xfrm>
            <a:off x="3230757" y="6019687"/>
            <a:ext cx="324127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tabLst>
                <a:tab pos="5727700" algn="r"/>
              </a:tabLst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</a:t>
            </a:r>
            <a:r>
              <a:rPr lang="en-GB" sz="2800">
                <a:latin typeface="Calibri" panose="020F0502020204030204" pitchFamily="34" charset="0"/>
                <a:ea typeface="Times New Roman" panose="02020603050405020304" pitchFamily="18" charset="0"/>
              </a:rPr>
              <a:t>video 2.3</a:t>
            </a:r>
            <a:endParaRPr lang="en-GB" sz="2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F3599280-C62B-490D-8195-66604B66C4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9385" y="2240550"/>
            <a:ext cx="4475573" cy="354398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8AA91E7-8F0A-429B-9303-C038BB805864}"/>
              </a:ext>
            </a:extLst>
          </p:cNvPr>
          <p:cNvSpPr/>
          <p:nvPr/>
        </p:nvSpPr>
        <p:spPr>
          <a:xfrm>
            <a:off x="1475880" y="338040"/>
            <a:ext cx="55435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7962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34573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2.3: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BE14DDF-503F-4DE2-82C0-C05DC2492AD8}"/>
              </a:ext>
            </a:extLst>
          </p:cNvPr>
          <p:cNvSpPr/>
          <p:nvPr/>
        </p:nvSpPr>
        <p:spPr>
          <a:xfrm>
            <a:off x="1589632" y="331884"/>
            <a:ext cx="55435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8956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34573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2.4: Basic functions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362BA8E-FA88-4E3E-B7E7-AACA52351ED9}"/>
              </a:ext>
            </a:extLst>
          </p:cNvPr>
          <p:cNvSpPr/>
          <p:nvPr/>
        </p:nvSpPr>
        <p:spPr>
          <a:xfrm>
            <a:off x="1589632" y="396133"/>
            <a:ext cx="55435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22314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34573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2.5: Cinema tickets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89845"/>
            <a:ext cx="4587567" cy="449484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959612E-3DED-42E4-9B45-078F7D6ED2AC}"/>
              </a:ext>
            </a:extLst>
          </p:cNvPr>
          <p:cNvSpPr/>
          <p:nvPr/>
        </p:nvSpPr>
        <p:spPr>
          <a:xfrm>
            <a:off x="1485615" y="373315"/>
            <a:ext cx="55435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87353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34573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2.6: Pocket money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3C73860-5DD9-4C25-AC10-E1C2557840D8}"/>
              </a:ext>
            </a:extLst>
          </p:cNvPr>
          <p:cNvSpPr/>
          <p:nvPr/>
        </p:nvSpPr>
        <p:spPr>
          <a:xfrm>
            <a:off x="1751086" y="383193"/>
            <a:ext cx="55435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1789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34573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2.7: Birthday Cake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7184" y="1811903"/>
            <a:ext cx="4587567" cy="449484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80AD00E-2691-400A-8EB1-0357516B0715}"/>
              </a:ext>
            </a:extLst>
          </p:cNvPr>
          <p:cNvSpPr/>
          <p:nvPr/>
        </p:nvSpPr>
        <p:spPr>
          <a:xfrm>
            <a:off x="1589632" y="353651"/>
            <a:ext cx="55435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Functions using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SUM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AVERAGE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,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MAX</a:t>
            </a:r>
            <a:r>
              <a:rPr lang="en-GB" b="1" dirty="0">
                <a:solidFill>
                  <a:schemeClr val="bg1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and </a:t>
            </a:r>
            <a:r>
              <a:rPr lang="en-GB" b="1" dirty="0">
                <a:solidFill>
                  <a:schemeClr val="bg1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MIN</a:t>
            </a:r>
            <a:endParaRPr lang="en-GB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38161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</TotalTime>
  <Words>619</Words>
  <Application>Microsoft Office PowerPoint</Application>
  <PresentationFormat>Widescreen</PresentationFormat>
  <Paragraphs>72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Calibri Light</vt:lpstr>
      <vt:lpstr>Courier New</vt:lpstr>
      <vt:lpstr>Symbol</vt:lpstr>
      <vt:lpstr>Times New Roman</vt:lpstr>
      <vt:lpstr>Office Theme</vt:lpstr>
      <vt:lpstr>Introducing spreadsheets</vt:lpstr>
      <vt:lpstr>Objectives</vt:lpstr>
      <vt:lpstr>Using a formula</vt:lpstr>
      <vt:lpstr>Functions</vt:lpstr>
      <vt:lpstr>Using a function</vt:lpstr>
      <vt:lpstr>How to write a function in Excel:</vt:lpstr>
      <vt:lpstr>Using a function</vt:lpstr>
      <vt:lpstr>The SUM function</vt:lpstr>
      <vt:lpstr>Activity 2.1: Using SUM</vt:lpstr>
      <vt:lpstr>The AVERAGE function</vt:lpstr>
      <vt:lpstr>Activity 2.2: Using AVERAGE</vt:lpstr>
      <vt:lpstr>The MAX and MIN functions</vt:lpstr>
      <vt:lpstr>Activity 2.3: Using MAX and MIN</vt:lpstr>
      <vt:lpstr>Activity 2.4: Basic functions</vt:lpstr>
      <vt:lpstr>Activity 2.5: Cinema tickets</vt:lpstr>
      <vt:lpstr>Activity 2.6: Pocket money</vt:lpstr>
      <vt:lpstr>Activity 2.7: Birthday Cake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Tamar Zedginidze</cp:lastModifiedBy>
  <cp:revision>35</cp:revision>
  <dcterms:created xsi:type="dcterms:W3CDTF">2020-11-04T15:22:46Z</dcterms:created>
  <dcterms:modified xsi:type="dcterms:W3CDTF">2025-05-05T19:05:23Z</dcterms:modified>
</cp:coreProperties>
</file>