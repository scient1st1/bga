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57" r:id="rId3"/>
    <p:sldId id="258" r:id="rId4"/>
    <p:sldId id="259" r:id="rId5"/>
    <p:sldId id="260" r:id="rId6"/>
    <p:sldId id="261" r:id="rId7"/>
    <p:sldId id="262" r:id="rId8"/>
    <p:sldId id="274" r:id="rId9"/>
    <p:sldId id="264" r:id="rId10"/>
    <p:sldId id="265" r:id="rId11"/>
    <p:sldId id="275" r:id="rId12"/>
    <p:sldId id="267" r:id="rId13"/>
    <p:sldId id="268" r:id="rId14"/>
    <p:sldId id="269" r:id="rId15"/>
    <p:sldId id="276" r:id="rId16"/>
    <p:sldId id="277" r:id="rId17"/>
    <p:sldId id="278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9B4"/>
    <a:srgbClr val="94C1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2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20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22/02/2021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22/02/2021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22/02/2021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22/02/2021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22/02/2021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22/02/2021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22/02/2021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22/02/2021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22/02/2021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22/02/2021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  <p:pic>
        <p:nvPicPr>
          <p:cNvPr id="8" name="Picture 7" descr="Shape, rectangle&#10;&#10;Description automatically generated">
            <a:extLst>
              <a:ext uri="{FF2B5EF4-FFF2-40B4-BE49-F238E27FC236}">
                <a16:creationId xmlns:a16="http://schemas.microsoft.com/office/drawing/2014/main" id="{8E162879-1CE5-EF46-AF8E-A0A77F5B7A12}"/>
              </a:ext>
            </a:extLst>
          </p:cNvPr>
          <p:cNvPicPr/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695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B9C3-E44C-4313-895D-D43DD1C92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3732" y="3010438"/>
            <a:ext cx="7062388" cy="915850"/>
          </a:xfrm>
        </p:spPr>
        <p:txBody>
          <a:bodyPr>
            <a:normAutofit fontScale="90000"/>
          </a:bodyPr>
          <a:lstStyle/>
          <a:p>
            <a:pPr algn="l"/>
            <a:r>
              <a:rPr lang="en-GB" b="1" dirty="0"/>
              <a:t>Introducing spreadsheets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2659179" y="3926288"/>
            <a:ext cx="52169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94C11F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1: Formulae, replication and referencing</a:t>
            </a:r>
            <a:endParaRPr lang="en-GB" sz="2000" b="1" dirty="0">
              <a:solidFill>
                <a:srgbClr val="94C11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03DC8E-5658-4048-A4CA-3B474C3F7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068" y="2704324"/>
            <a:ext cx="2937413" cy="244392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7043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3635" y="832060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593635" y="2397948"/>
            <a:ext cx="9634330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latin typeface="Calibri" panose="020F0502020204030204" pitchFamily="34" charset="0"/>
                <a:ea typeface="Times New Roman" panose="02020603050405020304" pitchFamily="18" charset="0"/>
              </a:rPr>
              <a:t>In this lesson you will learn:</a:t>
            </a:r>
            <a:endParaRPr lang="en-GB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the main elements of a spreadsheet</a:t>
            </a:r>
            <a:endParaRPr lang="en-GB" sz="24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how to write formulae using cell references</a:t>
            </a:r>
            <a:endParaRPr lang="en-GB" sz="24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how to replicate data and extend data series</a:t>
            </a:r>
            <a:endParaRPr lang="en-GB" sz="24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the difference between relative and absolute cell references.</a:t>
            </a:r>
            <a:endParaRPr lang="en-GB" sz="24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828048"/>
            <a:ext cx="9773478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 spreadsheet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305C6E-6AA9-49B2-8383-3068A923E8C2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2" r="719" b="2148"/>
          <a:stretch/>
        </p:blipFill>
        <p:spPr>
          <a:xfrm>
            <a:off x="2130259" y="2439464"/>
            <a:ext cx="7931482" cy="359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8133" y="829598"/>
            <a:ext cx="9733721" cy="83592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The main elements of a spreadsheet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92AB-7463-4849-AFE8-C91C20C45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8133" y="2164360"/>
            <a:ext cx="4820458" cy="4135772"/>
          </a:xfrm>
        </p:spPr>
        <p:txBody>
          <a:bodyPr>
            <a:normAutofit lnSpcReduction="10000"/>
          </a:bodyPr>
          <a:lstStyle/>
          <a:p>
            <a:r>
              <a:rPr lang="en-GB" dirty="0"/>
              <a:t>A </a:t>
            </a:r>
            <a:r>
              <a:rPr lang="en-GB" b="1" dirty="0">
                <a:solidFill>
                  <a:srgbClr val="0069B4"/>
                </a:solidFill>
              </a:rPr>
              <a:t>spreadsheet</a:t>
            </a:r>
            <a:r>
              <a:rPr lang="en-GB" dirty="0"/>
              <a:t> consists of a grid of cells.</a:t>
            </a:r>
          </a:p>
          <a:p>
            <a:r>
              <a:rPr lang="en-GB" dirty="0"/>
              <a:t>A </a:t>
            </a:r>
            <a:r>
              <a:rPr lang="en-GB" b="1" dirty="0">
                <a:solidFill>
                  <a:srgbClr val="0069B4"/>
                </a:solidFill>
              </a:rPr>
              <a:t>cell</a:t>
            </a:r>
            <a:r>
              <a:rPr lang="en-GB" dirty="0"/>
              <a:t> is a box on the spreadsheet into which you can place numbers, text or calculations.</a:t>
            </a:r>
          </a:p>
          <a:p>
            <a:r>
              <a:rPr lang="en-GB" dirty="0"/>
              <a:t>A spreadsheet is divided into </a:t>
            </a:r>
            <a:r>
              <a:rPr lang="en-GB" b="1" dirty="0">
                <a:solidFill>
                  <a:srgbClr val="0069B4"/>
                </a:solidFill>
              </a:rPr>
              <a:t>rows</a:t>
            </a:r>
            <a:r>
              <a:rPr lang="en-GB" dirty="0"/>
              <a:t> and </a:t>
            </a:r>
            <a:r>
              <a:rPr lang="en-GB" b="1" dirty="0">
                <a:solidFill>
                  <a:srgbClr val="0069B4"/>
                </a:solidFill>
              </a:rPr>
              <a:t>columns</a:t>
            </a:r>
            <a:r>
              <a:rPr lang="en-GB" dirty="0"/>
              <a:t> and these are used to provide each cell with a unique </a:t>
            </a:r>
            <a:r>
              <a:rPr lang="en-GB" b="1" dirty="0">
                <a:solidFill>
                  <a:srgbClr val="0069B4"/>
                </a:solidFill>
              </a:rPr>
              <a:t>cell</a:t>
            </a:r>
            <a:r>
              <a:rPr lang="en-GB" dirty="0">
                <a:solidFill>
                  <a:srgbClr val="0069B4"/>
                </a:solidFill>
              </a:rPr>
              <a:t> </a:t>
            </a:r>
            <a:r>
              <a:rPr lang="en-GB" b="1" dirty="0">
                <a:solidFill>
                  <a:srgbClr val="0069B4"/>
                </a:solidFill>
              </a:rPr>
              <a:t>reference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6" name="Picture 5" descr="Chart&#10;&#10;Description automatically generated">
            <a:extLst>
              <a:ext uri="{FF2B5EF4-FFF2-40B4-BE49-F238E27FC236}">
                <a16:creationId xmlns:a16="http://schemas.microsoft.com/office/drawing/2014/main" id="{C8A2ABA7-5A26-46BC-BD00-D4D128FD48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5784" y="3028027"/>
            <a:ext cx="4820458" cy="2408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74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1812" y="819659"/>
            <a:ext cx="9753599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Calculations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FB485-6993-428E-81B4-749465982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91812" y="2350286"/>
            <a:ext cx="8533700" cy="2927757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Spreadsheets are often used to perform calculations.</a:t>
            </a:r>
          </a:p>
          <a:p>
            <a:pPr marL="0" indent="0">
              <a:buNone/>
            </a:pPr>
            <a:r>
              <a:rPr lang="en-GB" dirty="0"/>
              <a:t>This is done by writing a </a:t>
            </a:r>
            <a:r>
              <a:rPr lang="en-GB" b="1" dirty="0">
                <a:solidFill>
                  <a:srgbClr val="0069B4"/>
                </a:solidFill>
              </a:rPr>
              <a:t>formula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Most formulae use cell references. This means that you can change a value in a cell and the formula automatically recalculates the answer.</a:t>
            </a:r>
          </a:p>
        </p:txBody>
      </p:sp>
    </p:spTree>
    <p:extLst>
      <p:ext uri="{BB962C8B-B14F-4D97-AF65-F5344CB8AC3E}">
        <p14:creationId xmlns:p14="http://schemas.microsoft.com/office/powerpoint/2010/main" val="3538170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4BA82-FE7D-4DE6-BC00-A388E38B6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442" y="834887"/>
            <a:ext cx="9793357" cy="855801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Formulae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89CB4-E14F-4A81-9700-8E0CB5DA89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442" y="2223083"/>
            <a:ext cx="6860077" cy="20697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Formulae must always start with an </a:t>
            </a:r>
            <a:r>
              <a:rPr lang="en-GB" b="1" dirty="0"/>
              <a:t>equals sign</a:t>
            </a:r>
            <a:r>
              <a:rPr lang="en-GB" dirty="0"/>
              <a:t>:</a:t>
            </a:r>
          </a:p>
          <a:p>
            <a:pPr marL="0" indent="0">
              <a:buNone/>
            </a:pPr>
            <a:r>
              <a:rPr lang="en-GB" dirty="0"/>
              <a:t>	For example: =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A1+B2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You use the operators: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75756E0-623C-4702-9CF5-A65755FA97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7040451"/>
              </p:ext>
            </p:extLst>
          </p:nvPr>
        </p:nvGraphicFramePr>
        <p:xfrm>
          <a:off x="2595251" y="4292867"/>
          <a:ext cx="5230088" cy="182880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1880496">
                  <a:extLst>
                    <a:ext uri="{9D8B030D-6E8A-4147-A177-3AD203B41FA5}">
                      <a16:colId xmlns:a16="http://schemas.microsoft.com/office/drawing/2014/main" val="3334675808"/>
                    </a:ext>
                  </a:extLst>
                </a:gridCol>
                <a:gridCol w="953011">
                  <a:extLst>
                    <a:ext uri="{9D8B030D-6E8A-4147-A177-3AD203B41FA5}">
                      <a16:colId xmlns:a16="http://schemas.microsoft.com/office/drawing/2014/main" val="2544245811"/>
                    </a:ext>
                  </a:extLst>
                </a:gridCol>
                <a:gridCol w="2396581">
                  <a:extLst>
                    <a:ext uri="{9D8B030D-6E8A-4147-A177-3AD203B41FA5}">
                      <a16:colId xmlns:a16="http://schemas.microsoft.com/office/drawing/2014/main" val="2431280689"/>
                    </a:ext>
                  </a:extLst>
                </a:gridCol>
              </a:tblGrid>
              <a:tr h="363888">
                <a:tc>
                  <a:txBody>
                    <a:bodyPr/>
                    <a:lstStyle/>
                    <a:p>
                      <a:r>
                        <a:rPr lang="en-GB" sz="2400" b="0" dirty="0"/>
                        <a:t>plus sign</a:t>
                      </a:r>
                      <a:endParaRPr lang="en-GB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/>
                        <a:t>+</a:t>
                      </a:r>
                      <a:endParaRPr lang="en-GB" sz="2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b="0" dirty="0"/>
                        <a:t>for addition</a:t>
                      </a:r>
                      <a:endParaRPr lang="en-GB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0362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400" dirty="0"/>
                        <a:t>minus sign</a:t>
                      </a:r>
                      <a:endParaRPr lang="en-GB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-</a:t>
                      </a:r>
                      <a:endParaRPr lang="en-GB" sz="2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for subtraction</a:t>
                      </a:r>
                      <a:endParaRPr lang="en-GB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657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400" dirty="0"/>
                        <a:t>asterisk</a:t>
                      </a:r>
                      <a:endParaRPr lang="en-GB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*</a:t>
                      </a:r>
                      <a:endParaRPr lang="en-GB" sz="2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for multiplication</a:t>
                      </a:r>
                      <a:endParaRPr lang="en-GB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38533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400" dirty="0"/>
                        <a:t>forward slash</a:t>
                      </a:r>
                      <a:endParaRPr lang="en-GB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/</a:t>
                      </a:r>
                      <a:endParaRPr lang="en-GB" sz="2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For division</a:t>
                      </a:r>
                      <a:endParaRPr lang="en-GB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22987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50031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B468A-662A-4290-A763-CBC919D3C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815009"/>
            <a:ext cx="9753600" cy="87567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Creating formulae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289632-8C78-45F6-A718-168D82D91E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0200" y="2054226"/>
            <a:ext cx="7793334" cy="743640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To create a formula to add together two numbers: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DBD194-6FEE-45BB-B426-5E8BCA4E0916}"/>
              </a:ext>
            </a:extLst>
          </p:cNvPr>
          <p:cNvSpPr/>
          <p:nvPr/>
        </p:nvSpPr>
        <p:spPr>
          <a:xfrm>
            <a:off x="4343769" y="5519771"/>
            <a:ext cx="350446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tabLst>
                <a:tab pos="5727700" algn="r"/>
              </a:tabLst>
            </a:pPr>
            <a:r>
              <a:rPr lang="en-GB" sz="2800" i="1" dirty="0">
                <a:latin typeface="Calibri" panose="020F0502020204030204" pitchFamily="34" charset="0"/>
                <a:ea typeface="Times New Roman" panose="02020603050405020304" pitchFamily="18" charset="0"/>
              </a:rPr>
              <a:t>Now watch video 1.1</a:t>
            </a:r>
            <a:endParaRPr lang="en-GB" sz="2800" i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8" name="Picture 7" descr="Table&#10;&#10;Description automatically generated">
            <a:extLst>
              <a:ext uri="{FF2B5EF4-FFF2-40B4-BE49-F238E27FC236}">
                <a16:creationId xmlns:a16="http://schemas.microsoft.com/office/drawing/2014/main" id="{23C63955-D81D-42EF-BD14-D4605138D0E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5121"/>
          <a:stretch/>
        </p:blipFill>
        <p:spPr>
          <a:xfrm>
            <a:off x="1186175" y="3161404"/>
            <a:ext cx="9819650" cy="1659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36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2000" fill="hold"/>
                                        <p:tgtEl>
                                          <p:spTgt spid="6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24949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1.1: Basic formulae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8742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F7C2D-0665-4934-9161-95808A939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0138" y="774303"/>
            <a:ext cx="9743661" cy="916385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Replication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C9AE2-1B54-42D8-BF3D-9A34E69A49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0138" y="1825625"/>
            <a:ext cx="8840148" cy="1801830"/>
          </a:xfrm>
        </p:spPr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0069B4"/>
                </a:solidFill>
              </a:rPr>
              <a:t>Replication</a:t>
            </a:r>
            <a:r>
              <a:rPr lang="en-GB" dirty="0"/>
              <a:t> is where you copy information from one cell to another using the </a:t>
            </a:r>
            <a:r>
              <a:rPr lang="en-GB" b="1" dirty="0">
                <a:solidFill>
                  <a:srgbClr val="0069B4"/>
                </a:solidFill>
              </a:rPr>
              <a:t>fill handle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This is a great time-saving feature of spreadsheets.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9" name="Picture 8" descr="Table&#10;&#10;Description automatically generated">
            <a:extLst>
              <a:ext uri="{FF2B5EF4-FFF2-40B4-BE49-F238E27FC236}">
                <a16:creationId xmlns:a16="http://schemas.microsoft.com/office/drawing/2014/main" id="{47FD2D85-6D92-462E-B17D-03D698ADBC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0138" y="3429000"/>
            <a:ext cx="7840031" cy="287581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4DDE-3313-4DAB-8A44-5EDC1CDCBE2A}"/>
              </a:ext>
            </a:extLst>
          </p:cNvPr>
          <p:cNvSpPr/>
          <p:nvPr/>
        </p:nvSpPr>
        <p:spPr>
          <a:xfrm>
            <a:off x="9450169" y="4489083"/>
            <a:ext cx="1933991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tabLst>
                <a:tab pos="5727700" algn="r"/>
              </a:tabLst>
            </a:pPr>
            <a:r>
              <a:rPr lang="en-GB" sz="2800" i="1" dirty="0">
                <a:latin typeface="Calibri" panose="020F0502020204030204" pitchFamily="34" charset="0"/>
                <a:ea typeface="Times New Roman" panose="02020603050405020304" pitchFamily="18" charset="0"/>
              </a:rPr>
              <a:t>Now watch video 1.2</a:t>
            </a:r>
            <a:endParaRPr lang="en-GB" sz="2800" i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0592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6ADEC-A2F9-49DF-85E0-654131E26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0" y="824948"/>
            <a:ext cx="9763539" cy="865740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Extending a data series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C10A6-C706-480F-B379-38FDA6FFE9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0418" y="1998217"/>
            <a:ext cx="9001322" cy="103952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The fill handle can be used to </a:t>
            </a:r>
            <a:r>
              <a:rPr lang="en-GB" b="1" dirty="0"/>
              <a:t>extend</a:t>
            </a:r>
            <a:r>
              <a:rPr lang="en-GB" dirty="0"/>
              <a:t> and </a:t>
            </a:r>
            <a:r>
              <a:rPr lang="en-GB" b="1" dirty="0"/>
              <a:t>complete</a:t>
            </a:r>
            <a:r>
              <a:rPr lang="en-GB" dirty="0"/>
              <a:t> a series of numbers, dates or formulae.</a:t>
            </a:r>
          </a:p>
        </p:txBody>
      </p:sp>
      <p:pic>
        <p:nvPicPr>
          <p:cNvPr id="10" name="Picture 9" descr="Application, table, Excel&#10;&#10;Description automatically generated">
            <a:extLst>
              <a:ext uri="{FF2B5EF4-FFF2-40B4-BE49-F238E27FC236}">
                <a16:creationId xmlns:a16="http://schemas.microsoft.com/office/drawing/2014/main" id="{25F2053B-7327-41DA-A99F-94CBEF491C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114" y="3345274"/>
            <a:ext cx="4588781" cy="1699134"/>
          </a:xfrm>
          <a:prstGeom prst="rect">
            <a:avLst/>
          </a:prstGeom>
        </p:spPr>
      </p:pic>
      <p:pic>
        <p:nvPicPr>
          <p:cNvPr id="12" name="Picture 11" descr="Table&#10;&#10;Description automatically generated">
            <a:extLst>
              <a:ext uri="{FF2B5EF4-FFF2-40B4-BE49-F238E27FC236}">
                <a16:creationId xmlns:a16="http://schemas.microsoft.com/office/drawing/2014/main" id="{FCACAD93-84D1-4F94-8A97-EB1DC33930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2106" y="3322766"/>
            <a:ext cx="4602291" cy="169913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54DFCB9-60C6-4451-BDCA-692C42D44E39}"/>
              </a:ext>
            </a:extLst>
          </p:cNvPr>
          <p:cNvSpPr/>
          <p:nvPr/>
        </p:nvSpPr>
        <p:spPr>
          <a:xfrm>
            <a:off x="4343769" y="5509832"/>
            <a:ext cx="350446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tabLst>
                <a:tab pos="5727700" algn="r"/>
              </a:tabLst>
            </a:pPr>
            <a:r>
              <a:rPr lang="en-GB" sz="2800" i="1" dirty="0">
                <a:latin typeface="Calibri" panose="020F0502020204030204" pitchFamily="34" charset="0"/>
                <a:ea typeface="Times New Roman" panose="02020603050405020304" pitchFamily="18" charset="0"/>
              </a:rPr>
              <a:t>Now watch video 1.3</a:t>
            </a:r>
            <a:endParaRPr lang="en-GB" sz="2800" i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7962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out)">
                                      <p:cBhvr>
                                        <p:cTn id="7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2000" fill="hold"/>
                                        <p:tgtEl>
                                          <p:spTgt spid="1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3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44198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1.2: Times tables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3774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E36AC-12A9-4A2C-9D8A-8D001EE0D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824948"/>
            <a:ext cx="9773478" cy="865740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Relative cell 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CC13E-1871-4787-BADF-14253538B2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0322" y="2011679"/>
            <a:ext cx="8891964" cy="4021373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If you click on one of the cells where the formula has been copied to, you will see that the cell references have been changed to those for that row.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endParaRPr lang="en-GB" sz="1400" dirty="0"/>
          </a:p>
          <a:p>
            <a:pPr marL="0" indent="0">
              <a:buNone/>
            </a:pPr>
            <a:r>
              <a:rPr lang="en-GB" dirty="0"/>
              <a:t>These are called </a:t>
            </a:r>
            <a:r>
              <a:rPr lang="en-GB" b="1" dirty="0">
                <a:solidFill>
                  <a:srgbClr val="0069B4"/>
                </a:solidFill>
              </a:rPr>
              <a:t>relative cell references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Relative references are very useful if you need to repeat the same calculation across multiple rows or columns.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BD92F9-4564-44C1-9AB8-D4954B8C3290}"/>
              </a:ext>
            </a:extLst>
          </p:cNvPr>
          <p:cNvSpPr/>
          <p:nvPr/>
        </p:nvSpPr>
        <p:spPr>
          <a:xfrm>
            <a:off x="4343769" y="6033052"/>
            <a:ext cx="350446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tabLst>
                <a:tab pos="5727700" algn="r"/>
              </a:tabLst>
            </a:pPr>
            <a:r>
              <a:rPr lang="en-GB" sz="2800" i="1" dirty="0">
                <a:latin typeface="Calibri" panose="020F0502020204030204" pitchFamily="34" charset="0"/>
                <a:ea typeface="Times New Roman" panose="02020603050405020304" pitchFamily="18" charset="0"/>
              </a:rPr>
              <a:t>Now watch video 1.4</a:t>
            </a:r>
            <a:endParaRPr lang="en-GB" sz="2800" i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9" name="Picture 8" descr="Table&#10;&#10;Description automatically generated">
            <a:extLst>
              <a:ext uri="{FF2B5EF4-FFF2-40B4-BE49-F238E27FC236}">
                <a16:creationId xmlns:a16="http://schemas.microsoft.com/office/drawing/2014/main" id="{7E9E91D3-5427-446C-9008-3A19F3C7A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066" y="2863781"/>
            <a:ext cx="6365867" cy="1899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272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2000" fill="hold"/>
                                        <p:tgtEl>
                                          <p:spTgt spid="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D8971-0D9A-4A36-8231-D006AA258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24948"/>
            <a:ext cx="9783417" cy="865740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Absolute cell references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17DEC2-06AF-4D8C-B37E-5DF2E7430898}"/>
              </a:ext>
            </a:extLst>
          </p:cNvPr>
          <p:cNvSpPr/>
          <p:nvPr/>
        </p:nvSpPr>
        <p:spPr>
          <a:xfrm>
            <a:off x="1570382" y="2282220"/>
            <a:ext cx="8930781" cy="3043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Sometimes, you do </a:t>
            </a:r>
            <a:r>
              <a:rPr lang="en-GB" sz="2800" u="sn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not</a:t>
            </a: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want a cell reference to change when copying cells. In this situation, you use an </a:t>
            </a:r>
            <a:r>
              <a:rPr lang="en-GB" sz="2800" b="1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absolute cell reference</a:t>
            </a: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 absolute reference is created by adding a </a:t>
            </a:r>
            <a:r>
              <a:rPr lang="en-GB" sz="2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dollar sign (</a:t>
            </a:r>
            <a:r>
              <a:rPr lang="en-GB" sz="2800" b="1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$</a:t>
            </a:r>
            <a:r>
              <a:rPr lang="en-GB" sz="2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 front of the column reference, the row reference, or both.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For example: </a:t>
            </a:r>
            <a:r>
              <a:rPr lang="en-GB" sz="2800" b="1" dirty="0">
                <a:solidFill>
                  <a:srgbClr val="0069B4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$</a:t>
            </a:r>
            <a:r>
              <a:rPr lang="en-GB" sz="2800" b="1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</a:t>
            </a:r>
            <a:r>
              <a:rPr lang="en-GB" sz="2800" b="1" dirty="0" err="1">
                <a:solidFill>
                  <a:srgbClr val="0069B4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$</a:t>
            </a:r>
            <a:r>
              <a:rPr lang="en-GB" sz="2800" b="1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3</a:t>
            </a:r>
            <a:endParaRPr lang="en-GB" sz="2800" b="1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49111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able&#10;&#10;Description automatically generated">
            <a:extLst>
              <a:ext uri="{FF2B5EF4-FFF2-40B4-BE49-F238E27FC236}">
                <a16:creationId xmlns:a16="http://schemas.microsoft.com/office/drawing/2014/main" id="{88DC4D4A-928C-4EFE-A39E-C43CC0B0CB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4438" y="1981626"/>
            <a:ext cx="7703124" cy="1708652"/>
          </a:xfrm>
          <a:prstGeom prst="rect">
            <a:avLst/>
          </a:prstGeom>
        </p:spPr>
      </p:pic>
      <p:pic>
        <p:nvPicPr>
          <p:cNvPr id="10" name="Picture 9" descr="Table&#10;&#10;Description automatically generated">
            <a:extLst>
              <a:ext uri="{FF2B5EF4-FFF2-40B4-BE49-F238E27FC236}">
                <a16:creationId xmlns:a16="http://schemas.microsoft.com/office/drawing/2014/main" id="{F5164240-DA0A-4F73-8856-515CCE5AC4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4438" y="4002315"/>
            <a:ext cx="7703124" cy="170865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00715FE-CC37-429E-9B0D-A1F71B0D6370}"/>
              </a:ext>
            </a:extLst>
          </p:cNvPr>
          <p:cNvSpPr/>
          <p:nvPr/>
        </p:nvSpPr>
        <p:spPr>
          <a:xfrm>
            <a:off x="4343769" y="6023004"/>
            <a:ext cx="350446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tabLst>
                <a:tab pos="5727700" algn="r"/>
              </a:tabLst>
            </a:pPr>
            <a:r>
              <a:rPr lang="en-GB" sz="2800" i="1" dirty="0">
                <a:latin typeface="Calibri" panose="020F0502020204030204" pitchFamily="34" charset="0"/>
                <a:ea typeface="Times New Roman" panose="02020603050405020304" pitchFamily="18" charset="0"/>
              </a:rPr>
              <a:t>Now watch video 1.5</a:t>
            </a:r>
            <a:endParaRPr lang="en-GB" sz="2800" i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4610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2000" fill="hold"/>
                                        <p:tgtEl>
                                          <p:spTgt spid="11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34573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1.3: Any times table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9564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34573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1.4: Maths chain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2314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34573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1.5: Cell references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735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406</Words>
  <Application>Microsoft Office PowerPoint</Application>
  <PresentationFormat>Widescreen</PresentationFormat>
  <Paragraphs>64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Calibri Light</vt:lpstr>
      <vt:lpstr>Courier New</vt:lpstr>
      <vt:lpstr>Symbol</vt:lpstr>
      <vt:lpstr>Times New Roman</vt:lpstr>
      <vt:lpstr>Office Theme</vt:lpstr>
      <vt:lpstr>Introducing spreadsheets</vt:lpstr>
      <vt:lpstr>Objectives</vt:lpstr>
      <vt:lpstr>A spreadsheet</vt:lpstr>
      <vt:lpstr>The main elements of a spreadsheet</vt:lpstr>
      <vt:lpstr>Calculations </vt:lpstr>
      <vt:lpstr>Formulae</vt:lpstr>
      <vt:lpstr>Creating formulae</vt:lpstr>
      <vt:lpstr>Activity 1.1: Basic formulae</vt:lpstr>
      <vt:lpstr>Replication</vt:lpstr>
      <vt:lpstr>Extending a data series</vt:lpstr>
      <vt:lpstr>Activity 1.2: Times tables</vt:lpstr>
      <vt:lpstr>Relative cell references</vt:lpstr>
      <vt:lpstr>Absolute cell references</vt:lpstr>
      <vt:lpstr>PowerPoint Presentation</vt:lpstr>
      <vt:lpstr>Activity 1.3: Any times table</vt:lpstr>
      <vt:lpstr>Activity 1.4: Maths chain</vt:lpstr>
      <vt:lpstr>Activity 1.5: Cell 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28</cp:revision>
  <dcterms:created xsi:type="dcterms:W3CDTF">2020-11-04T15:22:46Z</dcterms:created>
  <dcterms:modified xsi:type="dcterms:W3CDTF">2021-02-22T16:21:31Z</dcterms:modified>
</cp:coreProperties>
</file>