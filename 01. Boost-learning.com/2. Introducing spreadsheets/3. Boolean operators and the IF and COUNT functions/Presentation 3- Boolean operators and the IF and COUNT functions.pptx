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4" r:id="rId10"/>
    <p:sldId id="275" r:id="rId11"/>
    <p:sldId id="265" r:id="rId12"/>
    <p:sldId id="27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3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4"/>
    <a:srgbClr val="BBE3FA"/>
    <a:srgbClr val="94C1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8E162879-1CE5-EF46-AF8E-A0A77F5B7A12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9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732" y="3010438"/>
            <a:ext cx="7062388" cy="91585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/>
              <a:t>Introducing spreadsheets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1235648" y="3926288"/>
            <a:ext cx="6640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94C11F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3: Boolean operators and the IF and COUNT functions</a:t>
            </a:r>
            <a:endParaRPr lang="en-GB" sz="2000" b="1" dirty="0">
              <a:solidFill>
                <a:srgbClr val="94C11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3DC8E-5658-4048-A4CA-3B474C3F7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068" y="2704324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704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35" y="832060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93635" y="2582614"/>
            <a:ext cx="1019417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</a:rPr>
              <a:t>In this lesson you will learn: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Boolean operators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how to write functions using </a:t>
            </a:r>
            <a:r>
              <a:rPr lang="en-GB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en-GB" sz="2400" dirty="0">
                <a:ea typeface="Times New Roman" panose="02020603050405020304" pitchFamily="18" charset="0"/>
                <a:cs typeface="Courier New" panose="02070309020205020404" pitchFamily="49" charset="0"/>
              </a:rPr>
              <a:t>how to write functions to </a:t>
            </a:r>
            <a:r>
              <a:rPr lang="en-GB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lang="en-GB" sz="2400" dirty="0">
                <a:ea typeface="Times New Roman" panose="02020603050405020304" pitchFamily="18" charset="0"/>
                <a:cs typeface="Courier New" panose="02070309020205020404" pitchFamily="49" charset="0"/>
              </a:rPr>
              <a:t> the number of items in a range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en-GB" sz="2400" dirty="0"/>
              <a:t>understand the difference between the </a:t>
            </a:r>
            <a:r>
              <a:rPr lang="en-GB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lang="en-GB" sz="2400" dirty="0"/>
              <a:t> and </a:t>
            </a:r>
            <a:r>
              <a:rPr lang="en-GB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COUNTA</a:t>
            </a:r>
            <a:r>
              <a:rPr lang="en-GB" sz="2400" dirty="0"/>
              <a:t> functions.</a:t>
            </a:r>
            <a:endParaRPr lang="en-GB" sz="2400" dirty="0"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8048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IF game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E82FA6-5603-4BD4-9E36-E74AE25714C0}"/>
              </a:ext>
            </a:extLst>
          </p:cNvPr>
          <p:cNvSpPr/>
          <p:nvPr/>
        </p:nvSpPr>
        <p:spPr>
          <a:xfrm>
            <a:off x="1580322" y="2075600"/>
            <a:ext cx="7379120" cy="3954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 up IF …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… you have a birthday in December.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 down IF …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… you have at least one sister.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 up IF …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… you like chocolate.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 your finger on your nose IF …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… you can explain an absolute cell reference.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133" y="829598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GB" b="1" dirty="0">
                <a:solidFill>
                  <a:schemeClr val="bg1"/>
                </a:solidFill>
              </a:rPr>
              <a:t>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A89C18-7EB8-4490-AC52-5CA9C854E544}"/>
              </a:ext>
            </a:extLst>
          </p:cNvPr>
          <p:cNvSpPr/>
          <p:nvPr/>
        </p:nvSpPr>
        <p:spPr>
          <a:xfrm>
            <a:off x="1578132" y="2445238"/>
            <a:ext cx="7733647" cy="2582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 is used to make choices.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has the following structure</a:t>
            </a:r>
            <a:r>
              <a:rPr lang="en-GB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80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GB" sz="2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IF( Question, Do this if True, Do this if False )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question is a </a:t>
            </a:r>
            <a:r>
              <a:rPr lang="en-GB" sz="28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logical test</a:t>
            </a:r>
            <a:r>
              <a:rPr lang="en-GB" sz="2800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GB" sz="28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logical expression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which the answer can be either True or False.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812" y="819659"/>
            <a:ext cx="9753599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Boolean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DB28B-D1BA-4A94-B334-2D089A499080}"/>
              </a:ext>
            </a:extLst>
          </p:cNvPr>
          <p:cNvSpPr/>
          <p:nvPr/>
        </p:nvSpPr>
        <p:spPr>
          <a:xfrm>
            <a:off x="1591812" y="1960468"/>
            <a:ext cx="8667924" cy="545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logical test in an </a:t>
            </a:r>
            <a:r>
              <a:rPr lang="en-GB" sz="2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 uses </a:t>
            </a:r>
            <a:r>
              <a:rPr lang="en-GB" sz="28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 operators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1E770C-B002-4889-B14E-24C0865A2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209441"/>
              </p:ext>
            </p:extLst>
          </p:nvPr>
        </p:nvGraphicFramePr>
        <p:xfrm>
          <a:off x="3755734" y="2980078"/>
          <a:ext cx="4680532" cy="2743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73791">
                  <a:extLst>
                    <a:ext uri="{9D8B030D-6E8A-4147-A177-3AD203B41FA5}">
                      <a16:colId xmlns:a16="http://schemas.microsoft.com/office/drawing/2014/main" val="3334675808"/>
                    </a:ext>
                  </a:extLst>
                </a:gridCol>
                <a:gridCol w="3606741">
                  <a:extLst>
                    <a:ext uri="{9D8B030D-6E8A-4147-A177-3AD203B41FA5}">
                      <a16:colId xmlns:a16="http://schemas.microsoft.com/office/drawing/2014/main" val="2431280689"/>
                    </a:ext>
                  </a:extLst>
                </a:gridCol>
              </a:tblGrid>
              <a:tr h="363888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greater than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36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less than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57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equal to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853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greater than or equal to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98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less than or equal to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599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not equal to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25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EFB06143-8D42-4ACD-A285-7F4A6ED28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095" y="3150986"/>
            <a:ext cx="5577483" cy="2961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442" y="834887"/>
            <a:ext cx="979335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Using the 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GB" b="1" dirty="0">
                <a:solidFill>
                  <a:schemeClr val="bg1"/>
                </a:solidFill>
              </a:rPr>
              <a:t>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3C4E5D-C0D2-4FDE-A0EF-618788D0C5AD}"/>
              </a:ext>
            </a:extLst>
          </p:cNvPr>
          <p:cNvSpPr txBox="1"/>
          <p:nvPr/>
        </p:nvSpPr>
        <p:spPr>
          <a:xfrm>
            <a:off x="1859736" y="2040735"/>
            <a:ext cx="1233182" cy="369332"/>
          </a:xfrm>
          <a:prstGeom prst="rect">
            <a:avLst/>
          </a:prstGeom>
          <a:solidFill>
            <a:srgbClr val="BBE3F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Logical test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B258D0-7DC7-453C-9250-7F2B871BC4D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092918" y="2225401"/>
            <a:ext cx="1745919" cy="101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340ACB4-2CFD-4A2F-9F2A-04E38273CAE0}"/>
              </a:ext>
            </a:extLst>
          </p:cNvPr>
          <p:cNvSpPr/>
          <p:nvPr/>
        </p:nvSpPr>
        <p:spPr>
          <a:xfrm>
            <a:off x="3690833" y="1889922"/>
            <a:ext cx="4364913" cy="369332"/>
          </a:xfrm>
          <a:prstGeom prst="rect">
            <a:avLst/>
          </a:prstGeom>
          <a:solidFill>
            <a:srgbClr val="BBE3FA"/>
          </a:solidFill>
        </p:spPr>
        <p:txBody>
          <a:bodyPr wrap="non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Value to be returned if the condition is True</a:t>
            </a:r>
            <a:endParaRPr lang="en-GB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5BB580-E3A7-4A8D-9358-45A9DD566D8B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5436752" y="2259254"/>
            <a:ext cx="436538" cy="977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E5D2EB3-D1C6-44B5-9149-125180B6FBEA}"/>
              </a:ext>
            </a:extLst>
          </p:cNvPr>
          <p:cNvSpPr/>
          <p:nvPr/>
        </p:nvSpPr>
        <p:spPr>
          <a:xfrm>
            <a:off x="8153241" y="2259254"/>
            <a:ext cx="2435192" cy="646331"/>
          </a:xfrm>
          <a:prstGeom prst="rect">
            <a:avLst/>
          </a:prstGeom>
          <a:solidFill>
            <a:srgbClr val="BBE3FA"/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Value to be returned if the condition is False </a:t>
            </a:r>
            <a:endParaRPr lang="en-GB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3C5FC52-C86C-468F-8A89-6F30FF6634B4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5996539" y="2582420"/>
            <a:ext cx="2156702" cy="654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8A38111-0AD0-45B2-8859-80E5E1F1A1E0}"/>
              </a:ext>
            </a:extLst>
          </p:cNvPr>
          <p:cNvSpPr/>
          <p:nvPr/>
        </p:nvSpPr>
        <p:spPr>
          <a:xfrm>
            <a:off x="8654442" y="4154454"/>
            <a:ext cx="19339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tabLst>
                <a:tab pos="5727700" algn="r"/>
              </a:tabLst>
            </a:pPr>
            <a:r>
              <a:rPr lang="en-GB" sz="2800" i="1" dirty="0">
                <a:latin typeface="Calibri" panose="020F0502020204030204" pitchFamily="34" charset="0"/>
                <a:ea typeface="Times New Roman" panose="02020603050405020304" pitchFamily="18" charset="0"/>
              </a:rPr>
              <a:t>Now watch video 3.1</a:t>
            </a:r>
            <a:endParaRPr lang="en-GB" sz="2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00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824949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3.1: Test marks 1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7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15009"/>
            <a:ext cx="9753600" cy="87567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COUNTIF</a:t>
            </a:r>
            <a:r>
              <a:rPr lang="en-GB" b="1" dirty="0">
                <a:solidFill>
                  <a:schemeClr val="bg1"/>
                </a:solidFill>
              </a:rPr>
              <a:t> function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EF0892-F969-4C40-A773-C7BE5EF20E8F}"/>
              </a:ext>
            </a:extLst>
          </p:cNvPr>
          <p:cNvSpPr/>
          <p:nvPr/>
        </p:nvSpPr>
        <p:spPr>
          <a:xfrm>
            <a:off x="1600199" y="2146433"/>
            <a:ext cx="9122344" cy="3148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COUNTIF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 counts the number of cells in a selected range that meet a specific criterion.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has the following structure: </a:t>
            </a: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GB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COUNTIF</a:t>
            </a: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 Range, Criterion )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range selects the cells to be checked.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4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criterion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condition that determines which cells will be counted. It can be a number, a mathematical expression or text that needs to be matched.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4893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7C2D-0665-4934-9161-95808A93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138" y="774303"/>
            <a:ext cx="9743661" cy="916385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Using the 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COUNTIF</a:t>
            </a:r>
            <a:r>
              <a:rPr lang="en-GB" b="1" dirty="0">
                <a:solidFill>
                  <a:schemeClr val="bg1"/>
                </a:solidFill>
              </a:rPr>
              <a:t> function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3FE2EE-46E4-40C6-AD34-A9E6339EEC9E}"/>
              </a:ext>
            </a:extLst>
          </p:cNvPr>
          <p:cNvSpPr/>
          <p:nvPr/>
        </p:nvSpPr>
        <p:spPr>
          <a:xfrm>
            <a:off x="3047998" y="4862198"/>
            <a:ext cx="6096000" cy="97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find out how many students got a B- use: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GB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COUNTIF</a:t>
            </a: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 </a:t>
            </a:r>
            <a:r>
              <a:rPr lang="en-GB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B2:B5</a:t>
            </a: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"B-" 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CC893-2654-4711-A9D2-C338F35D4054}"/>
              </a:ext>
            </a:extLst>
          </p:cNvPr>
          <p:cNvSpPr/>
          <p:nvPr/>
        </p:nvSpPr>
        <p:spPr>
          <a:xfrm>
            <a:off x="4257311" y="5941197"/>
            <a:ext cx="3677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tabLst>
                <a:tab pos="5727700" algn="r"/>
              </a:tabLst>
            </a:pPr>
            <a:r>
              <a:rPr lang="en-GB" sz="2800" i="1" dirty="0">
                <a:latin typeface="Calibri" panose="020F0502020204030204" pitchFamily="34" charset="0"/>
                <a:ea typeface="Times New Roman" panose="02020603050405020304" pitchFamily="18" charset="0"/>
              </a:rPr>
              <a:t>Now watch video 3.2</a:t>
            </a:r>
            <a:endParaRPr lang="en-GB" sz="2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63162813-DD92-4D5D-8EC5-8A42D2530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999" y="1976761"/>
            <a:ext cx="5793998" cy="281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9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844198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3.2: Test marks 2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77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ADEC-A2F9-49DF-85E0-654131E2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24948"/>
            <a:ext cx="9763539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GB" b="1" dirty="0">
                <a:solidFill>
                  <a:schemeClr val="bg1"/>
                </a:solidFill>
              </a:rPr>
              <a:t> function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B750E-5E0C-4529-BD8E-89BB42A15FC0}"/>
              </a:ext>
            </a:extLst>
          </p:cNvPr>
          <p:cNvSpPr/>
          <p:nvPr/>
        </p:nvSpPr>
        <p:spPr>
          <a:xfrm>
            <a:off x="1590260" y="2627697"/>
            <a:ext cx="4164588" cy="2176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3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 counts the number of cells in a selected range that contain a number.</a:t>
            </a: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Graphical user interface, text, application, table&#10;&#10;Description automatically generated">
            <a:extLst>
              <a:ext uri="{FF2B5EF4-FFF2-40B4-BE49-F238E27FC236}">
                <a16:creationId xmlns:a16="http://schemas.microsoft.com/office/drawing/2014/main" id="{FA0D770E-0B29-44E1-A84C-A8193B47F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2120062"/>
            <a:ext cx="5499707" cy="31920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1AE4F8-2733-43B7-96D5-73A02875BC49}"/>
              </a:ext>
            </a:extLst>
          </p:cNvPr>
          <p:cNvSpPr/>
          <p:nvPr/>
        </p:nvSpPr>
        <p:spPr>
          <a:xfrm>
            <a:off x="4257310" y="5741456"/>
            <a:ext cx="3677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tabLst>
                <a:tab pos="5727700" algn="r"/>
              </a:tabLst>
            </a:pPr>
            <a:r>
              <a:rPr lang="en-GB" sz="2800" i="1" dirty="0">
                <a:latin typeface="Calibri" panose="020F0502020204030204" pitchFamily="34" charset="0"/>
                <a:ea typeface="Times New Roman" panose="02020603050405020304" pitchFamily="18" charset="0"/>
              </a:rPr>
              <a:t>Now watch video 3.3</a:t>
            </a:r>
            <a:endParaRPr lang="en-GB" sz="2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96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ADEC-A2F9-49DF-85E0-654131E2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24948"/>
            <a:ext cx="9763539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COUNTA</a:t>
            </a:r>
            <a:r>
              <a:rPr lang="en-GB" b="1" dirty="0">
                <a:solidFill>
                  <a:schemeClr val="bg1"/>
                </a:solidFill>
              </a:rPr>
              <a:t> function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B750E-5E0C-4529-BD8E-89BB42A15FC0}"/>
              </a:ext>
            </a:extLst>
          </p:cNvPr>
          <p:cNvSpPr/>
          <p:nvPr/>
        </p:nvSpPr>
        <p:spPr>
          <a:xfrm>
            <a:off x="1590260" y="2414231"/>
            <a:ext cx="4136772" cy="2703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32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COUNTA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 counts the number of cells in a selected range that contain a value (text or a number).</a:t>
            </a: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7E5ED9-9EF5-4DB2-AF15-685A7E8C64B7}"/>
              </a:ext>
            </a:extLst>
          </p:cNvPr>
          <p:cNvSpPr/>
          <p:nvPr/>
        </p:nvSpPr>
        <p:spPr>
          <a:xfrm>
            <a:off x="4257309" y="5841464"/>
            <a:ext cx="3677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tabLst>
                <a:tab pos="5727700" algn="r"/>
              </a:tabLst>
            </a:pPr>
            <a:r>
              <a:rPr lang="en-GB" sz="2800" i="1" dirty="0">
                <a:latin typeface="Calibri" panose="020F0502020204030204" pitchFamily="34" charset="0"/>
                <a:ea typeface="Times New Roman" panose="02020603050405020304" pitchFamily="18" charset="0"/>
              </a:rPr>
              <a:t>Now watch video 3.4</a:t>
            </a:r>
            <a:endParaRPr lang="en-GB" sz="2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9D52526-0F97-414D-901C-A2744B2EA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6" y="2317940"/>
            <a:ext cx="5029357" cy="2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5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844198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3.3: </a:t>
            </a:r>
            <a:r>
              <a:rPr lang="en-GB" b="1" dirty="0" err="1">
                <a:solidFill>
                  <a:schemeClr val="bg1"/>
                </a:solidFill>
              </a:rPr>
              <a:t>Ifcity</a:t>
            </a:r>
            <a:r>
              <a:rPr lang="en-GB" b="1" dirty="0">
                <a:solidFill>
                  <a:schemeClr val="bg1"/>
                </a:solidFill>
              </a:rPr>
              <a:t> Zoo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77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352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Introducing spreadsheets</vt:lpstr>
      <vt:lpstr>Objectives</vt:lpstr>
      <vt:lpstr>The IF game</vt:lpstr>
      <vt:lpstr>The IF function</vt:lpstr>
      <vt:lpstr>Boolean operators</vt:lpstr>
      <vt:lpstr>Using the IF function</vt:lpstr>
      <vt:lpstr>Activity 3.1: Test marks 1</vt:lpstr>
      <vt:lpstr>The COUNTIF function</vt:lpstr>
      <vt:lpstr>Using the COUNTIF function</vt:lpstr>
      <vt:lpstr>Activity 3.2: Test marks 2</vt:lpstr>
      <vt:lpstr>The COUNT function</vt:lpstr>
      <vt:lpstr>The COUNTA function</vt:lpstr>
      <vt:lpstr>Activity 3.3: Ifcity Zoo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27</cp:revision>
  <dcterms:created xsi:type="dcterms:W3CDTF">2020-11-04T15:22:46Z</dcterms:created>
  <dcterms:modified xsi:type="dcterms:W3CDTF">2021-02-24T14:25:16Z</dcterms:modified>
</cp:coreProperties>
</file>