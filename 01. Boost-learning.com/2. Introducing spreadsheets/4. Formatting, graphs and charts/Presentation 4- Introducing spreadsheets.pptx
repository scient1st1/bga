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58" r:id="rId4"/>
    <p:sldId id="259" r:id="rId5"/>
    <p:sldId id="260" r:id="rId6"/>
    <p:sldId id="274" r:id="rId7"/>
    <p:sldId id="261" r:id="rId8"/>
    <p:sldId id="275" r:id="rId9"/>
    <p:sldId id="262" r:id="rId10"/>
    <p:sldId id="264" r:id="rId11"/>
    <p:sldId id="265" r:id="rId12"/>
    <p:sldId id="280" r:id="rId13"/>
    <p:sldId id="279" r:id="rId14"/>
    <p:sldId id="281" r:id="rId15"/>
    <p:sldId id="282" r:id="rId16"/>
    <p:sldId id="28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BBE3FA"/>
    <a:srgbClr val="94C1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0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24/02/2021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8E162879-1CE5-EF46-AF8E-A0A77F5B7A12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9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3732" y="3010438"/>
            <a:ext cx="7062388" cy="915850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Introducing spreadsheets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3473120" y="3926288"/>
            <a:ext cx="440300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4: Formatting, graphs and charts</a:t>
            </a:r>
            <a:endParaRPr lang="en-GB" sz="2000" b="1" dirty="0">
              <a:solidFill>
                <a:srgbClr val="94C11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3DC8E-5658-4048-A4CA-3B474C3F7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068" y="2704324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704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35" y="832060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93635" y="2397948"/>
            <a:ext cx="1012460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 you will learn:</a:t>
            </a:r>
          </a:p>
          <a:p>
            <a:pPr marL="342900" indent="-342900">
              <a:buFont typeface="Symbol" panose="05050102010706020507" pitchFamily="18" charset="2"/>
              <a:buChar char=""/>
            </a:pPr>
            <a:r>
              <a:rPr lang="en-GB" sz="2400" dirty="0">
                <a:solidFill>
                  <a:prstClr val="black"/>
                </a:solidFill>
              </a:rPr>
              <a:t>about different types of formatting</a:t>
            </a:r>
          </a:p>
          <a:p>
            <a:pPr marL="342900" indent="-342900"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to format cells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how to add conditional formatting to a spreadsheet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the uses of different types of graph and chart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how to create graphs and charts in spreadsheets.</a:t>
            </a:r>
            <a:endParaRPr lang="en-GB" sz="2400" dirty="0"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F35BE9-619F-BD40-BA88-C160DD339BF4}"/>
              </a:ext>
            </a:extLst>
          </p:cNvPr>
          <p:cNvSpPr txBox="1"/>
          <p:nvPr/>
        </p:nvSpPr>
        <p:spPr>
          <a:xfrm>
            <a:off x="1610139" y="803998"/>
            <a:ext cx="379661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prstClr val="white"/>
                </a:solidFill>
                <a:latin typeface="Calibri Light" panose="020F0302020204030204"/>
                <a:ea typeface="+mj-ea"/>
                <a:cs typeface="+mj-cs"/>
              </a:rPr>
              <a:t>Formatting cells</a:t>
            </a:r>
            <a:endParaRPr lang="en-US" dirty="0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FC2233C6-2DB6-4728-9EDA-4CB83E2B5E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706" y="2606246"/>
            <a:ext cx="8712587" cy="287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BF697A-E420-E24D-AC86-5ADEE6A53042}"/>
              </a:ext>
            </a:extLst>
          </p:cNvPr>
          <p:cNvSpPr txBox="1"/>
          <p:nvPr/>
        </p:nvSpPr>
        <p:spPr>
          <a:xfrm>
            <a:off x="1620077" y="844826"/>
            <a:ext cx="379661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GB" sz="4400" b="1" dirty="0">
                <a:solidFill>
                  <a:prstClr val="white"/>
                </a:solidFill>
                <a:latin typeface="Calibri Light" panose="020F0302020204030204"/>
              </a:rPr>
              <a:t>Formatting cells</a:t>
            </a:r>
            <a:endParaRPr lang="en-US" dirty="0">
              <a:solidFill>
                <a:prstClr val="black"/>
              </a:solidFill>
            </a:endParaRPr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E8DC4702-C81D-4EF2-BA3E-8612AE3F6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705" y="2463156"/>
            <a:ext cx="8900589" cy="327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812" y="819659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Formatting cells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8BB80F-9DB4-4B21-A291-18317B68BF00}"/>
              </a:ext>
            </a:extLst>
          </p:cNvPr>
          <p:cNvSpPr/>
          <p:nvPr/>
        </p:nvSpPr>
        <p:spPr>
          <a:xfrm>
            <a:off x="1591811" y="2117557"/>
            <a:ext cx="9053729" cy="256660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Formatting cells helps to make a spreadsheet easier to read.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can change the: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can format cells using the tools in the ribbon on the Home tab.</a:t>
            </a:r>
          </a:p>
        </p:txBody>
      </p:sp>
      <p:pic>
        <p:nvPicPr>
          <p:cNvPr id="4" name="Picture 3" descr="Graphical user interface, application, Word&#10;&#10;Description automatically generated">
            <a:extLst>
              <a:ext uri="{FF2B5EF4-FFF2-40B4-BE49-F238E27FC236}">
                <a16:creationId xmlns:a16="http://schemas.microsoft.com/office/drawing/2014/main" id="{926B86E6-3225-41B6-B68F-382552A6D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051" y="4915051"/>
            <a:ext cx="6423451" cy="128469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74A1939-FDF8-46AC-983B-D1A86054A88F}"/>
              </a:ext>
            </a:extLst>
          </p:cNvPr>
          <p:cNvSpPr/>
          <p:nvPr/>
        </p:nvSpPr>
        <p:spPr>
          <a:xfrm>
            <a:off x="1591811" y="3117252"/>
            <a:ext cx="7301932" cy="1152000"/>
          </a:xfrm>
          <a:prstGeom prst="rect">
            <a:avLst/>
          </a:prstGeom>
        </p:spPr>
        <p:txBody>
          <a:bodyPr wrap="square" numCol="2">
            <a:noAutofit/>
          </a:bodyPr>
          <a:lstStyle/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font, text size and text colour</a:t>
            </a:r>
          </a:p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fill colour</a:t>
            </a:r>
          </a:p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number format</a:t>
            </a:r>
          </a:p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text alignment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684CA4-85FC-4D41-95FB-8C7FB7407293}"/>
              </a:ext>
            </a:extLst>
          </p:cNvPr>
          <p:cNvSpPr/>
          <p:nvPr/>
        </p:nvSpPr>
        <p:spPr>
          <a:xfrm>
            <a:off x="9411420" y="3429000"/>
            <a:ext cx="193399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4.1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4.1: Formatting practice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874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442" y="834887"/>
            <a:ext cx="9793357" cy="85580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Conditional formatting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2F4622-9E9F-428E-B2CE-0542DC909A46}"/>
              </a:ext>
            </a:extLst>
          </p:cNvPr>
          <p:cNvSpPr/>
          <p:nvPr/>
        </p:nvSpPr>
        <p:spPr>
          <a:xfrm>
            <a:off x="1560441" y="1916256"/>
            <a:ext cx="7249574" cy="7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Conditional formatting allows you to alter the appearance of a cell depending on the value it contains.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F7A13F-C198-47E9-BFD8-144098D3A1B4}"/>
              </a:ext>
            </a:extLst>
          </p:cNvPr>
          <p:cNvSpPr/>
          <p:nvPr/>
        </p:nvSpPr>
        <p:spPr>
          <a:xfrm>
            <a:off x="1560441" y="4843045"/>
            <a:ext cx="9575987" cy="7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Here, conditional formatting has been applied to column C so that any cell containing a number:</a:t>
            </a:r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43FE88A9-F35F-4EE8-B965-AC745DB30F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656" y="2754781"/>
            <a:ext cx="5203569" cy="198609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8FC50A4-C692-4B1F-B01C-412965B79794}"/>
              </a:ext>
            </a:extLst>
          </p:cNvPr>
          <p:cNvSpPr/>
          <p:nvPr/>
        </p:nvSpPr>
        <p:spPr>
          <a:xfrm>
            <a:off x="8251353" y="3168938"/>
            <a:ext cx="193399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4.2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D12FC8-077D-4464-9A6C-4097A9D5BAC7}"/>
              </a:ext>
            </a:extLst>
          </p:cNvPr>
          <p:cNvSpPr/>
          <p:nvPr/>
        </p:nvSpPr>
        <p:spPr>
          <a:xfrm>
            <a:off x="1560441" y="5579400"/>
            <a:ext cx="9071118" cy="720000"/>
          </a:xfrm>
          <a:prstGeom prst="rect">
            <a:avLst/>
          </a:prstGeom>
        </p:spPr>
        <p:txBody>
          <a:bodyPr wrap="square" numCol="2">
            <a:noAutofit/>
          </a:bodyPr>
          <a:lstStyle/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greater than 10 has a green fill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Calibri" panose="020F0502020204030204" pitchFamily="34" charset="0"/>
              <a:buChar char="•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less than 8 has a red fill.</a:t>
            </a:r>
          </a:p>
        </p:txBody>
      </p:sp>
    </p:spTree>
    <p:extLst>
      <p:ext uri="{BB962C8B-B14F-4D97-AF65-F5344CB8AC3E}">
        <p14:creationId xmlns:p14="http://schemas.microsoft.com/office/powerpoint/2010/main" val="3615003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44198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Activities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9632" y="1976653"/>
            <a:ext cx="4587567" cy="44948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857C9E7-CDEF-4037-97F0-2CE2B063A263}"/>
              </a:ext>
            </a:extLst>
          </p:cNvPr>
          <p:cNvSpPr/>
          <p:nvPr/>
        </p:nvSpPr>
        <p:spPr>
          <a:xfrm>
            <a:off x="7325106" y="3394006"/>
            <a:ext cx="3277262" cy="1660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Activity 4.2: Picture 1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Activity 4.3: Picture 2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Activity 4.4: Picture 3</a:t>
            </a:r>
          </a:p>
        </p:txBody>
      </p:sp>
    </p:spTree>
    <p:extLst>
      <p:ext uri="{BB962C8B-B14F-4D97-AF65-F5344CB8AC3E}">
        <p14:creationId xmlns:p14="http://schemas.microsoft.com/office/powerpoint/2010/main" val="1766377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15009"/>
            <a:ext cx="9753600" cy="87567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Graphs and charts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923171-FB70-462B-9FB7-C3B1460A327A}"/>
              </a:ext>
            </a:extLst>
          </p:cNvPr>
          <p:cNvSpPr/>
          <p:nvPr/>
        </p:nvSpPr>
        <p:spPr>
          <a:xfrm>
            <a:off x="1600200" y="2536281"/>
            <a:ext cx="8544827" cy="25821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Graphs and charts give a visual representation of data.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Presenting data in graphs or charts can make it easier to understand or interpret.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There are several different types of graph and chart and each is designed to display different types of data.</a:t>
            </a:r>
          </a:p>
        </p:txBody>
      </p:sp>
    </p:spTree>
    <p:extLst>
      <p:ext uri="{BB962C8B-B14F-4D97-AF65-F5344CB8AC3E}">
        <p14:creationId xmlns:p14="http://schemas.microsoft.com/office/powerpoint/2010/main" val="1548936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F7C2D-0665-4934-9161-95808A939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8" y="774303"/>
            <a:ext cx="9743661" cy="916385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Bar chart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9609F-EEB4-4FDC-831B-7AF9759557B1}"/>
              </a:ext>
            </a:extLst>
          </p:cNvPr>
          <p:cNvSpPr/>
          <p:nvPr/>
        </p:nvSpPr>
        <p:spPr>
          <a:xfrm>
            <a:off x="1610138" y="2001585"/>
            <a:ext cx="9421174" cy="8007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GB" sz="2200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bar chart 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allows you to </a:t>
            </a:r>
            <a:r>
              <a:rPr lang="en-GB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compare categories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of data that are not directly related, for example, the reasons why students were late arriving at school: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3D3539-5038-497B-BE61-E5FA7496023A}"/>
              </a:ext>
            </a:extLst>
          </p:cNvPr>
          <p:cNvSpPr/>
          <p:nvPr/>
        </p:nvSpPr>
        <p:spPr>
          <a:xfrm>
            <a:off x="7498079" y="3623186"/>
            <a:ext cx="3533233" cy="86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It is best to use a bar chart when the labels are long.</a:t>
            </a:r>
          </a:p>
        </p:txBody>
      </p:sp>
      <p:pic>
        <p:nvPicPr>
          <p:cNvPr id="5" name="Picture 4" descr="Chart, timeline, bar chart&#10;&#10;Description automatically generated">
            <a:extLst>
              <a:ext uri="{FF2B5EF4-FFF2-40B4-BE49-F238E27FC236}">
                <a16:creationId xmlns:a16="http://schemas.microsoft.com/office/drawing/2014/main" id="{29AC9E90-D9C6-4FC6-B67F-EA04FDEE3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138" y="3113279"/>
            <a:ext cx="5794261" cy="275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592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86D021F-2A6F-4EC5-9588-6D11FB151B21}"/>
              </a:ext>
            </a:extLst>
          </p:cNvPr>
          <p:cNvSpPr/>
          <p:nvPr/>
        </p:nvSpPr>
        <p:spPr>
          <a:xfrm>
            <a:off x="1272209" y="2213147"/>
            <a:ext cx="4685829" cy="3541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GB" sz="2200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chart 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essentially the same as a bar chart, but the data is shown using vertical bars.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and bar charts allow you to see similarities and differences in the data.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create a bar chart or column chart, select the data on the spreadsheet, go to the Insert tab and then choose the type of chart you require.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6ADEC-A2F9-49DF-85E0-654131E26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24948"/>
            <a:ext cx="9763539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Column chart</a:t>
            </a:r>
          </a:p>
        </p:txBody>
      </p:sp>
      <p:pic>
        <p:nvPicPr>
          <p:cNvPr id="4" name="Picture 3" descr="Chart, bar chart&#10;&#10;Description automatically generated">
            <a:extLst>
              <a:ext uri="{FF2B5EF4-FFF2-40B4-BE49-F238E27FC236}">
                <a16:creationId xmlns:a16="http://schemas.microsoft.com/office/drawing/2014/main" id="{CF4073C7-B8AF-4A19-9224-D8A6D9021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213147"/>
            <a:ext cx="5428268" cy="295235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281F34B-B53F-4621-A30A-232DC20E4B3E}"/>
              </a:ext>
            </a:extLst>
          </p:cNvPr>
          <p:cNvSpPr/>
          <p:nvPr/>
        </p:nvSpPr>
        <p:spPr>
          <a:xfrm>
            <a:off x="7253063" y="5509832"/>
            <a:ext cx="325834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4.3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962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44198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4.5: Temperature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77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ADEC-A2F9-49DF-85E0-654131E26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24948"/>
            <a:ext cx="9763539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Pie chart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63F4A6-4A69-49F0-98FE-7B00D70A8793}"/>
              </a:ext>
            </a:extLst>
          </p:cNvPr>
          <p:cNvSpPr/>
          <p:nvPr/>
        </p:nvSpPr>
        <p:spPr>
          <a:xfrm>
            <a:off x="1590260" y="2112144"/>
            <a:ext cx="4505740" cy="30200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GB" sz="2200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 chart 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shows the individual parts that make up a whole.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They are useful to show percentages.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 charts are created in a similar way to bar and column charts.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Select the data on the spreadsheet, go to the Insert tab and select Pie from the recommended charts.</a:t>
            </a:r>
          </a:p>
        </p:txBody>
      </p:sp>
      <p:pic>
        <p:nvPicPr>
          <p:cNvPr id="5" name="Picture 4" descr="Chart, pie chart&#10;&#10;Description automatically generated">
            <a:extLst>
              <a:ext uri="{FF2B5EF4-FFF2-40B4-BE49-F238E27FC236}">
                <a16:creationId xmlns:a16="http://schemas.microsoft.com/office/drawing/2014/main" id="{79B4E13D-86E6-4779-881A-36C9CBBD2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12144"/>
            <a:ext cx="5378588" cy="33147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6FF560B-F4F1-46A7-BE40-6D58A5A9F76A}"/>
              </a:ext>
            </a:extLst>
          </p:cNvPr>
          <p:cNvSpPr/>
          <p:nvPr/>
        </p:nvSpPr>
        <p:spPr>
          <a:xfrm>
            <a:off x="4466829" y="5848385"/>
            <a:ext cx="325834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4.4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145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44198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4.6: Travel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007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ADEC-A2F9-49DF-85E0-654131E26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24948"/>
            <a:ext cx="9763539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Line graph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8CBF6E-6ACF-4C6C-9338-14AFF7F80A07}"/>
              </a:ext>
            </a:extLst>
          </p:cNvPr>
          <p:cNvSpPr/>
          <p:nvPr/>
        </p:nvSpPr>
        <p:spPr>
          <a:xfrm>
            <a:off x="1282149" y="1982668"/>
            <a:ext cx="9863906" cy="9033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GB" sz="2200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 graph</a:t>
            </a:r>
            <a:r>
              <a:rPr lang="en-GB" sz="2200" dirty="0">
                <a:solidFill>
                  <a:srgbClr val="C4591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used when you want to show how something has </a:t>
            </a:r>
            <a:r>
              <a:rPr lang="en-GB" sz="22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changed over time</a:t>
            </a: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example, a single line to plot the results of an experiment: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9D3CC4-719B-4A93-BB3A-B2CA8D76DF24}"/>
              </a:ext>
            </a:extLst>
          </p:cNvPr>
          <p:cNvSpPr/>
          <p:nvPr/>
        </p:nvSpPr>
        <p:spPr>
          <a:xfrm>
            <a:off x="6642099" y="3429000"/>
            <a:ext cx="4711700" cy="1561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create a line graph, select the data on the spreadsheet, go to the Insert tab and chose the most appropriate graph from the recommended charts. Depending on the data, this may be a line graph or a scatter graph.</a:t>
            </a:r>
          </a:p>
        </p:txBody>
      </p:sp>
      <p:pic>
        <p:nvPicPr>
          <p:cNvPr id="4" name="Picture 3" descr="Chart, line chart&#10;&#10;Description automatically generated">
            <a:extLst>
              <a:ext uri="{FF2B5EF4-FFF2-40B4-BE49-F238E27FC236}">
                <a16:creationId xmlns:a16="http://schemas.microsoft.com/office/drawing/2014/main" id="{F2165989-E164-4398-8E53-665CA2765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2149" y="3036660"/>
            <a:ext cx="4813851" cy="281833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B14BECE-4CE2-480B-94A7-C67F94BD52F5}"/>
              </a:ext>
            </a:extLst>
          </p:cNvPr>
          <p:cNvSpPr/>
          <p:nvPr/>
        </p:nvSpPr>
        <p:spPr>
          <a:xfrm>
            <a:off x="4466829" y="6017951"/>
            <a:ext cx="325834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4.5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442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44198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4.7: Height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819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507</Words>
  <Application>Microsoft Office PowerPoint</Application>
  <PresentationFormat>Widescreen</PresentationFormat>
  <Paragraphs>61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Symbol</vt:lpstr>
      <vt:lpstr>Times New Roman</vt:lpstr>
      <vt:lpstr>Office Theme</vt:lpstr>
      <vt:lpstr>Introducing spreadsheets</vt:lpstr>
      <vt:lpstr>Objectives</vt:lpstr>
      <vt:lpstr>PowerPoint Presentation</vt:lpstr>
      <vt:lpstr>PowerPoint Presentation</vt:lpstr>
      <vt:lpstr>Formatting cells</vt:lpstr>
      <vt:lpstr>Activity 4.1: Formatting practice</vt:lpstr>
      <vt:lpstr>Conditional formatting</vt:lpstr>
      <vt:lpstr>Activities</vt:lpstr>
      <vt:lpstr>Graphs and charts</vt:lpstr>
      <vt:lpstr>Bar chart</vt:lpstr>
      <vt:lpstr>Column chart</vt:lpstr>
      <vt:lpstr>Activity 4.5: Temperature</vt:lpstr>
      <vt:lpstr>Pie chart</vt:lpstr>
      <vt:lpstr>Activity 4.6: Travel</vt:lpstr>
      <vt:lpstr>Line graph</vt:lpstr>
      <vt:lpstr>Activity 4.7: Height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40</cp:revision>
  <dcterms:created xsi:type="dcterms:W3CDTF">2020-11-04T15:22:46Z</dcterms:created>
  <dcterms:modified xsi:type="dcterms:W3CDTF">2021-02-24T16:49:39Z</dcterms:modified>
</cp:coreProperties>
</file>