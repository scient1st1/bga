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3" r:id="rId4"/>
    <p:sldId id="258" r:id="rId5"/>
    <p:sldId id="274" r:id="rId6"/>
    <p:sldId id="281" r:id="rId7"/>
    <p:sldId id="275" r:id="rId8"/>
    <p:sldId id="276" r:id="rId9"/>
    <p:sldId id="282" r:id="rId10"/>
    <p:sldId id="283" r:id="rId11"/>
    <p:sldId id="284" r:id="rId12"/>
    <p:sldId id="278" r:id="rId13"/>
    <p:sldId id="285" r:id="rId14"/>
    <p:sldId id="28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a Albrechtsen" initials="LA" lastIdx="2" clrIdx="0">
    <p:extLst>
      <p:ext uri="{19B8F6BF-5375-455C-9EA6-DF929625EA0E}">
        <p15:presenceInfo xmlns:p15="http://schemas.microsoft.com/office/powerpoint/2012/main" userId="S::Lea.Albrechtsen@hoddereducation.co.uk::4df490f3-5904-4e82-a5b6-23281874b6f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636" autoAdjust="0"/>
    <p:restoredTop sz="94660"/>
  </p:normalViewPr>
  <p:slideViewPr>
    <p:cSldViewPr snapToGrid="0">
      <p:cViewPr varScale="1">
        <p:scale>
          <a:sx n="66" d="100"/>
          <a:sy n="66" d="100"/>
        </p:scale>
        <p:origin x="62" y="1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F7712-1F3B-4253-AEF1-0FE171523E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DC14F2F-A2B8-4861-8B33-2CF08A1C25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3137814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60902-80CF-4DD3-B59F-8E58611CF13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B756315-CBCB-4124-93B3-3DEF3C56BD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DFA47B5-60C4-46E0-B317-50F50E6D8572}"/>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01/10/2024</a:t>
            </a:fld>
            <a:endParaRPr lang="en-GB"/>
          </a:p>
        </p:txBody>
      </p:sp>
      <p:sp>
        <p:nvSpPr>
          <p:cNvPr id="5" name="Footer Placeholder 4">
            <a:extLst>
              <a:ext uri="{FF2B5EF4-FFF2-40B4-BE49-F238E27FC236}">
                <a16:creationId xmlns:a16="http://schemas.microsoft.com/office/drawing/2014/main" id="{5F049A0D-7474-4882-A51A-CF35E154FD23}"/>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99F5A12C-5BED-457E-A6CE-2E58C8D0DEDC}"/>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3323353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C2461-8DBB-43F0-A3AC-126E643979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596A727-278D-4E57-850B-78E0D727C72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41C733-75AA-40FE-8179-B58FA4EA5EED}"/>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01/10/2024</a:t>
            </a:fld>
            <a:endParaRPr lang="en-GB"/>
          </a:p>
        </p:txBody>
      </p:sp>
      <p:sp>
        <p:nvSpPr>
          <p:cNvPr id="5" name="Footer Placeholder 4">
            <a:extLst>
              <a:ext uri="{FF2B5EF4-FFF2-40B4-BE49-F238E27FC236}">
                <a16:creationId xmlns:a16="http://schemas.microsoft.com/office/drawing/2014/main" id="{FB8C4D2E-FA87-41DA-961F-7D250DD08DA8}"/>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BF020F2E-2A86-4F16-B83F-E86E7319950C}"/>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361104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5B458-3AE6-4C21-BEBE-F7B76061980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32FF206-47D4-451B-80B7-578E10A3E6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1D2DF79-B13E-46C5-AAA1-F49C3BABAB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F199702-3758-423C-8C91-550D5C885DF9}"/>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01/10/2024</a:t>
            </a:fld>
            <a:endParaRPr lang="en-GB"/>
          </a:p>
        </p:txBody>
      </p:sp>
      <p:sp>
        <p:nvSpPr>
          <p:cNvPr id="6" name="Footer Placeholder 5">
            <a:extLst>
              <a:ext uri="{FF2B5EF4-FFF2-40B4-BE49-F238E27FC236}">
                <a16:creationId xmlns:a16="http://schemas.microsoft.com/office/drawing/2014/main" id="{4355CC31-BF31-4EB1-8B54-2DD0D6BE79BC}"/>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303EFAF2-4586-4670-8EF7-78067B1872A1}"/>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4116154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05FA2-A60C-405C-A307-880C049CB03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A970388-4034-4A46-8B98-D37491E014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C39A8B-6B00-4329-AC44-AD6EBE236E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55DFF08-1C59-4E60-A964-4D4A369007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548497-A585-4527-B8A6-BB01B9FBC4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77C2D4B-BCC3-48CF-B358-D817886727C0}"/>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01/10/2024</a:t>
            </a:fld>
            <a:endParaRPr lang="en-GB"/>
          </a:p>
        </p:txBody>
      </p:sp>
      <p:sp>
        <p:nvSpPr>
          <p:cNvPr id="8" name="Footer Placeholder 7">
            <a:extLst>
              <a:ext uri="{FF2B5EF4-FFF2-40B4-BE49-F238E27FC236}">
                <a16:creationId xmlns:a16="http://schemas.microsoft.com/office/drawing/2014/main" id="{B393C415-FAAE-444A-BBA1-9059E1C450A3}"/>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9" name="Slide Number Placeholder 8">
            <a:extLst>
              <a:ext uri="{FF2B5EF4-FFF2-40B4-BE49-F238E27FC236}">
                <a16:creationId xmlns:a16="http://schemas.microsoft.com/office/drawing/2014/main" id="{16C512DB-E555-4910-92DC-7AB19F87F8E8}"/>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47741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D8A33-5CA5-4826-9B83-0B2F6A50C2B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17C1E61-1B5E-44DC-BC0F-2F956B04C019}"/>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01/10/2024</a:t>
            </a:fld>
            <a:endParaRPr lang="en-GB"/>
          </a:p>
        </p:txBody>
      </p:sp>
      <p:sp>
        <p:nvSpPr>
          <p:cNvPr id="4" name="Footer Placeholder 3">
            <a:extLst>
              <a:ext uri="{FF2B5EF4-FFF2-40B4-BE49-F238E27FC236}">
                <a16:creationId xmlns:a16="http://schemas.microsoft.com/office/drawing/2014/main" id="{DBA212BA-9EF0-4463-A9C0-997D5572049B}"/>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5" name="Slide Number Placeholder 4">
            <a:extLst>
              <a:ext uri="{FF2B5EF4-FFF2-40B4-BE49-F238E27FC236}">
                <a16:creationId xmlns:a16="http://schemas.microsoft.com/office/drawing/2014/main" id="{E350D64F-9F3A-43FB-A563-07763EE16E28}"/>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3279599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739767-A677-43FB-A13E-C6E76D21E158}"/>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01/10/2024</a:t>
            </a:fld>
            <a:endParaRPr lang="en-GB"/>
          </a:p>
        </p:txBody>
      </p:sp>
      <p:sp>
        <p:nvSpPr>
          <p:cNvPr id="3" name="Footer Placeholder 2">
            <a:extLst>
              <a:ext uri="{FF2B5EF4-FFF2-40B4-BE49-F238E27FC236}">
                <a16:creationId xmlns:a16="http://schemas.microsoft.com/office/drawing/2014/main" id="{BFA103BA-C2DE-41DE-842B-306DECB788D5}"/>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4" name="Slide Number Placeholder 3">
            <a:extLst>
              <a:ext uri="{FF2B5EF4-FFF2-40B4-BE49-F238E27FC236}">
                <a16:creationId xmlns:a16="http://schemas.microsoft.com/office/drawing/2014/main" id="{5B8320D2-03FC-47A8-B437-7B7CEBDD6176}"/>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3747179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B20E6-8664-4FD7-A9B2-0B5C17E861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D75017E-7CE6-4AFE-8756-092A858401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85C17A6-B2E1-42BB-9629-032C80545F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1DC4D7-18F9-4992-BB61-15FA97A52992}"/>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01/10/2024</a:t>
            </a:fld>
            <a:endParaRPr lang="en-GB"/>
          </a:p>
        </p:txBody>
      </p:sp>
      <p:sp>
        <p:nvSpPr>
          <p:cNvPr id="6" name="Footer Placeholder 5">
            <a:extLst>
              <a:ext uri="{FF2B5EF4-FFF2-40B4-BE49-F238E27FC236}">
                <a16:creationId xmlns:a16="http://schemas.microsoft.com/office/drawing/2014/main" id="{4FB52144-EB56-46FB-8C3D-7A8702354378}"/>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E7142B02-C27D-4AC0-9DE7-A653F338FB98}"/>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895581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FD8A0-DA8A-463F-AC82-9A3D896B80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3B553CB-6BB8-4D69-8270-E69093C148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00E0B06-F972-42E3-B94A-6BA4824458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FCFE24-5759-425E-A7E5-6EAACD13BAAD}"/>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01/10/2024</a:t>
            </a:fld>
            <a:endParaRPr lang="en-GB"/>
          </a:p>
        </p:txBody>
      </p:sp>
      <p:sp>
        <p:nvSpPr>
          <p:cNvPr id="6" name="Footer Placeholder 5">
            <a:extLst>
              <a:ext uri="{FF2B5EF4-FFF2-40B4-BE49-F238E27FC236}">
                <a16:creationId xmlns:a16="http://schemas.microsoft.com/office/drawing/2014/main" id="{EC458F3E-34B5-48AA-B148-66ED69F30671}"/>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AB133722-4E46-4BF0-841D-DC92DCB48251}"/>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2153194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A43C2-4F61-40F8-A06C-596F42B7D0A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012D4A7-8F4B-484D-90BE-4A6A303F65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BBE0C66-2DCD-4454-98BE-EE8ADD1D7982}"/>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01/10/2024</a:t>
            </a:fld>
            <a:endParaRPr lang="en-GB"/>
          </a:p>
        </p:txBody>
      </p:sp>
      <p:sp>
        <p:nvSpPr>
          <p:cNvPr id="5" name="Footer Placeholder 4">
            <a:extLst>
              <a:ext uri="{FF2B5EF4-FFF2-40B4-BE49-F238E27FC236}">
                <a16:creationId xmlns:a16="http://schemas.microsoft.com/office/drawing/2014/main" id="{B6C655C5-A5ED-4766-97E4-846A805367DD}"/>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17ADFEEA-B282-4D56-A557-4193031EB4A7}"/>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901290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1B7A8B-8DD3-4239-8EA1-87394625413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5621B91-126F-434B-86F2-89E6778E91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7BFCCA6-FBA0-4A4B-97BC-8B2465C0186D}"/>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01/10/2024</a:t>
            </a:fld>
            <a:endParaRPr lang="en-GB"/>
          </a:p>
        </p:txBody>
      </p:sp>
      <p:sp>
        <p:nvSpPr>
          <p:cNvPr id="5" name="Footer Placeholder 4">
            <a:extLst>
              <a:ext uri="{FF2B5EF4-FFF2-40B4-BE49-F238E27FC236}">
                <a16:creationId xmlns:a16="http://schemas.microsoft.com/office/drawing/2014/main" id="{5A17EED6-4B0F-4C58-A54B-C4F0F72D7BAA}"/>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51249905-D4AB-4930-9B2A-6E8E550A0D1E}"/>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308111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B9995C-D844-455E-9E19-BF66C81EFD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D204189-41E9-4E09-B418-B033E7F147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Footer Placeholder 4">
            <a:extLst>
              <a:ext uri="{FF2B5EF4-FFF2-40B4-BE49-F238E27FC236}">
                <a16:creationId xmlns:a16="http://schemas.microsoft.com/office/drawing/2014/main" id="{4D739203-7E29-BA40-9D51-8F9968799BF3}"/>
              </a:ext>
            </a:extLst>
          </p:cNvPr>
          <p:cNvSpPr txBox="1">
            <a:spLocks/>
          </p:cNvSpPr>
          <p:nvPr userDrawn="1"/>
        </p:nvSpPr>
        <p:spPr>
          <a:xfrm>
            <a:off x="7547114" y="6380197"/>
            <a:ext cx="411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GB" sz="1200" dirty="0"/>
              <a:t>© Hodder &amp; Stoughton Limited 2021</a:t>
            </a:r>
          </a:p>
        </p:txBody>
      </p:sp>
      <p:pic>
        <p:nvPicPr>
          <p:cNvPr id="6" name="Picture 5">
            <a:extLst>
              <a:ext uri="{FF2B5EF4-FFF2-40B4-BE49-F238E27FC236}">
                <a16:creationId xmlns:a16="http://schemas.microsoft.com/office/drawing/2014/main" id="{9F570252-6D27-224F-B897-578AE4F8D1EC}"/>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12192000" cy="1641616"/>
          </a:xfrm>
          <a:prstGeom prst="rect">
            <a:avLst/>
          </a:prstGeom>
        </p:spPr>
      </p:pic>
    </p:spTree>
    <p:extLst>
      <p:ext uri="{BB962C8B-B14F-4D97-AF65-F5344CB8AC3E}">
        <p14:creationId xmlns:p14="http://schemas.microsoft.com/office/powerpoint/2010/main" val="26587743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theguardian.com/environment/2020/jul/02/10bn-precious-metals-dumped-each-year-electronic-waste-un-toxic-e-waste-polluting" TargetMode="External"/><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bbc.co.uk/news/technology-45798523" TargetMode="External"/><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hyperlink" Target="https://www.internetlivestats.com/"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A7BA287D-BC7F-4CAA-8D87-6668E3E5F62F}"/>
              </a:ext>
            </a:extLst>
          </p:cNvPr>
          <p:cNvSpPr>
            <a:spLocks noGrp="1"/>
          </p:cNvSpPr>
          <p:nvPr>
            <p:ph type="ctrTitle"/>
          </p:nvPr>
        </p:nvSpPr>
        <p:spPr>
          <a:xfrm>
            <a:off x="2082477" y="3118978"/>
            <a:ext cx="4013523" cy="1497914"/>
          </a:xfrm>
        </p:spPr>
        <p:txBody>
          <a:bodyPr>
            <a:normAutofit fontScale="90000"/>
          </a:bodyPr>
          <a:lstStyle/>
          <a:p>
            <a:pPr algn="r"/>
            <a:r>
              <a:rPr lang="en-GB" b="1" dirty="0"/>
              <a:t>The ethics</a:t>
            </a:r>
            <a:br>
              <a:rPr lang="en-GB" b="1" dirty="0"/>
            </a:br>
            <a:r>
              <a:rPr lang="en-GB" b="1" dirty="0"/>
              <a:t>of computing</a:t>
            </a:r>
          </a:p>
        </p:txBody>
      </p:sp>
      <p:sp>
        <p:nvSpPr>
          <p:cNvPr id="8" name="Rectangle 7">
            <a:extLst>
              <a:ext uri="{FF2B5EF4-FFF2-40B4-BE49-F238E27FC236}">
                <a16:creationId xmlns:a16="http://schemas.microsoft.com/office/drawing/2014/main" id="{5F89E338-2075-48D8-8FA2-C847BA38E133}"/>
              </a:ext>
            </a:extLst>
          </p:cNvPr>
          <p:cNvSpPr/>
          <p:nvPr/>
        </p:nvSpPr>
        <p:spPr>
          <a:xfrm>
            <a:off x="1370924" y="4616892"/>
            <a:ext cx="4725076" cy="400110"/>
          </a:xfrm>
          <a:prstGeom prst="rect">
            <a:avLst/>
          </a:prstGeom>
        </p:spPr>
        <p:txBody>
          <a:bodyPr wrap="none">
            <a:spAutoFit/>
          </a:bodyPr>
          <a:lstStyle/>
          <a:p>
            <a:pPr algn="r"/>
            <a:r>
              <a:rPr lang="en-GB" sz="2000" b="1" dirty="0">
                <a:solidFill>
                  <a:srgbClr val="00B0F0"/>
                </a:solidFill>
                <a:latin typeface="Calibri" panose="020F0502020204030204" pitchFamily="34" charset="0"/>
                <a:ea typeface="Times New Roman" panose="02020603050405020304" pitchFamily="18" charset="0"/>
              </a:rPr>
              <a:t>Lesson 6: Technology and the environment</a:t>
            </a:r>
            <a:endParaRPr lang="en-GB" sz="2000" b="1" dirty="0">
              <a:solidFill>
                <a:srgbClr val="00B0F0"/>
              </a:solidFill>
            </a:endParaRPr>
          </a:p>
        </p:txBody>
      </p:sp>
      <p:pic>
        <p:nvPicPr>
          <p:cNvPr id="9" name="Picture 8">
            <a:extLst>
              <a:ext uri="{FF2B5EF4-FFF2-40B4-BE49-F238E27FC236}">
                <a16:creationId xmlns:a16="http://schemas.microsoft.com/office/drawing/2014/main" id="{3F13FAC0-7BB3-4BB7-A211-0FE435E899D7}"/>
              </a:ext>
            </a:extLst>
          </p:cNvPr>
          <p:cNvPicPr>
            <a:picLocks noChangeAspect="1"/>
          </p:cNvPicPr>
          <p:nvPr/>
        </p:nvPicPr>
        <p:blipFill>
          <a:blip r:embed="rId2"/>
          <a:stretch>
            <a:fillRect/>
          </a:stretch>
        </p:blipFill>
        <p:spPr>
          <a:xfrm>
            <a:off x="6430462" y="2852165"/>
            <a:ext cx="3626103" cy="2164837"/>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0543161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C4667-2A3C-4536-9386-00402F3C6EE6}"/>
              </a:ext>
            </a:extLst>
          </p:cNvPr>
          <p:cNvSpPr>
            <a:spLocks noGrp="1"/>
          </p:cNvSpPr>
          <p:nvPr>
            <p:ph type="title"/>
          </p:nvPr>
        </p:nvSpPr>
        <p:spPr>
          <a:xfrm>
            <a:off x="1600200" y="844826"/>
            <a:ext cx="9634330" cy="766349"/>
          </a:xfrm>
        </p:spPr>
        <p:txBody>
          <a:bodyPr/>
          <a:lstStyle/>
          <a:p>
            <a:r>
              <a:rPr lang="en-GB" b="1" dirty="0">
                <a:solidFill>
                  <a:schemeClr val="bg1"/>
                </a:solidFill>
              </a:rPr>
              <a:t>Objectives`</a:t>
            </a:r>
          </a:p>
        </p:txBody>
      </p:sp>
      <p:sp>
        <p:nvSpPr>
          <p:cNvPr id="5" name="Rectangle 4">
            <a:extLst>
              <a:ext uri="{FF2B5EF4-FFF2-40B4-BE49-F238E27FC236}">
                <a16:creationId xmlns:a16="http://schemas.microsoft.com/office/drawing/2014/main" id="{8430BE0A-41D5-4110-A78D-A6ACD33DE78B}"/>
              </a:ext>
            </a:extLst>
          </p:cNvPr>
          <p:cNvSpPr/>
          <p:nvPr/>
        </p:nvSpPr>
        <p:spPr>
          <a:xfrm>
            <a:off x="1600200" y="2059394"/>
            <a:ext cx="9471991" cy="2739211"/>
          </a:xfrm>
          <a:prstGeom prst="rect">
            <a:avLst/>
          </a:prstGeom>
        </p:spPr>
        <p:txBody>
          <a:bodyPr wrap="square">
            <a:spAutoFit/>
          </a:bodyPr>
          <a:lstStyle/>
          <a:p>
            <a:pPr>
              <a:spcAft>
                <a:spcPts val="0"/>
              </a:spcAft>
            </a:pPr>
            <a:r>
              <a:rPr lang="en-GB" sz="2800" dirty="0">
                <a:latin typeface="Calibri" panose="020F0502020204030204" pitchFamily="34" charset="0"/>
                <a:ea typeface="Times New Roman" panose="02020603050405020304" pitchFamily="18" charset="0"/>
              </a:rPr>
              <a:t>In this lesson, you will learn:</a:t>
            </a:r>
            <a:endParaRPr lang="en-GB" sz="2800" dirty="0">
              <a:latin typeface="Times New Roman" panose="02020603050405020304" pitchFamily="18" charset="0"/>
              <a:ea typeface="Times New Roman" panose="02020603050405020304" pitchFamily="18" charset="0"/>
            </a:endParaRPr>
          </a:p>
          <a:p>
            <a:pPr marL="342900" lvl="0" indent="-342900">
              <a:spcAft>
                <a:spcPts val="0"/>
              </a:spcAft>
              <a:buFont typeface="Symbol" panose="05050102010706020507" pitchFamily="18" charset="2"/>
              <a:buChar char=""/>
            </a:pPr>
            <a:r>
              <a:rPr lang="en-GB" sz="2400" dirty="0">
                <a:latin typeface="Calibri" panose="020F0502020204030204" pitchFamily="34" charset="0"/>
                <a:ea typeface="Times New Roman" panose="02020603050405020304" pitchFamily="18" charset="0"/>
              </a:rPr>
              <a:t>that technological advancements can have negative impacts on the environment</a:t>
            </a:r>
          </a:p>
          <a:p>
            <a:pPr marL="342900" lvl="0" indent="-342900">
              <a:spcAft>
                <a:spcPts val="0"/>
              </a:spcAft>
              <a:buFont typeface="Symbol" panose="05050102010706020507" pitchFamily="18" charset="2"/>
              <a:buChar char=""/>
            </a:pPr>
            <a:r>
              <a:rPr lang="en-GB" sz="2400" dirty="0">
                <a:latin typeface="Calibri" panose="020F0502020204030204" pitchFamily="34" charset="0"/>
                <a:ea typeface="Times New Roman" panose="02020603050405020304" pitchFamily="18" charset="0"/>
              </a:rPr>
              <a:t>about the benefits and drawbacks of one environmental impact of technology in detail</a:t>
            </a:r>
          </a:p>
          <a:p>
            <a:pPr marL="342900" lvl="0" indent="-342900">
              <a:spcAft>
                <a:spcPts val="0"/>
              </a:spcAft>
              <a:buFont typeface="Symbol" panose="05050102010706020507" pitchFamily="18" charset="2"/>
              <a:buChar char=""/>
            </a:pPr>
            <a:r>
              <a:rPr lang="en-GB" sz="2400" dirty="0">
                <a:latin typeface="Calibri" panose="020F0502020204030204" pitchFamily="34" charset="0"/>
                <a:ea typeface="Times New Roman" panose="02020603050405020304" pitchFamily="18" charset="0"/>
              </a:rPr>
              <a:t>how to minimise the drawbacks of one environmental impact of technology.</a:t>
            </a:r>
          </a:p>
        </p:txBody>
      </p:sp>
    </p:spTree>
    <p:extLst>
      <p:ext uri="{BB962C8B-B14F-4D97-AF65-F5344CB8AC3E}">
        <p14:creationId xmlns:p14="http://schemas.microsoft.com/office/powerpoint/2010/main" val="1699810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06696-8D12-4574-BDC3-2DC3137EF4C6}"/>
              </a:ext>
            </a:extLst>
          </p:cNvPr>
          <p:cNvSpPr>
            <a:spLocks noGrp="1"/>
          </p:cNvSpPr>
          <p:nvPr>
            <p:ph type="title"/>
          </p:nvPr>
        </p:nvSpPr>
        <p:spPr>
          <a:xfrm>
            <a:off x="1570382" y="834888"/>
            <a:ext cx="10621618" cy="795130"/>
          </a:xfrm>
        </p:spPr>
        <p:txBody>
          <a:bodyPr>
            <a:noAutofit/>
          </a:bodyPr>
          <a:lstStyle/>
          <a:p>
            <a:r>
              <a:rPr lang="en-GB" sz="3200" b="1" dirty="0">
                <a:solidFill>
                  <a:schemeClr val="bg1"/>
                </a:solidFill>
              </a:rPr>
              <a:t>Activity 3.1: How does technology damage the environment?</a:t>
            </a:r>
          </a:p>
        </p:txBody>
      </p:sp>
      <p:pic>
        <p:nvPicPr>
          <p:cNvPr id="4" name="Picture 3" descr="A picture containing athletic game, basketball, sport&#10;&#10;Description automatically generated">
            <a:extLst>
              <a:ext uri="{FF2B5EF4-FFF2-40B4-BE49-F238E27FC236}">
                <a16:creationId xmlns:a16="http://schemas.microsoft.com/office/drawing/2014/main" id="{6CB025E0-0024-4359-9B49-6123D46EFD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90553" y="2042810"/>
            <a:ext cx="4410894" cy="4321738"/>
          </a:xfrm>
          <a:prstGeom prst="rect">
            <a:avLst/>
          </a:prstGeom>
        </p:spPr>
      </p:pic>
      <p:sp>
        <p:nvSpPr>
          <p:cNvPr id="5" name="Title 1">
            <a:extLst>
              <a:ext uri="{FF2B5EF4-FFF2-40B4-BE49-F238E27FC236}">
                <a16:creationId xmlns:a16="http://schemas.microsoft.com/office/drawing/2014/main" id="{DB306696-8D12-4574-BDC3-2DC3137EF4C6}"/>
              </a:ext>
            </a:extLst>
          </p:cNvPr>
          <p:cNvSpPr txBox="1">
            <a:spLocks/>
          </p:cNvSpPr>
          <p:nvPr/>
        </p:nvSpPr>
        <p:spPr>
          <a:xfrm>
            <a:off x="289367" y="5883229"/>
            <a:ext cx="3136740" cy="97477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800" b="1" dirty="0" smtClean="0">
                <a:solidFill>
                  <a:schemeClr val="accent1">
                    <a:lumMod val="20000"/>
                    <a:lumOff val="80000"/>
                  </a:schemeClr>
                </a:solidFill>
              </a:rPr>
              <a:t>DO NOW</a:t>
            </a:r>
            <a:endParaRPr lang="en-GB" sz="4800" b="1" dirty="0">
              <a:solidFill>
                <a:schemeClr val="accent1">
                  <a:lumMod val="20000"/>
                  <a:lumOff val="80000"/>
                </a:schemeClr>
              </a:solidFill>
            </a:endParaRPr>
          </a:p>
        </p:txBody>
      </p:sp>
    </p:spTree>
    <p:extLst>
      <p:ext uri="{BB962C8B-B14F-4D97-AF65-F5344CB8AC3E}">
        <p14:creationId xmlns:p14="http://schemas.microsoft.com/office/powerpoint/2010/main" val="2761453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7905C-00CB-4FC9-83B7-66A2E3C077C8}"/>
              </a:ext>
            </a:extLst>
          </p:cNvPr>
          <p:cNvSpPr>
            <a:spLocks noGrp="1"/>
          </p:cNvSpPr>
          <p:nvPr>
            <p:ph type="title"/>
          </p:nvPr>
        </p:nvSpPr>
        <p:spPr>
          <a:xfrm>
            <a:off x="1580322" y="844826"/>
            <a:ext cx="9773478" cy="755374"/>
          </a:xfrm>
        </p:spPr>
        <p:txBody>
          <a:bodyPr/>
          <a:lstStyle/>
          <a:p>
            <a:r>
              <a:rPr lang="en-GB" b="1" dirty="0">
                <a:solidFill>
                  <a:schemeClr val="bg1"/>
                </a:solidFill>
              </a:rPr>
              <a:t>E-waste</a:t>
            </a:r>
          </a:p>
        </p:txBody>
      </p:sp>
      <p:sp>
        <p:nvSpPr>
          <p:cNvPr id="3" name="Rectangle 2">
            <a:extLst>
              <a:ext uri="{FF2B5EF4-FFF2-40B4-BE49-F238E27FC236}">
                <a16:creationId xmlns:a16="http://schemas.microsoft.com/office/drawing/2014/main" id="{57537BF7-053A-124A-BD55-3D2CC9120F24}"/>
              </a:ext>
            </a:extLst>
          </p:cNvPr>
          <p:cNvSpPr/>
          <p:nvPr/>
        </p:nvSpPr>
        <p:spPr>
          <a:xfrm>
            <a:off x="1576333" y="1814988"/>
            <a:ext cx="5738867" cy="3785652"/>
          </a:xfrm>
          <a:prstGeom prst="rect">
            <a:avLst/>
          </a:prstGeom>
        </p:spPr>
        <p:txBody>
          <a:bodyPr wrap="square">
            <a:spAutoFit/>
          </a:bodyPr>
          <a:lstStyle/>
          <a:p>
            <a:r>
              <a:rPr lang="en-US" sz="2400" dirty="0"/>
              <a:t>When people have finished with their digital devices, they generally end up in landfill.</a:t>
            </a:r>
            <a:endParaRPr lang="en-GB" sz="2400" dirty="0"/>
          </a:p>
          <a:p>
            <a:r>
              <a:rPr lang="en-US" sz="2400" dirty="0"/>
              <a:t>In 2019, we created 54 million </a:t>
            </a:r>
            <a:r>
              <a:rPr lang="en-US" sz="2400" dirty="0" err="1"/>
              <a:t>tonnes</a:t>
            </a:r>
            <a:r>
              <a:rPr lang="en-US" sz="2400" dirty="0"/>
              <a:t> of </a:t>
            </a:r>
            <a:r>
              <a:rPr lang="en-US" sz="2400" b="1" dirty="0">
                <a:solidFill>
                  <a:srgbClr val="00B0F0"/>
                </a:solidFill>
              </a:rPr>
              <a:t>e-waste</a:t>
            </a:r>
            <a:r>
              <a:rPr lang="en-US" sz="2400" dirty="0"/>
              <a:t> and only 17% of it was recycled.*</a:t>
            </a:r>
            <a:endParaRPr lang="en-GB" sz="2400" dirty="0"/>
          </a:p>
          <a:p>
            <a:r>
              <a:rPr lang="en-US" sz="2400" dirty="0"/>
              <a:t>The rest probably ended up in a rubbish dump in one of the poorest countries in the world, where it was burned. This has devastating consequences for the environment and for the health of the people who live and work nearby.</a:t>
            </a:r>
            <a:endParaRPr lang="en-GB" sz="2400" dirty="0"/>
          </a:p>
        </p:txBody>
      </p:sp>
      <p:pic>
        <p:nvPicPr>
          <p:cNvPr id="5" name="Picture 4" descr="A picture containing satellite, automaton&#10;&#10;Description automatically generated">
            <a:extLst>
              <a:ext uri="{FF2B5EF4-FFF2-40B4-BE49-F238E27FC236}">
                <a16:creationId xmlns:a16="http://schemas.microsoft.com/office/drawing/2014/main" id="{CE7253AC-B664-4017-B2F9-71AD1C2E1282}"/>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7315200" y="2425294"/>
            <a:ext cx="4507171" cy="3004780"/>
          </a:xfrm>
          <a:prstGeom prst="rect">
            <a:avLst/>
          </a:prstGeom>
        </p:spPr>
      </p:pic>
      <p:sp>
        <p:nvSpPr>
          <p:cNvPr id="6" name="Rectangle 5">
            <a:extLst>
              <a:ext uri="{FF2B5EF4-FFF2-40B4-BE49-F238E27FC236}">
                <a16:creationId xmlns:a16="http://schemas.microsoft.com/office/drawing/2014/main" id="{E3EAC3B6-635D-4B01-BEE8-AD56D0F13CC3}"/>
              </a:ext>
            </a:extLst>
          </p:cNvPr>
          <p:cNvSpPr/>
          <p:nvPr/>
        </p:nvSpPr>
        <p:spPr>
          <a:xfrm>
            <a:off x="1580322" y="5742456"/>
            <a:ext cx="7153775" cy="738664"/>
          </a:xfrm>
          <a:prstGeom prst="rect">
            <a:avLst/>
          </a:prstGeom>
        </p:spPr>
        <p:txBody>
          <a:bodyPr wrap="square">
            <a:spAutoFit/>
          </a:bodyPr>
          <a:lstStyle/>
          <a:p>
            <a:r>
              <a:rPr lang="en-GB" sz="1400" dirty="0"/>
              <a:t>*Source: </a:t>
            </a:r>
            <a:r>
              <a:rPr lang="en-GB" sz="1400" i="1" dirty="0"/>
              <a:t>The Guardian</a:t>
            </a:r>
            <a:r>
              <a:rPr lang="en-GB" sz="1400" dirty="0"/>
              <a:t>, ‘$</a:t>
            </a:r>
            <a:r>
              <a:rPr lang="en-GB" sz="1400" dirty="0" err="1"/>
              <a:t>10bn</a:t>
            </a:r>
            <a:r>
              <a:rPr lang="en-GB" sz="1400" dirty="0"/>
              <a:t> of precious metals dumped each year in electronic waste, says UN’, 2/7/2020,  </a:t>
            </a:r>
            <a:r>
              <a:rPr lang="en-GB" sz="1400" u="sng" dirty="0">
                <a:hlinkClick r:id="rId3"/>
              </a:rPr>
              <a:t>https://www.theguardian.com/environment/2020/jul/02/10bn-precious-metals-dumped-each-year-electronic-waste-un-toxic-e-waste-polluting</a:t>
            </a:r>
            <a:r>
              <a:rPr lang="en-GB" sz="1400" dirty="0"/>
              <a:t> (accessed 6/1/2021)</a:t>
            </a:r>
          </a:p>
        </p:txBody>
      </p:sp>
    </p:spTree>
    <p:extLst>
      <p:ext uri="{BB962C8B-B14F-4D97-AF65-F5344CB8AC3E}">
        <p14:creationId xmlns:p14="http://schemas.microsoft.com/office/powerpoint/2010/main" val="11661668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7905C-00CB-4FC9-83B7-66A2E3C077C8}"/>
              </a:ext>
            </a:extLst>
          </p:cNvPr>
          <p:cNvSpPr>
            <a:spLocks noGrp="1"/>
          </p:cNvSpPr>
          <p:nvPr>
            <p:ph type="title"/>
          </p:nvPr>
        </p:nvSpPr>
        <p:spPr>
          <a:xfrm>
            <a:off x="1580322" y="844826"/>
            <a:ext cx="10611678" cy="755374"/>
          </a:xfrm>
        </p:spPr>
        <p:txBody>
          <a:bodyPr>
            <a:noAutofit/>
          </a:bodyPr>
          <a:lstStyle/>
          <a:p>
            <a:r>
              <a:rPr lang="en-GB" sz="3400" b="1" dirty="0">
                <a:solidFill>
                  <a:schemeClr val="bg1"/>
                </a:solidFill>
              </a:rPr>
              <a:t>Conflict, habitat destruction and poor working conditions </a:t>
            </a:r>
          </a:p>
        </p:txBody>
      </p:sp>
      <p:sp>
        <p:nvSpPr>
          <p:cNvPr id="3" name="Rectangle 2">
            <a:extLst>
              <a:ext uri="{FF2B5EF4-FFF2-40B4-BE49-F238E27FC236}">
                <a16:creationId xmlns:a16="http://schemas.microsoft.com/office/drawing/2014/main" id="{57537BF7-053A-124A-BD55-3D2CC9120F24}"/>
              </a:ext>
            </a:extLst>
          </p:cNvPr>
          <p:cNvSpPr/>
          <p:nvPr/>
        </p:nvSpPr>
        <p:spPr>
          <a:xfrm>
            <a:off x="1406900" y="3663639"/>
            <a:ext cx="6144782" cy="2308324"/>
          </a:xfrm>
          <a:prstGeom prst="rect">
            <a:avLst/>
          </a:prstGeom>
        </p:spPr>
        <p:txBody>
          <a:bodyPr wrap="square">
            <a:spAutoFit/>
          </a:bodyPr>
          <a:lstStyle/>
          <a:p>
            <a:r>
              <a:rPr lang="en-US" sz="2400" dirty="0"/>
              <a:t>Coltan mining has also destroyed the habitat of the eastern lowland gorilla.</a:t>
            </a:r>
            <a:endParaRPr lang="en-GB" sz="2400" dirty="0"/>
          </a:p>
          <a:p>
            <a:r>
              <a:rPr lang="en-US" sz="2400" dirty="0"/>
              <a:t>Efforts are being made to ensure coltan traded on the international market is ‘conflict-free’, but the miners – many of them young children – work in appalling conditions.</a:t>
            </a:r>
            <a:endParaRPr lang="en-GB" sz="2000" dirty="0"/>
          </a:p>
        </p:txBody>
      </p:sp>
      <p:pic>
        <p:nvPicPr>
          <p:cNvPr id="6" name="Picture 5">
            <a:extLst>
              <a:ext uri="{FF2B5EF4-FFF2-40B4-BE49-F238E27FC236}">
                <a16:creationId xmlns:a16="http://schemas.microsoft.com/office/drawing/2014/main" id="{B9150CC7-7987-445D-AC50-FC24D619EA2A}"/>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7851228" y="3627554"/>
            <a:ext cx="3890823" cy="2579047"/>
          </a:xfrm>
          <a:prstGeom prst="rect">
            <a:avLst/>
          </a:prstGeom>
        </p:spPr>
      </p:pic>
      <p:sp>
        <p:nvSpPr>
          <p:cNvPr id="7" name="Rectangle 6">
            <a:extLst>
              <a:ext uri="{FF2B5EF4-FFF2-40B4-BE49-F238E27FC236}">
                <a16:creationId xmlns:a16="http://schemas.microsoft.com/office/drawing/2014/main" id="{5840BD52-741B-4190-A28B-D69FA6433CB7}"/>
              </a:ext>
            </a:extLst>
          </p:cNvPr>
          <p:cNvSpPr/>
          <p:nvPr/>
        </p:nvSpPr>
        <p:spPr>
          <a:xfrm>
            <a:off x="1406900" y="1797693"/>
            <a:ext cx="9550133" cy="1938992"/>
          </a:xfrm>
          <a:prstGeom prst="rect">
            <a:avLst/>
          </a:prstGeom>
        </p:spPr>
        <p:txBody>
          <a:bodyPr wrap="square">
            <a:spAutoFit/>
          </a:bodyPr>
          <a:lstStyle/>
          <a:p>
            <a:r>
              <a:rPr lang="en-US" sz="2400" dirty="0"/>
              <a:t>Coltan is an important mineral. It contains tantalum, which is needed to manufacture smartphones and other digital devices.</a:t>
            </a:r>
          </a:p>
          <a:p>
            <a:r>
              <a:rPr lang="en-US" sz="2400" dirty="0"/>
              <a:t>Coltan is mined in the Democratic Republic of Congo and the huge profits gained from extracting this mineral have contributed to the devastating violence experienced in the country for decades.</a:t>
            </a:r>
            <a:endParaRPr lang="en-GB" sz="2400" dirty="0"/>
          </a:p>
        </p:txBody>
      </p:sp>
    </p:spTree>
    <p:extLst>
      <p:ext uri="{BB962C8B-B14F-4D97-AF65-F5344CB8AC3E}">
        <p14:creationId xmlns:p14="http://schemas.microsoft.com/office/powerpoint/2010/main" val="1990407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7905C-00CB-4FC9-83B7-66A2E3C077C8}"/>
              </a:ext>
            </a:extLst>
          </p:cNvPr>
          <p:cNvSpPr>
            <a:spLocks noGrp="1"/>
          </p:cNvSpPr>
          <p:nvPr>
            <p:ph type="title"/>
          </p:nvPr>
        </p:nvSpPr>
        <p:spPr>
          <a:xfrm>
            <a:off x="1580322" y="844826"/>
            <a:ext cx="9773478" cy="755374"/>
          </a:xfrm>
        </p:spPr>
        <p:txBody>
          <a:bodyPr/>
          <a:lstStyle/>
          <a:p>
            <a:r>
              <a:rPr lang="en-GB" b="1" dirty="0">
                <a:solidFill>
                  <a:schemeClr val="bg1"/>
                </a:solidFill>
              </a:rPr>
              <a:t>CO</a:t>
            </a:r>
            <a:r>
              <a:rPr lang="en-GB" b="1" baseline="-25000" dirty="0">
                <a:solidFill>
                  <a:schemeClr val="bg1"/>
                </a:solidFill>
              </a:rPr>
              <a:t>2</a:t>
            </a:r>
            <a:r>
              <a:rPr lang="en-GB" b="1" dirty="0">
                <a:solidFill>
                  <a:schemeClr val="bg1"/>
                </a:solidFill>
              </a:rPr>
              <a:t> emissions </a:t>
            </a:r>
          </a:p>
        </p:txBody>
      </p:sp>
      <p:sp>
        <p:nvSpPr>
          <p:cNvPr id="3" name="Rectangle 2">
            <a:extLst>
              <a:ext uri="{FF2B5EF4-FFF2-40B4-BE49-F238E27FC236}">
                <a16:creationId xmlns:a16="http://schemas.microsoft.com/office/drawing/2014/main" id="{57537BF7-053A-124A-BD55-3D2CC9120F24}"/>
              </a:ext>
            </a:extLst>
          </p:cNvPr>
          <p:cNvSpPr/>
          <p:nvPr/>
        </p:nvSpPr>
        <p:spPr>
          <a:xfrm>
            <a:off x="1499152" y="1843950"/>
            <a:ext cx="9773478" cy="1631216"/>
          </a:xfrm>
          <a:prstGeom prst="rect">
            <a:avLst/>
          </a:prstGeom>
        </p:spPr>
        <p:txBody>
          <a:bodyPr wrap="square">
            <a:spAutoFit/>
          </a:bodyPr>
          <a:lstStyle/>
          <a:p>
            <a:r>
              <a:rPr lang="en-US" sz="2000" dirty="0"/>
              <a:t>Digital devices are powered by electricity. When electricity is generated by burning fossil fuels, the CO</a:t>
            </a:r>
            <a:r>
              <a:rPr lang="en-US" sz="2000" baseline="-25000" dirty="0"/>
              <a:t>2</a:t>
            </a:r>
            <a:r>
              <a:rPr lang="en-US" sz="2000" dirty="0"/>
              <a:t> emissions produced contribute to climate change.</a:t>
            </a:r>
            <a:endParaRPr lang="en-GB" sz="2000" dirty="0"/>
          </a:p>
          <a:p>
            <a:r>
              <a:rPr lang="en-US" sz="2000" dirty="0"/>
              <a:t>0.3% of the world’s CO</a:t>
            </a:r>
            <a:r>
              <a:rPr lang="en-US" sz="2000" baseline="-25000" dirty="0"/>
              <a:t>2</a:t>
            </a:r>
            <a:r>
              <a:rPr lang="en-US" sz="2000" dirty="0"/>
              <a:t> emissions are currently produced by streaming and this is expected to rise.* Not only are you watching on a digital device, but servers around the world have to run to deliver content to you, and they use electricity too.</a:t>
            </a:r>
            <a:endParaRPr lang="en-GB" sz="2000" dirty="0"/>
          </a:p>
        </p:txBody>
      </p:sp>
      <p:pic>
        <p:nvPicPr>
          <p:cNvPr id="5" name="Picture 4" descr="A picture containing smoke, steam, outdoor, factory&#10;&#10;Description automatically generated">
            <a:extLst>
              <a:ext uri="{FF2B5EF4-FFF2-40B4-BE49-F238E27FC236}">
                <a16:creationId xmlns:a16="http://schemas.microsoft.com/office/drawing/2014/main" id="{A047D768-E27B-4550-8C5D-A8762D4C98E1}"/>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7380890" y="3718916"/>
            <a:ext cx="3972910" cy="2235046"/>
          </a:xfrm>
          <a:prstGeom prst="rect">
            <a:avLst/>
          </a:prstGeom>
        </p:spPr>
      </p:pic>
      <p:sp>
        <p:nvSpPr>
          <p:cNvPr id="6" name="Rectangle 5">
            <a:extLst>
              <a:ext uri="{FF2B5EF4-FFF2-40B4-BE49-F238E27FC236}">
                <a16:creationId xmlns:a16="http://schemas.microsoft.com/office/drawing/2014/main" id="{9A391D69-E6BA-41C4-B04E-59D5BD3E2BBF}"/>
              </a:ext>
            </a:extLst>
          </p:cNvPr>
          <p:cNvSpPr/>
          <p:nvPr/>
        </p:nvSpPr>
        <p:spPr>
          <a:xfrm>
            <a:off x="1499152" y="6023536"/>
            <a:ext cx="6840807" cy="523220"/>
          </a:xfrm>
          <a:prstGeom prst="rect">
            <a:avLst/>
          </a:prstGeom>
        </p:spPr>
        <p:txBody>
          <a:bodyPr wrap="square">
            <a:spAutoFit/>
          </a:bodyPr>
          <a:lstStyle/>
          <a:p>
            <a:r>
              <a:rPr lang="en-US" sz="1400" dirty="0"/>
              <a:t>*Source: BBC News ‘</a:t>
            </a:r>
            <a:r>
              <a:rPr lang="en-GB" sz="1400" dirty="0"/>
              <a:t>Climate change: Is your Netflix habit bad for the environment?’, 12/10/2018, </a:t>
            </a:r>
            <a:r>
              <a:rPr lang="en-US" sz="1400" u="sng" dirty="0">
                <a:hlinkClick r:id="rId3"/>
              </a:rPr>
              <a:t>https://www.bbc.co.uk/news/technology-45798523</a:t>
            </a:r>
            <a:r>
              <a:rPr lang="en-US" sz="1400" dirty="0"/>
              <a:t> (accessed 6/1/2021)</a:t>
            </a:r>
            <a:endParaRPr lang="en-GB" sz="1400" dirty="0"/>
          </a:p>
        </p:txBody>
      </p:sp>
      <p:sp>
        <p:nvSpPr>
          <p:cNvPr id="7" name="Rectangle 6">
            <a:extLst>
              <a:ext uri="{FF2B5EF4-FFF2-40B4-BE49-F238E27FC236}">
                <a16:creationId xmlns:a16="http://schemas.microsoft.com/office/drawing/2014/main" id="{39ABBDD1-8AB8-45D4-AD8F-905A08F90394}"/>
              </a:ext>
            </a:extLst>
          </p:cNvPr>
          <p:cNvSpPr/>
          <p:nvPr/>
        </p:nvSpPr>
        <p:spPr>
          <a:xfrm>
            <a:off x="1499152" y="3429000"/>
            <a:ext cx="5689924" cy="2554545"/>
          </a:xfrm>
          <a:prstGeom prst="rect">
            <a:avLst/>
          </a:prstGeom>
        </p:spPr>
        <p:txBody>
          <a:bodyPr wrap="square">
            <a:spAutoFit/>
          </a:bodyPr>
          <a:lstStyle/>
          <a:p>
            <a:r>
              <a:rPr lang="en-US" sz="2000" dirty="0"/>
              <a:t>Experts calculate that the same amount of electricity was used to stream </a:t>
            </a:r>
            <a:r>
              <a:rPr lang="en-US" sz="2000" i="1" dirty="0" err="1"/>
              <a:t>Despacito</a:t>
            </a:r>
            <a:r>
              <a:rPr lang="en-US" sz="2000" dirty="0"/>
              <a:t>, a music video released in 2017, as was consumed by the countries of Chad, Guinea-Bissau, Somalia, Sierra Leone and the Central African Republic in one year!*</a:t>
            </a:r>
          </a:p>
          <a:p>
            <a:endParaRPr lang="en-GB" sz="2000" dirty="0"/>
          </a:p>
          <a:p>
            <a:r>
              <a:rPr lang="en-US" sz="2000" dirty="0"/>
              <a:t>Click </a:t>
            </a:r>
            <a:r>
              <a:rPr lang="en-US" sz="2000" b="1" dirty="0">
                <a:solidFill>
                  <a:srgbClr val="FF0000"/>
                </a:solidFill>
                <a:hlinkClick r:id="rId4">
                  <a:extLst>
                    <a:ext uri="{A12FA001-AC4F-418D-AE19-62706E023703}">
                      <ahyp:hlinkClr xmlns="" xmlns:ahyp="http://schemas.microsoft.com/office/drawing/2018/hyperlinkcolor" val="tx"/>
                    </a:ext>
                  </a:extLst>
                </a:hlinkClick>
              </a:rPr>
              <a:t>here</a:t>
            </a:r>
            <a:r>
              <a:rPr lang="en-US" sz="2000" dirty="0"/>
              <a:t> and scroll down to see the CO</a:t>
            </a:r>
            <a:r>
              <a:rPr lang="en-US" sz="2000" baseline="-25000" dirty="0"/>
              <a:t>2</a:t>
            </a:r>
            <a:r>
              <a:rPr lang="en-US" sz="2000" dirty="0"/>
              <a:t> emissions produced by people using the internet today. </a:t>
            </a:r>
          </a:p>
        </p:txBody>
      </p:sp>
    </p:spTree>
    <p:extLst>
      <p:ext uri="{BB962C8B-B14F-4D97-AF65-F5344CB8AC3E}">
        <p14:creationId xmlns:p14="http://schemas.microsoft.com/office/powerpoint/2010/main" val="24309149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7905C-00CB-4FC9-83B7-66A2E3C077C8}"/>
              </a:ext>
            </a:extLst>
          </p:cNvPr>
          <p:cNvSpPr>
            <a:spLocks noGrp="1"/>
          </p:cNvSpPr>
          <p:nvPr>
            <p:ph type="title"/>
          </p:nvPr>
        </p:nvSpPr>
        <p:spPr>
          <a:xfrm>
            <a:off x="1580322" y="817627"/>
            <a:ext cx="9773478" cy="822330"/>
          </a:xfrm>
        </p:spPr>
        <p:txBody>
          <a:bodyPr>
            <a:normAutofit/>
          </a:bodyPr>
          <a:lstStyle/>
          <a:p>
            <a:r>
              <a:rPr lang="en-US" b="1" dirty="0">
                <a:solidFill>
                  <a:schemeClr val="bg1"/>
                </a:solidFill>
              </a:rPr>
              <a:t>Looking to a brighter future</a:t>
            </a:r>
            <a:endParaRPr lang="en-GB" b="1" dirty="0">
              <a:solidFill>
                <a:schemeClr val="bg1"/>
              </a:solidFill>
            </a:endParaRPr>
          </a:p>
        </p:txBody>
      </p:sp>
      <p:sp>
        <p:nvSpPr>
          <p:cNvPr id="3" name="Rectangle 2">
            <a:extLst>
              <a:ext uri="{FF2B5EF4-FFF2-40B4-BE49-F238E27FC236}">
                <a16:creationId xmlns:a16="http://schemas.microsoft.com/office/drawing/2014/main" id="{57537BF7-053A-124A-BD55-3D2CC9120F24}"/>
              </a:ext>
            </a:extLst>
          </p:cNvPr>
          <p:cNvSpPr/>
          <p:nvPr/>
        </p:nvSpPr>
        <p:spPr>
          <a:xfrm>
            <a:off x="1580322" y="2219081"/>
            <a:ext cx="5120023" cy="3416320"/>
          </a:xfrm>
          <a:prstGeom prst="rect">
            <a:avLst/>
          </a:prstGeom>
        </p:spPr>
        <p:txBody>
          <a:bodyPr wrap="square">
            <a:spAutoFit/>
          </a:bodyPr>
          <a:lstStyle/>
          <a:p>
            <a:r>
              <a:rPr lang="en-US" sz="2400" dirty="0"/>
              <a:t>It is important to understand the negative environmental impacts of technology so that efforts can be made to minimise them.</a:t>
            </a:r>
            <a:endParaRPr lang="en-GB" sz="2400" dirty="0"/>
          </a:p>
          <a:p>
            <a:r>
              <a:rPr lang="en-US" sz="2400" dirty="0"/>
              <a:t>Educating people will help them make better decisions about the digital devices they buy, how they use them and what they do with them when they no longer want them.</a:t>
            </a:r>
            <a:endParaRPr lang="en-GB" sz="2400" dirty="0"/>
          </a:p>
        </p:txBody>
      </p:sp>
      <p:pic>
        <p:nvPicPr>
          <p:cNvPr id="7" name="Picture 6" descr="A picture containing nature, outdoor, wave, night sky&#10;&#10;Description automatically generated">
            <a:extLst>
              <a:ext uri="{FF2B5EF4-FFF2-40B4-BE49-F238E27FC236}">
                <a16:creationId xmlns:a16="http://schemas.microsoft.com/office/drawing/2014/main" id="{6518E6BD-5605-4210-9A94-B123B43A6C65}"/>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980355" y="2588798"/>
            <a:ext cx="4813786" cy="2676886"/>
          </a:xfrm>
          <a:prstGeom prst="rect">
            <a:avLst/>
          </a:prstGeom>
        </p:spPr>
      </p:pic>
    </p:spTree>
    <p:extLst>
      <p:ext uri="{BB962C8B-B14F-4D97-AF65-F5344CB8AC3E}">
        <p14:creationId xmlns:p14="http://schemas.microsoft.com/office/powerpoint/2010/main" val="2825270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7905C-00CB-4FC9-83B7-66A2E3C077C8}"/>
              </a:ext>
            </a:extLst>
          </p:cNvPr>
          <p:cNvSpPr>
            <a:spLocks noGrp="1"/>
          </p:cNvSpPr>
          <p:nvPr>
            <p:ph type="title"/>
          </p:nvPr>
        </p:nvSpPr>
        <p:spPr>
          <a:xfrm>
            <a:off x="1580322" y="844826"/>
            <a:ext cx="9773478" cy="775022"/>
          </a:xfrm>
        </p:spPr>
        <p:txBody>
          <a:bodyPr>
            <a:normAutofit/>
          </a:bodyPr>
          <a:lstStyle/>
          <a:p>
            <a:r>
              <a:rPr lang="en-GB" b="1" dirty="0">
                <a:solidFill>
                  <a:schemeClr val="bg1"/>
                </a:solidFill>
              </a:rPr>
              <a:t>Infographic</a:t>
            </a:r>
          </a:p>
        </p:txBody>
      </p:sp>
      <p:sp>
        <p:nvSpPr>
          <p:cNvPr id="3" name="Rectangle 2">
            <a:extLst>
              <a:ext uri="{FF2B5EF4-FFF2-40B4-BE49-F238E27FC236}">
                <a16:creationId xmlns:a16="http://schemas.microsoft.com/office/drawing/2014/main" id="{57537BF7-053A-124A-BD55-3D2CC9120F24}"/>
              </a:ext>
            </a:extLst>
          </p:cNvPr>
          <p:cNvSpPr/>
          <p:nvPr/>
        </p:nvSpPr>
        <p:spPr>
          <a:xfrm>
            <a:off x="1580322" y="1995400"/>
            <a:ext cx="8537713" cy="3046988"/>
          </a:xfrm>
          <a:prstGeom prst="rect">
            <a:avLst/>
          </a:prstGeom>
        </p:spPr>
        <p:txBody>
          <a:bodyPr wrap="square">
            <a:spAutoFit/>
          </a:bodyPr>
          <a:lstStyle/>
          <a:p>
            <a:r>
              <a:rPr lang="en-GB" sz="2400" dirty="0"/>
              <a:t>An infographic is a visual representation of information. </a:t>
            </a:r>
          </a:p>
          <a:p>
            <a:r>
              <a:rPr lang="en-GB" sz="2400" dirty="0"/>
              <a:t>It can include:</a:t>
            </a:r>
          </a:p>
          <a:p>
            <a:pPr marL="342900" lvl="0" indent="-342900">
              <a:buFont typeface="Arial" panose="020B0604020202020204" pitchFamily="34" charset="0"/>
              <a:buChar char="•"/>
            </a:pPr>
            <a:r>
              <a:rPr lang="en-GB" sz="2400" dirty="0"/>
              <a:t>images</a:t>
            </a:r>
          </a:p>
          <a:p>
            <a:pPr marL="342900" lvl="0" indent="-342900">
              <a:buFont typeface="Arial" panose="020B0604020202020204" pitchFamily="34" charset="0"/>
              <a:buChar char="•"/>
            </a:pPr>
            <a:r>
              <a:rPr lang="en-GB" sz="2400" dirty="0"/>
              <a:t>text</a:t>
            </a:r>
          </a:p>
          <a:p>
            <a:pPr marL="342900" lvl="0" indent="-342900">
              <a:buFont typeface="Arial" panose="020B0604020202020204" pitchFamily="34" charset="0"/>
              <a:buChar char="•"/>
            </a:pPr>
            <a:r>
              <a:rPr lang="en-GB" sz="2400" dirty="0"/>
              <a:t>data</a:t>
            </a:r>
          </a:p>
          <a:p>
            <a:pPr marL="342900" lvl="0" indent="-342900">
              <a:buFont typeface="Arial" panose="020B0604020202020204" pitchFamily="34" charset="0"/>
              <a:buChar char="•"/>
            </a:pPr>
            <a:r>
              <a:rPr lang="en-GB" sz="2400" dirty="0"/>
              <a:t>Colours.</a:t>
            </a:r>
          </a:p>
          <a:p>
            <a:pPr lvl="0"/>
            <a:endParaRPr lang="en-GB" sz="2400" dirty="0"/>
          </a:p>
          <a:p>
            <a:r>
              <a:rPr lang="en-GB" sz="2400" dirty="0"/>
              <a:t>On the next slides are some examples of infographics.</a:t>
            </a:r>
          </a:p>
        </p:txBody>
      </p:sp>
    </p:spTree>
    <p:extLst>
      <p:ext uri="{BB962C8B-B14F-4D97-AF65-F5344CB8AC3E}">
        <p14:creationId xmlns:p14="http://schemas.microsoft.com/office/powerpoint/2010/main" val="34124718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picture containing text&#10;&#10;Description automatically generated">
            <a:extLst>
              <a:ext uri="{FF2B5EF4-FFF2-40B4-BE49-F238E27FC236}">
                <a16:creationId xmlns:a16="http://schemas.microsoft.com/office/drawing/2014/main" id="{76A2C3D8-03D8-4CA4-AC98-B2FFCA0BC04C}"/>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3304052" y="1858446"/>
            <a:ext cx="4984102" cy="4634666"/>
          </a:xfrm>
          <a:prstGeom prst="rect">
            <a:avLst/>
          </a:prstGeom>
        </p:spPr>
      </p:pic>
      <p:sp>
        <p:nvSpPr>
          <p:cNvPr id="13" name="Rectangle 2">
            <a:extLst>
              <a:ext uri="{FF2B5EF4-FFF2-40B4-BE49-F238E27FC236}">
                <a16:creationId xmlns:a16="http://schemas.microsoft.com/office/drawing/2014/main" id="{D853BCF1-FAE1-4D77-BBB4-585D6CF6317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14" name="Rectangle 13">
            <a:extLst>
              <a:ext uri="{FF2B5EF4-FFF2-40B4-BE49-F238E27FC236}">
                <a16:creationId xmlns:a16="http://schemas.microsoft.com/office/drawing/2014/main" id="{B67E72D6-BC89-468C-84D8-43D5E75AD261}"/>
              </a:ext>
            </a:extLst>
          </p:cNvPr>
          <p:cNvSpPr/>
          <p:nvPr/>
        </p:nvSpPr>
        <p:spPr>
          <a:xfrm>
            <a:off x="8581572" y="4448174"/>
            <a:ext cx="2199639" cy="369332"/>
          </a:xfrm>
          <a:prstGeom prst="rect">
            <a:avLst/>
          </a:prstGeom>
          <a:ln>
            <a:solidFill>
              <a:srgbClr val="0089A7"/>
            </a:solidFill>
          </a:ln>
        </p:spPr>
        <p:txBody>
          <a:bodyPr wrap="square">
            <a:spAutoFit/>
          </a:bodyPr>
          <a:lstStyle/>
          <a:p>
            <a:pPr>
              <a:spcAft>
                <a:spcPts val="0"/>
              </a:spcAft>
              <a:tabLst>
                <a:tab pos="5727700" algn="r"/>
              </a:tabLst>
            </a:pPr>
            <a:r>
              <a:rPr lang="en-GB" dirty="0">
                <a:latin typeface="Calibri" panose="020F0502020204030204" pitchFamily="34" charset="0"/>
                <a:ea typeface="Calibri" panose="020F0502020204030204" pitchFamily="34" charset="0"/>
              </a:rPr>
              <a:t>The images are clear.</a:t>
            </a:r>
            <a:endParaRPr lang="en-GB" dirty="0">
              <a:latin typeface="Times New Roman" panose="02020603050405020304" pitchFamily="18" charset="0"/>
              <a:ea typeface="Times New Roman" panose="02020603050405020304" pitchFamily="18" charset="0"/>
            </a:endParaRPr>
          </a:p>
        </p:txBody>
      </p:sp>
      <p:sp>
        <p:nvSpPr>
          <p:cNvPr id="16" name="Rectangle 15">
            <a:extLst>
              <a:ext uri="{FF2B5EF4-FFF2-40B4-BE49-F238E27FC236}">
                <a16:creationId xmlns:a16="http://schemas.microsoft.com/office/drawing/2014/main" id="{A516E29F-D43A-4457-956C-2FF05BC7E2B9}"/>
              </a:ext>
            </a:extLst>
          </p:cNvPr>
          <p:cNvSpPr/>
          <p:nvPr/>
        </p:nvSpPr>
        <p:spPr>
          <a:xfrm>
            <a:off x="670560" y="2967335"/>
            <a:ext cx="2150596" cy="923330"/>
          </a:xfrm>
          <a:prstGeom prst="rect">
            <a:avLst/>
          </a:prstGeom>
          <a:ln>
            <a:solidFill>
              <a:srgbClr val="0089A7"/>
            </a:solidFill>
          </a:ln>
        </p:spPr>
        <p:txBody>
          <a:bodyPr wrap="square">
            <a:spAutoFit/>
          </a:bodyPr>
          <a:lstStyle/>
          <a:p>
            <a:pPr>
              <a:spcAft>
                <a:spcPts val="0"/>
              </a:spcAft>
              <a:tabLst>
                <a:tab pos="5727700" algn="r"/>
              </a:tabLst>
            </a:pPr>
            <a:r>
              <a:rPr lang="en-GB" dirty="0">
                <a:latin typeface="Calibri" panose="020F0502020204030204" pitchFamily="34" charset="0"/>
                <a:ea typeface="Calibri" panose="020F0502020204030204" pitchFamily="34" charset="0"/>
              </a:rPr>
              <a:t>The statements explaining are concise.</a:t>
            </a:r>
            <a:endParaRPr lang="en-GB" dirty="0">
              <a:latin typeface="Times New Roman" panose="02020603050405020304" pitchFamily="18" charset="0"/>
              <a:ea typeface="Times New Roman" panose="02020603050405020304" pitchFamily="18" charset="0"/>
            </a:endParaRPr>
          </a:p>
        </p:txBody>
      </p:sp>
      <p:sp>
        <p:nvSpPr>
          <p:cNvPr id="17" name="Rectangle 16">
            <a:extLst>
              <a:ext uri="{FF2B5EF4-FFF2-40B4-BE49-F238E27FC236}">
                <a16:creationId xmlns:a16="http://schemas.microsoft.com/office/drawing/2014/main" id="{5B13C4DA-1E63-4B65-88CC-D5161BABC8F8}"/>
              </a:ext>
            </a:extLst>
          </p:cNvPr>
          <p:cNvSpPr/>
          <p:nvPr/>
        </p:nvSpPr>
        <p:spPr>
          <a:xfrm>
            <a:off x="9515821" y="2415404"/>
            <a:ext cx="2399760" cy="369332"/>
          </a:xfrm>
          <a:prstGeom prst="rect">
            <a:avLst/>
          </a:prstGeom>
          <a:ln>
            <a:solidFill>
              <a:srgbClr val="0089A7"/>
            </a:solidFill>
          </a:ln>
        </p:spPr>
        <p:txBody>
          <a:bodyPr wrap="none">
            <a:spAutoFit/>
          </a:bodyPr>
          <a:lstStyle/>
          <a:p>
            <a:r>
              <a:rPr lang="en-GB" dirty="0">
                <a:latin typeface="Calibri" panose="020F0502020204030204" pitchFamily="34" charset="0"/>
                <a:ea typeface="Calibri" panose="020F0502020204030204" pitchFamily="34" charset="0"/>
              </a:rPr>
              <a:t>The text is easy to read.</a:t>
            </a:r>
            <a:endParaRPr lang="en-US" dirty="0"/>
          </a:p>
        </p:txBody>
      </p:sp>
      <p:cxnSp>
        <p:nvCxnSpPr>
          <p:cNvPr id="18" name="Straight Arrow Connector 17">
            <a:extLst>
              <a:ext uri="{FF2B5EF4-FFF2-40B4-BE49-F238E27FC236}">
                <a16:creationId xmlns:a16="http://schemas.microsoft.com/office/drawing/2014/main" id="{B1B7CEC5-8E60-42A7-A587-914FFBE392F9}"/>
              </a:ext>
            </a:extLst>
          </p:cNvPr>
          <p:cNvCxnSpPr>
            <a:cxnSpLocks/>
            <a:stCxn id="17" idx="1"/>
          </p:cNvCxnSpPr>
          <p:nvPr/>
        </p:nvCxnSpPr>
        <p:spPr>
          <a:xfrm flipH="1" flipV="1">
            <a:off x="7968343" y="2342606"/>
            <a:ext cx="1547478" cy="257464"/>
          </a:xfrm>
          <a:prstGeom prst="straightConnector1">
            <a:avLst/>
          </a:prstGeom>
          <a:ln>
            <a:solidFill>
              <a:srgbClr val="2197AC"/>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29CEDAD-7FC2-4518-962A-B8213F29FEBF}"/>
              </a:ext>
            </a:extLst>
          </p:cNvPr>
          <p:cNvCxnSpPr>
            <a:cxnSpLocks/>
          </p:cNvCxnSpPr>
          <p:nvPr/>
        </p:nvCxnSpPr>
        <p:spPr>
          <a:xfrm flipH="1">
            <a:off x="7489371" y="4612975"/>
            <a:ext cx="1092202" cy="620876"/>
          </a:xfrm>
          <a:prstGeom prst="straightConnector1">
            <a:avLst/>
          </a:prstGeom>
          <a:ln>
            <a:solidFill>
              <a:srgbClr val="2197AC"/>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AF37435-EAD6-4632-91F1-A51D01047BE2}"/>
              </a:ext>
            </a:extLst>
          </p:cNvPr>
          <p:cNvCxnSpPr>
            <a:cxnSpLocks/>
          </p:cNvCxnSpPr>
          <p:nvPr/>
        </p:nvCxnSpPr>
        <p:spPr>
          <a:xfrm flipV="1">
            <a:off x="2821156" y="2821577"/>
            <a:ext cx="705815" cy="576943"/>
          </a:xfrm>
          <a:prstGeom prst="straightConnector1">
            <a:avLst/>
          </a:prstGeom>
          <a:ln>
            <a:solidFill>
              <a:srgbClr val="2197AC"/>
            </a:solidFill>
            <a:tailEnd type="triangle"/>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7372856D-83DE-4D7A-BC43-CF96AF07F973}"/>
              </a:ext>
            </a:extLst>
          </p:cNvPr>
          <p:cNvSpPr>
            <a:spLocks noGrp="1"/>
          </p:cNvSpPr>
          <p:nvPr>
            <p:ph type="title"/>
          </p:nvPr>
        </p:nvSpPr>
        <p:spPr>
          <a:xfrm>
            <a:off x="1580322" y="844826"/>
            <a:ext cx="9773478" cy="775022"/>
          </a:xfrm>
        </p:spPr>
        <p:txBody>
          <a:bodyPr>
            <a:normAutofit/>
          </a:bodyPr>
          <a:lstStyle/>
          <a:p>
            <a:r>
              <a:rPr lang="en-GB" b="1" dirty="0">
                <a:solidFill>
                  <a:schemeClr val="bg1"/>
                </a:solidFill>
              </a:rPr>
              <a:t>Infographic</a:t>
            </a:r>
          </a:p>
        </p:txBody>
      </p:sp>
    </p:spTree>
    <p:extLst>
      <p:ext uri="{BB962C8B-B14F-4D97-AF65-F5344CB8AC3E}">
        <p14:creationId xmlns:p14="http://schemas.microsoft.com/office/powerpoint/2010/main" val="30963646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Diagram&#10;&#10;Description automatically generated">
            <a:extLst>
              <a:ext uri="{FF2B5EF4-FFF2-40B4-BE49-F238E27FC236}">
                <a16:creationId xmlns:a16="http://schemas.microsoft.com/office/drawing/2014/main" id="{BF29E46E-379C-4578-98CA-B23A7EEE0155}"/>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3484905" y="1738052"/>
            <a:ext cx="4296116" cy="4858908"/>
          </a:xfrm>
          <a:prstGeom prst="rect">
            <a:avLst/>
          </a:prstGeom>
        </p:spPr>
      </p:pic>
      <p:sp>
        <p:nvSpPr>
          <p:cNvPr id="12" name="Rectangle 11">
            <a:extLst>
              <a:ext uri="{FF2B5EF4-FFF2-40B4-BE49-F238E27FC236}">
                <a16:creationId xmlns:a16="http://schemas.microsoft.com/office/drawing/2014/main" id="{FD4A203E-DD78-4D4F-83D8-BE2DA7553DE6}"/>
              </a:ext>
            </a:extLst>
          </p:cNvPr>
          <p:cNvSpPr/>
          <p:nvPr/>
        </p:nvSpPr>
        <p:spPr>
          <a:xfrm>
            <a:off x="284177" y="3759440"/>
            <a:ext cx="3118418" cy="369332"/>
          </a:xfrm>
          <a:prstGeom prst="rect">
            <a:avLst/>
          </a:prstGeom>
          <a:ln>
            <a:solidFill>
              <a:srgbClr val="0089A7"/>
            </a:solidFill>
          </a:ln>
        </p:spPr>
        <p:txBody>
          <a:bodyPr wrap="none">
            <a:spAutoFit/>
          </a:bodyPr>
          <a:lstStyle/>
          <a:p>
            <a:pPr>
              <a:spcAft>
                <a:spcPts val="0"/>
              </a:spcAft>
              <a:tabLst>
                <a:tab pos="5727700" algn="r"/>
              </a:tabLst>
            </a:pPr>
            <a:r>
              <a:rPr lang="en-GB" dirty="0">
                <a:latin typeface="Calibri" panose="020F0502020204030204" pitchFamily="34" charset="0"/>
                <a:ea typeface="Calibri" panose="020F0502020204030204" pitchFamily="34" charset="0"/>
              </a:rPr>
              <a:t>The layout is clearly structured.</a:t>
            </a:r>
            <a:endParaRPr lang="en-GB" dirty="0">
              <a:latin typeface="Times New Roman" panose="02020603050405020304" pitchFamily="18" charset="0"/>
              <a:ea typeface="Times New Roman" panose="02020603050405020304" pitchFamily="18" charset="0"/>
            </a:endParaRPr>
          </a:p>
        </p:txBody>
      </p:sp>
      <p:sp>
        <p:nvSpPr>
          <p:cNvPr id="13" name="Rectangle 12">
            <a:extLst>
              <a:ext uri="{FF2B5EF4-FFF2-40B4-BE49-F238E27FC236}">
                <a16:creationId xmlns:a16="http://schemas.microsoft.com/office/drawing/2014/main" id="{DD8AA7C7-5719-4312-8B52-9CDCDB353EEB}"/>
              </a:ext>
            </a:extLst>
          </p:cNvPr>
          <p:cNvSpPr/>
          <p:nvPr/>
        </p:nvSpPr>
        <p:spPr>
          <a:xfrm>
            <a:off x="8380294" y="2365069"/>
            <a:ext cx="2910274" cy="646331"/>
          </a:xfrm>
          <a:prstGeom prst="rect">
            <a:avLst/>
          </a:prstGeom>
          <a:ln>
            <a:solidFill>
              <a:srgbClr val="0089A7"/>
            </a:solidFill>
          </a:ln>
        </p:spPr>
        <p:txBody>
          <a:bodyPr wrap="square">
            <a:spAutoFit/>
          </a:bodyPr>
          <a:lstStyle/>
          <a:p>
            <a:pPr>
              <a:spcAft>
                <a:spcPts val="0"/>
              </a:spcAft>
              <a:tabLst>
                <a:tab pos="5727700" algn="r"/>
              </a:tabLst>
            </a:pPr>
            <a:r>
              <a:rPr lang="en-GB" dirty="0">
                <a:latin typeface="Calibri" panose="020F0502020204030204" pitchFamily="34" charset="0"/>
                <a:ea typeface="Calibri" panose="020F0502020204030204" pitchFamily="34" charset="0"/>
              </a:rPr>
              <a:t>The text stands out from the background colours.</a:t>
            </a:r>
            <a:endParaRPr lang="en-GB" dirty="0">
              <a:latin typeface="Times New Roman" panose="02020603050405020304" pitchFamily="18" charset="0"/>
              <a:ea typeface="Times New Roman" panose="02020603050405020304" pitchFamily="18" charset="0"/>
            </a:endParaRPr>
          </a:p>
        </p:txBody>
      </p:sp>
      <p:sp>
        <p:nvSpPr>
          <p:cNvPr id="14" name="Rectangle 13">
            <a:extLst>
              <a:ext uri="{FF2B5EF4-FFF2-40B4-BE49-F238E27FC236}">
                <a16:creationId xmlns:a16="http://schemas.microsoft.com/office/drawing/2014/main" id="{17B96009-99EF-4D22-A2AF-674A3FA50414}"/>
              </a:ext>
            </a:extLst>
          </p:cNvPr>
          <p:cNvSpPr/>
          <p:nvPr/>
        </p:nvSpPr>
        <p:spPr>
          <a:xfrm>
            <a:off x="8223582" y="5153435"/>
            <a:ext cx="3310826" cy="646331"/>
          </a:xfrm>
          <a:prstGeom prst="rect">
            <a:avLst/>
          </a:prstGeom>
          <a:ln>
            <a:solidFill>
              <a:srgbClr val="0089A7"/>
            </a:solidFill>
          </a:ln>
        </p:spPr>
        <p:txBody>
          <a:bodyPr wrap="square">
            <a:spAutoFit/>
          </a:bodyPr>
          <a:lstStyle/>
          <a:p>
            <a:r>
              <a:rPr lang="en-GB" dirty="0">
                <a:latin typeface="Calibri" panose="020F0502020204030204" pitchFamily="34" charset="0"/>
                <a:ea typeface="Calibri" panose="020F0502020204030204" pitchFamily="34" charset="0"/>
              </a:rPr>
              <a:t>The </a:t>
            </a:r>
            <a:r>
              <a:rPr lang="en-GB" dirty="0" smtClean="0">
                <a:latin typeface="Calibri" panose="020F0502020204030204" pitchFamily="34" charset="0"/>
                <a:ea typeface="Calibri" panose="020F0502020204030204" pitchFamily="34" charset="0"/>
              </a:rPr>
              <a:t>image is well </a:t>
            </a:r>
            <a:r>
              <a:rPr lang="en-GB" dirty="0">
                <a:latin typeface="Calibri" panose="020F0502020204030204" pitchFamily="34" charset="0"/>
                <a:ea typeface="Calibri" panose="020F0502020204030204" pitchFamily="34" charset="0"/>
              </a:rPr>
              <a:t>spaced and not intrusive.</a:t>
            </a:r>
            <a:endParaRPr lang="en-US" dirty="0"/>
          </a:p>
        </p:txBody>
      </p:sp>
      <p:cxnSp>
        <p:nvCxnSpPr>
          <p:cNvPr id="15" name="Straight Arrow Connector 14">
            <a:extLst>
              <a:ext uri="{FF2B5EF4-FFF2-40B4-BE49-F238E27FC236}">
                <a16:creationId xmlns:a16="http://schemas.microsoft.com/office/drawing/2014/main" id="{7C127036-6F2A-4A2A-8899-8E50843F0AF3}"/>
              </a:ext>
            </a:extLst>
          </p:cNvPr>
          <p:cNvCxnSpPr>
            <a:cxnSpLocks/>
          </p:cNvCxnSpPr>
          <p:nvPr/>
        </p:nvCxnSpPr>
        <p:spPr>
          <a:xfrm flipV="1">
            <a:off x="2508073" y="3011400"/>
            <a:ext cx="1280156" cy="748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88A4416-EF32-4F5C-AC62-29CFFA4C3CF7}"/>
              </a:ext>
            </a:extLst>
          </p:cNvPr>
          <p:cNvCxnSpPr>
            <a:cxnSpLocks/>
            <a:stCxn id="14" idx="1"/>
          </p:cNvCxnSpPr>
          <p:nvPr/>
        </p:nvCxnSpPr>
        <p:spPr>
          <a:xfrm flipH="1">
            <a:off x="7158446" y="5476601"/>
            <a:ext cx="1065136" cy="70759"/>
          </a:xfrm>
          <a:prstGeom prst="straightConnector1">
            <a:avLst/>
          </a:prstGeom>
          <a:ln>
            <a:solidFill>
              <a:srgbClr val="2197AC"/>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0143E48-B1C7-461B-B8B8-D08E7926B541}"/>
              </a:ext>
            </a:extLst>
          </p:cNvPr>
          <p:cNvCxnSpPr>
            <a:cxnSpLocks/>
            <a:stCxn id="13" idx="1"/>
          </p:cNvCxnSpPr>
          <p:nvPr/>
        </p:nvCxnSpPr>
        <p:spPr>
          <a:xfrm flipH="1" flipV="1">
            <a:off x="7332617" y="2565497"/>
            <a:ext cx="1047677" cy="122738"/>
          </a:xfrm>
          <a:prstGeom prst="straightConnector1">
            <a:avLst/>
          </a:prstGeom>
          <a:ln>
            <a:solidFill>
              <a:srgbClr val="2197AC"/>
            </a:solidFill>
            <a:tailEnd type="triangle"/>
          </a:ln>
        </p:spPr>
        <p:style>
          <a:lnRef idx="1">
            <a:schemeClr val="accent1"/>
          </a:lnRef>
          <a:fillRef idx="0">
            <a:schemeClr val="accent1"/>
          </a:fillRef>
          <a:effectRef idx="0">
            <a:schemeClr val="accent1"/>
          </a:effectRef>
          <a:fontRef idx="minor">
            <a:schemeClr val="tx1"/>
          </a:fontRef>
        </p:style>
      </p:cxnSp>
      <p:sp>
        <p:nvSpPr>
          <p:cNvPr id="18" name="Title 1">
            <a:extLst>
              <a:ext uri="{FF2B5EF4-FFF2-40B4-BE49-F238E27FC236}">
                <a16:creationId xmlns:a16="http://schemas.microsoft.com/office/drawing/2014/main" id="{C1237E8A-08DF-48C7-99F6-4D69CAD86A17}"/>
              </a:ext>
            </a:extLst>
          </p:cNvPr>
          <p:cNvSpPr>
            <a:spLocks noGrp="1"/>
          </p:cNvSpPr>
          <p:nvPr>
            <p:ph type="title"/>
          </p:nvPr>
        </p:nvSpPr>
        <p:spPr>
          <a:xfrm>
            <a:off x="1580322" y="844826"/>
            <a:ext cx="9773478" cy="775022"/>
          </a:xfrm>
        </p:spPr>
        <p:txBody>
          <a:bodyPr>
            <a:normAutofit/>
          </a:bodyPr>
          <a:lstStyle/>
          <a:p>
            <a:r>
              <a:rPr lang="en-GB" b="1" dirty="0">
                <a:solidFill>
                  <a:schemeClr val="bg1"/>
                </a:solidFill>
              </a:rPr>
              <a:t>Infographic</a:t>
            </a:r>
          </a:p>
        </p:txBody>
      </p:sp>
    </p:spTree>
    <p:extLst>
      <p:ext uri="{BB962C8B-B14F-4D97-AF65-F5344CB8AC3E}">
        <p14:creationId xmlns:p14="http://schemas.microsoft.com/office/powerpoint/2010/main" val="34893209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Diagram&#10;&#10;Description automatically generated">
            <a:extLst>
              <a:ext uri="{FF2B5EF4-FFF2-40B4-BE49-F238E27FC236}">
                <a16:creationId xmlns:a16="http://schemas.microsoft.com/office/drawing/2014/main" id="{6F79E525-51EF-4D1E-8254-DCA760252BAF}"/>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912430" y="1928737"/>
            <a:ext cx="5888005" cy="3532802"/>
          </a:xfrm>
          <a:prstGeom prst="rect">
            <a:avLst/>
          </a:prstGeom>
        </p:spPr>
      </p:pic>
      <p:sp>
        <p:nvSpPr>
          <p:cNvPr id="11" name="Rectangle 10">
            <a:extLst>
              <a:ext uri="{FF2B5EF4-FFF2-40B4-BE49-F238E27FC236}">
                <a16:creationId xmlns:a16="http://schemas.microsoft.com/office/drawing/2014/main" id="{E53E962B-B848-4021-8F64-4776B7E9162A}"/>
              </a:ext>
            </a:extLst>
          </p:cNvPr>
          <p:cNvSpPr/>
          <p:nvPr/>
        </p:nvSpPr>
        <p:spPr>
          <a:xfrm>
            <a:off x="9522742" y="3874218"/>
            <a:ext cx="2669258" cy="707886"/>
          </a:xfrm>
          <a:prstGeom prst="rect">
            <a:avLst/>
          </a:prstGeom>
          <a:ln>
            <a:solidFill>
              <a:srgbClr val="0089A7"/>
            </a:solidFill>
          </a:ln>
        </p:spPr>
        <p:txBody>
          <a:bodyPr wrap="square">
            <a:spAutoFit/>
          </a:bodyPr>
          <a:lstStyle/>
          <a:p>
            <a:pPr>
              <a:spcAft>
                <a:spcPts val="0"/>
              </a:spcAft>
              <a:tabLst>
                <a:tab pos="5727700" algn="r"/>
              </a:tabLst>
            </a:pPr>
            <a:r>
              <a:rPr lang="en-GB" sz="2000" dirty="0">
                <a:latin typeface="Calibri" panose="020F0502020204030204" pitchFamily="34" charset="0"/>
                <a:ea typeface="Calibri" panose="020F0502020204030204" pitchFamily="34" charset="0"/>
              </a:rPr>
              <a:t>Statistics are used to support the text.</a:t>
            </a:r>
            <a:endParaRPr lang="en-GB" sz="2000" dirty="0">
              <a:latin typeface="Times New Roman" panose="02020603050405020304" pitchFamily="18" charset="0"/>
              <a:ea typeface="Times New Roman" panose="02020603050405020304" pitchFamily="18" charset="0"/>
            </a:endParaRPr>
          </a:p>
        </p:txBody>
      </p:sp>
      <p:sp>
        <p:nvSpPr>
          <p:cNvPr id="13" name="Rectangle 12">
            <a:extLst>
              <a:ext uri="{FF2B5EF4-FFF2-40B4-BE49-F238E27FC236}">
                <a16:creationId xmlns:a16="http://schemas.microsoft.com/office/drawing/2014/main" id="{E118767C-BE6F-4BAE-B817-366C1E673A10}"/>
              </a:ext>
            </a:extLst>
          </p:cNvPr>
          <p:cNvSpPr/>
          <p:nvPr/>
        </p:nvSpPr>
        <p:spPr>
          <a:xfrm>
            <a:off x="457157" y="2277784"/>
            <a:ext cx="1682390" cy="1015663"/>
          </a:xfrm>
          <a:prstGeom prst="rect">
            <a:avLst/>
          </a:prstGeom>
          <a:ln>
            <a:solidFill>
              <a:srgbClr val="0089A7"/>
            </a:solidFill>
          </a:ln>
        </p:spPr>
        <p:txBody>
          <a:bodyPr wrap="square">
            <a:spAutoFit/>
          </a:bodyPr>
          <a:lstStyle/>
          <a:p>
            <a:pPr>
              <a:spcAft>
                <a:spcPts val="0"/>
              </a:spcAft>
              <a:tabLst>
                <a:tab pos="5727700" algn="r"/>
              </a:tabLst>
            </a:pPr>
            <a:r>
              <a:rPr lang="en-GB" sz="2000" dirty="0">
                <a:latin typeface="Calibri" panose="020F0502020204030204" pitchFamily="34" charset="0"/>
                <a:ea typeface="Calibri" panose="020F0502020204030204" pitchFamily="34" charset="0"/>
              </a:rPr>
              <a:t>The images support the text.</a:t>
            </a:r>
            <a:endParaRPr lang="en-GB" sz="2000" dirty="0">
              <a:latin typeface="Times New Roman" panose="02020603050405020304" pitchFamily="18" charset="0"/>
              <a:ea typeface="Times New Roman" panose="02020603050405020304" pitchFamily="18" charset="0"/>
            </a:endParaRPr>
          </a:p>
        </p:txBody>
      </p:sp>
      <p:sp>
        <p:nvSpPr>
          <p:cNvPr id="14" name="Rectangle 13">
            <a:extLst>
              <a:ext uri="{FF2B5EF4-FFF2-40B4-BE49-F238E27FC236}">
                <a16:creationId xmlns:a16="http://schemas.microsoft.com/office/drawing/2014/main" id="{61259225-56D3-4A70-A96D-59851C4240CE}"/>
              </a:ext>
            </a:extLst>
          </p:cNvPr>
          <p:cNvSpPr/>
          <p:nvPr/>
        </p:nvSpPr>
        <p:spPr>
          <a:xfrm>
            <a:off x="2954420" y="5948192"/>
            <a:ext cx="2821734" cy="707886"/>
          </a:xfrm>
          <a:prstGeom prst="rect">
            <a:avLst/>
          </a:prstGeom>
          <a:ln>
            <a:solidFill>
              <a:srgbClr val="0089A7"/>
            </a:solidFill>
          </a:ln>
        </p:spPr>
        <p:txBody>
          <a:bodyPr wrap="square">
            <a:spAutoFit/>
          </a:bodyPr>
          <a:lstStyle/>
          <a:p>
            <a:pPr>
              <a:spcAft>
                <a:spcPts val="0"/>
              </a:spcAft>
              <a:tabLst>
                <a:tab pos="5727700" algn="r"/>
              </a:tabLst>
            </a:pPr>
            <a:r>
              <a:rPr lang="en-GB" sz="2000" dirty="0">
                <a:latin typeface="Calibri" panose="020F0502020204030204" pitchFamily="34" charset="0"/>
                <a:ea typeface="Calibri" panose="020F0502020204030204" pitchFamily="34" charset="0"/>
              </a:rPr>
              <a:t>Headings draw attention to the key points.</a:t>
            </a:r>
            <a:endParaRPr lang="en-GB" sz="2000" dirty="0">
              <a:latin typeface="Times New Roman" panose="02020603050405020304" pitchFamily="18" charset="0"/>
              <a:ea typeface="Times New Roman" panose="02020603050405020304" pitchFamily="18" charset="0"/>
            </a:endParaRPr>
          </a:p>
        </p:txBody>
      </p:sp>
      <p:cxnSp>
        <p:nvCxnSpPr>
          <p:cNvPr id="15" name="Straight Arrow Connector 14">
            <a:extLst>
              <a:ext uri="{FF2B5EF4-FFF2-40B4-BE49-F238E27FC236}">
                <a16:creationId xmlns:a16="http://schemas.microsoft.com/office/drawing/2014/main" id="{CC9E0235-F5F7-48FC-8A80-F47370CB7ED8}"/>
              </a:ext>
            </a:extLst>
          </p:cNvPr>
          <p:cNvCxnSpPr>
            <a:cxnSpLocks/>
            <a:stCxn id="11" idx="1"/>
          </p:cNvCxnSpPr>
          <p:nvPr/>
        </p:nvCxnSpPr>
        <p:spPr>
          <a:xfrm flipH="1" flipV="1">
            <a:off x="8334103" y="3971109"/>
            <a:ext cx="1188639" cy="257052"/>
          </a:xfrm>
          <a:prstGeom prst="straightConnector1">
            <a:avLst/>
          </a:prstGeom>
          <a:ln>
            <a:solidFill>
              <a:srgbClr val="0089A7"/>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03716D0-DDA6-4E21-B69C-B4839DAFFFDE}"/>
              </a:ext>
            </a:extLst>
          </p:cNvPr>
          <p:cNvCxnSpPr>
            <a:cxnSpLocks/>
          </p:cNvCxnSpPr>
          <p:nvPr/>
        </p:nvCxnSpPr>
        <p:spPr>
          <a:xfrm>
            <a:off x="2139547" y="3021874"/>
            <a:ext cx="910679" cy="165463"/>
          </a:xfrm>
          <a:prstGeom prst="straightConnector1">
            <a:avLst/>
          </a:prstGeom>
          <a:ln>
            <a:solidFill>
              <a:srgbClr val="0089A7"/>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7FC6566-B4B8-4505-A7FF-590F0A60AB49}"/>
              </a:ext>
            </a:extLst>
          </p:cNvPr>
          <p:cNvCxnSpPr>
            <a:cxnSpLocks/>
          </p:cNvCxnSpPr>
          <p:nvPr/>
        </p:nvCxnSpPr>
        <p:spPr>
          <a:xfrm flipV="1">
            <a:off x="5342978" y="4937760"/>
            <a:ext cx="1432291" cy="1010433"/>
          </a:xfrm>
          <a:prstGeom prst="straightConnector1">
            <a:avLst/>
          </a:prstGeom>
          <a:ln>
            <a:solidFill>
              <a:srgbClr val="0089A7"/>
            </a:solidFill>
            <a:tailEnd type="triangle"/>
          </a:ln>
        </p:spPr>
        <p:style>
          <a:lnRef idx="1">
            <a:schemeClr val="accent1"/>
          </a:lnRef>
          <a:fillRef idx="0">
            <a:schemeClr val="accent1"/>
          </a:fillRef>
          <a:effectRef idx="0">
            <a:schemeClr val="accent1"/>
          </a:effectRef>
          <a:fontRef idx="minor">
            <a:schemeClr val="tx1"/>
          </a:fontRef>
        </p:style>
      </p:cxnSp>
      <p:sp>
        <p:nvSpPr>
          <p:cNvPr id="18" name="Title 1">
            <a:extLst>
              <a:ext uri="{FF2B5EF4-FFF2-40B4-BE49-F238E27FC236}">
                <a16:creationId xmlns:a16="http://schemas.microsoft.com/office/drawing/2014/main" id="{8DB09DF9-D91F-49B6-8A73-CCBB138A68E8}"/>
              </a:ext>
            </a:extLst>
          </p:cNvPr>
          <p:cNvSpPr>
            <a:spLocks noGrp="1"/>
          </p:cNvSpPr>
          <p:nvPr>
            <p:ph type="title"/>
          </p:nvPr>
        </p:nvSpPr>
        <p:spPr>
          <a:xfrm>
            <a:off x="1580322" y="844826"/>
            <a:ext cx="9773478" cy="775022"/>
          </a:xfrm>
        </p:spPr>
        <p:txBody>
          <a:bodyPr>
            <a:normAutofit/>
          </a:bodyPr>
          <a:lstStyle/>
          <a:p>
            <a:r>
              <a:rPr lang="en-GB" b="1" dirty="0">
                <a:solidFill>
                  <a:schemeClr val="bg1"/>
                </a:solidFill>
              </a:rPr>
              <a:t>Infographic</a:t>
            </a:r>
          </a:p>
        </p:txBody>
      </p:sp>
    </p:spTree>
    <p:extLst>
      <p:ext uri="{BB962C8B-B14F-4D97-AF65-F5344CB8AC3E}">
        <p14:creationId xmlns:p14="http://schemas.microsoft.com/office/powerpoint/2010/main" val="11225152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06696-8D12-4574-BDC3-2DC3137EF4C6}"/>
              </a:ext>
            </a:extLst>
          </p:cNvPr>
          <p:cNvSpPr>
            <a:spLocks noGrp="1"/>
          </p:cNvSpPr>
          <p:nvPr>
            <p:ph type="title"/>
          </p:nvPr>
        </p:nvSpPr>
        <p:spPr>
          <a:xfrm>
            <a:off x="1570382" y="834888"/>
            <a:ext cx="10621618" cy="795130"/>
          </a:xfrm>
        </p:spPr>
        <p:txBody>
          <a:bodyPr>
            <a:noAutofit/>
          </a:bodyPr>
          <a:lstStyle/>
          <a:p>
            <a:r>
              <a:rPr lang="en-GB" sz="2800" b="1" dirty="0">
                <a:solidFill>
                  <a:schemeClr val="bg1"/>
                </a:solidFill>
              </a:rPr>
              <a:t>Activity 3.2: Minimising the environmental impact of your digital devices</a:t>
            </a:r>
          </a:p>
        </p:txBody>
      </p:sp>
      <p:sp>
        <p:nvSpPr>
          <p:cNvPr id="3" name="Rectangle 2">
            <a:extLst>
              <a:ext uri="{FF2B5EF4-FFF2-40B4-BE49-F238E27FC236}">
                <a16:creationId xmlns:a16="http://schemas.microsoft.com/office/drawing/2014/main" id="{9A99B126-2BCD-C749-B184-D5BCC2C1CEB0}"/>
              </a:ext>
            </a:extLst>
          </p:cNvPr>
          <p:cNvSpPr/>
          <p:nvPr/>
        </p:nvSpPr>
        <p:spPr>
          <a:xfrm>
            <a:off x="1570382" y="1979688"/>
            <a:ext cx="5145728" cy="4334328"/>
          </a:xfrm>
          <a:prstGeom prst="rect">
            <a:avLst/>
          </a:prstGeom>
        </p:spPr>
        <p:txBody>
          <a:bodyPr wrap="square">
            <a:spAutoFit/>
          </a:bodyPr>
          <a:lstStyle/>
          <a:p>
            <a:pPr>
              <a:lnSpc>
                <a:spcPct val="107000"/>
              </a:lnSpc>
              <a:spcAft>
                <a:spcPts val="800"/>
              </a:spcAft>
              <a:tabLst>
                <a:tab pos="5727700" algn="r"/>
              </a:tabLst>
            </a:pPr>
            <a:r>
              <a:rPr lang="en-GB" sz="2400" dirty="0">
                <a:latin typeface="Calibri" panose="020F0502020204030204" pitchFamily="34" charset="0"/>
                <a:ea typeface="Calibri" panose="020F0502020204030204" pitchFamily="34" charset="0"/>
                <a:cs typeface="Calibri" panose="020F0502020204030204" pitchFamily="34" charset="0"/>
              </a:rPr>
              <a:t>Choose one environmental impact of technology and create an infographic that:</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itchFamily="2" charset="2"/>
              <a:buChar char=""/>
              <a:tabLst>
                <a:tab pos="5727700" algn="r"/>
              </a:tabLst>
            </a:pPr>
            <a:r>
              <a:rPr lang="en-GB" sz="2400" dirty="0">
                <a:latin typeface="Calibri" panose="020F0502020204030204" pitchFamily="34" charset="0"/>
                <a:ea typeface="Calibri" panose="020F0502020204030204" pitchFamily="34" charset="0"/>
                <a:cs typeface="Calibri" panose="020F0502020204030204" pitchFamily="34" charset="0"/>
              </a:rPr>
              <a:t>outlines the environmental impact</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itchFamily="2" charset="2"/>
              <a:buChar char=""/>
              <a:tabLst>
                <a:tab pos="5727700" algn="r"/>
              </a:tabLst>
            </a:pPr>
            <a:r>
              <a:rPr lang="en-GB" sz="2400" dirty="0">
                <a:latin typeface="Calibri" panose="020F0502020204030204" pitchFamily="34" charset="0"/>
                <a:ea typeface="Calibri" panose="020F0502020204030204" pitchFamily="34" charset="0"/>
                <a:cs typeface="Calibri" panose="020F0502020204030204" pitchFamily="34" charset="0"/>
              </a:rPr>
              <a:t>explains how the impact can be minimised.</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727700" algn="r"/>
              </a:tabLst>
            </a:pPr>
            <a:r>
              <a:rPr lang="en-GB" sz="2400" dirty="0">
                <a:latin typeface="Calibri" panose="020F0502020204030204" pitchFamily="34" charset="0"/>
                <a:ea typeface="Calibri" panose="020F0502020204030204" pitchFamily="34" charset="0"/>
                <a:cs typeface="Calibri" panose="020F0502020204030204" pitchFamily="34" charset="0"/>
              </a:rPr>
              <a:t>You will need to do some research to find out how the impact you choose can be minimised.</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727700" algn="r"/>
              </a:tabLst>
            </a:pPr>
            <a:r>
              <a:rPr lang="en-GB" sz="2400" dirty="0">
                <a:latin typeface="Calibri" panose="020F0502020204030204" pitchFamily="34" charset="0"/>
                <a:ea typeface="Calibri" panose="020F0502020204030204" pitchFamily="34" charset="0"/>
                <a:cs typeface="Calibri" panose="020F0502020204030204" pitchFamily="34" charset="0"/>
              </a:rPr>
              <a:t>Remember to credit all your sources!</a:t>
            </a:r>
            <a:endParaRPr lang="en-GB" sz="2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descr="A picture containing athletic game, basketball, sport&#10;&#10;Description automatically generated">
            <a:extLst>
              <a:ext uri="{FF2B5EF4-FFF2-40B4-BE49-F238E27FC236}">
                <a16:creationId xmlns:a16="http://schemas.microsoft.com/office/drawing/2014/main" id="{C0CCD0EB-74E2-4340-84D9-8703A3B634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41029" y="1886056"/>
            <a:ext cx="4410894" cy="4321738"/>
          </a:xfrm>
          <a:prstGeom prst="rect">
            <a:avLst/>
          </a:prstGeom>
        </p:spPr>
      </p:pic>
    </p:spTree>
    <p:extLst>
      <p:ext uri="{BB962C8B-B14F-4D97-AF65-F5344CB8AC3E}">
        <p14:creationId xmlns:p14="http://schemas.microsoft.com/office/powerpoint/2010/main" val="35615342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66572A-7DB4-A84C-82F9-8D94DE870631}"/>
              </a:ext>
            </a:extLst>
          </p:cNvPr>
          <p:cNvSpPr>
            <a:spLocks noGrp="1"/>
          </p:cNvSpPr>
          <p:nvPr>
            <p:ph idx="1"/>
          </p:nvPr>
        </p:nvSpPr>
        <p:spPr>
          <a:xfrm>
            <a:off x="1543087" y="1956450"/>
            <a:ext cx="9105826" cy="786750"/>
          </a:xfrm>
        </p:spPr>
        <p:txBody>
          <a:bodyPr>
            <a:normAutofit/>
          </a:bodyPr>
          <a:lstStyle/>
          <a:p>
            <a:pPr marL="0" indent="0" algn="ctr">
              <a:buNone/>
            </a:pPr>
            <a:r>
              <a:rPr lang="en-US" sz="2400" b="1" dirty="0"/>
              <a:t>Do you think it is right for mobile phone manufacturers to launch new models every year given the environmental impact of e-waste</a:t>
            </a:r>
            <a:r>
              <a:rPr lang="en-GB" sz="2400" b="1" dirty="0"/>
              <a:t>?</a:t>
            </a:r>
            <a:endParaRPr lang="en-US" sz="2400" b="1" dirty="0"/>
          </a:p>
        </p:txBody>
      </p:sp>
      <p:pic>
        <p:nvPicPr>
          <p:cNvPr id="5" name="Picture 4">
            <a:extLst>
              <a:ext uri="{FF2B5EF4-FFF2-40B4-BE49-F238E27FC236}">
                <a16:creationId xmlns:a16="http://schemas.microsoft.com/office/drawing/2014/main" id="{08B02443-F755-4E5F-A149-8E6FAB34E199}"/>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914400" y="3110508"/>
            <a:ext cx="10363200" cy="3066455"/>
          </a:xfrm>
          <a:prstGeom prst="rect">
            <a:avLst/>
          </a:prstGeom>
        </p:spPr>
      </p:pic>
    </p:spTree>
    <p:extLst>
      <p:ext uri="{BB962C8B-B14F-4D97-AF65-F5344CB8AC3E}">
        <p14:creationId xmlns:p14="http://schemas.microsoft.com/office/powerpoint/2010/main" val="28381982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06696-8D12-4574-BDC3-2DC3137EF4C6}"/>
              </a:ext>
            </a:extLst>
          </p:cNvPr>
          <p:cNvSpPr>
            <a:spLocks noGrp="1"/>
          </p:cNvSpPr>
          <p:nvPr>
            <p:ph type="title"/>
          </p:nvPr>
        </p:nvSpPr>
        <p:spPr>
          <a:xfrm>
            <a:off x="1570382" y="834888"/>
            <a:ext cx="10621618" cy="795130"/>
          </a:xfrm>
        </p:spPr>
        <p:txBody>
          <a:bodyPr>
            <a:normAutofit/>
          </a:bodyPr>
          <a:lstStyle/>
          <a:p>
            <a:r>
              <a:rPr lang="en-GB" b="1" dirty="0">
                <a:solidFill>
                  <a:schemeClr val="bg1"/>
                </a:solidFill>
              </a:rPr>
              <a:t>Quiz 3</a:t>
            </a:r>
          </a:p>
        </p:txBody>
      </p:sp>
      <p:pic>
        <p:nvPicPr>
          <p:cNvPr id="4" name="Picture 3" descr="A picture containing athletic game, basketball, sport&#10;&#10;Description automatically generated">
            <a:extLst>
              <a:ext uri="{FF2B5EF4-FFF2-40B4-BE49-F238E27FC236}">
                <a16:creationId xmlns:a16="http://schemas.microsoft.com/office/drawing/2014/main" id="{01976E5F-8393-4926-BF8B-C684FA1F05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90553" y="2042810"/>
            <a:ext cx="4410894" cy="4321738"/>
          </a:xfrm>
          <a:prstGeom prst="rect">
            <a:avLst/>
          </a:prstGeom>
        </p:spPr>
      </p:pic>
    </p:spTree>
    <p:extLst>
      <p:ext uri="{BB962C8B-B14F-4D97-AF65-F5344CB8AC3E}">
        <p14:creationId xmlns:p14="http://schemas.microsoft.com/office/powerpoint/2010/main" val="124296128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395</TotalTime>
  <Words>686</Words>
  <Application>Microsoft Office PowerPoint</Application>
  <PresentationFormat>Widescreen</PresentationFormat>
  <Paragraphs>58</Paragraphs>
  <Slides>14</Slides>
  <Notes>0</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Symbol</vt:lpstr>
      <vt:lpstr>Times New Roman</vt:lpstr>
      <vt:lpstr>Office Theme</vt:lpstr>
      <vt:lpstr>The ethics of computing</vt:lpstr>
      <vt:lpstr>Objectives`</vt:lpstr>
      <vt:lpstr>Activity 3.1: How does technology damage the environment?</vt:lpstr>
      <vt:lpstr>E-waste</vt:lpstr>
      <vt:lpstr>Conflict, habitat destruction and poor working conditions </vt:lpstr>
      <vt:lpstr>CO2 emissions </vt:lpstr>
      <vt:lpstr>Looking to a brighter future</vt:lpstr>
      <vt:lpstr>Infographic</vt:lpstr>
      <vt:lpstr>Infographic</vt:lpstr>
      <vt:lpstr>Infographic</vt:lpstr>
      <vt:lpstr>Infographic</vt:lpstr>
      <vt:lpstr>Activity 3.2: Minimising the environmental impact of your digital devices</vt:lpstr>
      <vt:lpstr>PowerPoint Presentation</vt:lpstr>
      <vt:lpstr>Quiz 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Introducing spreadsheets</dc:title>
  <dc:creator>Lea Albrechtsen</dc:creator>
  <cp:lastModifiedBy>DavitZh</cp:lastModifiedBy>
  <cp:revision>44</cp:revision>
  <dcterms:created xsi:type="dcterms:W3CDTF">2020-11-04T15:22:46Z</dcterms:created>
  <dcterms:modified xsi:type="dcterms:W3CDTF">2024-10-01T04:46:36Z</dcterms:modified>
</cp:coreProperties>
</file>