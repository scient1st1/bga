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4" r:id="rId5"/>
    <p:sldId id="281" r:id="rId6"/>
    <p:sldId id="282" r:id="rId7"/>
    <p:sldId id="283" r:id="rId8"/>
    <p:sldId id="284" r:id="rId9"/>
    <p:sldId id="28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63" d="100"/>
          <a:sy n="63" d="100"/>
        </p:scale>
        <p:origin x="90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570252-6D27-224F-B897-578AE4F8D1E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64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30BDFCA-1EC8-44A5-906C-297502614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82477" y="3118978"/>
            <a:ext cx="4013523" cy="1497914"/>
          </a:xfrm>
        </p:spPr>
        <p:txBody>
          <a:bodyPr>
            <a:normAutofit fontScale="90000"/>
          </a:bodyPr>
          <a:lstStyle/>
          <a:p>
            <a:pPr algn="r"/>
            <a:r>
              <a:rPr lang="en-GB" b="1" dirty="0"/>
              <a:t>The ethics</a:t>
            </a:r>
            <a:br>
              <a:rPr lang="en-GB" b="1" dirty="0"/>
            </a:br>
            <a:r>
              <a:rPr lang="en-GB" b="1" dirty="0"/>
              <a:t>of computing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6CBA57-BD34-48A2-8300-243F9F96ED18}"/>
              </a:ext>
            </a:extLst>
          </p:cNvPr>
          <p:cNvSpPr/>
          <p:nvPr/>
        </p:nvSpPr>
        <p:spPr>
          <a:xfrm>
            <a:off x="2401783" y="4616892"/>
            <a:ext cx="369421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00B0F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5: Moral dilemma (Part 1)</a:t>
            </a:r>
            <a:endParaRPr lang="en-GB" sz="2000" b="1" dirty="0">
              <a:solidFill>
                <a:srgbClr val="00B0F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33BEE2-D0F0-4A1F-A5DB-221E5F02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462" y="2852165"/>
            <a:ext cx="3626103" cy="216483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844826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00200" y="2798058"/>
            <a:ext cx="9471991" cy="12618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In this lesson, you will learn:</a:t>
            </a:r>
            <a:endParaRPr lang="en-GB" sz="2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how technology creates moral dilemmas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about two moral dilemmas created by technology.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6C8B5-9F2D-4C8D-A6F8-A224F6B9B3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322" y="1975244"/>
            <a:ext cx="3098358" cy="43861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44826"/>
            <a:ext cx="9773478" cy="75537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 A thought experiment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620EF-854E-A645-9D36-1469911EE4ED}"/>
              </a:ext>
            </a:extLst>
          </p:cNvPr>
          <p:cNvSpPr txBox="1"/>
          <p:nvPr/>
        </p:nvSpPr>
        <p:spPr>
          <a:xfrm>
            <a:off x="5319010" y="3314373"/>
            <a:ext cx="5897630" cy="3046988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Imagine you are the driver of a runaway tram (‘trolley’). All you can do is steer from one narrow track to another.</a:t>
            </a:r>
            <a:endParaRPr lang="en-GB" sz="2400" dirty="0"/>
          </a:p>
          <a:p>
            <a:r>
              <a:rPr lang="en-US" sz="2400" dirty="0"/>
              <a:t>Five men are working on one track and one man is working on the other track. Anyone working on the track when the tram enters it will be killed.</a:t>
            </a:r>
            <a:endParaRPr lang="en-GB" sz="2400" dirty="0"/>
          </a:p>
          <a:p>
            <a:pPr algn="ctr"/>
            <a:r>
              <a:rPr lang="en-US" sz="2400" dirty="0"/>
              <a:t>Which track do you choose?</a:t>
            </a:r>
            <a:endParaRPr lang="en-GB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64C858-4133-9B41-9E94-F80BF295BF94}"/>
              </a:ext>
            </a:extLst>
          </p:cNvPr>
          <p:cNvSpPr/>
          <p:nvPr/>
        </p:nvSpPr>
        <p:spPr>
          <a:xfrm>
            <a:off x="5319010" y="2049224"/>
            <a:ext cx="5897630" cy="86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1967, the moral philosopher Philippa Foot created the Trolley Problem.</a:t>
            </a:r>
            <a:endParaRPr lang="en-GB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44826"/>
            <a:ext cx="9773478" cy="75537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Driverless cars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537BF7-053A-124A-BD55-3D2CC9120F24}"/>
              </a:ext>
            </a:extLst>
          </p:cNvPr>
          <p:cNvSpPr/>
          <p:nvPr/>
        </p:nvSpPr>
        <p:spPr>
          <a:xfrm>
            <a:off x="1580322" y="2754106"/>
            <a:ext cx="4317558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When Philippa Foot came up with the Trolley Problem in 1967, driverless cars were the stuff of science fiction.</a:t>
            </a:r>
            <a:endParaRPr lang="en-GB" sz="2400" dirty="0"/>
          </a:p>
          <a:p>
            <a:r>
              <a:rPr lang="en-US" sz="2400" dirty="0"/>
              <a:t>Now they are a reality, and the Trolley Problem has become a very real </a:t>
            </a:r>
            <a:r>
              <a:rPr lang="en-US" sz="2400" b="1" dirty="0">
                <a:solidFill>
                  <a:srgbClr val="00B0F0"/>
                </a:solidFill>
              </a:rPr>
              <a:t>moral dilemma</a:t>
            </a:r>
            <a:r>
              <a:rPr lang="en-US" sz="2400" dirty="0"/>
              <a:t>.</a:t>
            </a:r>
            <a:endParaRPr lang="en-GB" sz="2400" dirty="0"/>
          </a:p>
        </p:txBody>
      </p:sp>
      <p:pic>
        <p:nvPicPr>
          <p:cNvPr id="7" name="Picture 6" descr="Map&#10;&#10;Description automatically generated">
            <a:extLst>
              <a:ext uri="{FF2B5EF4-FFF2-40B4-BE49-F238E27FC236}">
                <a16:creationId xmlns:a16="http://schemas.microsoft.com/office/drawing/2014/main" id="{FBC95287-788F-4185-89E8-EE888B3B6C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72694"/>
            <a:ext cx="5761296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407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44826"/>
            <a:ext cx="9773478" cy="75537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Driverless cars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537BF7-053A-124A-BD55-3D2CC9120F24}"/>
              </a:ext>
            </a:extLst>
          </p:cNvPr>
          <p:cNvSpPr/>
          <p:nvPr/>
        </p:nvSpPr>
        <p:spPr>
          <a:xfrm>
            <a:off x="1580322" y="1812520"/>
            <a:ext cx="898099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Driverless cars have to make decisions.</a:t>
            </a:r>
          </a:p>
          <a:p>
            <a:r>
              <a:rPr lang="en-US" sz="2400" dirty="0"/>
              <a:t>Driverless cars are computers and, as you know, computers can be programmed to make decisions using</a:t>
            </a:r>
            <a:r>
              <a:rPr lang="en-US" sz="2400" b="1" dirty="0">
                <a:solidFill>
                  <a:srgbClr val="00B0F0"/>
                </a:solidFill>
              </a:rPr>
              <a:t> algorithms</a:t>
            </a:r>
            <a:r>
              <a:rPr lang="en-US" sz="2400" dirty="0"/>
              <a:t>. This means that programmers are writing algorithms to govern what a driverless car does in lots of different situations.</a:t>
            </a:r>
          </a:p>
          <a:p>
            <a:r>
              <a:rPr lang="en-US" sz="2400" dirty="0"/>
              <a:t>This is relatively simple when the car needs to turn left: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The programmed route identifies that the car needs to take the next turning on the left.</a:t>
            </a:r>
          </a:p>
          <a:p>
            <a:r>
              <a:rPr lang="en-US" sz="2400" dirty="0">
                <a:latin typeface="Courier" pitchFamily="2" charset="0"/>
              </a:rPr>
              <a:t>The left-hand indicator signals for 10 seconds.</a:t>
            </a:r>
          </a:p>
          <a:p>
            <a:r>
              <a:rPr lang="en-US" sz="2400" dirty="0">
                <a:latin typeface="Courier" pitchFamily="2" charset="0"/>
              </a:rPr>
              <a:t>The car steers left and continues on down the new road.</a:t>
            </a:r>
          </a:p>
        </p:txBody>
      </p:sp>
    </p:spTree>
    <p:extLst>
      <p:ext uri="{BB962C8B-B14F-4D97-AF65-F5344CB8AC3E}">
        <p14:creationId xmlns:p14="http://schemas.microsoft.com/office/powerpoint/2010/main" val="1643770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44826"/>
            <a:ext cx="9773478" cy="75537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Driverless cars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537BF7-053A-124A-BD55-3D2CC9120F24}"/>
              </a:ext>
            </a:extLst>
          </p:cNvPr>
          <p:cNvSpPr/>
          <p:nvPr/>
        </p:nvSpPr>
        <p:spPr>
          <a:xfrm>
            <a:off x="1580322" y="1995400"/>
            <a:ext cx="9173817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But it gets a lot more complicated when the car has to make a moral decision.</a:t>
            </a:r>
          </a:p>
          <a:p>
            <a:r>
              <a:rPr lang="en-US" sz="2400" dirty="0"/>
              <a:t>If somebody steps out in front of a driverless car, should the car swerve to avoid the person and potentially kill all the passengers?</a:t>
            </a:r>
          </a:p>
          <a:p>
            <a:r>
              <a:rPr lang="en-US" sz="2400" dirty="0"/>
              <a:t>Or should the car kill the person who stepped out into the road?</a:t>
            </a:r>
          </a:p>
          <a:p>
            <a:endParaRPr lang="en-US" sz="2400" dirty="0"/>
          </a:p>
          <a:p>
            <a:r>
              <a:rPr lang="en-US" sz="2400" dirty="0"/>
              <a:t>If you were driving the car, you would make a split-second decision and whatever happened would be called an accident.</a:t>
            </a:r>
          </a:p>
          <a:p>
            <a:endParaRPr lang="en-US" sz="2400" dirty="0"/>
          </a:p>
          <a:p>
            <a:r>
              <a:rPr lang="en-US" sz="2400" dirty="0"/>
              <a:t>But a programmer must decide in advance what a driverless car will do.</a:t>
            </a:r>
          </a:p>
        </p:txBody>
      </p:sp>
    </p:spTree>
    <p:extLst>
      <p:ext uri="{BB962C8B-B14F-4D97-AF65-F5344CB8AC3E}">
        <p14:creationId xmlns:p14="http://schemas.microsoft.com/office/powerpoint/2010/main" val="2281415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9513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5.1: Driverless car dilemmas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438E7364-E8CF-4B94-8EFC-4CD6A8D6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553" y="2042810"/>
            <a:ext cx="4410894" cy="432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932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9513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5.2: The counter arguments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83878B-6C30-2448-82BA-769A637B68BA}"/>
              </a:ext>
            </a:extLst>
          </p:cNvPr>
          <p:cNvSpPr/>
          <p:nvPr/>
        </p:nvSpPr>
        <p:spPr>
          <a:xfrm>
            <a:off x="1570382" y="1886056"/>
            <a:ext cx="5570647" cy="4729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Swap your Activity 5.1 worksheet with a partner.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Use the space around the reasons for their choices to present the counter arguments in another colour. Why should the other option be chosen?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may agree with your partner’s choice, but is there another way of looking at the dilemma?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When you have finished, hand your Activity 5.1 worksheet back to your partner.</a:t>
            </a:r>
            <a:endParaRPr lang="en-GB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6E588969-D678-44E7-9B0C-BBD542C72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029" y="1886056"/>
            <a:ext cx="4410894" cy="432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6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9513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5.3: A final decision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83878B-6C30-2448-82BA-769A637B68BA}"/>
              </a:ext>
            </a:extLst>
          </p:cNvPr>
          <p:cNvSpPr/>
          <p:nvPr/>
        </p:nvSpPr>
        <p:spPr>
          <a:xfrm>
            <a:off x="1570382" y="2179939"/>
            <a:ext cx="5013298" cy="37339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Look at your Activity 5.1 worksheet and all the annotations. Highlight the best arguments and decide, once and for all, which option you will program the driverless car to pursue.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be using your decisions to write algorithms next lesson, so remember to bring your annotated worksheet with you.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2AE63458-61CC-46DA-80F1-D95B062F4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029" y="1886056"/>
            <a:ext cx="4410894" cy="432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113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489</Words>
  <Application>Microsoft Office PowerPoint</Application>
  <PresentationFormat>Widescreen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Calibri Light</vt:lpstr>
      <vt:lpstr>Courier</vt:lpstr>
      <vt:lpstr>Symbol</vt:lpstr>
      <vt:lpstr>Times New Roman</vt:lpstr>
      <vt:lpstr>Office Theme</vt:lpstr>
      <vt:lpstr>The ethics of computing</vt:lpstr>
      <vt:lpstr>Objectives</vt:lpstr>
      <vt:lpstr> A thought experiment </vt:lpstr>
      <vt:lpstr>Driverless cars</vt:lpstr>
      <vt:lpstr>Driverless cars</vt:lpstr>
      <vt:lpstr>Driverless cars</vt:lpstr>
      <vt:lpstr>Activity 5.1: Driverless car dilemmas</vt:lpstr>
      <vt:lpstr>Activity 5.2: The counter arguments </vt:lpstr>
      <vt:lpstr>Activity 5.3: A final decision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34</cp:revision>
  <dcterms:created xsi:type="dcterms:W3CDTF">2020-11-04T15:22:46Z</dcterms:created>
  <dcterms:modified xsi:type="dcterms:W3CDTF">2021-06-17T10:54:14Z</dcterms:modified>
</cp:coreProperties>
</file>