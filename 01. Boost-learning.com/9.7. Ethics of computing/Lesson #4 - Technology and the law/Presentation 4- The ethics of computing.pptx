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3" r:id="rId4"/>
    <p:sldId id="258" r:id="rId5"/>
    <p:sldId id="281" r:id="rId6"/>
    <p:sldId id="274" r:id="rId7"/>
    <p:sldId id="282" r:id="rId8"/>
    <p:sldId id="283" r:id="rId9"/>
    <p:sldId id="284" r:id="rId10"/>
    <p:sldId id="285" r:id="rId11"/>
    <p:sldId id="286" r:id="rId12"/>
    <p:sldId id="28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24" autoAdjust="0"/>
    <p:restoredTop sz="94660"/>
  </p:normalViewPr>
  <p:slideViewPr>
    <p:cSldViewPr snapToGrid="0">
      <p:cViewPr varScale="1">
        <p:scale>
          <a:sx n="64" d="100"/>
          <a:sy n="64" d="100"/>
        </p:scale>
        <p:origin x="78" y="10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17/06/2021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pic>
        <p:nvPicPr>
          <p:cNvPr id="6" name="Picture 5">
            <a:extLst>
              <a:ext uri="{FF2B5EF4-FFF2-40B4-BE49-F238E27FC236}">
                <a16:creationId xmlns:a16="http://schemas.microsoft.com/office/drawing/2014/main" id="{9F570252-6D27-224F-B897-578AE4F8D1E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0"/>
            <a:ext cx="12192000" cy="1641616"/>
          </a:xfrm>
          <a:prstGeom prst="rect">
            <a:avLst/>
          </a:prstGeom>
        </p:spPr>
      </p:pic>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4A7D1A69-8ECE-490F-B68B-25FF0F46AD5A}"/>
              </a:ext>
            </a:extLst>
          </p:cNvPr>
          <p:cNvSpPr>
            <a:spLocks noGrp="1"/>
          </p:cNvSpPr>
          <p:nvPr>
            <p:ph type="ctrTitle"/>
          </p:nvPr>
        </p:nvSpPr>
        <p:spPr>
          <a:xfrm>
            <a:off x="2082477" y="3118978"/>
            <a:ext cx="4013523" cy="1497914"/>
          </a:xfrm>
        </p:spPr>
        <p:txBody>
          <a:bodyPr>
            <a:normAutofit fontScale="90000"/>
          </a:bodyPr>
          <a:lstStyle/>
          <a:p>
            <a:pPr algn="r"/>
            <a:r>
              <a:rPr lang="en-GB" b="1" dirty="0"/>
              <a:t>The ethics</a:t>
            </a:r>
            <a:br>
              <a:rPr lang="en-GB" b="1" dirty="0"/>
            </a:br>
            <a:r>
              <a:rPr lang="en-GB" b="1" dirty="0"/>
              <a:t>of computing</a:t>
            </a:r>
          </a:p>
        </p:txBody>
      </p:sp>
      <p:sp>
        <p:nvSpPr>
          <p:cNvPr id="8" name="Rectangle 7">
            <a:extLst>
              <a:ext uri="{FF2B5EF4-FFF2-40B4-BE49-F238E27FC236}">
                <a16:creationId xmlns:a16="http://schemas.microsoft.com/office/drawing/2014/main" id="{EF566AA7-FE95-49F4-A0FB-263F6C91B286}"/>
              </a:ext>
            </a:extLst>
          </p:cNvPr>
          <p:cNvSpPr/>
          <p:nvPr/>
        </p:nvSpPr>
        <p:spPr>
          <a:xfrm>
            <a:off x="2367222" y="4616892"/>
            <a:ext cx="3728778" cy="400110"/>
          </a:xfrm>
          <a:prstGeom prst="rect">
            <a:avLst/>
          </a:prstGeom>
        </p:spPr>
        <p:txBody>
          <a:bodyPr wrap="none">
            <a:spAutoFit/>
          </a:bodyPr>
          <a:lstStyle/>
          <a:p>
            <a:pPr algn="r"/>
            <a:r>
              <a:rPr lang="en-GB" sz="2000" b="1" dirty="0">
                <a:solidFill>
                  <a:srgbClr val="00B0F0"/>
                </a:solidFill>
                <a:latin typeface="Calibri" panose="020F0502020204030204" pitchFamily="34" charset="0"/>
                <a:ea typeface="Times New Roman" panose="02020603050405020304" pitchFamily="18" charset="0"/>
              </a:rPr>
              <a:t>Lesson 4: Technology and the law</a:t>
            </a:r>
            <a:endParaRPr lang="en-GB" sz="2000" b="1" dirty="0">
              <a:solidFill>
                <a:srgbClr val="00B0F0"/>
              </a:solidFill>
            </a:endParaRPr>
          </a:p>
        </p:txBody>
      </p:sp>
      <p:pic>
        <p:nvPicPr>
          <p:cNvPr id="9" name="Picture 8">
            <a:extLst>
              <a:ext uri="{FF2B5EF4-FFF2-40B4-BE49-F238E27FC236}">
                <a16:creationId xmlns:a16="http://schemas.microsoft.com/office/drawing/2014/main" id="{F9A44F6D-6455-468C-95E5-C60D2EA1B65A}"/>
              </a:ext>
            </a:extLst>
          </p:cNvPr>
          <p:cNvPicPr>
            <a:picLocks noChangeAspect="1"/>
          </p:cNvPicPr>
          <p:nvPr/>
        </p:nvPicPr>
        <p:blipFill>
          <a:blip r:embed="rId2"/>
          <a:stretch>
            <a:fillRect/>
          </a:stretch>
        </p:blipFill>
        <p:spPr>
          <a:xfrm>
            <a:off x="6430462" y="2852165"/>
            <a:ext cx="3626103" cy="216483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543161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00200" y="844826"/>
            <a:ext cx="9634330" cy="766349"/>
          </a:xfrm>
        </p:spPr>
        <p:txBody>
          <a:bodyPr/>
          <a:lstStyle/>
          <a:p>
            <a:r>
              <a:rPr lang="en-GB" b="1" dirty="0">
                <a:solidFill>
                  <a:schemeClr val="bg1"/>
                </a:solidFill>
              </a:rPr>
              <a:t>Objectives</a:t>
            </a:r>
          </a:p>
        </p:txBody>
      </p:sp>
      <p:sp>
        <p:nvSpPr>
          <p:cNvPr id="5" name="Rectangle 4">
            <a:extLst>
              <a:ext uri="{FF2B5EF4-FFF2-40B4-BE49-F238E27FC236}">
                <a16:creationId xmlns:a16="http://schemas.microsoft.com/office/drawing/2014/main" id="{8430BE0A-41D5-4110-A78D-A6ACD33DE78B}"/>
              </a:ext>
            </a:extLst>
          </p:cNvPr>
          <p:cNvSpPr/>
          <p:nvPr/>
        </p:nvSpPr>
        <p:spPr>
          <a:xfrm>
            <a:off x="1600200" y="2613392"/>
            <a:ext cx="8743013" cy="1631216"/>
          </a:xfrm>
          <a:prstGeom prst="rect">
            <a:avLst/>
          </a:prstGeom>
        </p:spPr>
        <p:txBody>
          <a:bodyPr wrap="square">
            <a:spAutoFit/>
          </a:bodyPr>
          <a:lstStyle/>
          <a:p>
            <a:pPr>
              <a:spcAft>
                <a:spcPts val="0"/>
              </a:spcAft>
            </a:pPr>
            <a:r>
              <a:rPr lang="en-GB" sz="2800" dirty="0">
                <a:latin typeface="Calibri" panose="020F0502020204030204" pitchFamily="34" charset="0"/>
                <a:ea typeface="Times New Roman" panose="02020603050405020304" pitchFamily="18" charset="0"/>
              </a:rPr>
              <a:t>In this lesson, you will learn:</a:t>
            </a:r>
            <a:endParaRPr lang="en-GB" sz="2800" dirty="0">
              <a:latin typeface="Times New Roman" panose="02020603050405020304" pitchFamily="18" charset="0"/>
              <a:ea typeface="Times New Roman" panose="02020603050405020304" pitchFamily="18" charset="0"/>
            </a:endParaRPr>
          </a:p>
          <a:p>
            <a:pPr marL="342900" lvl="0" indent="-342900">
              <a:spcAft>
                <a:spcPts val="0"/>
              </a:spcAft>
              <a:buFont typeface="Symbol" panose="05050102010706020507" pitchFamily="18" charset="2"/>
              <a:buChar char=""/>
            </a:pPr>
            <a:r>
              <a:rPr lang="en-GB" sz="2400" dirty="0">
                <a:latin typeface="Calibri" panose="020F0502020204030204" pitchFamily="34" charset="0"/>
                <a:ea typeface="Times New Roman" panose="02020603050405020304" pitchFamily="18" charset="0"/>
              </a:rPr>
              <a:t>about the main laws that govern data protection in the UK</a:t>
            </a:r>
          </a:p>
          <a:p>
            <a:pPr marL="342900" lvl="0" indent="-342900">
              <a:spcAft>
                <a:spcPts val="0"/>
              </a:spcAft>
              <a:buFont typeface="Symbol" panose="05050102010706020507" pitchFamily="18" charset="2"/>
              <a:buChar char=""/>
            </a:pPr>
            <a:r>
              <a:rPr lang="en-GB" sz="2400" dirty="0">
                <a:latin typeface="Calibri" panose="020F0502020204030204" pitchFamily="34" charset="0"/>
                <a:ea typeface="Times New Roman" panose="02020603050405020304" pitchFamily="18" charset="0"/>
              </a:rPr>
              <a:t>how to apply your understanding of the main data protection laws to a case study.</a:t>
            </a: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21618" cy="795130"/>
          </a:xfrm>
        </p:spPr>
        <p:txBody>
          <a:bodyPr>
            <a:normAutofit/>
          </a:bodyPr>
          <a:lstStyle/>
          <a:p>
            <a:r>
              <a:rPr lang="en-GB" sz="3600" b="1" dirty="0">
                <a:solidFill>
                  <a:schemeClr val="bg1"/>
                </a:solidFill>
              </a:rPr>
              <a:t>What is the difference between ‘illegal’ and ‘immoral’? </a:t>
            </a:r>
          </a:p>
        </p:txBody>
      </p:sp>
      <p:sp>
        <p:nvSpPr>
          <p:cNvPr id="3" name="Rectangle 2">
            <a:extLst>
              <a:ext uri="{FF2B5EF4-FFF2-40B4-BE49-F238E27FC236}">
                <a16:creationId xmlns:a16="http://schemas.microsoft.com/office/drawing/2014/main" id="{81A3A3D5-4421-9F46-8135-B52F7BA94EF2}"/>
              </a:ext>
            </a:extLst>
          </p:cNvPr>
          <p:cNvSpPr/>
          <p:nvPr/>
        </p:nvSpPr>
        <p:spPr>
          <a:xfrm>
            <a:off x="1570382" y="2747531"/>
            <a:ext cx="8607939" cy="1362937"/>
          </a:xfrm>
          <a:prstGeom prst="rect">
            <a:avLst/>
          </a:prstGeom>
        </p:spPr>
        <p:txBody>
          <a:bodyPr wrap="square">
            <a:spAutoFit/>
          </a:bodyPr>
          <a:lstStyle/>
          <a:p>
            <a:pPr>
              <a:lnSpc>
                <a:spcPct val="107000"/>
              </a:lnSpc>
              <a:spcAft>
                <a:spcPts val="800"/>
              </a:spcAft>
            </a:pPr>
            <a:r>
              <a:rPr lang="en-US" sz="2400" dirty="0">
                <a:latin typeface="Calibri" panose="020F0502020204030204" pitchFamily="34" charset="0"/>
                <a:ea typeface="Calibri" panose="020F0502020204030204" pitchFamily="34" charset="0"/>
                <a:cs typeface="Calibri" panose="020F0502020204030204" pitchFamily="34" charset="0"/>
              </a:rPr>
              <a:t>When something is </a:t>
            </a:r>
            <a:r>
              <a:rPr lang="en-US" sz="2400" b="1" dirty="0">
                <a:solidFill>
                  <a:srgbClr val="00B0F0"/>
                </a:solidFill>
                <a:latin typeface="Calibri" panose="020F0502020204030204" pitchFamily="34" charset="0"/>
                <a:ea typeface="Calibri" panose="020F0502020204030204" pitchFamily="34" charset="0"/>
                <a:cs typeface="Calibri" panose="020F0502020204030204" pitchFamily="34" charset="0"/>
              </a:rPr>
              <a:t>illegal</a:t>
            </a:r>
            <a:r>
              <a:rPr lang="en-US" sz="2400" dirty="0">
                <a:latin typeface="Calibri" panose="020F0502020204030204" pitchFamily="34" charset="0"/>
                <a:ea typeface="Calibri" panose="020F0502020204030204" pitchFamily="34" charset="0"/>
                <a:cs typeface="Calibri" panose="020F0502020204030204" pitchFamily="34" charset="0"/>
              </a:rPr>
              <a:t>, it is against the law.</a:t>
            </a:r>
          </a:p>
          <a:p>
            <a:pPr>
              <a:lnSpc>
                <a:spcPct val="107000"/>
              </a:lnSpc>
              <a:spcAft>
                <a:spcPts val="800"/>
              </a:spcAft>
            </a:pPr>
            <a:r>
              <a:rPr lang="en-US" sz="2400" dirty="0">
                <a:latin typeface="Calibri" panose="020F0502020204030204" pitchFamily="34" charset="0"/>
                <a:ea typeface="Calibri" panose="020F0502020204030204" pitchFamily="34" charset="0"/>
                <a:cs typeface="Calibri" panose="020F0502020204030204" pitchFamily="34" charset="0"/>
              </a:rPr>
              <a:t>When something is </a:t>
            </a:r>
            <a:r>
              <a:rPr lang="en-US" sz="2400" b="1" dirty="0">
                <a:solidFill>
                  <a:srgbClr val="00B0F0"/>
                </a:solidFill>
                <a:latin typeface="Calibri" panose="020F0502020204030204" pitchFamily="34" charset="0"/>
                <a:ea typeface="Calibri" panose="020F0502020204030204" pitchFamily="34" charset="0"/>
                <a:cs typeface="Calibri" panose="020F0502020204030204" pitchFamily="34" charset="0"/>
              </a:rPr>
              <a:t>immoral</a:t>
            </a:r>
            <a:r>
              <a:rPr lang="en-US" sz="2400" dirty="0">
                <a:latin typeface="Calibri" panose="020F0502020204030204" pitchFamily="34" charset="0"/>
                <a:ea typeface="Calibri" panose="020F0502020204030204" pitchFamily="34" charset="0"/>
                <a:cs typeface="Calibri" panose="020F0502020204030204" pitchFamily="34" charset="0"/>
              </a:rPr>
              <a:t>, it is not necessarily against the law, but it is against acceptable standards of behaviour.</a:t>
            </a:r>
          </a:p>
        </p:txBody>
      </p:sp>
    </p:spTree>
    <p:extLst>
      <p:ext uri="{BB962C8B-B14F-4D97-AF65-F5344CB8AC3E}">
        <p14:creationId xmlns:p14="http://schemas.microsoft.com/office/powerpoint/2010/main" val="27614531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580322" y="874806"/>
            <a:ext cx="9163878" cy="755374"/>
          </a:xfrm>
        </p:spPr>
        <p:txBody>
          <a:bodyPr>
            <a:noAutofit/>
          </a:bodyPr>
          <a:lstStyle/>
          <a:p>
            <a:r>
              <a:rPr lang="en-GB" sz="3200" b="1" dirty="0">
                <a:solidFill>
                  <a:schemeClr val="bg1"/>
                </a:solidFill>
              </a:rPr>
              <a:t>The main laws that protect personal data from exploitation in the UK </a:t>
            </a:r>
          </a:p>
        </p:txBody>
      </p:sp>
      <p:sp>
        <p:nvSpPr>
          <p:cNvPr id="3" name="Rectangle 2">
            <a:extLst>
              <a:ext uri="{FF2B5EF4-FFF2-40B4-BE49-F238E27FC236}">
                <a16:creationId xmlns:a16="http://schemas.microsoft.com/office/drawing/2014/main" id="{57537BF7-053A-124A-BD55-3D2CC9120F24}"/>
              </a:ext>
            </a:extLst>
          </p:cNvPr>
          <p:cNvSpPr/>
          <p:nvPr/>
        </p:nvSpPr>
        <p:spPr>
          <a:xfrm>
            <a:off x="1580322" y="2045096"/>
            <a:ext cx="9163878" cy="4154984"/>
          </a:xfrm>
          <a:prstGeom prst="rect">
            <a:avLst/>
          </a:prstGeom>
        </p:spPr>
        <p:txBody>
          <a:bodyPr wrap="square">
            <a:spAutoFit/>
          </a:bodyPr>
          <a:lstStyle/>
          <a:p>
            <a:r>
              <a:rPr lang="en-US" sz="2400" dirty="0"/>
              <a:t>Companies collect information about you, including your name, address, data of birth, mobile phone number, email address and bank details. This data is usually stored electronically.</a:t>
            </a:r>
            <a:endParaRPr lang="en-GB" sz="2400" dirty="0"/>
          </a:p>
          <a:p>
            <a:r>
              <a:rPr lang="en-US" sz="2400" dirty="0"/>
              <a:t>There are two main laws that protect your personal data from exploitation in the UK.</a:t>
            </a:r>
            <a:endParaRPr lang="en-GB" sz="2400" dirty="0"/>
          </a:p>
          <a:p>
            <a:pPr marL="342900" lvl="0" indent="-342900">
              <a:buFont typeface="+mj-lt"/>
              <a:buAutoNum type="arabicPeriod"/>
            </a:pPr>
            <a:r>
              <a:rPr lang="en-GB" sz="2400" dirty="0"/>
              <a:t>General Data Protection Regulation (EU) 2016/679, which is commonly referred to as ‘</a:t>
            </a:r>
            <a:r>
              <a:rPr lang="en-GB" sz="2400" b="1" dirty="0">
                <a:solidFill>
                  <a:srgbClr val="00B0F0"/>
                </a:solidFill>
              </a:rPr>
              <a:t>GDPR</a:t>
            </a:r>
            <a:r>
              <a:rPr lang="en-GB" sz="2400" dirty="0"/>
              <a:t>’.</a:t>
            </a:r>
          </a:p>
          <a:p>
            <a:pPr marL="342900" lvl="0" indent="-342900">
              <a:buFont typeface="+mj-lt"/>
              <a:buAutoNum type="arabicPeriod"/>
            </a:pPr>
            <a:r>
              <a:rPr lang="en-US" sz="2400" dirty="0"/>
              <a:t>The</a:t>
            </a:r>
            <a:r>
              <a:rPr lang="en-US" sz="2400" b="1" dirty="0">
                <a:solidFill>
                  <a:srgbClr val="00B0F0"/>
                </a:solidFill>
              </a:rPr>
              <a:t> Data Protection Act 2018</a:t>
            </a:r>
            <a:r>
              <a:rPr lang="en-US" sz="2400" dirty="0"/>
              <a:t>.</a:t>
            </a:r>
          </a:p>
          <a:p>
            <a:pPr marL="342900" lvl="0" indent="-342900">
              <a:buFont typeface="+mj-lt"/>
              <a:buAutoNum type="arabicPeriod"/>
            </a:pPr>
            <a:endParaRPr lang="en-GB" sz="2400" dirty="0"/>
          </a:p>
          <a:p>
            <a:r>
              <a:rPr lang="en-GB" sz="2400" dirty="0"/>
              <a:t>When companies break these laws, they are acting illegally. </a:t>
            </a:r>
          </a:p>
          <a:p>
            <a:r>
              <a:rPr lang="en-GB" sz="2400" dirty="0"/>
              <a:t>They can be prosecuted and fined.</a:t>
            </a:r>
          </a:p>
        </p:txBody>
      </p:sp>
    </p:spTree>
    <p:extLst>
      <p:ext uri="{BB962C8B-B14F-4D97-AF65-F5344CB8AC3E}">
        <p14:creationId xmlns:p14="http://schemas.microsoft.com/office/powerpoint/2010/main" val="11661668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21618" cy="795130"/>
          </a:xfrm>
        </p:spPr>
        <p:txBody>
          <a:bodyPr>
            <a:noAutofit/>
          </a:bodyPr>
          <a:lstStyle/>
          <a:p>
            <a:r>
              <a:rPr lang="en-GB" sz="3200" b="1" dirty="0">
                <a:solidFill>
                  <a:schemeClr val="bg1"/>
                </a:solidFill>
              </a:rPr>
              <a:t>Activity 4.1: The key principles of data protection law in the UK </a:t>
            </a:r>
          </a:p>
        </p:txBody>
      </p:sp>
      <p:sp>
        <p:nvSpPr>
          <p:cNvPr id="3" name="Rectangle 2">
            <a:extLst>
              <a:ext uri="{FF2B5EF4-FFF2-40B4-BE49-F238E27FC236}">
                <a16:creationId xmlns:a16="http://schemas.microsoft.com/office/drawing/2014/main" id="{945D1129-4A50-D64D-A057-1A97304DD165}"/>
              </a:ext>
            </a:extLst>
          </p:cNvPr>
          <p:cNvSpPr/>
          <p:nvPr/>
        </p:nvSpPr>
        <p:spPr>
          <a:xfrm>
            <a:off x="1570382" y="2626408"/>
            <a:ext cx="4525618" cy="2841034"/>
          </a:xfrm>
          <a:prstGeom prst="rect">
            <a:avLst/>
          </a:prstGeom>
        </p:spPr>
        <p:txBody>
          <a:bodyPr wrap="square">
            <a:spAutoFit/>
          </a:bodyPr>
          <a:lstStyle/>
          <a:p>
            <a:pPr>
              <a:lnSpc>
                <a:spcPct val="107000"/>
              </a:lnSpc>
              <a:spcAft>
                <a:spcPts val="800"/>
              </a:spcAft>
            </a:pPr>
            <a:r>
              <a:rPr lang="en-GB" sz="2400" dirty="0">
                <a:latin typeface="Calibri" panose="020F0502020204030204" pitchFamily="34" charset="0"/>
                <a:ea typeface="Calibri" panose="020F0502020204030204" pitchFamily="34" charset="0"/>
                <a:cs typeface="Times New Roman" panose="02020603050405020304" pitchFamily="18" charset="0"/>
              </a:rPr>
              <a:t>Laws can be very difficult to read and understand but, together, we’re going to look at some extracts from GDPR and work out what key principle of data protection law each extract describes.</a:t>
            </a:r>
            <a:endParaRPr lang="en-GB" sz="2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5" name="Picture 4" descr="A picture containing athletic game, basketball, sport&#10;&#10;Description automatically generated">
            <a:extLst>
              <a:ext uri="{FF2B5EF4-FFF2-40B4-BE49-F238E27FC236}">
                <a16:creationId xmlns:a16="http://schemas.microsoft.com/office/drawing/2014/main" id="{EEBDE1D9-5801-4795-B443-AB43A15D22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41029" y="1886056"/>
            <a:ext cx="4410894" cy="4321738"/>
          </a:xfrm>
          <a:prstGeom prst="rect">
            <a:avLst/>
          </a:prstGeom>
        </p:spPr>
      </p:pic>
    </p:spTree>
    <p:extLst>
      <p:ext uri="{BB962C8B-B14F-4D97-AF65-F5344CB8AC3E}">
        <p14:creationId xmlns:p14="http://schemas.microsoft.com/office/powerpoint/2010/main" val="27238745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3036B8D-E866-0545-9011-CBD1378C7907}"/>
              </a:ext>
            </a:extLst>
          </p:cNvPr>
          <p:cNvSpPr txBox="1"/>
          <p:nvPr/>
        </p:nvSpPr>
        <p:spPr>
          <a:xfrm>
            <a:off x="1927784" y="1992062"/>
            <a:ext cx="8336432" cy="3693319"/>
          </a:xfrm>
          <a:prstGeom prst="rect">
            <a:avLst/>
          </a:prstGeom>
          <a:noFill/>
          <a:ln w="19050">
            <a:solidFill>
              <a:srgbClr val="00B0F0"/>
            </a:solidFill>
          </a:ln>
        </p:spPr>
        <p:txBody>
          <a:bodyPr wrap="square" rtlCol="0">
            <a:spAutoFit/>
          </a:bodyPr>
          <a:lstStyle/>
          <a:p>
            <a:pPr marL="514350" indent="-514350">
              <a:buAutoNum type="arabicPeriod"/>
            </a:pPr>
            <a:r>
              <a:rPr lang="en-US" sz="2600" dirty="0"/>
              <a:t>Personal data shall be:</a:t>
            </a:r>
          </a:p>
          <a:p>
            <a:pPr lvl="1"/>
            <a:endParaRPr lang="en-US" sz="2600" dirty="0"/>
          </a:p>
          <a:p>
            <a:pPr lvl="1"/>
            <a:r>
              <a:rPr lang="en-US" sz="2600" dirty="0"/>
              <a:t>(b) collected for specified, explicit and legitimate purposes and not further processed in a manner that is incompatible with those purposes; further processing for archiving purposes in the public interest, scientific or historical research purposes or statistical purposes shall, in accordance with Article 89(1), not be considered to be incompatible with the initial purposes</a:t>
            </a:r>
            <a:endParaRPr lang="en-GB" sz="2600" dirty="0"/>
          </a:p>
        </p:txBody>
      </p:sp>
    </p:spTree>
    <p:extLst>
      <p:ext uri="{BB962C8B-B14F-4D97-AF65-F5344CB8AC3E}">
        <p14:creationId xmlns:p14="http://schemas.microsoft.com/office/powerpoint/2010/main" val="19904076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3036B8D-E866-0545-9011-CBD1378C7907}"/>
              </a:ext>
            </a:extLst>
          </p:cNvPr>
          <p:cNvSpPr txBox="1"/>
          <p:nvPr/>
        </p:nvSpPr>
        <p:spPr>
          <a:xfrm>
            <a:off x="1933731" y="1993691"/>
            <a:ext cx="8334531" cy="1677782"/>
          </a:xfrm>
          <a:prstGeom prst="rect">
            <a:avLst/>
          </a:prstGeom>
          <a:noFill/>
          <a:ln w="19050">
            <a:solidFill>
              <a:srgbClr val="00B0F0"/>
            </a:solidFill>
          </a:ln>
        </p:spPr>
        <p:txBody>
          <a:bodyPr wrap="square" rtlCol="0">
            <a:spAutoFit/>
          </a:bodyPr>
          <a:lstStyle/>
          <a:p>
            <a:pPr marL="514350" indent="-514350">
              <a:buAutoNum type="arabicPeriod"/>
            </a:pPr>
            <a:r>
              <a:rPr lang="en-US" sz="2600" dirty="0"/>
              <a:t>Personal data shall be:</a:t>
            </a:r>
          </a:p>
          <a:p>
            <a:pPr lvl="1"/>
            <a:endParaRPr lang="en-GB" sz="2600" dirty="0"/>
          </a:p>
          <a:p>
            <a:pPr lvl="1"/>
            <a:r>
              <a:rPr lang="en-US" sz="2600" dirty="0"/>
              <a:t>(c) adequate, relevant and limited to what is necessary in relation to the purposes for which they are processed</a:t>
            </a:r>
            <a:endParaRPr lang="en-GB" sz="2600" dirty="0"/>
          </a:p>
        </p:txBody>
      </p:sp>
    </p:spTree>
    <p:extLst>
      <p:ext uri="{BB962C8B-B14F-4D97-AF65-F5344CB8AC3E}">
        <p14:creationId xmlns:p14="http://schemas.microsoft.com/office/powerpoint/2010/main" val="15846640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3036B8D-E866-0545-9011-CBD1378C7907}"/>
              </a:ext>
            </a:extLst>
          </p:cNvPr>
          <p:cNvSpPr txBox="1"/>
          <p:nvPr/>
        </p:nvSpPr>
        <p:spPr>
          <a:xfrm>
            <a:off x="1931829" y="1997440"/>
            <a:ext cx="8336433" cy="2893100"/>
          </a:xfrm>
          <a:prstGeom prst="rect">
            <a:avLst/>
          </a:prstGeom>
          <a:noFill/>
          <a:ln w="19050">
            <a:solidFill>
              <a:srgbClr val="00B0F0"/>
            </a:solidFill>
          </a:ln>
        </p:spPr>
        <p:txBody>
          <a:bodyPr wrap="square" rtlCol="0">
            <a:spAutoFit/>
          </a:bodyPr>
          <a:lstStyle/>
          <a:p>
            <a:pPr marL="514350" indent="-514350">
              <a:buAutoNum type="arabicPeriod"/>
            </a:pPr>
            <a:r>
              <a:rPr lang="en-US" sz="2600" dirty="0"/>
              <a:t>Personal data shall be:</a:t>
            </a:r>
          </a:p>
          <a:p>
            <a:endParaRPr lang="en-GB" sz="2600" dirty="0"/>
          </a:p>
          <a:p>
            <a:pPr lvl="1"/>
            <a:r>
              <a:rPr lang="en-US" sz="2600" dirty="0"/>
              <a:t>(d) accurate and, where necessary, kept up to date; every reasonable step must be taken to ensure that personal data that are inaccurate, having regard to the purposes for which they are processed, are erased or rectified without delay</a:t>
            </a:r>
          </a:p>
        </p:txBody>
      </p:sp>
    </p:spTree>
    <p:extLst>
      <p:ext uri="{BB962C8B-B14F-4D97-AF65-F5344CB8AC3E}">
        <p14:creationId xmlns:p14="http://schemas.microsoft.com/office/powerpoint/2010/main" val="34493461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3036B8D-E866-0545-9011-CBD1378C7907}"/>
              </a:ext>
            </a:extLst>
          </p:cNvPr>
          <p:cNvSpPr txBox="1"/>
          <p:nvPr/>
        </p:nvSpPr>
        <p:spPr>
          <a:xfrm>
            <a:off x="1931830" y="1992063"/>
            <a:ext cx="8336432" cy="3693319"/>
          </a:xfrm>
          <a:prstGeom prst="rect">
            <a:avLst/>
          </a:prstGeom>
          <a:noFill/>
          <a:ln w="19050">
            <a:solidFill>
              <a:srgbClr val="00B0F0"/>
            </a:solidFill>
          </a:ln>
        </p:spPr>
        <p:txBody>
          <a:bodyPr wrap="square" rtlCol="0">
            <a:spAutoFit/>
          </a:bodyPr>
          <a:lstStyle/>
          <a:p>
            <a:pPr marL="514350" indent="-514350">
              <a:buAutoNum type="arabicPeriod"/>
            </a:pPr>
            <a:r>
              <a:rPr lang="en-US" sz="2600" dirty="0"/>
              <a:t>Personal data shall be:</a:t>
            </a:r>
          </a:p>
          <a:p>
            <a:endParaRPr lang="en-GB" sz="2600" dirty="0"/>
          </a:p>
          <a:p>
            <a:r>
              <a:rPr lang="en-US" sz="2600" dirty="0"/>
              <a:t>(e) kept in a form which permits identification of data subjects for no longer than is necessary for the purposes for which the personal data are processed; personal data may be stored for longer periods insofar as the personal data will be processed solely for archiving purposes in the public interest, scientific or historical research purposes or statistical purposes</a:t>
            </a:r>
            <a:endParaRPr lang="en-GB" sz="2600" dirty="0"/>
          </a:p>
        </p:txBody>
      </p:sp>
    </p:spTree>
    <p:extLst>
      <p:ext uri="{BB962C8B-B14F-4D97-AF65-F5344CB8AC3E}">
        <p14:creationId xmlns:p14="http://schemas.microsoft.com/office/powerpoint/2010/main" val="2960895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3036B8D-E866-0545-9011-CBD1378C7907}"/>
              </a:ext>
            </a:extLst>
          </p:cNvPr>
          <p:cNvSpPr txBox="1"/>
          <p:nvPr/>
        </p:nvSpPr>
        <p:spPr>
          <a:xfrm>
            <a:off x="1931830" y="1992062"/>
            <a:ext cx="8336432" cy="2893100"/>
          </a:xfrm>
          <a:prstGeom prst="rect">
            <a:avLst/>
          </a:prstGeom>
          <a:noFill/>
          <a:ln w="19050">
            <a:solidFill>
              <a:srgbClr val="00B0F0"/>
            </a:solidFill>
          </a:ln>
        </p:spPr>
        <p:txBody>
          <a:bodyPr wrap="square" rtlCol="0">
            <a:spAutoFit/>
          </a:bodyPr>
          <a:lstStyle/>
          <a:p>
            <a:pPr marL="514350" indent="-514350">
              <a:buAutoNum type="arabicPeriod"/>
            </a:pPr>
            <a:r>
              <a:rPr lang="en-US" sz="2600" dirty="0"/>
              <a:t>Personal data shall be:</a:t>
            </a:r>
          </a:p>
          <a:p>
            <a:endParaRPr lang="en-GB" sz="2600" dirty="0"/>
          </a:p>
          <a:p>
            <a:pPr lvl="1"/>
            <a:r>
              <a:rPr lang="en-US" sz="2600" dirty="0"/>
              <a:t>(f) processed in a manner that ensures appropriate security of the personal data, including protection against unauthorised or unlawful processing and against accidental loss, destruction or damage, using appropriate technical or </a:t>
            </a:r>
            <a:r>
              <a:rPr lang="en-US" sz="2600" dirty="0" err="1"/>
              <a:t>organisational</a:t>
            </a:r>
            <a:r>
              <a:rPr lang="en-US" sz="2600" dirty="0"/>
              <a:t> measures</a:t>
            </a:r>
            <a:endParaRPr lang="en-GB" sz="2600" dirty="0"/>
          </a:p>
        </p:txBody>
      </p:sp>
    </p:spTree>
    <p:extLst>
      <p:ext uri="{BB962C8B-B14F-4D97-AF65-F5344CB8AC3E}">
        <p14:creationId xmlns:p14="http://schemas.microsoft.com/office/powerpoint/2010/main" val="962167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9783417" cy="795130"/>
          </a:xfrm>
        </p:spPr>
        <p:txBody>
          <a:bodyPr/>
          <a:lstStyle/>
          <a:p>
            <a:r>
              <a:rPr lang="en-GB" b="1" dirty="0">
                <a:solidFill>
                  <a:schemeClr val="bg1"/>
                </a:solidFill>
              </a:rPr>
              <a:t>Activity 4.2: Is Google acting illegally? </a:t>
            </a:r>
          </a:p>
        </p:txBody>
      </p:sp>
      <p:pic>
        <p:nvPicPr>
          <p:cNvPr id="4" name="Picture 3" descr="A picture containing athletic game, basketball, sport&#10;&#10;Description automatically generated">
            <a:extLst>
              <a:ext uri="{FF2B5EF4-FFF2-40B4-BE49-F238E27FC236}">
                <a16:creationId xmlns:a16="http://schemas.microsoft.com/office/drawing/2014/main" id="{E107722F-D8D8-42C5-9F06-309C622F88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90553" y="2042810"/>
            <a:ext cx="4410894" cy="4321738"/>
          </a:xfrm>
          <a:prstGeom prst="rect">
            <a:avLst/>
          </a:prstGeom>
        </p:spPr>
      </p:pic>
    </p:spTree>
    <p:extLst>
      <p:ext uri="{BB962C8B-B14F-4D97-AF65-F5344CB8AC3E}">
        <p14:creationId xmlns:p14="http://schemas.microsoft.com/office/powerpoint/2010/main" val="19317982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34888"/>
            <a:ext cx="10621618" cy="795130"/>
          </a:xfrm>
        </p:spPr>
        <p:txBody>
          <a:bodyPr>
            <a:normAutofit/>
          </a:bodyPr>
          <a:lstStyle/>
          <a:p>
            <a:r>
              <a:rPr lang="en-GB" b="1">
                <a:solidFill>
                  <a:schemeClr val="bg1"/>
                </a:solidFill>
              </a:rPr>
              <a:t>Quiz 4</a:t>
            </a:r>
            <a:endParaRPr lang="en-GB" b="1" dirty="0">
              <a:solidFill>
                <a:schemeClr val="bg1"/>
              </a:solidFill>
            </a:endParaRPr>
          </a:p>
        </p:txBody>
      </p:sp>
      <p:pic>
        <p:nvPicPr>
          <p:cNvPr id="4" name="Picture 3" descr="A picture containing athletic game, basketball, sport&#10;&#10;Description automatically generated">
            <a:extLst>
              <a:ext uri="{FF2B5EF4-FFF2-40B4-BE49-F238E27FC236}">
                <a16:creationId xmlns:a16="http://schemas.microsoft.com/office/drawing/2014/main" id="{B0063EA8-5EAF-42F7-B312-5736F8315EF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90553" y="2042810"/>
            <a:ext cx="4410894" cy="4321738"/>
          </a:xfrm>
          <a:prstGeom prst="rect">
            <a:avLst/>
          </a:prstGeom>
        </p:spPr>
      </p:pic>
    </p:spTree>
    <p:extLst>
      <p:ext uri="{BB962C8B-B14F-4D97-AF65-F5344CB8AC3E}">
        <p14:creationId xmlns:p14="http://schemas.microsoft.com/office/powerpoint/2010/main" val="12429612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369</TotalTime>
  <Words>507</Words>
  <Application>Microsoft Office PowerPoint</Application>
  <PresentationFormat>Widescreen</PresentationFormat>
  <Paragraphs>36</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Calibri Light</vt:lpstr>
      <vt:lpstr>Symbol</vt:lpstr>
      <vt:lpstr>Times New Roman</vt:lpstr>
      <vt:lpstr>Office Theme</vt:lpstr>
      <vt:lpstr>The ethics of computing</vt:lpstr>
      <vt:lpstr>Objectives</vt:lpstr>
      <vt:lpstr>What is the difference between ‘illegal’ and ‘immoral’? </vt:lpstr>
      <vt:lpstr>The main laws that protect personal data from exploitation in the UK </vt:lpstr>
      <vt:lpstr>Activity 4.1: The key principles of data protection law in the UK </vt:lpstr>
      <vt:lpstr>PowerPoint Presentation</vt:lpstr>
      <vt:lpstr>PowerPoint Presentation</vt:lpstr>
      <vt:lpstr>PowerPoint Presentation</vt:lpstr>
      <vt:lpstr>PowerPoint Presentation</vt:lpstr>
      <vt:lpstr>PowerPoint Presentation</vt:lpstr>
      <vt:lpstr>Activity 4.2: Is Google acting illegally? </vt:lpstr>
      <vt:lpstr>Quiz 4</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Lea Albrechtsen</cp:lastModifiedBy>
  <cp:revision>34</cp:revision>
  <dcterms:created xsi:type="dcterms:W3CDTF">2020-11-04T15:22:46Z</dcterms:created>
  <dcterms:modified xsi:type="dcterms:W3CDTF">2021-06-17T10:24:23Z</dcterms:modified>
</cp:coreProperties>
</file>