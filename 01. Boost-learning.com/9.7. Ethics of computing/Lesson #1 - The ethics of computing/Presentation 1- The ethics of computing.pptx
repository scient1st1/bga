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58" r:id="rId5"/>
    <p:sldId id="274" r:id="rId6"/>
    <p:sldId id="275" r:id="rId7"/>
    <p:sldId id="276" r:id="rId8"/>
    <p:sldId id="277" r:id="rId9"/>
    <p:sldId id="278" r:id="rId10"/>
    <p:sldId id="259" r:id="rId11"/>
    <p:sldId id="279" r:id="rId12"/>
    <p:sldId id="2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a Albrechtsen" initials="LA" lastIdx="2" clrIdx="0">
    <p:extLst>
      <p:ext uri="{19B8F6BF-5375-455C-9EA6-DF929625EA0E}">
        <p15:presenceInfo xmlns:p15="http://schemas.microsoft.com/office/powerpoint/2012/main" userId="S::Lea.Albrechtsen@hoddereducation.co.uk::4df490f3-5904-4e82-a5b6-23281874b6f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36" autoAdjust="0"/>
    <p:restoredTop sz="94660"/>
  </p:normalViewPr>
  <p:slideViewPr>
    <p:cSldViewPr snapToGrid="0">
      <p:cViewPr varScale="1">
        <p:scale>
          <a:sx n="63" d="100"/>
          <a:sy n="63" d="100"/>
        </p:scale>
        <p:origin x="91"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7712-1F3B-4253-AEF1-0FE171523E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DC14F2F-A2B8-4861-8B33-2CF08A1C2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137814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0902-80CF-4DD3-B59F-8E58611CF1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B756315-CBCB-4124-93B3-3DEF3C56BD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A47B5-60C4-46E0-B317-50F50E6D857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5" name="Footer Placeholder 4">
            <a:extLst>
              <a:ext uri="{FF2B5EF4-FFF2-40B4-BE49-F238E27FC236}">
                <a16:creationId xmlns:a16="http://schemas.microsoft.com/office/drawing/2014/main" id="{5F049A0D-7474-4882-A51A-CF35E154FD2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9F5A12C-5BED-457E-A6CE-2E58C8D0DED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323353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2461-8DBB-43F0-A3AC-126E643979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596A727-278D-4E57-850B-78E0D727C7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41C733-75AA-40FE-8179-B58FA4EA5EE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5" name="Footer Placeholder 4">
            <a:extLst>
              <a:ext uri="{FF2B5EF4-FFF2-40B4-BE49-F238E27FC236}">
                <a16:creationId xmlns:a16="http://schemas.microsoft.com/office/drawing/2014/main" id="{FB8C4D2E-FA87-41DA-961F-7D250DD08DA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F020F2E-2A86-4F16-B83F-E86E7319950C}"/>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61104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B458-3AE6-4C21-BEBE-F7B76061980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FF206-47D4-451B-80B7-578E10A3E6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D2DF79-B13E-46C5-AAA1-F49C3BABA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F199702-3758-423C-8C91-550D5C885DF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6" name="Footer Placeholder 5">
            <a:extLst>
              <a:ext uri="{FF2B5EF4-FFF2-40B4-BE49-F238E27FC236}">
                <a16:creationId xmlns:a16="http://schemas.microsoft.com/office/drawing/2014/main" id="{4355CC31-BF31-4EB1-8B54-2DD0D6BE79BC}"/>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303EFAF2-4586-4670-8EF7-78067B1872A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41161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5FA2-A60C-405C-A307-880C049CB0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970388-4034-4A46-8B98-D37491E014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C39A8B-6B00-4329-AC44-AD6EBE236E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55DFF08-1C59-4E60-A964-4D4A369007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548497-A585-4527-B8A6-BB01B9FBC4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77C2D4B-BCC3-48CF-B358-D817886727C0}"/>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8" name="Footer Placeholder 7">
            <a:extLst>
              <a:ext uri="{FF2B5EF4-FFF2-40B4-BE49-F238E27FC236}">
                <a16:creationId xmlns:a16="http://schemas.microsoft.com/office/drawing/2014/main" id="{B393C415-FAAE-444A-BBA1-9059E1C450A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6C512DB-E555-4910-92DC-7AB19F87F8E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4774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8A33-5CA5-4826-9B83-0B2F6A50C2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7C1E61-1B5E-44DC-BC0F-2F956B04C019}"/>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4" name="Footer Placeholder 3">
            <a:extLst>
              <a:ext uri="{FF2B5EF4-FFF2-40B4-BE49-F238E27FC236}">
                <a16:creationId xmlns:a16="http://schemas.microsoft.com/office/drawing/2014/main" id="{DBA212BA-9EF0-4463-A9C0-997D5572049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E350D64F-9F3A-43FB-A563-07763EE16E2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27959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739767-A677-43FB-A13E-C6E76D21E158}"/>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3" name="Footer Placeholder 2">
            <a:extLst>
              <a:ext uri="{FF2B5EF4-FFF2-40B4-BE49-F238E27FC236}">
                <a16:creationId xmlns:a16="http://schemas.microsoft.com/office/drawing/2014/main" id="{BFA103BA-C2DE-41DE-842B-306DECB788D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B8320D2-03FC-47A8-B437-7B7CEBDD6176}"/>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3747179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20E6-8664-4FD7-A9B2-0B5C17E861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75017E-7CE6-4AFE-8756-092A858401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85C17A6-B2E1-42BB-9629-032C80545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DC4D7-18F9-4992-BB61-15FA97A5299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6" name="Footer Placeholder 5">
            <a:extLst>
              <a:ext uri="{FF2B5EF4-FFF2-40B4-BE49-F238E27FC236}">
                <a16:creationId xmlns:a16="http://schemas.microsoft.com/office/drawing/2014/main" id="{4FB52144-EB56-46FB-8C3D-7A870235437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E7142B02-C27D-4AC0-9DE7-A653F338FB98}"/>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8955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D8A0-DA8A-463F-AC82-9A3D896B8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B553CB-6BB8-4D69-8270-E69093C148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00E0B06-F972-42E3-B94A-6BA4824458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CFE24-5759-425E-A7E5-6EAACD13BAA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6" name="Footer Placeholder 5">
            <a:extLst>
              <a:ext uri="{FF2B5EF4-FFF2-40B4-BE49-F238E27FC236}">
                <a16:creationId xmlns:a16="http://schemas.microsoft.com/office/drawing/2014/main" id="{EC458F3E-34B5-48AA-B148-66ED69F3067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B133722-4E46-4BF0-841D-DC92DCB48251}"/>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215319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A43C2-4F61-40F8-A06C-596F42B7D0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012D4A7-8F4B-484D-90BE-4A6A303F65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BE0C66-2DCD-4454-98BE-EE8ADD1D7982}"/>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5" name="Footer Placeholder 4">
            <a:extLst>
              <a:ext uri="{FF2B5EF4-FFF2-40B4-BE49-F238E27FC236}">
                <a16:creationId xmlns:a16="http://schemas.microsoft.com/office/drawing/2014/main" id="{B6C655C5-A5ED-4766-97E4-846A805367D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17ADFEEA-B282-4D56-A557-4193031EB4A7}"/>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901290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1B7A8B-8DD3-4239-8EA1-8739462541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5621B91-126F-434B-86F2-89E6778E91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BFCCA6-FBA0-4A4B-97BC-8B2465C0186D}"/>
              </a:ext>
            </a:extLst>
          </p:cNvPr>
          <p:cNvSpPr>
            <a:spLocks noGrp="1"/>
          </p:cNvSpPr>
          <p:nvPr>
            <p:ph type="dt" sz="half" idx="10"/>
          </p:nvPr>
        </p:nvSpPr>
        <p:spPr>
          <a:xfrm>
            <a:off x="838200" y="6356350"/>
            <a:ext cx="2743200" cy="365125"/>
          </a:xfrm>
          <a:prstGeom prst="rect">
            <a:avLst/>
          </a:prstGeom>
        </p:spPr>
        <p:txBody>
          <a:bodyPr/>
          <a:lstStyle/>
          <a:p>
            <a:fld id="{A39D0840-F340-4464-8C11-64AA65425DFE}" type="datetimeFigureOut">
              <a:rPr lang="en-GB" smtClean="0"/>
              <a:t>11/09/2024</a:t>
            </a:fld>
            <a:endParaRPr lang="en-GB"/>
          </a:p>
        </p:txBody>
      </p:sp>
      <p:sp>
        <p:nvSpPr>
          <p:cNvPr id="5" name="Footer Placeholder 4">
            <a:extLst>
              <a:ext uri="{FF2B5EF4-FFF2-40B4-BE49-F238E27FC236}">
                <a16:creationId xmlns:a16="http://schemas.microsoft.com/office/drawing/2014/main" id="{5A17EED6-4B0F-4C58-A54B-C4F0F72D7BA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1249905-D4AB-4930-9B2A-6E8E550A0D1E}"/>
              </a:ext>
            </a:extLst>
          </p:cNvPr>
          <p:cNvSpPr>
            <a:spLocks noGrp="1"/>
          </p:cNvSpPr>
          <p:nvPr>
            <p:ph type="sldNum" sz="quarter" idx="12"/>
          </p:nvPr>
        </p:nvSpPr>
        <p:spPr>
          <a:xfrm>
            <a:off x="8610600" y="6356350"/>
            <a:ext cx="2743200" cy="365125"/>
          </a:xfrm>
          <a:prstGeom prst="rect">
            <a:avLst/>
          </a:prstGeom>
        </p:spPr>
        <p:txBody>
          <a:bodyPr/>
          <a:lstStyle/>
          <a:p>
            <a:fld id="{51383E49-ED47-42EE-A6B1-265FC0095DEE}" type="slidenum">
              <a:rPr lang="en-GB" smtClean="0"/>
              <a:t>‹#›</a:t>
            </a:fld>
            <a:endParaRPr lang="en-GB"/>
          </a:p>
        </p:txBody>
      </p:sp>
    </p:spTree>
    <p:extLst>
      <p:ext uri="{BB962C8B-B14F-4D97-AF65-F5344CB8AC3E}">
        <p14:creationId xmlns:p14="http://schemas.microsoft.com/office/powerpoint/2010/main" val="1308111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B9995C-D844-455E-9E19-BF66C81EFD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D204189-41E9-4E09-B418-B033E7F147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4">
            <a:extLst>
              <a:ext uri="{FF2B5EF4-FFF2-40B4-BE49-F238E27FC236}">
                <a16:creationId xmlns:a16="http://schemas.microsoft.com/office/drawing/2014/main" id="{4D739203-7E29-BA40-9D51-8F9968799BF3}"/>
              </a:ext>
            </a:extLst>
          </p:cNvPr>
          <p:cNvSpPr txBox="1">
            <a:spLocks/>
          </p:cNvSpPr>
          <p:nvPr userDrawn="1"/>
        </p:nvSpPr>
        <p:spPr>
          <a:xfrm>
            <a:off x="7547114" y="6380197"/>
            <a:ext cx="41148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200" dirty="0"/>
              <a:t>© Hodder &amp; Stoughton Limited 2021</a:t>
            </a:r>
          </a:p>
        </p:txBody>
      </p:sp>
      <p:pic>
        <p:nvPicPr>
          <p:cNvPr id="6" name="Picture 5">
            <a:extLst>
              <a:ext uri="{FF2B5EF4-FFF2-40B4-BE49-F238E27FC236}">
                <a16:creationId xmlns:a16="http://schemas.microsoft.com/office/drawing/2014/main" id="{9F570252-6D27-224F-B897-578AE4F8D1E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1641616"/>
          </a:xfrm>
          <a:prstGeom prst="rect">
            <a:avLst/>
          </a:prstGeom>
        </p:spPr>
      </p:pic>
    </p:spTree>
    <p:extLst>
      <p:ext uri="{BB962C8B-B14F-4D97-AF65-F5344CB8AC3E}">
        <p14:creationId xmlns:p14="http://schemas.microsoft.com/office/powerpoint/2010/main" val="2658774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sketch.io/sketchpa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www.google.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2B9C3-E44C-4313-895D-D43DD1C92CE3}"/>
              </a:ext>
            </a:extLst>
          </p:cNvPr>
          <p:cNvSpPr>
            <a:spLocks noGrp="1"/>
          </p:cNvSpPr>
          <p:nvPr>
            <p:ph type="ctrTitle"/>
          </p:nvPr>
        </p:nvSpPr>
        <p:spPr>
          <a:xfrm>
            <a:off x="2082477" y="3118978"/>
            <a:ext cx="4013523" cy="1497914"/>
          </a:xfrm>
        </p:spPr>
        <p:txBody>
          <a:bodyPr>
            <a:normAutofit fontScale="90000"/>
          </a:bodyPr>
          <a:lstStyle/>
          <a:p>
            <a:pPr algn="r"/>
            <a:r>
              <a:rPr lang="en-GB" b="1" dirty="0"/>
              <a:t>The ethics</a:t>
            </a:r>
            <a:br>
              <a:rPr lang="en-GB" b="1" dirty="0"/>
            </a:br>
            <a:r>
              <a:rPr lang="en-GB" b="1" dirty="0"/>
              <a:t>of computing</a:t>
            </a:r>
          </a:p>
        </p:txBody>
      </p:sp>
      <p:sp>
        <p:nvSpPr>
          <p:cNvPr id="11" name="Rectangle 10">
            <a:extLst>
              <a:ext uri="{FF2B5EF4-FFF2-40B4-BE49-F238E27FC236}">
                <a16:creationId xmlns:a16="http://schemas.microsoft.com/office/drawing/2014/main" id="{5346DB13-257C-4484-9CB0-C755672B55D3}"/>
              </a:ext>
            </a:extLst>
          </p:cNvPr>
          <p:cNvSpPr/>
          <p:nvPr/>
        </p:nvSpPr>
        <p:spPr>
          <a:xfrm>
            <a:off x="1748015" y="4616892"/>
            <a:ext cx="4347985" cy="400110"/>
          </a:xfrm>
          <a:prstGeom prst="rect">
            <a:avLst/>
          </a:prstGeom>
        </p:spPr>
        <p:txBody>
          <a:bodyPr wrap="none">
            <a:spAutoFit/>
          </a:bodyPr>
          <a:lstStyle/>
          <a:p>
            <a:pPr algn="r"/>
            <a:r>
              <a:rPr lang="en-GB" sz="2000" b="1" dirty="0">
                <a:solidFill>
                  <a:srgbClr val="00B0F0"/>
                </a:solidFill>
                <a:latin typeface="Calibri" panose="020F0502020204030204" pitchFamily="34" charset="0"/>
                <a:ea typeface="Times New Roman" panose="02020603050405020304" pitchFamily="18" charset="0"/>
              </a:rPr>
              <a:t>Lesson 1: Sourcing content responsibly </a:t>
            </a:r>
            <a:endParaRPr lang="en-GB" sz="2000" b="1" dirty="0">
              <a:solidFill>
                <a:srgbClr val="00B0F0"/>
              </a:solidFill>
            </a:endParaRPr>
          </a:p>
        </p:txBody>
      </p:sp>
      <p:pic>
        <p:nvPicPr>
          <p:cNvPr id="4" name="Picture 3">
            <a:extLst>
              <a:ext uri="{FF2B5EF4-FFF2-40B4-BE49-F238E27FC236}">
                <a16:creationId xmlns:a16="http://schemas.microsoft.com/office/drawing/2014/main" id="{871F908E-0AB1-0F42-8677-3CFB2DB0C71D}"/>
              </a:ext>
            </a:extLst>
          </p:cNvPr>
          <p:cNvPicPr>
            <a:picLocks noChangeAspect="1"/>
          </p:cNvPicPr>
          <p:nvPr/>
        </p:nvPicPr>
        <p:blipFill>
          <a:blip r:embed="rId2"/>
          <a:stretch>
            <a:fillRect/>
          </a:stretch>
        </p:blipFill>
        <p:spPr>
          <a:xfrm>
            <a:off x="6430462" y="2852165"/>
            <a:ext cx="3626103" cy="216483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54316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4667-2A3C-4536-9386-00402F3C6EE6}"/>
              </a:ext>
            </a:extLst>
          </p:cNvPr>
          <p:cNvSpPr>
            <a:spLocks noGrp="1"/>
          </p:cNvSpPr>
          <p:nvPr>
            <p:ph type="title"/>
          </p:nvPr>
        </p:nvSpPr>
        <p:spPr>
          <a:xfrm>
            <a:off x="1600200" y="844826"/>
            <a:ext cx="9634330" cy="766349"/>
          </a:xfrm>
        </p:spPr>
        <p:txBody>
          <a:bodyPr/>
          <a:lstStyle/>
          <a:p>
            <a:r>
              <a:rPr lang="en-GB" b="1" dirty="0">
                <a:solidFill>
                  <a:schemeClr val="bg1"/>
                </a:solidFill>
              </a:rPr>
              <a:t>Objectives</a:t>
            </a:r>
          </a:p>
        </p:txBody>
      </p:sp>
      <p:sp>
        <p:nvSpPr>
          <p:cNvPr id="5" name="Rectangle 4">
            <a:extLst>
              <a:ext uri="{FF2B5EF4-FFF2-40B4-BE49-F238E27FC236}">
                <a16:creationId xmlns:a16="http://schemas.microsoft.com/office/drawing/2014/main" id="{8430BE0A-41D5-4110-A78D-A6ACD33DE78B}"/>
              </a:ext>
            </a:extLst>
          </p:cNvPr>
          <p:cNvSpPr/>
          <p:nvPr/>
        </p:nvSpPr>
        <p:spPr>
          <a:xfrm>
            <a:off x="1600200" y="2613392"/>
            <a:ext cx="9471991" cy="1631216"/>
          </a:xfrm>
          <a:prstGeom prst="rect">
            <a:avLst/>
          </a:prstGeom>
        </p:spPr>
        <p:txBody>
          <a:bodyPr wrap="square">
            <a:spAutoFit/>
          </a:bodyPr>
          <a:lstStyle/>
          <a:p>
            <a:pPr>
              <a:spcAft>
                <a:spcPts val="0"/>
              </a:spcAft>
            </a:pPr>
            <a:r>
              <a:rPr lang="en-GB" sz="2800" dirty="0">
                <a:latin typeface="Calibri" panose="020F0502020204030204" pitchFamily="34" charset="0"/>
                <a:ea typeface="Times New Roman" panose="02020603050405020304" pitchFamily="18" charset="0"/>
              </a:rPr>
              <a:t>In this lesson, you will learn:</a:t>
            </a:r>
            <a:endParaRPr lang="en-GB" sz="2800"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the importance of crediting content creators</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how to find out who originally created material posted online</a:t>
            </a:r>
          </a:p>
          <a:p>
            <a:pPr marL="342900" lvl="0" indent="-342900">
              <a:spcAft>
                <a:spcPts val="0"/>
              </a:spcAft>
              <a:buFont typeface="Symbol" panose="05050102010706020507" pitchFamily="18" charset="2"/>
              <a:buChar char=""/>
            </a:pPr>
            <a:r>
              <a:rPr lang="en-GB" sz="2400" dirty="0">
                <a:latin typeface="Calibri" panose="020F0502020204030204" pitchFamily="34" charset="0"/>
                <a:ea typeface="Times New Roman" panose="02020603050405020304" pitchFamily="18" charset="0"/>
              </a:rPr>
              <a:t>how to use the internet responsibly.</a:t>
            </a:r>
          </a:p>
        </p:txBody>
      </p:sp>
    </p:spTree>
    <p:extLst>
      <p:ext uri="{BB962C8B-B14F-4D97-AF65-F5344CB8AC3E}">
        <p14:creationId xmlns:p14="http://schemas.microsoft.com/office/powerpoint/2010/main" val="1699810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9783417" cy="795130"/>
          </a:xfrm>
        </p:spPr>
        <p:txBody>
          <a:bodyPr/>
          <a:lstStyle/>
          <a:p>
            <a:r>
              <a:rPr lang="en-GB" b="1" dirty="0">
                <a:solidFill>
                  <a:schemeClr val="bg1"/>
                </a:solidFill>
              </a:rPr>
              <a:t>Activity 1.1: Draw a creature </a:t>
            </a:r>
          </a:p>
        </p:txBody>
      </p:sp>
      <p:sp>
        <p:nvSpPr>
          <p:cNvPr id="3" name="Rectangle 2">
            <a:extLst>
              <a:ext uri="{FF2B5EF4-FFF2-40B4-BE49-F238E27FC236}">
                <a16:creationId xmlns:a16="http://schemas.microsoft.com/office/drawing/2014/main" id="{81A3A3D5-4421-9F46-8135-B52F7BA94EF2}"/>
              </a:ext>
            </a:extLst>
          </p:cNvPr>
          <p:cNvSpPr/>
          <p:nvPr/>
        </p:nvSpPr>
        <p:spPr>
          <a:xfrm>
            <a:off x="1570382" y="2004807"/>
            <a:ext cx="5422601" cy="4231736"/>
          </a:xfrm>
          <a:prstGeom prst="rect">
            <a:avLst/>
          </a:prstGeom>
        </p:spPr>
        <p:txBody>
          <a:bodyPr wrap="square">
            <a:spAutoFit/>
          </a:bodyPr>
          <a:lstStyle/>
          <a:p>
            <a:pPr>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Visit </a:t>
            </a:r>
            <a:r>
              <a:rPr lang="en-US" sz="2400" u="sng" dirty="0">
                <a:solidFill>
                  <a:srgbClr val="0563C1"/>
                </a:solidFill>
                <a:latin typeface="Calibri" panose="020F0502020204030204" pitchFamily="34" charset="0"/>
                <a:ea typeface="Calibri" panose="020F0502020204030204" pitchFamily="34" charset="0"/>
                <a:cs typeface="Calibri" panose="020F0502020204030204" pitchFamily="34" charset="0"/>
                <a:hlinkClick r:id="rId2"/>
              </a:rPr>
              <a:t>www.sketch.io/sketchpad/</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You have three minutes to draw a creature with four legs, two eyes, two ears and a tail. You do not need to create a masterpiece and your art skills are not being tested!</a:t>
            </a:r>
            <a:endParaRPr lang="en-GB"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When your time is up, click on the ‘Export’ icon and download the image as a JPEG. Save it somewhere you can find it easily at the end of the lesson.</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descr="A picture containing athletic game, basketball, sport&#10;&#10;Description automatically generated">
            <a:extLst>
              <a:ext uri="{FF2B5EF4-FFF2-40B4-BE49-F238E27FC236}">
                <a16:creationId xmlns:a16="http://schemas.microsoft.com/office/drawing/2014/main" id="{4BDBB78D-C11F-4A22-A7C3-13B71374F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41029" y="1886056"/>
            <a:ext cx="4410894" cy="4321738"/>
          </a:xfrm>
          <a:prstGeom prst="rect">
            <a:avLst/>
          </a:prstGeom>
        </p:spPr>
      </p:pic>
      <p:sp>
        <p:nvSpPr>
          <p:cNvPr id="6" name="Title 1">
            <a:extLst>
              <a:ext uri="{FF2B5EF4-FFF2-40B4-BE49-F238E27FC236}">
                <a16:creationId xmlns:a16="http://schemas.microsoft.com/office/drawing/2014/main" id="{DB306696-8D12-4574-BDC3-2DC3137EF4C6}"/>
              </a:ext>
            </a:extLst>
          </p:cNvPr>
          <p:cNvSpPr txBox="1">
            <a:spLocks/>
          </p:cNvSpPr>
          <p:nvPr/>
        </p:nvSpPr>
        <p:spPr>
          <a:xfrm>
            <a:off x="9765793" y="962907"/>
            <a:ext cx="2255519" cy="7951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smtClean="0">
                <a:solidFill>
                  <a:schemeClr val="accent1">
                    <a:lumMod val="60000"/>
                    <a:lumOff val="40000"/>
                  </a:schemeClr>
                </a:solidFill>
              </a:rPr>
              <a:t>DO NOW</a:t>
            </a:r>
            <a:endParaRPr lang="en-GB" b="1" dirty="0">
              <a:solidFill>
                <a:schemeClr val="accent1">
                  <a:lumMod val="60000"/>
                  <a:lumOff val="40000"/>
                </a:schemeClr>
              </a:solidFill>
            </a:endParaRPr>
          </a:p>
        </p:txBody>
      </p:sp>
    </p:spTree>
    <p:extLst>
      <p:ext uri="{BB962C8B-B14F-4D97-AF65-F5344CB8AC3E}">
        <p14:creationId xmlns:p14="http://schemas.microsoft.com/office/powerpoint/2010/main" val="2761453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55374"/>
          </a:xfrm>
        </p:spPr>
        <p:txBody>
          <a:bodyPr/>
          <a:lstStyle/>
          <a:p>
            <a:r>
              <a:rPr lang="en-GB" b="1" dirty="0">
                <a:solidFill>
                  <a:schemeClr val="bg1"/>
                </a:solidFill>
              </a:rPr>
              <a:t>Everything online has an owner </a:t>
            </a:r>
          </a:p>
        </p:txBody>
      </p:sp>
      <p:sp>
        <p:nvSpPr>
          <p:cNvPr id="3" name="Rectangle 2">
            <a:extLst>
              <a:ext uri="{FF2B5EF4-FFF2-40B4-BE49-F238E27FC236}">
                <a16:creationId xmlns:a16="http://schemas.microsoft.com/office/drawing/2014/main" id="{57537BF7-053A-124A-BD55-3D2CC9120F24}"/>
              </a:ext>
            </a:extLst>
          </p:cNvPr>
          <p:cNvSpPr/>
          <p:nvPr/>
        </p:nvSpPr>
        <p:spPr>
          <a:xfrm>
            <a:off x="1580322" y="5460248"/>
            <a:ext cx="9096387" cy="865173"/>
          </a:xfrm>
          <a:prstGeom prst="rect">
            <a:avLst/>
          </a:prstGeom>
        </p:spPr>
        <p:txBody>
          <a:bodyPr wrap="square">
            <a:spAutoFit/>
          </a:bodyPr>
          <a:lstStyle/>
          <a:p>
            <a:pPr>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Because it’s so easy to copy material from the internet, it’s often very hard to tell who created it in the first place. But this is no excuse!</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descr="Text, company name&#10;&#10;Description automatically generated">
            <a:extLst>
              <a:ext uri="{FF2B5EF4-FFF2-40B4-BE49-F238E27FC236}">
                <a16:creationId xmlns:a16="http://schemas.microsoft.com/office/drawing/2014/main" id="{CBE6629D-09EA-4C90-9869-25CE86DD2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7171" y="2427135"/>
            <a:ext cx="3303672" cy="2624835"/>
          </a:xfrm>
          <a:prstGeom prst="rect">
            <a:avLst/>
          </a:prstGeom>
        </p:spPr>
      </p:pic>
      <p:sp>
        <p:nvSpPr>
          <p:cNvPr id="7" name="Rectangle 6">
            <a:extLst>
              <a:ext uri="{FF2B5EF4-FFF2-40B4-BE49-F238E27FC236}">
                <a16:creationId xmlns:a16="http://schemas.microsoft.com/office/drawing/2014/main" id="{BF7821A3-5812-44AA-84BE-36DAD010874C}"/>
              </a:ext>
            </a:extLst>
          </p:cNvPr>
          <p:cNvSpPr/>
          <p:nvPr/>
        </p:nvSpPr>
        <p:spPr>
          <a:xfrm>
            <a:off x="1580322" y="2018857"/>
            <a:ext cx="6553484" cy="3441391"/>
          </a:xfrm>
          <a:prstGeom prst="rect">
            <a:avLst/>
          </a:prstGeom>
        </p:spPr>
        <p:txBody>
          <a:bodyPr wrap="square">
            <a:spAutoFit/>
          </a:bodyPr>
          <a:lstStyle/>
          <a:p>
            <a:pPr>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Every paragraph of text, image, video and sound on the internet was created by somebody.</a:t>
            </a:r>
          </a:p>
          <a:p>
            <a:pPr>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More often than not, you are breaking the law if you copy material from the internet without </a:t>
            </a:r>
            <a:r>
              <a:rPr lang="en-US" sz="2400" b="1" dirty="0">
                <a:solidFill>
                  <a:srgbClr val="00B0F0"/>
                </a:solidFill>
                <a:latin typeface="Calibri" panose="020F0502020204030204" pitchFamily="34" charset="0"/>
                <a:ea typeface="Calibri" panose="020F0502020204030204" pitchFamily="34" charset="0"/>
                <a:cs typeface="Calibri" panose="020F0502020204030204" pitchFamily="34" charset="0"/>
              </a:rPr>
              <a:t>crediting</a:t>
            </a:r>
            <a:r>
              <a:rPr lang="en-US" sz="2400" dirty="0">
                <a:latin typeface="Calibri" panose="020F0502020204030204" pitchFamily="34" charset="0"/>
                <a:ea typeface="Calibri" panose="020F0502020204030204" pitchFamily="34" charset="0"/>
                <a:cs typeface="Calibri" panose="020F0502020204030204" pitchFamily="34" charset="0"/>
              </a:rPr>
              <a:t> the person who created it.</a:t>
            </a:r>
          </a:p>
          <a:p>
            <a:pPr>
              <a:lnSpc>
                <a:spcPct val="107000"/>
              </a:lnSpc>
              <a:spcAft>
                <a:spcPts val="800"/>
              </a:spcAft>
            </a:pPr>
            <a:r>
              <a:rPr lang="en-US" sz="2400" dirty="0">
                <a:latin typeface="Calibri" panose="020F0502020204030204" pitchFamily="34" charset="0"/>
                <a:ea typeface="Calibri" panose="020F0502020204030204" pitchFamily="34" charset="0"/>
                <a:cs typeface="Calibri" panose="020F0502020204030204" pitchFamily="34" charset="0"/>
              </a:rPr>
              <a:t>People own the </a:t>
            </a:r>
            <a:r>
              <a:rPr lang="en-US" sz="2400" b="1" dirty="0">
                <a:solidFill>
                  <a:srgbClr val="00B0F0"/>
                </a:solidFill>
                <a:latin typeface="Calibri" panose="020F0502020204030204" pitchFamily="34" charset="0"/>
                <a:ea typeface="Calibri" panose="020F0502020204030204" pitchFamily="34" charset="0"/>
                <a:cs typeface="Calibri" panose="020F0502020204030204" pitchFamily="34" charset="0"/>
              </a:rPr>
              <a:t>copyright</a:t>
            </a:r>
            <a:r>
              <a:rPr lang="en-US" sz="2400" dirty="0">
                <a:latin typeface="Calibri" panose="020F0502020204030204" pitchFamily="34" charset="0"/>
                <a:ea typeface="Calibri" panose="020F0502020204030204" pitchFamily="34" charset="0"/>
                <a:cs typeface="Calibri" panose="020F0502020204030204" pitchFamily="34" charset="0"/>
              </a:rPr>
              <a:t> of material they create, and you must not suggest that you created it yourself. You must say where you got it from.</a:t>
            </a:r>
            <a:endParaRPr lang="en-GB"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66166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55374"/>
          </a:xfrm>
        </p:spPr>
        <p:txBody>
          <a:bodyPr/>
          <a:lstStyle/>
          <a:p>
            <a:r>
              <a:rPr lang="en-GB" b="1" dirty="0">
                <a:solidFill>
                  <a:schemeClr val="bg1"/>
                </a:solidFill>
              </a:rPr>
              <a:t>Crediting a source </a:t>
            </a:r>
          </a:p>
        </p:txBody>
      </p:sp>
      <p:sp>
        <p:nvSpPr>
          <p:cNvPr id="3" name="Rectangle 2">
            <a:extLst>
              <a:ext uri="{FF2B5EF4-FFF2-40B4-BE49-F238E27FC236}">
                <a16:creationId xmlns:a16="http://schemas.microsoft.com/office/drawing/2014/main" id="{57537BF7-053A-124A-BD55-3D2CC9120F24}"/>
              </a:ext>
            </a:extLst>
          </p:cNvPr>
          <p:cNvSpPr/>
          <p:nvPr/>
        </p:nvSpPr>
        <p:spPr>
          <a:xfrm>
            <a:off x="1580321" y="1697226"/>
            <a:ext cx="9773477" cy="4575933"/>
          </a:xfrm>
          <a:prstGeom prst="rect">
            <a:avLst/>
          </a:prstGeom>
        </p:spPr>
        <p:txBody>
          <a:bodyPr wrap="square">
            <a:spAutoFit/>
          </a:bodyPr>
          <a:lstStyle/>
          <a:p>
            <a:pPr>
              <a:lnSpc>
                <a:spcPct val="114000"/>
              </a:lnSpc>
              <a:spcBef>
                <a:spcPts val="300"/>
              </a:spcBef>
              <a:spcAft>
                <a:spcPts val="300"/>
              </a:spcAft>
            </a:pPr>
            <a:r>
              <a:rPr lang="en-US" sz="2000" dirty="0"/>
              <a:t>To credit a source, you must state who created it, the title of the article or page it came from, the web address of the page you found it on and the date you accessed the web page.</a:t>
            </a:r>
            <a:endParaRPr lang="en-GB" sz="2000" dirty="0"/>
          </a:p>
          <a:p>
            <a:pPr>
              <a:lnSpc>
                <a:spcPct val="114000"/>
              </a:lnSpc>
              <a:spcBef>
                <a:spcPts val="300"/>
              </a:spcBef>
              <a:spcAft>
                <a:spcPts val="300"/>
              </a:spcAft>
            </a:pPr>
            <a:r>
              <a:rPr lang="en-US" dirty="0"/>
              <a:t>For example, here’s how you credit a quote from a web page:</a:t>
            </a:r>
            <a:endParaRPr lang="en-GB" dirty="0"/>
          </a:p>
          <a:p>
            <a:pPr marL="285750" indent="-285750">
              <a:lnSpc>
                <a:spcPct val="114000"/>
              </a:lnSpc>
              <a:spcBef>
                <a:spcPts val="300"/>
              </a:spcBef>
              <a:spcAft>
                <a:spcPts val="300"/>
              </a:spcAft>
              <a:buFont typeface="Arial" panose="020B0604020202020204" pitchFamily="34" charset="0"/>
              <a:buChar char="•"/>
            </a:pPr>
            <a:r>
              <a:rPr lang="en-US" sz="1600" dirty="0"/>
              <a:t>Source: World Animal Foundation, ‘Zebras’, 25 Apr 2021, https://www.worldanimalfoundation.com/advocate/wild-animals/params/post/1294331/zebras, (</a:t>
            </a:r>
            <a:r>
              <a:rPr lang="en-GB" sz="1600" dirty="0"/>
              <a:t>accessed </a:t>
            </a:r>
            <a:r>
              <a:rPr lang="en-US" sz="1600" dirty="0"/>
              <a:t>16/06/21)</a:t>
            </a:r>
            <a:endParaRPr lang="en-GB" sz="1600" dirty="0"/>
          </a:p>
          <a:p>
            <a:pPr>
              <a:lnSpc>
                <a:spcPct val="114000"/>
              </a:lnSpc>
              <a:spcBef>
                <a:spcPts val="300"/>
              </a:spcBef>
              <a:spcAft>
                <a:spcPts val="300"/>
              </a:spcAft>
            </a:pPr>
            <a:r>
              <a:rPr lang="en-US" dirty="0"/>
              <a:t>For example, here’s how you credit a photograph:</a:t>
            </a:r>
            <a:endParaRPr lang="en-GB" dirty="0"/>
          </a:p>
          <a:p>
            <a:pPr marL="285750" indent="-285750">
              <a:lnSpc>
                <a:spcPct val="114000"/>
              </a:lnSpc>
              <a:spcBef>
                <a:spcPts val="300"/>
              </a:spcBef>
              <a:spcAft>
                <a:spcPts val="300"/>
              </a:spcAft>
              <a:buFont typeface="Arial" panose="020B0604020202020204" pitchFamily="34" charset="0"/>
              <a:buChar char="•"/>
            </a:pPr>
            <a:r>
              <a:rPr lang="en-US" sz="1600" dirty="0"/>
              <a:t>Source: South African National Biodiversity Institute, ‘Burchell’s Zebra’, [picture], May 2020, https://www.sanbi.org/animal-of-the-week/burchells-zebra/, (</a:t>
            </a:r>
            <a:r>
              <a:rPr lang="en-GB" sz="1600" dirty="0"/>
              <a:t>accessed </a:t>
            </a:r>
            <a:r>
              <a:rPr lang="en-US" sz="1600" dirty="0"/>
              <a:t>16/06/2021)</a:t>
            </a:r>
            <a:endParaRPr lang="en-GB" sz="1600" dirty="0"/>
          </a:p>
          <a:p>
            <a:pPr>
              <a:lnSpc>
                <a:spcPct val="114000"/>
              </a:lnSpc>
              <a:spcBef>
                <a:spcPts val="300"/>
              </a:spcBef>
              <a:spcAft>
                <a:spcPts val="300"/>
              </a:spcAft>
            </a:pPr>
            <a:r>
              <a:rPr lang="en-US" dirty="0"/>
              <a:t>For example, here’s how to credit a video:</a:t>
            </a:r>
            <a:endParaRPr lang="en-GB" dirty="0"/>
          </a:p>
          <a:p>
            <a:pPr marL="285750" indent="-285750">
              <a:lnSpc>
                <a:spcPct val="114000"/>
              </a:lnSpc>
              <a:spcBef>
                <a:spcPts val="300"/>
              </a:spcBef>
              <a:spcAft>
                <a:spcPts val="300"/>
              </a:spcAft>
              <a:buFont typeface="Arial" panose="020B0604020202020204" pitchFamily="34" charset="0"/>
              <a:buChar char="•"/>
            </a:pPr>
            <a:r>
              <a:rPr lang="en-GB" sz="1600" dirty="0"/>
              <a:t>Source: Real Wild, ‘Striped Survivors: A tale of a zebra’ [wildlife documentary], 27 Jan 2018, www.youtube.com/watch?v=wmNandLRMcw, (accessed 16/06/2021)</a:t>
            </a:r>
          </a:p>
          <a:p>
            <a:pPr>
              <a:lnSpc>
                <a:spcPct val="114000"/>
              </a:lnSpc>
              <a:spcBef>
                <a:spcPts val="300"/>
              </a:spcBef>
              <a:spcAft>
                <a:spcPts val="300"/>
              </a:spcAft>
            </a:pPr>
            <a:r>
              <a:rPr lang="en-US" sz="2000" dirty="0"/>
              <a:t>Credits should be placed as close as possible to the text, photograph or video.</a:t>
            </a:r>
            <a:endParaRPr lang="en-GB" sz="2000" dirty="0"/>
          </a:p>
        </p:txBody>
      </p:sp>
    </p:spTree>
    <p:extLst>
      <p:ext uri="{BB962C8B-B14F-4D97-AF65-F5344CB8AC3E}">
        <p14:creationId xmlns:p14="http://schemas.microsoft.com/office/powerpoint/2010/main" val="199040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55374"/>
          </a:xfrm>
        </p:spPr>
        <p:txBody>
          <a:bodyPr>
            <a:normAutofit fontScale="90000"/>
          </a:bodyPr>
          <a:lstStyle/>
          <a:p>
            <a:r>
              <a:rPr lang="en-GB" b="1" dirty="0">
                <a:solidFill>
                  <a:schemeClr val="bg1"/>
                </a:solidFill>
              </a:rPr>
              <a:t>Getting permission to use copyright material </a:t>
            </a:r>
          </a:p>
        </p:txBody>
      </p:sp>
      <p:sp>
        <p:nvSpPr>
          <p:cNvPr id="3" name="Rectangle 2">
            <a:extLst>
              <a:ext uri="{FF2B5EF4-FFF2-40B4-BE49-F238E27FC236}">
                <a16:creationId xmlns:a16="http://schemas.microsoft.com/office/drawing/2014/main" id="{57537BF7-053A-124A-BD55-3D2CC9120F24}"/>
              </a:ext>
            </a:extLst>
          </p:cNvPr>
          <p:cNvSpPr/>
          <p:nvPr/>
        </p:nvSpPr>
        <p:spPr>
          <a:xfrm>
            <a:off x="1580322" y="1995400"/>
            <a:ext cx="9144000" cy="3667286"/>
          </a:xfrm>
          <a:prstGeom prst="rect">
            <a:avLst/>
          </a:prstGeom>
        </p:spPr>
        <p:txBody>
          <a:bodyPr wrap="square">
            <a:spAutoFit/>
          </a:bodyPr>
          <a:lstStyle/>
          <a:p>
            <a:pPr>
              <a:lnSpc>
                <a:spcPct val="114000"/>
              </a:lnSpc>
              <a:spcBef>
                <a:spcPts val="300"/>
              </a:spcBef>
              <a:spcAft>
                <a:spcPts val="300"/>
              </a:spcAft>
            </a:pPr>
            <a:r>
              <a:rPr lang="en-US" sz="2400" dirty="0"/>
              <a:t>Although it is good practice to credit all sources, you cannot use a lot of copyright material without getting permission to use it from the person who created it.</a:t>
            </a:r>
          </a:p>
          <a:p>
            <a:pPr>
              <a:lnSpc>
                <a:spcPct val="114000"/>
              </a:lnSpc>
              <a:spcBef>
                <a:spcPts val="300"/>
              </a:spcBef>
              <a:spcAft>
                <a:spcPts val="300"/>
              </a:spcAft>
            </a:pPr>
            <a:r>
              <a:rPr lang="en-US" sz="2400" dirty="0"/>
              <a:t>This applies particularly to photographs, artwork and videos.</a:t>
            </a:r>
          </a:p>
          <a:p>
            <a:pPr>
              <a:lnSpc>
                <a:spcPct val="114000"/>
              </a:lnSpc>
              <a:spcBef>
                <a:spcPts val="300"/>
              </a:spcBef>
              <a:spcAft>
                <a:spcPts val="300"/>
              </a:spcAft>
            </a:pPr>
            <a:r>
              <a:rPr lang="en-US" sz="2400" dirty="0"/>
              <a:t>You need to identify the person who created the material in the first place and contact them to ask permission.</a:t>
            </a:r>
          </a:p>
          <a:p>
            <a:pPr>
              <a:lnSpc>
                <a:spcPct val="114000"/>
              </a:lnSpc>
              <a:spcBef>
                <a:spcPts val="300"/>
              </a:spcBef>
              <a:spcAft>
                <a:spcPts val="300"/>
              </a:spcAft>
            </a:pPr>
            <a:r>
              <a:rPr lang="en-US" sz="2400" dirty="0"/>
              <a:t>Email addresses and contact forms on websites are the best way to contact people.</a:t>
            </a:r>
          </a:p>
        </p:txBody>
      </p:sp>
    </p:spTree>
    <p:extLst>
      <p:ext uri="{BB962C8B-B14F-4D97-AF65-F5344CB8AC3E}">
        <p14:creationId xmlns:p14="http://schemas.microsoft.com/office/powerpoint/2010/main" val="2825270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text, application, email&#10;&#10;Description automatically generated">
            <a:extLst>
              <a:ext uri="{FF2B5EF4-FFF2-40B4-BE49-F238E27FC236}">
                <a16:creationId xmlns:a16="http://schemas.microsoft.com/office/drawing/2014/main" id="{14FD21F6-7505-40DB-BD54-D14CCCE0C0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8457" y="1751890"/>
            <a:ext cx="7220138" cy="4050321"/>
          </a:xfrm>
          <a:prstGeom prst="rect">
            <a:avLst/>
          </a:prstGeom>
        </p:spPr>
      </p:pic>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55374"/>
          </a:xfrm>
        </p:spPr>
        <p:txBody>
          <a:bodyPr>
            <a:normAutofit/>
          </a:bodyPr>
          <a:lstStyle/>
          <a:p>
            <a:r>
              <a:rPr lang="en-GB" b="1" dirty="0">
                <a:solidFill>
                  <a:schemeClr val="bg1"/>
                </a:solidFill>
              </a:rPr>
              <a:t>Using Google to find copyright sources </a:t>
            </a:r>
          </a:p>
        </p:txBody>
      </p:sp>
      <p:sp>
        <p:nvSpPr>
          <p:cNvPr id="3" name="Rectangle 2">
            <a:extLst>
              <a:ext uri="{FF2B5EF4-FFF2-40B4-BE49-F238E27FC236}">
                <a16:creationId xmlns:a16="http://schemas.microsoft.com/office/drawing/2014/main" id="{57537BF7-053A-124A-BD55-3D2CC9120F24}"/>
              </a:ext>
            </a:extLst>
          </p:cNvPr>
          <p:cNvSpPr/>
          <p:nvPr/>
        </p:nvSpPr>
        <p:spPr>
          <a:xfrm>
            <a:off x="1580322" y="2324336"/>
            <a:ext cx="3932204" cy="3477875"/>
          </a:xfrm>
          <a:prstGeom prst="rect">
            <a:avLst/>
          </a:prstGeom>
        </p:spPr>
        <p:txBody>
          <a:bodyPr wrap="square">
            <a:spAutoFit/>
          </a:bodyPr>
          <a:lstStyle/>
          <a:p>
            <a:r>
              <a:rPr lang="en-US" sz="2000" dirty="0"/>
              <a:t>You can use Google to find out who wrote a specific piece of text, by going to </a:t>
            </a:r>
            <a:r>
              <a:rPr lang="en-US" sz="2000" u="sng" dirty="0">
                <a:hlinkClick r:id="rId3"/>
              </a:rPr>
              <a:t>www.google.com</a:t>
            </a:r>
            <a:r>
              <a:rPr lang="en-US" sz="2000" dirty="0"/>
              <a:t> and pasting it into the search bar with speech marks around it.</a:t>
            </a:r>
            <a:endParaRPr lang="en-GB" sz="2000" dirty="0"/>
          </a:p>
          <a:p>
            <a:endParaRPr lang="en-US" sz="2000" dirty="0"/>
          </a:p>
          <a:p>
            <a:r>
              <a:rPr lang="en-US" sz="2000" dirty="0"/>
              <a:t>Google </a:t>
            </a:r>
            <a:r>
              <a:rPr lang="en-GB" sz="2000" dirty="0"/>
              <a:t>returns a list of links to web pages where the exact phrase is used, and you need to use your common sense to work out where it most likely originated from.</a:t>
            </a:r>
          </a:p>
        </p:txBody>
      </p:sp>
    </p:spTree>
    <p:extLst>
      <p:ext uri="{BB962C8B-B14F-4D97-AF65-F5344CB8AC3E}">
        <p14:creationId xmlns:p14="http://schemas.microsoft.com/office/powerpoint/2010/main" val="3412471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905C-00CB-4FC9-83B7-66A2E3C077C8}"/>
              </a:ext>
            </a:extLst>
          </p:cNvPr>
          <p:cNvSpPr>
            <a:spLocks noGrp="1"/>
          </p:cNvSpPr>
          <p:nvPr>
            <p:ph type="title"/>
          </p:nvPr>
        </p:nvSpPr>
        <p:spPr>
          <a:xfrm>
            <a:off x="1580322" y="844826"/>
            <a:ext cx="9773478" cy="755374"/>
          </a:xfrm>
        </p:spPr>
        <p:txBody>
          <a:bodyPr>
            <a:normAutofit/>
          </a:bodyPr>
          <a:lstStyle/>
          <a:p>
            <a:r>
              <a:rPr lang="en-GB" b="1" dirty="0">
                <a:solidFill>
                  <a:schemeClr val="bg1"/>
                </a:solidFill>
              </a:rPr>
              <a:t>Using Google to find copyright sources </a:t>
            </a:r>
          </a:p>
        </p:txBody>
      </p:sp>
      <p:sp>
        <p:nvSpPr>
          <p:cNvPr id="3" name="Rectangle 2">
            <a:extLst>
              <a:ext uri="{FF2B5EF4-FFF2-40B4-BE49-F238E27FC236}">
                <a16:creationId xmlns:a16="http://schemas.microsoft.com/office/drawing/2014/main" id="{57537BF7-053A-124A-BD55-3D2CC9120F24}"/>
              </a:ext>
            </a:extLst>
          </p:cNvPr>
          <p:cNvSpPr/>
          <p:nvPr/>
        </p:nvSpPr>
        <p:spPr>
          <a:xfrm>
            <a:off x="1580322" y="1995400"/>
            <a:ext cx="3984455" cy="4401205"/>
          </a:xfrm>
          <a:prstGeom prst="rect">
            <a:avLst/>
          </a:prstGeom>
        </p:spPr>
        <p:txBody>
          <a:bodyPr wrap="square">
            <a:spAutoFit/>
          </a:bodyPr>
          <a:lstStyle/>
          <a:p>
            <a:r>
              <a:rPr lang="en-US" sz="2000" dirty="0"/>
              <a:t>You can use Google to find out where a photo you have downloaded and saved to your computer comes from, by performing a reverse image search.</a:t>
            </a:r>
            <a:endParaRPr lang="en-GB" sz="2000" dirty="0"/>
          </a:p>
          <a:p>
            <a:r>
              <a:rPr lang="en-GB" sz="2000" dirty="0"/>
              <a:t>Go to </a:t>
            </a:r>
            <a:r>
              <a:rPr lang="en-GB" sz="2000" u="sng" dirty="0">
                <a:hlinkClick r:id="rId2"/>
              </a:rPr>
              <a:t>www.google.com</a:t>
            </a:r>
            <a:r>
              <a:rPr lang="en-GB" sz="2000" dirty="0"/>
              <a:t>, click on ‘Images’, click on the camera icon and on ‘Upload an image’, and then upload your image.</a:t>
            </a:r>
          </a:p>
          <a:p>
            <a:r>
              <a:rPr lang="en-GB" sz="2000" dirty="0"/>
              <a:t>As with a text search, Google returns a list of links where the image – or similar images – have been found. Click through to the websites to find the name of the photographer.</a:t>
            </a:r>
          </a:p>
        </p:txBody>
      </p:sp>
      <p:sp>
        <p:nvSpPr>
          <p:cNvPr id="7" name="Rectangle 6">
            <a:extLst>
              <a:ext uri="{FF2B5EF4-FFF2-40B4-BE49-F238E27FC236}">
                <a16:creationId xmlns:a16="http://schemas.microsoft.com/office/drawing/2014/main" id="{D03FC71F-BC32-8B41-A657-DDB5652115E7}"/>
              </a:ext>
            </a:extLst>
          </p:cNvPr>
          <p:cNvSpPr/>
          <p:nvPr/>
        </p:nvSpPr>
        <p:spPr>
          <a:xfrm>
            <a:off x="8693392" y="5570090"/>
            <a:ext cx="2660408" cy="523220"/>
          </a:xfrm>
          <a:prstGeom prst="rect">
            <a:avLst/>
          </a:prstGeom>
        </p:spPr>
        <p:txBody>
          <a:bodyPr wrap="none">
            <a:spAutoFit/>
          </a:bodyPr>
          <a:lstStyle/>
          <a:p>
            <a:r>
              <a:rPr lang="en-GB" sz="2800" dirty="0">
                <a:ea typeface="Calibri" panose="020F0502020204030204" pitchFamily="34" charset="0"/>
                <a:cs typeface="Times New Roman" panose="02020603050405020304" pitchFamily="18" charset="0"/>
              </a:rPr>
              <a:t>Watch Video 1.1</a:t>
            </a:r>
            <a:r>
              <a:rPr lang="en-GB" sz="2800" dirty="0"/>
              <a:t> </a:t>
            </a:r>
            <a:endParaRPr lang="en-US" sz="2800" dirty="0"/>
          </a:p>
        </p:txBody>
      </p:sp>
      <p:pic>
        <p:nvPicPr>
          <p:cNvPr id="8" name="Picture 7" descr="Graphical user interface, text, application, email&#10;&#10;Description automatically generated">
            <a:extLst>
              <a:ext uri="{FF2B5EF4-FFF2-40B4-BE49-F238E27FC236}">
                <a16:creationId xmlns:a16="http://schemas.microsoft.com/office/drawing/2014/main" id="{FB5774FD-571B-41DE-8567-A5717C2F9BE6}"/>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096000" y="1902173"/>
            <a:ext cx="5654925" cy="4587657"/>
          </a:xfrm>
          <a:prstGeom prst="rect">
            <a:avLst/>
          </a:prstGeom>
        </p:spPr>
      </p:pic>
    </p:spTree>
    <p:extLst>
      <p:ext uri="{BB962C8B-B14F-4D97-AF65-F5344CB8AC3E}">
        <p14:creationId xmlns:p14="http://schemas.microsoft.com/office/powerpoint/2010/main" val="82630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7">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9783417" cy="795130"/>
          </a:xfrm>
        </p:spPr>
        <p:txBody>
          <a:bodyPr/>
          <a:lstStyle/>
          <a:p>
            <a:r>
              <a:rPr lang="en-GB" b="1" dirty="0">
                <a:solidFill>
                  <a:schemeClr val="bg1"/>
                </a:solidFill>
              </a:rPr>
              <a:t>Activity 1.2: Save the tigers</a:t>
            </a:r>
          </a:p>
        </p:txBody>
      </p:sp>
      <p:pic>
        <p:nvPicPr>
          <p:cNvPr id="4" name="Picture 3" descr="A picture containing athletic game, basketball, sport&#10;&#10;Description automatically generated">
            <a:extLst>
              <a:ext uri="{FF2B5EF4-FFF2-40B4-BE49-F238E27FC236}">
                <a16:creationId xmlns:a16="http://schemas.microsoft.com/office/drawing/2014/main" id="{B3A0C8CB-ECAC-4EA9-BE23-E3FB69A62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553" y="2042810"/>
            <a:ext cx="4410894" cy="4321738"/>
          </a:xfrm>
          <a:prstGeom prst="rect">
            <a:avLst/>
          </a:prstGeom>
        </p:spPr>
      </p:pic>
    </p:spTree>
    <p:extLst>
      <p:ext uri="{BB962C8B-B14F-4D97-AF65-F5344CB8AC3E}">
        <p14:creationId xmlns:p14="http://schemas.microsoft.com/office/powerpoint/2010/main" val="35615342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C3D19-1115-422D-B31A-F4EC856863A4}"/>
              </a:ext>
            </a:extLst>
          </p:cNvPr>
          <p:cNvSpPr>
            <a:spLocks noGrp="1"/>
          </p:cNvSpPr>
          <p:nvPr>
            <p:ph type="title"/>
          </p:nvPr>
        </p:nvSpPr>
        <p:spPr>
          <a:xfrm>
            <a:off x="1580322" y="824949"/>
            <a:ext cx="9733721" cy="775252"/>
          </a:xfrm>
        </p:spPr>
        <p:txBody>
          <a:bodyPr/>
          <a:lstStyle/>
          <a:p>
            <a:r>
              <a:rPr lang="en-US" b="1" dirty="0">
                <a:solidFill>
                  <a:schemeClr val="bg1"/>
                </a:solidFill>
              </a:rPr>
              <a:t>Creative Commons</a:t>
            </a:r>
            <a:r>
              <a:rPr lang="en-GB" dirty="0">
                <a:solidFill>
                  <a:schemeClr val="bg1"/>
                </a:solidFill>
              </a:rPr>
              <a:t> </a:t>
            </a:r>
            <a:endParaRPr lang="en-GB" b="1" dirty="0">
              <a:solidFill>
                <a:schemeClr val="bg1"/>
              </a:solidFill>
            </a:endParaRPr>
          </a:p>
        </p:txBody>
      </p:sp>
      <p:sp>
        <p:nvSpPr>
          <p:cNvPr id="3" name="Content Placeholder 2">
            <a:extLst>
              <a:ext uri="{FF2B5EF4-FFF2-40B4-BE49-F238E27FC236}">
                <a16:creationId xmlns:a16="http://schemas.microsoft.com/office/drawing/2014/main" id="{603992AB-7463-4849-AFE8-C91C20C45440}"/>
              </a:ext>
            </a:extLst>
          </p:cNvPr>
          <p:cNvSpPr>
            <a:spLocks noGrp="1"/>
          </p:cNvSpPr>
          <p:nvPr>
            <p:ph idx="1"/>
          </p:nvPr>
        </p:nvSpPr>
        <p:spPr>
          <a:xfrm>
            <a:off x="1580322" y="1855263"/>
            <a:ext cx="9412356" cy="1244988"/>
          </a:xfrm>
        </p:spPr>
        <p:txBody>
          <a:bodyPr>
            <a:normAutofit/>
          </a:bodyPr>
          <a:lstStyle/>
          <a:p>
            <a:pPr marL="0" indent="0">
              <a:buNone/>
            </a:pPr>
            <a:r>
              <a:rPr lang="en-GB" sz="2200" dirty="0"/>
              <a:t>It can be difficult to know who is happy for you to use their copyright material as long as you credit them and who wants you to ask for permission to use it.</a:t>
            </a:r>
          </a:p>
          <a:p>
            <a:pPr marL="0" indent="0">
              <a:buNone/>
            </a:pPr>
            <a:r>
              <a:rPr lang="en-GB" sz="2200" b="1" dirty="0">
                <a:solidFill>
                  <a:srgbClr val="00B0F0"/>
                </a:solidFill>
              </a:rPr>
              <a:t>Creative Commons licences </a:t>
            </a:r>
            <a:r>
              <a:rPr lang="en-GB" sz="2200" dirty="0"/>
              <a:t>have been created to help you work out what to do.</a:t>
            </a:r>
          </a:p>
          <a:p>
            <a:endParaRPr lang="en-GB" dirty="0"/>
          </a:p>
        </p:txBody>
      </p:sp>
      <p:sp>
        <p:nvSpPr>
          <p:cNvPr id="6" name="Rectangle 5">
            <a:extLst>
              <a:ext uri="{FF2B5EF4-FFF2-40B4-BE49-F238E27FC236}">
                <a16:creationId xmlns:a16="http://schemas.microsoft.com/office/drawing/2014/main" id="{A1DB1EA8-45A8-294D-A1D3-7725F18FAD20}"/>
              </a:ext>
            </a:extLst>
          </p:cNvPr>
          <p:cNvSpPr/>
          <p:nvPr/>
        </p:nvSpPr>
        <p:spPr>
          <a:xfrm>
            <a:off x="3108239" y="3050182"/>
            <a:ext cx="7884439" cy="671915"/>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Where you see these logos, you know that the content creator is happy for you to use their material with attribution (with a credit), even if you have adapted it.</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3B1EA16D-DCCE-7F4B-8DDE-A39ACFA0F402}"/>
              </a:ext>
            </a:extLst>
          </p:cNvPr>
          <p:cNvSpPr/>
          <p:nvPr/>
        </p:nvSpPr>
        <p:spPr>
          <a:xfrm>
            <a:off x="3108239" y="3799073"/>
            <a:ext cx="7884439" cy="671915"/>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When you also see this logo, you know the content creator is happy for you to use their material with attribution, but they do not want you to adapt it.</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3E808F73-4901-2D48-9AB5-49234E4A75B4}"/>
              </a:ext>
            </a:extLst>
          </p:cNvPr>
          <p:cNvSpPr/>
          <p:nvPr/>
        </p:nvSpPr>
        <p:spPr>
          <a:xfrm>
            <a:off x="3108239" y="4547963"/>
            <a:ext cx="7884439" cy="968278"/>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Where you also see this logo, you know that the content creator is happy for you to use their material with attribution, even if you have adapted it, but you must let other people use it and adapt it too.</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58AEF03F-3730-604A-A399-5B180AE3E6E5}"/>
              </a:ext>
            </a:extLst>
          </p:cNvPr>
          <p:cNvSpPr/>
          <p:nvPr/>
        </p:nvSpPr>
        <p:spPr>
          <a:xfrm>
            <a:off x="3108239" y="5593217"/>
            <a:ext cx="7884439" cy="968278"/>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Where you also see this logo, you know that the content creator is happy for you to use their material with attribution, but not for commercial use (you must not make money from it).</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7" name="Picture 16" descr="Icon&#10;&#10;Description automatically generated">
            <a:extLst>
              <a:ext uri="{FF2B5EF4-FFF2-40B4-BE49-F238E27FC236}">
                <a16:creationId xmlns:a16="http://schemas.microsoft.com/office/drawing/2014/main" id="{EBC60E0E-B994-4B92-A13D-F45FD03538B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668435" y="3070242"/>
            <a:ext cx="631794" cy="631794"/>
          </a:xfrm>
          <a:prstGeom prst="rect">
            <a:avLst/>
          </a:prstGeom>
        </p:spPr>
      </p:pic>
      <p:pic>
        <p:nvPicPr>
          <p:cNvPr id="19" name="Picture 18" descr="Icon&#10;&#10;Description automatically generated">
            <a:extLst>
              <a:ext uri="{FF2B5EF4-FFF2-40B4-BE49-F238E27FC236}">
                <a16:creationId xmlns:a16="http://schemas.microsoft.com/office/drawing/2014/main" id="{649FF039-2C13-4CB3-8ADE-AB9FD80D9D9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388337" y="3070242"/>
            <a:ext cx="631794" cy="631794"/>
          </a:xfrm>
          <a:prstGeom prst="rect">
            <a:avLst/>
          </a:prstGeom>
        </p:spPr>
      </p:pic>
      <p:pic>
        <p:nvPicPr>
          <p:cNvPr id="21" name="Picture 20" descr="Icon&#10;&#10;Description automatically generated">
            <a:extLst>
              <a:ext uri="{FF2B5EF4-FFF2-40B4-BE49-F238E27FC236}">
                <a16:creationId xmlns:a16="http://schemas.microsoft.com/office/drawing/2014/main" id="{4D98FC2C-7A42-4D71-B6DA-367872A54A0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388336" y="3819132"/>
            <a:ext cx="631795" cy="631795"/>
          </a:xfrm>
          <a:prstGeom prst="rect">
            <a:avLst/>
          </a:prstGeom>
        </p:spPr>
      </p:pic>
      <p:pic>
        <p:nvPicPr>
          <p:cNvPr id="23" name="Picture 22" descr="Icon&#10;&#10;Description automatically generated">
            <a:extLst>
              <a:ext uri="{FF2B5EF4-FFF2-40B4-BE49-F238E27FC236}">
                <a16:creationId xmlns:a16="http://schemas.microsoft.com/office/drawing/2014/main" id="{A8EDAB10-2DC6-40FA-906C-AE2BCDC221D4}"/>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2388337" y="4716205"/>
            <a:ext cx="631794" cy="631794"/>
          </a:xfrm>
          <a:prstGeom prst="rect">
            <a:avLst/>
          </a:prstGeom>
        </p:spPr>
      </p:pic>
      <p:pic>
        <p:nvPicPr>
          <p:cNvPr id="25" name="Picture 24" descr="Icon&#10;&#10;Description automatically generated">
            <a:extLst>
              <a:ext uri="{FF2B5EF4-FFF2-40B4-BE49-F238E27FC236}">
                <a16:creationId xmlns:a16="http://schemas.microsoft.com/office/drawing/2014/main" id="{2307FCC1-ABAB-4B99-BE08-4B4F36CCB021}"/>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2388335" y="5761458"/>
            <a:ext cx="631795" cy="631795"/>
          </a:xfrm>
          <a:prstGeom prst="rect">
            <a:avLst/>
          </a:prstGeom>
        </p:spPr>
      </p:pic>
    </p:spTree>
    <p:extLst>
      <p:ext uri="{BB962C8B-B14F-4D97-AF65-F5344CB8AC3E}">
        <p14:creationId xmlns:p14="http://schemas.microsoft.com/office/powerpoint/2010/main" val="300574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10621618" cy="795130"/>
          </a:xfrm>
        </p:spPr>
        <p:txBody>
          <a:bodyPr>
            <a:normAutofit fontScale="90000"/>
          </a:bodyPr>
          <a:lstStyle/>
          <a:p>
            <a:r>
              <a:rPr lang="en-GB" b="1" dirty="0">
                <a:solidFill>
                  <a:schemeClr val="bg1"/>
                </a:solidFill>
              </a:rPr>
              <a:t>Activity 1.3: Choosing a Creative Commons licence</a:t>
            </a:r>
          </a:p>
        </p:txBody>
      </p:sp>
      <p:pic>
        <p:nvPicPr>
          <p:cNvPr id="4" name="Picture 3" descr="A picture containing athletic game, basketball, sport&#10;&#10;Description automatically generated">
            <a:extLst>
              <a:ext uri="{FF2B5EF4-FFF2-40B4-BE49-F238E27FC236}">
                <a16:creationId xmlns:a16="http://schemas.microsoft.com/office/drawing/2014/main" id="{E9DEC0F9-6B95-4869-A486-262818BDCD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553" y="2042810"/>
            <a:ext cx="4410894" cy="4321738"/>
          </a:xfrm>
          <a:prstGeom prst="rect">
            <a:avLst/>
          </a:prstGeom>
        </p:spPr>
      </p:pic>
    </p:spTree>
    <p:extLst>
      <p:ext uri="{BB962C8B-B14F-4D97-AF65-F5344CB8AC3E}">
        <p14:creationId xmlns:p14="http://schemas.microsoft.com/office/powerpoint/2010/main" val="2426222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6696-8D12-4574-BDC3-2DC3137EF4C6}"/>
              </a:ext>
            </a:extLst>
          </p:cNvPr>
          <p:cNvSpPr>
            <a:spLocks noGrp="1"/>
          </p:cNvSpPr>
          <p:nvPr>
            <p:ph type="title"/>
          </p:nvPr>
        </p:nvSpPr>
        <p:spPr>
          <a:xfrm>
            <a:off x="1570382" y="834888"/>
            <a:ext cx="10621618" cy="795130"/>
          </a:xfrm>
        </p:spPr>
        <p:txBody>
          <a:bodyPr>
            <a:normAutofit/>
          </a:bodyPr>
          <a:lstStyle/>
          <a:p>
            <a:r>
              <a:rPr lang="en-GB" b="1" dirty="0">
                <a:solidFill>
                  <a:schemeClr val="bg1"/>
                </a:solidFill>
              </a:rPr>
              <a:t>Quiz 1</a:t>
            </a:r>
          </a:p>
        </p:txBody>
      </p:sp>
      <p:pic>
        <p:nvPicPr>
          <p:cNvPr id="4" name="Picture 3" descr="A picture containing athletic game, basketball, sport&#10;&#10;Description automatically generated">
            <a:extLst>
              <a:ext uri="{FF2B5EF4-FFF2-40B4-BE49-F238E27FC236}">
                <a16:creationId xmlns:a16="http://schemas.microsoft.com/office/drawing/2014/main" id="{E36F95DD-8D2B-4602-8A2E-D15C0A0796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0553" y="2042810"/>
            <a:ext cx="4410894" cy="4321738"/>
          </a:xfrm>
          <a:prstGeom prst="rect">
            <a:avLst/>
          </a:prstGeom>
        </p:spPr>
      </p:pic>
    </p:spTree>
    <p:extLst>
      <p:ext uri="{BB962C8B-B14F-4D97-AF65-F5344CB8AC3E}">
        <p14:creationId xmlns:p14="http://schemas.microsoft.com/office/powerpoint/2010/main" val="1242961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876</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Symbol</vt:lpstr>
      <vt:lpstr>Times New Roman</vt:lpstr>
      <vt:lpstr>Office Theme</vt:lpstr>
      <vt:lpstr>The ethics of computing</vt:lpstr>
      <vt:lpstr>Objectives</vt:lpstr>
      <vt:lpstr>Activity 1.1: Draw a creature </vt:lpstr>
      <vt:lpstr>Everything online has an owner </vt:lpstr>
      <vt:lpstr>Crediting a source </vt:lpstr>
      <vt:lpstr>Getting permission to use copyright material </vt:lpstr>
      <vt:lpstr>Using Google to find copyright sources </vt:lpstr>
      <vt:lpstr>Using Google to find copyright sources </vt:lpstr>
      <vt:lpstr>Activity 1.2: Save the tigers</vt:lpstr>
      <vt:lpstr>Creative Commons </vt:lpstr>
      <vt:lpstr>Activity 1.3: Choosing a Creative Commons licence</vt:lpstr>
      <vt:lpstr>Quiz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Introducing spreadsheets</dc:title>
  <dc:creator>Lea Albrechtsen</dc:creator>
  <cp:lastModifiedBy>DavitZh</cp:lastModifiedBy>
  <cp:revision>32</cp:revision>
  <dcterms:created xsi:type="dcterms:W3CDTF">2020-11-04T15:22:46Z</dcterms:created>
  <dcterms:modified xsi:type="dcterms:W3CDTF">2024-09-11T10:13:33Z</dcterms:modified>
</cp:coreProperties>
</file>