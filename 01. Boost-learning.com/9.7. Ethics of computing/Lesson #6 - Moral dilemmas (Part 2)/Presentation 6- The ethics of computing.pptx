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58" r:id="rId5"/>
    <p:sldId id="27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64" d="100"/>
          <a:sy n="64" d="100"/>
        </p:scale>
        <p:origin x="90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570252-6D27-224F-B897-578AE4F8D1E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4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9330159-F4CC-461E-A6BA-F617E2F15E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82477" y="3118978"/>
            <a:ext cx="4013523" cy="1497914"/>
          </a:xfrm>
        </p:spPr>
        <p:txBody>
          <a:bodyPr>
            <a:normAutofit fontScale="90000"/>
          </a:bodyPr>
          <a:lstStyle/>
          <a:p>
            <a:pPr algn="r"/>
            <a:r>
              <a:rPr lang="en-GB" b="1" dirty="0"/>
              <a:t>The ethics</a:t>
            </a:r>
            <a:br>
              <a:rPr lang="en-GB" b="1" dirty="0"/>
            </a:br>
            <a:r>
              <a:rPr lang="en-GB" b="1" dirty="0"/>
              <a:t>of computing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D200C1-92F0-42B1-A59E-7FBF53FAAC97}"/>
              </a:ext>
            </a:extLst>
          </p:cNvPr>
          <p:cNvSpPr/>
          <p:nvPr/>
        </p:nvSpPr>
        <p:spPr>
          <a:xfrm>
            <a:off x="2401783" y="4616892"/>
            <a:ext cx="369421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00B0F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6: Moral dilemma (Part 2)</a:t>
            </a:r>
            <a:endParaRPr lang="en-GB" sz="2000" b="1" dirty="0">
              <a:solidFill>
                <a:srgbClr val="00B0F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B73C40-E6D5-48E8-8FFA-13B84BB2A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462" y="2852165"/>
            <a:ext cx="3626103" cy="216483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44826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00200" y="2244060"/>
            <a:ext cx="7653130" cy="2369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In this lesson, you will learn:</a:t>
            </a: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that algorithms are used to program driverless cars to make moral decisions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to design algorithms to program a driverless car to make moral decisions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to justify your algorithms.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24">
            <a:extLst>
              <a:ext uri="{FF2B5EF4-FFF2-40B4-BE49-F238E27FC236}">
                <a16:creationId xmlns:a16="http://schemas.microsoft.com/office/drawing/2014/main" id="{E795BEAD-B1EB-4D3C-AAAE-DE9AF94ED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591133"/>
              </p:ext>
            </p:extLst>
          </p:nvPr>
        </p:nvGraphicFramePr>
        <p:xfrm>
          <a:off x="835742" y="1815143"/>
          <a:ext cx="10520515" cy="4445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5213">
                  <a:extLst>
                    <a:ext uri="{9D8B030D-6E8A-4147-A177-3AD203B41FA5}">
                      <a16:colId xmlns:a16="http://schemas.microsoft.com/office/drawing/2014/main" val="2883600883"/>
                    </a:ext>
                  </a:extLst>
                </a:gridCol>
                <a:gridCol w="1897626">
                  <a:extLst>
                    <a:ext uri="{9D8B030D-6E8A-4147-A177-3AD203B41FA5}">
                      <a16:colId xmlns:a16="http://schemas.microsoft.com/office/drawing/2014/main" val="3678956043"/>
                    </a:ext>
                  </a:extLst>
                </a:gridCol>
                <a:gridCol w="5997676">
                  <a:extLst>
                    <a:ext uri="{9D8B030D-6E8A-4147-A177-3AD203B41FA5}">
                      <a16:colId xmlns:a16="http://schemas.microsoft.com/office/drawing/2014/main" val="2392814603"/>
                    </a:ext>
                  </a:extLst>
                </a:gridCol>
              </a:tblGrid>
              <a:tr h="485672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Symbol</a:t>
                      </a:r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AE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AE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Function</a:t>
                      </a:r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AE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267186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start/end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an oval represents the start or end point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926201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arrows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an arrow represents the relationship between the shapes it connects and shows the direction of flow through the diagram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5203940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input/output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 parallelogram represents input of output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137973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process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 rectangle represents a process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395933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decision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 diamond represents a decision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A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4494905"/>
                  </a:ext>
                </a:extLst>
              </a:tr>
            </a:tbl>
          </a:graphicData>
        </a:graphic>
      </p:graphicFrame>
      <p:sp>
        <p:nvSpPr>
          <p:cNvPr id="14" name="Title 1">
            <a:extLst>
              <a:ext uri="{FF2B5EF4-FFF2-40B4-BE49-F238E27FC236}">
                <a16:creationId xmlns:a16="http://schemas.microsoft.com/office/drawing/2014/main" id="{A8FA6F5B-8524-431B-A3F2-E6A8BB48A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7" y="874644"/>
            <a:ext cx="10197548" cy="755374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prstClr val="white"/>
                </a:solidFill>
              </a:rPr>
              <a:t>Standard flow diagram symbols 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35C853-0D90-4FFD-8086-3FCE04DBC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77" y="2443868"/>
            <a:ext cx="1119052" cy="455081"/>
          </a:xfrm>
          <a:prstGeom prst="rect">
            <a:avLst/>
          </a:prstGeom>
        </p:spPr>
      </p:pic>
      <p:pic>
        <p:nvPicPr>
          <p:cNvPr id="16" name="Picture 1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E97FA2EA-8360-4179-9B23-CD93C0AC1C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77" y="3407610"/>
            <a:ext cx="1223207" cy="166801"/>
          </a:xfrm>
          <a:prstGeom prst="rect">
            <a:avLst/>
          </a:prstGeom>
        </p:spPr>
      </p:pic>
      <p:pic>
        <p:nvPicPr>
          <p:cNvPr id="17" name="Picture 16" descr="Shape, rectangle&#10;&#10;Description automatically generated">
            <a:extLst>
              <a:ext uri="{FF2B5EF4-FFF2-40B4-BE49-F238E27FC236}">
                <a16:creationId xmlns:a16="http://schemas.microsoft.com/office/drawing/2014/main" id="{90D1D1F8-B994-4F84-A040-FFAC1A87A0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77" y="4060436"/>
            <a:ext cx="917448" cy="46329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8CDC7A-7EA4-4A6F-8CEC-47609B2EC4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77" y="4841125"/>
            <a:ext cx="917448" cy="460248"/>
          </a:xfrm>
          <a:prstGeom prst="rect">
            <a:avLst/>
          </a:prstGeom>
        </p:spPr>
      </p:pic>
      <p:pic>
        <p:nvPicPr>
          <p:cNvPr id="19" name="Picture 18" descr="Icon&#10;&#10;Description automatically generated">
            <a:extLst>
              <a:ext uri="{FF2B5EF4-FFF2-40B4-BE49-F238E27FC236}">
                <a16:creationId xmlns:a16="http://schemas.microsoft.com/office/drawing/2014/main" id="{C95481F7-D1BA-4FCF-84AE-3AA533664B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77" y="5510339"/>
            <a:ext cx="926592" cy="70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453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7537BF7-053A-124A-BD55-3D2CC9120F24}"/>
              </a:ext>
            </a:extLst>
          </p:cNvPr>
          <p:cNvSpPr/>
          <p:nvPr/>
        </p:nvSpPr>
        <p:spPr>
          <a:xfrm>
            <a:off x="1580322" y="2796679"/>
            <a:ext cx="3366608" cy="20506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Here is an algorithm to program the main beam of a lighthouse ON for 2 seconds and OFF for 3 seconds when it is dark.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C6FFECBE-E71F-4C3B-8025-B4526C0E1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40893"/>
            <a:ext cx="3366608" cy="4887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9513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6.1: Driverless cars algorithms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AE131D93-D600-4EE6-8708-068B29639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2977" y="1885897"/>
            <a:ext cx="4686046" cy="45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534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142</Words>
  <Application>Microsoft Office PowerPoint</Application>
  <PresentationFormat>Widescreen</PresentationFormat>
  <Paragraphs>23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Symbol</vt:lpstr>
      <vt:lpstr>Times New Roman</vt:lpstr>
      <vt:lpstr>Office Theme</vt:lpstr>
      <vt:lpstr>The ethics of computing</vt:lpstr>
      <vt:lpstr>Objectives</vt:lpstr>
      <vt:lpstr>Standard flow diagram symbols </vt:lpstr>
      <vt:lpstr>PowerPoint Presentation</vt:lpstr>
      <vt:lpstr>Activity 6.1: Driverless cars algorithms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33</cp:revision>
  <dcterms:created xsi:type="dcterms:W3CDTF">2020-11-04T15:22:46Z</dcterms:created>
  <dcterms:modified xsi:type="dcterms:W3CDTF">2021-06-17T11:35:21Z</dcterms:modified>
</cp:coreProperties>
</file>