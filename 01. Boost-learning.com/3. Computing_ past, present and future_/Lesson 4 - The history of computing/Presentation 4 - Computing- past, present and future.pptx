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7"/>
  </p:notesMasterIdLst>
  <p:sldIdLst>
    <p:sldId id="273" r:id="rId3"/>
    <p:sldId id="257" r:id="rId4"/>
    <p:sldId id="258" r:id="rId5"/>
    <p:sldId id="259" r:id="rId6"/>
    <p:sldId id="260" r:id="rId7"/>
    <p:sldId id="282" r:id="rId8"/>
    <p:sldId id="275" r:id="rId9"/>
    <p:sldId id="276" r:id="rId10"/>
    <p:sldId id="277" r:id="rId11"/>
    <p:sldId id="261" r:id="rId12"/>
    <p:sldId id="278" r:id="rId13"/>
    <p:sldId id="279" r:id="rId14"/>
    <p:sldId id="280" r:id="rId15"/>
    <p:sldId id="281"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ea Albrechtsen" initials="LA" lastIdx="2" clrIdx="0">
    <p:extLst>
      <p:ext uri="{19B8F6BF-5375-455C-9EA6-DF929625EA0E}">
        <p15:presenceInfo xmlns:p15="http://schemas.microsoft.com/office/powerpoint/2012/main" userId="S::Lea.Albrechtsen@hoddereducation.co.uk::4df490f3-5904-4e82-a5b6-23281874b6f0" providerId="AD"/>
      </p:ext>
    </p:extLst>
  </p:cmAuthor>
  <p:cmAuthor id="2" name="Jane Fairnie" initials="JF" lastIdx="3" clrIdx="1">
    <p:extLst>
      <p:ext uri="{19B8F6BF-5375-455C-9EA6-DF929625EA0E}">
        <p15:presenceInfo xmlns:p15="http://schemas.microsoft.com/office/powerpoint/2012/main" userId="Jane Fairnie" providerId="None"/>
      </p:ext>
    </p:extLst>
  </p:cmAuthor>
  <p:cmAuthor id="3" name="Guest User" initials="GU" lastIdx="1" clrIdx="2">
    <p:extLst>
      <p:ext uri="{19B8F6BF-5375-455C-9EA6-DF929625EA0E}">
        <p15:presenceInfo xmlns:p15="http://schemas.microsoft.com/office/powerpoint/2012/main" userId="S::urn:spo:anon#b0b5e468eb879ddb4bbe1670ff9506d1c7b1747733fcba6b855d1820ab7164f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9B4"/>
    <a:srgbClr val="0075B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B3C39F-709B-B000-FD7B-15C9B2E752C8}" v="1" dt="2021-05-01T17:49:08.24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636" autoAdjust="0"/>
    <p:restoredTop sz="85311" autoAdjust="0"/>
  </p:normalViewPr>
  <p:slideViewPr>
    <p:cSldViewPr snapToGrid="0">
      <p:cViewPr varScale="1">
        <p:scale>
          <a:sx n="58" d="100"/>
          <a:sy n="58" d="100"/>
        </p:scale>
        <p:origin x="379" y="3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commentAuthors" Target="commentAuthors.xml"/><Relationship Id="rId3" Type="http://schemas.openxmlformats.org/officeDocument/2006/relationships/slide" Target="slides/slide1.xml"/><Relationship Id="rId21"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23" Type="http://schemas.microsoft.com/office/2015/10/relationships/revisionInfo" Target="revisionInfo.xml"/><Relationship Id="rId10" Type="http://schemas.openxmlformats.org/officeDocument/2006/relationships/slide" Target="slides/slide8.xml"/><Relationship Id="rId19"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679D152-BC66-42F6-97D6-3E52EB271045}" type="datetimeFigureOut">
              <a:rPr lang="en-GB" smtClean="0"/>
              <a:t>01/10/2024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D440E5-8E9E-44C9-880D-9DF5EDB2A3A0}" type="slidenum">
              <a:rPr lang="en-GB" smtClean="0"/>
              <a:t>‹#›</a:t>
            </a:fld>
            <a:endParaRPr lang="en-GB"/>
          </a:p>
        </p:txBody>
      </p:sp>
    </p:spTree>
    <p:extLst>
      <p:ext uri="{BB962C8B-B14F-4D97-AF65-F5344CB8AC3E}">
        <p14:creationId xmlns:p14="http://schemas.microsoft.com/office/powerpoint/2010/main" val="19756750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This is a very well-designed slide. There is a good balance of text and images and the image links closely to the text. The image has a caption and a credit, and the text is well spaced and in a readable font and at a readable font size. The theme used for the slide is engaging but not distracting. A good presentation will use the same theme for all slides.</a:t>
            </a:r>
            <a:endParaRPr lang="en-GB" dirty="0"/>
          </a:p>
        </p:txBody>
      </p:sp>
      <p:sp>
        <p:nvSpPr>
          <p:cNvPr id="4" name="Slide Number Placeholder 3"/>
          <p:cNvSpPr>
            <a:spLocks noGrp="1"/>
          </p:cNvSpPr>
          <p:nvPr>
            <p:ph type="sldNum" sz="quarter" idx="5"/>
          </p:nvPr>
        </p:nvSpPr>
        <p:spPr/>
        <p:txBody>
          <a:bodyPr/>
          <a:lstStyle/>
          <a:p>
            <a:fld id="{BFD440E5-8E9E-44C9-880D-9DF5EDB2A3A0}" type="slidenum">
              <a:rPr lang="en-GB" smtClean="0"/>
              <a:t>5</a:t>
            </a:fld>
            <a:endParaRPr lang="en-GB"/>
          </a:p>
        </p:txBody>
      </p:sp>
    </p:spTree>
    <p:extLst>
      <p:ext uri="{BB962C8B-B14F-4D97-AF65-F5344CB8AC3E}">
        <p14:creationId xmlns:p14="http://schemas.microsoft.com/office/powerpoint/2010/main" val="36896116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This slide is poorly designed. It contains far too much text and no images. It uses too many different fonts at different font sizes. It seems to rely on different coloured fonts to make the slide look attractive, but this just makes it hard to read, as does the poor contrast between the colours of the text and the colour of the background. The animation is overly complicated and makes it really hard to take in the information. The information is also too complicated for the intended audience.</a:t>
            </a:r>
            <a:endParaRPr lang="en-GB" dirty="0"/>
          </a:p>
        </p:txBody>
      </p:sp>
      <p:sp>
        <p:nvSpPr>
          <p:cNvPr id="4" name="Slide Number Placeholder 3"/>
          <p:cNvSpPr>
            <a:spLocks noGrp="1"/>
          </p:cNvSpPr>
          <p:nvPr>
            <p:ph type="sldNum" sz="quarter" idx="5"/>
          </p:nvPr>
        </p:nvSpPr>
        <p:spPr/>
        <p:txBody>
          <a:bodyPr/>
          <a:lstStyle/>
          <a:p>
            <a:fld id="{BFD440E5-8E9E-44C9-880D-9DF5EDB2A3A0}" type="slidenum">
              <a:rPr lang="en-GB" smtClean="0"/>
              <a:t>6</a:t>
            </a:fld>
            <a:endParaRPr lang="en-GB"/>
          </a:p>
        </p:txBody>
      </p:sp>
    </p:spTree>
    <p:extLst>
      <p:ext uri="{BB962C8B-B14F-4D97-AF65-F5344CB8AC3E}">
        <p14:creationId xmlns:p14="http://schemas.microsoft.com/office/powerpoint/2010/main" val="15822651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This slide uses the same theme as Slide 5 and some may think it is a well-designed slide and some may think it is a poorly-designed slide. It all depends on how it is presented. A slide that contains only images can enhance a presentation if the presenter has a reason for including the slide in the deck and talks about the images, but it can be a waste of space if it doesn't have a clear purpose. Notice that all the images have credits.</a:t>
            </a:r>
            <a:endParaRPr lang="en-GB" dirty="0"/>
          </a:p>
        </p:txBody>
      </p:sp>
      <p:sp>
        <p:nvSpPr>
          <p:cNvPr id="4" name="Slide Number Placeholder 3"/>
          <p:cNvSpPr>
            <a:spLocks noGrp="1"/>
          </p:cNvSpPr>
          <p:nvPr>
            <p:ph type="sldNum" sz="quarter" idx="5"/>
          </p:nvPr>
        </p:nvSpPr>
        <p:spPr/>
        <p:txBody>
          <a:bodyPr/>
          <a:lstStyle/>
          <a:p>
            <a:fld id="{BFD440E5-8E9E-44C9-880D-9DF5EDB2A3A0}" type="slidenum">
              <a:rPr lang="en-GB" smtClean="0"/>
              <a:t>7</a:t>
            </a:fld>
            <a:endParaRPr lang="en-GB"/>
          </a:p>
        </p:txBody>
      </p:sp>
    </p:spTree>
    <p:extLst>
      <p:ext uri="{BB962C8B-B14F-4D97-AF65-F5344CB8AC3E}">
        <p14:creationId xmlns:p14="http://schemas.microsoft.com/office/powerpoint/2010/main" val="26869924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This is a well-designed slide that uses the same theme as Slide 5. Notice that the key words are in bold and that the animations help the audience take in one piece of information at a time. Unfortunately, it contains spelling mistakes and has clearly not been proofread properly. The photo has a credit and a caption.</a:t>
            </a:r>
            <a:endParaRPr lang="en-GB" dirty="0"/>
          </a:p>
        </p:txBody>
      </p:sp>
      <p:sp>
        <p:nvSpPr>
          <p:cNvPr id="4" name="Slide Number Placeholder 3"/>
          <p:cNvSpPr>
            <a:spLocks noGrp="1"/>
          </p:cNvSpPr>
          <p:nvPr>
            <p:ph type="sldNum" sz="quarter" idx="5"/>
          </p:nvPr>
        </p:nvSpPr>
        <p:spPr/>
        <p:txBody>
          <a:bodyPr/>
          <a:lstStyle/>
          <a:p>
            <a:fld id="{BFD440E5-8E9E-44C9-880D-9DF5EDB2A3A0}" type="slidenum">
              <a:rPr lang="en-GB" smtClean="0"/>
              <a:t>8</a:t>
            </a:fld>
            <a:endParaRPr lang="en-GB"/>
          </a:p>
        </p:txBody>
      </p:sp>
    </p:spTree>
    <p:extLst>
      <p:ext uri="{BB962C8B-B14F-4D97-AF65-F5344CB8AC3E}">
        <p14:creationId xmlns:p14="http://schemas.microsoft.com/office/powerpoint/2010/main" val="21629324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F7712-1F3B-4253-AEF1-0FE171523E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DC14F2F-A2B8-4861-8B33-2CF08A1C25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31378146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60902-80CF-4DD3-B59F-8E58611CF13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B756315-CBCB-4124-93B3-3DEF3C56BD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DFA47B5-60C4-46E0-B317-50F50E6D857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01/10/2024</a:t>
            </a:fld>
            <a:endParaRPr lang="en-GB"/>
          </a:p>
        </p:txBody>
      </p:sp>
      <p:sp>
        <p:nvSpPr>
          <p:cNvPr id="5" name="Footer Placeholder 4">
            <a:extLst>
              <a:ext uri="{FF2B5EF4-FFF2-40B4-BE49-F238E27FC236}">
                <a16:creationId xmlns:a16="http://schemas.microsoft.com/office/drawing/2014/main" id="{5F049A0D-7474-4882-A51A-CF35E154FD2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99F5A12C-5BED-457E-A6CE-2E58C8D0DED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3233533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C2461-8DBB-43F0-A3AC-126E643979E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596A727-278D-4E57-850B-78E0D727C72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41C733-75AA-40FE-8179-B58FA4EA5EE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01/10/2024</a:t>
            </a:fld>
            <a:endParaRPr lang="en-GB"/>
          </a:p>
        </p:txBody>
      </p:sp>
      <p:sp>
        <p:nvSpPr>
          <p:cNvPr id="5" name="Footer Placeholder 4">
            <a:extLst>
              <a:ext uri="{FF2B5EF4-FFF2-40B4-BE49-F238E27FC236}">
                <a16:creationId xmlns:a16="http://schemas.microsoft.com/office/drawing/2014/main" id="{FB8C4D2E-FA87-41DA-961F-7D250DD08DA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BF020F2E-2A86-4F16-B83F-E86E7319950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611048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5B458-3AE6-4C21-BEBE-F7B76061980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2FF206-47D4-451B-80B7-578E10A3E6E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D2DF79-B13E-46C5-AAA1-F49C3BABAB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F199702-3758-423C-8C91-550D5C885DF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01/10/2024</a:t>
            </a:fld>
            <a:endParaRPr lang="en-GB"/>
          </a:p>
        </p:txBody>
      </p:sp>
      <p:sp>
        <p:nvSpPr>
          <p:cNvPr id="6" name="Footer Placeholder 5">
            <a:extLst>
              <a:ext uri="{FF2B5EF4-FFF2-40B4-BE49-F238E27FC236}">
                <a16:creationId xmlns:a16="http://schemas.microsoft.com/office/drawing/2014/main" id="{4355CC31-BF31-4EB1-8B54-2DD0D6BE79BC}"/>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303EFAF2-4586-4670-8EF7-78067B1872A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41161545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05FA2-A60C-405C-A307-880C049CB034}"/>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A970388-4034-4A46-8B98-D37491E014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C39A8B-6B00-4329-AC44-AD6EBE236EC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55DFF08-1C59-4E60-A964-4D4A3690072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6548497-A585-4527-B8A6-BB01B9FBC4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77C2D4B-BCC3-48CF-B358-D817886727C0}"/>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01/10/2024</a:t>
            </a:fld>
            <a:endParaRPr lang="en-GB"/>
          </a:p>
        </p:txBody>
      </p:sp>
      <p:sp>
        <p:nvSpPr>
          <p:cNvPr id="8" name="Footer Placeholder 7">
            <a:extLst>
              <a:ext uri="{FF2B5EF4-FFF2-40B4-BE49-F238E27FC236}">
                <a16:creationId xmlns:a16="http://schemas.microsoft.com/office/drawing/2014/main" id="{B393C415-FAAE-444A-BBA1-9059E1C450A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16C512DB-E555-4910-92DC-7AB19F87F8E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477414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D8A33-5CA5-4826-9B83-0B2F6A50C2B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A17C1E61-1B5E-44DC-BC0F-2F956B04C01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01/10/2024</a:t>
            </a:fld>
            <a:endParaRPr lang="en-GB"/>
          </a:p>
        </p:txBody>
      </p:sp>
      <p:sp>
        <p:nvSpPr>
          <p:cNvPr id="4" name="Footer Placeholder 3">
            <a:extLst>
              <a:ext uri="{FF2B5EF4-FFF2-40B4-BE49-F238E27FC236}">
                <a16:creationId xmlns:a16="http://schemas.microsoft.com/office/drawing/2014/main" id="{DBA212BA-9EF0-4463-A9C0-997D5572049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E350D64F-9F3A-43FB-A563-07763EE16E2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2795999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739767-A677-43FB-A13E-C6E76D21E158}"/>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01/10/2024</a:t>
            </a:fld>
            <a:endParaRPr lang="en-GB"/>
          </a:p>
        </p:txBody>
      </p:sp>
      <p:sp>
        <p:nvSpPr>
          <p:cNvPr id="3" name="Footer Placeholder 2">
            <a:extLst>
              <a:ext uri="{FF2B5EF4-FFF2-40B4-BE49-F238E27FC236}">
                <a16:creationId xmlns:a16="http://schemas.microsoft.com/office/drawing/2014/main" id="{BFA103BA-C2DE-41DE-842B-306DECB788D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5B8320D2-03FC-47A8-B437-7B7CEBDD6176}"/>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747179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B20E6-8664-4FD7-A9B2-0B5C17E861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D75017E-7CE6-4AFE-8756-092A858401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85C17A6-B2E1-42BB-9629-032C80545F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1DC4D7-18F9-4992-BB61-15FA97A5299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01/10/2024</a:t>
            </a:fld>
            <a:endParaRPr lang="en-GB"/>
          </a:p>
        </p:txBody>
      </p:sp>
      <p:sp>
        <p:nvSpPr>
          <p:cNvPr id="6" name="Footer Placeholder 5">
            <a:extLst>
              <a:ext uri="{FF2B5EF4-FFF2-40B4-BE49-F238E27FC236}">
                <a16:creationId xmlns:a16="http://schemas.microsoft.com/office/drawing/2014/main" id="{4FB52144-EB56-46FB-8C3D-7A870235437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E7142B02-C27D-4AC0-9DE7-A653F338FB9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8955819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FD8A0-DA8A-463F-AC82-9A3D896B80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3B553CB-6BB8-4D69-8270-E69093C148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00E0B06-F972-42E3-B94A-6BA4824458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FCFE24-5759-425E-A7E5-6EAACD13BAA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01/10/2024</a:t>
            </a:fld>
            <a:endParaRPr lang="en-GB"/>
          </a:p>
        </p:txBody>
      </p:sp>
      <p:sp>
        <p:nvSpPr>
          <p:cNvPr id="6" name="Footer Placeholder 5">
            <a:extLst>
              <a:ext uri="{FF2B5EF4-FFF2-40B4-BE49-F238E27FC236}">
                <a16:creationId xmlns:a16="http://schemas.microsoft.com/office/drawing/2014/main" id="{EC458F3E-34B5-48AA-B148-66ED69F3067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AB133722-4E46-4BF0-841D-DC92DCB4825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21531943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A43C2-4F61-40F8-A06C-596F42B7D0A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012D4A7-8F4B-484D-90BE-4A6A303F659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BBE0C66-2DCD-4454-98BE-EE8ADD1D798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01/10/2024</a:t>
            </a:fld>
            <a:endParaRPr lang="en-GB"/>
          </a:p>
        </p:txBody>
      </p:sp>
      <p:sp>
        <p:nvSpPr>
          <p:cNvPr id="5" name="Footer Placeholder 4">
            <a:extLst>
              <a:ext uri="{FF2B5EF4-FFF2-40B4-BE49-F238E27FC236}">
                <a16:creationId xmlns:a16="http://schemas.microsoft.com/office/drawing/2014/main" id="{B6C655C5-A5ED-4766-97E4-846A805367D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17ADFEEA-B282-4D56-A557-4193031EB4A7}"/>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9012902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1B7A8B-8DD3-4239-8EA1-87394625413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5621B91-126F-434B-86F2-89E6778E91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7BFCCA6-FBA0-4A4B-97BC-8B2465C0186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01/10/2024</a:t>
            </a:fld>
            <a:endParaRPr lang="en-GB"/>
          </a:p>
        </p:txBody>
      </p:sp>
      <p:sp>
        <p:nvSpPr>
          <p:cNvPr id="5" name="Footer Placeholder 4">
            <a:extLst>
              <a:ext uri="{FF2B5EF4-FFF2-40B4-BE49-F238E27FC236}">
                <a16:creationId xmlns:a16="http://schemas.microsoft.com/office/drawing/2014/main" id="{5A17EED6-4B0F-4C58-A54B-C4F0F72D7BAA}"/>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51249905-D4AB-4930-9B2A-6E8E550A0D1E}"/>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0811159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E75F1-11FC-4F76-B82F-F111F7CA9BF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B0463189-1B18-48E8-8F0C-5149F39B6B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5A60E8B1-A3AB-4788-8953-7EC61FD4509C}"/>
              </a:ext>
            </a:extLst>
          </p:cNvPr>
          <p:cNvSpPr>
            <a:spLocks noGrp="1"/>
          </p:cNvSpPr>
          <p:nvPr>
            <p:ph type="dt" sz="half" idx="10"/>
          </p:nvPr>
        </p:nvSpPr>
        <p:spPr/>
        <p:txBody>
          <a:bodyPr/>
          <a:lstStyle/>
          <a:p>
            <a:fld id="{3A965224-C33F-446F-845D-552A82798058}" type="datetimeFigureOut">
              <a:rPr lang="en-GB" smtClean="0"/>
              <a:t>01/10/2024</a:t>
            </a:fld>
            <a:endParaRPr lang="en-GB"/>
          </a:p>
        </p:txBody>
      </p:sp>
      <p:sp>
        <p:nvSpPr>
          <p:cNvPr id="5" name="Footer Placeholder 4">
            <a:extLst>
              <a:ext uri="{FF2B5EF4-FFF2-40B4-BE49-F238E27FC236}">
                <a16:creationId xmlns:a16="http://schemas.microsoft.com/office/drawing/2014/main" id="{9D7E7207-0AB2-477B-9EE5-55FECDFCF9B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2D5DB74-1716-43D3-AB8D-552C58887465}"/>
              </a:ext>
            </a:extLst>
          </p:cNvPr>
          <p:cNvSpPr>
            <a:spLocks noGrp="1"/>
          </p:cNvSpPr>
          <p:nvPr>
            <p:ph type="sldNum" sz="quarter" idx="12"/>
          </p:nvPr>
        </p:nvSpPr>
        <p:spPr/>
        <p:txBody>
          <a:bodyPr/>
          <a:lstStyle/>
          <a:p>
            <a:fld id="{D74EB0DE-CA46-456B-98E1-FCCB4563D3BD}" type="slidenum">
              <a:rPr lang="en-GB" smtClean="0"/>
              <a:t>‹#›</a:t>
            </a:fld>
            <a:endParaRPr lang="en-GB"/>
          </a:p>
        </p:txBody>
      </p:sp>
    </p:spTree>
    <p:extLst>
      <p:ext uri="{BB962C8B-B14F-4D97-AF65-F5344CB8AC3E}">
        <p14:creationId xmlns:p14="http://schemas.microsoft.com/office/powerpoint/2010/main" val="13370558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239850-4309-4846-A349-9CA733CD2C5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F1A34C0A-6BA9-40D0-8506-6A47120EEE9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F8B4F09-AB89-4F4E-AD86-86544C7133E0}"/>
              </a:ext>
            </a:extLst>
          </p:cNvPr>
          <p:cNvSpPr>
            <a:spLocks noGrp="1"/>
          </p:cNvSpPr>
          <p:nvPr>
            <p:ph type="dt" sz="half" idx="10"/>
          </p:nvPr>
        </p:nvSpPr>
        <p:spPr/>
        <p:txBody>
          <a:bodyPr/>
          <a:lstStyle/>
          <a:p>
            <a:fld id="{3A965224-C33F-446F-845D-552A82798058}" type="datetimeFigureOut">
              <a:rPr lang="en-GB" smtClean="0"/>
              <a:t>01/10/2024</a:t>
            </a:fld>
            <a:endParaRPr lang="en-GB"/>
          </a:p>
        </p:txBody>
      </p:sp>
      <p:sp>
        <p:nvSpPr>
          <p:cNvPr id="5" name="Footer Placeholder 4">
            <a:extLst>
              <a:ext uri="{FF2B5EF4-FFF2-40B4-BE49-F238E27FC236}">
                <a16:creationId xmlns:a16="http://schemas.microsoft.com/office/drawing/2014/main" id="{EEF7BE6F-F51B-4AA3-BD39-4A435761835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9DF768A-5CF3-46D3-B339-1480F5E050AB}"/>
              </a:ext>
            </a:extLst>
          </p:cNvPr>
          <p:cNvSpPr>
            <a:spLocks noGrp="1"/>
          </p:cNvSpPr>
          <p:nvPr>
            <p:ph type="sldNum" sz="quarter" idx="12"/>
          </p:nvPr>
        </p:nvSpPr>
        <p:spPr/>
        <p:txBody>
          <a:bodyPr/>
          <a:lstStyle/>
          <a:p>
            <a:fld id="{D74EB0DE-CA46-456B-98E1-FCCB4563D3BD}" type="slidenum">
              <a:rPr lang="en-GB" smtClean="0"/>
              <a:t>‹#›</a:t>
            </a:fld>
            <a:endParaRPr lang="en-GB"/>
          </a:p>
        </p:txBody>
      </p:sp>
    </p:spTree>
    <p:extLst>
      <p:ext uri="{BB962C8B-B14F-4D97-AF65-F5344CB8AC3E}">
        <p14:creationId xmlns:p14="http://schemas.microsoft.com/office/powerpoint/2010/main" val="10019356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6EE15-C72E-4961-B776-BFD558EADF6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2408FD5-E25E-42CE-8C3E-DA5B0C5A6BA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6A854-9DA4-4484-9AC9-3B4B31772DCF}"/>
              </a:ext>
            </a:extLst>
          </p:cNvPr>
          <p:cNvSpPr>
            <a:spLocks noGrp="1"/>
          </p:cNvSpPr>
          <p:nvPr>
            <p:ph type="dt" sz="half" idx="10"/>
          </p:nvPr>
        </p:nvSpPr>
        <p:spPr/>
        <p:txBody>
          <a:bodyPr/>
          <a:lstStyle/>
          <a:p>
            <a:fld id="{3A965224-C33F-446F-845D-552A82798058}" type="datetimeFigureOut">
              <a:rPr lang="en-GB" smtClean="0"/>
              <a:t>01/10/2024</a:t>
            </a:fld>
            <a:endParaRPr lang="en-GB"/>
          </a:p>
        </p:txBody>
      </p:sp>
      <p:sp>
        <p:nvSpPr>
          <p:cNvPr id="5" name="Footer Placeholder 4">
            <a:extLst>
              <a:ext uri="{FF2B5EF4-FFF2-40B4-BE49-F238E27FC236}">
                <a16:creationId xmlns:a16="http://schemas.microsoft.com/office/drawing/2014/main" id="{ABB7C160-5042-4481-AC95-D394C3C9CD5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90C3E52-126A-40B3-B4A7-8E2B2BBD4D63}"/>
              </a:ext>
            </a:extLst>
          </p:cNvPr>
          <p:cNvSpPr>
            <a:spLocks noGrp="1"/>
          </p:cNvSpPr>
          <p:nvPr>
            <p:ph type="sldNum" sz="quarter" idx="12"/>
          </p:nvPr>
        </p:nvSpPr>
        <p:spPr/>
        <p:txBody>
          <a:bodyPr/>
          <a:lstStyle/>
          <a:p>
            <a:fld id="{D74EB0DE-CA46-456B-98E1-FCCB4563D3BD}" type="slidenum">
              <a:rPr lang="en-GB" smtClean="0"/>
              <a:t>‹#›</a:t>
            </a:fld>
            <a:endParaRPr lang="en-GB"/>
          </a:p>
        </p:txBody>
      </p:sp>
    </p:spTree>
    <p:extLst>
      <p:ext uri="{BB962C8B-B14F-4D97-AF65-F5344CB8AC3E}">
        <p14:creationId xmlns:p14="http://schemas.microsoft.com/office/powerpoint/2010/main" val="22818054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ED8BAB-4183-4CBC-8FFC-D858DDAE57B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4BB74E0-4AB1-4DD7-8E20-F3FB117A556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E7758D30-BA1E-4954-9B7C-09E5FDDD7D7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AE899195-F2FB-4321-A809-E06AAADD0083}"/>
              </a:ext>
            </a:extLst>
          </p:cNvPr>
          <p:cNvSpPr>
            <a:spLocks noGrp="1"/>
          </p:cNvSpPr>
          <p:nvPr>
            <p:ph type="dt" sz="half" idx="10"/>
          </p:nvPr>
        </p:nvSpPr>
        <p:spPr/>
        <p:txBody>
          <a:bodyPr/>
          <a:lstStyle/>
          <a:p>
            <a:fld id="{3A965224-C33F-446F-845D-552A82798058}" type="datetimeFigureOut">
              <a:rPr lang="en-GB" smtClean="0"/>
              <a:t>01/10/2024</a:t>
            </a:fld>
            <a:endParaRPr lang="en-GB"/>
          </a:p>
        </p:txBody>
      </p:sp>
      <p:sp>
        <p:nvSpPr>
          <p:cNvPr id="6" name="Footer Placeholder 5">
            <a:extLst>
              <a:ext uri="{FF2B5EF4-FFF2-40B4-BE49-F238E27FC236}">
                <a16:creationId xmlns:a16="http://schemas.microsoft.com/office/drawing/2014/main" id="{A2DC4798-A8AC-48BE-97DF-CC5DE8E5580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A7EBB2F-5502-4614-9492-9EB51692005B}"/>
              </a:ext>
            </a:extLst>
          </p:cNvPr>
          <p:cNvSpPr>
            <a:spLocks noGrp="1"/>
          </p:cNvSpPr>
          <p:nvPr>
            <p:ph type="sldNum" sz="quarter" idx="12"/>
          </p:nvPr>
        </p:nvSpPr>
        <p:spPr/>
        <p:txBody>
          <a:bodyPr/>
          <a:lstStyle/>
          <a:p>
            <a:fld id="{D74EB0DE-CA46-456B-98E1-FCCB4563D3BD}" type="slidenum">
              <a:rPr lang="en-GB" smtClean="0"/>
              <a:t>‹#›</a:t>
            </a:fld>
            <a:endParaRPr lang="en-GB"/>
          </a:p>
        </p:txBody>
      </p:sp>
    </p:spTree>
    <p:extLst>
      <p:ext uri="{BB962C8B-B14F-4D97-AF65-F5344CB8AC3E}">
        <p14:creationId xmlns:p14="http://schemas.microsoft.com/office/powerpoint/2010/main" val="381851539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A31589-3283-40EC-927A-B39E6EF2E3A0}"/>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73BECAF-93E8-48EF-BB83-F9EF7569D30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0108B21-C22B-4611-8BAA-2C028F8EA5B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55218D8A-1BED-444C-AE7E-5056CB0C3F2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7F40866-E5EE-491F-9E10-AF162EBF0C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49209AEB-854D-4DAF-9D50-98240A0D2F58}"/>
              </a:ext>
            </a:extLst>
          </p:cNvPr>
          <p:cNvSpPr>
            <a:spLocks noGrp="1"/>
          </p:cNvSpPr>
          <p:nvPr>
            <p:ph type="dt" sz="half" idx="10"/>
          </p:nvPr>
        </p:nvSpPr>
        <p:spPr/>
        <p:txBody>
          <a:bodyPr/>
          <a:lstStyle/>
          <a:p>
            <a:fld id="{3A965224-C33F-446F-845D-552A82798058}" type="datetimeFigureOut">
              <a:rPr lang="en-GB" smtClean="0"/>
              <a:t>01/10/2024</a:t>
            </a:fld>
            <a:endParaRPr lang="en-GB"/>
          </a:p>
        </p:txBody>
      </p:sp>
      <p:sp>
        <p:nvSpPr>
          <p:cNvPr id="8" name="Footer Placeholder 7">
            <a:extLst>
              <a:ext uri="{FF2B5EF4-FFF2-40B4-BE49-F238E27FC236}">
                <a16:creationId xmlns:a16="http://schemas.microsoft.com/office/drawing/2014/main" id="{E3292EB5-B68F-48EA-B87A-1842F78F7CC2}"/>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619942B6-FE70-47A9-AB84-2AAEAA7F1F63}"/>
              </a:ext>
            </a:extLst>
          </p:cNvPr>
          <p:cNvSpPr>
            <a:spLocks noGrp="1"/>
          </p:cNvSpPr>
          <p:nvPr>
            <p:ph type="sldNum" sz="quarter" idx="12"/>
          </p:nvPr>
        </p:nvSpPr>
        <p:spPr/>
        <p:txBody>
          <a:bodyPr/>
          <a:lstStyle/>
          <a:p>
            <a:fld id="{D74EB0DE-CA46-456B-98E1-FCCB4563D3BD}" type="slidenum">
              <a:rPr lang="en-GB" smtClean="0"/>
              <a:t>‹#›</a:t>
            </a:fld>
            <a:endParaRPr lang="en-GB"/>
          </a:p>
        </p:txBody>
      </p:sp>
    </p:spTree>
    <p:extLst>
      <p:ext uri="{BB962C8B-B14F-4D97-AF65-F5344CB8AC3E}">
        <p14:creationId xmlns:p14="http://schemas.microsoft.com/office/powerpoint/2010/main" val="235328356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C2DD4-9005-4F21-8D70-33191174EA13}"/>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930C0A92-10F7-46F9-9AEE-8C3CA95016BD}"/>
              </a:ext>
            </a:extLst>
          </p:cNvPr>
          <p:cNvSpPr>
            <a:spLocks noGrp="1"/>
          </p:cNvSpPr>
          <p:nvPr>
            <p:ph type="dt" sz="half" idx="10"/>
          </p:nvPr>
        </p:nvSpPr>
        <p:spPr/>
        <p:txBody>
          <a:bodyPr/>
          <a:lstStyle/>
          <a:p>
            <a:fld id="{3A965224-C33F-446F-845D-552A82798058}" type="datetimeFigureOut">
              <a:rPr lang="en-GB" smtClean="0"/>
              <a:t>01/10/2024</a:t>
            </a:fld>
            <a:endParaRPr lang="en-GB"/>
          </a:p>
        </p:txBody>
      </p:sp>
      <p:sp>
        <p:nvSpPr>
          <p:cNvPr id="4" name="Footer Placeholder 3">
            <a:extLst>
              <a:ext uri="{FF2B5EF4-FFF2-40B4-BE49-F238E27FC236}">
                <a16:creationId xmlns:a16="http://schemas.microsoft.com/office/drawing/2014/main" id="{170EA48F-ABF7-4FF6-9266-4F0805FEB5A7}"/>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98F377DA-5060-4FD1-A652-538C23971236}"/>
              </a:ext>
            </a:extLst>
          </p:cNvPr>
          <p:cNvSpPr>
            <a:spLocks noGrp="1"/>
          </p:cNvSpPr>
          <p:nvPr>
            <p:ph type="sldNum" sz="quarter" idx="12"/>
          </p:nvPr>
        </p:nvSpPr>
        <p:spPr/>
        <p:txBody>
          <a:bodyPr/>
          <a:lstStyle/>
          <a:p>
            <a:fld id="{D74EB0DE-CA46-456B-98E1-FCCB4563D3BD}" type="slidenum">
              <a:rPr lang="en-GB" smtClean="0"/>
              <a:t>‹#›</a:t>
            </a:fld>
            <a:endParaRPr lang="en-GB"/>
          </a:p>
        </p:txBody>
      </p:sp>
    </p:spTree>
    <p:extLst>
      <p:ext uri="{BB962C8B-B14F-4D97-AF65-F5344CB8AC3E}">
        <p14:creationId xmlns:p14="http://schemas.microsoft.com/office/powerpoint/2010/main" val="195390394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669E80C-3334-4B65-AF0C-CF4C58CA56E9}"/>
              </a:ext>
            </a:extLst>
          </p:cNvPr>
          <p:cNvSpPr>
            <a:spLocks noGrp="1"/>
          </p:cNvSpPr>
          <p:nvPr>
            <p:ph type="dt" sz="half" idx="10"/>
          </p:nvPr>
        </p:nvSpPr>
        <p:spPr/>
        <p:txBody>
          <a:bodyPr/>
          <a:lstStyle/>
          <a:p>
            <a:fld id="{3A965224-C33F-446F-845D-552A82798058}" type="datetimeFigureOut">
              <a:rPr lang="en-GB" smtClean="0"/>
              <a:t>01/10/2024</a:t>
            </a:fld>
            <a:endParaRPr lang="en-GB"/>
          </a:p>
        </p:txBody>
      </p:sp>
      <p:sp>
        <p:nvSpPr>
          <p:cNvPr id="3" name="Footer Placeholder 2">
            <a:extLst>
              <a:ext uri="{FF2B5EF4-FFF2-40B4-BE49-F238E27FC236}">
                <a16:creationId xmlns:a16="http://schemas.microsoft.com/office/drawing/2014/main" id="{F0068B5D-BF96-4452-BDC3-A7C27CD8DF0A}"/>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2A0A1E8-D592-4400-BCAD-3DBB0CD0EFE1}"/>
              </a:ext>
            </a:extLst>
          </p:cNvPr>
          <p:cNvSpPr>
            <a:spLocks noGrp="1"/>
          </p:cNvSpPr>
          <p:nvPr>
            <p:ph type="sldNum" sz="quarter" idx="12"/>
          </p:nvPr>
        </p:nvSpPr>
        <p:spPr/>
        <p:txBody>
          <a:bodyPr/>
          <a:lstStyle/>
          <a:p>
            <a:fld id="{D74EB0DE-CA46-456B-98E1-FCCB4563D3BD}" type="slidenum">
              <a:rPr lang="en-GB" smtClean="0"/>
              <a:t>‹#›</a:t>
            </a:fld>
            <a:endParaRPr lang="en-GB"/>
          </a:p>
        </p:txBody>
      </p:sp>
    </p:spTree>
    <p:extLst>
      <p:ext uri="{BB962C8B-B14F-4D97-AF65-F5344CB8AC3E}">
        <p14:creationId xmlns:p14="http://schemas.microsoft.com/office/powerpoint/2010/main" val="409510212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22C2C5-37B5-4B73-B15C-100C633CA94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0F2DE07-942F-45FA-9C42-C6823E773C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9503119D-D90C-44D2-BB28-958C5E44D3B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2D34E39-DF3F-46CF-A35C-FCF56FC0B53B}"/>
              </a:ext>
            </a:extLst>
          </p:cNvPr>
          <p:cNvSpPr>
            <a:spLocks noGrp="1"/>
          </p:cNvSpPr>
          <p:nvPr>
            <p:ph type="dt" sz="half" idx="10"/>
          </p:nvPr>
        </p:nvSpPr>
        <p:spPr/>
        <p:txBody>
          <a:bodyPr/>
          <a:lstStyle/>
          <a:p>
            <a:fld id="{3A965224-C33F-446F-845D-552A82798058}" type="datetimeFigureOut">
              <a:rPr lang="en-GB" smtClean="0"/>
              <a:t>01/10/2024</a:t>
            </a:fld>
            <a:endParaRPr lang="en-GB"/>
          </a:p>
        </p:txBody>
      </p:sp>
      <p:sp>
        <p:nvSpPr>
          <p:cNvPr id="6" name="Footer Placeholder 5">
            <a:extLst>
              <a:ext uri="{FF2B5EF4-FFF2-40B4-BE49-F238E27FC236}">
                <a16:creationId xmlns:a16="http://schemas.microsoft.com/office/drawing/2014/main" id="{5D4D6875-3951-4D83-96EF-1E411137187D}"/>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B48AC33-3748-4DFE-9053-51D550119FCC}"/>
              </a:ext>
            </a:extLst>
          </p:cNvPr>
          <p:cNvSpPr>
            <a:spLocks noGrp="1"/>
          </p:cNvSpPr>
          <p:nvPr>
            <p:ph type="sldNum" sz="quarter" idx="12"/>
          </p:nvPr>
        </p:nvSpPr>
        <p:spPr/>
        <p:txBody>
          <a:bodyPr/>
          <a:lstStyle/>
          <a:p>
            <a:fld id="{D74EB0DE-CA46-456B-98E1-FCCB4563D3BD}" type="slidenum">
              <a:rPr lang="en-GB" smtClean="0"/>
              <a:t>‹#›</a:t>
            </a:fld>
            <a:endParaRPr lang="en-GB"/>
          </a:p>
        </p:txBody>
      </p:sp>
    </p:spTree>
    <p:extLst>
      <p:ext uri="{BB962C8B-B14F-4D97-AF65-F5344CB8AC3E}">
        <p14:creationId xmlns:p14="http://schemas.microsoft.com/office/powerpoint/2010/main" val="75581265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B4B9D-E35C-449E-AE07-30C0A75CE76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CCFCA3AE-E653-48CE-A080-397C3126C1F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C83A25F2-E917-4BB6-A828-644F61D9E98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A281BD1-DF8E-449D-B70B-DB944F25B67D}"/>
              </a:ext>
            </a:extLst>
          </p:cNvPr>
          <p:cNvSpPr>
            <a:spLocks noGrp="1"/>
          </p:cNvSpPr>
          <p:nvPr>
            <p:ph type="dt" sz="half" idx="10"/>
          </p:nvPr>
        </p:nvSpPr>
        <p:spPr/>
        <p:txBody>
          <a:bodyPr/>
          <a:lstStyle/>
          <a:p>
            <a:fld id="{3A965224-C33F-446F-845D-552A82798058}" type="datetimeFigureOut">
              <a:rPr lang="en-GB" smtClean="0"/>
              <a:t>01/10/2024</a:t>
            </a:fld>
            <a:endParaRPr lang="en-GB"/>
          </a:p>
        </p:txBody>
      </p:sp>
      <p:sp>
        <p:nvSpPr>
          <p:cNvPr id="6" name="Footer Placeholder 5">
            <a:extLst>
              <a:ext uri="{FF2B5EF4-FFF2-40B4-BE49-F238E27FC236}">
                <a16:creationId xmlns:a16="http://schemas.microsoft.com/office/drawing/2014/main" id="{016516F7-BFAB-4841-90E0-4ABECA981F30}"/>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F0BFE25-2D2D-4825-88C6-9149ABDCBFCC}"/>
              </a:ext>
            </a:extLst>
          </p:cNvPr>
          <p:cNvSpPr>
            <a:spLocks noGrp="1"/>
          </p:cNvSpPr>
          <p:nvPr>
            <p:ph type="sldNum" sz="quarter" idx="12"/>
          </p:nvPr>
        </p:nvSpPr>
        <p:spPr/>
        <p:txBody>
          <a:bodyPr/>
          <a:lstStyle/>
          <a:p>
            <a:fld id="{D74EB0DE-CA46-456B-98E1-FCCB4563D3BD}" type="slidenum">
              <a:rPr lang="en-GB" smtClean="0"/>
              <a:t>‹#›</a:t>
            </a:fld>
            <a:endParaRPr lang="en-GB"/>
          </a:p>
        </p:txBody>
      </p:sp>
    </p:spTree>
    <p:extLst>
      <p:ext uri="{BB962C8B-B14F-4D97-AF65-F5344CB8AC3E}">
        <p14:creationId xmlns:p14="http://schemas.microsoft.com/office/powerpoint/2010/main" val="396433655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5B5907-A142-4F5A-AE67-E77CC1341A35}"/>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BB40E900-1A12-4983-9EFD-F3FAE52F53E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1B4D465-1C2C-4CE4-8882-8F7C38F8FAC0}"/>
              </a:ext>
            </a:extLst>
          </p:cNvPr>
          <p:cNvSpPr>
            <a:spLocks noGrp="1"/>
          </p:cNvSpPr>
          <p:nvPr>
            <p:ph type="dt" sz="half" idx="10"/>
          </p:nvPr>
        </p:nvSpPr>
        <p:spPr/>
        <p:txBody>
          <a:bodyPr/>
          <a:lstStyle/>
          <a:p>
            <a:fld id="{3A965224-C33F-446F-845D-552A82798058}" type="datetimeFigureOut">
              <a:rPr lang="en-GB" smtClean="0"/>
              <a:t>01/10/2024</a:t>
            </a:fld>
            <a:endParaRPr lang="en-GB"/>
          </a:p>
        </p:txBody>
      </p:sp>
      <p:sp>
        <p:nvSpPr>
          <p:cNvPr id="5" name="Footer Placeholder 4">
            <a:extLst>
              <a:ext uri="{FF2B5EF4-FFF2-40B4-BE49-F238E27FC236}">
                <a16:creationId xmlns:a16="http://schemas.microsoft.com/office/drawing/2014/main" id="{82E11FE6-D9DD-43D7-A675-ABDE45CB108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973E4A8-4B44-4E4B-B5D9-D797E19046CA}"/>
              </a:ext>
            </a:extLst>
          </p:cNvPr>
          <p:cNvSpPr>
            <a:spLocks noGrp="1"/>
          </p:cNvSpPr>
          <p:nvPr>
            <p:ph type="sldNum" sz="quarter" idx="12"/>
          </p:nvPr>
        </p:nvSpPr>
        <p:spPr/>
        <p:txBody>
          <a:bodyPr/>
          <a:lstStyle/>
          <a:p>
            <a:fld id="{D74EB0DE-CA46-456B-98E1-FCCB4563D3BD}" type="slidenum">
              <a:rPr lang="en-GB" smtClean="0"/>
              <a:t>‹#›</a:t>
            </a:fld>
            <a:endParaRPr lang="en-GB"/>
          </a:p>
        </p:txBody>
      </p:sp>
    </p:spTree>
    <p:extLst>
      <p:ext uri="{BB962C8B-B14F-4D97-AF65-F5344CB8AC3E}">
        <p14:creationId xmlns:p14="http://schemas.microsoft.com/office/powerpoint/2010/main" val="196134774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92DF19C-AEE7-4983-BE34-DCB2CD73532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262E851-B102-4C0C-AE47-3BC3D19D8E7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6B42BCF-4373-4A2E-A263-C4A78FB75A25}"/>
              </a:ext>
            </a:extLst>
          </p:cNvPr>
          <p:cNvSpPr>
            <a:spLocks noGrp="1"/>
          </p:cNvSpPr>
          <p:nvPr>
            <p:ph type="dt" sz="half" idx="10"/>
          </p:nvPr>
        </p:nvSpPr>
        <p:spPr/>
        <p:txBody>
          <a:bodyPr/>
          <a:lstStyle/>
          <a:p>
            <a:fld id="{3A965224-C33F-446F-845D-552A82798058}" type="datetimeFigureOut">
              <a:rPr lang="en-GB" smtClean="0"/>
              <a:t>01/10/2024</a:t>
            </a:fld>
            <a:endParaRPr lang="en-GB"/>
          </a:p>
        </p:txBody>
      </p:sp>
      <p:sp>
        <p:nvSpPr>
          <p:cNvPr id="5" name="Footer Placeholder 4">
            <a:extLst>
              <a:ext uri="{FF2B5EF4-FFF2-40B4-BE49-F238E27FC236}">
                <a16:creationId xmlns:a16="http://schemas.microsoft.com/office/drawing/2014/main" id="{D9AA773F-4D48-4424-9E92-EFAB8112AA1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668AD6C-94CB-45D9-A11A-044B14237315}"/>
              </a:ext>
            </a:extLst>
          </p:cNvPr>
          <p:cNvSpPr>
            <a:spLocks noGrp="1"/>
          </p:cNvSpPr>
          <p:nvPr>
            <p:ph type="sldNum" sz="quarter" idx="12"/>
          </p:nvPr>
        </p:nvSpPr>
        <p:spPr/>
        <p:txBody>
          <a:bodyPr/>
          <a:lstStyle/>
          <a:p>
            <a:fld id="{D74EB0DE-CA46-456B-98E1-FCCB4563D3BD}" type="slidenum">
              <a:rPr lang="en-GB" smtClean="0"/>
              <a:t>‹#›</a:t>
            </a:fld>
            <a:endParaRPr lang="en-GB"/>
          </a:p>
        </p:txBody>
      </p:sp>
    </p:spTree>
    <p:extLst>
      <p:ext uri="{BB962C8B-B14F-4D97-AF65-F5344CB8AC3E}">
        <p14:creationId xmlns:p14="http://schemas.microsoft.com/office/powerpoint/2010/main" val="9577695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9" name="Picture 8" descr="Shape, rectangle&#10;&#10;Description automatically generated">
            <a:extLst>
              <a:ext uri="{FF2B5EF4-FFF2-40B4-BE49-F238E27FC236}">
                <a16:creationId xmlns:a16="http://schemas.microsoft.com/office/drawing/2014/main" id="{9E872171-DDA3-8241-A182-0AFA884F91D7}"/>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794"/>
            <a:ext cx="12192000" cy="1616288"/>
          </a:xfrm>
          <a:prstGeom prst="rect">
            <a:avLst/>
          </a:prstGeom>
        </p:spPr>
      </p:pic>
      <p:sp>
        <p:nvSpPr>
          <p:cNvPr id="2" name="Title Placeholder 1">
            <a:extLst>
              <a:ext uri="{FF2B5EF4-FFF2-40B4-BE49-F238E27FC236}">
                <a16:creationId xmlns:a16="http://schemas.microsoft.com/office/drawing/2014/main" id="{83B9995C-D844-455E-9E19-BF66C81EFD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D204189-41E9-4E09-B418-B033E7F147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Footer Placeholder 4">
            <a:extLst>
              <a:ext uri="{FF2B5EF4-FFF2-40B4-BE49-F238E27FC236}">
                <a16:creationId xmlns:a16="http://schemas.microsoft.com/office/drawing/2014/main" id="{4D739203-7E29-BA40-9D51-8F9968799BF3}"/>
              </a:ext>
            </a:extLst>
          </p:cNvPr>
          <p:cNvSpPr txBox="1">
            <a:spLocks/>
          </p:cNvSpPr>
          <p:nvPr userDrawn="1"/>
        </p:nvSpPr>
        <p:spPr>
          <a:xfrm>
            <a:off x="7547114" y="6380197"/>
            <a:ext cx="41148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1200" dirty="0"/>
              <a:t>© Hodder &amp; Stoughton Limited 2021</a:t>
            </a:r>
          </a:p>
        </p:txBody>
      </p:sp>
    </p:spTree>
    <p:extLst>
      <p:ext uri="{BB962C8B-B14F-4D97-AF65-F5344CB8AC3E}">
        <p14:creationId xmlns:p14="http://schemas.microsoft.com/office/powerpoint/2010/main" val="26587743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CC16058-1809-4BB3-8E28-81E753401B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B8AE32C3-DD17-48DC-B4E7-E5274BC8C22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4796F6B-FEB8-46BB-B422-6F160230365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A965224-C33F-446F-845D-552A82798058}" type="datetimeFigureOut">
              <a:rPr lang="en-GB" smtClean="0"/>
              <a:t>01/10/2024</a:t>
            </a:fld>
            <a:endParaRPr lang="en-GB"/>
          </a:p>
        </p:txBody>
      </p:sp>
      <p:sp>
        <p:nvSpPr>
          <p:cNvPr id="5" name="Footer Placeholder 4">
            <a:extLst>
              <a:ext uri="{FF2B5EF4-FFF2-40B4-BE49-F238E27FC236}">
                <a16:creationId xmlns:a16="http://schemas.microsoft.com/office/drawing/2014/main" id="{EA914934-49F1-4E22-90E8-BC91A73D49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D854A619-7D56-40E0-9D9E-0C5FCD818E0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74EB0DE-CA46-456B-98E1-FCCB4563D3BD}" type="slidenum">
              <a:rPr lang="en-GB" smtClean="0"/>
              <a:t>‹#›</a:t>
            </a:fld>
            <a:endParaRPr lang="en-GB"/>
          </a:p>
        </p:txBody>
      </p:sp>
    </p:spTree>
    <p:extLst>
      <p:ext uri="{BB962C8B-B14F-4D97-AF65-F5344CB8AC3E}">
        <p14:creationId xmlns:p14="http://schemas.microsoft.com/office/powerpoint/2010/main" val="323841661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346DB13-257C-4484-9CB0-C755672B55D3}"/>
              </a:ext>
            </a:extLst>
          </p:cNvPr>
          <p:cNvSpPr/>
          <p:nvPr/>
        </p:nvSpPr>
        <p:spPr>
          <a:xfrm>
            <a:off x="2709208" y="4165132"/>
            <a:ext cx="3941400" cy="400110"/>
          </a:xfrm>
          <a:prstGeom prst="rect">
            <a:avLst/>
          </a:prstGeom>
        </p:spPr>
        <p:txBody>
          <a:bodyPr wrap="none">
            <a:spAutoFit/>
          </a:bodyPr>
          <a:lstStyle/>
          <a:p>
            <a:r>
              <a:rPr lang="en-GB" sz="2000" b="1" dirty="0">
                <a:solidFill>
                  <a:srgbClr val="0075BE"/>
                </a:solidFill>
                <a:latin typeface="Calibri" panose="020F0502020204030204" pitchFamily="34" charset="0"/>
                <a:ea typeface="Times New Roman" panose="02020603050405020304" pitchFamily="18" charset="0"/>
              </a:rPr>
              <a:t>Lesson 4: The history of computing </a:t>
            </a:r>
            <a:endParaRPr lang="en-GB" sz="2000" b="1" dirty="0">
              <a:solidFill>
                <a:srgbClr val="0075BE"/>
              </a:solidFill>
            </a:endParaRPr>
          </a:p>
        </p:txBody>
      </p:sp>
      <p:pic>
        <p:nvPicPr>
          <p:cNvPr id="5" name="Picture 4">
            <a:extLst>
              <a:ext uri="{FF2B5EF4-FFF2-40B4-BE49-F238E27FC236}">
                <a16:creationId xmlns:a16="http://schemas.microsoft.com/office/drawing/2014/main" id="{6DDE5778-FF08-4B99-B822-52F22D0D1974}"/>
              </a:ext>
            </a:extLst>
          </p:cNvPr>
          <p:cNvPicPr>
            <a:picLocks noChangeAspect="1"/>
          </p:cNvPicPr>
          <p:nvPr/>
        </p:nvPicPr>
        <p:blipFill>
          <a:blip r:embed="rId2"/>
          <a:stretch>
            <a:fillRect/>
          </a:stretch>
        </p:blipFill>
        <p:spPr>
          <a:xfrm>
            <a:off x="7997868" y="2740504"/>
            <a:ext cx="1519603" cy="2849256"/>
          </a:xfrm>
          <a:prstGeom prst="rect">
            <a:avLst/>
          </a:prstGeom>
          <a:effectLst>
            <a:outerShdw blurRad="50800" dist="38100" dir="2700000" algn="tl" rotWithShape="0">
              <a:prstClr val="black">
                <a:alpha val="40000"/>
              </a:prstClr>
            </a:outerShdw>
          </a:effectLst>
        </p:spPr>
      </p:pic>
      <p:sp>
        <p:nvSpPr>
          <p:cNvPr id="6" name="Title 1">
            <a:extLst>
              <a:ext uri="{FF2B5EF4-FFF2-40B4-BE49-F238E27FC236}">
                <a16:creationId xmlns:a16="http://schemas.microsoft.com/office/drawing/2014/main" id="{8523741E-2DB0-46E0-910C-A87026F962D6}"/>
              </a:ext>
            </a:extLst>
          </p:cNvPr>
          <p:cNvSpPr txBox="1">
            <a:spLocks/>
          </p:cNvSpPr>
          <p:nvPr/>
        </p:nvSpPr>
        <p:spPr>
          <a:xfrm>
            <a:off x="906011" y="2642532"/>
            <a:ext cx="6048462" cy="1522600"/>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en-GB" sz="4400" b="1" dirty="0"/>
              <a:t>Computing: </a:t>
            </a:r>
          </a:p>
          <a:p>
            <a:pPr algn="r"/>
            <a:r>
              <a:rPr lang="en-GB" sz="4400" b="1" dirty="0"/>
              <a:t>past, present and future</a:t>
            </a:r>
          </a:p>
        </p:txBody>
      </p:sp>
    </p:spTree>
    <p:extLst>
      <p:ext uri="{BB962C8B-B14F-4D97-AF65-F5344CB8AC3E}">
        <p14:creationId xmlns:p14="http://schemas.microsoft.com/office/powerpoint/2010/main" val="719704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C4667-2A3C-4536-9386-00402F3C6EE6}"/>
              </a:ext>
            </a:extLst>
          </p:cNvPr>
          <p:cNvSpPr>
            <a:spLocks noGrp="1"/>
          </p:cNvSpPr>
          <p:nvPr>
            <p:ph type="title"/>
          </p:nvPr>
        </p:nvSpPr>
        <p:spPr>
          <a:xfrm>
            <a:off x="1610413" y="798504"/>
            <a:ext cx="9634330" cy="766349"/>
          </a:xfrm>
        </p:spPr>
        <p:txBody>
          <a:bodyPr/>
          <a:lstStyle/>
          <a:p>
            <a:r>
              <a:rPr lang="en-GB" b="1" dirty="0">
                <a:solidFill>
                  <a:schemeClr val="bg1"/>
                </a:solidFill>
              </a:rPr>
              <a:t>Objectives</a:t>
            </a:r>
          </a:p>
        </p:txBody>
      </p:sp>
      <p:sp>
        <p:nvSpPr>
          <p:cNvPr id="4" name="Rectangle 3">
            <a:extLst>
              <a:ext uri="{FF2B5EF4-FFF2-40B4-BE49-F238E27FC236}">
                <a16:creationId xmlns:a16="http://schemas.microsoft.com/office/drawing/2014/main" id="{AA491288-4946-45B1-B65E-CD47ACDBD79E}"/>
              </a:ext>
            </a:extLst>
          </p:cNvPr>
          <p:cNvSpPr/>
          <p:nvPr/>
        </p:nvSpPr>
        <p:spPr>
          <a:xfrm>
            <a:off x="1610413" y="2286475"/>
            <a:ext cx="6854079" cy="2445862"/>
          </a:xfrm>
          <a:prstGeom prst="rect">
            <a:avLst/>
          </a:prstGeom>
        </p:spPr>
        <p:txBody>
          <a:bodyPr wrap="square">
            <a:spAutoFit/>
          </a:bodyPr>
          <a:lstStyle/>
          <a:p>
            <a:pPr>
              <a:lnSpc>
                <a:spcPct val="107000"/>
              </a:lnSpc>
              <a:spcAft>
                <a:spcPts val="0"/>
              </a:spcAft>
            </a:pPr>
            <a:r>
              <a:rPr lang="en-GB" sz="2400" dirty="0">
                <a:latin typeface="Calibri" panose="020F0502020204030204" pitchFamily="34" charset="0"/>
                <a:ea typeface="Arial" panose="020B0604020202020204" pitchFamily="34" charset="0"/>
                <a:cs typeface="Calibri" panose="020F0502020204030204" pitchFamily="34" charset="0"/>
              </a:rPr>
              <a:t>In this lesson, you will learn:</a:t>
            </a:r>
            <a:endParaRPr lang="en-GB" sz="2400" dirty="0">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buFont typeface="Symbol" pitchFamily="2" charset="2"/>
              <a:buChar char=""/>
            </a:pPr>
            <a:r>
              <a:rPr lang="en-GB" sz="2400" dirty="0">
                <a:latin typeface="Calibri" panose="020F0502020204030204" pitchFamily="34" charset="0"/>
                <a:ea typeface="Calibri" panose="020F0502020204030204" pitchFamily="34" charset="0"/>
                <a:cs typeface="Calibri" panose="020F0502020204030204" pitchFamily="34" charset="0"/>
              </a:rPr>
              <a:t>about important figures in the development of computing</a:t>
            </a:r>
          </a:p>
          <a:p>
            <a:pPr marL="342900" lvl="0" indent="-342900">
              <a:lnSpc>
                <a:spcPct val="107000"/>
              </a:lnSpc>
              <a:buFont typeface="Symbol" pitchFamily="2" charset="2"/>
              <a:buChar char=""/>
            </a:pPr>
            <a:r>
              <a:rPr lang="en-GB" sz="2400" dirty="0">
                <a:latin typeface="Calibri" panose="020F0502020204030204" pitchFamily="34" charset="0"/>
                <a:ea typeface="Calibri" panose="020F0502020204030204" pitchFamily="34" charset="0"/>
                <a:cs typeface="Calibri" panose="020F0502020204030204" pitchFamily="34" charset="0"/>
              </a:rPr>
              <a:t>how to use a range of presentation software tools</a:t>
            </a:r>
          </a:p>
          <a:p>
            <a:pPr marL="342900" lvl="0" indent="-342900">
              <a:lnSpc>
                <a:spcPct val="107000"/>
              </a:lnSpc>
              <a:buFont typeface="Symbol" pitchFamily="2" charset="2"/>
              <a:buChar char=""/>
            </a:pPr>
            <a:r>
              <a:rPr lang="en-GB" sz="2400" dirty="0">
                <a:latin typeface="Calibri" panose="020F0502020204030204" pitchFamily="34" charset="0"/>
                <a:ea typeface="Calibri" panose="020F0502020204030204" pitchFamily="34" charset="0"/>
                <a:cs typeface="Calibri" panose="020F0502020204030204" pitchFamily="34" charset="0"/>
              </a:rPr>
              <a:t>how to create a well-designed presentation using presentation software.</a:t>
            </a:r>
          </a:p>
        </p:txBody>
      </p:sp>
    </p:spTree>
    <p:extLst>
      <p:ext uri="{BB962C8B-B14F-4D97-AF65-F5344CB8AC3E}">
        <p14:creationId xmlns:p14="http://schemas.microsoft.com/office/powerpoint/2010/main" val="16998104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605489" y="794492"/>
            <a:ext cx="9773478" cy="845862"/>
          </a:xfrm>
        </p:spPr>
        <p:txBody>
          <a:bodyPr>
            <a:noAutofit/>
          </a:bodyPr>
          <a:lstStyle/>
          <a:p>
            <a:r>
              <a:rPr lang="en-GB" sz="3200" b="1" dirty="0">
                <a:solidFill>
                  <a:schemeClr val="bg1"/>
                </a:solidFill>
              </a:rPr>
              <a:t>Activity 4.1: </a:t>
            </a:r>
            <a:br>
              <a:rPr lang="en-GB" sz="3200" b="1" dirty="0">
                <a:solidFill>
                  <a:schemeClr val="bg1"/>
                </a:solidFill>
              </a:rPr>
            </a:br>
            <a:r>
              <a:rPr lang="en-GB" sz="3100" b="1" dirty="0" smtClean="0">
                <a:solidFill>
                  <a:schemeClr val="bg1"/>
                </a:solidFill>
              </a:rPr>
              <a:t>Word-processing </a:t>
            </a:r>
            <a:r>
              <a:rPr lang="en-GB" sz="3100" b="1" dirty="0">
                <a:solidFill>
                  <a:schemeClr val="bg1"/>
                </a:solidFill>
              </a:rPr>
              <a:t>software or presentation software?</a:t>
            </a:r>
          </a:p>
        </p:txBody>
      </p:sp>
      <p:pic>
        <p:nvPicPr>
          <p:cNvPr id="6" name="Picture 5" descr="A picture containing athletic game, basketball, sport&#10;&#10;Description automatically generated">
            <a:extLst>
              <a:ext uri="{FF2B5EF4-FFF2-40B4-BE49-F238E27FC236}">
                <a16:creationId xmlns:a16="http://schemas.microsoft.com/office/drawing/2014/main" id="{C0352879-89FC-2B4E-A4B3-5EF455566FD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98444" y="1956294"/>
            <a:ext cx="4587567" cy="4494840"/>
          </a:xfrm>
          <a:prstGeom prst="rect">
            <a:avLst/>
          </a:prstGeom>
        </p:spPr>
      </p:pic>
      <p:sp>
        <p:nvSpPr>
          <p:cNvPr id="3" name="TextBox 2">
            <a:extLst>
              <a:ext uri="{FF2B5EF4-FFF2-40B4-BE49-F238E27FC236}">
                <a16:creationId xmlns:a16="http://schemas.microsoft.com/office/drawing/2014/main" id="{3E0E80F7-8126-8448-9682-39D3635646F9}"/>
              </a:ext>
            </a:extLst>
          </p:cNvPr>
          <p:cNvSpPr txBox="1"/>
          <p:nvPr/>
        </p:nvSpPr>
        <p:spPr>
          <a:xfrm>
            <a:off x="1605489" y="1956294"/>
            <a:ext cx="2966511" cy="523220"/>
          </a:xfrm>
          <a:prstGeom prst="rect">
            <a:avLst/>
          </a:prstGeom>
          <a:noFill/>
        </p:spPr>
        <p:txBody>
          <a:bodyPr wrap="square" rtlCol="0">
            <a:spAutoFit/>
          </a:bodyPr>
          <a:lstStyle/>
          <a:p>
            <a:r>
              <a:rPr lang="en-GB" sz="2800" dirty="0"/>
              <a:t>Complete Quiz 4.1 </a:t>
            </a:r>
          </a:p>
        </p:txBody>
      </p:sp>
    </p:spTree>
    <p:extLst>
      <p:ext uri="{BB962C8B-B14F-4D97-AF65-F5344CB8AC3E}">
        <p14:creationId xmlns:p14="http://schemas.microsoft.com/office/powerpoint/2010/main" val="1166166804"/>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C3D19-1115-422D-B31A-F4EC856863A4}"/>
              </a:ext>
            </a:extLst>
          </p:cNvPr>
          <p:cNvSpPr>
            <a:spLocks noGrp="1"/>
          </p:cNvSpPr>
          <p:nvPr>
            <p:ph type="title"/>
          </p:nvPr>
        </p:nvSpPr>
        <p:spPr>
          <a:xfrm>
            <a:off x="1594911" y="787653"/>
            <a:ext cx="9733721" cy="835923"/>
          </a:xfrm>
        </p:spPr>
        <p:txBody>
          <a:bodyPr>
            <a:normAutofit fontScale="90000"/>
          </a:bodyPr>
          <a:lstStyle/>
          <a:p>
            <a:r>
              <a:rPr lang="en-GB" b="1" dirty="0">
                <a:solidFill>
                  <a:schemeClr val="bg1"/>
                </a:solidFill>
              </a:rPr>
              <a:t>Activity 4.2: Examples of good or bad design?</a:t>
            </a:r>
          </a:p>
        </p:txBody>
      </p:sp>
      <p:pic>
        <p:nvPicPr>
          <p:cNvPr id="6" name="Picture 5" descr="A picture containing athletic game, basketball, sport&#10;&#10;Description automatically generated">
            <a:extLst>
              <a:ext uri="{FF2B5EF4-FFF2-40B4-BE49-F238E27FC236}">
                <a16:creationId xmlns:a16="http://schemas.microsoft.com/office/drawing/2014/main" id="{C81241DF-B126-BA49-AF60-4B7B6E931E6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15000" y="1894945"/>
            <a:ext cx="4373335" cy="4284938"/>
          </a:xfrm>
          <a:prstGeom prst="rect">
            <a:avLst/>
          </a:prstGeom>
        </p:spPr>
      </p:pic>
      <p:sp>
        <p:nvSpPr>
          <p:cNvPr id="3" name="TextBox 2">
            <a:extLst>
              <a:ext uri="{FF2B5EF4-FFF2-40B4-BE49-F238E27FC236}">
                <a16:creationId xmlns:a16="http://schemas.microsoft.com/office/drawing/2014/main" id="{3FCC4B96-6E56-B34C-BFAD-0E387BB67461}"/>
              </a:ext>
            </a:extLst>
          </p:cNvPr>
          <p:cNvSpPr txBox="1"/>
          <p:nvPr/>
        </p:nvSpPr>
        <p:spPr>
          <a:xfrm>
            <a:off x="1594911" y="2024154"/>
            <a:ext cx="3563498" cy="3046988"/>
          </a:xfrm>
          <a:prstGeom prst="rect">
            <a:avLst/>
          </a:prstGeom>
          <a:noFill/>
        </p:spPr>
        <p:txBody>
          <a:bodyPr wrap="square" rtlCol="0">
            <a:spAutoFit/>
          </a:bodyPr>
          <a:lstStyle/>
          <a:p>
            <a:r>
              <a:rPr lang="en-GB" sz="2400" dirty="0"/>
              <a:t>You are going to look at five slides from a presentation about the history of computing. </a:t>
            </a:r>
          </a:p>
          <a:p>
            <a:endParaRPr lang="en-GB" sz="2400" dirty="0"/>
          </a:p>
          <a:p>
            <a:r>
              <a:rPr lang="en-GB" sz="2400" dirty="0"/>
              <a:t>For each slide, identify examples of good and bad design.</a:t>
            </a:r>
          </a:p>
        </p:txBody>
      </p:sp>
      <p:sp>
        <p:nvSpPr>
          <p:cNvPr id="5" name="Title 1">
            <a:extLst>
              <a:ext uri="{FF2B5EF4-FFF2-40B4-BE49-F238E27FC236}">
                <a16:creationId xmlns:a16="http://schemas.microsoft.com/office/drawing/2014/main" id="{269353FF-D2D1-43C4-8784-2E8EF14E8544}"/>
              </a:ext>
            </a:extLst>
          </p:cNvPr>
          <p:cNvSpPr txBox="1">
            <a:spLocks/>
          </p:cNvSpPr>
          <p:nvPr/>
        </p:nvSpPr>
        <p:spPr>
          <a:xfrm>
            <a:off x="288275" y="5860495"/>
            <a:ext cx="3088385" cy="865740"/>
          </a:xfrm>
          <a:prstGeom prst="rect">
            <a:avLst/>
          </a:prstGeom>
        </p:spPr>
        <p:txBody>
          <a:bodyPr vert="horz" lIns="91440" tIns="45720" rIns="91440" bIns="45720" rtlCol="0" anchor="b">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GB" b="1" dirty="0" smtClean="0">
                <a:solidFill>
                  <a:schemeClr val="accent1">
                    <a:lumMod val="20000"/>
                    <a:lumOff val="80000"/>
                  </a:schemeClr>
                </a:solidFill>
              </a:rPr>
              <a:t>DO NOW</a:t>
            </a:r>
            <a:endParaRPr lang="en-GB" b="1" dirty="0">
              <a:solidFill>
                <a:schemeClr val="accent1">
                  <a:lumMod val="20000"/>
                  <a:lumOff val="80000"/>
                </a:schemeClr>
              </a:solidFill>
            </a:endParaRPr>
          </a:p>
        </p:txBody>
      </p:sp>
    </p:spTree>
    <p:extLst>
      <p:ext uri="{BB962C8B-B14F-4D97-AF65-F5344CB8AC3E}">
        <p14:creationId xmlns:p14="http://schemas.microsoft.com/office/powerpoint/2010/main" val="3005745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0201" y="786103"/>
            <a:ext cx="9753599" cy="845862"/>
          </a:xfrm>
        </p:spPr>
        <p:txBody>
          <a:bodyPr/>
          <a:lstStyle/>
          <a:p>
            <a:r>
              <a:rPr lang="en-GB" b="1" dirty="0">
                <a:solidFill>
                  <a:schemeClr val="bg1"/>
                </a:solidFill>
              </a:rPr>
              <a:t>al-Khwarizmi (780–850 AD)</a:t>
            </a:r>
          </a:p>
        </p:txBody>
      </p:sp>
      <p:pic>
        <p:nvPicPr>
          <p:cNvPr id="7" name="Picture 6">
            <a:extLst>
              <a:ext uri="{FF2B5EF4-FFF2-40B4-BE49-F238E27FC236}">
                <a16:creationId xmlns:a16="http://schemas.microsoft.com/office/drawing/2014/main" id="{03B13CCE-550F-3C40-A8AE-2697DCF4F225}"/>
              </a:ext>
            </a:extLst>
          </p:cNvPr>
          <p:cNvPicPr/>
          <p:nvPr/>
        </p:nvPicPr>
        <p:blipFill>
          <a:blip r:embed="rId3">
            <a:extLst>
              <a:ext uri="{28A0092B-C50C-407E-A947-70E740481C1C}">
                <a14:useLocalDpi xmlns:a14="http://schemas.microsoft.com/office/drawing/2010/main" val="0"/>
              </a:ext>
            </a:extLst>
          </a:blip>
          <a:stretch>
            <a:fillRect/>
          </a:stretch>
        </p:blipFill>
        <p:spPr>
          <a:xfrm>
            <a:off x="7999546" y="2032385"/>
            <a:ext cx="2996441" cy="3707294"/>
          </a:xfrm>
          <a:prstGeom prst="rect">
            <a:avLst/>
          </a:prstGeom>
        </p:spPr>
      </p:pic>
      <p:sp>
        <p:nvSpPr>
          <p:cNvPr id="3" name="TextBox 2">
            <a:extLst>
              <a:ext uri="{FF2B5EF4-FFF2-40B4-BE49-F238E27FC236}">
                <a16:creationId xmlns:a16="http://schemas.microsoft.com/office/drawing/2014/main" id="{25A4C0B5-EEF0-1148-B4D9-1FEFE5F2C799}"/>
              </a:ext>
            </a:extLst>
          </p:cNvPr>
          <p:cNvSpPr txBox="1"/>
          <p:nvPr/>
        </p:nvSpPr>
        <p:spPr>
          <a:xfrm>
            <a:off x="7999546" y="5739679"/>
            <a:ext cx="3399457" cy="307777"/>
          </a:xfrm>
          <a:prstGeom prst="rect">
            <a:avLst/>
          </a:prstGeom>
          <a:noFill/>
        </p:spPr>
        <p:txBody>
          <a:bodyPr wrap="none" rtlCol="0">
            <a:spAutoFit/>
          </a:bodyPr>
          <a:lstStyle/>
          <a:p>
            <a:r>
              <a:rPr lang="en-GB" sz="1400" i="1" dirty="0"/>
              <a:t>A stamp bearing the image of al-Khwarizmi. </a:t>
            </a:r>
            <a:endParaRPr lang="en-US" sz="1400" i="1" dirty="0"/>
          </a:p>
        </p:txBody>
      </p:sp>
      <p:sp>
        <p:nvSpPr>
          <p:cNvPr id="4" name="TextBox 3">
            <a:extLst>
              <a:ext uri="{FF2B5EF4-FFF2-40B4-BE49-F238E27FC236}">
                <a16:creationId xmlns:a16="http://schemas.microsoft.com/office/drawing/2014/main" id="{B502023A-F1E3-0E40-82F2-2CDB9865F0FD}"/>
              </a:ext>
            </a:extLst>
          </p:cNvPr>
          <p:cNvSpPr txBox="1"/>
          <p:nvPr/>
        </p:nvSpPr>
        <p:spPr>
          <a:xfrm>
            <a:off x="1600201" y="2111492"/>
            <a:ext cx="5983940" cy="4154984"/>
          </a:xfrm>
          <a:prstGeom prst="rect">
            <a:avLst/>
          </a:prstGeom>
          <a:noFill/>
        </p:spPr>
        <p:txBody>
          <a:bodyPr wrap="square" rtlCol="0">
            <a:spAutoFit/>
          </a:bodyPr>
          <a:lstStyle/>
          <a:p>
            <a:r>
              <a:rPr lang="en-GB" sz="2400" dirty="0"/>
              <a:t>Known as the father of algebra, al-Khwarizmi was an outstanding Persian mathematician and</a:t>
            </a:r>
            <a:r>
              <a:rPr lang="en-GB" sz="2400" b="1" dirty="0"/>
              <a:t> </a:t>
            </a:r>
            <a:r>
              <a:rPr lang="en-GB" sz="2400" dirty="0"/>
              <a:t>one of the first Directors of the House of Wisdom in Baghdad in the early ninth </a:t>
            </a:r>
            <a:r>
              <a:rPr lang="en-GB" sz="2400" dirty="0" smtClean="0"/>
              <a:t>century</a:t>
            </a:r>
            <a:r>
              <a:rPr lang="en-GB" sz="2400" dirty="0"/>
              <a:t>.</a:t>
            </a:r>
          </a:p>
          <a:p>
            <a:endParaRPr lang="en-GB" sz="2400" dirty="0"/>
          </a:p>
          <a:p>
            <a:r>
              <a:rPr lang="en-GB" sz="2400" dirty="0"/>
              <a:t>He oversaw the translation of important Greek and Indian books about mathematics and astronomy into Arabic.</a:t>
            </a:r>
          </a:p>
          <a:p>
            <a:endParaRPr lang="en-GB" sz="2400" dirty="0"/>
          </a:p>
          <a:p>
            <a:r>
              <a:rPr lang="en-GB" sz="2400" dirty="0"/>
              <a:t>The word ‘algorithm’ is derived from his name.</a:t>
            </a:r>
          </a:p>
          <a:p>
            <a:endParaRPr lang="en-US" sz="2400" dirty="0"/>
          </a:p>
        </p:txBody>
      </p:sp>
    </p:spTree>
    <p:extLst>
      <p:ext uri="{BB962C8B-B14F-4D97-AF65-F5344CB8AC3E}">
        <p14:creationId xmlns:p14="http://schemas.microsoft.com/office/powerpoint/2010/main" val="3538170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69353FF-D2D1-43C4-8784-2E8EF14E8544}"/>
              </a:ext>
            </a:extLst>
          </p:cNvPr>
          <p:cNvSpPr txBox="1">
            <a:spLocks/>
          </p:cNvSpPr>
          <p:nvPr/>
        </p:nvSpPr>
        <p:spPr>
          <a:xfrm>
            <a:off x="1589632" y="796072"/>
            <a:ext cx="10037685" cy="865740"/>
          </a:xfrm>
          <a:prstGeom prst="rect">
            <a:avLst/>
          </a:prstGeom>
        </p:spPr>
        <p:txBody>
          <a:bodyPr vert="horz" lIns="91440" tIns="45720" rIns="91440" bIns="45720" rtlCol="0" anchor="b">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GB" b="1" dirty="0">
                <a:solidFill>
                  <a:srgbClr val="FF0000"/>
                </a:solidFill>
              </a:rPr>
              <a:t>Alan Turing </a:t>
            </a:r>
          </a:p>
        </p:txBody>
      </p:sp>
      <p:sp>
        <p:nvSpPr>
          <p:cNvPr id="5" name="Rectangle 4">
            <a:extLst>
              <a:ext uri="{FF2B5EF4-FFF2-40B4-BE49-F238E27FC236}">
                <a16:creationId xmlns:a16="http://schemas.microsoft.com/office/drawing/2014/main" id="{09381DBA-2364-489D-93A2-32D7170C6E83}"/>
              </a:ext>
            </a:extLst>
          </p:cNvPr>
          <p:cNvSpPr/>
          <p:nvPr/>
        </p:nvSpPr>
        <p:spPr>
          <a:xfrm>
            <a:off x="1803487" y="3087560"/>
            <a:ext cx="7145304" cy="2462213"/>
          </a:xfrm>
          <a:prstGeom prst="rect">
            <a:avLst/>
          </a:prstGeom>
        </p:spPr>
        <p:txBody>
          <a:bodyPr wrap="square">
            <a:spAutoFit/>
          </a:bodyPr>
          <a:lstStyle/>
          <a:p>
            <a:pPr>
              <a:spcAft>
                <a:spcPts val="1800"/>
              </a:spcAft>
            </a:pPr>
            <a:r>
              <a:rPr lang="en-GB" sz="1600" dirty="0">
                <a:solidFill>
                  <a:srgbClr val="FFF2CC"/>
                </a:solidFill>
                <a:latin typeface="Arial" panose="020B0604020202020204" pitchFamily="34" charset="0"/>
                <a:ea typeface="Times New Roman" panose="02020603050405020304" pitchFamily="18" charset="0"/>
              </a:rPr>
              <a:t>Bletchley Park</a:t>
            </a:r>
            <a:endParaRPr lang="en-GB" sz="1600" dirty="0">
              <a:latin typeface="Times New Roman" panose="02020603050405020304" pitchFamily="18" charset="0"/>
              <a:ea typeface="Times New Roman" panose="02020603050405020304" pitchFamily="18" charset="0"/>
            </a:endParaRPr>
          </a:p>
          <a:p>
            <a:pPr>
              <a:spcAft>
                <a:spcPts val="1800"/>
              </a:spcAft>
            </a:pPr>
            <a:r>
              <a:rPr lang="en-GB" sz="1200" dirty="0">
                <a:solidFill>
                  <a:srgbClr val="A8D08D"/>
                </a:solidFill>
                <a:latin typeface="Arial" panose="020B0604020202020204" pitchFamily="34" charset="0"/>
                <a:ea typeface="Times New Roman" panose="02020603050405020304" pitchFamily="18" charset="0"/>
              </a:rPr>
              <a:t>When Turing was invited to Bletchley Park during the Second World War to join a team of code breakers put together to crack Nazi military codes, he got a chance to put some of his theories into practice. Working with Flowers and Newman, they built </a:t>
            </a:r>
            <a:r>
              <a:rPr lang="en-GB" sz="1200" b="1" dirty="0">
                <a:solidFill>
                  <a:srgbClr val="A8D08D"/>
                </a:solidFill>
                <a:latin typeface="Arial" panose="020B0604020202020204" pitchFamily="34" charset="0"/>
                <a:ea typeface="Times New Roman" panose="02020603050405020304" pitchFamily="18" charset="0"/>
              </a:rPr>
              <a:t>Colossus</a:t>
            </a:r>
            <a:r>
              <a:rPr lang="en-GB" sz="1200" dirty="0">
                <a:solidFill>
                  <a:srgbClr val="A8D08D"/>
                </a:solidFill>
                <a:latin typeface="Arial" panose="020B0604020202020204" pitchFamily="34" charset="0"/>
                <a:ea typeface="Times New Roman" panose="02020603050405020304" pitchFamily="18" charset="0"/>
              </a:rPr>
              <a:t>, the first model of a general-purpose computer. After the war, Turing went on to build the Pilot ACE, one of Britain’s earliest stored program computers and the oldest complete general purpose electronic computer in Britain.</a:t>
            </a:r>
            <a:endParaRPr lang="en-GB" sz="1200" dirty="0">
              <a:latin typeface="Times New Roman" panose="02020603050405020304" pitchFamily="18" charset="0"/>
              <a:ea typeface="Times New Roman" panose="02020603050405020304" pitchFamily="18" charset="0"/>
            </a:endParaRPr>
          </a:p>
          <a:p>
            <a:pPr>
              <a:spcAft>
                <a:spcPts val="1800"/>
              </a:spcAft>
            </a:pPr>
            <a:r>
              <a:rPr lang="en-GB" sz="1200" i="1" dirty="0">
                <a:solidFill>
                  <a:srgbClr val="000000"/>
                </a:solidFill>
                <a:latin typeface="Arial" panose="020B0604020202020204" pitchFamily="34" charset="0"/>
                <a:ea typeface="Times New Roman" panose="02020603050405020304" pitchFamily="18" charset="0"/>
              </a:rPr>
              <a:t>By the mid-1950s, the computers imagined by Turing started to be built in real life and were becoming common in large institutions, companies and university departments. Such early machines, like the Pilot ACE and EDVAC were so enormous that they filled large rooms and they required a team of people to operate them.</a:t>
            </a:r>
            <a:endParaRPr lang="en-GB" sz="1200" dirty="0">
              <a:latin typeface="Times New Roman" panose="02020603050405020304" pitchFamily="18" charset="0"/>
              <a:ea typeface="Times New Roman" panose="02020603050405020304" pitchFamily="18" charset="0"/>
            </a:endParaRPr>
          </a:p>
        </p:txBody>
      </p:sp>
      <p:sp>
        <p:nvSpPr>
          <p:cNvPr id="6" name="Rectangle 5">
            <a:extLst>
              <a:ext uri="{FF2B5EF4-FFF2-40B4-BE49-F238E27FC236}">
                <a16:creationId xmlns:a16="http://schemas.microsoft.com/office/drawing/2014/main" id="{DBC068C9-3754-480B-A1B6-D299E39CA1C4}"/>
              </a:ext>
            </a:extLst>
          </p:cNvPr>
          <p:cNvSpPr/>
          <p:nvPr/>
        </p:nvSpPr>
        <p:spPr>
          <a:xfrm>
            <a:off x="297951" y="1661812"/>
            <a:ext cx="11568701" cy="1200329"/>
          </a:xfrm>
          <a:prstGeom prst="rect">
            <a:avLst/>
          </a:prstGeom>
        </p:spPr>
        <p:txBody>
          <a:bodyPr wrap="square">
            <a:spAutoFit/>
          </a:bodyPr>
          <a:lstStyle/>
          <a:p>
            <a:pPr>
              <a:spcAft>
                <a:spcPts val="1800"/>
              </a:spcAft>
            </a:pPr>
            <a:r>
              <a:rPr lang="en-GB" dirty="0">
                <a:solidFill>
                  <a:srgbClr val="000000"/>
                </a:solidFill>
                <a:latin typeface="Honey Script"/>
                <a:ea typeface="Times New Roman" panose="02020603050405020304" pitchFamily="18" charset="0"/>
              </a:rPr>
              <a:t>In 1936, the mathematician, Alan Turing, wrote a mathematics paper, ‘On Computable Numbers, with an Application to the </a:t>
            </a:r>
            <a:r>
              <a:rPr lang="en-GB" dirty="0" err="1">
                <a:solidFill>
                  <a:srgbClr val="000000"/>
                </a:solidFill>
                <a:latin typeface="Honey Script"/>
                <a:ea typeface="Times New Roman" panose="02020603050405020304" pitchFamily="18" charset="0"/>
              </a:rPr>
              <a:t>Entscheidungsproblem</a:t>
            </a:r>
            <a:r>
              <a:rPr lang="en-GB" dirty="0">
                <a:solidFill>
                  <a:srgbClr val="000000"/>
                </a:solidFill>
                <a:latin typeface="Honey Script"/>
                <a:ea typeface="Times New Roman" panose="02020603050405020304" pitchFamily="18" charset="0"/>
              </a:rPr>
              <a:t>’, which came to be seen as a theoretical basis for today’s computers. In his paper, Turing imagined a single machine that could compute any problem, effectively uniting all human or problem-specific ‘computers’ into one universal device.</a:t>
            </a:r>
            <a:endParaRPr lang="en-GB" dirty="0">
              <a:latin typeface="Times New Roman" panose="02020603050405020304" pitchFamily="18" charset="0"/>
              <a:ea typeface="Times New Roman" panose="02020603050405020304" pitchFamily="18" charset="0"/>
            </a:endParaRPr>
          </a:p>
        </p:txBody>
      </p:sp>
      <p:sp>
        <p:nvSpPr>
          <p:cNvPr id="7" name="Rectangle 6">
            <a:extLst>
              <a:ext uri="{FF2B5EF4-FFF2-40B4-BE49-F238E27FC236}">
                <a16:creationId xmlns:a16="http://schemas.microsoft.com/office/drawing/2014/main" id="{88441887-766F-490F-8C50-F80D13738130}"/>
              </a:ext>
            </a:extLst>
          </p:cNvPr>
          <p:cNvSpPr/>
          <p:nvPr/>
        </p:nvSpPr>
        <p:spPr>
          <a:xfrm>
            <a:off x="1589633" y="5959858"/>
            <a:ext cx="8479042" cy="646331"/>
          </a:xfrm>
          <a:prstGeom prst="rect">
            <a:avLst/>
          </a:prstGeom>
        </p:spPr>
        <p:txBody>
          <a:bodyPr wrap="square">
            <a:spAutoFit/>
          </a:bodyPr>
          <a:lstStyle/>
          <a:p>
            <a:pPr>
              <a:spcAft>
                <a:spcPts val="1800"/>
              </a:spcAft>
            </a:pPr>
            <a:r>
              <a:rPr lang="en-GB" b="1" dirty="0">
                <a:ln w="9525" cap="flat" cmpd="sng" algn="ctr">
                  <a:solidFill>
                    <a:srgbClr val="FFFFFF"/>
                  </a:solidFill>
                  <a:prstDash val="solid"/>
                  <a:round/>
                </a:ln>
                <a:solidFill>
                  <a:srgbClr val="5B9BD5"/>
                </a:solidFill>
                <a:effectLst>
                  <a:outerShdw blurRad="12700" dist="38100" dir="2700000" algn="tl">
                    <a:schemeClr val="accent5">
                      <a:lumMod val="60000"/>
                      <a:lumOff val="40000"/>
                    </a:schemeClr>
                  </a:outerShdw>
                </a:effectLst>
                <a:latin typeface="Times New Roman" panose="02020603050405020304" pitchFamily="18" charset="0"/>
                <a:ea typeface="Times New Roman" panose="02020603050405020304" pitchFamily="18" charset="0"/>
              </a:rPr>
              <a:t>Alan Turing is now celebrated as the inventor of the modern electronic computer and is considered to be the single most important figure in the history of computing.</a:t>
            </a:r>
            <a:endParaRPr lang="en-GB" dirty="0">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2350894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5" presetClass="entr" presetSubtype="10" fill="hold"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animEffect transition="in" filter="checkerboard(across)">
                                      <p:cBhvr>
                                        <p:cTn id="11" dur="500"/>
                                        <p:tgtEl>
                                          <p:spTgt spid="5">
                                            <p:txEl>
                                              <p:pRg st="0" end="0"/>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 presetClass="entr" presetSubtype="4" fill="hold" nodeType="clickEffect">
                                  <p:stCondLst>
                                    <p:cond delay="0"/>
                                  </p:stCondLst>
                                  <p:childTnLst>
                                    <p:set>
                                      <p:cBhvr>
                                        <p:cTn id="15" dur="1" fill="hold">
                                          <p:stCondLst>
                                            <p:cond delay="0"/>
                                          </p:stCondLst>
                                        </p:cTn>
                                        <p:tgtEl>
                                          <p:spTgt spid="5">
                                            <p:txEl>
                                              <p:pRg st="0" end="0"/>
                                            </p:txEl>
                                          </p:spTgt>
                                        </p:tgtEl>
                                        <p:attrNameLst>
                                          <p:attrName>style.visibility</p:attrName>
                                        </p:attrNameLst>
                                      </p:cBhvr>
                                      <p:to>
                                        <p:strVal val="visible"/>
                                      </p:to>
                                    </p:set>
                                    <p:anim calcmode="lin" valueType="num">
                                      <p:cBhvr additive="base">
                                        <p:cTn id="16"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17" dur="500" fill="hold"/>
                                        <p:tgtEl>
                                          <p:spTgt spid="5">
                                            <p:txEl>
                                              <p:pRg st="0" end="0"/>
                                            </p:txEl>
                                          </p:spTgt>
                                        </p:tgtEl>
                                        <p:attrNameLst>
                                          <p:attrName>ppt_y</p:attrName>
                                        </p:attrNameLst>
                                      </p:cBhvr>
                                      <p:tavLst>
                                        <p:tav tm="0">
                                          <p:val>
                                            <p:strVal val="1+#ppt_h/2"/>
                                          </p:val>
                                        </p:tav>
                                        <p:tav tm="100000">
                                          <p:val>
                                            <p:strVal val="#ppt_y"/>
                                          </p:val>
                                        </p:tav>
                                      </p:tavLst>
                                    </p:anim>
                                  </p:childTnLst>
                                </p:cTn>
                              </p:par>
                              <p:par>
                                <p:cTn id="18" presetID="2" presetClass="entr" presetSubtype="4" fill="hold" nodeType="withEffect">
                                  <p:stCondLst>
                                    <p:cond delay="0"/>
                                  </p:stCondLst>
                                  <p:childTnLst>
                                    <p:set>
                                      <p:cBhvr>
                                        <p:cTn id="19" dur="1" fill="hold">
                                          <p:stCondLst>
                                            <p:cond delay="0"/>
                                          </p:stCondLst>
                                        </p:cTn>
                                        <p:tgtEl>
                                          <p:spTgt spid="5">
                                            <p:txEl>
                                              <p:pRg st="1" end="1"/>
                                            </p:txEl>
                                          </p:spTgt>
                                        </p:tgtEl>
                                        <p:attrNameLst>
                                          <p:attrName>style.visibility</p:attrName>
                                        </p:attrNameLst>
                                      </p:cBhvr>
                                      <p:to>
                                        <p:strVal val="visible"/>
                                      </p:to>
                                    </p:set>
                                    <p:anim calcmode="lin" valueType="num">
                                      <p:cBhvr additive="base">
                                        <p:cTn id="20"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21"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1" nodeType="clickEffect">
                                  <p:stCondLst>
                                    <p:cond delay="0"/>
                                  </p:stCondLst>
                                  <p:childTnLst>
                                    <p:set>
                                      <p:cBhvr>
                                        <p:cTn id="29" dur="1" fill="hold">
                                          <p:stCondLst>
                                            <p:cond delay="0"/>
                                          </p:stCondLst>
                                        </p:cTn>
                                        <p:tgtEl>
                                          <p:spTgt spid="7"/>
                                        </p:tgtEl>
                                        <p:attrNameLst>
                                          <p:attrName>style.visibility</p:attrName>
                                        </p:attrNameLst>
                                      </p:cBhvr>
                                      <p:to>
                                        <p:strVal val="visible"/>
                                      </p:to>
                                    </p:set>
                                  </p:childTnLst>
                                </p:cTn>
                              </p:par>
                              <p:par>
                                <p:cTn id="30" presetID="8" presetClass="emph" presetSubtype="0" fill="hold" grpId="0" nodeType="withEffect">
                                  <p:stCondLst>
                                    <p:cond delay="0"/>
                                  </p:stCondLst>
                                  <p:childTnLst>
                                    <p:animRot by="21600000">
                                      <p:cBhvr>
                                        <p:cTn id="31" dur="2000" fill="hold"/>
                                        <p:tgtEl>
                                          <p:spTgt spid="7"/>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7" grpId="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cture containing text, indoor, cellphone&#10;&#10;Description automatically generated">
            <a:extLst>
              <a:ext uri="{FF2B5EF4-FFF2-40B4-BE49-F238E27FC236}">
                <a16:creationId xmlns:a16="http://schemas.microsoft.com/office/drawing/2014/main" id="{4DBC0983-DCF9-D545-B371-3E707EDBA46B}"/>
              </a:ext>
            </a:extLst>
          </p:cNvPr>
          <p:cNvPicPr>
            <a:picLocks noChangeAspect="1"/>
          </p:cNvPicPr>
          <p:nvPr/>
        </p:nvPicPr>
        <p:blipFill>
          <a:blip r:embed="rId3" cstate="hqprint">
            <a:extLst>
              <a:ext uri="{28A0092B-C50C-407E-A947-70E740481C1C}">
                <a14:useLocalDpi xmlns:a14="http://schemas.microsoft.com/office/drawing/2010/main" val="0"/>
              </a:ext>
            </a:extLst>
          </a:blip>
          <a:stretch>
            <a:fillRect/>
          </a:stretch>
        </p:blipFill>
        <p:spPr>
          <a:xfrm>
            <a:off x="1687098" y="2634991"/>
            <a:ext cx="1907637" cy="3027718"/>
          </a:xfrm>
          <a:prstGeom prst="rect">
            <a:avLst/>
          </a:prstGeom>
        </p:spPr>
      </p:pic>
      <p:pic>
        <p:nvPicPr>
          <p:cNvPr id="7" name="Picture 6" descr="A calculator with a screen&#10;&#10;Description automatically generated with low confidence">
            <a:extLst>
              <a:ext uri="{FF2B5EF4-FFF2-40B4-BE49-F238E27FC236}">
                <a16:creationId xmlns:a16="http://schemas.microsoft.com/office/drawing/2014/main" id="{A921D3F4-048D-C14A-BE71-4A3526C45630}"/>
              </a:ext>
            </a:extLst>
          </p:cNvPr>
          <p:cNvPicPr>
            <a:picLocks noChangeAspect="1"/>
          </p:cNvPicPr>
          <p:nvPr/>
        </p:nvPicPr>
        <p:blipFill>
          <a:blip r:embed="rId4" cstate="hqprint">
            <a:extLst>
              <a:ext uri="{28A0092B-C50C-407E-A947-70E740481C1C}">
                <a14:useLocalDpi xmlns:a14="http://schemas.microsoft.com/office/drawing/2010/main" val="0"/>
              </a:ext>
            </a:extLst>
          </a:blip>
          <a:stretch>
            <a:fillRect/>
          </a:stretch>
        </p:blipFill>
        <p:spPr>
          <a:xfrm>
            <a:off x="4836136" y="2749692"/>
            <a:ext cx="2519727" cy="2913017"/>
          </a:xfrm>
          <a:prstGeom prst="rect">
            <a:avLst/>
          </a:prstGeom>
        </p:spPr>
      </p:pic>
      <p:pic>
        <p:nvPicPr>
          <p:cNvPr id="9" name="Picture 8" descr="A picture containing text, iPod, electronics, phone&#10;&#10;Description automatically generated">
            <a:extLst>
              <a:ext uri="{FF2B5EF4-FFF2-40B4-BE49-F238E27FC236}">
                <a16:creationId xmlns:a16="http://schemas.microsoft.com/office/drawing/2014/main" id="{D6EF26D5-50D9-0F44-9DDB-3712A009EF3F}"/>
              </a:ext>
            </a:extLst>
          </p:cNvPr>
          <p:cNvPicPr>
            <a:picLocks noChangeAspect="1"/>
          </p:cNvPicPr>
          <p:nvPr/>
        </p:nvPicPr>
        <p:blipFill>
          <a:blip r:embed="rId5" cstate="hqprint">
            <a:extLst>
              <a:ext uri="{28A0092B-C50C-407E-A947-70E740481C1C}">
                <a14:useLocalDpi xmlns:a14="http://schemas.microsoft.com/office/drawing/2010/main" val="0"/>
              </a:ext>
            </a:extLst>
          </a:blip>
          <a:stretch>
            <a:fillRect/>
          </a:stretch>
        </p:blipFill>
        <p:spPr>
          <a:xfrm>
            <a:off x="8597264" y="2331680"/>
            <a:ext cx="1907638" cy="3331029"/>
          </a:xfrm>
          <a:prstGeom prst="rect">
            <a:avLst/>
          </a:prstGeom>
        </p:spPr>
      </p:pic>
    </p:spTree>
    <p:extLst>
      <p:ext uri="{BB962C8B-B14F-4D97-AF65-F5344CB8AC3E}">
        <p14:creationId xmlns:p14="http://schemas.microsoft.com/office/powerpoint/2010/main" val="3469214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C3D19-1115-422D-B31A-F4EC856863A4}"/>
              </a:ext>
            </a:extLst>
          </p:cNvPr>
          <p:cNvSpPr>
            <a:spLocks noGrp="1"/>
          </p:cNvSpPr>
          <p:nvPr>
            <p:ph type="title"/>
          </p:nvPr>
        </p:nvSpPr>
        <p:spPr>
          <a:xfrm>
            <a:off x="1594911" y="787653"/>
            <a:ext cx="9733721" cy="835923"/>
          </a:xfrm>
        </p:spPr>
        <p:txBody>
          <a:bodyPr>
            <a:noAutofit/>
          </a:bodyPr>
          <a:lstStyle/>
          <a:p>
            <a:r>
              <a:rPr lang="en-GB" b="1" dirty="0">
                <a:solidFill>
                  <a:schemeClr val="bg1"/>
                </a:solidFill>
              </a:rPr>
              <a:t>Quantum computing </a:t>
            </a:r>
          </a:p>
        </p:txBody>
      </p:sp>
      <p:sp>
        <p:nvSpPr>
          <p:cNvPr id="4" name="Rectangle 3">
            <a:extLst>
              <a:ext uri="{FF2B5EF4-FFF2-40B4-BE49-F238E27FC236}">
                <a16:creationId xmlns:a16="http://schemas.microsoft.com/office/drawing/2014/main" id="{F5D20D14-5790-4D11-B5AA-5A4F799DB1B4}"/>
              </a:ext>
            </a:extLst>
          </p:cNvPr>
          <p:cNvSpPr/>
          <p:nvPr/>
        </p:nvSpPr>
        <p:spPr>
          <a:xfrm>
            <a:off x="1594910" y="1994736"/>
            <a:ext cx="5350420" cy="4524315"/>
          </a:xfrm>
          <a:prstGeom prst="rect">
            <a:avLst/>
          </a:prstGeom>
        </p:spPr>
        <p:txBody>
          <a:bodyPr wrap="square">
            <a:spAutoFit/>
          </a:bodyPr>
          <a:lstStyle/>
          <a:p>
            <a:r>
              <a:rPr lang="en-GB" sz="2400" dirty="0"/>
              <a:t>Computer scientists are investigating completely new methods of computation, such as </a:t>
            </a:r>
            <a:r>
              <a:rPr lang="en-GB" sz="2400" b="1" dirty="0"/>
              <a:t>quantum computing</a:t>
            </a:r>
            <a:r>
              <a:rPr lang="en-GB" sz="2400" dirty="0"/>
              <a:t>.</a:t>
            </a:r>
          </a:p>
          <a:p>
            <a:endParaRPr lang="en-GB" sz="2400" dirty="0"/>
          </a:p>
          <a:p>
            <a:r>
              <a:rPr lang="en-GB" sz="2400" dirty="0"/>
              <a:t>The computer shown uses the spin property of electrons so that individual electrons are </a:t>
            </a:r>
            <a:r>
              <a:rPr lang="en-GB" sz="2400" dirty="0" err="1"/>
              <a:t>procesing</a:t>
            </a:r>
            <a:r>
              <a:rPr lang="en-GB" sz="2400" dirty="0"/>
              <a:t> and storing date.</a:t>
            </a:r>
          </a:p>
          <a:p>
            <a:endParaRPr lang="en-GB" sz="2400" dirty="0"/>
          </a:p>
          <a:p>
            <a:r>
              <a:rPr lang="en-GB" sz="2400" dirty="0"/>
              <a:t>This means that a single atom can store many pieces of data, opening the door for infinite parallel processing.</a:t>
            </a:r>
          </a:p>
        </p:txBody>
      </p:sp>
      <p:sp>
        <p:nvSpPr>
          <p:cNvPr id="3" name="Rectangle 2">
            <a:extLst>
              <a:ext uri="{FF2B5EF4-FFF2-40B4-BE49-F238E27FC236}">
                <a16:creationId xmlns:a16="http://schemas.microsoft.com/office/drawing/2014/main" id="{CE6B7921-9ECD-D149-AC40-3FEE8BBECA54}"/>
              </a:ext>
            </a:extLst>
          </p:cNvPr>
          <p:cNvSpPr/>
          <p:nvPr/>
        </p:nvSpPr>
        <p:spPr>
          <a:xfrm>
            <a:off x="7476548" y="6070347"/>
            <a:ext cx="1787412" cy="307777"/>
          </a:xfrm>
          <a:prstGeom prst="rect">
            <a:avLst/>
          </a:prstGeom>
        </p:spPr>
        <p:txBody>
          <a:bodyPr wrap="none">
            <a:spAutoFit/>
          </a:bodyPr>
          <a:lstStyle/>
          <a:p>
            <a:r>
              <a:rPr lang="en-GB" sz="1400" i="1" dirty="0">
                <a:solidFill>
                  <a:srgbClr val="000000"/>
                </a:solidFill>
                <a:ea typeface="Times New Roman" panose="02020603050405020304" pitchFamily="18" charset="0"/>
              </a:rPr>
              <a:t>A quantum computer</a:t>
            </a:r>
            <a:r>
              <a:rPr lang="en-GB" sz="1400" i="1" dirty="0"/>
              <a:t> </a:t>
            </a:r>
            <a:endParaRPr lang="en-US" sz="1400" i="1" dirty="0"/>
          </a:p>
        </p:txBody>
      </p:sp>
      <p:pic>
        <p:nvPicPr>
          <p:cNvPr id="8" name="Picture 7" descr="A picture containing text, tube, electronics&#10;&#10;Description automatically generated">
            <a:extLst>
              <a:ext uri="{FF2B5EF4-FFF2-40B4-BE49-F238E27FC236}">
                <a16:creationId xmlns:a16="http://schemas.microsoft.com/office/drawing/2014/main" id="{4285D221-8737-FD45-89F4-30FFFD66282D}"/>
              </a:ext>
            </a:extLst>
          </p:cNvPr>
          <p:cNvPicPr>
            <a:picLocks noChangeAspect="1"/>
          </p:cNvPicPr>
          <p:nvPr/>
        </p:nvPicPr>
        <p:blipFill>
          <a:blip r:embed="rId3" cstate="hqprint">
            <a:extLst>
              <a:ext uri="{28A0092B-C50C-407E-A947-70E740481C1C}">
                <a14:useLocalDpi xmlns:a14="http://schemas.microsoft.com/office/drawing/2010/main" val="0"/>
              </a:ext>
            </a:extLst>
          </a:blip>
          <a:stretch>
            <a:fillRect/>
          </a:stretch>
        </p:blipFill>
        <p:spPr>
          <a:xfrm>
            <a:off x="7476548" y="1994736"/>
            <a:ext cx="3271969" cy="4075611"/>
          </a:xfrm>
          <a:prstGeom prst="rect">
            <a:avLst/>
          </a:prstGeom>
        </p:spPr>
      </p:pic>
    </p:spTree>
    <p:extLst>
      <p:ext uri="{BB962C8B-B14F-4D97-AF65-F5344CB8AC3E}">
        <p14:creationId xmlns:p14="http://schemas.microsoft.com/office/powerpoint/2010/main" val="1053166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 calcmode="lin" valueType="num">
                                      <p:cBhvr additive="base">
                                        <p:cTn id="13"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 calcmode="lin" valueType="num">
                                      <p:cBhvr additive="base">
                                        <p:cTn id="19"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0201" y="786103"/>
            <a:ext cx="9753599" cy="845862"/>
          </a:xfrm>
        </p:spPr>
        <p:txBody>
          <a:bodyPr>
            <a:noAutofit/>
          </a:bodyPr>
          <a:lstStyle/>
          <a:p>
            <a:r>
              <a:rPr lang="en-GB" sz="4000" b="1" dirty="0">
                <a:solidFill>
                  <a:schemeClr val="bg1"/>
                </a:solidFill>
              </a:rPr>
              <a:t>The qualities of a well-designed presentation </a:t>
            </a:r>
          </a:p>
        </p:txBody>
      </p:sp>
      <p:sp>
        <p:nvSpPr>
          <p:cNvPr id="3" name="Rectangle 2">
            <a:extLst>
              <a:ext uri="{FF2B5EF4-FFF2-40B4-BE49-F238E27FC236}">
                <a16:creationId xmlns:a16="http://schemas.microsoft.com/office/drawing/2014/main" id="{8E721302-C2D3-8F41-990B-D3C29E183DEA}"/>
              </a:ext>
            </a:extLst>
          </p:cNvPr>
          <p:cNvSpPr/>
          <p:nvPr/>
        </p:nvSpPr>
        <p:spPr>
          <a:xfrm>
            <a:off x="1600201" y="2029531"/>
            <a:ext cx="7802216" cy="4318875"/>
          </a:xfrm>
          <a:prstGeom prst="rect">
            <a:avLst/>
          </a:prstGeom>
        </p:spPr>
        <p:txBody>
          <a:bodyPr wrap="square">
            <a:spAutoFit/>
          </a:bodyPr>
          <a:lstStyle/>
          <a:p>
            <a:pPr marL="342900" lvl="0" indent="-342900">
              <a:lnSpc>
                <a:spcPct val="115000"/>
              </a:lnSpc>
              <a:buFont typeface="Symbol" pitchFamily="2" charset="2"/>
              <a:buChar char=""/>
            </a:pPr>
            <a:r>
              <a:rPr lang="en-GB" sz="2000" dirty="0">
                <a:ea typeface="Arial" panose="020B0604020202020204" pitchFamily="34" charset="0"/>
              </a:rPr>
              <a:t>The presentation has a title and most slides have headings.</a:t>
            </a:r>
          </a:p>
          <a:p>
            <a:pPr marL="342900" lvl="0" indent="-342900">
              <a:lnSpc>
                <a:spcPct val="115000"/>
              </a:lnSpc>
              <a:buFont typeface="Symbol" pitchFamily="2" charset="2"/>
              <a:buChar char=""/>
            </a:pPr>
            <a:r>
              <a:rPr lang="en-GB" sz="2000" dirty="0">
                <a:ea typeface="Arial" panose="020B0604020202020204" pitchFamily="34" charset="0"/>
              </a:rPr>
              <a:t>The same approach to design is used throughout the presentation.</a:t>
            </a:r>
          </a:p>
          <a:p>
            <a:pPr marL="342900" lvl="0" indent="-342900">
              <a:lnSpc>
                <a:spcPct val="115000"/>
              </a:lnSpc>
              <a:buFont typeface="Symbol" pitchFamily="2" charset="2"/>
              <a:buChar char=""/>
            </a:pPr>
            <a:r>
              <a:rPr lang="en-GB" sz="2000" dirty="0">
                <a:ea typeface="Arial" panose="020B0604020202020204" pitchFamily="34" charset="0"/>
              </a:rPr>
              <a:t>The number of fonts, font sizes and font colours is limited; too many can be confusing.</a:t>
            </a:r>
          </a:p>
          <a:p>
            <a:pPr marL="342900" lvl="0" indent="-342900">
              <a:lnSpc>
                <a:spcPct val="115000"/>
              </a:lnSpc>
              <a:buFont typeface="Symbol" pitchFamily="2" charset="2"/>
              <a:buChar char=""/>
            </a:pPr>
            <a:r>
              <a:rPr lang="en-GB" sz="2000" dirty="0">
                <a:ea typeface="Arial" panose="020B0604020202020204" pitchFamily="34" charset="0"/>
              </a:rPr>
              <a:t>Animations add to the audience’s understanding not detract from it.</a:t>
            </a:r>
          </a:p>
          <a:p>
            <a:pPr marL="342900" lvl="0" indent="-342900">
              <a:lnSpc>
                <a:spcPct val="115000"/>
              </a:lnSpc>
              <a:buFont typeface="Symbol" pitchFamily="2" charset="2"/>
              <a:buChar char=""/>
            </a:pPr>
            <a:r>
              <a:rPr lang="en-GB" sz="2000" dirty="0">
                <a:ea typeface="Arial" panose="020B0604020202020204" pitchFamily="34" charset="0"/>
              </a:rPr>
              <a:t>There is a strong contrast between the background colour(s) and the font colour(s).</a:t>
            </a:r>
          </a:p>
          <a:p>
            <a:pPr marL="342900" lvl="0" indent="-342900">
              <a:lnSpc>
                <a:spcPct val="115000"/>
              </a:lnSpc>
              <a:buFont typeface="Symbol" pitchFamily="2" charset="2"/>
              <a:buChar char=""/>
            </a:pPr>
            <a:r>
              <a:rPr lang="en-GB" sz="2000" dirty="0">
                <a:ea typeface="Arial" panose="020B0604020202020204" pitchFamily="34" charset="0"/>
              </a:rPr>
              <a:t>There is a good balance between text and images and slides are not overcrowded.</a:t>
            </a:r>
          </a:p>
          <a:p>
            <a:pPr marL="342900" lvl="0" indent="-342900">
              <a:lnSpc>
                <a:spcPct val="115000"/>
              </a:lnSpc>
              <a:buFont typeface="Symbol" pitchFamily="2" charset="2"/>
              <a:buChar char=""/>
            </a:pPr>
            <a:r>
              <a:rPr lang="en-GB" sz="2000" dirty="0">
                <a:ea typeface="Arial" panose="020B0604020202020204" pitchFamily="34" charset="0"/>
              </a:rPr>
              <a:t>Images relate to the text, can be seen clearly and have credits.</a:t>
            </a:r>
          </a:p>
          <a:p>
            <a:pPr marL="342900" lvl="0" indent="-342900">
              <a:lnSpc>
                <a:spcPct val="115000"/>
              </a:lnSpc>
              <a:buFont typeface="Symbol" pitchFamily="2" charset="2"/>
              <a:buChar char=""/>
            </a:pPr>
            <a:r>
              <a:rPr lang="en-GB" sz="2000" dirty="0">
                <a:ea typeface="Arial" panose="020B0604020202020204" pitchFamily="34" charset="0"/>
              </a:rPr>
              <a:t>Audio and video clips should be embedded into the presentation; avoid linking to clips in another software application.</a:t>
            </a:r>
            <a:endParaRPr lang="en-GB" sz="2000" dirty="0">
              <a:effectLst/>
              <a:ea typeface="Arial" panose="020B0604020202020204" pitchFamily="34" charset="0"/>
            </a:endParaRPr>
          </a:p>
        </p:txBody>
      </p:sp>
    </p:spTree>
    <p:extLst>
      <p:ext uri="{BB962C8B-B14F-4D97-AF65-F5344CB8AC3E}">
        <p14:creationId xmlns:p14="http://schemas.microsoft.com/office/powerpoint/2010/main" val="19154551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4BA82-FE7D-4DE6-BC00-A388E38B624C}"/>
              </a:ext>
            </a:extLst>
          </p:cNvPr>
          <p:cNvSpPr>
            <a:spLocks noGrp="1"/>
          </p:cNvSpPr>
          <p:nvPr>
            <p:ph type="title"/>
          </p:nvPr>
        </p:nvSpPr>
        <p:spPr>
          <a:xfrm>
            <a:off x="1618195" y="815637"/>
            <a:ext cx="9793357" cy="855801"/>
          </a:xfrm>
        </p:spPr>
        <p:txBody>
          <a:bodyPr/>
          <a:lstStyle/>
          <a:p>
            <a:r>
              <a:rPr lang="en-GB" b="1" dirty="0">
                <a:solidFill>
                  <a:schemeClr val="bg1"/>
                </a:solidFill>
              </a:rPr>
              <a:t>The design cycle </a:t>
            </a:r>
          </a:p>
        </p:txBody>
      </p:sp>
      <p:pic>
        <p:nvPicPr>
          <p:cNvPr id="5" name="Picture 4" descr="Diagram&#10;&#10;Description automatically generated">
            <a:extLst>
              <a:ext uri="{FF2B5EF4-FFF2-40B4-BE49-F238E27FC236}">
                <a16:creationId xmlns:a16="http://schemas.microsoft.com/office/drawing/2014/main" id="{8CCE5F37-D9C9-AD4A-B6AE-169F217DD8E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33880" y="2111647"/>
            <a:ext cx="5729514" cy="4083348"/>
          </a:xfrm>
          <a:prstGeom prst="rect">
            <a:avLst/>
          </a:prstGeom>
        </p:spPr>
      </p:pic>
    </p:spTree>
    <p:extLst>
      <p:ext uri="{BB962C8B-B14F-4D97-AF65-F5344CB8AC3E}">
        <p14:creationId xmlns:p14="http://schemas.microsoft.com/office/powerpoint/2010/main" val="36150031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0201" y="786103"/>
            <a:ext cx="9753599" cy="845862"/>
          </a:xfrm>
        </p:spPr>
        <p:txBody>
          <a:bodyPr>
            <a:noAutofit/>
          </a:bodyPr>
          <a:lstStyle/>
          <a:p>
            <a:r>
              <a:rPr lang="en-GB" sz="3200" b="1" dirty="0">
                <a:solidFill>
                  <a:schemeClr val="bg1"/>
                </a:solidFill>
              </a:rPr>
              <a:t>Activity 4.3: </a:t>
            </a:r>
            <a:r>
              <a:rPr lang="en-GB" sz="3400" b="1" dirty="0">
                <a:solidFill>
                  <a:schemeClr val="bg1"/>
                </a:solidFill>
              </a:rPr>
              <a:t/>
            </a:r>
            <a:br>
              <a:rPr lang="en-GB" sz="3400" b="1" dirty="0">
                <a:solidFill>
                  <a:schemeClr val="bg1"/>
                </a:solidFill>
              </a:rPr>
            </a:br>
            <a:r>
              <a:rPr lang="en-GB" sz="3100" b="1" dirty="0">
                <a:solidFill>
                  <a:schemeClr val="bg1"/>
                </a:solidFill>
              </a:rPr>
              <a:t>A presentation about the history of computing</a:t>
            </a:r>
          </a:p>
        </p:txBody>
      </p:sp>
      <p:pic>
        <p:nvPicPr>
          <p:cNvPr id="5" name="Picture 4" descr="A picture containing athletic game, basketball, sport&#10;&#10;Description automatically generated">
            <a:extLst>
              <a:ext uri="{FF2B5EF4-FFF2-40B4-BE49-F238E27FC236}">
                <a16:creationId xmlns:a16="http://schemas.microsoft.com/office/drawing/2014/main" id="{A21B9BB7-886A-4A39-BB70-1BFFF26024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85321" y="1884254"/>
            <a:ext cx="4021357" cy="3940075"/>
          </a:xfrm>
          <a:prstGeom prst="rect">
            <a:avLst/>
          </a:prstGeom>
        </p:spPr>
      </p:pic>
    </p:spTree>
    <p:extLst>
      <p:ext uri="{BB962C8B-B14F-4D97-AF65-F5344CB8AC3E}">
        <p14:creationId xmlns:p14="http://schemas.microsoft.com/office/powerpoint/2010/main" val="40176912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4BA82-FE7D-4DE6-BC00-A388E38B624C}"/>
              </a:ext>
            </a:extLst>
          </p:cNvPr>
          <p:cNvSpPr>
            <a:spLocks noGrp="1"/>
          </p:cNvSpPr>
          <p:nvPr>
            <p:ph type="title"/>
          </p:nvPr>
        </p:nvSpPr>
        <p:spPr>
          <a:xfrm>
            <a:off x="1618195" y="815637"/>
            <a:ext cx="9793357" cy="785666"/>
          </a:xfrm>
        </p:spPr>
        <p:txBody>
          <a:bodyPr>
            <a:noAutofit/>
          </a:bodyPr>
          <a:lstStyle/>
          <a:p>
            <a:r>
              <a:rPr lang="en-GB" sz="3200" b="1" dirty="0">
                <a:solidFill>
                  <a:schemeClr val="bg1"/>
                </a:solidFill>
              </a:rPr>
              <a:t>Activity 4.4: </a:t>
            </a:r>
            <a:br>
              <a:rPr lang="en-GB" sz="3200" b="1" dirty="0">
                <a:solidFill>
                  <a:schemeClr val="bg1"/>
                </a:solidFill>
              </a:rPr>
            </a:br>
            <a:r>
              <a:rPr lang="en-GB" sz="3100" b="1" dirty="0">
                <a:solidFill>
                  <a:schemeClr val="bg1"/>
                </a:solidFill>
              </a:rPr>
              <a:t>Commenting on another presentation</a:t>
            </a:r>
          </a:p>
        </p:txBody>
      </p:sp>
      <p:pic>
        <p:nvPicPr>
          <p:cNvPr id="8" name="Picture 7" descr="A picture containing athletic game, basketball, sport&#10;&#10;Description automatically generated">
            <a:extLst>
              <a:ext uri="{FF2B5EF4-FFF2-40B4-BE49-F238E27FC236}">
                <a16:creationId xmlns:a16="http://schemas.microsoft.com/office/drawing/2014/main" id="{18082141-F3C5-874D-910D-6D513AB4DE8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15270" y="1947462"/>
            <a:ext cx="4179377" cy="4094901"/>
          </a:xfrm>
          <a:prstGeom prst="rect">
            <a:avLst/>
          </a:prstGeom>
        </p:spPr>
      </p:pic>
      <p:sp>
        <p:nvSpPr>
          <p:cNvPr id="3" name="Rectangle 2">
            <a:extLst>
              <a:ext uri="{FF2B5EF4-FFF2-40B4-BE49-F238E27FC236}">
                <a16:creationId xmlns:a16="http://schemas.microsoft.com/office/drawing/2014/main" id="{2921AB97-46B4-3B4B-9892-0C78FE20D3AB}"/>
              </a:ext>
            </a:extLst>
          </p:cNvPr>
          <p:cNvSpPr/>
          <p:nvPr/>
        </p:nvSpPr>
        <p:spPr>
          <a:xfrm>
            <a:off x="1618195" y="2058503"/>
            <a:ext cx="4179377" cy="3921843"/>
          </a:xfrm>
          <a:prstGeom prst="rect">
            <a:avLst/>
          </a:prstGeom>
        </p:spPr>
        <p:txBody>
          <a:bodyPr wrap="square">
            <a:spAutoFit/>
          </a:bodyPr>
          <a:lstStyle/>
          <a:p>
            <a:pPr marL="342900" indent="-342900">
              <a:spcAft>
                <a:spcPts val="800"/>
              </a:spcAft>
              <a:buFont typeface="Arial" panose="020B0604020202020204" pitchFamily="34" charset="0"/>
              <a:buChar char="•"/>
            </a:pPr>
            <a:r>
              <a:rPr lang="en-GB" sz="2000" dirty="0">
                <a:latin typeface="Calibri" panose="020F0502020204030204" pitchFamily="34" charset="0"/>
                <a:ea typeface="Calibri" panose="020F0502020204030204" pitchFamily="34" charset="0"/>
                <a:cs typeface="Calibri" panose="020F0502020204030204" pitchFamily="34" charset="0"/>
              </a:rPr>
              <a:t>Look at someone else’s presentation and use the comments tool to give feedback on the design of your partner’s report.</a:t>
            </a:r>
            <a:endParaRPr lang="en-GB" sz="2000" dirty="0">
              <a:latin typeface="Calibri" panose="020F0502020204030204" pitchFamily="34" charset="0"/>
              <a:ea typeface="Calibri" panose="020F0502020204030204" pitchFamily="34" charset="0"/>
              <a:cs typeface="Times New Roman" panose="02020603050405020304" pitchFamily="18" charset="0"/>
            </a:endParaRPr>
          </a:p>
          <a:p>
            <a:pPr marL="342900" indent="-342900">
              <a:lnSpc>
                <a:spcPct val="107000"/>
              </a:lnSpc>
              <a:spcAft>
                <a:spcPts val="800"/>
              </a:spcAft>
              <a:buFont typeface="Arial" panose="020B0604020202020204" pitchFamily="34" charset="0"/>
              <a:buChar char="•"/>
            </a:pPr>
            <a:r>
              <a:rPr lang="en-GB" sz="2000" dirty="0">
                <a:latin typeface="Calibri" panose="020F0502020204030204" pitchFamily="34" charset="0"/>
                <a:ea typeface="Calibri" panose="020F0502020204030204" pitchFamily="34" charset="0"/>
                <a:cs typeface="Calibri" panose="020F0502020204030204" pitchFamily="34" charset="0"/>
              </a:rPr>
              <a:t>In PowerPoint, click on ‘Review’ and ‘New comment’.</a:t>
            </a:r>
            <a:endParaRPr lang="en-GB" sz="2000" dirty="0">
              <a:latin typeface="Calibri" panose="020F0502020204030204" pitchFamily="34" charset="0"/>
              <a:ea typeface="Calibri" panose="020F0502020204030204" pitchFamily="34" charset="0"/>
              <a:cs typeface="Times New Roman" panose="02020603050405020304" pitchFamily="18" charset="0"/>
            </a:endParaRPr>
          </a:p>
          <a:p>
            <a:pPr marL="342900" indent="-342900">
              <a:lnSpc>
                <a:spcPct val="107000"/>
              </a:lnSpc>
              <a:spcAft>
                <a:spcPts val="800"/>
              </a:spcAft>
              <a:buFont typeface="Arial" panose="020B0604020202020204" pitchFamily="34" charset="0"/>
              <a:buChar char="•"/>
            </a:pPr>
            <a:r>
              <a:rPr lang="en-GB" sz="2000" dirty="0">
                <a:latin typeface="Calibri" panose="020F0502020204030204" pitchFamily="34" charset="0"/>
                <a:ea typeface="Calibri" panose="020F0502020204030204" pitchFamily="34" charset="0"/>
                <a:cs typeface="Calibri" panose="020F0502020204030204" pitchFamily="34" charset="0"/>
              </a:rPr>
              <a:t>In Google Slides, click on the ‘Add comment’ icon in the toolbar.</a:t>
            </a:r>
            <a:endParaRPr lang="en-GB" sz="2000" dirty="0">
              <a:latin typeface="Calibri" panose="020F0502020204030204" pitchFamily="34" charset="0"/>
              <a:ea typeface="Calibri" panose="020F0502020204030204" pitchFamily="34" charset="0"/>
              <a:cs typeface="Times New Roman" panose="02020603050405020304" pitchFamily="18" charset="0"/>
            </a:endParaRPr>
          </a:p>
          <a:p>
            <a:pPr marL="342900" indent="-342900">
              <a:lnSpc>
                <a:spcPct val="107000"/>
              </a:lnSpc>
              <a:spcAft>
                <a:spcPts val="800"/>
              </a:spcAft>
              <a:buFont typeface="Arial" panose="020B0604020202020204" pitchFamily="34" charset="0"/>
              <a:buChar char="•"/>
            </a:pPr>
            <a:r>
              <a:rPr lang="en-GB" sz="2000" dirty="0">
                <a:latin typeface="Calibri" panose="020F0502020204030204" pitchFamily="34" charset="0"/>
                <a:ea typeface="Calibri" panose="020F0502020204030204" pitchFamily="34" charset="0"/>
                <a:cs typeface="Calibri" panose="020F0502020204030204" pitchFamily="34" charset="0"/>
              </a:rPr>
              <a:t>Remember to save your partner’s document when you have finished adding your comments.</a:t>
            </a:r>
            <a:endParaRPr lang="en-GB" sz="20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496493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589632" y="796072"/>
            <a:ext cx="10297568" cy="814067"/>
          </a:xfrm>
        </p:spPr>
        <p:txBody>
          <a:bodyPr>
            <a:noAutofit/>
          </a:bodyPr>
          <a:lstStyle/>
          <a:p>
            <a:r>
              <a:rPr lang="en-GB" b="1" dirty="0">
                <a:solidFill>
                  <a:schemeClr val="bg1"/>
                </a:solidFill>
              </a:rPr>
              <a:t>Quiz 3</a:t>
            </a:r>
          </a:p>
        </p:txBody>
      </p:sp>
      <p:pic>
        <p:nvPicPr>
          <p:cNvPr id="5" name="Picture 4" descr="A picture containing athletic game, basketball, sport&#10;&#10;Description automatically generated">
            <a:extLst>
              <a:ext uri="{FF2B5EF4-FFF2-40B4-BE49-F238E27FC236}">
                <a16:creationId xmlns:a16="http://schemas.microsoft.com/office/drawing/2014/main" id="{E026BB22-2069-44BA-9C69-B4666D11CB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06311" y="1967027"/>
            <a:ext cx="4179377" cy="4094901"/>
          </a:xfrm>
          <a:prstGeom prst="rect">
            <a:avLst/>
          </a:prstGeom>
        </p:spPr>
      </p:pic>
    </p:spTree>
    <p:extLst>
      <p:ext uri="{BB962C8B-B14F-4D97-AF65-F5344CB8AC3E}">
        <p14:creationId xmlns:p14="http://schemas.microsoft.com/office/powerpoint/2010/main" val="919706223"/>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cture containing athletic game, basketball, sport&#10;&#10;Description automatically generated">
            <a:extLst>
              <a:ext uri="{FF2B5EF4-FFF2-40B4-BE49-F238E27FC236}">
                <a16:creationId xmlns:a16="http://schemas.microsoft.com/office/drawing/2014/main" id="{E026BB22-2069-44BA-9C69-B4666D11CB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35348" y="1957088"/>
            <a:ext cx="4357810" cy="4269727"/>
          </a:xfrm>
          <a:prstGeom prst="rect">
            <a:avLst/>
          </a:prstGeom>
        </p:spPr>
      </p:pic>
      <p:sp>
        <p:nvSpPr>
          <p:cNvPr id="6" name="Title 1">
            <a:extLst>
              <a:ext uri="{FF2B5EF4-FFF2-40B4-BE49-F238E27FC236}">
                <a16:creationId xmlns:a16="http://schemas.microsoft.com/office/drawing/2014/main" id="{DE454DA2-BF42-4A17-974C-14F23A4E4D55}"/>
              </a:ext>
            </a:extLst>
          </p:cNvPr>
          <p:cNvSpPr txBox="1">
            <a:spLocks/>
          </p:cNvSpPr>
          <p:nvPr/>
        </p:nvSpPr>
        <p:spPr>
          <a:xfrm>
            <a:off x="1608570" y="796388"/>
            <a:ext cx="9793357" cy="85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b="1" dirty="0">
                <a:solidFill>
                  <a:schemeClr val="bg1"/>
                </a:solidFill>
              </a:rPr>
              <a:t>Activity 4.5: Finishing your presentation </a:t>
            </a:r>
          </a:p>
        </p:txBody>
      </p:sp>
      <p:sp>
        <p:nvSpPr>
          <p:cNvPr id="2" name="Rectangle 1">
            <a:extLst>
              <a:ext uri="{FF2B5EF4-FFF2-40B4-BE49-F238E27FC236}">
                <a16:creationId xmlns:a16="http://schemas.microsoft.com/office/drawing/2014/main" id="{E16130C7-FC19-B449-8E6A-BD08F3EF6129}"/>
              </a:ext>
            </a:extLst>
          </p:cNvPr>
          <p:cNvSpPr/>
          <p:nvPr/>
        </p:nvSpPr>
        <p:spPr>
          <a:xfrm>
            <a:off x="1608569" y="1957088"/>
            <a:ext cx="4007039" cy="4129144"/>
          </a:xfrm>
          <a:prstGeom prst="rect">
            <a:avLst/>
          </a:prstGeom>
        </p:spPr>
        <p:txBody>
          <a:bodyPr wrap="square">
            <a:spAutoFit/>
          </a:bodyPr>
          <a:lstStyle/>
          <a:p>
            <a:pPr marL="342900" indent="-342900">
              <a:lnSpc>
                <a:spcPct val="107000"/>
              </a:lnSpc>
              <a:spcAft>
                <a:spcPts val="800"/>
              </a:spcAft>
              <a:buFont typeface="Arial" panose="020B0604020202020204" pitchFamily="34" charset="0"/>
              <a:buChar char="•"/>
            </a:pPr>
            <a:r>
              <a:rPr lang="en-GB" sz="2400" dirty="0">
                <a:latin typeface="Calibri" panose="020F0502020204030204" pitchFamily="34" charset="0"/>
                <a:ea typeface="Calibri" panose="020F0502020204030204" pitchFamily="34" charset="0"/>
                <a:cs typeface="Calibri" panose="020F0502020204030204" pitchFamily="34" charset="0"/>
              </a:rPr>
              <a:t>Evaluate the feedback you received on your presentation and make improvements.</a:t>
            </a:r>
            <a:endParaRPr lang="en-GB" sz="2400" dirty="0">
              <a:latin typeface="Calibri" panose="020F0502020204030204" pitchFamily="34" charset="0"/>
              <a:ea typeface="Calibri" panose="020F0502020204030204" pitchFamily="34" charset="0"/>
              <a:cs typeface="Times New Roman" panose="02020603050405020304" pitchFamily="18" charset="0"/>
            </a:endParaRPr>
          </a:p>
          <a:p>
            <a:pPr marL="342900" indent="-342900">
              <a:lnSpc>
                <a:spcPct val="107000"/>
              </a:lnSpc>
              <a:spcAft>
                <a:spcPts val="800"/>
              </a:spcAft>
              <a:buFont typeface="Arial" panose="020B0604020202020204" pitchFamily="34" charset="0"/>
              <a:buChar char="•"/>
            </a:pPr>
            <a:r>
              <a:rPr lang="en-GB" sz="2400" dirty="0">
                <a:latin typeface="Calibri" panose="020F0502020204030204" pitchFamily="34" charset="0"/>
                <a:ea typeface="Calibri" panose="020F0502020204030204" pitchFamily="34" charset="0"/>
                <a:cs typeface="Calibri" panose="020F0502020204030204" pitchFamily="34" charset="0"/>
              </a:rPr>
              <a:t>Remember to ‘Save as’ before you begin making improvements, so you always have the comments you received to refer back to.</a:t>
            </a:r>
            <a:endParaRPr lang="en-GB" sz="2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0266836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445</TotalTime>
  <Words>1046</Words>
  <Application>Microsoft Office PowerPoint</Application>
  <PresentationFormat>Widescreen</PresentationFormat>
  <Paragraphs>63</Paragraphs>
  <Slides>14</Slides>
  <Notes>4</Notes>
  <HiddenSlides>2</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14</vt:i4>
      </vt:variant>
    </vt:vector>
  </HeadingPairs>
  <TitlesOfParts>
    <vt:vector size="22" baseType="lpstr">
      <vt:lpstr>Arial</vt:lpstr>
      <vt:lpstr>Calibri</vt:lpstr>
      <vt:lpstr>Calibri Light</vt:lpstr>
      <vt:lpstr>Honey Script</vt:lpstr>
      <vt:lpstr>Symbol</vt:lpstr>
      <vt:lpstr>Times New Roman</vt:lpstr>
      <vt:lpstr>Office Theme</vt:lpstr>
      <vt:lpstr>Custom Design</vt:lpstr>
      <vt:lpstr>PowerPoint Presentation</vt:lpstr>
      <vt:lpstr>Objectives</vt:lpstr>
      <vt:lpstr>Activity 4.1:  Word-processing software or presentation software?</vt:lpstr>
      <vt:lpstr>Activity 4.2: Examples of good or bad design?</vt:lpstr>
      <vt:lpstr>al-Khwarizmi (780–850 AD)</vt:lpstr>
      <vt:lpstr>PowerPoint Presentation</vt:lpstr>
      <vt:lpstr>PowerPoint Presentation</vt:lpstr>
      <vt:lpstr>Quantum computing </vt:lpstr>
      <vt:lpstr>The qualities of a well-designed presentation </vt:lpstr>
      <vt:lpstr>The design cycle </vt:lpstr>
      <vt:lpstr>Activity 4.3:  A presentation about the history of computing</vt:lpstr>
      <vt:lpstr>Activity 4.4:  Commenting on another presentation</vt:lpstr>
      <vt:lpstr>Quiz 3</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Introducing spreadsheets</dc:title>
  <dc:creator>Lea Albrechtsen</dc:creator>
  <cp:lastModifiedBy>DavitZh</cp:lastModifiedBy>
  <cp:revision>56</cp:revision>
  <dcterms:created xsi:type="dcterms:W3CDTF">2020-11-04T15:22:46Z</dcterms:created>
  <dcterms:modified xsi:type="dcterms:W3CDTF">2024-10-01T04:21:24Z</dcterms:modified>
</cp:coreProperties>
</file>