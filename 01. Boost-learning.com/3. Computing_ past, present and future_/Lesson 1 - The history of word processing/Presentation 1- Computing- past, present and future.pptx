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73" r:id="rId2"/>
    <p:sldId id="257" r:id="rId3"/>
    <p:sldId id="282" r:id="rId4"/>
    <p:sldId id="258" r:id="rId5"/>
    <p:sldId id="259" r:id="rId6"/>
    <p:sldId id="260" r:id="rId7"/>
    <p:sldId id="274" r:id="rId8"/>
    <p:sldId id="275" r:id="rId9"/>
    <p:sldId id="276" r:id="rId10"/>
    <p:sldId id="277" r:id="rId11"/>
    <p:sldId id="261" r:id="rId12"/>
    <p:sldId id="278" r:id="rId13"/>
    <p:sldId id="279" r:id="rId14"/>
    <p:sldId id="280" r:id="rId15"/>
    <p:sldId id="281" r:id="rId16"/>
  </p:sldIdLst>
  <p:sldSz cx="12192000" cy="6858000"/>
  <p:notesSz cx="6858000" cy="9144000"/>
  <p:custDataLst>
    <p:tags r:id="rId1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69B4"/>
    <a:srgbClr val="0075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36" autoAdjust="0"/>
    <p:restoredTop sz="94660"/>
  </p:normalViewPr>
  <p:slideViewPr>
    <p:cSldViewPr snapToGrid="0">
      <p:cViewPr varScale="1">
        <p:scale>
          <a:sx n="89" d="100"/>
          <a:sy n="89" d="100"/>
        </p:scale>
        <p:origin x="250"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gs" Target="tags/tag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9A96B-8203-4416-85CA-7F9C90D893F4}" type="datetimeFigureOut">
              <a:rPr lang="en-GB" smtClean="0"/>
              <a:t>10/09/2024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38C620-66DA-4790-935B-E6182668FA18}" type="slidenum">
              <a:rPr lang="en-GB" smtClean="0"/>
              <a:t>‹#›</a:t>
            </a:fld>
            <a:endParaRPr lang="en-GB"/>
          </a:p>
        </p:txBody>
      </p:sp>
    </p:spTree>
    <p:extLst>
      <p:ext uri="{BB962C8B-B14F-4D97-AF65-F5344CB8AC3E}">
        <p14:creationId xmlns:p14="http://schemas.microsoft.com/office/powerpoint/2010/main" val="24585856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1</a:t>
            </a:fld>
            <a:endParaRPr lang="en-GB"/>
          </a:p>
        </p:txBody>
      </p:sp>
    </p:spTree>
    <p:extLst>
      <p:ext uri="{BB962C8B-B14F-4D97-AF65-F5344CB8AC3E}">
        <p14:creationId xmlns:p14="http://schemas.microsoft.com/office/powerpoint/2010/main" val="9612250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2</a:t>
            </a:fld>
            <a:endParaRPr lang="en-GB"/>
          </a:p>
        </p:txBody>
      </p:sp>
    </p:spTree>
    <p:extLst>
      <p:ext uri="{BB962C8B-B14F-4D97-AF65-F5344CB8AC3E}">
        <p14:creationId xmlns:p14="http://schemas.microsoft.com/office/powerpoint/2010/main" val="3187681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3</a:t>
            </a:fld>
            <a:endParaRPr lang="en-GB"/>
          </a:p>
        </p:txBody>
      </p:sp>
    </p:spTree>
    <p:extLst>
      <p:ext uri="{BB962C8B-B14F-4D97-AF65-F5344CB8AC3E}">
        <p14:creationId xmlns:p14="http://schemas.microsoft.com/office/powerpoint/2010/main" val="23311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4</a:t>
            </a:fld>
            <a:endParaRPr lang="en-GB"/>
          </a:p>
        </p:txBody>
      </p:sp>
    </p:spTree>
    <p:extLst>
      <p:ext uri="{BB962C8B-B14F-4D97-AF65-F5344CB8AC3E}">
        <p14:creationId xmlns:p14="http://schemas.microsoft.com/office/powerpoint/2010/main" val="1340900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5</a:t>
            </a:fld>
            <a:endParaRPr lang="en-GB"/>
          </a:p>
        </p:txBody>
      </p:sp>
    </p:spTree>
    <p:extLst>
      <p:ext uri="{BB962C8B-B14F-4D97-AF65-F5344CB8AC3E}">
        <p14:creationId xmlns:p14="http://schemas.microsoft.com/office/powerpoint/2010/main" val="41179182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6</a:t>
            </a:fld>
            <a:endParaRPr lang="en-GB"/>
          </a:p>
        </p:txBody>
      </p:sp>
    </p:spTree>
    <p:extLst>
      <p:ext uri="{BB962C8B-B14F-4D97-AF65-F5344CB8AC3E}">
        <p14:creationId xmlns:p14="http://schemas.microsoft.com/office/powerpoint/2010/main" val="7205271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7</a:t>
            </a:fld>
            <a:endParaRPr lang="en-GB"/>
          </a:p>
        </p:txBody>
      </p:sp>
    </p:spTree>
    <p:extLst>
      <p:ext uri="{BB962C8B-B14F-4D97-AF65-F5344CB8AC3E}">
        <p14:creationId xmlns:p14="http://schemas.microsoft.com/office/powerpoint/2010/main" val="5268364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8</a:t>
            </a:fld>
            <a:endParaRPr lang="en-GB"/>
          </a:p>
        </p:txBody>
      </p:sp>
    </p:spTree>
    <p:extLst>
      <p:ext uri="{BB962C8B-B14F-4D97-AF65-F5344CB8AC3E}">
        <p14:creationId xmlns:p14="http://schemas.microsoft.com/office/powerpoint/2010/main" val="42516655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9</a:t>
            </a:fld>
            <a:endParaRPr lang="en-GB"/>
          </a:p>
        </p:txBody>
      </p:sp>
    </p:spTree>
    <p:extLst>
      <p:ext uri="{BB962C8B-B14F-4D97-AF65-F5344CB8AC3E}">
        <p14:creationId xmlns:p14="http://schemas.microsoft.com/office/powerpoint/2010/main" val="2273934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10</a:t>
            </a:fld>
            <a:endParaRPr lang="en-GB"/>
          </a:p>
        </p:txBody>
      </p:sp>
    </p:spTree>
    <p:extLst>
      <p:ext uri="{BB962C8B-B14F-4D97-AF65-F5344CB8AC3E}">
        <p14:creationId xmlns:p14="http://schemas.microsoft.com/office/powerpoint/2010/main" val="18972034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11</a:t>
            </a:fld>
            <a:endParaRPr lang="en-GB"/>
          </a:p>
        </p:txBody>
      </p:sp>
    </p:spTree>
    <p:extLst>
      <p:ext uri="{BB962C8B-B14F-4D97-AF65-F5344CB8AC3E}">
        <p14:creationId xmlns:p14="http://schemas.microsoft.com/office/powerpoint/2010/main" val="12514194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12</a:t>
            </a:fld>
            <a:endParaRPr lang="en-GB"/>
          </a:p>
        </p:txBody>
      </p:sp>
    </p:spTree>
    <p:extLst>
      <p:ext uri="{BB962C8B-B14F-4D97-AF65-F5344CB8AC3E}">
        <p14:creationId xmlns:p14="http://schemas.microsoft.com/office/powerpoint/2010/main" val="34930361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13</a:t>
            </a:fld>
            <a:endParaRPr lang="en-GB"/>
          </a:p>
        </p:txBody>
      </p:sp>
    </p:spTree>
    <p:extLst>
      <p:ext uri="{BB962C8B-B14F-4D97-AF65-F5344CB8AC3E}">
        <p14:creationId xmlns:p14="http://schemas.microsoft.com/office/powerpoint/2010/main" val="16322662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14</a:t>
            </a:fld>
            <a:endParaRPr lang="en-GB"/>
          </a:p>
        </p:txBody>
      </p:sp>
    </p:spTree>
    <p:extLst>
      <p:ext uri="{BB962C8B-B14F-4D97-AF65-F5344CB8AC3E}">
        <p14:creationId xmlns:p14="http://schemas.microsoft.com/office/powerpoint/2010/main" val="38363246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038C620-66DA-4790-935B-E6182668FA18}" type="slidenum">
              <a:rPr lang="en-GB" smtClean="0"/>
              <a:t>15</a:t>
            </a:fld>
            <a:endParaRPr lang="en-GB"/>
          </a:p>
        </p:txBody>
      </p:sp>
    </p:spTree>
    <p:extLst>
      <p:ext uri="{BB962C8B-B14F-4D97-AF65-F5344CB8AC3E}">
        <p14:creationId xmlns:p14="http://schemas.microsoft.com/office/powerpoint/2010/main" val="9458913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10/09/2024</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10/09/2024</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10/09/2024</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10/09/2024</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10/09/2024</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10/09/2024</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10/09/2024</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10/09/2024</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10/09/2024</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10/09/2024</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Picture 8" descr="Shape, rectangle&#10;&#10;Description automatically generated">
            <a:extLst>
              <a:ext uri="{FF2B5EF4-FFF2-40B4-BE49-F238E27FC236}">
                <a16:creationId xmlns:a16="http://schemas.microsoft.com/office/drawing/2014/main" id="{9E872171-DDA3-8241-A182-0AFA884F91D7}"/>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794"/>
            <a:ext cx="12192000" cy="1616288"/>
          </a:xfrm>
          <a:prstGeom prst="rect">
            <a:avLst/>
          </a:prstGeom>
        </p:spPr>
      </p:pic>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jp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346DB13-257C-4484-9CB0-C755672B55D3}"/>
              </a:ext>
            </a:extLst>
          </p:cNvPr>
          <p:cNvSpPr/>
          <p:nvPr/>
        </p:nvSpPr>
        <p:spPr>
          <a:xfrm>
            <a:off x="2709208" y="4165132"/>
            <a:ext cx="4245265" cy="400110"/>
          </a:xfrm>
          <a:prstGeom prst="rect">
            <a:avLst/>
          </a:prstGeom>
        </p:spPr>
        <p:txBody>
          <a:bodyPr wrap="none">
            <a:spAutoFit/>
          </a:bodyPr>
          <a:lstStyle/>
          <a:p>
            <a:r>
              <a:rPr lang="en-GB" sz="2000" b="1" dirty="0">
                <a:solidFill>
                  <a:srgbClr val="0075BE"/>
                </a:solidFill>
                <a:latin typeface="Calibri" panose="020F0502020204030204" pitchFamily="34" charset="0"/>
                <a:ea typeface="Times New Roman" panose="02020603050405020304" pitchFamily="18" charset="0"/>
              </a:rPr>
              <a:t>Lesson 1: A history of word processing</a:t>
            </a:r>
            <a:endParaRPr lang="en-GB" sz="2000" b="1" dirty="0">
              <a:solidFill>
                <a:srgbClr val="0075BE"/>
              </a:solidFill>
            </a:endParaRPr>
          </a:p>
        </p:txBody>
      </p:sp>
      <p:pic>
        <p:nvPicPr>
          <p:cNvPr id="5" name="Picture 4">
            <a:extLst>
              <a:ext uri="{FF2B5EF4-FFF2-40B4-BE49-F238E27FC236}">
                <a16:creationId xmlns:a16="http://schemas.microsoft.com/office/drawing/2014/main" id="{6DDE5778-FF08-4B99-B822-52F22D0D1974}"/>
              </a:ext>
            </a:extLst>
          </p:cNvPr>
          <p:cNvPicPr>
            <a:picLocks noChangeAspect="1"/>
          </p:cNvPicPr>
          <p:nvPr/>
        </p:nvPicPr>
        <p:blipFill>
          <a:blip r:embed="rId3"/>
          <a:stretch>
            <a:fillRect/>
          </a:stretch>
        </p:blipFill>
        <p:spPr>
          <a:xfrm>
            <a:off x="7997868" y="2740504"/>
            <a:ext cx="1519603" cy="2849256"/>
          </a:xfrm>
          <a:prstGeom prst="rect">
            <a:avLst/>
          </a:prstGeom>
          <a:effectLst>
            <a:outerShdw blurRad="50800" dist="38100" dir="2700000" algn="tl" rotWithShape="0">
              <a:prstClr val="black">
                <a:alpha val="40000"/>
              </a:prstClr>
            </a:outerShdw>
          </a:effectLst>
        </p:spPr>
      </p:pic>
      <p:sp>
        <p:nvSpPr>
          <p:cNvPr id="6" name="Title 1">
            <a:extLst>
              <a:ext uri="{FF2B5EF4-FFF2-40B4-BE49-F238E27FC236}">
                <a16:creationId xmlns:a16="http://schemas.microsoft.com/office/drawing/2014/main" id="{8523741E-2DB0-46E0-910C-A87026F962D6}"/>
              </a:ext>
            </a:extLst>
          </p:cNvPr>
          <p:cNvSpPr txBox="1">
            <a:spLocks/>
          </p:cNvSpPr>
          <p:nvPr/>
        </p:nvSpPr>
        <p:spPr>
          <a:xfrm>
            <a:off x="906011" y="2642532"/>
            <a:ext cx="6048462" cy="1522600"/>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n-GB" sz="4400" b="1" dirty="0"/>
              <a:t>Computing: </a:t>
            </a:r>
          </a:p>
          <a:p>
            <a:pPr algn="r"/>
            <a:r>
              <a:rPr lang="en-GB" sz="4400" b="1" dirty="0"/>
              <a:t>past, present and future</a:t>
            </a:r>
          </a:p>
        </p:txBody>
      </p:sp>
    </p:spTree>
    <p:extLst>
      <p:ext uri="{BB962C8B-B14F-4D97-AF65-F5344CB8AC3E}">
        <p14:creationId xmlns:p14="http://schemas.microsoft.com/office/powerpoint/2010/main" val="719704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10413" y="798504"/>
            <a:ext cx="9634330" cy="766349"/>
          </a:xfrm>
        </p:spPr>
        <p:txBody>
          <a:bodyPr/>
          <a:lstStyle/>
          <a:p>
            <a:r>
              <a:rPr lang="en-GB" b="1" dirty="0">
                <a:solidFill>
                  <a:schemeClr val="bg1"/>
                </a:solidFill>
              </a:rPr>
              <a:t>Objectives</a:t>
            </a:r>
          </a:p>
        </p:txBody>
      </p:sp>
      <p:sp>
        <p:nvSpPr>
          <p:cNvPr id="4" name="Rectangle 3">
            <a:extLst>
              <a:ext uri="{FF2B5EF4-FFF2-40B4-BE49-F238E27FC236}">
                <a16:creationId xmlns:a16="http://schemas.microsoft.com/office/drawing/2014/main" id="{AA491288-4946-45B1-B65E-CD47ACDBD79E}"/>
              </a:ext>
            </a:extLst>
          </p:cNvPr>
          <p:cNvSpPr/>
          <p:nvPr/>
        </p:nvSpPr>
        <p:spPr>
          <a:xfrm>
            <a:off x="1610412" y="2944860"/>
            <a:ext cx="6854079" cy="1392112"/>
          </a:xfrm>
          <a:prstGeom prst="rect">
            <a:avLst/>
          </a:prstGeom>
        </p:spPr>
        <p:txBody>
          <a:bodyPr wrap="square">
            <a:spAutoFit/>
          </a:bodyPr>
          <a:lstStyle/>
          <a:p>
            <a:pPr>
              <a:lnSpc>
                <a:spcPct val="107000"/>
              </a:lnSpc>
              <a:spcAft>
                <a:spcPts val="0"/>
              </a:spcAft>
            </a:pPr>
            <a:r>
              <a:rPr lang="en-GB" sz="3200" dirty="0">
                <a:latin typeface="Calibri" panose="020F0502020204030204" pitchFamily="34" charset="0"/>
                <a:ea typeface="Arial" panose="020B0604020202020204" pitchFamily="34" charset="0"/>
                <a:cs typeface="Calibri" panose="020F0502020204030204" pitchFamily="34" charset="0"/>
              </a:rPr>
              <a:t>In this lesson, you will:</a:t>
            </a:r>
            <a:endParaRPr lang="en-GB" sz="32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GB" sz="2400" dirty="0">
                <a:latin typeface="Calibri" panose="020F0502020204030204" pitchFamily="34" charset="0"/>
                <a:ea typeface="Calibri" panose="020F0502020204030204" pitchFamily="34" charset="0"/>
                <a:cs typeface="Calibri" panose="020F0502020204030204" pitchFamily="34" charset="0"/>
              </a:rPr>
              <a:t>learn about the history of word processing</a:t>
            </a:r>
            <a:endParaRPr lang="en-GB" sz="24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GB" sz="2400" dirty="0">
                <a:latin typeface="Calibri" panose="020F0502020204030204" pitchFamily="34" charset="0"/>
                <a:ea typeface="Calibri" panose="020F0502020204030204" pitchFamily="34" charset="0"/>
                <a:cs typeface="Calibri" panose="020F0502020204030204" pitchFamily="34" charset="0"/>
              </a:rPr>
              <a:t>familiarise yourself with word-processing software.</a:t>
            </a:r>
            <a:endParaRPr lang="en-GB" sz="2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10413" y="798504"/>
            <a:ext cx="9634330" cy="766349"/>
          </a:xfrm>
        </p:spPr>
        <p:txBody>
          <a:bodyPr/>
          <a:lstStyle/>
          <a:p>
            <a:r>
              <a:rPr lang="en-GB" b="1" dirty="0" smtClean="0">
                <a:solidFill>
                  <a:schemeClr val="bg1"/>
                </a:solidFill>
              </a:rPr>
              <a:t>Do Now</a:t>
            </a:r>
            <a:endParaRPr lang="en-GB" b="1" dirty="0">
              <a:solidFill>
                <a:schemeClr val="bg1"/>
              </a:solidFill>
            </a:endParaRPr>
          </a:p>
        </p:txBody>
      </p:sp>
      <p:sp>
        <p:nvSpPr>
          <p:cNvPr id="4" name="Rectangle 3">
            <a:extLst>
              <a:ext uri="{FF2B5EF4-FFF2-40B4-BE49-F238E27FC236}">
                <a16:creationId xmlns:a16="http://schemas.microsoft.com/office/drawing/2014/main" id="{AA491288-4946-45B1-B65E-CD47ACDBD79E}"/>
              </a:ext>
            </a:extLst>
          </p:cNvPr>
          <p:cNvSpPr/>
          <p:nvPr/>
        </p:nvSpPr>
        <p:spPr>
          <a:xfrm>
            <a:off x="1610412" y="2944860"/>
            <a:ext cx="6854079" cy="1409617"/>
          </a:xfrm>
          <a:prstGeom prst="rect">
            <a:avLst/>
          </a:prstGeom>
        </p:spPr>
        <p:txBody>
          <a:bodyPr wrap="square">
            <a:spAutoFit/>
          </a:bodyPr>
          <a:lstStyle/>
          <a:p>
            <a:pPr>
              <a:lnSpc>
                <a:spcPct val="107000"/>
              </a:lnSpc>
              <a:spcAft>
                <a:spcPts val="0"/>
              </a:spcAft>
            </a:pPr>
            <a:r>
              <a:rPr lang="en-GB" sz="3200" dirty="0" smtClean="0">
                <a:latin typeface="Calibri" panose="020F0502020204030204" pitchFamily="34" charset="0"/>
                <a:ea typeface="Arial" panose="020B0604020202020204" pitchFamily="34" charset="0"/>
                <a:cs typeface="Calibri" panose="020F0502020204030204" pitchFamily="34" charset="0"/>
              </a:rPr>
              <a:t>Discuss in pairs</a:t>
            </a:r>
            <a:r>
              <a:rPr lang="en-GB" sz="3200" dirty="0" smtClean="0">
                <a:latin typeface="Calibri" panose="020F0502020204030204" pitchFamily="34" charset="0"/>
                <a:ea typeface="Arial" panose="020B0604020202020204" pitchFamily="34" charset="0"/>
                <a:cs typeface="Calibri" panose="020F0502020204030204" pitchFamily="34" charset="0"/>
              </a:rPr>
              <a:t>:</a:t>
            </a:r>
            <a:endParaRPr lang="en-GB" sz="32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2400" dirty="0">
                <a:latin typeface="Calibri" panose="020F0502020204030204" pitchFamily="34" charset="0"/>
                <a:ea typeface="Calibri" panose="020F0502020204030204" pitchFamily="34" charset="0"/>
                <a:cs typeface="Calibri" panose="020F0502020204030204" pitchFamily="34" charset="0"/>
              </a:rPr>
              <a:t>How did people process words in </a:t>
            </a:r>
            <a:r>
              <a:rPr lang="en-US" sz="2400" dirty="0" smtClean="0">
                <a:latin typeface="Calibri" panose="020F0502020204030204" pitchFamily="34" charset="0"/>
                <a:ea typeface="Calibri" panose="020F0502020204030204" pitchFamily="34" charset="0"/>
                <a:cs typeface="Calibri" panose="020F0502020204030204" pitchFamily="34" charset="0"/>
              </a:rPr>
              <a:t>past?</a:t>
            </a:r>
          </a:p>
          <a:p>
            <a:pPr marL="342900" lvl="0" indent="-342900">
              <a:lnSpc>
                <a:spcPct val="107000"/>
              </a:lnSpc>
              <a:spcAft>
                <a:spcPts val="0"/>
              </a:spcAft>
              <a:buFont typeface="Symbol" panose="05050102010706020507" pitchFamily="18" charset="2"/>
              <a:buChar char=""/>
            </a:pPr>
            <a:r>
              <a:rPr lang="en-US" sz="2400" dirty="0" smtClean="0">
                <a:latin typeface="Calibri" panose="020F0502020204030204" pitchFamily="34" charset="0"/>
                <a:ea typeface="Calibri" panose="020F0502020204030204" pitchFamily="34" charset="0"/>
                <a:cs typeface="Calibri" panose="020F0502020204030204" pitchFamily="34" charset="0"/>
              </a:rPr>
              <a:t>What </a:t>
            </a:r>
            <a:r>
              <a:rPr lang="en-US" sz="2400" dirty="0">
                <a:latin typeface="Calibri" panose="020F0502020204030204" pitchFamily="34" charset="0"/>
                <a:ea typeface="Calibri" panose="020F0502020204030204" pitchFamily="34" charset="0"/>
                <a:cs typeface="Calibri" panose="020F0502020204030204" pitchFamily="34" charset="0"/>
              </a:rPr>
              <a:t>word-processing </a:t>
            </a:r>
            <a:r>
              <a:rPr lang="en-US" sz="2400" dirty="0" smtClean="0">
                <a:latin typeface="Calibri" panose="020F0502020204030204" pitchFamily="34" charset="0"/>
                <a:ea typeface="Calibri" panose="020F0502020204030204" pitchFamily="34" charset="0"/>
                <a:cs typeface="Calibri" panose="020F0502020204030204" pitchFamily="34" charset="0"/>
              </a:rPr>
              <a:t>software </a:t>
            </a:r>
            <a:r>
              <a:rPr lang="en-US" sz="2400" dirty="0">
                <a:latin typeface="Calibri" panose="020F0502020204030204" pitchFamily="34" charset="0"/>
                <a:ea typeface="Calibri" panose="020F0502020204030204" pitchFamily="34" charset="0"/>
                <a:cs typeface="Calibri" panose="020F0502020204030204" pitchFamily="34" charset="0"/>
              </a:rPr>
              <a:t>do you </a:t>
            </a:r>
            <a:r>
              <a:rPr lang="en-US" sz="2400" dirty="0" smtClean="0">
                <a:latin typeface="Calibri" panose="020F0502020204030204" pitchFamily="34" charset="0"/>
                <a:ea typeface="Calibri" panose="020F0502020204030204" pitchFamily="34" charset="0"/>
                <a:cs typeface="Calibri" panose="020F0502020204030204" pitchFamily="34" charset="0"/>
              </a:rPr>
              <a:t>know?</a:t>
            </a:r>
            <a:endParaRPr lang="en-GB" sz="2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739987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ext, letter&#10;&#10;Description automatically generated">
            <a:extLst>
              <a:ext uri="{FF2B5EF4-FFF2-40B4-BE49-F238E27FC236}">
                <a16:creationId xmlns:a16="http://schemas.microsoft.com/office/drawing/2014/main" id="{6A8990DA-0842-4789-8C6C-9AF61CEC143B}"/>
              </a:ext>
            </a:extLst>
          </p:cNvPr>
          <p:cNvPicPr>
            <a:picLocks noChangeAspect="1"/>
          </p:cNvPicPr>
          <p:nvPr/>
        </p:nvPicPr>
        <p:blipFill>
          <a:blip r:embed="rId3" cstate="hqprint">
            <a:extLst>
              <a:ext uri="{28A0092B-C50C-407E-A947-70E740481C1C}">
                <a14:useLocalDpi xmlns:a14="http://schemas.microsoft.com/office/drawing/2010/main" val="0"/>
              </a:ext>
            </a:extLst>
          </a:blip>
          <a:stretch>
            <a:fillRect/>
          </a:stretch>
        </p:blipFill>
        <p:spPr>
          <a:xfrm>
            <a:off x="7255474" y="1940678"/>
            <a:ext cx="4326926" cy="4218626"/>
          </a:xfrm>
          <a:prstGeom prst="rect">
            <a:avLst/>
          </a:prstGeom>
        </p:spPr>
      </p:pic>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05489" y="794492"/>
            <a:ext cx="9773478" cy="845862"/>
          </a:xfrm>
        </p:spPr>
        <p:txBody>
          <a:bodyPr/>
          <a:lstStyle/>
          <a:p>
            <a:r>
              <a:rPr lang="en-GB" b="1" dirty="0">
                <a:solidFill>
                  <a:schemeClr val="bg1"/>
                </a:solidFill>
              </a:rPr>
              <a:t>Writing by hand</a:t>
            </a:r>
          </a:p>
        </p:txBody>
      </p:sp>
      <p:sp>
        <p:nvSpPr>
          <p:cNvPr id="5" name="Rectangle 4">
            <a:extLst>
              <a:ext uri="{FF2B5EF4-FFF2-40B4-BE49-F238E27FC236}">
                <a16:creationId xmlns:a16="http://schemas.microsoft.com/office/drawing/2014/main" id="{29658F74-D4B7-4945-B6CD-E0EFF9A5666D}"/>
              </a:ext>
            </a:extLst>
          </p:cNvPr>
          <p:cNvSpPr/>
          <p:nvPr/>
        </p:nvSpPr>
        <p:spPr>
          <a:xfrm>
            <a:off x="1605489" y="2380590"/>
            <a:ext cx="5378785" cy="3338799"/>
          </a:xfrm>
          <a:prstGeom prst="rect">
            <a:avLst/>
          </a:prstGeom>
        </p:spPr>
        <p:txBody>
          <a:bodyPr wrap="square">
            <a:spAutoFit/>
          </a:bodyPr>
          <a:lstStyle/>
          <a:p>
            <a:pPr>
              <a:lnSpc>
                <a:spcPct val="107000"/>
              </a:lnSpc>
              <a:spcAft>
                <a:spcPts val="0"/>
              </a:spcAft>
            </a:pPr>
            <a:r>
              <a:rPr lang="en-GB" sz="2400" dirty="0">
                <a:latin typeface="Calibri" panose="020F0502020204030204" pitchFamily="34" charset="0"/>
                <a:ea typeface="Calibri" panose="020F0502020204030204" pitchFamily="34" charset="0"/>
                <a:cs typeface="Calibri" panose="020F0502020204030204" pitchFamily="34" charset="0"/>
              </a:rPr>
              <a:t>Before word-processing applications, most people hand-wrote documents.</a:t>
            </a:r>
            <a:endParaRPr lang="en-GB" sz="24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endParaRPr lang="en-GB" sz="2400" b="1" dirty="0">
              <a:solidFill>
                <a:srgbClr val="FF0000"/>
              </a:solidFill>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GB" sz="2400" dirty="0">
                <a:latin typeface="Calibri" panose="020F0502020204030204" pitchFamily="34" charset="0"/>
                <a:ea typeface="Calibri" panose="020F0502020204030204" pitchFamily="34" charset="0"/>
                <a:cs typeface="Times New Roman" panose="02020603050405020304" pitchFamily="18" charset="0"/>
              </a:rPr>
              <a:t>This is a page from </a:t>
            </a:r>
            <a:r>
              <a:rPr lang="en-GB" sz="2400" i="1" dirty="0">
                <a:latin typeface="Calibri" panose="020F0502020204030204" pitchFamily="34" charset="0"/>
                <a:ea typeface="Calibri" panose="020F0502020204030204" pitchFamily="34" charset="0"/>
                <a:cs typeface="Times New Roman" panose="02020603050405020304" pitchFamily="18" charset="0"/>
              </a:rPr>
              <a:t>The Picture of Dorian </a:t>
            </a:r>
            <a:r>
              <a:rPr lang="en-GB" sz="2400" i="1" dirty="0" err="1">
                <a:latin typeface="Calibri" panose="020F0502020204030204" pitchFamily="34" charset="0"/>
                <a:ea typeface="Calibri" panose="020F0502020204030204" pitchFamily="34" charset="0"/>
                <a:cs typeface="Times New Roman" panose="02020603050405020304" pitchFamily="18" charset="0"/>
              </a:rPr>
              <a:t>Gray</a:t>
            </a:r>
            <a:r>
              <a:rPr lang="en-GB" sz="2400" dirty="0">
                <a:latin typeface="Calibri" panose="020F0502020204030204" pitchFamily="34" charset="0"/>
                <a:ea typeface="Calibri" panose="020F0502020204030204" pitchFamily="34" charset="0"/>
                <a:cs typeface="Times New Roman" panose="02020603050405020304" pitchFamily="18" charset="0"/>
              </a:rPr>
              <a:t> by Oscar Wilde, which was first published in 1890. The printed book has about 300 pages. Imagine writing 300 pages by hand!</a:t>
            </a:r>
          </a:p>
        </p:txBody>
      </p:sp>
    </p:spTree>
    <p:extLst>
      <p:ext uri="{BB962C8B-B14F-4D97-AF65-F5344CB8AC3E}">
        <p14:creationId xmlns:p14="http://schemas.microsoft.com/office/powerpoint/2010/main" val="11661668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594911" y="787653"/>
            <a:ext cx="9733721" cy="835923"/>
          </a:xfrm>
        </p:spPr>
        <p:txBody>
          <a:bodyPr/>
          <a:lstStyle/>
          <a:p>
            <a:r>
              <a:rPr lang="en-GB" b="1" dirty="0">
                <a:solidFill>
                  <a:schemeClr val="bg1"/>
                </a:solidFill>
              </a:rPr>
              <a:t>Using a typewriter</a:t>
            </a:r>
          </a:p>
        </p:txBody>
      </p:sp>
      <p:sp>
        <p:nvSpPr>
          <p:cNvPr id="7" name="Rectangle 6">
            <a:extLst>
              <a:ext uri="{FF2B5EF4-FFF2-40B4-BE49-F238E27FC236}">
                <a16:creationId xmlns:a16="http://schemas.microsoft.com/office/drawing/2014/main" id="{B158124E-82C7-4BAC-840D-9BFEF075D348}"/>
              </a:ext>
            </a:extLst>
          </p:cNvPr>
          <p:cNvSpPr/>
          <p:nvPr/>
        </p:nvSpPr>
        <p:spPr>
          <a:xfrm>
            <a:off x="1594911" y="2036972"/>
            <a:ext cx="6303764" cy="2974532"/>
          </a:xfrm>
          <a:prstGeom prst="rect">
            <a:avLst/>
          </a:prstGeom>
        </p:spPr>
        <p:txBody>
          <a:bodyPr wrap="square">
            <a:spAutoFit/>
          </a:bodyPr>
          <a:lstStyle/>
          <a:p>
            <a:pPr>
              <a:lnSpc>
                <a:spcPct val="107000"/>
              </a:lnSpc>
              <a:spcAft>
                <a:spcPts val="0"/>
              </a:spcAft>
            </a:pPr>
            <a:r>
              <a:rPr lang="en-GB" sz="2200" dirty="0">
                <a:latin typeface="Calibri" panose="020F0502020204030204" pitchFamily="34" charset="0"/>
                <a:ea typeface="Calibri" panose="020F0502020204030204" pitchFamily="34" charset="0"/>
                <a:cs typeface="Calibri" panose="020F0502020204030204" pitchFamily="34" charset="0"/>
              </a:rPr>
              <a:t>From the mid-nineteenth century, people who wrote a lot were able to make use of a mechanical device known as a typewriter to format their text.</a:t>
            </a:r>
            <a:endParaRPr lang="en-GB" sz="22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0"/>
              </a:spcAft>
            </a:pPr>
            <a:r>
              <a:rPr lang="en-GB" sz="2200" dirty="0">
                <a:latin typeface="Calibri" panose="020F0502020204030204" pitchFamily="34" charset="0"/>
                <a:ea typeface="Arial" panose="020B0604020202020204" pitchFamily="34" charset="0"/>
                <a:cs typeface="Calibri" panose="020F0502020204030204" pitchFamily="34" charset="0"/>
              </a:rPr>
              <a:t>A typewriter is a mechanical text-printing machine.</a:t>
            </a:r>
            <a:endParaRPr lang="en-GB" sz="22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0"/>
              </a:spcAft>
            </a:pPr>
            <a:r>
              <a:rPr lang="en-GB" sz="2200" dirty="0">
                <a:latin typeface="Calibri" panose="020F0502020204030204" pitchFamily="34" charset="0"/>
                <a:ea typeface="Arial" panose="020B0604020202020204" pitchFamily="34" charset="0"/>
                <a:cs typeface="Calibri" panose="020F0502020204030204" pitchFamily="34" charset="0"/>
              </a:rPr>
              <a:t>The text is printed directly onto sheets of paper and there is only one font and one font size. </a:t>
            </a:r>
          </a:p>
          <a:p>
            <a:pPr>
              <a:lnSpc>
                <a:spcPct val="107000"/>
              </a:lnSpc>
              <a:spcAft>
                <a:spcPts val="0"/>
              </a:spcAft>
            </a:pPr>
            <a:r>
              <a:rPr lang="en-GB" sz="2200" dirty="0">
                <a:latin typeface="Calibri" panose="020F0502020204030204" pitchFamily="34" charset="0"/>
                <a:ea typeface="Arial" panose="020B0604020202020204" pitchFamily="34" charset="0"/>
                <a:cs typeface="Calibri" panose="020F0502020204030204" pitchFamily="34" charset="0"/>
              </a:rPr>
              <a:t>Some typewriters can type in two colours, black and red, but most type only in black.</a:t>
            </a:r>
            <a:endParaRPr lang="en-GB" sz="2200" dirty="0">
              <a:latin typeface="Calibri" panose="020F0502020204030204" pitchFamily="34" charset="0"/>
              <a:ea typeface="Calibri" panose="020F0502020204030204" pitchFamily="34" charset="0"/>
              <a:cs typeface="Times New Roman" panose="02020603050405020304" pitchFamily="18" charset="0"/>
            </a:endParaRPr>
          </a:p>
        </p:txBody>
      </p:sp>
      <p:pic>
        <p:nvPicPr>
          <p:cNvPr id="4" name="Picture 3" descr="A picture containing typewriter&#10;&#10;Description automatically generated">
            <a:extLst>
              <a:ext uri="{FF2B5EF4-FFF2-40B4-BE49-F238E27FC236}">
                <a16:creationId xmlns:a16="http://schemas.microsoft.com/office/drawing/2014/main" id="{0C5D6F56-1D8F-479E-9BB7-64109E001406}"/>
              </a:ext>
            </a:extLst>
          </p:cNvPr>
          <p:cNvPicPr>
            <a:picLocks noChangeAspect="1"/>
          </p:cNvPicPr>
          <p:nvPr/>
        </p:nvPicPr>
        <p:blipFill>
          <a:blip r:embed="rId3" cstate="hqprint">
            <a:extLst>
              <a:ext uri="{28A0092B-C50C-407E-A947-70E740481C1C}">
                <a14:useLocalDpi xmlns:a14="http://schemas.microsoft.com/office/drawing/2010/main" val="0"/>
              </a:ext>
            </a:extLst>
          </a:blip>
          <a:stretch>
            <a:fillRect/>
          </a:stretch>
        </p:blipFill>
        <p:spPr>
          <a:xfrm>
            <a:off x="8199783" y="2285444"/>
            <a:ext cx="3714514" cy="2477588"/>
          </a:xfrm>
          <a:prstGeom prst="rect">
            <a:avLst/>
          </a:prstGeom>
        </p:spPr>
      </p:pic>
      <p:sp>
        <p:nvSpPr>
          <p:cNvPr id="5" name="Rectangle 4">
            <a:extLst>
              <a:ext uri="{FF2B5EF4-FFF2-40B4-BE49-F238E27FC236}">
                <a16:creationId xmlns:a16="http://schemas.microsoft.com/office/drawing/2014/main" id="{F5302BDE-8AEB-42B9-8996-DC0D42BE8DC4}"/>
              </a:ext>
            </a:extLst>
          </p:cNvPr>
          <p:cNvSpPr/>
          <p:nvPr/>
        </p:nvSpPr>
        <p:spPr>
          <a:xfrm>
            <a:off x="1594911" y="4897737"/>
            <a:ext cx="9221136" cy="1163139"/>
          </a:xfrm>
          <a:prstGeom prst="rect">
            <a:avLst/>
          </a:prstGeom>
        </p:spPr>
        <p:txBody>
          <a:bodyPr wrap="square">
            <a:spAutoFit/>
          </a:bodyPr>
          <a:lstStyle/>
          <a:p>
            <a:pPr>
              <a:lnSpc>
                <a:spcPct val="107000"/>
              </a:lnSpc>
              <a:spcAft>
                <a:spcPts val="0"/>
              </a:spcAft>
            </a:pPr>
            <a:r>
              <a:rPr lang="en-GB" sz="2200" dirty="0">
                <a:latin typeface="Calibri" panose="020F0502020204030204" pitchFamily="34" charset="0"/>
                <a:ea typeface="Arial" panose="020B0604020202020204" pitchFamily="34" charset="0"/>
                <a:cs typeface="Calibri" panose="020F0502020204030204" pitchFamily="34" charset="0"/>
              </a:rPr>
              <a:t>Documents can be duplicated using carbon paper (thin sheets of paper coated in carbon that are placed between sheets of paper ensuring the text is appears on each page).</a:t>
            </a:r>
            <a:endParaRPr lang="en-GB" sz="2200" dirty="0">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005745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1" y="786103"/>
            <a:ext cx="9753599" cy="845862"/>
          </a:xfrm>
        </p:spPr>
        <p:txBody>
          <a:bodyPr/>
          <a:lstStyle/>
          <a:p>
            <a:r>
              <a:rPr lang="en-GB" b="1" dirty="0">
                <a:solidFill>
                  <a:schemeClr val="bg1"/>
                </a:solidFill>
              </a:rPr>
              <a:t>The first word-processing application </a:t>
            </a:r>
          </a:p>
        </p:txBody>
      </p:sp>
      <p:sp>
        <p:nvSpPr>
          <p:cNvPr id="10" name="Rectangle 9">
            <a:extLst>
              <a:ext uri="{FF2B5EF4-FFF2-40B4-BE49-F238E27FC236}">
                <a16:creationId xmlns:a16="http://schemas.microsoft.com/office/drawing/2014/main" id="{12C2E6A7-DC7D-4498-9B48-F86AA2BE8FFC}"/>
              </a:ext>
            </a:extLst>
          </p:cNvPr>
          <p:cNvSpPr/>
          <p:nvPr/>
        </p:nvSpPr>
        <p:spPr>
          <a:xfrm>
            <a:off x="1600201" y="2328031"/>
            <a:ext cx="8318862" cy="3110275"/>
          </a:xfrm>
          <a:prstGeom prst="rect">
            <a:avLst/>
          </a:prstGeom>
        </p:spPr>
        <p:txBody>
          <a:bodyPr wrap="square">
            <a:spAutoFit/>
          </a:bodyPr>
          <a:lstStyle/>
          <a:p>
            <a:pPr>
              <a:lnSpc>
                <a:spcPct val="107000"/>
              </a:lnSpc>
              <a:spcAft>
                <a:spcPts val="0"/>
              </a:spcAft>
            </a:pPr>
            <a:r>
              <a:rPr lang="en-GB" sz="2400" dirty="0">
                <a:latin typeface="Calibri" panose="020F0502020204030204" pitchFamily="34" charset="0"/>
                <a:ea typeface="Arial" panose="020B0604020202020204" pitchFamily="34" charset="0"/>
                <a:cs typeface="Calibri" panose="020F0502020204030204" pitchFamily="34" charset="0"/>
              </a:rPr>
              <a:t>It is impossible to assess the full impact that the invention of word processing has had on the world since t</a:t>
            </a:r>
            <a:r>
              <a:rPr lang="en-GB" sz="2400" dirty="0">
                <a:latin typeface="Calibri" panose="020F0502020204030204" pitchFamily="34" charset="0"/>
                <a:ea typeface="Calibri" panose="020F0502020204030204" pitchFamily="34" charset="0"/>
                <a:cs typeface="Calibri" panose="020F0502020204030204" pitchFamily="34" charset="0"/>
              </a:rPr>
              <a:t>he first commercial </a:t>
            </a:r>
            <a:r>
              <a:rPr lang="en-GB" sz="2400" b="1" dirty="0">
                <a:solidFill>
                  <a:srgbClr val="0069B4"/>
                </a:solidFill>
                <a:latin typeface="Calibri" panose="020F0502020204030204" pitchFamily="34" charset="0"/>
                <a:ea typeface="Calibri" panose="020F0502020204030204" pitchFamily="34" charset="0"/>
                <a:cs typeface="Calibri" panose="020F0502020204030204" pitchFamily="34" charset="0"/>
              </a:rPr>
              <a:t>word-processing software</a:t>
            </a:r>
            <a:r>
              <a:rPr lang="en-GB" sz="2400" dirty="0">
                <a:latin typeface="Calibri" panose="020F0502020204030204" pitchFamily="34" charset="0"/>
                <a:ea typeface="Calibri" panose="020F0502020204030204" pitchFamily="34" charset="0"/>
                <a:cs typeface="Calibri" panose="020F0502020204030204" pitchFamily="34" charset="0"/>
              </a:rPr>
              <a:t>, </a:t>
            </a:r>
            <a:r>
              <a:rPr lang="en-GB" sz="2400" b="1" dirty="0">
                <a:latin typeface="Calibri" panose="020F0502020204030204" pitchFamily="34" charset="0"/>
                <a:ea typeface="Calibri" panose="020F0502020204030204" pitchFamily="34" charset="0"/>
                <a:cs typeface="Calibri" panose="020F0502020204030204" pitchFamily="34" charset="0"/>
              </a:rPr>
              <a:t>Word Star</a:t>
            </a:r>
            <a:r>
              <a:rPr lang="en-GB" sz="2400" dirty="0">
                <a:latin typeface="Calibri" panose="020F0502020204030204" pitchFamily="34" charset="0"/>
                <a:ea typeface="Calibri" panose="020F0502020204030204" pitchFamily="34" charset="0"/>
                <a:cs typeface="Calibri" panose="020F0502020204030204" pitchFamily="34" charset="0"/>
              </a:rPr>
              <a:t>, was published in 1978.</a:t>
            </a:r>
          </a:p>
          <a:p>
            <a:pPr>
              <a:lnSpc>
                <a:spcPct val="107000"/>
              </a:lnSpc>
              <a:spcAft>
                <a:spcPts val="0"/>
              </a:spcAft>
            </a:pPr>
            <a:endParaRPr lang="en-GB" sz="2400" dirty="0">
              <a:latin typeface="Calibri" panose="020F0502020204030204" pitchFamily="34" charset="0"/>
              <a:ea typeface="Calibri" panose="020F0502020204030204" pitchFamily="34" charset="0"/>
              <a:cs typeface="Calibri" panose="020F0502020204030204" pitchFamily="34" charset="0"/>
            </a:endParaRPr>
          </a:p>
          <a:p>
            <a:pPr>
              <a:lnSpc>
                <a:spcPct val="107000"/>
              </a:lnSpc>
            </a:pPr>
            <a:r>
              <a:rPr lang="en-GB" sz="2400" dirty="0">
                <a:latin typeface="Calibri" panose="020F0502020204030204" pitchFamily="34" charset="0"/>
                <a:ea typeface="Calibri" panose="020F0502020204030204" pitchFamily="34" charset="0"/>
                <a:cs typeface="Calibri" panose="020F0502020204030204" pitchFamily="34" charset="0"/>
              </a:rPr>
              <a:t>T</a:t>
            </a:r>
            <a:r>
              <a:rPr lang="en-GB" sz="2400" dirty="0">
                <a:latin typeface="Calibri" panose="020F0502020204030204" pitchFamily="34" charset="0"/>
                <a:ea typeface="Arial" panose="020B0604020202020204" pitchFamily="34" charset="0"/>
                <a:cs typeface="Calibri" panose="020F0502020204030204" pitchFamily="34" charset="0"/>
              </a:rPr>
              <a:t>he combination of word-processing applications, spreadsheets and affordable personal computers triggered an explosion in the market for computers, both for office and home use.</a:t>
            </a:r>
            <a:endParaRPr lang="en-GB" sz="24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0"/>
              </a:spcAft>
            </a:pPr>
            <a:endParaRPr lang="en-GB" sz="16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538170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037685" cy="865740"/>
          </a:xfrm>
        </p:spPr>
        <p:txBody>
          <a:bodyPr>
            <a:normAutofit/>
          </a:bodyPr>
          <a:lstStyle/>
          <a:p>
            <a:r>
              <a:rPr lang="en-GB" b="1" dirty="0">
                <a:solidFill>
                  <a:schemeClr val="bg1"/>
                </a:solidFill>
              </a:rPr>
              <a:t>Activity 1.1: Documents through time</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2216" y="1967027"/>
            <a:ext cx="4587567" cy="4494840"/>
          </a:xfrm>
          <a:prstGeom prst="rect">
            <a:avLst/>
          </a:prstGeom>
        </p:spPr>
      </p:pic>
    </p:spTree>
    <p:extLst>
      <p:ext uri="{BB962C8B-B14F-4D97-AF65-F5344CB8AC3E}">
        <p14:creationId xmlns:p14="http://schemas.microsoft.com/office/powerpoint/2010/main" val="23738180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1" y="786103"/>
            <a:ext cx="9753599" cy="845862"/>
          </a:xfrm>
        </p:spPr>
        <p:txBody>
          <a:bodyPr/>
          <a:lstStyle/>
          <a:p>
            <a:r>
              <a:rPr lang="en-GB" b="1" dirty="0">
                <a:solidFill>
                  <a:schemeClr val="bg1"/>
                </a:solidFill>
              </a:rPr>
              <a:t>A mind map</a:t>
            </a:r>
          </a:p>
        </p:txBody>
      </p:sp>
      <p:sp>
        <p:nvSpPr>
          <p:cNvPr id="4" name="Rectangle 3">
            <a:extLst>
              <a:ext uri="{FF2B5EF4-FFF2-40B4-BE49-F238E27FC236}">
                <a16:creationId xmlns:a16="http://schemas.microsoft.com/office/drawing/2014/main" id="{938695C2-2C52-432C-8C1F-B0B56E73A8AE}"/>
              </a:ext>
            </a:extLst>
          </p:cNvPr>
          <p:cNvSpPr/>
          <p:nvPr/>
        </p:nvSpPr>
        <p:spPr>
          <a:xfrm>
            <a:off x="1600201" y="2579396"/>
            <a:ext cx="4184583" cy="2677656"/>
          </a:xfrm>
          <a:prstGeom prst="rect">
            <a:avLst/>
          </a:prstGeom>
        </p:spPr>
        <p:txBody>
          <a:bodyPr wrap="square">
            <a:spAutoFit/>
          </a:bodyPr>
          <a:lstStyle/>
          <a:p>
            <a:r>
              <a:rPr lang="en-GB" sz="2400" dirty="0">
                <a:latin typeface="Calibri" panose="020F0502020204030204" pitchFamily="34" charset="0"/>
                <a:ea typeface="Calibri" panose="020F0502020204030204" pitchFamily="34" charset="0"/>
              </a:rPr>
              <a:t>A mind map is diagram that organises information around a central concept or topic. Pieces of information are linked together, with more important information closer to the centre.</a:t>
            </a:r>
            <a:endParaRPr lang="en-GB" sz="2400" dirty="0"/>
          </a:p>
        </p:txBody>
      </p:sp>
      <p:pic>
        <p:nvPicPr>
          <p:cNvPr id="5" name="Picture 4" descr="Diagram, schematic&#10;&#10;Description automatically generated">
            <a:extLst>
              <a:ext uri="{FF2B5EF4-FFF2-40B4-BE49-F238E27FC236}">
                <a16:creationId xmlns:a16="http://schemas.microsoft.com/office/drawing/2014/main" id="{1133FA67-138A-4EBE-83B4-E44DDFCDFB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1869968"/>
            <a:ext cx="5330952" cy="4411822"/>
          </a:xfrm>
          <a:prstGeom prst="rect">
            <a:avLst/>
          </a:prstGeom>
        </p:spPr>
      </p:pic>
    </p:spTree>
    <p:extLst>
      <p:ext uri="{BB962C8B-B14F-4D97-AF65-F5344CB8AC3E}">
        <p14:creationId xmlns:p14="http://schemas.microsoft.com/office/powerpoint/2010/main" val="346921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594911" y="787653"/>
            <a:ext cx="9733721" cy="835923"/>
          </a:xfrm>
        </p:spPr>
        <p:txBody>
          <a:bodyPr>
            <a:noAutofit/>
          </a:bodyPr>
          <a:lstStyle/>
          <a:p>
            <a:r>
              <a:rPr lang="en-GB" sz="3200" b="1" dirty="0">
                <a:solidFill>
                  <a:schemeClr val="bg1"/>
                </a:solidFill>
              </a:rPr>
              <a:t>Using word-processing software to create a mind map</a:t>
            </a:r>
          </a:p>
        </p:txBody>
      </p:sp>
      <p:sp>
        <p:nvSpPr>
          <p:cNvPr id="4" name="Rectangle 3">
            <a:extLst>
              <a:ext uri="{FF2B5EF4-FFF2-40B4-BE49-F238E27FC236}">
                <a16:creationId xmlns:a16="http://schemas.microsoft.com/office/drawing/2014/main" id="{F5D20D14-5790-4D11-B5AA-5A4F799DB1B4}"/>
              </a:ext>
            </a:extLst>
          </p:cNvPr>
          <p:cNvSpPr/>
          <p:nvPr/>
        </p:nvSpPr>
        <p:spPr>
          <a:xfrm>
            <a:off x="1594911" y="2008979"/>
            <a:ext cx="9166133" cy="4061368"/>
          </a:xfrm>
          <a:prstGeom prst="rect">
            <a:avLst/>
          </a:prstGeom>
        </p:spPr>
        <p:txBody>
          <a:bodyPr wrap="square">
            <a:spAutoFit/>
          </a:bodyPr>
          <a:lstStyle/>
          <a:p>
            <a:pPr marL="342900" indent="-342900">
              <a:lnSpc>
                <a:spcPct val="107000"/>
              </a:lnSpc>
              <a:spcAft>
                <a:spcPts val="0"/>
              </a:spcAft>
              <a:buFont typeface="Arial" panose="020B0604020202020204" pitchFamily="34" charset="0"/>
              <a:buChar char="•"/>
            </a:pPr>
            <a:r>
              <a:rPr lang="en-GB" sz="2200" dirty="0">
                <a:latin typeface="Calibri" panose="020F0502020204030204" pitchFamily="34" charset="0"/>
                <a:ea typeface="Calibri" panose="020F0502020204030204" pitchFamily="34" charset="0"/>
                <a:cs typeface="Calibri" panose="020F0502020204030204" pitchFamily="34" charset="0"/>
              </a:rPr>
              <a:t>You can create a mind map in a Word document using ‘Shapes’ on the ‘Insert tab’ and typing text into the shapes.</a:t>
            </a:r>
          </a:p>
          <a:p>
            <a:pPr marL="342900" indent="-342900">
              <a:lnSpc>
                <a:spcPct val="107000"/>
              </a:lnSpc>
              <a:spcAft>
                <a:spcPts val="0"/>
              </a:spcAft>
              <a:buFont typeface="Arial" panose="020B0604020202020204" pitchFamily="34" charset="0"/>
              <a:buChar char="•"/>
            </a:pPr>
            <a:endParaRPr lang="en-GB" sz="2200" dirty="0">
              <a:latin typeface="Calibri" panose="020F0502020204030204" pitchFamily="34" charset="0"/>
              <a:ea typeface="Calibri" panose="020F0502020204030204" pitchFamily="34" charset="0"/>
              <a:cs typeface="Times New Roman" panose="02020603050405020304" pitchFamily="18" charset="0"/>
            </a:endParaRPr>
          </a:p>
          <a:p>
            <a:pPr marL="342900" indent="-342900">
              <a:lnSpc>
                <a:spcPct val="107000"/>
              </a:lnSpc>
              <a:spcAft>
                <a:spcPts val="0"/>
              </a:spcAft>
              <a:buFont typeface="Arial" panose="020B0604020202020204" pitchFamily="34" charset="0"/>
              <a:buChar char="•"/>
            </a:pPr>
            <a:r>
              <a:rPr lang="en-GB" sz="2200" dirty="0">
                <a:latin typeface="Calibri" panose="020F0502020204030204" pitchFamily="34" charset="0"/>
                <a:ea typeface="Calibri" panose="020F0502020204030204" pitchFamily="34" charset="0"/>
                <a:cs typeface="Calibri" panose="020F0502020204030204" pitchFamily="34" charset="0"/>
              </a:rPr>
              <a:t>You can create a mind map in Google Docs using the ‘Drawing’ tools on the ‘Insert’ tab and typing text into text boxes.</a:t>
            </a:r>
          </a:p>
          <a:p>
            <a:pPr marL="342900" indent="-342900">
              <a:lnSpc>
                <a:spcPct val="107000"/>
              </a:lnSpc>
              <a:spcAft>
                <a:spcPts val="0"/>
              </a:spcAft>
              <a:buFont typeface="Arial" panose="020B0604020202020204" pitchFamily="34" charset="0"/>
              <a:buChar char="•"/>
            </a:pPr>
            <a:endParaRPr lang="en-GB" sz="2200" dirty="0">
              <a:latin typeface="Calibri" panose="020F0502020204030204" pitchFamily="34" charset="0"/>
              <a:ea typeface="Calibri" panose="020F0502020204030204" pitchFamily="34" charset="0"/>
              <a:cs typeface="Times New Roman" panose="02020603050405020304" pitchFamily="18" charset="0"/>
            </a:endParaRPr>
          </a:p>
          <a:p>
            <a:pPr marL="342900" indent="-342900">
              <a:lnSpc>
                <a:spcPct val="107000"/>
              </a:lnSpc>
              <a:spcAft>
                <a:spcPts val="0"/>
              </a:spcAft>
              <a:buFont typeface="Arial" panose="020B0604020202020204" pitchFamily="34" charset="0"/>
              <a:buChar char="•"/>
            </a:pPr>
            <a:r>
              <a:rPr lang="en-GB" sz="2200" dirty="0">
                <a:latin typeface="Calibri" panose="020F0502020204030204" pitchFamily="34" charset="0"/>
                <a:ea typeface="Calibri" panose="020F0502020204030204" pitchFamily="34" charset="0"/>
                <a:cs typeface="Calibri" panose="020F0502020204030204" pitchFamily="34" charset="0"/>
              </a:rPr>
              <a:t>You can format the colour of the text and the fill colour and outline colour of the objects, and you can link your objects together using lines.</a:t>
            </a:r>
          </a:p>
          <a:p>
            <a:pPr marL="342900" indent="-342900">
              <a:lnSpc>
                <a:spcPct val="107000"/>
              </a:lnSpc>
              <a:spcAft>
                <a:spcPts val="0"/>
              </a:spcAft>
              <a:buFont typeface="Arial" panose="020B0604020202020204" pitchFamily="34" charset="0"/>
              <a:buChar char="•"/>
            </a:pPr>
            <a:endParaRPr lang="en-GB" sz="2200" dirty="0">
              <a:latin typeface="Calibri" panose="020F0502020204030204" pitchFamily="34" charset="0"/>
              <a:ea typeface="Calibri" panose="020F0502020204030204" pitchFamily="34" charset="0"/>
              <a:cs typeface="Times New Roman" panose="02020603050405020304" pitchFamily="18" charset="0"/>
            </a:endParaRPr>
          </a:p>
          <a:p>
            <a:pPr marL="342900" indent="-342900">
              <a:lnSpc>
                <a:spcPct val="107000"/>
              </a:lnSpc>
              <a:spcAft>
                <a:spcPts val="0"/>
              </a:spcAft>
              <a:buFont typeface="Arial" panose="020B0604020202020204" pitchFamily="34" charset="0"/>
              <a:buChar char="•"/>
            </a:pPr>
            <a:r>
              <a:rPr lang="en-GB" sz="2200" dirty="0">
                <a:latin typeface="Calibri" panose="020F0502020204030204" pitchFamily="34" charset="0"/>
                <a:ea typeface="Calibri" panose="020F0502020204030204" pitchFamily="34" charset="0"/>
                <a:cs typeface="Calibri" panose="020F0502020204030204" pitchFamily="34" charset="0"/>
              </a:rPr>
              <a:t>When you have finished your mind map, you should group the objects to create one block that can be moved and re-sized.</a:t>
            </a:r>
            <a:endParaRPr lang="en-GB" sz="22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531660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1" y="786103"/>
            <a:ext cx="9753599" cy="845862"/>
          </a:xfrm>
        </p:spPr>
        <p:txBody>
          <a:bodyPr/>
          <a:lstStyle/>
          <a:p>
            <a:r>
              <a:rPr lang="en-GB" b="1">
                <a:solidFill>
                  <a:schemeClr val="bg1"/>
                </a:solidFill>
              </a:rPr>
              <a:t>Activity 1.2: Creating a mind map</a:t>
            </a:r>
            <a:endParaRPr lang="en-GB" b="1" dirty="0">
              <a:solidFill>
                <a:schemeClr val="bg1"/>
              </a:solidFill>
            </a:endParaRPr>
          </a:p>
        </p:txBody>
      </p:sp>
      <p:pic>
        <p:nvPicPr>
          <p:cNvPr id="5" name="Picture 4" descr="A picture containing athletic game, basketball, sport&#10;&#10;Description automatically generated">
            <a:extLst>
              <a:ext uri="{FF2B5EF4-FFF2-40B4-BE49-F238E27FC236}">
                <a16:creationId xmlns:a16="http://schemas.microsoft.com/office/drawing/2014/main" id="{A21B9BB7-886A-4A39-BB70-1BFFF26024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00210" y="2160696"/>
            <a:ext cx="3463819" cy="3464851"/>
          </a:xfrm>
          <a:prstGeom prst="rect">
            <a:avLst/>
          </a:prstGeom>
        </p:spPr>
      </p:pic>
      <p:sp>
        <p:nvSpPr>
          <p:cNvPr id="7" name="Rectangle 6">
            <a:extLst>
              <a:ext uri="{FF2B5EF4-FFF2-40B4-BE49-F238E27FC236}">
                <a16:creationId xmlns:a16="http://schemas.microsoft.com/office/drawing/2014/main" id="{793FF4EB-4B10-47BD-B752-07129C598560}"/>
              </a:ext>
            </a:extLst>
          </p:cNvPr>
          <p:cNvSpPr/>
          <p:nvPr/>
        </p:nvSpPr>
        <p:spPr>
          <a:xfrm>
            <a:off x="4795789" y="2160697"/>
            <a:ext cx="6096000" cy="865173"/>
          </a:xfrm>
          <a:prstGeom prst="rect">
            <a:avLst/>
          </a:prstGeom>
        </p:spPr>
        <p:txBody>
          <a:bodyPr>
            <a:spAutoFit/>
          </a:bodyPr>
          <a:lstStyle/>
          <a:p>
            <a:pPr>
              <a:lnSpc>
                <a:spcPct val="107000"/>
              </a:lnSpc>
              <a:spcAft>
                <a:spcPts val="0"/>
              </a:spcAft>
            </a:pPr>
            <a:r>
              <a:rPr lang="en-GB" sz="2400" dirty="0">
                <a:latin typeface="Calibri" panose="020F0502020204030204" pitchFamily="34" charset="0"/>
                <a:ea typeface="Calibri" panose="020F0502020204030204" pitchFamily="34" charset="0"/>
                <a:cs typeface="Calibri" panose="020F0502020204030204" pitchFamily="34" charset="0"/>
              </a:rPr>
              <a:t>Here is an example of a part-completed mind map created using word-processing software:</a:t>
            </a:r>
            <a:endParaRPr lang="en-GB" sz="20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4" name="Picture 3" descr="Diagram&#10;&#10;Description automatically generated">
            <a:extLst>
              <a:ext uri="{FF2B5EF4-FFF2-40B4-BE49-F238E27FC236}">
                <a16:creationId xmlns:a16="http://schemas.microsoft.com/office/drawing/2014/main" id="{E3CE74A5-6C9A-4F2E-BB25-56180B8442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3188841"/>
            <a:ext cx="3724657" cy="2656687"/>
          </a:xfrm>
          <a:prstGeom prst="rect">
            <a:avLst/>
          </a:prstGeom>
        </p:spPr>
      </p:pic>
    </p:spTree>
    <p:extLst>
      <p:ext uri="{BB962C8B-B14F-4D97-AF65-F5344CB8AC3E}">
        <p14:creationId xmlns:p14="http://schemas.microsoft.com/office/powerpoint/2010/main" val="19154551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4BA82-FE7D-4DE6-BC00-A388E38B624C}"/>
              </a:ext>
            </a:extLst>
          </p:cNvPr>
          <p:cNvSpPr>
            <a:spLocks noGrp="1"/>
          </p:cNvSpPr>
          <p:nvPr>
            <p:ph type="title"/>
          </p:nvPr>
        </p:nvSpPr>
        <p:spPr>
          <a:xfrm>
            <a:off x="1618195" y="815637"/>
            <a:ext cx="9793357" cy="855801"/>
          </a:xfrm>
        </p:spPr>
        <p:txBody>
          <a:bodyPr/>
          <a:lstStyle/>
          <a:p>
            <a:r>
              <a:rPr lang="en-GB" b="1" dirty="0">
                <a:solidFill>
                  <a:schemeClr val="bg1"/>
                </a:solidFill>
              </a:rPr>
              <a:t>Finished but not complete?</a:t>
            </a:r>
          </a:p>
        </p:txBody>
      </p:sp>
      <p:sp>
        <p:nvSpPr>
          <p:cNvPr id="5" name="Rectangle 4">
            <a:extLst>
              <a:ext uri="{FF2B5EF4-FFF2-40B4-BE49-F238E27FC236}">
                <a16:creationId xmlns:a16="http://schemas.microsoft.com/office/drawing/2014/main" id="{09D3B1AA-D874-49EE-9441-24B4A752C118}"/>
              </a:ext>
            </a:extLst>
          </p:cNvPr>
          <p:cNvSpPr/>
          <p:nvPr/>
        </p:nvSpPr>
        <p:spPr>
          <a:xfrm>
            <a:off x="1618195" y="2092490"/>
            <a:ext cx="9354605" cy="3700244"/>
          </a:xfrm>
          <a:prstGeom prst="rect">
            <a:avLst/>
          </a:prstGeom>
        </p:spPr>
        <p:txBody>
          <a:bodyPr wrap="square">
            <a:spAutoFit/>
          </a:bodyPr>
          <a:lstStyle/>
          <a:p>
            <a:pPr>
              <a:lnSpc>
                <a:spcPct val="107000"/>
              </a:lnSpc>
              <a:spcAft>
                <a:spcPts val="0"/>
              </a:spcAft>
            </a:pPr>
            <a:r>
              <a:rPr lang="en-GB" sz="2000" dirty="0">
                <a:latin typeface="Calibri" panose="020F0502020204030204" pitchFamily="34" charset="0"/>
                <a:ea typeface="Calibri" panose="020F0502020204030204" pitchFamily="34" charset="0"/>
                <a:cs typeface="Calibri" panose="020F0502020204030204" pitchFamily="34" charset="0"/>
              </a:rPr>
              <a:t>It is very common for people to think they have finished a piece of work when it is very far from complete. </a:t>
            </a:r>
          </a:p>
          <a:p>
            <a:pPr>
              <a:lnSpc>
                <a:spcPct val="107000"/>
              </a:lnSpc>
              <a:spcAft>
                <a:spcPts val="0"/>
              </a:spcAft>
            </a:pPr>
            <a:r>
              <a:rPr lang="en-GB" sz="2000" dirty="0">
                <a:latin typeface="Calibri" panose="020F0502020204030204" pitchFamily="34" charset="0"/>
                <a:ea typeface="Calibri" panose="020F0502020204030204" pitchFamily="34" charset="0"/>
                <a:cs typeface="Calibri" panose="020F0502020204030204" pitchFamily="34" charset="0"/>
              </a:rPr>
              <a:t>Usually, more work is needed to produce something that is ready to share with others.</a:t>
            </a:r>
          </a:p>
          <a:p>
            <a:pPr>
              <a:lnSpc>
                <a:spcPct val="107000"/>
              </a:lnSpc>
              <a:spcAft>
                <a:spcPts val="0"/>
              </a:spcAft>
            </a:pP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0"/>
              </a:spcAft>
            </a:pPr>
            <a:r>
              <a:rPr lang="en-GB" sz="2000" dirty="0">
                <a:latin typeface="Calibri" panose="020F0502020204030204" pitchFamily="34" charset="0"/>
                <a:ea typeface="Calibri" panose="020F0502020204030204" pitchFamily="34" charset="0"/>
                <a:cs typeface="Calibri" panose="020F0502020204030204" pitchFamily="34" charset="0"/>
              </a:rPr>
              <a:t>When you think you have finished, remember to:</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GB" sz="2000" b="1" dirty="0">
                <a:latin typeface="Calibri" panose="020F0502020204030204" pitchFamily="34" charset="0"/>
                <a:ea typeface="Calibri" panose="020F0502020204030204" pitchFamily="34" charset="0"/>
                <a:cs typeface="Calibri" panose="020F0502020204030204" pitchFamily="34" charset="0"/>
              </a:rPr>
              <a:t>Review:</a:t>
            </a:r>
            <a:r>
              <a:rPr lang="en-GB" sz="2000" dirty="0">
                <a:latin typeface="Calibri" panose="020F0502020204030204" pitchFamily="34" charset="0"/>
                <a:ea typeface="Calibri" panose="020F0502020204030204" pitchFamily="34" charset="0"/>
                <a:cs typeface="Calibri" panose="020F0502020204030204" pitchFamily="34" charset="0"/>
              </a:rPr>
              <a:t> Have you done everything you set out to do? Is the content presented as clearly as possible?</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GB" sz="2000" b="1" dirty="0">
                <a:latin typeface="Calibri" panose="020F0502020204030204" pitchFamily="34" charset="0"/>
                <a:ea typeface="Calibri" panose="020F0502020204030204" pitchFamily="34" charset="0"/>
                <a:cs typeface="Calibri" panose="020F0502020204030204" pitchFamily="34" charset="0"/>
              </a:rPr>
              <a:t>Reflect: </a:t>
            </a:r>
            <a:r>
              <a:rPr lang="en-GB" sz="2000" dirty="0">
                <a:latin typeface="Calibri" panose="020F0502020204030204" pitchFamily="34" charset="0"/>
                <a:ea typeface="Calibri" panose="020F0502020204030204" pitchFamily="34" charset="0"/>
                <a:cs typeface="Calibri" panose="020F0502020204030204" pitchFamily="34" charset="0"/>
              </a:rPr>
              <a:t>What could you do to make it better? Should you add information or reword information to make it clearer? Should you adjust the formatting to make the information easier to understand?</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GB" sz="2000" b="1" dirty="0">
                <a:latin typeface="Calibri" panose="020F0502020204030204" pitchFamily="34" charset="0"/>
                <a:ea typeface="Calibri" panose="020F0502020204030204" pitchFamily="34" charset="0"/>
                <a:cs typeface="Calibri" panose="020F0502020204030204" pitchFamily="34" charset="0"/>
              </a:rPr>
              <a:t>Edit:</a:t>
            </a:r>
            <a:r>
              <a:rPr lang="en-GB" sz="2000" dirty="0">
                <a:latin typeface="Calibri" panose="020F0502020204030204" pitchFamily="34" charset="0"/>
                <a:ea typeface="Calibri" panose="020F0502020204030204" pitchFamily="34" charset="0"/>
                <a:cs typeface="Calibri" panose="020F0502020204030204" pitchFamily="34" charset="0"/>
              </a:rPr>
              <a:t> Make the changes.</a:t>
            </a:r>
            <a:endParaRPr lang="en-GB" sz="20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15003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1" y="786103"/>
            <a:ext cx="9753599" cy="845862"/>
          </a:xfrm>
        </p:spPr>
        <p:txBody>
          <a:bodyPr/>
          <a:lstStyle/>
          <a:p>
            <a:r>
              <a:rPr lang="en-GB" b="1" dirty="0">
                <a:solidFill>
                  <a:schemeClr val="bg1"/>
                </a:solidFill>
              </a:rPr>
              <a:t>Activity 1.3: Completing your mind map</a:t>
            </a:r>
          </a:p>
        </p:txBody>
      </p:sp>
      <p:pic>
        <p:nvPicPr>
          <p:cNvPr id="5" name="Picture 4" descr="A picture containing athletic game, basketball, sport&#10;&#10;Description automatically generated">
            <a:extLst>
              <a:ext uri="{FF2B5EF4-FFF2-40B4-BE49-F238E27FC236}">
                <a16:creationId xmlns:a16="http://schemas.microsoft.com/office/drawing/2014/main" id="{A21B9BB7-886A-4A39-BB70-1BFFF26024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61709" y="2435920"/>
            <a:ext cx="3041933" cy="2980447"/>
          </a:xfrm>
          <a:prstGeom prst="rect">
            <a:avLst/>
          </a:prstGeom>
        </p:spPr>
      </p:pic>
      <p:sp>
        <p:nvSpPr>
          <p:cNvPr id="4" name="Rectangle 3">
            <a:extLst>
              <a:ext uri="{FF2B5EF4-FFF2-40B4-BE49-F238E27FC236}">
                <a16:creationId xmlns:a16="http://schemas.microsoft.com/office/drawing/2014/main" id="{539055EF-CDB8-481D-A24D-4F1034D96AD8}"/>
              </a:ext>
            </a:extLst>
          </p:cNvPr>
          <p:cNvSpPr/>
          <p:nvPr/>
        </p:nvSpPr>
        <p:spPr>
          <a:xfrm>
            <a:off x="4468525" y="2327299"/>
            <a:ext cx="7116279" cy="3370923"/>
          </a:xfrm>
          <a:prstGeom prst="rect">
            <a:avLst/>
          </a:prstGeom>
        </p:spPr>
        <p:txBody>
          <a:bodyPr wrap="square">
            <a:spAutoFit/>
          </a:bodyPr>
          <a:lstStyle/>
          <a:p>
            <a:pPr>
              <a:lnSpc>
                <a:spcPct val="107000"/>
              </a:lnSpc>
              <a:spcAft>
                <a:spcPts val="0"/>
              </a:spcAft>
            </a:pPr>
            <a:r>
              <a:rPr lang="en-GB" sz="2000" dirty="0">
                <a:latin typeface="Calibri" panose="020F0502020204030204" pitchFamily="34" charset="0"/>
                <a:ea typeface="Arial" panose="020B0604020202020204" pitchFamily="34" charset="0"/>
                <a:cs typeface="Calibri" panose="020F0502020204030204" pitchFamily="34" charset="0"/>
              </a:rPr>
              <a:t>Use the following questions to help you review, reflect on and edit the mind map you created for Activity 1.2.</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GB" sz="2000" dirty="0">
                <a:latin typeface="Calibri" panose="020F0502020204030204" pitchFamily="34" charset="0"/>
                <a:ea typeface="Arial" panose="020B0604020202020204" pitchFamily="34" charset="0"/>
                <a:cs typeface="Calibri" panose="020F0502020204030204" pitchFamily="34" charset="0"/>
              </a:rPr>
              <a:t>Can you use different colours to emphasise the connection between similar features?</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GB" sz="2000" dirty="0">
                <a:latin typeface="Calibri" panose="020F0502020204030204" pitchFamily="34" charset="0"/>
                <a:ea typeface="Arial" panose="020B0604020202020204" pitchFamily="34" charset="0"/>
                <a:cs typeface="Calibri" panose="020F0502020204030204" pitchFamily="34" charset="0"/>
              </a:rPr>
              <a:t>Can you resize and/or reposition the shapes or text boxes to make better use of the available space and make the mind map easier to read?</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GB" sz="2000" dirty="0">
                <a:latin typeface="Calibri" panose="020F0502020204030204" pitchFamily="34" charset="0"/>
                <a:ea typeface="Arial" panose="020B0604020202020204" pitchFamily="34" charset="0"/>
                <a:cs typeface="Calibri" panose="020F0502020204030204" pitchFamily="34" charset="0"/>
              </a:rPr>
              <a:t>Can you add screenshots to make your mind map more useful?</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GB" sz="2000" dirty="0">
                <a:latin typeface="Calibri" panose="020F0502020204030204" pitchFamily="34" charset="0"/>
                <a:ea typeface="Arial" panose="020B0604020202020204" pitchFamily="34" charset="0"/>
                <a:cs typeface="Calibri" panose="020F0502020204030204" pitchFamily="34" charset="0"/>
              </a:rPr>
              <a:t>Have you corrected all grammatical errors and spelling mistakes?</a:t>
            </a:r>
            <a:endParaRPr lang="en-GB" sz="20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0176912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4BA82-FE7D-4DE6-BC00-A388E38B624C}"/>
              </a:ext>
            </a:extLst>
          </p:cNvPr>
          <p:cNvSpPr>
            <a:spLocks noGrp="1"/>
          </p:cNvSpPr>
          <p:nvPr>
            <p:ph type="title"/>
          </p:nvPr>
        </p:nvSpPr>
        <p:spPr>
          <a:xfrm>
            <a:off x="1618195" y="815637"/>
            <a:ext cx="9793357" cy="855801"/>
          </a:xfrm>
        </p:spPr>
        <p:txBody>
          <a:bodyPr/>
          <a:lstStyle/>
          <a:p>
            <a:r>
              <a:rPr lang="en-GB" b="1" dirty="0">
                <a:solidFill>
                  <a:schemeClr val="bg1"/>
                </a:solidFill>
              </a:rPr>
              <a:t>Templates</a:t>
            </a:r>
          </a:p>
        </p:txBody>
      </p:sp>
      <p:sp>
        <p:nvSpPr>
          <p:cNvPr id="4" name="Rectangle 3">
            <a:extLst>
              <a:ext uri="{FF2B5EF4-FFF2-40B4-BE49-F238E27FC236}">
                <a16:creationId xmlns:a16="http://schemas.microsoft.com/office/drawing/2014/main" id="{F1571172-B802-47F7-B6C6-C38A83DDF7D9}"/>
              </a:ext>
            </a:extLst>
          </p:cNvPr>
          <p:cNvSpPr/>
          <p:nvPr/>
        </p:nvSpPr>
        <p:spPr>
          <a:xfrm>
            <a:off x="1331271" y="2704588"/>
            <a:ext cx="4477805" cy="2050690"/>
          </a:xfrm>
          <a:prstGeom prst="rect">
            <a:avLst/>
          </a:prstGeom>
        </p:spPr>
        <p:txBody>
          <a:bodyPr wrap="square">
            <a:spAutoFit/>
          </a:bodyPr>
          <a:lstStyle/>
          <a:p>
            <a:pPr>
              <a:lnSpc>
                <a:spcPct val="107000"/>
              </a:lnSpc>
              <a:spcAft>
                <a:spcPts val="0"/>
              </a:spcAft>
            </a:pPr>
            <a:r>
              <a:rPr lang="en-GB" sz="2400" dirty="0">
                <a:latin typeface="Calibri" panose="020F0502020204030204" pitchFamily="34" charset="0"/>
                <a:ea typeface="Calibri" panose="020F0502020204030204" pitchFamily="34" charset="0"/>
                <a:cs typeface="Calibri" panose="020F0502020204030204" pitchFamily="34" charset="0"/>
              </a:rPr>
              <a:t>A </a:t>
            </a:r>
            <a:r>
              <a:rPr lang="en-GB" sz="2400" b="1" dirty="0">
                <a:solidFill>
                  <a:srgbClr val="0069B4"/>
                </a:solidFill>
                <a:latin typeface="Calibri" panose="020F0502020204030204" pitchFamily="34" charset="0"/>
                <a:ea typeface="Calibri" panose="020F0502020204030204" pitchFamily="34" charset="0"/>
                <a:cs typeface="Calibri" panose="020F0502020204030204" pitchFamily="34" charset="0"/>
              </a:rPr>
              <a:t>template</a:t>
            </a:r>
            <a:r>
              <a:rPr lang="en-GB" sz="2400" dirty="0">
                <a:latin typeface="Calibri" panose="020F0502020204030204" pitchFamily="34" charset="0"/>
                <a:ea typeface="Calibri" panose="020F0502020204030204" pitchFamily="34" charset="0"/>
                <a:cs typeface="Calibri" panose="020F0502020204030204" pitchFamily="34" charset="0"/>
              </a:rPr>
              <a:t> is a blank document with a pre-set format.</a:t>
            </a:r>
            <a:endParaRPr lang="en-GB" sz="24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0"/>
              </a:spcAft>
            </a:pPr>
            <a:r>
              <a:rPr lang="en-GB" sz="2400" dirty="0">
                <a:latin typeface="Calibri" panose="020F0502020204030204" pitchFamily="34" charset="0"/>
                <a:ea typeface="Calibri" panose="020F0502020204030204" pitchFamily="34" charset="0"/>
                <a:cs typeface="Calibri" panose="020F0502020204030204" pitchFamily="34" charset="0"/>
              </a:rPr>
              <a:t>Templates can make word processing standard documents much quicker.</a:t>
            </a:r>
            <a:endParaRPr lang="en-GB" sz="2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8" name="Picture 7" descr="Diagram, schematic&#10;&#10;Description automatically generated">
            <a:extLst>
              <a:ext uri="{FF2B5EF4-FFF2-40B4-BE49-F238E27FC236}">
                <a16:creationId xmlns:a16="http://schemas.microsoft.com/office/drawing/2014/main" id="{9DB15232-4994-4123-AE68-4E73DDB918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63629" y="1831847"/>
            <a:ext cx="5078839" cy="4371659"/>
          </a:xfrm>
          <a:prstGeom prst="rect">
            <a:avLst/>
          </a:prstGeom>
        </p:spPr>
      </p:pic>
    </p:spTree>
    <p:extLst>
      <p:ext uri="{BB962C8B-B14F-4D97-AF65-F5344CB8AC3E}">
        <p14:creationId xmlns:p14="http://schemas.microsoft.com/office/powerpoint/2010/main" val="10496493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0D3D-3B5A-405C-A85C-D55D7E6FEF9A}"/>
              </a:ext>
            </a:extLst>
          </p:cNvPr>
          <p:cNvSpPr>
            <a:spLocks noGrp="1"/>
          </p:cNvSpPr>
          <p:nvPr>
            <p:ph type="title"/>
          </p:nvPr>
        </p:nvSpPr>
        <p:spPr>
          <a:xfrm>
            <a:off x="1589632" y="796072"/>
            <a:ext cx="10297568" cy="865740"/>
          </a:xfrm>
        </p:spPr>
        <p:txBody>
          <a:bodyPr>
            <a:noAutofit/>
          </a:bodyPr>
          <a:lstStyle/>
          <a:p>
            <a:r>
              <a:rPr lang="en-GB" sz="3400" b="1" dirty="0">
                <a:solidFill>
                  <a:schemeClr val="bg1"/>
                </a:solidFill>
              </a:rPr>
              <a:t>Activity 1.4: How did word processors change the world?</a:t>
            </a:r>
          </a:p>
        </p:txBody>
      </p:sp>
      <p:pic>
        <p:nvPicPr>
          <p:cNvPr id="5" name="Picture 4" descr="A picture containing athletic game, basketball, sport&#10;&#10;Description automatically generated">
            <a:extLst>
              <a:ext uri="{FF2B5EF4-FFF2-40B4-BE49-F238E27FC236}">
                <a16:creationId xmlns:a16="http://schemas.microsoft.com/office/drawing/2014/main" id="{E026BB22-2069-44BA-9C69-B4666D11CB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39629" y="1836359"/>
            <a:ext cx="4312741" cy="4225569"/>
          </a:xfrm>
          <a:prstGeom prst="rect">
            <a:avLst/>
          </a:prstGeom>
        </p:spPr>
      </p:pic>
    </p:spTree>
    <p:extLst>
      <p:ext uri="{BB962C8B-B14F-4D97-AF65-F5344CB8AC3E}">
        <p14:creationId xmlns:p14="http://schemas.microsoft.com/office/powerpoint/2010/main" val="9197062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E454DA2-BF42-4A17-974C-14F23A4E4D55}"/>
              </a:ext>
            </a:extLst>
          </p:cNvPr>
          <p:cNvSpPr txBox="1">
            <a:spLocks/>
          </p:cNvSpPr>
          <p:nvPr/>
        </p:nvSpPr>
        <p:spPr>
          <a:xfrm>
            <a:off x="1608570" y="796388"/>
            <a:ext cx="9793357" cy="85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solidFill>
                  <a:schemeClr val="bg1"/>
                </a:solidFill>
              </a:rPr>
              <a:t>Quiz 1</a:t>
            </a:r>
          </a:p>
        </p:txBody>
      </p:sp>
      <p:pic>
        <p:nvPicPr>
          <p:cNvPr id="4" name="Picture 3" descr="A picture containing athletic game, basketball, sport&#10;&#10;Description automatically generated">
            <a:extLst>
              <a:ext uri="{FF2B5EF4-FFF2-40B4-BE49-F238E27FC236}">
                <a16:creationId xmlns:a16="http://schemas.microsoft.com/office/drawing/2014/main" id="{D9DE2696-B9C5-4E41-A070-BF9BE01BCD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39629" y="1836043"/>
            <a:ext cx="4312741" cy="4225569"/>
          </a:xfrm>
          <a:prstGeom prst="rect">
            <a:avLst/>
          </a:prstGeom>
        </p:spPr>
      </p:pic>
    </p:spTree>
    <p:extLst>
      <p:ext uri="{BB962C8B-B14F-4D97-AF65-F5344CB8AC3E}">
        <p14:creationId xmlns:p14="http://schemas.microsoft.com/office/powerpoint/2010/main" val="302668368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LMS_API_VERSION" val="SCORM 1.2"/>
  <p:tag name="ISPRING_ULTRA_SCORM_COURSE_ID" val="AD595A9D-D70B-47E1-947A-7143EB7328D7"/>
  <p:tag name="ISPRING_CMI5_LAUNCH_METHOD" val="any window"/>
  <p:tag name="ISPRING_SCORM_ENDPOINT" val="&lt;endpoint&gt;&lt;enable&gt;0&lt;/enable&gt;&lt;lrs&gt;http://&lt;/lrs&gt;&lt;auth&gt;0&lt;/auth&gt;&lt;login&gt;&lt;/login&gt;&lt;password&gt;&lt;/password&gt;&lt;key&gt;&lt;/key&gt;&lt;name&gt;&lt;/name&gt;&lt;email&gt;&lt;/email&gt;&lt;/endpoint&gt;&#10;"/>
  <p:tag name="ISPRINGCLOUDFOLDERID" val="1"/>
  <p:tag name="ISPRINGONLINEFOLDERID" val="1"/>
  <p:tag name="ISPRING_OUTPUT_FOLDER" val="[[&quot;\uFFFD\uFFFD\uFFFD\u0016{7E5F7FCF-D1FF-48CD-B4F4-7DA9236FA68B}&quot;,&quot;N:\\Vocational Editorial\\Commissioned projects\\ICT\\Progress in Computing\\00 Desk editor\\05b Proofread T&amp;L\\Final files to be renamed\\03 Computing past, present and future\\Lesson 1&quot;]]"/>
  <p:tag name="ISPRING_PUBLISH_SETTINGS" val="{&quot;commonSettings&quot;:{&quot;webSettings&quot;:{&quot;useMobileViewer&quot;:&quot;T_FALSE&quot;},&quot;lmsSettings&quot;:{&quot;useMobileViewer&quot;:&quot;T_FALSE&quot;},&quot;cloudSettings&quot;:{&quot;useMobileViewer&quot;:&quot;T_FALSE&quot;},&quot;ispringLmsSettings&quot;:{&quot;useMobileViewer&quot;:&quot;T_FALSE&quot;},&quot;playerId&quot;:&quot;universal&quot;},&quot;advancedSettings&quot;:{&quot;enableTextAllocation&quot;:&quot;T_TRUE&quot;,&quot;viewingFromLocalDrive&quot;:&quot;T_TRUE&quot;,&quot;contentScale&quot;:75,&quot;contentScaleMode&quot;:&quot;SCALE&quot;},&quot;compressionSettings&quot;:{&quot;imageSettings&quot;:{&quot;jpegQuality&quot;:70,&quot;optimizeImageForResolution&quot;:&quot;T_FALSE&quot;},&quot;audioQuality&quot;:70,&quot;videoQuality&quot;:65},&quot;protectionSettings&quot;:{&quot;watermarkEnabled&quot;:&quot;T_FALSE&quot;,&quot;watermarkPosition&quot;:&quot;MIDDLE_CENTER&quot;,&quot;openWatermarkUrl&quot;:&quot;T_FALSE&quot;,&quot;openWatermarkWebPageInNewWindow&quot;:&quot;T_FALSE&quot;,&quot;displayAfterEnabled&quot;:&quot;T_FALSE&quot;,&quot;displayUntilEnabled&quot;:&quot;T_FALSE&quot;,&quot;domainRestrictionEnabled&quot;:&quot;T_FALSE&quot;,&quot;enablePassword&quot;:&quot;T_FALSE&quot;},&quot;videoSettings&quot;:{&quot;videoCompressionSettings&quot;:{&quot;audioQuality&quot;:70,&quot;videoQuality&quot;:75},&quot;secondsOnEachSlide&quot;:5,&quot;hostingSettings&quot;:{}},&quot;ispringOnlineSettings&quot;:{&quot;onlineDestinationFolderId&quot;:&quot;1&quot;},&quot;cloudSettings&quot;:{&quot;onlineDestinationFolderId&quot;:&quot;1&quot;},&quot;wordSettings&quot;:{&quot;printCopies&quot;:1}}"/>
  <p:tag name="ISPRING_SCORM_RATE_SLIDES" val="0"/>
  <p:tag name="ISPRING_SCORM_RATE_QUIZZES" val="0"/>
  <p:tag name="ISPRING_SCORM_PASSING_SCORE" val="0.000000"/>
  <p:tag name="ISPRING_CURRENT_PLAYER_ID" val="universal"/>
  <p:tag name="ISPRING_PRESENTATION_TITLE" val="PiC_03_presentation1"/>
  <p:tag name="ISPRING_FIRST_PUBLI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365</TotalTime>
  <Words>715</Words>
  <Application>Microsoft Office PowerPoint</Application>
  <PresentationFormat>Widescreen</PresentationFormat>
  <Paragraphs>72</Paragraphs>
  <Slides>15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Calibri Light</vt:lpstr>
      <vt:lpstr>Symbol</vt:lpstr>
      <vt:lpstr>Times New Roman</vt:lpstr>
      <vt:lpstr>Office Theme</vt:lpstr>
      <vt:lpstr>PowerPoint Presentation</vt:lpstr>
      <vt:lpstr>Objectives</vt:lpstr>
      <vt:lpstr>Do Now</vt:lpstr>
      <vt:lpstr>Writing by hand</vt:lpstr>
      <vt:lpstr>Using a typewriter</vt:lpstr>
      <vt:lpstr>The first word-processing application </vt:lpstr>
      <vt:lpstr>Activity 1.1: Documents through time</vt:lpstr>
      <vt:lpstr>A mind map</vt:lpstr>
      <vt:lpstr>Using word-processing software to create a mind map</vt:lpstr>
      <vt:lpstr>Activity 1.2: Creating a mind map</vt:lpstr>
      <vt:lpstr>Finished but not complete?</vt:lpstr>
      <vt:lpstr>Activity 1.3: Completing your mind map</vt:lpstr>
      <vt:lpstr>Templates</vt:lpstr>
      <vt:lpstr>Activity 1.4: How did word processors change the world?</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PiC_03_presentation1</dc:title>
  <dc:creator>Lea Albrechtsen</dc:creator>
  <cp:lastModifiedBy>DavitZh</cp:lastModifiedBy>
  <cp:revision>36</cp:revision>
  <dcterms:created xsi:type="dcterms:W3CDTF">2020-11-04T15:22:46Z</dcterms:created>
  <dcterms:modified xsi:type="dcterms:W3CDTF">2024-09-10T04:43:31Z</dcterms:modified>
</cp:coreProperties>
</file>