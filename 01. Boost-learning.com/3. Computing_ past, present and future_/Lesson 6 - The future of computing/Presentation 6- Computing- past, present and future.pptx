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57" r:id="rId3"/>
    <p:sldId id="258" r:id="rId4"/>
    <p:sldId id="259" r:id="rId5"/>
    <p:sldId id="260" r:id="rId6"/>
    <p:sldId id="274" r:id="rId7"/>
    <p:sldId id="275" r:id="rId8"/>
    <p:sldId id="276" r:id="rId9"/>
    <p:sldId id="277" r:id="rId10"/>
    <p:sldId id="261" r:id="rId11"/>
    <p:sldId id="278" r:id="rId12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0075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B597D-EA73-4B95-A9DE-211C23A9B3E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B7A221-F04B-4200-948F-BD050B597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3879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447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89437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93447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8432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59454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9628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9226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82033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411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3943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7A221-F04B-4200-948F-BD050B59712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5157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hape, rectangle&#10;&#10;Description automatically generated">
            <a:extLst>
              <a:ext uri="{FF2B5EF4-FFF2-40B4-BE49-F238E27FC236}">
                <a16:creationId xmlns:a16="http://schemas.microsoft.com/office/drawing/2014/main" id="{9E872171-DDA3-8241-A182-0AFA884F91D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94"/>
            <a:ext cx="12192000" cy="1616288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3087068" y="4170640"/>
            <a:ext cx="386740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0075BE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6: The future of computing </a:t>
            </a:r>
            <a:endParaRPr lang="en-GB" sz="2000" b="1" dirty="0">
              <a:solidFill>
                <a:srgbClr val="0075BE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E5778-FF08-4B99-B822-52F22D0D1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7868" y="2740504"/>
            <a:ext cx="1519603" cy="28492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523741E-2DB0-46E0-910C-A87026F962D6}"/>
              </a:ext>
            </a:extLst>
          </p:cNvPr>
          <p:cNvSpPr txBox="1">
            <a:spLocks/>
          </p:cNvSpPr>
          <p:nvPr/>
        </p:nvSpPr>
        <p:spPr>
          <a:xfrm>
            <a:off x="906011" y="2642532"/>
            <a:ext cx="6048462" cy="15226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4400" b="1" dirty="0"/>
              <a:t>Computing: </a:t>
            </a:r>
          </a:p>
          <a:p>
            <a:pPr algn="r"/>
            <a:r>
              <a:rPr lang="en-GB" sz="4400" b="1" dirty="0"/>
              <a:t>past, present and future</a:t>
            </a:r>
          </a:p>
        </p:txBody>
      </p:sp>
    </p:spTree>
    <p:extLst>
      <p:ext uri="{BB962C8B-B14F-4D97-AF65-F5344CB8AC3E}">
        <p14:creationId xmlns:p14="http://schemas.microsoft.com/office/powerpoint/2010/main" val="71970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413" y="798504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491288-4946-45B1-B65E-CD47ACDBD79E}"/>
              </a:ext>
            </a:extLst>
          </p:cNvPr>
          <p:cNvSpPr/>
          <p:nvPr/>
        </p:nvSpPr>
        <p:spPr>
          <a:xfrm>
            <a:off x="1610413" y="2286475"/>
            <a:ext cx="6854079" cy="1758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In this lesson, you will: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●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learn about the future of computing</a:t>
            </a:r>
            <a:endParaRPr lang="en-GB" sz="2000" dirty="0">
              <a:latin typeface="Noto Sans Symbols"/>
              <a:ea typeface="Noto Sans Symbols"/>
              <a:cs typeface="Noto Sans Symbols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●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demonstrate your word-processing or your presentation skills.</a:t>
            </a:r>
            <a:endParaRPr lang="en-GB" sz="2000" dirty="0">
              <a:latin typeface="Noto Sans Symbols"/>
              <a:ea typeface="Noto Sans Symbols"/>
              <a:cs typeface="Noto Sans Symbols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5489" y="794492"/>
            <a:ext cx="9773478" cy="845862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Will we be using these technologies in the future?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58F74-D4B7-4945-B6CD-E0EFF9A5666D}"/>
              </a:ext>
            </a:extLst>
          </p:cNvPr>
          <p:cNvSpPr/>
          <p:nvPr/>
        </p:nvSpPr>
        <p:spPr>
          <a:xfrm>
            <a:off x="4056931" y="6062214"/>
            <a:ext cx="40781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i="1" dirty="0"/>
              <a:t>Will robot dogs provide companionship? </a:t>
            </a:r>
          </a:p>
        </p:txBody>
      </p:sp>
      <p:pic>
        <p:nvPicPr>
          <p:cNvPr id="7" name="Picture 6" descr="A picture containing grass, automaton&#10;&#10;Description automatically generated">
            <a:extLst>
              <a:ext uri="{FF2B5EF4-FFF2-40B4-BE49-F238E27FC236}">
                <a16:creationId xmlns:a16="http://schemas.microsoft.com/office/drawing/2014/main" id="{EBA6CE79-15F2-404E-B7C4-ABC037D0F3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663" y="2007645"/>
            <a:ext cx="6082674" cy="405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0291201-2125-F74B-A259-629E2AD54AC1}"/>
              </a:ext>
            </a:extLst>
          </p:cNvPr>
          <p:cNvSpPr/>
          <p:nvPr/>
        </p:nvSpPr>
        <p:spPr>
          <a:xfrm>
            <a:off x="3663924" y="6059690"/>
            <a:ext cx="48641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i="1" dirty="0">
                <a:latin typeface="Calibri" panose="020F0502020204030204" pitchFamily="34" charset="0"/>
                <a:ea typeface="Calibri" panose="020F0502020204030204" pitchFamily="34" charset="0"/>
              </a:rPr>
              <a:t>Will drones deliver small packages to our homes?</a:t>
            </a:r>
            <a:r>
              <a:rPr lang="en-GB" i="1" dirty="0"/>
              <a:t> </a:t>
            </a:r>
            <a:endParaRPr lang="en-US" i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849D5DC-CC02-4823-86C4-B8750CE6F69A}"/>
              </a:ext>
            </a:extLst>
          </p:cNvPr>
          <p:cNvSpPr txBox="1">
            <a:spLocks/>
          </p:cNvSpPr>
          <p:nvPr/>
        </p:nvSpPr>
        <p:spPr>
          <a:xfrm>
            <a:off x="1605489" y="794492"/>
            <a:ext cx="9773478" cy="845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>
                <a:solidFill>
                  <a:schemeClr val="bg1"/>
                </a:solidFill>
              </a:rPr>
              <a:t>Will we be using these technologies in the future? </a:t>
            </a:r>
            <a:endParaRPr lang="en-GB" sz="3600" b="1" dirty="0">
              <a:solidFill>
                <a:schemeClr val="bg1"/>
              </a:solidFill>
            </a:endParaRPr>
          </a:p>
        </p:txBody>
      </p:sp>
      <p:pic>
        <p:nvPicPr>
          <p:cNvPr id="9" name="Picture 8" descr="A jet flying over a city&#10;&#10;Description automatically generated with low confidence">
            <a:extLst>
              <a:ext uri="{FF2B5EF4-FFF2-40B4-BE49-F238E27FC236}">
                <a16:creationId xmlns:a16="http://schemas.microsoft.com/office/drawing/2014/main" id="{D1647509-DF9E-4BB8-A763-10D86E235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663" y="2006899"/>
            <a:ext cx="6082674" cy="405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1" y="786103"/>
            <a:ext cx="9753599" cy="845862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prstClr val="white"/>
                </a:solidFill>
              </a:rPr>
              <a:t>Will we be using these technologies in the future? 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29F9DA-0CFA-3D47-A996-215DDC68ABF5}"/>
              </a:ext>
            </a:extLst>
          </p:cNvPr>
          <p:cNvSpPr/>
          <p:nvPr/>
        </p:nvSpPr>
        <p:spPr>
          <a:xfrm>
            <a:off x="2493064" y="5512525"/>
            <a:ext cx="72058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i="1" dirty="0">
                <a:ea typeface="Calibri" panose="020F0502020204030204" pitchFamily="34" charset="0"/>
              </a:rPr>
              <a:t>Will we have brain chips implanted that will be able to control computers, including our mobile phones and artificial limbs, with no interaction?</a:t>
            </a:r>
            <a:r>
              <a:rPr lang="en-GB" i="1" dirty="0"/>
              <a:t> 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3ABAA-2C70-B64F-BF54-CB0BFE605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313" y="1995471"/>
            <a:ext cx="7913373" cy="3517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prstClr val="white"/>
                </a:solidFill>
              </a:rPr>
              <a:t>Will we be using these technologies in the future? 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4C8C6C-1E01-2F4C-8ABB-8A08645F2236}"/>
              </a:ext>
            </a:extLst>
          </p:cNvPr>
          <p:cNvSpPr/>
          <p:nvPr/>
        </p:nvSpPr>
        <p:spPr>
          <a:xfrm>
            <a:off x="2901602" y="5858807"/>
            <a:ext cx="638879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i="1" dirty="0">
                <a:ea typeface="Calibri" panose="020F0502020204030204" pitchFamily="34" charset="0"/>
              </a:rPr>
              <a:t>Will we be able to select an item in a shop and walk straight out with it, paying without queuing or interacting with a cashier?</a:t>
            </a:r>
            <a:r>
              <a:rPr lang="en-GB" i="1" dirty="0"/>
              <a:t> </a:t>
            </a:r>
            <a:endParaRPr lang="en-US" i="1" dirty="0"/>
          </a:p>
        </p:txBody>
      </p:sp>
      <p:pic>
        <p:nvPicPr>
          <p:cNvPr id="5" name="Picture 4" descr="A picture containing text, scene, marketplace&#10;&#10;Description automatically generated">
            <a:extLst>
              <a:ext uri="{FF2B5EF4-FFF2-40B4-BE49-F238E27FC236}">
                <a16:creationId xmlns:a16="http://schemas.microsoft.com/office/drawing/2014/main" id="{83D32088-22C3-AD42-BC09-67A9306261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461" y="1978398"/>
            <a:ext cx="6905988" cy="3880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818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1" y="786103"/>
            <a:ext cx="9753599" cy="845862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prstClr val="white"/>
                </a:solidFill>
              </a:rPr>
              <a:t>Will we be using these technologies in the future? 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EB5E84-50D4-FE4B-9A3A-A5800DAB6E59}"/>
              </a:ext>
            </a:extLst>
          </p:cNvPr>
          <p:cNvSpPr/>
          <p:nvPr/>
        </p:nvSpPr>
        <p:spPr>
          <a:xfrm>
            <a:off x="2488095" y="5970815"/>
            <a:ext cx="7215808" cy="3903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en-GB" i="1" dirty="0">
                <a:latin typeface="Calibri" panose="020F0502020204030204" pitchFamily="34" charset="0"/>
                <a:ea typeface="Arial" panose="020B0604020202020204" pitchFamily="34" charset="0"/>
              </a:rPr>
              <a:t>Will your fridge be able to tell you when food inside it is about to go off?</a:t>
            </a:r>
            <a:endParaRPr lang="en-GB" sz="1600" i="1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5" name="Picture 4" descr="A picture containing refrigerator, open, cabinet, appliance&#10;&#10;Description automatically generated">
            <a:extLst>
              <a:ext uri="{FF2B5EF4-FFF2-40B4-BE49-F238E27FC236}">
                <a16:creationId xmlns:a16="http://schemas.microsoft.com/office/drawing/2014/main" id="{C403106F-F5B9-4AC3-837C-A6347E1F71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713" y="1971766"/>
            <a:ext cx="5998573" cy="399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214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4911" y="787653"/>
            <a:ext cx="9733721" cy="835923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Predicting the future isn’t as easy as it might seem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D20D14-5790-4D11-B5AA-5A4F799DB1B4}"/>
              </a:ext>
            </a:extLst>
          </p:cNvPr>
          <p:cNvSpPr/>
          <p:nvPr/>
        </p:nvSpPr>
        <p:spPr>
          <a:xfrm>
            <a:off x="928708" y="2008979"/>
            <a:ext cx="5167292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/>
              <a:t>Here are some of the predictions made about the computer:</a:t>
            </a:r>
          </a:p>
          <a:p>
            <a:endParaRPr lang="en-GB" sz="2400" b="1" dirty="0">
              <a:solidFill>
                <a:srgbClr val="FF0000"/>
              </a:solidFill>
            </a:endParaRPr>
          </a:p>
          <a:p>
            <a:r>
              <a:rPr lang="en-GB" sz="2400" b="1" dirty="0"/>
              <a:t>‘I think there is a world market for maybe five computers.’</a:t>
            </a:r>
            <a:endParaRPr lang="en-GB" sz="2400" dirty="0"/>
          </a:p>
          <a:p>
            <a:pPr algn="r"/>
            <a:r>
              <a:rPr lang="en-GB" sz="2400" i="1" dirty="0"/>
              <a:t>Thomas Watson, President of IBM, 1943</a:t>
            </a:r>
          </a:p>
          <a:p>
            <a:endParaRPr lang="en-GB" sz="2400" dirty="0"/>
          </a:p>
          <a:p>
            <a:r>
              <a:rPr lang="en-GB" sz="2400" b="1" dirty="0"/>
              <a:t>‘There is no reason anyone would want a computer in their home.’</a:t>
            </a:r>
            <a:endParaRPr lang="en-GB" sz="2400" dirty="0"/>
          </a:p>
          <a:p>
            <a:pPr algn="r"/>
            <a:r>
              <a:rPr lang="en-GB" sz="2400" i="1" dirty="0"/>
              <a:t>Ken Olsen, founder of Digital Equipment Corporation, 1977</a:t>
            </a:r>
            <a:endParaRPr lang="en-GB" sz="2400" dirty="0"/>
          </a:p>
        </p:txBody>
      </p:sp>
      <p:pic>
        <p:nvPicPr>
          <p:cNvPr id="5" name="Picture 4" descr="A picture containing text, indoor, table, dining table&#10;&#10;Description automatically generated">
            <a:extLst>
              <a:ext uri="{FF2B5EF4-FFF2-40B4-BE49-F238E27FC236}">
                <a16:creationId xmlns:a16="http://schemas.microsoft.com/office/drawing/2014/main" id="{17770A93-9FDD-B64F-BD9D-71813F979A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8812" y="2666493"/>
            <a:ext cx="4733258" cy="283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166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1" y="786103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qualities of a well-designed report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5645B7-9430-2542-8CF3-8FE28850E22B}"/>
              </a:ext>
            </a:extLst>
          </p:cNvPr>
          <p:cNvSpPr/>
          <p:nvPr/>
        </p:nvSpPr>
        <p:spPr>
          <a:xfrm>
            <a:off x="1600201" y="1843624"/>
            <a:ext cx="9753598" cy="44235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report has a title. It could also have a sub-title.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Headings and sub-headings are used to break up large chunks of text.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 spacing and margins ensure the content is easy to read and doesn’t feel cramped.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Images add meaning to the text and are accompanied by captions. Text could flow around images.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number of fonts, font sizes and font colours is limited; too many can be confusing.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information is logically ordered so that the narrative flows from one point to the next.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Data, in the form of tables or graphs, is used to support the text if appropriate.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sources of information are cited.</a:t>
            </a:r>
            <a:endParaRPr lang="en-GB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455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4BA82-FE7D-4DE6-BC00-A388E38B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8195" y="815637"/>
            <a:ext cx="9793357" cy="855801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The qualities of a well-designed presentation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D3B1AA-D874-49EE-9441-24B4A752C118}"/>
              </a:ext>
            </a:extLst>
          </p:cNvPr>
          <p:cNvSpPr/>
          <p:nvPr/>
        </p:nvSpPr>
        <p:spPr>
          <a:xfrm>
            <a:off x="1618195" y="2092490"/>
            <a:ext cx="9354605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200" dirty="0"/>
              <a:t>The presentation has a title and most slides have headings.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200" dirty="0"/>
              <a:t>The same approach to design is used throughout the presentation.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200" dirty="0"/>
              <a:t>The number of fonts, font sizes and font colours is limited; too many can be confusing.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200" dirty="0"/>
              <a:t>Animations add to the audience’s understanding not detract from it.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200" dirty="0"/>
              <a:t>There is a strong contrast between the background colour(s) and the font colour(s).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200" dirty="0"/>
              <a:t>There is a good balance between text and images and slides are not overcrowded.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200" dirty="0"/>
              <a:t>Images relate to the text, can be seen clearly and have credits.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200" dirty="0"/>
              <a:t>Audio and video clips should be embedded into the presentation; avoid linking to clips in another software application.</a:t>
            </a:r>
          </a:p>
        </p:txBody>
      </p:sp>
    </p:spTree>
    <p:extLst>
      <p:ext uri="{BB962C8B-B14F-4D97-AF65-F5344CB8AC3E}">
        <p14:creationId xmlns:p14="http://schemas.microsoft.com/office/powerpoint/2010/main" val="36150031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1" y="786103"/>
            <a:ext cx="9753599" cy="845862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Activity 6.1: Where might computing take us next?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A21B9BB7-886A-4A39-BB70-1BFFF26024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4196" y="2029725"/>
            <a:ext cx="3923608" cy="3844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6912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1.2"/>
  <p:tag name="ISPRING_ULTRA_SCORM_COURSE_ID" val="4CBFDF29-2294-45EE-A3AC-4BBF30ABA8D2"/>
  <p:tag name="ISPRING_CMI5_LAUNCH_METHOD" val="any window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CLOUDFOLDERID" val="1"/>
  <p:tag name="ISPRINGONLINEFOLDERID" val="1"/>
  <p:tag name="ISPRING_OUTPUT_FOLDER" val="[[&quot;\uFFFD\uFFFD\uFFFD\u0016{7E5F7FCF-D1FF-48CD-B4F4-7DA9236FA68B}&quot;,&quot;N:\\Vocational Editorial\\Commissioned projects\\ICT\\Progress in Computing\\00 Desk editor\\05b Proofread T&amp;L\\Final files to be renamed\\03 Computing past, present and future\\Lesson 6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},&quot;advancedSettings&quot;:{&quot;enableTextAllocation&quot;:&quot;T_TRUE&quot;,&quot;viewingFromLocalDrive&quot;:&quot;T_TRUE&quot;,&quot;contentScale&quot;:75,&quot;contentScaleMode&quot;:&quot;SCALE&quot;},&quot;compressionSettings&quot;:{&quot;imageSettings&quot;:{&quot;jpegQuality&quot;:70,&quot;optimizeImageForResolution&quot;:&quot;T_FALSE&quot;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1&quot;},&quot;cloudSettings&quot;:{&quot;onlineDestinationFolderId&quot;:&quot;1&quot;},&quot;wordSettings&quot;:{&quot;printCopies&quot;:1}}"/>
  <p:tag name="ISPRING_SCORM_RATE_SLIDES" val="0"/>
  <p:tag name="ISPRING_SCORM_RATE_QUIZZES" val="0"/>
  <p:tag name="ISPRING_SCORM_PASSING_SCORE" val="0.000000"/>
  <p:tag name="ISPRING_CURRENT_PLAYER_ID" val="universal"/>
  <p:tag name="ISPRING_PRESENTATION_TITLE" val="PiC_03_presentation6"/>
  <p:tag name="ISPRING_FIRST_PUBLI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10148</TotalTime>
  <Words>513</Words>
  <Application>Microsoft Office PowerPoint</Application>
  <PresentationFormat>Widescreen</PresentationFormat>
  <Paragraphs>55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Noto Sans Symbols</vt:lpstr>
      <vt:lpstr>Symbol</vt:lpstr>
      <vt:lpstr>Office Theme</vt:lpstr>
      <vt:lpstr>PowerPoint Presentation</vt:lpstr>
      <vt:lpstr>Objectives</vt:lpstr>
      <vt:lpstr>Will we be using these technologies in the future? </vt:lpstr>
      <vt:lpstr>PowerPoint Presentation</vt:lpstr>
      <vt:lpstr>Will we be using these technologies in the future? </vt:lpstr>
      <vt:lpstr>Will we be using these technologies in the future? </vt:lpstr>
      <vt:lpstr>Will we be using these technologies in the future? </vt:lpstr>
      <vt:lpstr>Predicting the future isn’t as easy as it might seem </vt:lpstr>
      <vt:lpstr>The qualities of a well-designed report </vt:lpstr>
      <vt:lpstr>The qualities of a well-designed presentation</vt:lpstr>
      <vt:lpstr>Activity 6.1: Where might computing take us next?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PiC_03_presentation6</dc:title>
  <dc:creator>Lea Albrechtsen</dc:creator>
  <cp:lastModifiedBy>Lea Albrechtsen</cp:lastModifiedBy>
  <cp:revision>43</cp:revision>
  <dcterms:created xsi:type="dcterms:W3CDTF">2020-11-04T15:22:46Z</dcterms:created>
  <dcterms:modified xsi:type="dcterms:W3CDTF">2021-06-29T11:37:01Z</dcterms:modified>
</cp:coreProperties>
</file>