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73" r:id="rId2"/>
    <p:sldId id="257" r:id="rId3"/>
    <p:sldId id="258" r:id="rId4"/>
    <p:sldId id="259" r:id="rId5"/>
    <p:sldId id="283" r:id="rId6"/>
    <p:sldId id="284" r:id="rId7"/>
    <p:sldId id="285" r:id="rId8"/>
    <p:sldId id="286" r:id="rId9"/>
    <p:sldId id="277" r:id="rId10"/>
    <p:sldId id="261" r:id="rId11"/>
    <p:sldId id="278" r:id="rId12"/>
    <p:sldId id="279" r:id="rId13"/>
    <p:sldId id="280" r:id="rId14"/>
    <p:sldId id="281" r:id="rId15"/>
    <p:sldId id="282" r:id="rId16"/>
  </p:sldIdLst>
  <p:sldSz cx="12192000" cy="6858000"/>
  <p:notesSz cx="6858000" cy="9144000"/>
  <p:custDataLst>
    <p:tags r:id="rId1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  <p:cmAuthor id="2" name="Guest User" initials="GU" lastIdx="2" clrIdx="1">
    <p:extLst>
      <p:ext uri="{19B8F6BF-5375-455C-9EA6-DF929625EA0E}">
        <p15:presenceInfo xmlns:p15="http://schemas.microsoft.com/office/powerpoint/2012/main" userId="S::urn:spo:anon#b0b5e468eb879ddb4bbe1670ff9506d1c7b1747733fcba6b855d1820ab7164f0::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9B4"/>
    <a:srgbClr val="0075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36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96F340-EE3C-472D-A80B-79E0FE88CDFF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8F2C32-0E48-48FA-9B57-B322F16BDA5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2103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8F2C32-0E48-48FA-9B57-B322F16BDA5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1394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8F2C32-0E48-48FA-9B57-B322F16BDA5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2078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8F2C32-0E48-48FA-9B57-B322F16BDA5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0736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8F2C32-0E48-48FA-9B57-B322F16BDA5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33529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8F2C32-0E48-48FA-9B57-B322F16BDA5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5349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8F2C32-0E48-48FA-9B57-B322F16BDA5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71230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8F2C32-0E48-48FA-9B57-B322F16BDA5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25555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8F2C32-0E48-48FA-9B57-B322F16BDA5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51953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8F2C32-0E48-48FA-9B57-B322F16BDA59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26789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8F2C32-0E48-48FA-9B57-B322F16BDA59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57101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8F2C32-0E48-48FA-9B57-B322F16BDA59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17717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8F2C32-0E48-48FA-9B57-B322F16BDA59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12649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8F2C32-0E48-48FA-9B57-B322F16BDA59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63964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8F2C32-0E48-48FA-9B57-B322F16BDA59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28902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8F2C32-0E48-48FA-9B57-B322F16BDA59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3175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29/06/2021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hape, rectangle&#10;&#10;Description automatically generated">
            <a:extLst>
              <a:ext uri="{FF2B5EF4-FFF2-40B4-BE49-F238E27FC236}">
                <a16:creationId xmlns:a16="http://schemas.microsoft.com/office/drawing/2014/main" id="{9E872171-DDA3-8241-A182-0AFA884F91D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94"/>
            <a:ext cx="12192000" cy="1616288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4322086" y="4165132"/>
            <a:ext cx="263238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0075BE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3: Moore’s Law </a:t>
            </a:r>
            <a:endParaRPr lang="en-GB" sz="2000" b="1" dirty="0">
              <a:solidFill>
                <a:srgbClr val="0075BE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DE5778-FF08-4B99-B822-52F22D0D1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7868" y="2740504"/>
            <a:ext cx="1519603" cy="28492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523741E-2DB0-46E0-910C-A87026F962D6}"/>
              </a:ext>
            </a:extLst>
          </p:cNvPr>
          <p:cNvSpPr txBox="1">
            <a:spLocks/>
          </p:cNvSpPr>
          <p:nvPr/>
        </p:nvSpPr>
        <p:spPr>
          <a:xfrm>
            <a:off x="906011" y="2642532"/>
            <a:ext cx="6048462" cy="15226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GB" sz="4400" b="1" dirty="0"/>
              <a:t>Computing: </a:t>
            </a:r>
          </a:p>
          <a:p>
            <a:pPr algn="r"/>
            <a:r>
              <a:rPr lang="en-GB" sz="4400" b="1" dirty="0"/>
              <a:t>past, present and future</a:t>
            </a:r>
          </a:p>
        </p:txBody>
      </p:sp>
    </p:spTree>
    <p:extLst>
      <p:ext uri="{BB962C8B-B14F-4D97-AF65-F5344CB8AC3E}">
        <p14:creationId xmlns:p14="http://schemas.microsoft.com/office/powerpoint/2010/main" val="71970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413" y="798504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491288-4946-45B1-B65E-CD47ACDBD79E}"/>
              </a:ext>
            </a:extLst>
          </p:cNvPr>
          <p:cNvSpPr/>
          <p:nvPr/>
        </p:nvSpPr>
        <p:spPr>
          <a:xfrm>
            <a:off x="1610413" y="2286475"/>
            <a:ext cx="6854079" cy="2445862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07000"/>
              </a:lnSpc>
            </a:pPr>
            <a:r>
              <a:rPr lang="en-GB" sz="2400" dirty="0">
                <a:latin typeface="Calibri"/>
                <a:ea typeface="Arial" panose="020B0604020202020204" pitchFamily="34" charset="0"/>
                <a:cs typeface="Calibri"/>
              </a:rPr>
              <a:t>In this lesson, you will learn:</a:t>
            </a:r>
            <a:endParaRPr lang="en-GB" sz="2400" dirty="0">
              <a:latin typeface="Arial"/>
              <a:ea typeface="Calibri" panose="020F0502020204030204" pitchFamily="34" charset="0"/>
              <a:cs typeface="Calibri"/>
            </a:endParaRP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about Moore's Law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computer technology has developed and changed over time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to create a report using word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processing software.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Graphical user interface&#10;&#10;Description automatically generated">
            <a:extLst>
              <a:ext uri="{FF2B5EF4-FFF2-40B4-BE49-F238E27FC236}">
                <a16:creationId xmlns:a16="http://schemas.microsoft.com/office/drawing/2014/main" id="{B31A6EEE-3CA5-4A74-9650-8EB4AD8A3B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111" y="2047992"/>
            <a:ext cx="7379777" cy="41511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6E1565-D0C3-468B-991A-E1A97EABEA4A}"/>
              </a:ext>
            </a:extLst>
          </p:cNvPr>
          <p:cNvSpPr txBox="1"/>
          <p:nvPr/>
        </p:nvSpPr>
        <p:spPr>
          <a:xfrm>
            <a:off x="2406111" y="2220715"/>
            <a:ext cx="73797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Watch Animation 3.1: The incredible shrinking computer</a:t>
            </a: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4911" y="787653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Gordon Moore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58124E-82C7-4BAC-840D-9BFEF075D348}"/>
              </a:ext>
            </a:extLst>
          </p:cNvPr>
          <p:cNvSpPr/>
          <p:nvPr/>
        </p:nvSpPr>
        <p:spPr>
          <a:xfrm>
            <a:off x="1594911" y="2158892"/>
            <a:ext cx="502455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b="1" dirty="0">
                <a:solidFill>
                  <a:schemeClr val="accent1"/>
                </a:solidFill>
              </a:rPr>
              <a:t>Moore’s Law</a:t>
            </a:r>
            <a:r>
              <a:rPr lang="en-GB" sz="2800" dirty="0">
                <a:solidFill>
                  <a:schemeClr val="accent1"/>
                </a:solidFill>
              </a:rPr>
              <a:t> </a:t>
            </a:r>
            <a:r>
              <a:rPr lang="en-GB" sz="2800" dirty="0"/>
              <a:t>is named after Gordon Moore.</a:t>
            </a:r>
          </a:p>
          <a:p>
            <a:endParaRPr lang="en-GB" sz="2800" dirty="0"/>
          </a:p>
          <a:p>
            <a:r>
              <a:rPr lang="en-GB" sz="2800" dirty="0"/>
              <a:t>In 1965, Moore founded Intel Corporation with Robert Noyce.</a:t>
            </a:r>
          </a:p>
          <a:p>
            <a:endParaRPr lang="en-GB" sz="2800" dirty="0"/>
          </a:p>
          <a:p>
            <a:r>
              <a:rPr lang="en-GB" sz="2800" dirty="0"/>
              <a:t>Intel was to become the world's largest producer of computer microchips.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E3D0B9-1CB5-4EB1-BB4F-C382BDB110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7453" y="2158892"/>
            <a:ext cx="4603927" cy="397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The </a:t>
            </a:r>
            <a:r>
              <a:rPr lang="en-GB" b="1" dirty="0" err="1">
                <a:solidFill>
                  <a:schemeClr val="bg1"/>
                </a:solidFill>
              </a:rPr>
              <a:t>1940s</a:t>
            </a:r>
            <a:r>
              <a:rPr lang="en-GB" b="1" dirty="0">
                <a:solidFill>
                  <a:schemeClr val="bg1"/>
                </a:solidFill>
              </a:rPr>
              <a:t>: valve computers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2B61D8-27C5-4865-BBA4-DC8B46495AA4}"/>
              </a:ext>
            </a:extLst>
          </p:cNvPr>
          <p:cNvSpPr/>
          <p:nvPr/>
        </p:nvSpPr>
        <p:spPr>
          <a:xfrm>
            <a:off x="1099892" y="2091746"/>
            <a:ext cx="8923674" cy="47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early computers were enormous. They filled a large room.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17C84A-DA01-48E8-A326-557CA00DD431}"/>
              </a:ext>
            </a:extLst>
          </p:cNvPr>
          <p:cNvSpPr/>
          <p:nvPr/>
        </p:nvSpPr>
        <p:spPr>
          <a:xfrm>
            <a:off x="2946571" y="3318587"/>
            <a:ext cx="4621178" cy="28410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ENIAC, the first </a:t>
            </a: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electronic general-purpose digital computer, contained nearly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18,000 valves within its circuits. That might sound like a lot, but ENIAC's processing power was miniscule; less than a small electronic calculator today.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033EF7-9047-46EF-B117-8601718CD601}"/>
              </a:ext>
            </a:extLst>
          </p:cNvPr>
          <p:cNvSpPr/>
          <p:nvPr/>
        </p:nvSpPr>
        <p:spPr>
          <a:xfrm>
            <a:off x="1099892" y="2481618"/>
            <a:ext cx="6241434" cy="8651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switches used to process data were </a:t>
            </a:r>
            <a:r>
              <a:rPr lang="en-GB" sz="24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valves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the size of a thumb.</a:t>
            </a:r>
          </a:p>
        </p:txBody>
      </p:sp>
      <p:pic>
        <p:nvPicPr>
          <p:cNvPr id="8" name="Picture 7" descr="A picture containing text, white&#10;&#10;Description automatically generated">
            <a:extLst>
              <a:ext uri="{FF2B5EF4-FFF2-40B4-BE49-F238E27FC236}">
                <a16:creationId xmlns:a16="http://schemas.microsoft.com/office/drawing/2014/main" id="{256F5981-A9B6-46BB-9593-4F5EF4DA0F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631" y="2712948"/>
            <a:ext cx="4114800" cy="31369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7CD1537-E3BE-4D86-BEC5-9E74870896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442" y="3429000"/>
            <a:ext cx="1917247" cy="2919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305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1947: the invention of the transistor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ED8965A-4620-43ED-8264-88034E9174B3}"/>
              </a:ext>
            </a:extLst>
          </p:cNvPr>
          <p:cNvSpPr/>
          <p:nvPr/>
        </p:nvSpPr>
        <p:spPr>
          <a:xfrm>
            <a:off x="1589631" y="2113356"/>
            <a:ext cx="7981089" cy="8651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en-GB" sz="2400" dirty="0">
                <a:solidFill>
                  <a:srgbClr val="222222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The first big reduction in in the size of electronic computers came when valves were replaced by much smaller </a:t>
            </a:r>
            <a:r>
              <a:rPr lang="en-GB" sz="2400" b="1" dirty="0">
                <a:solidFill>
                  <a:srgbClr val="0069B4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transistors</a:t>
            </a: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C781D9-AAAA-4828-BAEC-B394FC365B88}"/>
              </a:ext>
            </a:extLst>
          </p:cNvPr>
          <p:cNvSpPr/>
          <p:nvPr/>
        </p:nvSpPr>
        <p:spPr>
          <a:xfrm>
            <a:off x="5048770" y="3014312"/>
            <a:ext cx="4069103" cy="32362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 computer pioneers are holding circuit boards from four generations of early computers, from ENIAC on the left to </a:t>
            </a:r>
            <a:r>
              <a:rPr lang="en-GB" sz="240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BRLESC</a:t>
            </a: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the right. The </a:t>
            </a:r>
            <a:r>
              <a:rPr lang="en-GB" sz="2400" dirty="0" err="1">
                <a:solidFill>
                  <a:srgbClr val="20212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BRLESC</a:t>
            </a:r>
            <a:r>
              <a:rPr lang="en-GB" sz="2400" dirty="0">
                <a:solidFill>
                  <a:srgbClr val="20212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circuit board contains transistors; look how much smaller it is.</a:t>
            </a:r>
            <a:endParaRPr lang="en-GB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E27BA4-7A45-4D92-85BC-A7F66EF866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31" y="2197599"/>
            <a:ext cx="2341316" cy="27948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861BA89-1580-4299-8BC6-2C71D19EDD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859" y="3014312"/>
            <a:ext cx="4079253" cy="3236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99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1959: the invention of the microchip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9357FE-AE6F-4289-AE89-EE9D815B44A7}"/>
              </a:ext>
            </a:extLst>
          </p:cNvPr>
          <p:cNvSpPr/>
          <p:nvPr/>
        </p:nvSpPr>
        <p:spPr>
          <a:xfrm>
            <a:off x="1589632" y="2403655"/>
            <a:ext cx="9132910" cy="28380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en-GB" sz="2800" dirty="0">
                <a:solidFill>
                  <a:srgbClr val="222222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The next big reduction in the size of electronic computers came when transistors were replaced by </a:t>
            </a:r>
            <a:r>
              <a:rPr lang="en-GB" sz="2800" b="1" dirty="0">
                <a:solidFill>
                  <a:srgbClr val="0069B4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microchips</a:t>
            </a:r>
            <a:r>
              <a:rPr lang="en-GB" sz="2800" dirty="0">
                <a:solidFill>
                  <a:srgbClr val="222222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endParaRPr lang="en-GB" sz="2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en-GB" sz="2800" dirty="0">
                <a:solidFill>
                  <a:srgbClr val="222222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Many tiny transistors can be etched into a single silicon microchip a</a:t>
            </a: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nd, with each transistor added, the processing power of a device increases.</a:t>
            </a: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en-GB" sz="2800" dirty="0">
                <a:solidFill>
                  <a:srgbClr val="222222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All our digital devices today contain microchips.</a:t>
            </a:r>
            <a:endParaRPr lang="en-GB" sz="2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1670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electronics, circuit&#10;&#10;Description automatically generated">
            <a:extLst>
              <a:ext uri="{FF2B5EF4-FFF2-40B4-BE49-F238E27FC236}">
                <a16:creationId xmlns:a16="http://schemas.microsoft.com/office/drawing/2014/main" id="{E2829C06-A95F-41A0-81A4-9B087479D0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3044" y="4155517"/>
            <a:ext cx="4026390" cy="267424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Moore’s observation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82002A-876A-4D26-BA1E-FD299086F0B9}"/>
              </a:ext>
            </a:extLst>
          </p:cNvPr>
          <p:cNvSpPr/>
          <p:nvPr/>
        </p:nvSpPr>
        <p:spPr>
          <a:xfrm>
            <a:off x="1589631" y="2101878"/>
            <a:ext cx="9200289" cy="20536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 a chip developer, Moore had observed the gradual miniaturisation of the transistor and the increase in the number of transistors that could be etched onto a microchip.</a:t>
            </a: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 pointed out that the number of transistors on a single microchip was doubling about every two years.</a:t>
            </a: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the mid-</a:t>
            </a:r>
            <a:r>
              <a:rPr lang="en-GB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1960s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Moore predicted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that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this exponential trend would continue into the future and this is Moore’s Law.</a:t>
            </a:r>
            <a:endParaRPr lang="en-GB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872232-8CA0-44C1-8782-EDCF05AB1E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568" y="3872053"/>
            <a:ext cx="3763064" cy="2508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733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1" y="786103"/>
            <a:ext cx="9753599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Moore’s Law graph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3FF4EB-4B10-47BD-B752-07129C598560}"/>
              </a:ext>
            </a:extLst>
          </p:cNvPr>
          <p:cNvSpPr/>
          <p:nvPr/>
        </p:nvSpPr>
        <p:spPr>
          <a:xfrm>
            <a:off x="1434738" y="1830340"/>
            <a:ext cx="9753598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If we draw a line on a graph to represent Moore’s Law and plot the development of the number of transistors on a microchip, we can see that Moore accurately predicted the development of the microprocessors at the heart of our digital devices many decades into the future.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A2DAA97-2F15-EE40-B43D-6C50E4E17C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64898"/>
              </p:ext>
            </p:extLst>
          </p:nvPr>
        </p:nvGraphicFramePr>
        <p:xfrm>
          <a:off x="1434738" y="3974876"/>
          <a:ext cx="5725160" cy="243192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08175">
                  <a:extLst>
                    <a:ext uri="{9D8B030D-6E8A-4147-A177-3AD203B41FA5}">
                      <a16:colId xmlns:a16="http://schemas.microsoft.com/office/drawing/2014/main" val="647983982"/>
                    </a:ext>
                  </a:extLst>
                </a:gridCol>
                <a:gridCol w="1908175">
                  <a:extLst>
                    <a:ext uri="{9D8B030D-6E8A-4147-A177-3AD203B41FA5}">
                      <a16:colId xmlns:a16="http://schemas.microsoft.com/office/drawing/2014/main" val="1963734838"/>
                    </a:ext>
                  </a:extLst>
                </a:gridCol>
                <a:gridCol w="1908810">
                  <a:extLst>
                    <a:ext uri="{9D8B030D-6E8A-4147-A177-3AD203B41FA5}">
                      <a16:colId xmlns:a16="http://schemas.microsoft.com/office/drawing/2014/main" val="30281981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Processor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Year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Number of transistors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64900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</a:rPr>
                        <a:t>4004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1971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2250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17004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8008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1972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</a:rPr>
                        <a:t>2500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48732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</a:rPr>
                        <a:t>8080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1974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5000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30950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8086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1978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29,000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435048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286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1982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120,000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220105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386</a:t>
                      </a:r>
                      <a:r>
                        <a:rPr lang="en-GB" sz="1200" baseline="30000">
                          <a:effectLst/>
                        </a:rPr>
                        <a:t>TM</a:t>
                      </a:r>
                      <a:r>
                        <a:rPr lang="en-GB" sz="1200">
                          <a:effectLst/>
                        </a:rPr>
                        <a:t> processor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1985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275,000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70729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486</a:t>
                      </a:r>
                      <a:r>
                        <a:rPr lang="en-GB" sz="1200" baseline="30000">
                          <a:effectLst/>
                        </a:rPr>
                        <a:t> TM</a:t>
                      </a:r>
                      <a:r>
                        <a:rPr lang="en-GB" sz="1200">
                          <a:effectLst/>
                        </a:rPr>
                        <a:t> processor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1989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1,180,000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75674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Pentium® processor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1993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3,100,000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00233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Pentium® II processor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1997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7,500,000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152829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Pentium® III processor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1999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24,000,000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92299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Pentium® 4 processor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2000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42,000,000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677759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Xeon® processor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>
                          <a:effectLst/>
                        </a:rPr>
                        <a:t>2008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200" dirty="0">
                          <a:effectLst/>
                        </a:rPr>
                        <a:t>1,900,000,000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49486613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90D76CD-9196-4040-849E-3C88E290BD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4738" y="3400000"/>
            <a:ext cx="594142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Calibri" panose="020F0502020204030204" pitchFamily="34" charset="0"/>
              </a:rPr>
              <a:t>The data from the graph is as follows: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6" name="Picture 5" descr="Chart, scatter chart&#10;&#10;Description automatically generated">
            <a:extLst>
              <a:ext uri="{FF2B5EF4-FFF2-40B4-BE49-F238E27FC236}">
                <a16:creationId xmlns:a16="http://schemas.microsoft.com/office/drawing/2014/main" id="{25FA664D-203F-45AD-95BA-2B647AA7CB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9545" y="3789061"/>
            <a:ext cx="3517392" cy="2383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455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4BA82-FE7D-4DE6-BC00-A388E38B6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8195" y="815637"/>
            <a:ext cx="9793357" cy="855801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The design cycle 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66991734-4594-4192-B164-A81F61B004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5423" y="1951590"/>
            <a:ext cx="6221153" cy="444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0031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1" y="786103"/>
            <a:ext cx="9753599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The qualities of a well-designed report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9055EF-CDB8-481D-A24D-4F1034D96AD8}"/>
              </a:ext>
            </a:extLst>
          </p:cNvPr>
          <p:cNvSpPr/>
          <p:nvPr/>
        </p:nvSpPr>
        <p:spPr>
          <a:xfrm>
            <a:off x="1600201" y="1949612"/>
            <a:ext cx="9424850" cy="442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2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The report has a title. It could also have a sub-title.</a:t>
            </a:r>
          </a:p>
          <a:p>
            <a:pPr marL="342900" indent="-342900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2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Headings and sub-headings are used to break up large chunks of text.</a:t>
            </a:r>
          </a:p>
          <a:p>
            <a:pPr marL="342900" indent="-342900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2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Line spacing and margins ensure the content is easy to read and doesn’t feel cramped.</a:t>
            </a:r>
          </a:p>
          <a:p>
            <a:pPr marL="342900" indent="-342900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2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Images add meaning to the text and are accompanied by captions. Text could flow around images.</a:t>
            </a:r>
          </a:p>
          <a:p>
            <a:pPr marL="342900" indent="-342900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2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The number of fonts, font sizes and font colours is limited; too many can be confusing.</a:t>
            </a:r>
          </a:p>
          <a:p>
            <a:pPr marL="342900" indent="-342900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2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The information is logically ordered so that the narrative flows from one point to the next.</a:t>
            </a:r>
          </a:p>
          <a:p>
            <a:pPr marL="342900" indent="-342900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2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Data, in the form of tables or graphs, is used to support the text if appropriate.</a:t>
            </a:r>
          </a:p>
          <a:p>
            <a:pPr marL="342900" indent="-342900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200" dirty="0">
                <a:latin typeface="Calibri" panose="020F0502020204030204" pitchFamily="34" charset="0"/>
                <a:ea typeface="Arial" panose="020B0604020202020204" pitchFamily="34" charset="0"/>
                <a:cs typeface="Calibri" panose="020F0502020204030204" pitchFamily="34" charset="0"/>
              </a:rPr>
              <a:t>All sources of information are cited.</a:t>
            </a:r>
          </a:p>
        </p:txBody>
      </p:sp>
    </p:spTree>
    <p:extLst>
      <p:ext uri="{BB962C8B-B14F-4D97-AF65-F5344CB8AC3E}">
        <p14:creationId xmlns:p14="http://schemas.microsoft.com/office/powerpoint/2010/main" val="40176912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4BA82-FE7D-4DE6-BC00-A388E38B6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8195" y="815637"/>
            <a:ext cx="9793357" cy="855801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Activity 3.1: A report on Moore's Law </a:t>
            </a:r>
          </a:p>
        </p:txBody>
      </p:sp>
      <p:pic>
        <p:nvPicPr>
          <p:cNvPr id="8" name="Picture 7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67C52D5E-CB05-D747-9F64-9080627748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4533" y="1876947"/>
            <a:ext cx="4362933" cy="4274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649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297568" cy="865740"/>
          </a:xfrm>
        </p:spPr>
        <p:txBody>
          <a:bodyPr>
            <a:noAutofit/>
          </a:bodyPr>
          <a:lstStyle/>
          <a:p>
            <a:r>
              <a:rPr lang="en-GB" sz="3800" b="1" dirty="0">
                <a:solidFill>
                  <a:schemeClr val="bg1"/>
                </a:solidFill>
              </a:rPr>
              <a:t>Activity 3.2: Commenting on your partner’s report 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1097" y="1955449"/>
            <a:ext cx="4362933" cy="427474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32A7FFD-F029-BC4F-A8D0-EC8B0AC0E0E2}"/>
              </a:ext>
            </a:extLst>
          </p:cNvPr>
          <p:cNvSpPr/>
          <p:nvPr/>
        </p:nvSpPr>
        <p:spPr>
          <a:xfrm>
            <a:off x="1447801" y="2453477"/>
            <a:ext cx="4362933" cy="29436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Swap computers with a partner and use the comments tool to give feedback on the design of your partner’s report.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Remember to save your partner’s document when you have finished adding your comments.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9706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4482" y="1892899"/>
            <a:ext cx="4403035" cy="43140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E454DA2-BF42-4A17-974C-14F23A4E4D55}"/>
              </a:ext>
            </a:extLst>
          </p:cNvPr>
          <p:cNvSpPr txBox="1">
            <a:spLocks/>
          </p:cNvSpPr>
          <p:nvPr/>
        </p:nvSpPr>
        <p:spPr>
          <a:xfrm>
            <a:off x="1608570" y="796388"/>
            <a:ext cx="9793357" cy="855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b="1" dirty="0">
                <a:solidFill>
                  <a:schemeClr val="bg1"/>
                </a:solidFill>
              </a:rPr>
              <a:t>Quiz 3</a:t>
            </a:r>
          </a:p>
        </p:txBody>
      </p:sp>
    </p:spTree>
    <p:extLst>
      <p:ext uri="{BB962C8B-B14F-4D97-AF65-F5344CB8AC3E}">
        <p14:creationId xmlns:p14="http://schemas.microsoft.com/office/powerpoint/2010/main" val="30266836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5248" y="1930498"/>
            <a:ext cx="4434511" cy="434487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E454DA2-BF42-4A17-974C-14F23A4E4D55}"/>
              </a:ext>
            </a:extLst>
          </p:cNvPr>
          <p:cNvSpPr txBox="1">
            <a:spLocks/>
          </p:cNvSpPr>
          <p:nvPr/>
        </p:nvSpPr>
        <p:spPr>
          <a:xfrm>
            <a:off x="1608570" y="796388"/>
            <a:ext cx="9793357" cy="855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b="1" dirty="0">
                <a:solidFill>
                  <a:schemeClr val="bg1"/>
                </a:solidFill>
              </a:rPr>
              <a:t>Activity 3.3: Finishing your report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FEF9BF-34B7-FA47-A149-990F50DF85ED}"/>
              </a:ext>
            </a:extLst>
          </p:cNvPr>
          <p:cNvSpPr/>
          <p:nvPr/>
        </p:nvSpPr>
        <p:spPr>
          <a:xfrm>
            <a:off x="1661489" y="2355159"/>
            <a:ext cx="3904424" cy="33387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Evaluate the feedback you received on your report and make improvements.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Remember to ‘Save as’ before you begin making improvements, so you always have your partner’s comments to refer back to.</a:t>
            </a:r>
            <a:endParaRPr lang="en-GB" sz="2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44504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LMS_API_VERSION" val="SCORM 1.2"/>
  <p:tag name="ISPRING_ULTRA_SCORM_COURSE_ID" val="C2F48322-99E7-489F-A422-3485314448BB"/>
  <p:tag name="ISPRING_CMI5_LAUNCH_METHOD" val="any window"/>
  <p:tag name="ISPRINGCLOUDFOLDERID" val="1"/>
  <p:tag name="ISPRINGONLINEFOLDERID" val="1"/>
  <p:tag name="ISPRING_PUBLISH_SETTINGS" val="{&quot;commonSettings&quot;:{&quot;webSettings&quot;:{&quot;useMobileViewer&quot;:&quot;T_FALSE&quot;},&quot;lmsSettings&quot;:{&quot;useMobileViewer&quot;:&quot;T_FALSE&quot;},&quot;cloudSettings&quot;:{&quot;useMobileViewer&quot;:&quot;T_FALSE&quot;},&quot;ispringLmsSettings&quot;:{&quot;useMobileViewer&quot;:&quot;T_FALSE&quot;},&quot;playerId&quot;:&quot;universal&quot;},&quot;advancedSettings&quot;:{&quot;enableTextAllocation&quot;:&quot;T_TRUE&quot;,&quot;viewingFromLocalDrive&quot;:&quot;T_TRUE&quot;,&quot;contentScale&quot;:75,&quot;contentScaleMode&quot;:&quot;SCALE&quot;},&quot;compressionSettings&quot;:{&quot;imageSettings&quot;:{&quot;jpegQuality&quot;:70,&quot;optimizeImageForResolution&quot;:&quot;T_FALSE&quot;},&quot;audioQuality&quot;:70,&quot;videoQuality&quot;:65},&quot;protectionSettings&quot;:{&quot;watermarkEnabled&quot;:&quot;T_FALSE&quot;,&quot;watermarkPosition&quot;:&quot;MIDDLE_CENTER&quot;,&quot;openWatermarkUrl&quot;:&quot;T_FALSE&quot;,&quot;openWatermarkWebPageInNewWindow&quot;:&quot;T_FALSE&quot;,&quot;displayAfterEnabled&quot;:&quot;T_FALSE&quot;,&quot;displayUntilEnabled&quot;:&quot;T_FALSE&quot;,&quot;domainRestrictionEnabled&quot;:&quot;T_FALSE&quot;,&quot;enablePassword&quot;:&quot;T_FALSE&quot;},&quot;videoSettings&quot;:{&quot;videoCompressionSettings&quot;:{&quot;audioQuality&quot;:70,&quot;videoQuality&quot;:75},&quot;secondsOnEachSlide&quot;:5,&quot;hostingSettings&quot;:{}},&quot;ispringOnlineSettings&quot;:{&quot;onlineDestinationFolderId&quot;:&quot;1&quot;},&quot;cloudSettings&quot;:{&quot;onlineDestinationFolderId&quot;:&quot;1&quot;},&quot;wordSettings&quot;:{&quot;printCopies&quot;:1}}"/>
  <p:tag name="ISPRING_SCORM_RATE_SLIDES" val="0"/>
  <p:tag name="ISPRING_SCORM_PASSING_SCORE" val="0.000000"/>
  <p:tag name="ISPRING_CURRENT_PLAYER_ID" val="universal"/>
  <p:tag name="ISPRING_PRESENTATION_TITLE" val="PiC_03_presentation3"/>
  <p:tag name="ISPRING_FIRST_PUBLISH" val="1"/>
  <p:tag name="ISPRING_SCORM_ENDPOINT" val="&lt;endpoint&gt;&lt;enable&gt;0&lt;/enable&gt;&lt;lrs&gt;http://&lt;/lrs&gt;&lt;auth&gt;0&lt;/auth&gt;&lt;login&gt;&lt;/login&gt;&lt;password&gt;&lt;/password&gt;&lt;key&gt;&lt;/key&gt;&lt;name&gt;&lt;/name&gt;&lt;email&gt;&lt;/email&gt;&lt;/endpoint&gt;&#10;"/>
  <p:tag name="ISPRING_OUTPUT_FOLDER" val="[[&quot;\uFFFD\uFFFD\uFFFD\u0016{7E5F7FCF-D1FF-48CD-B4F4-7DA9236FA68B}&quot;,&quot;N:\\Vocational Editorial\\Commissioned projects\\ICT\\Progress in Computing\\00 Desk editor\\05b Proofread T&amp;L\\Final files to be renamed\\03 Computing past, present and future\\Lesson 3&quot;]]"/>
  <p:tag name="ISPRING_SCORM_RATE_QUIZZES" val="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10227</TotalTime>
  <Words>711</Words>
  <Application>Microsoft Office PowerPoint</Application>
  <PresentationFormat>Widescreen</PresentationFormat>
  <Paragraphs>105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Symbol</vt:lpstr>
      <vt:lpstr>Office Theme</vt:lpstr>
      <vt:lpstr>PowerPoint Presentation</vt:lpstr>
      <vt:lpstr>Objectives</vt:lpstr>
      <vt:lpstr>PowerPoint Presentation</vt:lpstr>
      <vt:lpstr>Gordon Moore</vt:lpstr>
      <vt:lpstr>The 1940s: valve computers</vt:lpstr>
      <vt:lpstr>1947: the invention of the transistor</vt:lpstr>
      <vt:lpstr>1959: the invention of the microchip</vt:lpstr>
      <vt:lpstr>Moore’s observation</vt:lpstr>
      <vt:lpstr>Moore’s Law graph </vt:lpstr>
      <vt:lpstr>The design cycle </vt:lpstr>
      <vt:lpstr>The qualities of a well-designed report </vt:lpstr>
      <vt:lpstr>Activity 3.1: A report on Moore's Law </vt:lpstr>
      <vt:lpstr>Activity 3.2: Commenting on your partner’s report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PiC_03_presentation3</dc:title>
  <dc:creator>Lea Albrechtsen</dc:creator>
  <cp:lastModifiedBy>Lea Albrechtsen</cp:lastModifiedBy>
  <cp:revision>63</cp:revision>
  <dcterms:created xsi:type="dcterms:W3CDTF">2020-11-04T15:22:46Z</dcterms:created>
  <dcterms:modified xsi:type="dcterms:W3CDTF">2021-06-29T11:26:38Z</dcterms:modified>
</cp:coreProperties>
</file>