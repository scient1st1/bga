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84" r:id="rId5"/>
    <p:sldId id="273" r:id="rId6"/>
    <p:sldId id="277" r:id="rId7"/>
    <p:sldId id="286" r:id="rId8"/>
    <p:sldId id="266"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36" autoAdjust="0"/>
    <p:restoredTop sz="94660"/>
  </p:normalViewPr>
  <p:slideViewPr>
    <p:cSldViewPr snapToGrid="0">
      <p:cViewPr varScale="1">
        <p:scale>
          <a:sx n="73" d="100"/>
          <a:sy n="73" d="100"/>
        </p:scale>
        <p:origin x="18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15/07/2021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15/07/2021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15/07/2021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15/07/2021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15/07/2021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15/07/2021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15/07/2021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15/07/2021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15/07/2021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15/07/2021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pic>
        <p:nvPicPr>
          <p:cNvPr id="6" name="Picture 5">
            <a:extLst>
              <a:ext uri="{FF2B5EF4-FFF2-40B4-BE49-F238E27FC236}">
                <a16:creationId xmlns:a16="http://schemas.microsoft.com/office/drawing/2014/main" id="{5700FF46-9591-E444-B749-96268477A679}"/>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0"/>
            <a:ext cx="12238036" cy="1622391"/>
          </a:xfrm>
          <a:prstGeom prst="rect">
            <a:avLst/>
          </a:prstGeom>
        </p:spPr>
      </p:pic>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F9337A-9D66-4C68-8520-6F92FE760709}"/>
              </a:ext>
            </a:extLst>
          </p:cNvPr>
          <p:cNvSpPr txBox="1">
            <a:spLocks/>
          </p:cNvSpPr>
          <p:nvPr/>
        </p:nvSpPr>
        <p:spPr>
          <a:xfrm>
            <a:off x="2047478" y="2498614"/>
            <a:ext cx="5516881" cy="1860771"/>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n-GB" b="1"/>
              <a:t>Sound and video editing</a:t>
            </a:r>
            <a:endParaRPr lang="en-GB" b="1" dirty="0"/>
          </a:p>
        </p:txBody>
      </p:sp>
      <p:sp>
        <p:nvSpPr>
          <p:cNvPr id="9" name="Rectangle 8">
            <a:extLst>
              <a:ext uri="{FF2B5EF4-FFF2-40B4-BE49-F238E27FC236}">
                <a16:creationId xmlns:a16="http://schemas.microsoft.com/office/drawing/2014/main" id="{0AC8B985-84FD-4419-9241-B08652BE775A}"/>
              </a:ext>
            </a:extLst>
          </p:cNvPr>
          <p:cNvSpPr/>
          <p:nvPr/>
        </p:nvSpPr>
        <p:spPr>
          <a:xfrm>
            <a:off x="2079716" y="4359385"/>
            <a:ext cx="5484643" cy="400110"/>
          </a:xfrm>
          <a:prstGeom prst="rect">
            <a:avLst/>
          </a:prstGeom>
        </p:spPr>
        <p:txBody>
          <a:bodyPr wrap="none">
            <a:spAutoFit/>
          </a:bodyPr>
          <a:lstStyle/>
          <a:p>
            <a:pPr algn="r"/>
            <a:r>
              <a:rPr lang="en-GB" sz="2000" b="1" dirty="0">
                <a:solidFill>
                  <a:srgbClr val="FF0000"/>
                </a:solidFill>
                <a:latin typeface="Calibri" panose="020F0502020204030204" pitchFamily="34" charset="0"/>
                <a:ea typeface="Times New Roman" panose="02020603050405020304" pitchFamily="18" charset="0"/>
              </a:rPr>
              <a:t>Lesson 4: Creating a soundtrack for a video advert</a:t>
            </a:r>
            <a:endParaRPr lang="en-GB" sz="2000" b="1" dirty="0">
              <a:solidFill>
                <a:srgbClr val="FF0000"/>
              </a:solidFill>
            </a:endParaRPr>
          </a:p>
        </p:txBody>
      </p:sp>
      <p:pic>
        <p:nvPicPr>
          <p:cNvPr id="10" name="Picture 9">
            <a:extLst>
              <a:ext uri="{FF2B5EF4-FFF2-40B4-BE49-F238E27FC236}">
                <a16:creationId xmlns:a16="http://schemas.microsoft.com/office/drawing/2014/main" id="{B452B26A-AC67-45FC-BE68-1465BF60402E}"/>
              </a:ext>
            </a:extLst>
          </p:cNvPr>
          <p:cNvPicPr>
            <a:picLocks noChangeAspect="1"/>
          </p:cNvPicPr>
          <p:nvPr/>
        </p:nvPicPr>
        <p:blipFill>
          <a:blip r:embed="rId2"/>
          <a:stretch>
            <a:fillRect/>
          </a:stretch>
        </p:blipFill>
        <p:spPr>
          <a:xfrm>
            <a:off x="8251906" y="2191860"/>
            <a:ext cx="2916165" cy="3635738"/>
          </a:xfrm>
          <a:prstGeom prst="rect">
            <a:avLst/>
          </a:prstGeom>
        </p:spPr>
      </p:pic>
    </p:spTree>
    <p:extLst>
      <p:ext uri="{BB962C8B-B14F-4D97-AF65-F5344CB8AC3E}">
        <p14:creationId xmlns:p14="http://schemas.microsoft.com/office/powerpoint/2010/main" val="1054316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30018" y="824948"/>
            <a:ext cx="9634330" cy="766349"/>
          </a:xfrm>
        </p:spPr>
        <p:txBody>
          <a:bodyPr/>
          <a:lstStyle/>
          <a:p>
            <a:r>
              <a:rPr lang="en-GB" b="1" dirty="0">
                <a:solidFill>
                  <a:schemeClr val="bg1"/>
                </a:solidFill>
              </a:rPr>
              <a:t>Objectives</a:t>
            </a:r>
          </a:p>
        </p:txBody>
      </p:sp>
      <p:sp>
        <p:nvSpPr>
          <p:cNvPr id="5" name="Rectangle 4">
            <a:extLst>
              <a:ext uri="{FF2B5EF4-FFF2-40B4-BE49-F238E27FC236}">
                <a16:creationId xmlns:a16="http://schemas.microsoft.com/office/drawing/2014/main" id="{8430BE0A-41D5-4110-A78D-A6ACD33DE78B}"/>
              </a:ext>
            </a:extLst>
          </p:cNvPr>
          <p:cNvSpPr/>
          <p:nvPr/>
        </p:nvSpPr>
        <p:spPr>
          <a:xfrm>
            <a:off x="1630018" y="2397948"/>
            <a:ext cx="7722704" cy="2062103"/>
          </a:xfrm>
          <a:prstGeom prst="rect">
            <a:avLst/>
          </a:prstGeom>
        </p:spPr>
        <p:txBody>
          <a:bodyPr wrap="square">
            <a:spAutoFit/>
          </a:bodyPr>
          <a:lstStyle/>
          <a:p>
            <a:pPr>
              <a:spcAft>
                <a:spcPts val="0"/>
              </a:spcAft>
            </a:pPr>
            <a:r>
              <a:rPr lang="en-GB" sz="3200" dirty="0">
                <a:ea typeface="Times New Roman" panose="02020603050405020304" pitchFamily="18" charset="0"/>
              </a:rPr>
              <a:t>In this lesson, you will:</a:t>
            </a:r>
          </a:p>
          <a:p>
            <a:pPr marL="342900" lvl="0" indent="-342900">
              <a:buFont typeface="Symbol" pitchFamily="2" charset="2"/>
              <a:buChar char=""/>
            </a:pPr>
            <a:r>
              <a:rPr lang="en-GB" sz="2400" dirty="0">
                <a:latin typeface="Calibri" panose="020F0502020204030204" pitchFamily="34" charset="0"/>
                <a:ea typeface="Roboto" panose="02000000000000000000" pitchFamily="2" charset="0"/>
                <a:cs typeface="Calibri" panose="020F0502020204030204" pitchFamily="34" charset="0"/>
              </a:rPr>
              <a:t>apply audio editing skills to develop a soundtrack for a video advert</a:t>
            </a:r>
            <a:endParaRPr lang="en-GB" sz="2400" dirty="0">
              <a:latin typeface="Ubuntu"/>
              <a:ea typeface="Ubuntu"/>
              <a:cs typeface="Ubuntu"/>
            </a:endParaRPr>
          </a:p>
          <a:p>
            <a:pPr marL="342900" lvl="0" indent="-342900">
              <a:buFont typeface="Symbol" pitchFamily="2" charset="2"/>
              <a:buChar char=""/>
            </a:pPr>
            <a:r>
              <a:rPr lang="en-GB" sz="2400" dirty="0">
                <a:latin typeface="Calibri" panose="020F0502020204030204" pitchFamily="34" charset="0"/>
                <a:ea typeface="Roboto" panose="02000000000000000000" pitchFamily="2" charset="0"/>
                <a:cs typeface="Calibri" panose="020F0502020204030204" pitchFamily="34" charset="0"/>
              </a:rPr>
              <a:t>apply audio effects appropriately to enhance a soundtrack for a video advert.</a:t>
            </a:r>
            <a:endParaRPr lang="en-GB" sz="2400" dirty="0">
              <a:latin typeface="Ubuntu"/>
              <a:ea typeface="Ubuntu"/>
              <a:cs typeface="Ubuntu"/>
            </a:endParaRP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775252"/>
            <a:ext cx="9773478" cy="834887"/>
          </a:xfrm>
        </p:spPr>
        <p:txBody>
          <a:bodyPr/>
          <a:lstStyle/>
          <a:p>
            <a:r>
              <a:rPr lang="en-GB" b="1" dirty="0">
                <a:solidFill>
                  <a:schemeClr val="bg1"/>
                </a:solidFill>
              </a:rPr>
              <a:t>Hachette Travel’s video advert </a:t>
            </a:r>
          </a:p>
        </p:txBody>
      </p:sp>
      <p:sp>
        <p:nvSpPr>
          <p:cNvPr id="3" name="Rectangle 2">
            <a:extLst>
              <a:ext uri="{FF2B5EF4-FFF2-40B4-BE49-F238E27FC236}">
                <a16:creationId xmlns:a16="http://schemas.microsoft.com/office/drawing/2014/main" id="{868C1B8D-6296-0444-89C8-6A5A704E09AB}"/>
              </a:ext>
            </a:extLst>
          </p:cNvPr>
          <p:cNvSpPr/>
          <p:nvPr/>
        </p:nvSpPr>
        <p:spPr>
          <a:xfrm>
            <a:off x="1580322" y="1843900"/>
            <a:ext cx="9773477" cy="4524315"/>
          </a:xfrm>
          <a:prstGeom prst="rect">
            <a:avLst/>
          </a:prstGeom>
        </p:spPr>
        <p:txBody>
          <a:bodyPr wrap="square">
            <a:spAutoFit/>
          </a:bodyPr>
          <a:lstStyle/>
          <a:p>
            <a:r>
              <a:rPr lang="en-GB" sz="2400" dirty="0"/>
              <a:t>Hachette Travel organises holidays for families abroad, including flights. It would like to sell more holiday packages and it thinks a video advert will help it get more customers. It plans to show the advert online.</a:t>
            </a:r>
          </a:p>
          <a:p>
            <a:endParaRPr lang="en-GB" sz="2400" dirty="0"/>
          </a:p>
          <a:p>
            <a:r>
              <a:rPr lang="en-GB" sz="2400" dirty="0"/>
              <a:t>The advert must:</a:t>
            </a:r>
          </a:p>
          <a:p>
            <a:pPr marL="457200" lvl="0" indent="-457200">
              <a:buFont typeface="+mj-lt"/>
              <a:buAutoNum type="arabicPeriod"/>
            </a:pPr>
            <a:r>
              <a:rPr lang="en-GB" sz="2400" dirty="0"/>
              <a:t>be no longer than 30 seconds</a:t>
            </a:r>
          </a:p>
          <a:p>
            <a:pPr marL="457200" lvl="0" indent="-457200">
              <a:buFont typeface="+mj-lt"/>
              <a:buAutoNum type="arabicPeriod"/>
            </a:pPr>
            <a:r>
              <a:rPr lang="en-GB" sz="2400" dirty="0"/>
              <a:t>include a voiceover</a:t>
            </a:r>
          </a:p>
          <a:p>
            <a:pPr marL="457200" lvl="0" indent="-457200">
              <a:buFont typeface="+mj-lt"/>
              <a:buAutoNum type="arabicPeriod"/>
            </a:pPr>
            <a:r>
              <a:rPr lang="en-GB" sz="2400" dirty="0"/>
              <a:t>include background music</a:t>
            </a:r>
          </a:p>
          <a:p>
            <a:pPr marL="457200" lvl="0" indent="-457200">
              <a:buFont typeface="+mj-lt"/>
              <a:buAutoNum type="arabicPeriod"/>
            </a:pPr>
            <a:r>
              <a:rPr lang="en-GB" sz="2400" dirty="0"/>
              <a:t>include at least three audio effects</a:t>
            </a:r>
          </a:p>
          <a:p>
            <a:pPr marL="457200" lvl="0" indent="-457200">
              <a:buFont typeface="+mj-lt"/>
              <a:buAutoNum type="arabicPeriod"/>
            </a:pPr>
            <a:r>
              <a:rPr lang="en-GB" sz="2400" dirty="0"/>
              <a:t>include at least five different video clips</a:t>
            </a:r>
          </a:p>
          <a:p>
            <a:pPr marL="457200" lvl="0" indent="-457200">
              <a:buFont typeface="+mj-lt"/>
              <a:buAutoNum type="arabicPeriod"/>
            </a:pPr>
            <a:r>
              <a:rPr lang="en-GB" sz="2400" dirty="0"/>
              <a:t>include Hachette Travel’s logo, which should be on screen throughout</a:t>
            </a:r>
          </a:p>
          <a:p>
            <a:pPr marL="457200" lvl="0" indent="-457200">
              <a:buFont typeface="+mj-lt"/>
              <a:buAutoNum type="arabicPeriod"/>
            </a:pPr>
            <a:r>
              <a:rPr lang="en-GB" sz="2400" dirty="0"/>
              <a:t>include at least three visual effects.</a:t>
            </a:r>
          </a:p>
        </p:txBody>
      </p:sp>
    </p:spTree>
    <p:extLst>
      <p:ext uri="{BB962C8B-B14F-4D97-AF65-F5344CB8AC3E}">
        <p14:creationId xmlns:p14="http://schemas.microsoft.com/office/powerpoint/2010/main" val="1166166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94505" cy="775252"/>
          </a:xfrm>
        </p:spPr>
        <p:txBody>
          <a:bodyPr>
            <a:normAutofit/>
          </a:bodyPr>
          <a:lstStyle/>
          <a:p>
            <a:r>
              <a:rPr lang="en-GB" b="1" dirty="0">
                <a:solidFill>
                  <a:schemeClr val="bg1"/>
                </a:solidFill>
              </a:rPr>
              <a:t>Activity 4.1: Soundtrack</a:t>
            </a:r>
            <a:endParaRPr lang="en-GB" sz="3600" b="1" dirty="0">
              <a:solidFill>
                <a:schemeClr val="bg1"/>
              </a:solidFill>
            </a:endParaRPr>
          </a:p>
        </p:txBody>
      </p:sp>
      <p:sp>
        <p:nvSpPr>
          <p:cNvPr id="3" name="Rectangle 2">
            <a:extLst>
              <a:ext uri="{FF2B5EF4-FFF2-40B4-BE49-F238E27FC236}">
                <a16:creationId xmlns:a16="http://schemas.microsoft.com/office/drawing/2014/main" id="{2E18DB44-5438-A243-AC7D-2EE0C721D2AE}"/>
              </a:ext>
            </a:extLst>
          </p:cNvPr>
          <p:cNvSpPr/>
          <p:nvPr/>
        </p:nvSpPr>
        <p:spPr>
          <a:xfrm>
            <a:off x="1570382" y="2013387"/>
            <a:ext cx="6981436" cy="4154984"/>
          </a:xfrm>
          <a:prstGeom prst="rect">
            <a:avLst/>
          </a:prstGeom>
        </p:spPr>
        <p:txBody>
          <a:bodyPr wrap="square">
            <a:spAutoFit/>
          </a:bodyPr>
          <a:lstStyle/>
          <a:p>
            <a:pPr marL="285750" indent="-285750">
              <a:buFont typeface="Arial" panose="020B0604020202020204" pitchFamily="34" charset="0"/>
              <a:buChar char="•"/>
            </a:pPr>
            <a:r>
              <a:rPr lang="en-GB" sz="2400" dirty="0"/>
              <a:t>Use your sound editing skills to create the </a:t>
            </a:r>
            <a:r>
              <a:rPr lang="en-GB" sz="2400" b="1" dirty="0">
                <a:solidFill>
                  <a:srgbClr val="FF0000"/>
                </a:solidFill>
              </a:rPr>
              <a:t>soundtrack</a:t>
            </a:r>
            <a:r>
              <a:rPr lang="en-GB" sz="2400" dirty="0"/>
              <a:t> for your video advert using Audacity. The soundtrack is the collection of sounds that will accompany the visuals in your video advert.</a:t>
            </a:r>
          </a:p>
          <a:p>
            <a:pPr marL="285750" indent="-285750">
              <a:buFont typeface="Arial" panose="020B0604020202020204" pitchFamily="34" charset="0"/>
              <a:buChar char="•"/>
            </a:pPr>
            <a:r>
              <a:rPr lang="en-GB" sz="2400" dirty="0"/>
              <a:t>Use </a:t>
            </a:r>
            <a:r>
              <a:rPr lang="en-GB" sz="2400" dirty="0" smtClean="0"/>
              <a:t>Sounds 3.2 </a:t>
            </a:r>
            <a:r>
              <a:rPr lang="en-GB" sz="2400" dirty="0"/>
              <a:t>and </a:t>
            </a:r>
            <a:r>
              <a:rPr lang="en-GB" sz="2400" dirty="0" smtClean="0"/>
              <a:t>Visuals </a:t>
            </a:r>
            <a:r>
              <a:rPr lang="en-GB" sz="2400" dirty="0"/>
              <a:t>3.2.</a:t>
            </a:r>
          </a:p>
          <a:p>
            <a:pPr marL="285750" indent="-285750">
              <a:buFont typeface="Arial" panose="020B0604020202020204" pitchFamily="34" charset="0"/>
              <a:buChar char="•"/>
            </a:pPr>
            <a:r>
              <a:rPr lang="en-GB" sz="2400" dirty="0"/>
              <a:t>Use your timeline to help you create your soundtrack. You can depart from your plan, but if you do something different make sure you save a new version of your timeline and change your timeline to match.</a:t>
            </a:r>
          </a:p>
          <a:p>
            <a:pPr marL="285750" indent="-285750">
              <a:buFont typeface="Arial" panose="020B0604020202020204" pitchFamily="34" charset="0"/>
              <a:buChar char="•"/>
            </a:pPr>
            <a:endParaRPr lang="en-GB" sz="2400" dirty="0"/>
          </a:p>
        </p:txBody>
      </p:sp>
      <p:pic>
        <p:nvPicPr>
          <p:cNvPr id="5" name="Picture 4" descr="A picture containing athletic game, basketball, sport&#10;&#10;Description automatically generated">
            <a:extLst>
              <a:ext uri="{FF2B5EF4-FFF2-40B4-BE49-F238E27FC236}">
                <a16:creationId xmlns:a16="http://schemas.microsoft.com/office/drawing/2014/main" id="{DC0C68F7-69B7-4C52-ABB8-454068DB0A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456429" y="2205812"/>
            <a:ext cx="3295790" cy="3229173"/>
          </a:xfrm>
          <a:prstGeom prst="rect">
            <a:avLst/>
          </a:prstGeom>
        </p:spPr>
      </p:pic>
      <p:sp>
        <p:nvSpPr>
          <p:cNvPr id="7" name="Rectangle 6">
            <a:extLst>
              <a:ext uri="{FF2B5EF4-FFF2-40B4-BE49-F238E27FC236}">
                <a16:creationId xmlns:a16="http://schemas.microsoft.com/office/drawing/2014/main" id="{27EA54E7-FE77-4FA1-86F0-AFE13CA2E078}"/>
              </a:ext>
            </a:extLst>
          </p:cNvPr>
          <p:cNvSpPr/>
          <p:nvPr/>
        </p:nvSpPr>
        <p:spPr>
          <a:xfrm>
            <a:off x="1570382" y="5627410"/>
            <a:ext cx="9489504" cy="461665"/>
          </a:xfrm>
          <a:prstGeom prst="rect">
            <a:avLst/>
          </a:prstGeom>
        </p:spPr>
        <p:txBody>
          <a:bodyPr wrap="square">
            <a:spAutoFit/>
          </a:bodyPr>
          <a:lstStyle/>
          <a:p>
            <a:pPr marL="285750" indent="-285750">
              <a:buFont typeface="Arial" panose="020B0604020202020204" pitchFamily="34" charset="0"/>
              <a:buChar char="•"/>
            </a:pPr>
            <a:r>
              <a:rPr lang="en-GB" sz="2400" dirty="0"/>
              <a:t>Record your voiceover using the script provided, or import Sounds 4.1.</a:t>
            </a:r>
            <a:endParaRPr lang="en-GB" sz="3200" dirty="0"/>
          </a:p>
        </p:txBody>
      </p:sp>
    </p:spTree>
    <p:extLst>
      <p:ext uri="{BB962C8B-B14F-4D97-AF65-F5344CB8AC3E}">
        <p14:creationId xmlns:p14="http://schemas.microsoft.com/office/powerpoint/2010/main" val="8373883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65312"/>
            <a:ext cx="9733721" cy="835923"/>
          </a:xfrm>
        </p:spPr>
        <p:txBody>
          <a:bodyPr/>
          <a:lstStyle/>
          <a:p>
            <a:r>
              <a:rPr lang="en-GB" b="1" dirty="0">
                <a:solidFill>
                  <a:schemeClr val="bg1"/>
                </a:solidFill>
              </a:rPr>
              <a:t>Exporting your soundtrack</a:t>
            </a:r>
            <a:r>
              <a:rPr lang="en-GB" dirty="0">
                <a:solidFill>
                  <a:schemeClr val="bg1"/>
                </a:solidFill>
              </a:rPr>
              <a:t> </a:t>
            </a:r>
            <a:endParaRPr lang="en-GB" b="1" dirty="0">
              <a:solidFill>
                <a:schemeClr val="bg1"/>
              </a:solidFill>
            </a:endParaRP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8" y="2349017"/>
            <a:ext cx="9034670" cy="2159966"/>
          </a:xfrm>
        </p:spPr>
        <p:txBody>
          <a:bodyPr>
            <a:noAutofit/>
          </a:bodyPr>
          <a:lstStyle/>
          <a:p>
            <a:r>
              <a:rPr lang="en-GB" sz="2400" dirty="0"/>
              <a:t>When you have created your soundtrack, you need to </a:t>
            </a:r>
            <a:r>
              <a:rPr lang="en-GB" sz="2400" b="1" dirty="0">
                <a:solidFill>
                  <a:srgbClr val="FF0000"/>
                </a:solidFill>
              </a:rPr>
              <a:t>export</a:t>
            </a:r>
            <a:r>
              <a:rPr lang="en-GB" sz="2400" dirty="0"/>
              <a:t> it so that you can import it into video editing software next lesson.</a:t>
            </a:r>
          </a:p>
          <a:p>
            <a:r>
              <a:rPr lang="en-GB" sz="2400" dirty="0"/>
              <a:t>There are a number of different options for exporting sound files, but you should click ‘File’, Export, ‘Export as WAV’ because most video editing software works well with WAV files and they are good quality.</a:t>
            </a:r>
          </a:p>
        </p:txBody>
      </p:sp>
      <p:sp>
        <p:nvSpPr>
          <p:cNvPr id="5" name="Rectangle 4">
            <a:extLst>
              <a:ext uri="{FF2B5EF4-FFF2-40B4-BE49-F238E27FC236}">
                <a16:creationId xmlns:a16="http://schemas.microsoft.com/office/drawing/2014/main" id="{D6553847-64DD-414E-9DCA-62273F58F021}"/>
              </a:ext>
            </a:extLst>
          </p:cNvPr>
          <p:cNvSpPr/>
          <p:nvPr/>
        </p:nvSpPr>
        <p:spPr>
          <a:xfrm>
            <a:off x="4765796" y="5256765"/>
            <a:ext cx="2660408" cy="523220"/>
          </a:xfrm>
          <a:prstGeom prst="rect">
            <a:avLst/>
          </a:prstGeom>
        </p:spPr>
        <p:txBody>
          <a:bodyPr wrap="none">
            <a:spAutoFit/>
          </a:bodyPr>
          <a:lstStyle/>
          <a:p>
            <a:pPr algn="ctr"/>
            <a:r>
              <a:rPr lang="en-GB" sz="2800">
                <a:ea typeface="Roboto" panose="02000000000000000000" pitchFamily="2" charset="0"/>
                <a:cs typeface="Calibri" panose="020F0502020204030204" pitchFamily="34" charset="0"/>
              </a:rPr>
              <a:t>Watch </a:t>
            </a:r>
            <a:r>
              <a:rPr lang="en-GB" sz="2800" smtClean="0">
                <a:ea typeface="Roboto" panose="02000000000000000000" pitchFamily="2" charset="0"/>
                <a:cs typeface="Calibri" panose="020F0502020204030204" pitchFamily="34" charset="0"/>
              </a:rPr>
              <a:t>Video </a:t>
            </a:r>
            <a:r>
              <a:rPr lang="en-GB" sz="2800" dirty="0">
                <a:ea typeface="Roboto" panose="02000000000000000000" pitchFamily="2" charset="0"/>
                <a:cs typeface="Calibri" panose="020F0502020204030204" pitchFamily="34" charset="0"/>
              </a:rPr>
              <a:t>4.1</a:t>
            </a:r>
            <a:r>
              <a:rPr lang="en-GB" sz="2800" dirty="0"/>
              <a:t> </a:t>
            </a:r>
            <a:endParaRPr lang="en-US" sz="2800" dirty="0"/>
          </a:p>
        </p:txBody>
      </p:sp>
    </p:spTree>
    <p:extLst>
      <p:ext uri="{BB962C8B-B14F-4D97-AF65-F5344CB8AC3E}">
        <p14:creationId xmlns:p14="http://schemas.microsoft.com/office/powerpoint/2010/main" val="4114912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 calcmode="lin" valueType="num">
                                      <p:cBhvr>
                                        <p:cTn id="9" dur="500" fill="hold"/>
                                        <p:tgtEl>
                                          <p:spTgt spid="5"/>
                                        </p:tgtEl>
                                        <p:attrNameLst>
                                          <p:attrName>style.rotation</p:attrName>
                                        </p:attrNameLst>
                                      </p:cBhvr>
                                      <p:tavLst>
                                        <p:tav tm="0">
                                          <p:val>
                                            <p:fltVal val="360"/>
                                          </p:val>
                                        </p:tav>
                                        <p:tav tm="100000">
                                          <p:val>
                                            <p:fltVal val="0"/>
                                          </p:val>
                                        </p:tav>
                                      </p:tavLst>
                                    </p:anim>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9783417" cy="775252"/>
          </a:xfrm>
        </p:spPr>
        <p:txBody>
          <a:bodyPr/>
          <a:lstStyle/>
          <a:p>
            <a:r>
              <a:rPr lang="en-GB" b="1" dirty="0">
                <a:solidFill>
                  <a:schemeClr val="bg1"/>
                </a:solidFill>
              </a:rPr>
              <a:t>Activity 4.2: Export your soundtrack </a:t>
            </a:r>
          </a:p>
        </p:txBody>
      </p:sp>
      <p:sp>
        <p:nvSpPr>
          <p:cNvPr id="3" name="Rectangle 2">
            <a:extLst>
              <a:ext uri="{FF2B5EF4-FFF2-40B4-BE49-F238E27FC236}">
                <a16:creationId xmlns:a16="http://schemas.microsoft.com/office/drawing/2014/main" id="{2E18DB44-5438-A243-AC7D-2EE0C721D2AE}"/>
              </a:ext>
            </a:extLst>
          </p:cNvPr>
          <p:cNvSpPr/>
          <p:nvPr/>
        </p:nvSpPr>
        <p:spPr>
          <a:xfrm>
            <a:off x="1570382" y="2951946"/>
            <a:ext cx="3802807" cy="954107"/>
          </a:xfrm>
          <a:prstGeom prst="rect">
            <a:avLst/>
          </a:prstGeom>
        </p:spPr>
        <p:txBody>
          <a:bodyPr wrap="square">
            <a:spAutoFit/>
          </a:bodyPr>
          <a:lstStyle/>
          <a:p>
            <a:r>
              <a:rPr lang="en-GB" sz="2800" dirty="0">
                <a:latin typeface="Calibri" panose="020F0502020204030204" pitchFamily="34" charset="0"/>
                <a:ea typeface="Roboto" panose="02000000000000000000" pitchFamily="2" charset="0"/>
                <a:cs typeface="Calibri" panose="020F0502020204030204" pitchFamily="34" charset="0"/>
              </a:rPr>
              <a:t>Now it is time to export your soundtrack.</a:t>
            </a:r>
          </a:p>
        </p:txBody>
      </p:sp>
      <p:pic>
        <p:nvPicPr>
          <p:cNvPr id="5" name="Picture 4" descr="A picture containing athletic game, basketball, sport&#10;&#10;Description automatically generated">
            <a:extLst>
              <a:ext uri="{FF2B5EF4-FFF2-40B4-BE49-F238E27FC236}">
                <a16:creationId xmlns:a16="http://schemas.microsoft.com/office/drawing/2014/main" id="{7D2FE14F-6BEB-42EC-801F-6CF56118A5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69265" y="2038296"/>
            <a:ext cx="4252353" cy="4166401"/>
          </a:xfrm>
          <a:prstGeom prst="rect">
            <a:avLst/>
          </a:prstGeom>
        </p:spPr>
      </p:pic>
    </p:spTree>
    <p:extLst>
      <p:ext uri="{BB962C8B-B14F-4D97-AF65-F5344CB8AC3E}">
        <p14:creationId xmlns:p14="http://schemas.microsoft.com/office/powerpoint/2010/main" val="4178638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94505" cy="775252"/>
          </a:xfrm>
        </p:spPr>
        <p:txBody>
          <a:bodyPr>
            <a:normAutofit/>
          </a:bodyPr>
          <a:lstStyle/>
          <a:p>
            <a:r>
              <a:rPr lang="en-GB" b="1" dirty="0">
                <a:solidFill>
                  <a:schemeClr val="bg1"/>
                </a:solidFill>
              </a:rPr>
              <a:t>Activity 4.3: Peer assessing the soundtracks </a:t>
            </a:r>
            <a:endParaRPr lang="en-GB" sz="3600" b="1" dirty="0">
              <a:solidFill>
                <a:schemeClr val="bg1"/>
              </a:solidFill>
            </a:endParaRPr>
          </a:p>
        </p:txBody>
      </p:sp>
      <p:sp>
        <p:nvSpPr>
          <p:cNvPr id="3" name="Rectangle 2">
            <a:extLst>
              <a:ext uri="{FF2B5EF4-FFF2-40B4-BE49-F238E27FC236}">
                <a16:creationId xmlns:a16="http://schemas.microsoft.com/office/drawing/2014/main" id="{2E18DB44-5438-A243-AC7D-2EE0C721D2AE}"/>
              </a:ext>
            </a:extLst>
          </p:cNvPr>
          <p:cNvSpPr/>
          <p:nvPr/>
        </p:nvSpPr>
        <p:spPr>
          <a:xfrm>
            <a:off x="1570382" y="2030804"/>
            <a:ext cx="6528857" cy="4154984"/>
          </a:xfrm>
          <a:prstGeom prst="rect">
            <a:avLst/>
          </a:prstGeom>
        </p:spPr>
        <p:txBody>
          <a:bodyPr wrap="square">
            <a:spAutoFit/>
          </a:bodyPr>
          <a:lstStyle/>
          <a:p>
            <a:r>
              <a:rPr lang="en-GB" sz="2400" dirty="0"/>
              <a:t>Swap computers with somebody and listen carefully to their soundtrack.</a:t>
            </a:r>
          </a:p>
          <a:p>
            <a:endParaRPr lang="en-GB" sz="2400" dirty="0"/>
          </a:p>
          <a:p>
            <a:pPr marL="342900" lvl="0" indent="-342900">
              <a:buFont typeface="+mj-lt"/>
              <a:buAutoNum type="arabicPeriod"/>
            </a:pPr>
            <a:r>
              <a:rPr lang="en-GB" sz="2400" dirty="0"/>
              <a:t>Is it 30 seconds or shorter?</a:t>
            </a:r>
          </a:p>
          <a:p>
            <a:pPr marL="342900" lvl="0" indent="-342900">
              <a:buFont typeface="+mj-lt"/>
              <a:buAutoNum type="arabicPeriod"/>
            </a:pPr>
            <a:r>
              <a:rPr lang="en-GB" sz="2400" dirty="0"/>
              <a:t>Does it include a voiceover?</a:t>
            </a:r>
          </a:p>
          <a:p>
            <a:pPr marL="342900" lvl="0" indent="-342900">
              <a:buFont typeface="+mj-lt"/>
              <a:buAutoNum type="arabicPeriod"/>
            </a:pPr>
            <a:r>
              <a:rPr lang="en-GB" sz="2400" dirty="0"/>
              <a:t>Does it include background music?</a:t>
            </a:r>
          </a:p>
          <a:p>
            <a:pPr marL="342900" lvl="0" indent="-342900">
              <a:buFont typeface="+mj-lt"/>
              <a:buAutoNum type="arabicPeriod"/>
            </a:pPr>
            <a:r>
              <a:rPr lang="en-GB" sz="2400" dirty="0"/>
              <a:t>Does it include at least three audio effects?</a:t>
            </a:r>
          </a:p>
          <a:p>
            <a:pPr lvl="0"/>
            <a:endParaRPr lang="en-GB" sz="2400" dirty="0"/>
          </a:p>
          <a:p>
            <a:r>
              <a:rPr lang="en-GB" sz="2400" dirty="0"/>
              <a:t>Give your partner one point for each success criterion they meet and tell them which success criteria they have yet to meet.</a:t>
            </a:r>
          </a:p>
        </p:txBody>
      </p:sp>
      <p:pic>
        <p:nvPicPr>
          <p:cNvPr id="5" name="Picture 4" descr="A picture containing athletic game, basketball, sport&#10;&#10;Description automatically generated">
            <a:extLst>
              <a:ext uri="{FF2B5EF4-FFF2-40B4-BE49-F238E27FC236}">
                <a16:creationId xmlns:a16="http://schemas.microsoft.com/office/drawing/2014/main" id="{F945B7AB-3C8B-4E82-8847-7658765B46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55537" y="2253371"/>
            <a:ext cx="3786383" cy="3709850"/>
          </a:xfrm>
          <a:prstGeom prst="rect">
            <a:avLst/>
          </a:prstGeom>
        </p:spPr>
      </p:pic>
    </p:spTree>
    <p:extLst>
      <p:ext uri="{BB962C8B-B14F-4D97-AF65-F5344CB8AC3E}">
        <p14:creationId xmlns:p14="http://schemas.microsoft.com/office/powerpoint/2010/main" val="1181793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30017" y="805070"/>
            <a:ext cx="9783417" cy="775252"/>
          </a:xfrm>
        </p:spPr>
        <p:txBody>
          <a:bodyPr/>
          <a:lstStyle/>
          <a:p>
            <a:r>
              <a:rPr lang="en-GB" b="1" dirty="0">
                <a:solidFill>
                  <a:schemeClr val="bg1"/>
                </a:solidFill>
              </a:rPr>
              <a:t>Quiz 4</a:t>
            </a:r>
          </a:p>
        </p:txBody>
      </p:sp>
      <p:pic>
        <p:nvPicPr>
          <p:cNvPr id="4" name="Picture 3" descr="A picture containing athletic game, basketball, sport&#10;&#10;Description automatically generated">
            <a:extLst>
              <a:ext uri="{FF2B5EF4-FFF2-40B4-BE49-F238E27FC236}">
                <a16:creationId xmlns:a16="http://schemas.microsoft.com/office/drawing/2014/main" id="{3B910656-52ED-429D-8F7F-F210A0D956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98964" y="1877347"/>
            <a:ext cx="4794072" cy="4697171"/>
          </a:xfrm>
          <a:prstGeom prst="rect">
            <a:avLst/>
          </a:prstGeom>
        </p:spPr>
      </p:pic>
    </p:spTree>
    <p:extLst>
      <p:ext uri="{BB962C8B-B14F-4D97-AF65-F5344CB8AC3E}">
        <p14:creationId xmlns:p14="http://schemas.microsoft.com/office/powerpoint/2010/main" val="2922878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379</TotalTime>
  <Words>394</Words>
  <Application>Microsoft Office PowerPoint</Application>
  <PresentationFormat>Widescreen</PresentationFormat>
  <Paragraphs>38</Paragraphs>
  <Slides>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vt:i4>
      </vt:variant>
    </vt:vector>
  </HeadingPairs>
  <TitlesOfParts>
    <vt:vector size="16" baseType="lpstr">
      <vt:lpstr>Arial</vt:lpstr>
      <vt:lpstr>Calibri</vt:lpstr>
      <vt:lpstr>Calibri Light</vt:lpstr>
      <vt:lpstr>Roboto</vt:lpstr>
      <vt:lpstr>Symbol</vt:lpstr>
      <vt:lpstr>Times New Roman</vt:lpstr>
      <vt:lpstr>Ubuntu</vt:lpstr>
      <vt:lpstr>Office Theme</vt:lpstr>
      <vt:lpstr>PowerPoint Presentation</vt:lpstr>
      <vt:lpstr>Objectives</vt:lpstr>
      <vt:lpstr>Hachette Travel’s video advert </vt:lpstr>
      <vt:lpstr>Activity 4.1: Soundtrack</vt:lpstr>
      <vt:lpstr>Exporting your soundtrack </vt:lpstr>
      <vt:lpstr>Activity 4.2: Export your soundtrack </vt:lpstr>
      <vt:lpstr>Activity 4.3: Peer assessing the soundtracks </vt:lpstr>
      <vt:lpstr>Quiz 4</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Windows User</cp:lastModifiedBy>
  <cp:revision>40</cp:revision>
  <dcterms:created xsi:type="dcterms:W3CDTF">2020-11-04T15:22:46Z</dcterms:created>
  <dcterms:modified xsi:type="dcterms:W3CDTF">2021-07-15T09:39:46Z</dcterms:modified>
</cp:coreProperties>
</file>