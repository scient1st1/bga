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58" r:id="rId4"/>
    <p:sldId id="260"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36" autoAdjust="0"/>
    <p:restoredTop sz="94660"/>
  </p:normalViewPr>
  <p:slideViewPr>
    <p:cSldViewPr snapToGrid="0">
      <p:cViewPr varScale="1">
        <p:scale>
          <a:sx n="63" d="100"/>
          <a:sy n="63" d="100"/>
        </p:scale>
        <p:origin x="55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commentAuthors" Target="commen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02/09/2022</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6" name="Picture 5">
            <a:extLst>
              <a:ext uri="{FF2B5EF4-FFF2-40B4-BE49-F238E27FC236}">
                <a16:creationId xmlns:a16="http://schemas.microsoft.com/office/drawing/2014/main" id="{5700FF46-9591-E444-B749-96268477A67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238036" cy="1622391"/>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bensound.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630018" y="824948"/>
            <a:ext cx="10409582" cy="766349"/>
          </a:xfrm>
        </p:spPr>
        <p:txBody>
          <a:bodyPr>
            <a:noAutofit/>
          </a:bodyPr>
          <a:lstStyle/>
          <a:p>
            <a:r>
              <a:rPr lang="en-GB" b="1" dirty="0">
                <a:solidFill>
                  <a:schemeClr val="bg1"/>
                </a:solidFill>
              </a:rPr>
              <a:t>Activity 3.2: Planning a video advert (Part one) </a:t>
            </a:r>
          </a:p>
        </p:txBody>
      </p:sp>
      <p:sp>
        <p:nvSpPr>
          <p:cNvPr id="5" name="Rectangle 4">
            <a:extLst>
              <a:ext uri="{FF2B5EF4-FFF2-40B4-BE49-F238E27FC236}">
                <a16:creationId xmlns:a16="http://schemas.microsoft.com/office/drawing/2014/main" id="{8430BE0A-41D5-4110-A78D-A6ACD33DE78B}"/>
              </a:ext>
            </a:extLst>
          </p:cNvPr>
          <p:cNvSpPr/>
          <p:nvPr/>
        </p:nvSpPr>
        <p:spPr>
          <a:xfrm>
            <a:off x="1630018" y="2081484"/>
            <a:ext cx="9142485" cy="3724096"/>
          </a:xfrm>
          <a:prstGeom prst="rect">
            <a:avLst/>
          </a:prstGeom>
        </p:spPr>
        <p:txBody>
          <a:bodyPr wrap="square">
            <a:spAutoFit/>
          </a:bodyPr>
          <a:lstStyle/>
          <a:p>
            <a:pPr>
              <a:spcAft>
                <a:spcPts val="1200"/>
              </a:spcAft>
            </a:pPr>
            <a:r>
              <a:rPr lang="en-GB" sz="2400" dirty="0"/>
              <a:t>On the next slides, you will see the beginnings of a timeline for the Hachette Travel video advert.</a:t>
            </a:r>
          </a:p>
          <a:p>
            <a:pPr>
              <a:spcAft>
                <a:spcPts val="1200"/>
              </a:spcAft>
            </a:pPr>
            <a:r>
              <a:rPr lang="en-GB" sz="2400" dirty="0"/>
              <a:t>Listen to the audio files and look at the suggested videos and voiceover script that you have been provided with by your client, Hachette Travel. You can download background music of your choice from </a:t>
            </a:r>
            <a:r>
              <a:rPr lang="en-GB" sz="2400" u="sng" dirty="0">
                <a:hlinkClick r:id="rId2"/>
              </a:rPr>
              <a:t>www.bensound.com</a:t>
            </a:r>
            <a:r>
              <a:rPr lang="en-GB" sz="2400" dirty="0"/>
              <a:t>.</a:t>
            </a:r>
          </a:p>
          <a:p>
            <a:pPr>
              <a:spcAft>
                <a:spcPts val="1200"/>
              </a:spcAft>
            </a:pPr>
            <a:r>
              <a:rPr lang="en-GB" sz="2400" dirty="0"/>
              <a:t>Decide which sounds and images to use in your advert and drag them into position on the timeline. You will have to resize the blocks but do not rename them.</a:t>
            </a:r>
          </a:p>
        </p:txBody>
      </p:sp>
    </p:spTree>
    <p:extLst>
      <p:ext uri="{BB962C8B-B14F-4D97-AF65-F5344CB8AC3E}">
        <p14:creationId xmlns:p14="http://schemas.microsoft.com/office/powerpoint/2010/main" val="1699810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1586FC-760E-4973-9D1E-5655E61AB36E}"/>
              </a:ext>
            </a:extLst>
          </p:cNvPr>
          <p:cNvSpPr/>
          <p:nvPr/>
        </p:nvSpPr>
        <p:spPr>
          <a:xfrm>
            <a:off x="1630018" y="2014419"/>
            <a:ext cx="6096000" cy="3416320"/>
          </a:xfrm>
          <a:prstGeom prst="rect">
            <a:avLst/>
          </a:prstGeom>
        </p:spPr>
        <p:txBody>
          <a:bodyPr>
            <a:spAutoFit/>
          </a:bodyPr>
          <a:lstStyle/>
          <a:p>
            <a:r>
              <a:rPr lang="en-GB" sz="2400" dirty="0"/>
              <a:t>The advert must:</a:t>
            </a:r>
          </a:p>
          <a:p>
            <a:pPr marL="457200" lvl="0" indent="-457200">
              <a:buFont typeface="+mj-lt"/>
              <a:buAutoNum type="arabicPeriod"/>
            </a:pPr>
            <a:r>
              <a:rPr lang="en-GB" sz="2400" dirty="0"/>
              <a:t>be no longer than 30 seconds</a:t>
            </a:r>
          </a:p>
          <a:p>
            <a:pPr marL="457200" lvl="0" indent="-457200">
              <a:buFont typeface="+mj-lt"/>
              <a:buAutoNum type="arabicPeriod"/>
            </a:pPr>
            <a:r>
              <a:rPr lang="en-GB" sz="2400" dirty="0"/>
              <a:t>include a voiceover</a:t>
            </a:r>
          </a:p>
          <a:p>
            <a:pPr marL="457200" lvl="0" indent="-457200">
              <a:buFont typeface="+mj-lt"/>
              <a:buAutoNum type="arabicPeriod"/>
            </a:pPr>
            <a:r>
              <a:rPr lang="en-GB" sz="2400" dirty="0"/>
              <a:t>include background music</a:t>
            </a:r>
          </a:p>
          <a:p>
            <a:pPr marL="457200" lvl="0" indent="-457200">
              <a:buFont typeface="+mj-lt"/>
              <a:buAutoNum type="arabicPeriod"/>
            </a:pPr>
            <a:r>
              <a:rPr lang="en-GB" sz="2400" dirty="0"/>
              <a:t>include at least three audio effects</a:t>
            </a:r>
          </a:p>
          <a:p>
            <a:pPr marL="457200" lvl="0" indent="-457200">
              <a:buFont typeface="+mj-lt"/>
              <a:buAutoNum type="arabicPeriod"/>
            </a:pPr>
            <a:r>
              <a:rPr lang="en-GB" sz="2400" dirty="0"/>
              <a:t>include at least five different video clips</a:t>
            </a:r>
          </a:p>
          <a:p>
            <a:pPr marL="457200" lvl="0" indent="-457200">
              <a:buFont typeface="+mj-lt"/>
              <a:buAutoNum type="arabicPeriod"/>
            </a:pPr>
            <a:r>
              <a:rPr lang="en-GB" sz="2400" dirty="0"/>
              <a:t>include Hachette Travel’s logo, which should be on screen throughout</a:t>
            </a:r>
          </a:p>
          <a:p>
            <a:pPr marL="457200" lvl="0" indent="-457200">
              <a:buFont typeface="+mj-lt"/>
              <a:buAutoNum type="arabicPeriod"/>
            </a:pPr>
            <a:r>
              <a:rPr lang="en-GB" sz="2400" dirty="0"/>
              <a:t>include at least three visual effects.</a:t>
            </a:r>
          </a:p>
        </p:txBody>
      </p:sp>
      <p:sp>
        <p:nvSpPr>
          <p:cNvPr id="5" name="Title 1">
            <a:extLst>
              <a:ext uri="{FF2B5EF4-FFF2-40B4-BE49-F238E27FC236}">
                <a16:creationId xmlns:a16="http://schemas.microsoft.com/office/drawing/2014/main" id="{9E4616A0-AD42-4486-ACD5-284F0CF4BE04}"/>
              </a:ext>
            </a:extLst>
          </p:cNvPr>
          <p:cNvSpPr>
            <a:spLocks noGrp="1"/>
          </p:cNvSpPr>
          <p:nvPr>
            <p:ph type="title"/>
          </p:nvPr>
        </p:nvSpPr>
        <p:spPr>
          <a:xfrm>
            <a:off x="1630018" y="824948"/>
            <a:ext cx="10409582" cy="766349"/>
          </a:xfrm>
        </p:spPr>
        <p:txBody>
          <a:bodyPr>
            <a:noAutofit/>
          </a:bodyPr>
          <a:lstStyle/>
          <a:p>
            <a:r>
              <a:rPr lang="en-GB" b="1" dirty="0">
                <a:solidFill>
                  <a:schemeClr val="bg1"/>
                </a:solidFill>
              </a:rPr>
              <a:t>Remember</a:t>
            </a:r>
          </a:p>
        </p:txBody>
      </p:sp>
    </p:spTree>
    <p:extLst>
      <p:ext uri="{BB962C8B-B14F-4D97-AF65-F5344CB8AC3E}">
        <p14:creationId xmlns:p14="http://schemas.microsoft.com/office/powerpoint/2010/main" val="1558804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775252"/>
            <a:ext cx="9773478" cy="834887"/>
          </a:xfrm>
        </p:spPr>
        <p:txBody>
          <a:bodyPr/>
          <a:lstStyle/>
          <a:p>
            <a:r>
              <a:rPr lang="en-GB" b="1" dirty="0">
                <a:solidFill>
                  <a:schemeClr val="bg1"/>
                </a:solidFill>
              </a:rPr>
              <a:t>Video and audio clips you can use </a:t>
            </a:r>
          </a:p>
        </p:txBody>
      </p:sp>
      <p:sp>
        <p:nvSpPr>
          <p:cNvPr id="8" name="TextBox 7">
            <a:extLst>
              <a:ext uri="{FF2B5EF4-FFF2-40B4-BE49-F238E27FC236}">
                <a16:creationId xmlns:a16="http://schemas.microsoft.com/office/drawing/2014/main" id="{761C485D-4467-F54D-B6DA-6D84D4CD0DC7}"/>
              </a:ext>
            </a:extLst>
          </p:cNvPr>
          <p:cNvSpPr txBox="1"/>
          <p:nvPr/>
        </p:nvSpPr>
        <p:spPr>
          <a:xfrm>
            <a:off x="5185299" y="4886739"/>
            <a:ext cx="2204555" cy="447261"/>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97B1B35B-F45B-D941-8421-71BF02842D72}"/>
              </a:ext>
            </a:extLst>
          </p:cNvPr>
          <p:cNvSpPr txBox="1"/>
          <p:nvPr/>
        </p:nvSpPr>
        <p:spPr>
          <a:xfrm>
            <a:off x="5337699" y="5039139"/>
            <a:ext cx="2204555" cy="447261"/>
          </a:xfrm>
          <a:prstGeom prst="rect">
            <a:avLst/>
          </a:prstGeom>
          <a:noFill/>
        </p:spPr>
        <p:txBody>
          <a:bodyPr wrap="square" rtlCol="0">
            <a:spAutoFit/>
          </a:bodyPr>
          <a:lstStyle/>
          <a:p>
            <a:endParaRPr lang="en-US" dirty="0"/>
          </a:p>
        </p:txBody>
      </p:sp>
      <p:sp>
        <p:nvSpPr>
          <p:cNvPr id="10" name="TextBox 9">
            <a:extLst>
              <a:ext uri="{FF2B5EF4-FFF2-40B4-BE49-F238E27FC236}">
                <a16:creationId xmlns:a16="http://schemas.microsoft.com/office/drawing/2014/main" id="{8B2E528A-D976-C140-A764-E0F66F7A7F8E}"/>
              </a:ext>
            </a:extLst>
          </p:cNvPr>
          <p:cNvSpPr txBox="1"/>
          <p:nvPr/>
        </p:nvSpPr>
        <p:spPr>
          <a:xfrm>
            <a:off x="5490099" y="5191539"/>
            <a:ext cx="2204555" cy="447261"/>
          </a:xfrm>
          <a:prstGeom prst="rect">
            <a:avLst/>
          </a:prstGeom>
          <a:noFill/>
        </p:spPr>
        <p:txBody>
          <a:bodyPr wrap="square" rtlCol="0">
            <a:spAutoFit/>
          </a:bodyPr>
          <a:lstStyle/>
          <a:p>
            <a:endParaRPr lang="en-US" dirty="0"/>
          </a:p>
        </p:txBody>
      </p:sp>
      <p:sp>
        <p:nvSpPr>
          <p:cNvPr id="11" name="TextBox 10">
            <a:extLst>
              <a:ext uri="{FF2B5EF4-FFF2-40B4-BE49-F238E27FC236}">
                <a16:creationId xmlns:a16="http://schemas.microsoft.com/office/drawing/2014/main" id="{49337FA5-8899-E94B-B62A-4C3F10CFF968}"/>
              </a:ext>
            </a:extLst>
          </p:cNvPr>
          <p:cNvSpPr txBox="1"/>
          <p:nvPr/>
        </p:nvSpPr>
        <p:spPr>
          <a:xfrm>
            <a:off x="894242" y="3961752"/>
            <a:ext cx="2825666" cy="369332"/>
          </a:xfrm>
          <a:prstGeom prst="rect">
            <a:avLst/>
          </a:prstGeom>
          <a:noFill/>
          <a:ln>
            <a:solidFill>
              <a:srgbClr val="FF0000"/>
            </a:solidFill>
          </a:ln>
        </p:spPr>
        <p:txBody>
          <a:bodyPr wrap="square" rtlCol="0">
            <a:spAutoFit/>
          </a:bodyPr>
          <a:lstStyle/>
          <a:p>
            <a:r>
              <a:rPr lang="en-GB" dirty="0"/>
              <a:t>Passengers boarding plane</a:t>
            </a:r>
          </a:p>
        </p:txBody>
      </p:sp>
      <p:sp>
        <p:nvSpPr>
          <p:cNvPr id="12" name="TextBox 11">
            <a:extLst>
              <a:ext uri="{FF2B5EF4-FFF2-40B4-BE49-F238E27FC236}">
                <a16:creationId xmlns:a16="http://schemas.microsoft.com/office/drawing/2014/main" id="{D6DE7946-7ED0-7C4B-8FDE-365F8935EA44}"/>
              </a:ext>
            </a:extLst>
          </p:cNvPr>
          <p:cNvSpPr txBox="1"/>
          <p:nvPr/>
        </p:nvSpPr>
        <p:spPr>
          <a:xfrm>
            <a:off x="7283247" y="5352768"/>
            <a:ext cx="2825666" cy="369332"/>
          </a:xfrm>
          <a:prstGeom prst="rect">
            <a:avLst/>
          </a:prstGeom>
          <a:noFill/>
          <a:ln>
            <a:solidFill>
              <a:srgbClr val="FF0000"/>
            </a:solidFill>
          </a:ln>
        </p:spPr>
        <p:txBody>
          <a:bodyPr wrap="square" rtlCol="0">
            <a:spAutoFit/>
          </a:bodyPr>
          <a:lstStyle/>
          <a:p>
            <a:r>
              <a:rPr lang="en-GB" dirty="0"/>
              <a:t>Plane engines</a:t>
            </a:r>
          </a:p>
        </p:txBody>
      </p:sp>
      <p:sp>
        <p:nvSpPr>
          <p:cNvPr id="13" name="TextBox 12">
            <a:extLst>
              <a:ext uri="{FF2B5EF4-FFF2-40B4-BE49-F238E27FC236}">
                <a16:creationId xmlns:a16="http://schemas.microsoft.com/office/drawing/2014/main" id="{6D5F7EBE-E5D9-5146-AA73-05CDC9518FFA}"/>
              </a:ext>
            </a:extLst>
          </p:cNvPr>
          <p:cNvSpPr txBox="1"/>
          <p:nvPr/>
        </p:nvSpPr>
        <p:spPr>
          <a:xfrm>
            <a:off x="894571" y="4892701"/>
            <a:ext cx="2825666" cy="369332"/>
          </a:xfrm>
          <a:prstGeom prst="rect">
            <a:avLst/>
          </a:prstGeom>
          <a:noFill/>
          <a:ln>
            <a:solidFill>
              <a:srgbClr val="FF0000"/>
            </a:solidFill>
          </a:ln>
        </p:spPr>
        <p:txBody>
          <a:bodyPr wrap="square" rtlCol="0">
            <a:spAutoFit/>
          </a:bodyPr>
          <a:lstStyle/>
          <a:p>
            <a:r>
              <a:rPr lang="en-GB" dirty="0"/>
              <a:t>Boats on the ocean</a:t>
            </a:r>
          </a:p>
        </p:txBody>
      </p:sp>
      <p:sp>
        <p:nvSpPr>
          <p:cNvPr id="14" name="TextBox 13">
            <a:extLst>
              <a:ext uri="{FF2B5EF4-FFF2-40B4-BE49-F238E27FC236}">
                <a16:creationId xmlns:a16="http://schemas.microsoft.com/office/drawing/2014/main" id="{78D410F7-78FD-9E40-94B9-62C69E9B2D05}"/>
              </a:ext>
            </a:extLst>
          </p:cNvPr>
          <p:cNvSpPr txBox="1"/>
          <p:nvPr/>
        </p:nvSpPr>
        <p:spPr>
          <a:xfrm>
            <a:off x="7283247" y="4404686"/>
            <a:ext cx="2825666" cy="369332"/>
          </a:xfrm>
          <a:prstGeom prst="rect">
            <a:avLst/>
          </a:prstGeom>
          <a:noFill/>
          <a:ln>
            <a:solidFill>
              <a:srgbClr val="FF0000"/>
            </a:solidFill>
          </a:ln>
        </p:spPr>
        <p:txBody>
          <a:bodyPr wrap="square" rtlCol="0">
            <a:spAutoFit/>
          </a:bodyPr>
          <a:lstStyle/>
          <a:p>
            <a:r>
              <a:rPr lang="en-GB" dirty="0"/>
              <a:t>Ski lift noise</a:t>
            </a:r>
          </a:p>
        </p:txBody>
      </p:sp>
      <p:sp>
        <p:nvSpPr>
          <p:cNvPr id="15" name="TextBox 14">
            <a:extLst>
              <a:ext uri="{FF2B5EF4-FFF2-40B4-BE49-F238E27FC236}">
                <a16:creationId xmlns:a16="http://schemas.microsoft.com/office/drawing/2014/main" id="{21EFDF5A-DC51-744B-BC01-9304F6AC8D1A}"/>
              </a:ext>
            </a:extLst>
          </p:cNvPr>
          <p:cNvSpPr txBox="1"/>
          <p:nvPr/>
        </p:nvSpPr>
        <p:spPr>
          <a:xfrm>
            <a:off x="894242" y="4426275"/>
            <a:ext cx="2825666" cy="369332"/>
          </a:xfrm>
          <a:prstGeom prst="rect">
            <a:avLst/>
          </a:prstGeom>
          <a:noFill/>
          <a:ln>
            <a:solidFill>
              <a:srgbClr val="FF0000"/>
            </a:solidFill>
          </a:ln>
        </p:spPr>
        <p:txBody>
          <a:bodyPr wrap="square" rtlCol="0">
            <a:spAutoFit/>
          </a:bodyPr>
          <a:lstStyle/>
          <a:p>
            <a:r>
              <a:rPr lang="en-GB" dirty="0"/>
              <a:t>Footsteps in the sand</a:t>
            </a:r>
          </a:p>
        </p:txBody>
      </p:sp>
      <p:sp>
        <p:nvSpPr>
          <p:cNvPr id="16" name="TextBox 15">
            <a:extLst>
              <a:ext uri="{FF2B5EF4-FFF2-40B4-BE49-F238E27FC236}">
                <a16:creationId xmlns:a16="http://schemas.microsoft.com/office/drawing/2014/main" id="{0659DF9B-DCB9-954E-B871-F56FCA3A4BC2}"/>
              </a:ext>
            </a:extLst>
          </p:cNvPr>
          <p:cNvSpPr txBox="1"/>
          <p:nvPr/>
        </p:nvSpPr>
        <p:spPr>
          <a:xfrm>
            <a:off x="7283247" y="4898409"/>
            <a:ext cx="2825666" cy="369332"/>
          </a:xfrm>
          <a:prstGeom prst="rect">
            <a:avLst/>
          </a:prstGeom>
          <a:noFill/>
          <a:ln>
            <a:solidFill>
              <a:srgbClr val="FF0000"/>
            </a:solidFill>
          </a:ln>
        </p:spPr>
        <p:txBody>
          <a:bodyPr wrap="square" rtlCol="0">
            <a:spAutoFit/>
          </a:bodyPr>
          <a:lstStyle/>
          <a:p>
            <a:r>
              <a:rPr lang="en-GB" dirty="0"/>
              <a:t>Voiceover</a:t>
            </a:r>
          </a:p>
        </p:txBody>
      </p:sp>
      <p:sp>
        <p:nvSpPr>
          <p:cNvPr id="18" name="TextBox 17">
            <a:extLst>
              <a:ext uri="{FF2B5EF4-FFF2-40B4-BE49-F238E27FC236}">
                <a16:creationId xmlns:a16="http://schemas.microsoft.com/office/drawing/2014/main" id="{F6F83187-32BB-DD4D-B6D0-FCABD23A1387}"/>
              </a:ext>
            </a:extLst>
          </p:cNvPr>
          <p:cNvSpPr txBox="1"/>
          <p:nvPr/>
        </p:nvSpPr>
        <p:spPr>
          <a:xfrm>
            <a:off x="3828758" y="4404372"/>
            <a:ext cx="2825666" cy="369332"/>
          </a:xfrm>
          <a:prstGeom prst="rect">
            <a:avLst/>
          </a:prstGeom>
          <a:noFill/>
          <a:ln>
            <a:solidFill>
              <a:srgbClr val="FF0000"/>
            </a:solidFill>
          </a:ln>
        </p:spPr>
        <p:txBody>
          <a:bodyPr wrap="square" rtlCol="0">
            <a:spAutoFit/>
          </a:bodyPr>
          <a:lstStyle/>
          <a:p>
            <a:r>
              <a:rPr lang="en-GB" dirty="0"/>
              <a:t>Ski resort</a:t>
            </a:r>
          </a:p>
        </p:txBody>
      </p:sp>
      <p:sp>
        <p:nvSpPr>
          <p:cNvPr id="20" name="TextBox 19">
            <a:extLst>
              <a:ext uri="{FF2B5EF4-FFF2-40B4-BE49-F238E27FC236}">
                <a16:creationId xmlns:a16="http://schemas.microsoft.com/office/drawing/2014/main" id="{1334DC76-3975-9146-AE0C-1346395335AB}"/>
              </a:ext>
            </a:extLst>
          </p:cNvPr>
          <p:cNvSpPr txBox="1"/>
          <p:nvPr/>
        </p:nvSpPr>
        <p:spPr>
          <a:xfrm>
            <a:off x="3828758" y="3959578"/>
            <a:ext cx="2825666" cy="369332"/>
          </a:xfrm>
          <a:prstGeom prst="rect">
            <a:avLst/>
          </a:prstGeom>
          <a:noFill/>
          <a:ln>
            <a:solidFill>
              <a:srgbClr val="FF0000"/>
            </a:solidFill>
          </a:ln>
        </p:spPr>
        <p:txBody>
          <a:bodyPr wrap="square" rtlCol="0">
            <a:spAutoFit/>
          </a:bodyPr>
          <a:lstStyle/>
          <a:p>
            <a:r>
              <a:rPr lang="en-GB" dirty="0"/>
              <a:t>New York – Times Square</a:t>
            </a:r>
          </a:p>
        </p:txBody>
      </p:sp>
      <p:sp>
        <p:nvSpPr>
          <p:cNvPr id="21" name="TextBox 20">
            <a:extLst>
              <a:ext uri="{FF2B5EF4-FFF2-40B4-BE49-F238E27FC236}">
                <a16:creationId xmlns:a16="http://schemas.microsoft.com/office/drawing/2014/main" id="{A0133488-67F0-CD4D-B7C3-79658ED0D044}"/>
              </a:ext>
            </a:extLst>
          </p:cNvPr>
          <p:cNvSpPr txBox="1"/>
          <p:nvPr/>
        </p:nvSpPr>
        <p:spPr>
          <a:xfrm>
            <a:off x="909038" y="3503693"/>
            <a:ext cx="2825666" cy="369332"/>
          </a:xfrm>
          <a:prstGeom prst="rect">
            <a:avLst/>
          </a:prstGeom>
          <a:noFill/>
          <a:ln>
            <a:solidFill>
              <a:srgbClr val="FF0000"/>
            </a:solidFill>
          </a:ln>
        </p:spPr>
        <p:txBody>
          <a:bodyPr wrap="square" rtlCol="0">
            <a:spAutoFit/>
          </a:bodyPr>
          <a:lstStyle/>
          <a:p>
            <a:r>
              <a:rPr lang="en-GB" dirty="0"/>
              <a:t>Hiking</a:t>
            </a:r>
          </a:p>
        </p:txBody>
      </p:sp>
      <p:sp>
        <p:nvSpPr>
          <p:cNvPr id="22" name="TextBox 21">
            <a:extLst>
              <a:ext uri="{FF2B5EF4-FFF2-40B4-BE49-F238E27FC236}">
                <a16:creationId xmlns:a16="http://schemas.microsoft.com/office/drawing/2014/main" id="{B5DB9D9C-A757-1B44-BE4B-109E1956DEBF}"/>
              </a:ext>
            </a:extLst>
          </p:cNvPr>
          <p:cNvSpPr txBox="1"/>
          <p:nvPr/>
        </p:nvSpPr>
        <p:spPr>
          <a:xfrm>
            <a:off x="7283247" y="3506978"/>
            <a:ext cx="2825666" cy="369332"/>
          </a:xfrm>
          <a:prstGeom prst="rect">
            <a:avLst/>
          </a:prstGeom>
          <a:noFill/>
          <a:ln>
            <a:solidFill>
              <a:srgbClr val="FF0000"/>
            </a:solidFill>
          </a:ln>
        </p:spPr>
        <p:txBody>
          <a:bodyPr wrap="square" rtlCol="0">
            <a:spAutoFit/>
          </a:bodyPr>
          <a:lstStyle/>
          <a:p>
            <a:r>
              <a:rPr lang="en-GB" dirty="0"/>
              <a:t>Beach noise</a:t>
            </a:r>
          </a:p>
        </p:txBody>
      </p:sp>
      <p:sp>
        <p:nvSpPr>
          <p:cNvPr id="23" name="TextBox 22">
            <a:extLst>
              <a:ext uri="{FF2B5EF4-FFF2-40B4-BE49-F238E27FC236}">
                <a16:creationId xmlns:a16="http://schemas.microsoft.com/office/drawing/2014/main" id="{BD02F7AA-0DDE-1443-82A8-8C11C3ADE278}"/>
              </a:ext>
            </a:extLst>
          </p:cNvPr>
          <p:cNvSpPr txBox="1"/>
          <p:nvPr/>
        </p:nvSpPr>
        <p:spPr>
          <a:xfrm>
            <a:off x="7283247" y="5812700"/>
            <a:ext cx="2825666" cy="369332"/>
          </a:xfrm>
          <a:prstGeom prst="rect">
            <a:avLst/>
          </a:prstGeom>
          <a:noFill/>
          <a:ln>
            <a:solidFill>
              <a:srgbClr val="FF0000"/>
            </a:solidFill>
          </a:ln>
        </p:spPr>
        <p:txBody>
          <a:bodyPr wrap="square" rtlCol="0">
            <a:spAutoFit/>
          </a:bodyPr>
          <a:lstStyle/>
          <a:p>
            <a:r>
              <a:rPr lang="en-GB" dirty="0"/>
              <a:t>Background music</a:t>
            </a:r>
          </a:p>
        </p:txBody>
      </p:sp>
      <p:sp>
        <p:nvSpPr>
          <p:cNvPr id="24" name="TextBox 23">
            <a:extLst>
              <a:ext uri="{FF2B5EF4-FFF2-40B4-BE49-F238E27FC236}">
                <a16:creationId xmlns:a16="http://schemas.microsoft.com/office/drawing/2014/main" id="{A742EE3A-C144-D243-B8F3-50F215C9AAA0}"/>
              </a:ext>
            </a:extLst>
          </p:cNvPr>
          <p:cNvSpPr txBox="1"/>
          <p:nvPr/>
        </p:nvSpPr>
        <p:spPr>
          <a:xfrm>
            <a:off x="3828758" y="4898200"/>
            <a:ext cx="2825666" cy="369332"/>
          </a:xfrm>
          <a:prstGeom prst="rect">
            <a:avLst/>
          </a:prstGeom>
          <a:noFill/>
          <a:ln>
            <a:solidFill>
              <a:srgbClr val="FF0000"/>
            </a:solidFill>
          </a:ln>
        </p:spPr>
        <p:txBody>
          <a:bodyPr wrap="square" rtlCol="0">
            <a:spAutoFit/>
          </a:bodyPr>
          <a:lstStyle/>
          <a:p>
            <a:r>
              <a:rPr lang="en-GB" dirty="0"/>
              <a:t>Palm trees</a:t>
            </a:r>
          </a:p>
        </p:txBody>
      </p:sp>
      <p:sp>
        <p:nvSpPr>
          <p:cNvPr id="27" name="TextBox 26">
            <a:extLst>
              <a:ext uri="{FF2B5EF4-FFF2-40B4-BE49-F238E27FC236}">
                <a16:creationId xmlns:a16="http://schemas.microsoft.com/office/drawing/2014/main" id="{385B318D-8FD9-B94E-A1CD-B770EAD0597A}"/>
              </a:ext>
            </a:extLst>
          </p:cNvPr>
          <p:cNvSpPr txBox="1"/>
          <p:nvPr/>
        </p:nvSpPr>
        <p:spPr>
          <a:xfrm>
            <a:off x="7283247" y="3954216"/>
            <a:ext cx="2825666" cy="369332"/>
          </a:xfrm>
          <a:prstGeom prst="rect">
            <a:avLst/>
          </a:prstGeom>
          <a:noFill/>
          <a:ln>
            <a:solidFill>
              <a:srgbClr val="FF0000"/>
            </a:solidFill>
          </a:ln>
        </p:spPr>
        <p:txBody>
          <a:bodyPr wrap="square" rtlCol="0">
            <a:spAutoFit/>
          </a:bodyPr>
          <a:lstStyle/>
          <a:p>
            <a:r>
              <a:rPr lang="en-GB" dirty="0"/>
              <a:t>Forest noise</a:t>
            </a:r>
          </a:p>
        </p:txBody>
      </p:sp>
      <p:sp>
        <p:nvSpPr>
          <p:cNvPr id="28" name="TextBox 27">
            <a:extLst>
              <a:ext uri="{FF2B5EF4-FFF2-40B4-BE49-F238E27FC236}">
                <a16:creationId xmlns:a16="http://schemas.microsoft.com/office/drawing/2014/main" id="{3CD3344C-B56A-644A-ACED-88CF8B846852}"/>
              </a:ext>
            </a:extLst>
          </p:cNvPr>
          <p:cNvSpPr txBox="1"/>
          <p:nvPr/>
        </p:nvSpPr>
        <p:spPr>
          <a:xfrm>
            <a:off x="3828758" y="3503693"/>
            <a:ext cx="2825666" cy="369332"/>
          </a:xfrm>
          <a:prstGeom prst="rect">
            <a:avLst/>
          </a:prstGeom>
          <a:noFill/>
          <a:ln>
            <a:solidFill>
              <a:srgbClr val="FF0000"/>
            </a:solidFill>
          </a:ln>
        </p:spPr>
        <p:txBody>
          <a:bodyPr wrap="square" rtlCol="0">
            <a:spAutoFit/>
          </a:bodyPr>
          <a:lstStyle/>
          <a:p>
            <a:r>
              <a:rPr lang="en-GB" dirty="0"/>
              <a:t>Plane in the sky</a:t>
            </a:r>
          </a:p>
        </p:txBody>
      </p:sp>
      <p:sp>
        <p:nvSpPr>
          <p:cNvPr id="29" name="Rectangle 28">
            <a:extLst>
              <a:ext uri="{FF2B5EF4-FFF2-40B4-BE49-F238E27FC236}">
                <a16:creationId xmlns:a16="http://schemas.microsoft.com/office/drawing/2014/main" id="{A75D8674-B7D5-6148-949A-EB163F1EF8C8}"/>
              </a:ext>
            </a:extLst>
          </p:cNvPr>
          <p:cNvSpPr/>
          <p:nvPr/>
        </p:nvSpPr>
        <p:spPr>
          <a:xfrm>
            <a:off x="7212932" y="2937049"/>
            <a:ext cx="2516843" cy="369332"/>
          </a:xfrm>
          <a:prstGeom prst="rect">
            <a:avLst/>
          </a:prstGeom>
        </p:spPr>
        <p:txBody>
          <a:bodyPr wrap="none">
            <a:spAutoFit/>
          </a:bodyPr>
          <a:lstStyle/>
          <a:p>
            <a:r>
              <a:rPr lang="en-GB" b="1" dirty="0">
                <a:ea typeface="Arial" panose="020B0604020202020204" pitchFamily="34" charset="0"/>
                <a:cs typeface="Calibri" panose="020F0502020204030204" pitchFamily="34" charset="0"/>
              </a:rPr>
              <a:t>Audio clips you can use:</a:t>
            </a:r>
            <a:r>
              <a:rPr lang="en-GB" b="1" dirty="0"/>
              <a:t> </a:t>
            </a:r>
            <a:endParaRPr lang="en-US" b="1" dirty="0"/>
          </a:p>
        </p:txBody>
      </p:sp>
      <p:sp>
        <p:nvSpPr>
          <p:cNvPr id="30" name="Rectangle 29">
            <a:extLst>
              <a:ext uri="{FF2B5EF4-FFF2-40B4-BE49-F238E27FC236}">
                <a16:creationId xmlns:a16="http://schemas.microsoft.com/office/drawing/2014/main" id="{F63432ED-EFF6-1A4F-951B-6936B69B4F46}"/>
              </a:ext>
            </a:extLst>
          </p:cNvPr>
          <p:cNvSpPr/>
          <p:nvPr/>
        </p:nvSpPr>
        <p:spPr>
          <a:xfrm>
            <a:off x="1054264" y="2937049"/>
            <a:ext cx="1943609" cy="369332"/>
          </a:xfrm>
          <a:prstGeom prst="rect">
            <a:avLst/>
          </a:prstGeom>
        </p:spPr>
        <p:txBody>
          <a:bodyPr wrap="none">
            <a:spAutoFit/>
          </a:bodyPr>
          <a:lstStyle/>
          <a:p>
            <a:r>
              <a:rPr lang="en-GB" b="1" dirty="0">
                <a:ea typeface="Arial" panose="020B0604020202020204" pitchFamily="34" charset="0"/>
                <a:cs typeface="Calibri" panose="020F0502020204030204" pitchFamily="34" charset="0"/>
              </a:rPr>
              <a:t>Suggested videos:</a:t>
            </a:r>
            <a:r>
              <a:rPr lang="en-GB" b="1" dirty="0"/>
              <a:t> </a:t>
            </a:r>
            <a:endParaRPr lang="en-US" dirty="0"/>
          </a:p>
        </p:txBody>
      </p:sp>
      <p:sp>
        <p:nvSpPr>
          <p:cNvPr id="31" name="Rectangle 30">
            <a:extLst>
              <a:ext uri="{FF2B5EF4-FFF2-40B4-BE49-F238E27FC236}">
                <a16:creationId xmlns:a16="http://schemas.microsoft.com/office/drawing/2014/main" id="{0918E0CE-BFB7-4D58-80AA-D2B42C9D5279}"/>
              </a:ext>
            </a:extLst>
          </p:cNvPr>
          <p:cNvSpPr/>
          <p:nvPr/>
        </p:nvSpPr>
        <p:spPr>
          <a:xfrm>
            <a:off x="1580322" y="1895642"/>
            <a:ext cx="8815429" cy="1015663"/>
          </a:xfrm>
          <a:prstGeom prst="rect">
            <a:avLst/>
          </a:prstGeom>
        </p:spPr>
        <p:txBody>
          <a:bodyPr wrap="square">
            <a:spAutoFit/>
          </a:bodyPr>
          <a:lstStyle/>
          <a:p>
            <a:r>
              <a:rPr lang="en-GB" sz="2000" dirty="0">
                <a:ea typeface="Arial" panose="020B0604020202020204" pitchFamily="34" charset="0"/>
                <a:cs typeface="Calibri" panose="020F0502020204030204" pitchFamily="34" charset="0"/>
              </a:rPr>
              <a:t>Copy the video clips and audio clips you wish to use and paste them on the next slide, then move them to where you want them to appear in your video advert. One video clip and one audio clip have already been placed.</a:t>
            </a:r>
            <a:endParaRPr lang="en-US" sz="2000" dirty="0"/>
          </a:p>
        </p:txBody>
      </p:sp>
      <p:sp>
        <p:nvSpPr>
          <p:cNvPr id="25" name="TextBox 24">
            <a:extLst>
              <a:ext uri="{FF2B5EF4-FFF2-40B4-BE49-F238E27FC236}">
                <a16:creationId xmlns:a16="http://schemas.microsoft.com/office/drawing/2014/main" id="{A12EE834-606E-0E8A-60AF-75ED00E0593F}"/>
              </a:ext>
            </a:extLst>
          </p:cNvPr>
          <p:cNvSpPr txBox="1"/>
          <p:nvPr/>
        </p:nvSpPr>
        <p:spPr>
          <a:xfrm>
            <a:off x="894242" y="5415169"/>
            <a:ext cx="2825666" cy="369332"/>
          </a:xfrm>
          <a:prstGeom prst="rect">
            <a:avLst/>
          </a:prstGeom>
          <a:noFill/>
          <a:ln>
            <a:solidFill>
              <a:srgbClr val="FF0000"/>
            </a:solidFill>
          </a:ln>
        </p:spPr>
        <p:txBody>
          <a:bodyPr wrap="square" rtlCol="0">
            <a:spAutoFit/>
          </a:bodyPr>
          <a:lstStyle/>
          <a:p>
            <a:r>
              <a:rPr lang="en-GB" dirty="0"/>
              <a:t>Video clip of your choice …</a:t>
            </a:r>
          </a:p>
        </p:txBody>
      </p:sp>
      <p:sp>
        <p:nvSpPr>
          <p:cNvPr id="26" name="TextBox 25">
            <a:extLst>
              <a:ext uri="{FF2B5EF4-FFF2-40B4-BE49-F238E27FC236}">
                <a16:creationId xmlns:a16="http://schemas.microsoft.com/office/drawing/2014/main" id="{C55D7A80-977B-EFF9-4C2D-ECBA3FC7A91A}"/>
              </a:ext>
            </a:extLst>
          </p:cNvPr>
          <p:cNvSpPr txBox="1"/>
          <p:nvPr/>
        </p:nvSpPr>
        <p:spPr>
          <a:xfrm>
            <a:off x="3848666" y="5418086"/>
            <a:ext cx="2825666" cy="369332"/>
          </a:xfrm>
          <a:prstGeom prst="rect">
            <a:avLst/>
          </a:prstGeom>
          <a:noFill/>
          <a:ln>
            <a:solidFill>
              <a:srgbClr val="FF0000"/>
            </a:solidFill>
          </a:ln>
        </p:spPr>
        <p:txBody>
          <a:bodyPr wrap="square" rtlCol="0">
            <a:spAutoFit/>
          </a:bodyPr>
          <a:lstStyle/>
          <a:p>
            <a:r>
              <a:rPr lang="en-GB" dirty="0"/>
              <a:t>Video clip of your choice …</a:t>
            </a:r>
          </a:p>
        </p:txBody>
      </p:sp>
    </p:spTree>
    <p:extLst>
      <p:ext uri="{BB962C8B-B14F-4D97-AF65-F5344CB8AC3E}">
        <p14:creationId xmlns:p14="http://schemas.microsoft.com/office/powerpoint/2010/main" val="1166166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775252"/>
            <a:ext cx="9773478" cy="834887"/>
          </a:xfrm>
        </p:spPr>
        <p:txBody>
          <a:bodyPr/>
          <a:lstStyle/>
          <a:p>
            <a:r>
              <a:rPr lang="en-GB" b="1" dirty="0">
                <a:solidFill>
                  <a:schemeClr val="bg1"/>
                </a:solidFill>
              </a:rPr>
              <a:t>Video and audio clips you can use </a:t>
            </a:r>
          </a:p>
        </p:txBody>
      </p:sp>
      <p:sp>
        <p:nvSpPr>
          <p:cNvPr id="8" name="TextBox 7">
            <a:extLst>
              <a:ext uri="{FF2B5EF4-FFF2-40B4-BE49-F238E27FC236}">
                <a16:creationId xmlns:a16="http://schemas.microsoft.com/office/drawing/2014/main" id="{761C485D-4467-F54D-B6DA-6D84D4CD0DC7}"/>
              </a:ext>
            </a:extLst>
          </p:cNvPr>
          <p:cNvSpPr txBox="1"/>
          <p:nvPr/>
        </p:nvSpPr>
        <p:spPr>
          <a:xfrm>
            <a:off x="1903619" y="4734339"/>
            <a:ext cx="2204555" cy="447261"/>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97B1B35B-F45B-D941-8421-71BF02842D72}"/>
              </a:ext>
            </a:extLst>
          </p:cNvPr>
          <p:cNvSpPr txBox="1"/>
          <p:nvPr/>
        </p:nvSpPr>
        <p:spPr>
          <a:xfrm>
            <a:off x="2056019" y="4886739"/>
            <a:ext cx="2204555" cy="447261"/>
          </a:xfrm>
          <a:prstGeom prst="rect">
            <a:avLst/>
          </a:prstGeom>
          <a:noFill/>
        </p:spPr>
        <p:txBody>
          <a:bodyPr wrap="square" rtlCol="0">
            <a:spAutoFit/>
          </a:bodyPr>
          <a:lstStyle/>
          <a:p>
            <a:endParaRPr lang="en-US" dirty="0"/>
          </a:p>
        </p:txBody>
      </p:sp>
      <p:sp>
        <p:nvSpPr>
          <p:cNvPr id="10" name="TextBox 9">
            <a:extLst>
              <a:ext uri="{FF2B5EF4-FFF2-40B4-BE49-F238E27FC236}">
                <a16:creationId xmlns:a16="http://schemas.microsoft.com/office/drawing/2014/main" id="{8B2E528A-D976-C140-A764-E0F66F7A7F8E}"/>
              </a:ext>
            </a:extLst>
          </p:cNvPr>
          <p:cNvSpPr txBox="1"/>
          <p:nvPr/>
        </p:nvSpPr>
        <p:spPr>
          <a:xfrm>
            <a:off x="2208419" y="5039139"/>
            <a:ext cx="2204555" cy="447261"/>
          </a:xfrm>
          <a:prstGeom prst="rect">
            <a:avLst/>
          </a:prstGeom>
          <a:noFill/>
        </p:spPr>
        <p:txBody>
          <a:bodyPr wrap="square" rtlCol="0">
            <a:spAutoFit/>
          </a:bodyPr>
          <a:lstStyle/>
          <a:p>
            <a:endParaRPr lang="en-US" dirty="0"/>
          </a:p>
        </p:txBody>
      </p:sp>
      <p:pic>
        <p:nvPicPr>
          <p:cNvPr id="4" name="Picture 3">
            <a:extLst>
              <a:ext uri="{FF2B5EF4-FFF2-40B4-BE49-F238E27FC236}">
                <a16:creationId xmlns:a16="http://schemas.microsoft.com/office/drawing/2014/main" id="{3C98C7CE-15CC-4B70-BFE3-D6787D5F57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883" y="1676400"/>
            <a:ext cx="10496234" cy="4773276"/>
          </a:xfrm>
          <a:prstGeom prst="rect">
            <a:avLst/>
          </a:prstGeom>
        </p:spPr>
      </p:pic>
      <p:sp>
        <p:nvSpPr>
          <p:cNvPr id="26" name="TextBox 25">
            <a:extLst>
              <a:ext uri="{FF2B5EF4-FFF2-40B4-BE49-F238E27FC236}">
                <a16:creationId xmlns:a16="http://schemas.microsoft.com/office/drawing/2014/main" id="{4BFB5579-5FFC-4A91-8D7F-12158FEF1FA2}"/>
              </a:ext>
            </a:extLst>
          </p:cNvPr>
          <p:cNvSpPr txBox="1"/>
          <p:nvPr/>
        </p:nvSpPr>
        <p:spPr>
          <a:xfrm>
            <a:off x="1282508" y="3096904"/>
            <a:ext cx="2825666" cy="369332"/>
          </a:xfrm>
          <a:prstGeom prst="rect">
            <a:avLst/>
          </a:prstGeom>
          <a:noFill/>
          <a:ln>
            <a:solidFill>
              <a:srgbClr val="FF0000"/>
            </a:solidFill>
          </a:ln>
        </p:spPr>
        <p:txBody>
          <a:bodyPr wrap="square" rtlCol="0">
            <a:spAutoFit/>
          </a:bodyPr>
          <a:lstStyle/>
          <a:p>
            <a:r>
              <a:rPr lang="en-GB" dirty="0"/>
              <a:t>Passengers boarding plane</a:t>
            </a:r>
          </a:p>
        </p:txBody>
      </p:sp>
      <p:sp>
        <p:nvSpPr>
          <p:cNvPr id="31" name="TextBox 30">
            <a:extLst>
              <a:ext uri="{FF2B5EF4-FFF2-40B4-BE49-F238E27FC236}">
                <a16:creationId xmlns:a16="http://schemas.microsoft.com/office/drawing/2014/main" id="{FBBF53F5-3AE3-42E0-BB42-48AF588EC3E6}"/>
              </a:ext>
            </a:extLst>
          </p:cNvPr>
          <p:cNvSpPr txBox="1"/>
          <p:nvPr/>
        </p:nvSpPr>
        <p:spPr>
          <a:xfrm>
            <a:off x="1282508" y="5440888"/>
            <a:ext cx="2825666" cy="369332"/>
          </a:xfrm>
          <a:prstGeom prst="rect">
            <a:avLst/>
          </a:prstGeom>
          <a:noFill/>
          <a:ln>
            <a:solidFill>
              <a:srgbClr val="FF0000"/>
            </a:solidFill>
          </a:ln>
        </p:spPr>
        <p:txBody>
          <a:bodyPr wrap="square" rtlCol="0">
            <a:spAutoFit/>
          </a:bodyPr>
          <a:lstStyle/>
          <a:p>
            <a:r>
              <a:rPr lang="en-GB" dirty="0"/>
              <a:t>Plane engines</a:t>
            </a:r>
          </a:p>
        </p:txBody>
      </p:sp>
    </p:spTree>
    <p:extLst>
      <p:ext uri="{BB962C8B-B14F-4D97-AF65-F5344CB8AC3E}">
        <p14:creationId xmlns:p14="http://schemas.microsoft.com/office/powerpoint/2010/main" val="3903026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8" y="2183434"/>
            <a:ext cx="9591261" cy="3740288"/>
          </a:xfrm>
        </p:spPr>
        <p:txBody>
          <a:bodyPr>
            <a:normAutofit fontScale="92500" lnSpcReduction="10000"/>
          </a:bodyPr>
          <a:lstStyle/>
          <a:p>
            <a:pPr marL="0" indent="0">
              <a:buNone/>
            </a:pPr>
            <a:r>
              <a:rPr lang="en-GB" dirty="0"/>
              <a:t>You know how to add the following audio effects when designing sound:</a:t>
            </a:r>
          </a:p>
          <a:p>
            <a:pPr lvl="0"/>
            <a:r>
              <a:rPr lang="en-GB" dirty="0"/>
              <a:t>fade in/fade out</a:t>
            </a:r>
          </a:p>
          <a:p>
            <a:pPr lvl="0"/>
            <a:r>
              <a:rPr lang="en-GB" dirty="0"/>
              <a:t>reverb</a:t>
            </a:r>
          </a:p>
          <a:p>
            <a:pPr lvl="0"/>
            <a:r>
              <a:rPr lang="en-GB" dirty="0"/>
              <a:t>compression</a:t>
            </a:r>
          </a:p>
          <a:p>
            <a:pPr lvl="0"/>
            <a:r>
              <a:rPr lang="en-GB" dirty="0"/>
              <a:t>envelope.</a:t>
            </a:r>
          </a:p>
          <a:p>
            <a:pPr marL="0" indent="0">
              <a:buNone/>
            </a:pPr>
            <a:r>
              <a:rPr lang="en-GB" dirty="0"/>
              <a:t>Annotate your timeline to include at least three audio effects. Do this by adding a text box containing the name of each audio effect and why you want to use it next to the sound you want to apply it to.</a:t>
            </a:r>
          </a:p>
          <a:p>
            <a:endParaRPr lang="en-GB" dirty="0"/>
          </a:p>
        </p:txBody>
      </p:sp>
      <p:sp>
        <p:nvSpPr>
          <p:cNvPr id="6" name="Title 1">
            <a:extLst>
              <a:ext uri="{FF2B5EF4-FFF2-40B4-BE49-F238E27FC236}">
                <a16:creationId xmlns:a16="http://schemas.microsoft.com/office/drawing/2014/main" id="{514BB759-4F88-4A0F-9B91-1A4A42BA2AFD}"/>
              </a:ext>
            </a:extLst>
          </p:cNvPr>
          <p:cNvSpPr txBox="1">
            <a:spLocks/>
          </p:cNvSpPr>
          <p:nvPr/>
        </p:nvSpPr>
        <p:spPr>
          <a:xfrm>
            <a:off x="1630018" y="824948"/>
            <a:ext cx="10409582" cy="7663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bg1"/>
                </a:solidFill>
              </a:rPr>
              <a:t>Activity 3.2: Planning a video advert (Part two) </a:t>
            </a:r>
          </a:p>
        </p:txBody>
      </p:sp>
    </p:spTree>
    <p:extLst>
      <p:ext uri="{BB962C8B-B14F-4D97-AF65-F5344CB8AC3E}">
        <p14:creationId xmlns:p14="http://schemas.microsoft.com/office/powerpoint/2010/main" val="300574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752</TotalTime>
  <Words>352</Words>
  <Application>Microsoft Office PowerPoint</Application>
  <PresentationFormat>Widescreen</PresentationFormat>
  <Paragraphs>43</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Activity 3.2: Planning a video advert (Part one) </vt:lpstr>
      <vt:lpstr>Remember</vt:lpstr>
      <vt:lpstr>Video and audio clips you can use </vt:lpstr>
      <vt:lpstr>Video and audio clips you can use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Lea Albrechtsen</cp:lastModifiedBy>
  <cp:revision>39</cp:revision>
  <dcterms:created xsi:type="dcterms:W3CDTF">2020-11-04T15:22:46Z</dcterms:created>
  <dcterms:modified xsi:type="dcterms:W3CDTF">2022-09-02T15:48:55Z</dcterms:modified>
</cp:coreProperties>
</file>