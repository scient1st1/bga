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F46-9591-E444-B749-96268477A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DD6B0DD-5482-4FE7-B4E7-293060890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7478" y="2498614"/>
            <a:ext cx="5516881" cy="1860771"/>
          </a:xfrm>
        </p:spPr>
        <p:txBody>
          <a:bodyPr>
            <a:noAutofit/>
          </a:bodyPr>
          <a:lstStyle/>
          <a:p>
            <a:pPr algn="r"/>
            <a:r>
              <a:rPr lang="en-GB" b="1" dirty="0"/>
              <a:t>Sound and video editing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A90C28-C738-442D-A4BF-0C488411D0C9}"/>
              </a:ext>
            </a:extLst>
          </p:cNvPr>
          <p:cNvSpPr/>
          <p:nvPr/>
        </p:nvSpPr>
        <p:spPr>
          <a:xfrm>
            <a:off x="4927034" y="4359385"/>
            <a:ext cx="26373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6: Visual effects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7903A5-E3F8-46D1-8BDB-CAF46E35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06" y="2191860"/>
            <a:ext cx="2916165" cy="363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8" y="824948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30018" y="2767280"/>
            <a:ext cx="789479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use visual effects to enhance a video advert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apply transitions between video clips.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75252"/>
            <a:ext cx="9773478" cy="834887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What does the visual effect do?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C1B8D-6296-0444-89C8-6A5A704E09AB}"/>
              </a:ext>
            </a:extLst>
          </p:cNvPr>
          <p:cNvSpPr/>
          <p:nvPr/>
        </p:nvSpPr>
        <p:spPr>
          <a:xfrm>
            <a:off x="1580323" y="2228671"/>
            <a:ext cx="87915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Watch these four video clips before a visual effect has been applied to them and after a visual effect has been applied to them.</a:t>
            </a:r>
          </a:p>
          <a:p>
            <a:endParaRPr lang="en-GB" sz="2400" dirty="0"/>
          </a:p>
          <a:p>
            <a:r>
              <a:rPr lang="en-GB" sz="2400" dirty="0"/>
              <a:t>Write down what the visual effect does. </a:t>
            </a:r>
          </a:p>
          <a:p>
            <a:r>
              <a:rPr lang="en-GB" sz="2400" dirty="0"/>
              <a:t>How does the video change when the visual effect has been applied?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18B9E5-75A0-F94D-9A41-825C9CCF7B25}"/>
              </a:ext>
            </a:extLst>
          </p:cNvPr>
          <p:cNvSpPr/>
          <p:nvPr/>
        </p:nvSpPr>
        <p:spPr>
          <a:xfrm>
            <a:off x="4765796" y="5037014"/>
            <a:ext cx="2660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Roboto" panose="02000000000000000000" pitchFamily="2" charset="0"/>
                <a:cs typeface="Calibri" panose="020F0502020204030204" pitchFamily="34" charset="0"/>
              </a:rPr>
              <a:t>Watch Video 6.1</a:t>
            </a:r>
            <a:r>
              <a:rPr lang="en-GB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6531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Adding visual effects to your advert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1875320"/>
            <a:ext cx="9909312" cy="4621273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5100" dirty="0">
                <a:ea typeface="Roboto" panose="02000000000000000000" pitchFamily="2" charset="0"/>
                <a:cs typeface="Calibri" panose="020F0502020204030204" pitchFamily="34" charset="0"/>
              </a:rPr>
              <a:t>You have created a video advert for Hachette Travel. Now you will apply </a:t>
            </a:r>
            <a:r>
              <a:rPr lang="en-GB" sz="5100" b="1" dirty="0">
                <a:solidFill>
                  <a:srgbClr val="FF0000"/>
                </a:solidFill>
                <a:ea typeface="Roboto" panose="02000000000000000000" pitchFamily="2" charset="0"/>
                <a:cs typeface="Calibri" panose="020F0502020204030204" pitchFamily="34" charset="0"/>
              </a:rPr>
              <a:t>visual effects</a:t>
            </a:r>
            <a:r>
              <a:rPr lang="en-GB" sz="5100" b="1" dirty="0">
                <a:solidFill>
                  <a:srgbClr val="ED7D31"/>
                </a:solidFill>
                <a:ea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en-GB" sz="5100" dirty="0">
                <a:ea typeface="Roboto" panose="02000000000000000000" pitchFamily="2" charset="0"/>
                <a:cs typeface="Calibri" panose="020F0502020204030204" pitchFamily="34" charset="0"/>
              </a:rPr>
              <a:t>to create a polished final product.</a:t>
            </a:r>
            <a:endParaRPr lang="en-GB" sz="5100" dirty="0">
              <a:ea typeface="Ubuntu"/>
              <a:cs typeface="Ubuntu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5100" dirty="0">
                <a:ea typeface="Roboto" panose="02000000000000000000" pitchFamily="2" charset="0"/>
                <a:cs typeface="Calibri" panose="020F0502020204030204" pitchFamily="34" charset="0"/>
              </a:rPr>
              <a:t>Here’s a reminder of the brief:</a:t>
            </a:r>
            <a:endParaRPr lang="en-GB" sz="5100" dirty="0">
              <a:ea typeface="Ubuntu"/>
              <a:cs typeface="Ubuntu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5100" dirty="0">
                <a:ea typeface="Arial" panose="020B0604020202020204" pitchFamily="34" charset="0"/>
                <a:cs typeface="Calibri" panose="020F0502020204030204" pitchFamily="34" charset="0"/>
              </a:rPr>
              <a:t>Hachette Travel organises holidays for families abroad, including flights. It would like to sell more holiday packages and it thinks a video advert will help it get more customers. It plans to show the advert online.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5100" dirty="0">
                <a:ea typeface="Arial" panose="020B0604020202020204" pitchFamily="34" charset="0"/>
                <a:cs typeface="Calibri" panose="020F0502020204030204" pitchFamily="34" charset="0"/>
              </a:rPr>
              <a:t>The advert must:</a:t>
            </a:r>
            <a:endParaRPr lang="en-GB" sz="51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be no longer than 30 seconds</a:t>
            </a:r>
            <a:endParaRPr lang="en-GB" sz="35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include a voiceover</a:t>
            </a:r>
            <a:endParaRPr lang="en-GB" sz="35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include background music</a:t>
            </a:r>
            <a:endParaRPr lang="en-GB" sz="35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include at least three audio effects</a:t>
            </a:r>
            <a:endParaRPr lang="en-GB" sz="35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include at least five different video clips</a:t>
            </a:r>
            <a:endParaRPr lang="en-GB" sz="35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include Hachette Travel’s logo, which should be on screen throughout</a:t>
            </a:r>
            <a:endParaRPr lang="en-GB" sz="3500" dirty="0">
              <a:ea typeface="Ubuntu"/>
              <a:cs typeface="Ubuntu"/>
            </a:endParaRPr>
          </a:p>
          <a:p>
            <a:pPr marL="342900" lvl="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GB" sz="4500" dirty="0">
                <a:ea typeface="Arial" panose="020B0604020202020204" pitchFamily="34" charset="0"/>
                <a:cs typeface="Calibri" panose="020F0502020204030204" pitchFamily="34" charset="0"/>
              </a:rPr>
              <a:t>include at least three visual effects.</a:t>
            </a:r>
            <a:endParaRPr lang="en-GB" sz="3500" dirty="0">
              <a:ea typeface="Ubuntu"/>
              <a:cs typeface="Ubuntu"/>
            </a:endParaRPr>
          </a:p>
          <a:p>
            <a:pPr>
              <a:lnSpc>
                <a:spcPct val="12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6531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Transitions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9" y="1964772"/>
            <a:ext cx="3770528" cy="31123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You can apply </a:t>
            </a:r>
            <a:r>
              <a:rPr lang="en-GB" sz="2400" b="1" dirty="0">
                <a:solidFill>
                  <a:srgbClr val="FF0000"/>
                </a:solidFill>
                <a:ea typeface="Roboto" panose="02000000000000000000" pitchFamily="2" charset="0"/>
                <a:cs typeface="Calibri" panose="020F0502020204030204" pitchFamily="34" charset="0"/>
              </a:rPr>
              <a:t>transitions</a:t>
            </a: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 between video clips to add some excitement when the video changes from one scene to the next and smooth the passage between clips.</a:t>
            </a:r>
          </a:p>
          <a:p>
            <a:pPr marL="0" indent="0">
              <a:buNone/>
            </a:pP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Click on the ‘Transitions’ tab, choose a transition, drag it to the appropriate track and trim it.</a:t>
            </a:r>
            <a:endParaRPr lang="en-GB" sz="2400" dirty="0">
              <a:ea typeface="Ubuntu"/>
              <a:cs typeface="Ubuntu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53847-64DD-414E-9DCA-62273F58F021}"/>
              </a:ext>
            </a:extLst>
          </p:cNvPr>
          <p:cNvSpPr/>
          <p:nvPr/>
        </p:nvSpPr>
        <p:spPr>
          <a:xfrm>
            <a:off x="2336246" y="5831078"/>
            <a:ext cx="2660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dirty="0">
                <a:ea typeface="Roboto" panose="02000000000000000000" pitchFamily="2" charset="0"/>
                <a:cs typeface="Calibri" panose="020F0502020204030204" pitchFamily="34" charset="0"/>
              </a:rPr>
              <a:t>Watch Video 6.2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F790F6E9-AB21-460C-99D9-40F604AB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216" y="1964772"/>
            <a:ext cx="5761800" cy="412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1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94505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</a:t>
            </a:r>
            <a:r>
              <a:rPr lang="en-GB" b="1" dirty="0">
                <a:solidFill>
                  <a:schemeClr val="bg1"/>
                </a:solidFill>
                <a:ea typeface="Roboto" panose="02000000000000000000" pitchFamily="2" charset="0"/>
                <a:cs typeface="Calibri" panose="020F0502020204030204" pitchFamily="34" charset="0"/>
              </a:rPr>
              <a:t>6.1: Applying transitions</a:t>
            </a:r>
            <a:r>
              <a:rPr lang="en-GB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8DB44-5438-A243-AC7D-2EE0C721D2AE}"/>
              </a:ext>
            </a:extLst>
          </p:cNvPr>
          <p:cNvSpPr/>
          <p:nvPr/>
        </p:nvSpPr>
        <p:spPr>
          <a:xfrm>
            <a:off x="1718159" y="2457524"/>
            <a:ext cx="391486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Experiment with different transitions and then apply at least one transition to your video advert.</a:t>
            </a:r>
          </a:p>
          <a:p>
            <a:endParaRPr lang="en-GB" sz="2400" dirty="0"/>
          </a:p>
          <a:p>
            <a:r>
              <a:rPr lang="en-GB" sz="2400" dirty="0"/>
              <a:t>Remember to update your timeline to show the transitions added.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D566CF51-C813-4612-B262-DE53CE11A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977" y="1876804"/>
            <a:ext cx="4295246" cy="42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8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electronics, display, computer&#10;&#10;Description automatically generated">
            <a:extLst>
              <a:ext uri="{FF2B5EF4-FFF2-40B4-BE49-F238E27FC236}">
                <a16:creationId xmlns:a16="http://schemas.microsoft.com/office/drawing/2014/main" id="{308B60BE-F908-4C70-81BA-CFA585E5A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843" y="2084088"/>
            <a:ext cx="6185018" cy="37059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6531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Other visual effects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2002070"/>
            <a:ext cx="3779236" cy="38699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You can apply other visual effects to your video advert to make it more interesting and exciting to watch.</a:t>
            </a:r>
          </a:p>
          <a:p>
            <a:pPr marL="0" indent="0">
              <a:buNone/>
            </a:pP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Click on the ‘Effects’ tab, choose an effect and drag it to the appropriate track. Then click on it and adjust the values of each property of the effect.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53847-64DD-414E-9DCA-62273F58F021}"/>
              </a:ext>
            </a:extLst>
          </p:cNvPr>
          <p:cNvSpPr/>
          <p:nvPr/>
        </p:nvSpPr>
        <p:spPr>
          <a:xfrm>
            <a:off x="4765796" y="6011265"/>
            <a:ext cx="2660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Roboto" panose="02000000000000000000" pitchFamily="2" charset="0"/>
                <a:cs typeface="Calibri" panose="020F0502020204030204" pitchFamily="34" charset="0"/>
              </a:rPr>
              <a:t>Watch Video 6.3</a:t>
            </a:r>
            <a:r>
              <a:rPr lang="en-GB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875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94505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</a:t>
            </a:r>
            <a:r>
              <a:rPr lang="en-GB" b="1" dirty="0">
                <a:solidFill>
                  <a:schemeClr val="bg1"/>
                </a:solidFill>
                <a:ea typeface="Roboto" panose="02000000000000000000" pitchFamily="2" charset="0"/>
                <a:cs typeface="Calibri" panose="020F0502020204030204" pitchFamily="34" charset="0"/>
              </a:rPr>
              <a:t>6.2: Applying other visual effects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8DB44-5438-A243-AC7D-2EE0C721D2AE}"/>
              </a:ext>
            </a:extLst>
          </p:cNvPr>
          <p:cNvSpPr/>
          <p:nvPr/>
        </p:nvSpPr>
        <p:spPr>
          <a:xfrm>
            <a:off x="1718159" y="2457524"/>
            <a:ext cx="391486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Experiment with different visual effects and then apply at least one to your video advert.</a:t>
            </a:r>
          </a:p>
          <a:p>
            <a:endParaRPr lang="en-GB" sz="2400" dirty="0"/>
          </a:p>
          <a:p>
            <a:r>
              <a:rPr lang="en-GB" sz="2400" dirty="0"/>
              <a:t>Remember to update your timeline to show the visual effects added.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026D1E20-2F96-422D-B4A8-D8D1882E1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977" y="1876804"/>
            <a:ext cx="4295246" cy="42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26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6531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Titles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1964774"/>
            <a:ext cx="4342572" cy="21599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You can add </a:t>
            </a:r>
            <a:r>
              <a:rPr lang="en-GB" sz="2400" b="1" dirty="0">
                <a:solidFill>
                  <a:srgbClr val="FF0000"/>
                </a:solidFill>
                <a:ea typeface="Roboto" panose="02000000000000000000" pitchFamily="2" charset="0"/>
                <a:cs typeface="Calibri" panose="020F0502020204030204" pitchFamily="34" charset="0"/>
              </a:rPr>
              <a:t>titles</a:t>
            </a: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 (extra words) to your video advert to tell the viewer something important.</a:t>
            </a:r>
            <a:endParaRPr lang="en-GB" sz="2400" dirty="0">
              <a:ea typeface="Ubuntu"/>
              <a:cs typeface="Ubuntu"/>
            </a:endParaRPr>
          </a:p>
          <a:p>
            <a:pPr marL="0" indent="0">
              <a:buNone/>
            </a:pPr>
            <a:r>
              <a:rPr lang="en-GB" sz="2400" dirty="0">
                <a:ea typeface="Roboto" panose="02000000000000000000" pitchFamily="2" charset="0"/>
                <a:cs typeface="Calibri" panose="020F0502020204030204" pitchFamily="34" charset="0"/>
              </a:rPr>
              <a:t>Click on ‘Title’ in the menu bar, then ‘Title’ and choose a template. Type in the text and adjust the font, text colour and background colour and click ‘Save’.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ea typeface="Roboto" panose="02000000000000000000" pitchFamily="2" charset="0"/>
                <a:cs typeface="Calibri" panose="020F0502020204030204" pitchFamily="34" charset="0"/>
              </a:rPr>
              <a:t>Finally, drag the title to a new track and trim it according to your timeline.</a:t>
            </a:r>
            <a:endParaRPr lang="en-GB" sz="2400" dirty="0">
              <a:latin typeface="Ubuntu"/>
              <a:ea typeface="Ubuntu"/>
              <a:cs typeface="Ubuntu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53847-64DD-414E-9DCA-62273F58F021}"/>
              </a:ext>
            </a:extLst>
          </p:cNvPr>
          <p:cNvSpPr/>
          <p:nvPr/>
        </p:nvSpPr>
        <p:spPr>
          <a:xfrm>
            <a:off x="6096000" y="5863414"/>
            <a:ext cx="2660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Roboto" panose="02000000000000000000" pitchFamily="2" charset="0"/>
                <a:cs typeface="Calibri" panose="020F0502020204030204" pitchFamily="34" charset="0"/>
              </a:rPr>
              <a:t>Watch Video 6.4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9" name="Picture 8" descr="A picture containing text, monitor, black&#10;&#10;Description automatically generated">
            <a:extLst>
              <a:ext uri="{FF2B5EF4-FFF2-40B4-BE49-F238E27FC236}">
                <a16:creationId xmlns:a16="http://schemas.microsoft.com/office/drawing/2014/main" id="{10DD5DF3-549F-459E-86D4-BC2390C20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04007"/>
            <a:ext cx="5795952" cy="326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11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94505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</a:t>
            </a:r>
            <a:r>
              <a:rPr lang="en-GB" b="1" dirty="0">
                <a:solidFill>
                  <a:schemeClr val="bg1"/>
                </a:solidFill>
                <a:ea typeface="Roboto" panose="02000000000000000000" pitchFamily="2" charset="0"/>
                <a:cs typeface="Calibri" panose="020F0502020204030204" pitchFamily="34" charset="0"/>
              </a:rPr>
              <a:t>6.3: Adding titles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8DB44-5438-A243-AC7D-2EE0C721D2AE}"/>
              </a:ext>
            </a:extLst>
          </p:cNvPr>
          <p:cNvSpPr/>
          <p:nvPr/>
        </p:nvSpPr>
        <p:spPr>
          <a:xfrm>
            <a:off x="1570382" y="2457524"/>
            <a:ext cx="43922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Do you want to add titles to your video advert? Perhaps you could emphasise half price travel until the end of July by displaying ‘50% off’ at the appropriate time.</a:t>
            </a:r>
          </a:p>
          <a:p>
            <a:endParaRPr lang="en-GB" sz="2400" dirty="0"/>
          </a:p>
          <a:p>
            <a:r>
              <a:rPr lang="en-GB" sz="2400" dirty="0"/>
              <a:t>Remember to update your timeline to show any titles added.</a:t>
            </a:r>
          </a:p>
        </p:txBody>
      </p:sp>
      <p:pic>
        <p:nvPicPr>
          <p:cNvPr id="7" name="Picture 6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B52C58F8-C8F7-4E66-AEAD-1967B0828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977" y="1876804"/>
            <a:ext cx="4295246" cy="42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6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6531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Exporting your video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8" y="2045644"/>
            <a:ext cx="5190298" cy="39092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When you have finished your video advert, you need to export it in a high-quality video format so you can deliver it to Hachette Travel.</a:t>
            </a:r>
          </a:p>
          <a:p>
            <a:pPr marL="0" indent="0">
              <a:buNone/>
            </a:pPr>
            <a:r>
              <a:rPr lang="en-GB" sz="2400" dirty="0"/>
              <a:t>Click on ‘File’ in the menu bar, ‘Export Project’ and ‘Export Video’.</a:t>
            </a:r>
          </a:p>
          <a:p>
            <a:pPr marL="0" indent="0">
              <a:buNone/>
            </a:pPr>
            <a:r>
              <a:rPr lang="en-GB" sz="2400" dirty="0"/>
              <a:t>Type in the file name and choose where you want the exported video to save to in the ‘Folder Path:’ box. Then make sure the following options are selected and click ‘Export Video’.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553847-64DD-414E-9DCA-62273F58F021}"/>
              </a:ext>
            </a:extLst>
          </p:cNvPr>
          <p:cNvSpPr/>
          <p:nvPr/>
        </p:nvSpPr>
        <p:spPr>
          <a:xfrm>
            <a:off x="5156734" y="6137695"/>
            <a:ext cx="2660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Roboto" panose="02000000000000000000" pitchFamily="2" charset="0"/>
                <a:cs typeface="Calibri" panose="020F0502020204030204" pitchFamily="34" charset="0"/>
              </a:rPr>
              <a:t>Watch Video 6.5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57E9D4A-D7CC-4757-A2C9-F891C0AF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731" y="1784034"/>
            <a:ext cx="4397002" cy="44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9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94505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</a:t>
            </a:r>
            <a:r>
              <a:rPr lang="en-GB" b="1" dirty="0">
                <a:solidFill>
                  <a:schemeClr val="bg1"/>
                </a:solidFill>
                <a:ea typeface="Roboto" panose="02000000000000000000" pitchFamily="2" charset="0"/>
                <a:cs typeface="Calibri" panose="020F0502020204030204" pitchFamily="34" charset="0"/>
              </a:rPr>
              <a:t>6.4: Export your video advert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8DB44-5438-A243-AC7D-2EE0C721D2AE}"/>
              </a:ext>
            </a:extLst>
          </p:cNvPr>
          <p:cNvSpPr/>
          <p:nvPr/>
        </p:nvSpPr>
        <p:spPr>
          <a:xfrm>
            <a:off x="1570382" y="3013501"/>
            <a:ext cx="35675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Now it is time to export your video advert.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8F6CF030-1051-4943-8D1C-D8770519A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977" y="1876804"/>
            <a:ext cx="4295246" cy="42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19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8"/>
            <a:ext cx="10694505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</a:t>
            </a:r>
            <a:r>
              <a:rPr lang="en-GB" b="1" dirty="0">
                <a:solidFill>
                  <a:schemeClr val="bg1"/>
                </a:solidFill>
                <a:ea typeface="Roboto" panose="02000000000000000000" pitchFamily="2" charset="0"/>
                <a:cs typeface="Calibri" panose="020F0502020204030204" pitchFamily="34" charset="0"/>
              </a:rPr>
              <a:t>6.5: What do you think of this advert?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8DB44-5438-A243-AC7D-2EE0C721D2AE}"/>
              </a:ext>
            </a:extLst>
          </p:cNvPr>
          <p:cNvSpPr/>
          <p:nvPr/>
        </p:nvSpPr>
        <p:spPr>
          <a:xfrm>
            <a:off x="1570381" y="2457524"/>
            <a:ext cx="452561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Watch the advert and discuss the following questions: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Does this advert look professional? Why/why not?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What would make the video look more professional?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Is there anything you like about this video?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5744D8A5-0B06-4F93-A750-78241821F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977" y="1876804"/>
            <a:ext cx="4295246" cy="42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9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7" y="805070"/>
            <a:ext cx="9783417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6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2BA59C40-0C00-4842-A372-7D1D26BCF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502" y="1962529"/>
            <a:ext cx="4558995" cy="44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681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Ubuntu</vt:lpstr>
      <vt:lpstr>Office Theme</vt:lpstr>
      <vt:lpstr>Sound and video editing</vt:lpstr>
      <vt:lpstr>Objectives</vt:lpstr>
      <vt:lpstr>What does the visual effect do? </vt:lpstr>
      <vt:lpstr>Adding visual effects to your advert </vt:lpstr>
      <vt:lpstr>Transitions </vt:lpstr>
      <vt:lpstr>Activity 6.1: Applying transitions </vt:lpstr>
      <vt:lpstr>Other visual effects </vt:lpstr>
      <vt:lpstr>Activity 6.2: Applying other visual effects </vt:lpstr>
      <vt:lpstr>Titles </vt:lpstr>
      <vt:lpstr>Activity 6.3: Adding titles </vt:lpstr>
      <vt:lpstr>Exporting your video </vt:lpstr>
      <vt:lpstr>Activity 6.4: Export your video advert </vt:lpstr>
      <vt:lpstr>Activity 6.5: What do you think of this advert? </vt:lpstr>
      <vt:lpstr>Quiz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45</cp:revision>
  <dcterms:created xsi:type="dcterms:W3CDTF">2020-11-04T15:22:46Z</dcterms:created>
  <dcterms:modified xsi:type="dcterms:W3CDTF">2021-06-16T12:22:37Z</dcterms:modified>
</cp:coreProperties>
</file>