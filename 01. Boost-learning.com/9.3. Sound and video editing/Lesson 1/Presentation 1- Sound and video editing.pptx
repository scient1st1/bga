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3" r:id="rId6"/>
    <p:sldId id="274" r:id="rId7"/>
    <p:sldId id="275" r:id="rId8"/>
    <p:sldId id="276" r:id="rId9"/>
    <p:sldId id="277" r:id="rId10"/>
    <p:sldId id="278" r:id="rId11"/>
    <p:sldId id="279" r:id="rId12"/>
    <p:sldId id="280" r:id="rId13"/>
    <p:sldId id="281" r:id="rId14"/>
    <p:sldId id="282" r:id="rId15"/>
    <p:sldId id="260" r:id="rId16"/>
    <p:sldId id="283"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24" autoAdjust="0"/>
    <p:restoredTop sz="94660"/>
  </p:normalViewPr>
  <p:slideViewPr>
    <p:cSldViewPr snapToGrid="0">
      <p:cViewPr varScale="1">
        <p:scale>
          <a:sx n="110" d="100"/>
          <a:sy n="110" d="100"/>
        </p:scale>
        <p:origin x="28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27/07/2021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6" name="Picture 5">
            <a:extLst>
              <a:ext uri="{FF2B5EF4-FFF2-40B4-BE49-F238E27FC236}">
                <a16:creationId xmlns:a16="http://schemas.microsoft.com/office/drawing/2014/main" id="{5700FF46-9591-E444-B749-96268477A67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238036" cy="1622391"/>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B9C3-E44C-4313-895D-D43DD1C92CE3}"/>
              </a:ext>
            </a:extLst>
          </p:cNvPr>
          <p:cNvSpPr>
            <a:spLocks noGrp="1"/>
          </p:cNvSpPr>
          <p:nvPr>
            <p:ph type="ctrTitle"/>
          </p:nvPr>
        </p:nvSpPr>
        <p:spPr>
          <a:xfrm>
            <a:off x="2047478" y="2498614"/>
            <a:ext cx="5516881" cy="1860771"/>
          </a:xfrm>
        </p:spPr>
        <p:txBody>
          <a:bodyPr>
            <a:noAutofit/>
          </a:bodyPr>
          <a:lstStyle/>
          <a:p>
            <a:pPr algn="r"/>
            <a:r>
              <a:rPr lang="en-GB" b="1" dirty="0"/>
              <a:t>Sound and video editing</a:t>
            </a:r>
          </a:p>
        </p:txBody>
      </p:sp>
      <p:sp>
        <p:nvSpPr>
          <p:cNvPr id="11" name="Rectangle 10">
            <a:extLst>
              <a:ext uri="{FF2B5EF4-FFF2-40B4-BE49-F238E27FC236}">
                <a16:creationId xmlns:a16="http://schemas.microsoft.com/office/drawing/2014/main" id="{5346DB13-257C-4484-9CB0-C755672B55D3}"/>
              </a:ext>
            </a:extLst>
          </p:cNvPr>
          <p:cNvSpPr/>
          <p:nvPr/>
        </p:nvSpPr>
        <p:spPr>
          <a:xfrm>
            <a:off x="1711475" y="4359385"/>
            <a:ext cx="5852884" cy="400110"/>
          </a:xfrm>
          <a:prstGeom prst="rect">
            <a:avLst/>
          </a:prstGeom>
        </p:spPr>
        <p:txBody>
          <a:bodyPr wrap="none">
            <a:spAutoFit/>
          </a:bodyPr>
          <a:lstStyle/>
          <a:p>
            <a:pPr algn="r"/>
            <a:r>
              <a:rPr lang="en-GB" sz="2000" b="1" dirty="0">
                <a:solidFill>
                  <a:srgbClr val="FF0000"/>
                </a:solidFill>
                <a:latin typeface="Calibri" panose="020F0502020204030204" pitchFamily="34" charset="0"/>
                <a:ea typeface="Times New Roman" panose="02020603050405020304" pitchFamily="18" charset="0"/>
              </a:rPr>
              <a:t>Lesson 1: Introduction to sound editing and Audacity </a:t>
            </a:r>
            <a:endParaRPr lang="en-GB" sz="2000" b="1" dirty="0">
              <a:solidFill>
                <a:srgbClr val="FF0000"/>
              </a:solidFill>
            </a:endParaRPr>
          </a:p>
        </p:txBody>
      </p:sp>
      <p:pic>
        <p:nvPicPr>
          <p:cNvPr id="7" name="Picture 6">
            <a:extLst>
              <a:ext uri="{FF2B5EF4-FFF2-40B4-BE49-F238E27FC236}">
                <a16:creationId xmlns:a16="http://schemas.microsoft.com/office/drawing/2014/main" id="{6A140B29-641E-F34F-9F6C-ABDA4E899164}"/>
              </a:ext>
            </a:extLst>
          </p:cNvPr>
          <p:cNvPicPr>
            <a:picLocks noChangeAspect="1"/>
          </p:cNvPicPr>
          <p:nvPr/>
        </p:nvPicPr>
        <p:blipFill>
          <a:blip r:embed="rId2"/>
          <a:stretch>
            <a:fillRect/>
          </a:stretch>
        </p:blipFill>
        <p:spPr>
          <a:xfrm>
            <a:off x="8251906" y="2191860"/>
            <a:ext cx="2916165" cy="3635738"/>
          </a:xfrm>
          <a:prstGeom prst="rect">
            <a:avLst/>
          </a:prstGeom>
        </p:spPr>
      </p:pic>
    </p:spTree>
    <p:extLst>
      <p:ext uri="{BB962C8B-B14F-4D97-AF65-F5344CB8AC3E}">
        <p14:creationId xmlns:p14="http://schemas.microsoft.com/office/powerpoint/2010/main" val="105431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630018" y="824948"/>
            <a:ext cx="9634330" cy="766349"/>
          </a:xfrm>
        </p:spPr>
        <p:txBody>
          <a:bodyPr/>
          <a:lstStyle/>
          <a:p>
            <a:r>
              <a:rPr lang="en-GB" b="1" dirty="0">
                <a:solidFill>
                  <a:schemeClr val="bg1"/>
                </a:solidFill>
              </a:rPr>
              <a:t>Objectives</a:t>
            </a:r>
          </a:p>
        </p:txBody>
      </p:sp>
      <p:sp>
        <p:nvSpPr>
          <p:cNvPr id="5" name="Rectangle 4">
            <a:extLst>
              <a:ext uri="{FF2B5EF4-FFF2-40B4-BE49-F238E27FC236}">
                <a16:creationId xmlns:a16="http://schemas.microsoft.com/office/drawing/2014/main" id="{8430BE0A-41D5-4110-A78D-A6ACD33DE78B}"/>
              </a:ext>
            </a:extLst>
          </p:cNvPr>
          <p:cNvSpPr/>
          <p:nvPr/>
        </p:nvSpPr>
        <p:spPr>
          <a:xfrm>
            <a:off x="1630018" y="2582614"/>
            <a:ext cx="7798462" cy="1692771"/>
          </a:xfrm>
          <a:prstGeom prst="rect">
            <a:avLst/>
          </a:prstGeom>
        </p:spPr>
        <p:txBody>
          <a:bodyPr wrap="square">
            <a:spAutoFit/>
          </a:bodyPr>
          <a:lstStyle/>
          <a:p>
            <a:pPr>
              <a:spcAft>
                <a:spcPts val="0"/>
              </a:spcAft>
            </a:pPr>
            <a:r>
              <a:rPr lang="en-GB" sz="3200" dirty="0">
                <a:ea typeface="Times New Roman" panose="02020603050405020304" pitchFamily="18" charset="0"/>
              </a:rPr>
              <a:t>In this lesson, you will learn how to:</a:t>
            </a:r>
          </a:p>
          <a:p>
            <a:pPr marL="342900" lvl="0" indent="-342900">
              <a:buFont typeface="Symbol" pitchFamily="2" charset="2"/>
              <a:buChar char=""/>
            </a:pPr>
            <a:r>
              <a:rPr lang="en-GB" sz="2400" dirty="0">
                <a:latin typeface="Calibri" panose="020F0502020204030204" pitchFamily="34" charset="0"/>
                <a:ea typeface="Arial" panose="020B0604020202020204" pitchFamily="34" charset="0"/>
                <a:cs typeface="Calibri" panose="020F0502020204030204" pitchFamily="34" charset="0"/>
              </a:rPr>
              <a:t>import tracks into a digital audio workstation</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GB" sz="2400" dirty="0">
                <a:latin typeface="Calibri" panose="020F0502020204030204" pitchFamily="34" charset="0"/>
                <a:ea typeface="Arial" panose="020B0604020202020204" pitchFamily="34" charset="0"/>
                <a:cs typeface="Calibri" panose="020F0502020204030204" pitchFamily="34" charset="0"/>
              </a:rPr>
              <a:t>plan a radio advert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GB" sz="2400" dirty="0">
                <a:latin typeface="Calibri" panose="020F0502020204030204" pitchFamily="34" charset="0"/>
                <a:ea typeface="Arial" panose="020B0604020202020204" pitchFamily="34" charset="0"/>
                <a:cs typeface="Calibri" panose="020F0502020204030204" pitchFamily="34" charset="0"/>
              </a:rPr>
              <a:t>record using a microphone.</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775252"/>
            <a:ext cx="9773478" cy="834887"/>
          </a:xfrm>
        </p:spPr>
        <p:txBody>
          <a:bodyPr/>
          <a:lstStyle/>
          <a:p>
            <a:r>
              <a:rPr lang="en-GB" b="1" dirty="0">
                <a:solidFill>
                  <a:schemeClr val="bg1"/>
                </a:solidFill>
              </a:rPr>
              <a:t>Radio advert </a:t>
            </a:r>
          </a:p>
        </p:txBody>
      </p:sp>
      <p:sp>
        <p:nvSpPr>
          <p:cNvPr id="3" name="Rectangle 2">
            <a:extLst>
              <a:ext uri="{FF2B5EF4-FFF2-40B4-BE49-F238E27FC236}">
                <a16:creationId xmlns:a16="http://schemas.microsoft.com/office/drawing/2014/main" id="{868C1B8D-6296-0444-89C8-6A5A704E09AB}"/>
              </a:ext>
            </a:extLst>
          </p:cNvPr>
          <p:cNvSpPr/>
          <p:nvPr/>
        </p:nvSpPr>
        <p:spPr>
          <a:xfrm>
            <a:off x="6901877" y="2197028"/>
            <a:ext cx="3989643" cy="1815882"/>
          </a:xfrm>
          <a:prstGeom prst="rect">
            <a:avLst/>
          </a:prstGeom>
        </p:spPr>
        <p:txBody>
          <a:bodyPr wrap="square">
            <a:spAutoFit/>
          </a:bodyPr>
          <a:lstStyle/>
          <a:p>
            <a:r>
              <a:rPr lang="en-GB" sz="2800" dirty="0">
                <a:latin typeface="Calibri" panose="020F0502020204030204" pitchFamily="34" charset="0"/>
                <a:ea typeface="Roboto" panose="02000000000000000000" pitchFamily="2" charset="0"/>
                <a:cs typeface="Calibri" panose="020F0502020204030204" pitchFamily="34" charset="0"/>
              </a:rPr>
              <a:t>Listen to the radio advert and try to identify as many separate sounds as possible.</a:t>
            </a:r>
            <a:endParaRPr lang="en-GB" sz="2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3B18B9E5-75A0-F94D-9A41-825C9CCF7B25}"/>
              </a:ext>
            </a:extLst>
          </p:cNvPr>
          <p:cNvSpPr/>
          <p:nvPr/>
        </p:nvSpPr>
        <p:spPr>
          <a:xfrm>
            <a:off x="7647580" y="5058698"/>
            <a:ext cx="3385607" cy="584775"/>
          </a:xfrm>
          <a:prstGeom prst="rect">
            <a:avLst/>
          </a:prstGeom>
        </p:spPr>
        <p:txBody>
          <a:bodyPr wrap="none">
            <a:spAutoFit/>
          </a:bodyPr>
          <a:lstStyle/>
          <a:p>
            <a:r>
              <a:rPr lang="en-GB" sz="3200" dirty="0">
                <a:ea typeface="Roboto" panose="02000000000000000000" pitchFamily="2" charset="0"/>
                <a:cs typeface="Calibri" panose="020F0502020204030204" pitchFamily="34" charset="0"/>
              </a:rPr>
              <a:t>Listen to Audio 1.1</a:t>
            </a:r>
            <a:r>
              <a:rPr lang="en-GB" sz="3200" dirty="0"/>
              <a:t> </a:t>
            </a:r>
            <a:endParaRPr lang="en-US" sz="3200" dirty="0"/>
          </a:p>
        </p:txBody>
      </p:sp>
      <p:pic>
        <p:nvPicPr>
          <p:cNvPr id="7" name="Picture 6" descr="A picture containing indoor, camera&#10;&#10;Description automatically generated">
            <a:extLst>
              <a:ext uri="{FF2B5EF4-FFF2-40B4-BE49-F238E27FC236}">
                <a16:creationId xmlns:a16="http://schemas.microsoft.com/office/drawing/2014/main" id="{A5017C30-DE4D-4460-96FA-B17393B30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813" y="2243250"/>
            <a:ext cx="5469226" cy="3646458"/>
          </a:xfrm>
          <a:prstGeom prst="rect">
            <a:avLst/>
          </a:prstGeom>
        </p:spPr>
      </p:pic>
    </p:spTree>
    <p:extLst>
      <p:ext uri="{BB962C8B-B14F-4D97-AF65-F5344CB8AC3E}">
        <p14:creationId xmlns:p14="http://schemas.microsoft.com/office/powerpoint/2010/main" val="1166166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765312"/>
            <a:ext cx="9733721" cy="835923"/>
          </a:xfrm>
        </p:spPr>
        <p:txBody>
          <a:bodyPr/>
          <a:lstStyle/>
          <a:p>
            <a:r>
              <a:rPr lang="en-GB" b="1" dirty="0">
                <a:solidFill>
                  <a:schemeClr val="bg1"/>
                </a:solidFill>
              </a:rPr>
              <a:t>Sound editing software </a:t>
            </a: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2613397"/>
            <a:ext cx="5177329" cy="2159966"/>
          </a:xfrm>
        </p:spPr>
        <p:txBody>
          <a:bodyPr>
            <a:noAutofit/>
          </a:bodyPr>
          <a:lstStyle/>
          <a:p>
            <a:pPr marL="0" indent="0">
              <a:buNone/>
            </a:pPr>
            <a:r>
              <a:rPr lang="en-GB" sz="2400" dirty="0"/>
              <a:t>You are going to be learning how to record and edit sound using a DAW (Digital Audio Workstation).</a:t>
            </a:r>
          </a:p>
          <a:p>
            <a:pPr marL="0" indent="0">
              <a:buNone/>
            </a:pPr>
            <a:r>
              <a:rPr lang="en-GB" sz="2400" dirty="0"/>
              <a:t>As it is free and powerful, you will be learning how to use </a:t>
            </a:r>
            <a:r>
              <a:rPr lang="en-GB" sz="2400" b="1" dirty="0">
                <a:solidFill>
                  <a:srgbClr val="FF0000"/>
                </a:solidFill>
              </a:rPr>
              <a:t>Audacity</a:t>
            </a:r>
            <a:r>
              <a:rPr lang="en-GB" sz="2400" dirty="0"/>
              <a:t>, but other DAWs work in a similar way.</a:t>
            </a:r>
          </a:p>
          <a:p>
            <a:endParaRPr lang="en-GB" dirty="0"/>
          </a:p>
        </p:txBody>
      </p:sp>
      <p:pic>
        <p:nvPicPr>
          <p:cNvPr id="7" name="Picture 6" descr="Logo, icon&#10;&#10;Description automatically generated">
            <a:extLst>
              <a:ext uri="{FF2B5EF4-FFF2-40B4-BE49-F238E27FC236}">
                <a16:creationId xmlns:a16="http://schemas.microsoft.com/office/drawing/2014/main" id="{35B2438C-4E57-4A48-8E53-9A7EA2F993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8740" y="1937628"/>
            <a:ext cx="4155059" cy="4155059"/>
          </a:xfrm>
          <a:prstGeom prst="rect">
            <a:avLst/>
          </a:prstGeom>
        </p:spPr>
      </p:pic>
    </p:spTree>
    <p:extLst>
      <p:ext uri="{BB962C8B-B14F-4D97-AF65-F5344CB8AC3E}">
        <p14:creationId xmlns:p14="http://schemas.microsoft.com/office/powerpoint/2010/main" val="30057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765312"/>
            <a:ext cx="9733721" cy="835923"/>
          </a:xfrm>
        </p:spPr>
        <p:txBody>
          <a:bodyPr/>
          <a:lstStyle/>
          <a:p>
            <a:r>
              <a:rPr lang="en-GB" b="1" dirty="0">
                <a:solidFill>
                  <a:schemeClr val="bg1"/>
                </a:solidFill>
              </a:rPr>
              <a:t>Sound editing software </a:t>
            </a: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2279734"/>
            <a:ext cx="9119042" cy="3369226"/>
          </a:xfrm>
        </p:spPr>
        <p:txBody>
          <a:bodyPr>
            <a:noAutofit/>
          </a:bodyPr>
          <a:lstStyle/>
          <a:p>
            <a:pPr marL="0" indent="0">
              <a:buNone/>
            </a:pPr>
            <a:r>
              <a:rPr lang="en-GB" sz="2400" dirty="0"/>
              <a:t>One audio track is made up of lots of smaller audio tracks; more than one sound is played back to create one audio file. This is why audio is often referred to as </a:t>
            </a:r>
            <a:r>
              <a:rPr lang="en-GB" sz="2400" b="1" dirty="0">
                <a:solidFill>
                  <a:srgbClr val="FF0000"/>
                </a:solidFill>
              </a:rPr>
              <a:t>multi-track</a:t>
            </a:r>
            <a:r>
              <a:rPr lang="en-GB" sz="2400" dirty="0"/>
              <a:t>.</a:t>
            </a:r>
          </a:p>
          <a:p>
            <a:pPr marL="0" indent="0">
              <a:buNone/>
            </a:pPr>
            <a:r>
              <a:rPr lang="en-GB" sz="2400" dirty="0"/>
              <a:t>To ensure all the sounds come together to form something you want to listen to, sound designers work from a timeline.</a:t>
            </a:r>
          </a:p>
          <a:p>
            <a:pPr marL="0" indent="0">
              <a:buNone/>
            </a:pPr>
            <a:r>
              <a:rPr lang="en-GB" sz="2400" dirty="0"/>
              <a:t>On the next slide is an example of an audio </a:t>
            </a:r>
            <a:r>
              <a:rPr lang="en-GB" sz="2400" b="1" dirty="0">
                <a:solidFill>
                  <a:srgbClr val="FF0000"/>
                </a:solidFill>
              </a:rPr>
              <a:t>timeline</a:t>
            </a:r>
            <a:r>
              <a:rPr lang="en-GB" sz="2400" dirty="0"/>
              <a:t>. Listen to the radio advert again. Can you see how the audio blocks on the timeline relate to the sounds in the advert?</a:t>
            </a:r>
          </a:p>
        </p:txBody>
      </p:sp>
    </p:spTree>
    <p:extLst>
      <p:ext uri="{BB962C8B-B14F-4D97-AF65-F5344CB8AC3E}">
        <p14:creationId xmlns:p14="http://schemas.microsoft.com/office/powerpoint/2010/main" val="4114912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765312"/>
            <a:ext cx="9733721" cy="835923"/>
          </a:xfrm>
        </p:spPr>
        <p:txBody>
          <a:bodyPr/>
          <a:lstStyle/>
          <a:p>
            <a:r>
              <a:rPr lang="en-GB" b="1" dirty="0">
                <a:solidFill>
                  <a:schemeClr val="bg1"/>
                </a:solidFill>
              </a:rPr>
              <a:t>Sound editing software </a:t>
            </a: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1964774"/>
            <a:ext cx="9820082" cy="1733849"/>
          </a:xfrm>
        </p:spPr>
        <p:txBody>
          <a:bodyPr>
            <a:noAutofit/>
          </a:bodyPr>
          <a:lstStyle/>
          <a:p>
            <a:r>
              <a:rPr lang="en-GB" sz="2400" dirty="0"/>
              <a:t>Notice how the audio timeline moves chronologically from left to right.</a:t>
            </a:r>
          </a:p>
          <a:p>
            <a:r>
              <a:rPr lang="en-GB" sz="2400" dirty="0"/>
              <a:t>Notice how the audio timeline shows louder sounds at the top and quieter sounds at the bottom.</a:t>
            </a:r>
          </a:p>
          <a:p>
            <a:r>
              <a:rPr lang="en-GB" sz="2400" dirty="0"/>
              <a:t>Notice how specific sounds are played at specific times.</a:t>
            </a:r>
          </a:p>
        </p:txBody>
      </p:sp>
      <p:pic>
        <p:nvPicPr>
          <p:cNvPr id="6" name="Picture 5">
            <a:extLst>
              <a:ext uri="{FF2B5EF4-FFF2-40B4-BE49-F238E27FC236}">
                <a16:creationId xmlns:a16="http://schemas.microsoft.com/office/drawing/2014/main" id="{AF5B548B-5E1F-430C-8D6A-7214E8260A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656" y="3698623"/>
            <a:ext cx="7852664" cy="2902399"/>
          </a:xfrm>
          <a:prstGeom prst="rect">
            <a:avLst/>
          </a:prstGeom>
        </p:spPr>
      </p:pic>
      <p:sp>
        <p:nvSpPr>
          <p:cNvPr id="8" name="Rectangle 7">
            <a:extLst>
              <a:ext uri="{FF2B5EF4-FFF2-40B4-BE49-F238E27FC236}">
                <a16:creationId xmlns:a16="http://schemas.microsoft.com/office/drawing/2014/main" id="{597063CB-BE8E-4FF8-AB19-2E40FE7516A1}"/>
              </a:ext>
            </a:extLst>
          </p:cNvPr>
          <p:cNvSpPr/>
          <p:nvPr/>
        </p:nvSpPr>
        <p:spPr>
          <a:xfrm>
            <a:off x="9384798" y="4195715"/>
            <a:ext cx="1580882" cy="954107"/>
          </a:xfrm>
          <a:prstGeom prst="rect">
            <a:avLst/>
          </a:prstGeom>
        </p:spPr>
        <p:txBody>
          <a:bodyPr wrap="none">
            <a:spAutoFit/>
          </a:bodyPr>
          <a:lstStyle/>
          <a:p>
            <a:pPr algn="ctr"/>
            <a:r>
              <a:rPr lang="en-GB" sz="2800" dirty="0">
                <a:ea typeface="Roboto" panose="02000000000000000000" pitchFamily="2" charset="0"/>
                <a:cs typeface="Calibri" panose="020F0502020204030204" pitchFamily="34" charset="0"/>
              </a:rPr>
              <a:t>Listen to</a:t>
            </a:r>
          </a:p>
          <a:p>
            <a:pPr algn="ctr"/>
            <a:r>
              <a:rPr lang="en-GB" sz="2800" dirty="0">
                <a:ea typeface="Roboto" panose="02000000000000000000" pitchFamily="2" charset="0"/>
                <a:cs typeface="Calibri" panose="020F0502020204030204" pitchFamily="34" charset="0"/>
              </a:rPr>
              <a:t>Audio 1.1</a:t>
            </a:r>
            <a:endParaRPr lang="en-US" sz="2800" dirty="0"/>
          </a:p>
        </p:txBody>
      </p:sp>
    </p:spTree>
    <p:extLst>
      <p:ext uri="{BB962C8B-B14F-4D97-AF65-F5344CB8AC3E}">
        <p14:creationId xmlns:p14="http://schemas.microsoft.com/office/powerpoint/2010/main" val="101054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 calcmode="lin" valueType="num">
                                      <p:cBhvr>
                                        <p:cTn id="9" dur="500" fill="hold"/>
                                        <p:tgtEl>
                                          <p:spTgt spid="8"/>
                                        </p:tgtEl>
                                        <p:attrNameLst>
                                          <p:attrName>style.rotation</p:attrName>
                                        </p:attrNameLst>
                                      </p:cBhvr>
                                      <p:tavLst>
                                        <p:tav tm="0">
                                          <p:val>
                                            <p:fltVal val="360"/>
                                          </p:val>
                                        </p:tav>
                                        <p:tav tm="100000">
                                          <p:val>
                                            <p:fltVal val="0"/>
                                          </p:val>
                                        </p:tav>
                                      </p:tavLst>
                                    </p:anim>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765312"/>
            <a:ext cx="9733721" cy="835923"/>
          </a:xfrm>
        </p:spPr>
        <p:txBody>
          <a:bodyPr/>
          <a:lstStyle/>
          <a:p>
            <a:r>
              <a:rPr lang="en-GB" b="1" dirty="0">
                <a:solidFill>
                  <a:schemeClr val="bg1"/>
                </a:solidFill>
              </a:rPr>
              <a:t>Recording a radio advert</a:t>
            </a: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1965920"/>
            <a:ext cx="3073842" cy="2180506"/>
          </a:xfrm>
        </p:spPr>
        <p:txBody>
          <a:bodyPr>
            <a:noAutofit/>
          </a:bodyPr>
          <a:lstStyle/>
          <a:p>
            <a:pPr marL="0" indent="0">
              <a:buNone/>
            </a:pPr>
            <a:r>
              <a:rPr lang="en-GB" sz="2400" dirty="0"/>
              <a:t>Over the next two lessons, you will be creating a radio advert based on this timeline:</a:t>
            </a:r>
          </a:p>
        </p:txBody>
      </p:sp>
      <p:sp>
        <p:nvSpPr>
          <p:cNvPr id="5" name="Rectangle 4">
            <a:extLst>
              <a:ext uri="{FF2B5EF4-FFF2-40B4-BE49-F238E27FC236}">
                <a16:creationId xmlns:a16="http://schemas.microsoft.com/office/drawing/2014/main" id="{86C38BB3-AF14-3C43-BE34-85A5F87406EE}"/>
              </a:ext>
            </a:extLst>
          </p:cNvPr>
          <p:cNvSpPr/>
          <p:nvPr/>
        </p:nvSpPr>
        <p:spPr>
          <a:xfrm>
            <a:off x="1620079" y="4490303"/>
            <a:ext cx="9733720" cy="1938992"/>
          </a:xfrm>
          <a:prstGeom prst="rect">
            <a:avLst/>
          </a:prstGeom>
        </p:spPr>
        <p:txBody>
          <a:bodyPr wrap="square">
            <a:spAutoFit/>
          </a:bodyPr>
          <a:lstStyle/>
          <a:p>
            <a:r>
              <a:rPr lang="en-GB" sz="2400" dirty="0">
                <a:latin typeface="Calibri" panose="020F0502020204030204" pitchFamily="34" charset="0"/>
                <a:ea typeface="Roboto" panose="02000000000000000000" pitchFamily="2" charset="0"/>
                <a:cs typeface="Calibri" panose="020F0502020204030204" pitchFamily="34" charset="0"/>
              </a:rPr>
              <a:t>In this lesson, you will focus on gathering and recording sounds and moving them into the correct position in Audacity.</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r>
              <a:rPr lang="en-GB" sz="2400" dirty="0">
                <a:latin typeface="Calibri" panose="020F0502020204030204" pitchFamily="34" charset="0"/>
                <a:ea typeface="Roboto" panose="02000000000000000000" pitchFamily="2" charset="0"/>
                <a:cs typeface="Calibri" panose="020F0502020204030204" pitchFamily="34" charset="0"/>
              </a:rPr>
              <a:t>By the end of the lesson, your advert should sound something like Audio 1.2. </a:t>
            </a:r>
          </a:p>
          <a:p>
            <a:r>
              <a:rPr lang="en-GB" sz="2400" dirty="0">
                <a:latin typeface="Calibri" panose="020F0502020204030204" pitchFamily="34" charset="0"/>
                <a:ea typeface="Roboto" panose="02000000000000000000" pitchFamily="2" charset="0"/>
                <a:cs typeface="Calibri" panose="020F0502020204030204" pitchFamily="34" charset="0"/>
              </a:rPr>
              <a:t>Don’t worry if it doesn’t sound completely professional yet! You will be adding effects next lesson.</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descr="Table&#10;&#10;Description automatically generated">
            <a:extLst>
              <a:ext uri="{FF2B5EF4-FFF2-40B4-BE49-F238E27FC236}">
                <a16:creationId xmlns:a16="http://schemas.microsoft.com/office/drawing/2014/main" id="{19D1EFB5-B04B-44E1-88B5-A37615A025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3920" y="1965920"/>
            <a:ext cx="6892492" cy="2524383"/>
          </a:xfrm>
          <a:prstGeom prst="rect">
            <a:avLst/>
          </a:prstGeom>
        </p:spPr>
      </p:pic>
    </p:spTree>
    <p:extLst>
      <p:ext uri="{BB962C8B-B14F-4D97-AF65-F5344CB8AC3E}">
        <p14:creationId xmlns:p14="http://schemas.microsoft.com/office/powerpoint/2010/main" val="2084577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Description automatically generated">
            <a:extLst>
              <a:ext uri="{FF2B5EF4-FFF2-40B4-BE49-F238E27FC236}">
                <a16:creationId xmlns:a16="http://schemas.microsoft.com/office/drawing/2014/main" id="{B31203C0-CC64-466B-8D6C-BBEE8C7F5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8828" y="2440659"/>
            <a:ext cx="6096000" cy="3281056"/>
          </a:xfrm>
          <a:prstGeom prst="rect">
            <a:avLst/>
          </a:prstGeom>
        </p:spPr>
      </p:pic>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765312"/>
            <a:ext cx="9733721" cy="835923"/>
          </a:xfrm>
        </p:spPr>
        <p:txBody>
          <a:bodyPr/>
          <a:lstStyle/>
          <a:p>
            <a:r>
              <a:rPr lang="en-GB" b="1" dirty="0">
                <a:solidFill>
                  <a:schemeClr val="bg1"/>
                </a:solidFill>
              </a:rPr>
              <a:t>Importing audio tracks</a:t>
            </a: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1964774"/>
            <a:ext cx="4100002" cy="4232826"/>
          </a:xfrm>
        </p:spPr>
        <p:txBody>
          <a:bodyPr>
            <a:noAutofit/>
          </a:bodyPr>
          <a:lstStyle/>
          <a:p>
            <a:pPr marL="0" indent="0">
              <a:buNone/>
            </a:pPr>
            <a:r>
              <a:rPr lang="en-GB" sz="2400" dirty="0"/>
              <a:t>When you open Audacity, you are presented with a blank template.</a:t>
            </a:r>
          </a:p>
          <a:p>
            <a:r>
              <a:rPr lang="en-GB" sz="2400" dirty="0">
                <a:latin typeface="Calibri" panose="020F0502020204030204" pitchFamily="34" charset="0"/>
                <a:ea typeface="Roboto" panose="02000000000000000000" pitchFamily="2" charset="0"/>
                <a:cs typeface="Calibri" panose="020F0502020204030204" pitchFamily="34" charset="0"/>
              </a:rPr>
              <a:t>Click on ‘File’, ‘Import’ and ‘Audio’ to </a:t>
            </a:r>
            <a:r>
              <a:rPr lang="en-GB" sz="2400" b="1" dirty="0">
                <a:solidFill>
                  <a:srgbClr val="FF0000"/>
                </a:solidFill>
                <a:latin typeface="Calibri" panose="020F0502020204030204" pitchFamily="34" charset="0"/>
                <a:ea typeface="Roboto" panose="02000000000000000000" pitchFamily="2" charset="0"/>
                <a:cs typeface="Calibri" panose="020F0502020204030204" pitchFamily="34" charset="0"/>
              </a:rPr>
              <a:t>import</a:t>
            </a:r>
            <a:r>
              <a:rPr lang="en-GB" sz="2400" dirty="0">
                <a:latin typeface="Calibri" panose="020F0502020204030204" pitchFamily="34" charset="0"/>
                <a:ea typeface="Roboto" panose="02000000000000000000" pitchFamily="2" charset="0"/>
                <a:cs typeface="Calibri" panose="020F0502020204030204" pitchFamily="34" charset="0"/>
              </a:rPr>
              <a:t> sounds into Audacity.</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r>
              <a:rPr lang="en-GB" sz="2400" dirty="0">
                <a:latin typeface="Calibri" panose="020F0502020204030204" pitchFamily="34" charset="0"/>
                <a:ea typeface="Roboto" panose="02000000000000000000" pitchFamily="2" charset="0"/>
                <a:cs typeface="Calibri" panose="020F0502020204030204" pitchFamily="34" charset="0"/>
              </a:rPr>
              <a:t>Then click on ‘View’, ‘Track size’ and ‘Fit to Height’ to resize the sounds so you can see them all on your screen at the same time.</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CCA0F4A1-08E9-E64A-852A-2FE68C2C7698}"/>
              </a:ext>
            </a:extLst>
          </p:cNvPr>
          <p:cNvSpPr/>
          <p:nvPr/>
        </p:nvSpPr>
        <p:spPr>
          <a:xfrm>
            <a:off x="6893520" y="3819577"/>
            <a:ext cx="4266617" cy="646331"/>
          </a:xfrm>
          <a:prstGeom prst="rect">
            <a:avLst/>
          </a:prstGeom>
        </p:spPr>
        <p:txBody>
          <a:bodyPr wrap="none">
            <a:spAutoFit/>
          </a:bodyPr>
          <a:lstStyle/>
          <a:p>
            <a:pPr algn="ctr"/>
            <a:r>
              <a:rPr lang="en-GB" sz="3600" dirty="0">
                <a:ea typeface="Roboto" panose="02000000000000000000" pitchFamily="2" charset="0"/>
                <a:cs typeface="Calibri" panose="020F0502020204030204" pitchFamily="34" charset="0"/>
              </a:rPr>
              <a:t>Now watch Video 1.1</a:t>
            </a:r>
            <a:r>
              <a:rPr lang="en-GB" sz="3600" dirty="0"/>
              <a:t> </a:t>
            </a:r>
            <a:endParaRPr lang="en-US" sz="3600" dirty="0"/>
          </a:p>
        </p:txBody>
      </p:sp>
    </p:spTree>
    <p:extLst>
      <p:ext uri="{BB962C8B-B14F-4D97-AF65-F5344CB8AC3E}">
        <p14:creationId xmlns:p14="http://schemas.microsoft.com/office/powerpoint/2010/main" val="225480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9783417" cy="775252"/>
          </a:xfrm>
        </p:spPr>
        <p:txBody>
          <a:bodyPr/>
          <a:lstStyle/>
          <a:p>
            <a:r>
              <a:rPr lang="en-GB" b="1" dirty="0">
                <a:solidFill>
                  <a:schemeClr val="bg1"/>
                </a:solidFill>
              </a:rPr>
              <a:t>Activity 1.1: Importing audio tracks</a:t>
            </a:r>
          </a:p>
        </p:txBody>
      </p:sp>
      <p:sp>
        <p:nvSpPr>
          <p:cNvPr id="3" name="Rectangle 2">
            <a:extLst>
              <a:ext uri="{FF2B5EF4-FFF2-40B4-BE49-F238E27FC236}">
                <a16:creationId xmlns:a16="http://schemas.microsoft.com/office/drawing/2014/main" id="{2E18DB44-5438-A243-AC7D-2EE0C721D2AE}"/>
              </a:ext>
            </a:extLst>
          </p:cNvPr>
          <p:cNvSpPr/>
          <p:nvPr/>
        </p:nvSpPr>
        <p:spPr>
          <a:xfrm>
            <a:off x="1570382" y="2967335"/>
            <a:ext cx="4252574" cy="461665"/>
          </a:xfrm>
          <a:prstGeom prst="rect">
            <a:avLst/>
          </a:prstGeom>
        </p:spPr>
        <p:txBody>
          <a:bodyPr wrap="none">
            <a:spAutoFit/>
          </a:bodyPr>
          <a:lstStyle/>
          <a:p>
            <a:r>
              <a:rPr lang="en-GB" sz="2400" dirty="0">
                <a:latin typeface="Calibri" panose="020F0502020204030204" pitchFamily="34" charset="0"/>
                <a:ea typeface="Roboto" panose="02000000000000000000" pitchFamily="2" charset="0"/>
                <a:cs typeface="Calibri" panose="020F0502020204030204" pitchFamily="34" charset="0"/>
              </a:rPr>
              <a:t>Import Sounds 1.1 into Audacity.</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A picture containing athletic game, basketball, sport&#10;&#10;Description automatically generated">
            <a:extLst>
              <a:ext uri="{FF2B5EF4-FFF2-40B4-BE49-F238E27FC236}">
                <a16:creationId xmlns:a16="http://schemas.microsoft.com/office/drawing/2014/main" id="{811128D2-22EE-46EE-9704-7920F344C3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8441" y="1778673"/>
            <a:ext cx="4815843" cy="4718502"/>
          </a:xfrm>
          <a:prstGeom prst="rect">
            <a:avLst/>
          </a:prstGeom>
        </p:spPr>
      </p:pic>
    </p:spTree>
    <p:extLst>
      <p:ext uri="{BB962C8B-B14F-4D97-AF65-F5344CB8AC3E}">
        <p14:creationId xmlns:p14="http://schemas.microsoft.com/office/powerpoint/2010/main" val="4178638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765312"/>
            <a:ext cx="9733721" cy="835923"/>
          </a:xfrm>
        </p:spPr>
        <p:txBody>
          <a:bodyPr/>
          <a:lstStyle/>
          <a:p>
            <a:r>
              <a:rPr lang="en-GB" b="1" dirty="0">
                <a:solidFill>
                  <a:schemeClr val="bg1"/>
                </a:solidFill>
              </a:rPr>
              <a:t>Arranging the composition</a:t>
            </a: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7" y="1964773"/>
            <a:ext cx="9034670" cy="917574"/>
          </a:xfrm>
        </p:spPr>
        <p:txBody>
          <a:bodyPr>
            <a:noAutofit/>
          </a:bodyPr>
          <a:lstStyle/>
          <a:p>
            <a:pPr marL="0" indent="0">
              <a:buNone/>
            </a:pPr>
            <a:r>
              <a:rPr lang="en-GB" sz="2400" dirty="0"/>
              <a:t>Now that you have imported your audio tracks, you can start to </a:t>
            </a:r>
            <a:r>
              <a:rPr lang="en-GB" sz="2400" b="1" dirty="0">
                <a:solidFill>
                  <a:srgbClr val="FF0000"/>
                </a:solidFill>
              </a:rPr>
              <a:t>arrange</a:t>
            </a:r>
            <a:r>
              <a:rPr lang="en-GB" sz="2400" dirty="0">
                <a:solidFill>
                  <a:srgbClr val="FF0000"/>
                </a:solidFill>
              </a:rPr>
              <a:t> </a:t>
            </a:r>
            <a:r>
              <a:rPr lang="en-GB" sz="2400" dirty="0"/>
              <a:t>them according to the audio timeline.</a:t>
            </a:r>
          </a:p>
          <a:p>
            <a:pPr marL="0" indent="0">
              <a:buNone/>
            </a:pPr>
            <a:r>
              <a:rPr lang="en-GB" sz="2400" dirty="0"/>
              <a:t>To do this, use the ‘Time Shift Tool’ to move the audio files around.</a:t>
            </a:r>
          </a:p>
        </p:txBody>
      </p:sp>
      <p:sp>
        <p:nvSpPr>
          <p:cNvPr id="5" name="Rectangle 4">
            <a:extLst>
              <a:ext uri="{FF2B5EF4-FFF2-40B4-BE49-F238E27FC236}">
                <a16:creationId xmlns:a16="http://schemas.microsoft.com/office/drawing/2014/main" id="{86C38BB3-AF14-3C43-BE34-85A5F87406EE}"/>
              </a:ext>
            </a:extLst>
          </p:cNvPr>
          <p:cNvSpPr/>
          <p:nvPr/>
        </p:nvSpPr>
        <p:spPr>
          <a:xfrm>
            <a:off x="1620077" y="5261691"/>
            <a:ext cx="9442175" cy="830997"/>
          </a:xfrm>
          <a:prstGeom prst="rect">
            <a:avLst/>
          </a:prstGeom>
        </p:spPr>
        <p:txBody>
          <a:bodyPr wrap="square">
            <a:spAutoFit/>
          </a:bodyPr>
          <a:lstStyle/>
          <a:p>
            <a:r>
              <a:rPr lang="en-GB" sz="2400" b="1" dirty="0"/>
              <a:t>Top tip:</a:t>
            </a:r>
            <a:r>
              <a:rPr lang="en-GB" sz="2400" dirty="0"/>
              <a:t> Press and hold ‘ctrl’ (or ‘</a:t>
            </a:r>
            <a:r>
              <a:rPr lang="en-GB" sz="2400" dirty="0" err="1"/>
              <a:t>cmd</a:t>
            </a:r>
            <a:r>
              <a:rPr lang="en-GB" sz="2400" dirty="0"/>
              <a:t>’ if you are using a Mac) on your keyboard and use the mouse wheel to expand or contract the tracks.</a:t>
            </a:r>
          </a:p>
        </p:txBody>
      </p:sp>
      <p:pic>
        <p:nvPicPr>
          <p:cNvPr id="7" name="Picture 6" descr="A picture containing arrow&#10;&#10;Description automatically generated">
            <a:extLst>
              <a:ext uri="{FF2B5EF4-FFF2-40B4-BE49-F238E27FC236}">
                <a16:creationId xmlns:a16="http://schemas.microsoft.com/office/drawing/2014/main" id="{6A87E2E2-F3A7-4BE3-8C3D-521629089B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5812" y="3429000"/>
            <a:ext cx="1620376" cy="1565448"/>
          </a:xfrm>
          <a:prstGeom prst="rect">
            <a:avLst/>
          </a:prstGeom>
        </p:spPr>
      </p:pic>
    </p:spTree>
    <p:extLst>
      <p:ext uri="{BB962C8B-B14F-4D97-AF65-F5344CB8AC3E}">
        <p14:creationId xmlns:p14="http://schemas.microsoft.com/office/powerpoint/2010/main" val="3817086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765312"/>
            <a:ext cx="9733721" cy="835923"/>
          </a:xfrm>
        </p:spPr>
        <p:txBody>
          <a:bodyPr/>
          <a:lstStyle/>
          <a:p>
            <a:r>
              <a:rPr lang="en-GB" b="1" dirty="0">
                <a:solidFill>
                  <a:schemeClr val="bg1"/>
                </a:solidFill>
              </a:rPr>
              <a:t>Trimming tracks</a:t>
            </a:r>
            <a:r>
              <a:rPr lang="en-GB" dirty="0">
                <a:solidFill>
                  <a:schemeClr val="bg1"/>
                </a:solidFill>
              </a:rPr>
              <a:t> </a:t>
            </a:r>
            <a:endParaRPr lang="en-GB" b="1" dirty="0">
              <a:solidFill>
                <a:schemeClr val="bg1"/>
              </a:solidFill>
            </a:endParaRP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7" y="2093600"/>
            <a:ext cx="9034670" cy="917574"/>
          </a:xfrm>
        </p:spPr>
        <p:txBody>
          <a:bodyPr>
            <a:noAutofit/>
          </a:bodyPr>
          <a:lstStyle/>
          <a:p>
            <a:pPr marL="0" indent="0">
              <a:buNone/>
            </a:pPr>
            <a:r>
              <a:rPr lang="en-GB" sz="2400" dirty="0"/>
              <a:t>If you want to trim one of the audio tracks, you can use the ‘Selection Tool’ to select the audio you want to delete and then press the ‘Delete’ key on your keyboard.</a:t>
            </a:r>
          </a:p>
        </p:txBody>
      </p:sp>
      <p:sp>
        <p:nvSpPr>
          <p:cNvPr id="5" name="Rectangle 4">
            <a:extLst>
              <a:ext uri="{FF2B5EF4-FFF2-40B4-BE49-F238E27FC236}">
                <a16:creationId xmlns:a16="http://schemas.microsoft.com/office/drawing/2014/main" id="{86C38BB3-AF14-3C43-BE34-85A5F87406EE}"/>
              </a:ext>
            </a:extLst>
          </p:cNvPr>
          <p:cNvSpPr/>
          <p:nvPr/>
        </p:nvSpPr>
        <p:spPr>
          <a:xfrm>
            <a:off x="1620077" y="5045834"/>
            <a:ext cx="9442175" cy="1200329"/>
          </a:xfrm>
          <a:prstGeom prst="rect">
            <a:avLst/>
          </a:prstGeom>
        </p:spPr>
        <p:txBody>
          <a:bodyPr wrap="square">
            <a:spAutoFit/>
          </a:bodyPr>
          <a:lstStyle/>
          <a:p>
            <a:r>
              <a:rPr lang="en-GB" sz="2400" dirty="0"/>
              <a:t>To play your soundtrack at any time, press the space bar or click on the ‘Play’ button. To stop playback, press the space bar again or click on the ‘Stop’ button.</a:t>
            </a:r>
          </a:p>
        </p:txBody>
      </p:sp>
      <p:sp>
        <p:nvSpPr>
          <p:cNvPr id="6" name="Rectangle 5">
            <a:extLst>
              <a:ext uri="{FF2B5EF4-FFF2-40B4-BE49-F238E27FC236}">
                <a16:creationId xmlns:a16="http://schemas.microsoft.com/office/drawing/2014/main" id="{81F75192-4298-E842-B2DE-E4EF5C57A000}"/>
              </a:ext>
            </a:extLst>
          </p:cNvPr>
          <p:cNvSpPr/>
          <p:nvPr/>
        </p:nvSpPr>
        <p:spPr>
          <a:xfrm>
            <a:off x="8250323" y="3766894"/>
            <a:ext cx="2660408" cy="523220"/>
          </a:xfrm>
          <a:prstGeom prst="rect">
            <a:avLst/>
          </a:prstGeom>
        </p:spPr>
        <p:txBody>
          <a:bodyPr wrap="none">
            <a:spAutoFit/>
          </a:bodyPr>
          <a:lstStyle/>
          <a:p>
            <a:r>
              <a:rPr lang="en-GB" sz="2800" dirty="0">
                <a:ea typeface="Roboto" panose="02000000000000000000" pitchFamily="2" charset="0"/>
                <a:cs typeface="Calibri" panose="020F0502020204030204" pitchFamily="34" charset="0"/>
              </a:rPr>
              <a:t>Watch Video 1.2</a:t>
            </a:r>
            <a:r>
              <a:rPr lang="en-GB" sz="2800" dirty="0"/>
              <a:t> </a:t>
            </a:r>
            <a:endParaRPr lang="en-US" sz="2800" dirty="0"/>
          </a:p>
        </p:txBody>
      </p:sp>
      <p:pic>
        <p:nvPicPr>
          <p:cNvPr id="10" name="Picture 9">
            <a:extLst>
              <a:ext uri="{FF2B5EF4-FFF2-40B4-BE49-F238E27FC236}">
                <a16:creationId xmlns:a16="http://schemas.microsoft.com/office/drawing/2014/main" id="{2B8341D5-DCBB-4307-9D54-76865237D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5812" y="3218316"/>
            <a:ext cx="1620376" cy="1620376"/>
          </a:xfrm>
          <a:prstGeom prst="rect">
            <a:avLst/>
          </a:prstGeom>
        </p:spPr>
      </p:pic>
    </p:spTree>
    <p:extLst>
      <p:ext uri="{BB962C8B-B14F-4D97-AF65-F5344CB8AC3E}">
        <p14:creationId xmlns:p14="http://schemas.microsoft.com/office/powerpoint/2010/main" val="3943899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Table&#10;&#10;Description automatically generated">
            <a:extLst>
              <a:ext uri="{FF2B5EF4-FFF2-40B4-BE49-F238E27FC236}">
                <a16:creationId xmlns:a16="http://schemas.microsoft.com/office/drawing/2014/main" id="{1283AEE5-9936-4B46-BBA8-8FE8DD8B9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168" y="3429000"/>
            <a:ext cx="7818252" cy="2863444"/>
          </a:xfrm>
          <a:prstGeom prst="rect">
            <a:avLst/>
          </a:prstGeom>
        </p:spPr>
      </p:pic>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10694505" cy="775252"/>
          </a:xfrm>
        </p:spPr>
        <p:txBody>
          <a:bodyPr>
            <a:normAutofit/>
          </a:bodyPr>
          <a:lstStyle/>
          <a:p>
            <a:r>
              <a:rPr lang="en-GB" sz="3600" b="1" dirty="0">
                <a:solidFill>
                  <a:schemeClr val="bg1"/>
                </a:solidFill>
              </a:rPr>
              <a:t>Activity 1.2: Arranging the composition and trimming </a:t>
            </a:r>
          </a:p>
        </p:txBody>
      </p:sp>
      <p:sp>
        <p:nvSpPr>
          <p:cNvPr id="3" name="Rectangle 2">
            <a:extLst>
              <a:ext uri="{FF2B5EF4-FFF2-40B4-BE49-F238E27FC236}">
                <a16:creationId xmlns:a16="http://schemas.microsoft.com/office/drawing/2014/main" id="{2E18DB44-5438-A243-AC7D-2EE0C721D2AE}"/>
              </a:ext>
            </a:extLst>
          </p:cNvPr>
          <p:cNvSpPr/>
          <p:nvPr/>
        </p:nvSpPr>
        <p:spPr>
          <a:xfrm>
            <a:off x="1570382" y="2105633"/>
            <a:ext cx="5045496" cy="1200329"/>
          </a:xfrm>
          <a:prstGeom prst="rect">
            <a:avLst/>
          </a:prstGeom>
        </p:spPr>
        <p:txBody>
          <a:bodyPr wrap="square">
            <a:spAutoFit/>
          </a:bodyPr>
          <a:lstStyle/>
          <a:p>
            <a:r>
              <a:rPr lang="en-GB" sz="2400" dirty="0"/>
              <a:t>Arrange the audio tracks you imported according to the audio timeline and trim them if necessary.</a:t>
            </a:r>
          </a:p>
        </p:txBody>
      </p:sp>
      <p:pic>
        <p:nvPicPr>
          <p:cNvPr id="7" name="Picture 6" descr="A picture containing athletic game, basketball, sport&#10;&#10;Description automatically generated">
            <a:extLst>
              <a:ext uri="{FF2B5EF4-FFF2-40B4-BE49-F238E27FC236}">
                <a16:creationId xmlns:a16="http://schemas.microsoft.com/office/drawing/2014/main" id="{ECE10D13-3F7F-43AF-A282-0C71605147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5420" y="1912526"/>
            <a:ext cx="2844364" cy="2786872"/>
          </a:xfrm>
          <a:prstGeom prst="rect">
            <a:avLst/>
          </a:prstGeom>
        </p:spPr>
      </p:pic>
    </p:spTree>
    <p:extLst>
      <p:ext uri="{BB962C8B-B14F-4D97-AF65-F5344CB8AC3E}">
        <p14:creationId xmlns:p14="http://schemas.microsoft.com/office/powerpoint/2010/main" val="3685400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765312"/>
            <a:ext cx="9733721" cy="835923"/>
          </a:xfrm>
        </p:spPr>
        <p:txBody>
          <a:bodyPr/>
          <a:lstStyle/>
          <a:p>
            <a:r>
              <a:rPr lang="en-GB" b="1" dirty="0">
                <a:solidFill>
                  <a:schemeClr val="bg1"/>
                </a:solidFill>
              </a:rPr>
              <a:t>Recording the voiceover </a:t>
            </a: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1923594"/>
            <a:ext cx="9034670" cy="3397595"/>
          </a:xfrm>
        </p:spPr>
        <p:txBody>
          <a:bodyPr>
            <a:noAutofit/>
          </a:bodyPr>
          <a:lstStyle/>
          <a:p>
            <a:pPr marL="0" indent="0">
              <a:buNone/>
            </a:pPr>
            <a:r>
              <a:rPr lang="en-GB" sz="2400" dirty="0"/>
              <a:t>Now that your audio tracks are roughly in the right place, you need to use the script to record a </a:t>
            </a:r>
            <a:r>
              <a:rPr lang="en-GB" sz="2400" b="1" dirty="0">
                <a:solidFill>
                  <a:srgbClr val="FF0000"/>
                </a:solidFill>
              </a:rPr>
              <a:t>voiceover</a:t>
            </a:r>
            <a:r>
              <a:rPr lang="en-GB" sz="2400" dirty="0"/>
              <a:t>.</a:t>
            </a:r>
          </a:p>
          <a:p>
            <a:pPr marL="0" indent="0">
              <a:buNone/>
            </a:pPr>
            <a:r>
              <a:rPr lang="en-GB" sz="2400" dirty="0"/>
              <a:t>To record a voiceover, click on ‘Tracks’, ‘Add New’ and ‘Stereo Track’.</a:t>
            </a:r>
          </a:p>
          <a:p>
            <a:pPr marL="0" indent="0">
              <a:buNone/>
            </a:pPr>
            <a:r>
              <a:rPr lang="en-GB" sz="2400" dirty="0"/>
              <a:t>Make sure your microphone is positioned properly and click the ‘Record’ button. When you have finished click the ‘Stop’ button.</a:t>
            </a:r>
          </a:p>
          <a:p>
            <a:pPr marL="0" indent="0">
              <a:buNone/>
            </a:pPr>
            <a:r>
              <a:rPr lang="en-GB" sz="2400" dirty="0"/>
              <a:t>Press the space bar to play the whole soundtrack, or mute the other tracks by clicking on the ‘Mute’ tabs, and press the space bar to play only the voiceover.</a:t>
            </a:r>
          </a:p>
          <a:p>
            <a:pPr marL="0" indent="0">
              <a:buNone/>
            </a:pPr>
            <a:r>
              <a:rPr lang="en-GB" sz="2400" dirty="0"/>
              <a:t>Use the ‘Selection Tool’ to trim your voiceover track and the ‘Time Shift Tool’ to move it into the right place. </a:t>
            </a:r>
          </a:p>
        </p:txBody>
      </p:sp>
      <p:sp>
        <p:nvSpPr>
          <p:cNvPr id="6" name="Rectangle 5">
            <a:extLst>
              <a:ext uri="{FF2B5EF4-FFF2-40B4-BE49-F238E27FC236}">
                <a16:creationId xmlns:a16="http://schemas.microsoft.com/office/drawing/2014/main" id="{81F75192-4298-E842-B2DE-E4EF5C57A000}"/>
              </a:ext>
            </a:extLst>
          </p:cNvPr>
          <p:cNvSpPr/>
          <p:nvPr/>
        </p:nvSpPr>
        <p:spPr>
          <a:xfrm>
            <a:off x="4765796" y="5967456"/>
            <a:ext cx="2660408" cy="523220"/>
          </a:xfrm>
          <a:prstGeom prst="rect">
            <a:avLst/>
          </a:prstGeom>
        </p:spPr>
        <p:txBody>
          <a:bodyPr wrap="none">
            <a:spAutoFit/>
          </a:bodyPr>
          <a:lstStyle/>
          <a:p>
            <a:r>
              <a:rPr lang="en-GB" sz="2800" dirty="0">
                <a:ea typeface="Roboto" panose="02000000000000000000" pitchFamily="2" charset="0"/>
                <a:cs typeface="Calibri" panose="020F0502020204030204" pitchFamily="34" charset="0"/>
              </a:rPr>
              <a:t>Watch Video 1.3</a:t>
            </a:r>
            <a:r>
              <a:rPr lang="en-GB" sz="2800" dirty="0"/>
              <a:t> </a:t>
            </a:r>
            <a:endParaRPr lang="en-US" sz="2800" dirty="0"/>
          </a:p>
        </p:txBody>
      </p:sp>
    </p:spTree>
    <p:extLst>
      <p:ext uri="{BB962C8B-B14F-4D97-AF65-F5344CB8AC3E}">
        <p14:creationId xmlns:p14="http://schemas.microsoft.com/office/powerpoint/2010/main" val="44438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10694505" cy="775252"/>
          </a:xfrm>
        </p:spPr>
        <p:txBody>
          <a:bodyPr>
            <a:normAutofit/>
          </a:bodyPr>
          <a:lstStyle/>
          <a:p>
            <a:r>
              <a:rPr lang="en-GB" b="1" dirty="0">
                <a:solidFill>
                  <a:schemeClr val="bg1"/>
                </a:solidFill>
              </a:rPr>
              <a:t>Activity 1.3: Recording the voiceover </a:t>
            </a:r>
          </a:p>
        </p:txBody>
      </p:sp>
      <p:sp>
        <p:nvSpPr>
          <p:cNvPr id="3" name="Rectangle 2">
            <a:extLst>
              <a:ext uri="{FF2B5EF4-FFF2-40B4-BE49-F238E27FC236}">
                <a16:creationId xmlns:a16="http://schemas.microsoft.com/office/drawing/2014/main" id="{2E18DB44-5438-A243-AC7D-2EE0C721D2AE}"/>
              </a:ext>
            </a:extLst>
          </p:cNvPr>
          <p:cNvSpPr/>
          <p:nvPr/>
        </p:nvSpPr>
        <p:spPr>
          <a:xfrm>
            <a:off x="1570382" y="2521059"/>
            <a:ext cx="3258882" cy="1815882"/>
          </a:xfrm>
          <a:prstGeom prst="rect">
            <a:avLst/>
          </a:prstGeom>
        </p:spPr>
        <p:txBody>
          <a:bodyPr wrap="square">
            <a:spAutoFit/>
          </a:bodyPr>
          <a:lstStyle/>
          <a:p>
            <a:r>
              <a:rPr lang="en-GB" sz="2800" dirty="0"/>
              <a:t>Record your voiceover using the script provided, or import Sounds 1.2.</a:t>
            </a:r>
          </a:p>
        </p:txBody>
      </p:sp>
      <p:pic>
        <p:nvPicPr>
          <p:cNvPr id="5" name="Picture 4" descr="A picture containing athletic game, basketball, sport&#10;&#10;Description automatically generated">
            <a:extLst>
              <a:ext uri="{FF2B5EF4-FFF2-40B4-BE49-F238E27FC236}">
                <a16:creationId xmlns:a16="http://schemas.microsoft.com/office/drawing/2014/main" id="{57AEB37E-D23E-4DC8-AB55-B9BC4805FF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932846"/>
            <a:ext cx="4682744" cy="4588094"/>
          </a:xfrm>
          <a:prstGeom prst="rect">
            <a:avLst/>
          </a:prstGeom>
        </p:spPr>
      </p:pic>
    </p:spTree>
    <p:extLst>
      <p:ext uri="{BB962C8B-B14F-4D97-AF65-F5344CB8AC3E}">
        <p14:creationId xmlns:p14="http://schemas.microsoft.com/office/powerpoint/2010/main" val="2057336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B0F3-7F56-4F5C-81F1-A743D46BDBD9}"/>
              </a:ext>
            </a:extLst>
          </p:cNvPr>
          <p:cNvSpPr>
            <a:spLocks noGrp="1"/>
          </p:cNvSpPr>
          <p:nvPr>
            <p:ph type="title"/>
          </p:nvPr>
        </p:nvSpPr>
        <p:spPr>
          <a:xfrm>
            <a:off x="1600200" y="765313"/>
            <a:ext cx="9753599" cy="834887"/>
          </a:xfrm>
        </p:spPr>
        <p:txBody>
          <a:bodyPr/>
          <a:lstStyle/>
          <a:p>
            <a:r>
              <a:rPr lang="en-GB" b="1" dirty="0">
                <a:solidFill>
                  <a:schemeClr val="bg1"/>
                </a:solidFill>
              </a:rPr>
              <a:t>Adjusting the levels  </a:t>
            </a:r>
          </a:p>
        </p:txBody>
      </p:sp>
      <p:sp>
        <p:nvSpPr>
          <p:cNvPr id="3" name="Content Placeholder 2">
            <a:extLst>
              <a:ext uri="{FF2B5EF4-FFF2-40B4-BE49-F238E27FC236}">
                <a16:creationId xmlns:a16="http://schemas.microsoft.com/office/drawing/2014/main" id="{928FB485-6993-428E-81B4-749465982CC5}"/>
              </a:ext>
            </a:extLst>
          </p:cNvPr>
          <p:cNvSpPr>
            <a:spLocks noGrp="1"/>
          </p:cNvSpPr>
          <p:nvPr>
            <p:ph idx="1"/>
          </p:nvPr>
        </p:nvSpPr>
        <p:spPr>
          <a:xfrm>
            <a:off x="1600200" y="2014468"/>
            <a:ext cx="9279835" cy="4351338"/>
          </a:xfrm>
        </p:spPr>
        <p:txBody>
          <a:bodyPr/>
          <a:lstStyle/>
          <a:p>
            <a:pPr marL="0" indent="0">
              <a:buNone/>
            </a:pPr>
            <a:r>
              <a:rPr lang="en-GB" dirty="0">
                <a:latin typeface="Calibri" panose="020F0502020204030204" pitchFamily="34" charset="0"/>
                <a:ea typeface="Roboto" panose="02000000000000000000" pitchFamily="2" charset="0"/>
                <a:cs typeface="Calibri" panose="020F0502020204030204" pitchFamily="34" charset="0"/>
              </a:rPr>
              <a:t>You may have noticed that, when you press ‘Play’, all the audio tracks are at the same volume.</a:t>
            </a:r>
            <a:endParaRPr lang="en-GB"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GB" dirty="0">
                <a:latin typeface="Calibri" panose="020F0502020204030204" pitchFamily="34" charset="0"/>
                <a:ea typeface="Roboto" panose="02000000000000000000" pitchFamily="2" charset="0"/>
                <a:cs typeface="Calibri" panose="020F0502020204030204" pitchFamily="34" charset="0"/>
              </a:rPr>
              <a:t>You can adjust the volume – or </a:t>
            </a:r>
            <a:r>
              <a:rPr lang="en-GB" b="1" dirty="0">
                <a:solidFill>
                  <a:srgbClr val="FF0000"/>
                </a:solidFill>
                <a:latin typeface="Calibri" panose="020F0502020204030204" pitchFamily="34" charset="0"/>
                <a:ea typeface="Roboto" panose="02000000000000000000" pitchFamily="2" charset="0"/>
                <a:cs typeface="Calibri" panose="020F0502020204030204" pitchFamily="34" charset="0"/>
              </a:rPr>
              <a:t>level</a:t>
            </a:r>
            <a:r>
              <a:rPr lang="en-GB" dirty="0">
                <a:latin typeface="Calibri" panose="020F0502020204030204" pitchFamily="34" charset="0"/>
                <a:ea typeface="Roboto" panose="02000000000000000000" pitchFamily="2" charset="0"/>
                <a:cs typeface="Calibri" panose="020F0502020204030204" pitchFamily="34" charset="0"/>
              </a:rPr>
              <a:t> – of each track using the fader on each of the tracks.</a:t>
            </a: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6" name="Rectangle 5">
            <a:extLst>
              <a:ext uri="{FF2B5EF4-FFF2-40B4-BE49-F238E27FC236}">
                <a16:creationId xmlns:a16="http://schemas.microsoft.com/office/drawing/2014/main" id="{DF68D324-106E-7949-BC6C-2647C4FF4E27}"/>
              </a:ext>
            </a:extLst>
          </p:cNvPr>
          <p:cNvSpPr/>
          <p:nvPr/>
        </p:nvSpPr>
        <p:spPr>
          <a:xfrm>
            <a:off x="8219627" y="4797815"/>
            <a:ext cx="2660408" cy="523220"/>
          </a:xfrm>
          <a:prstGeom prst="rect">
            <a:avLst/>
          </a:prstGeom>
        </p:spPr>
        <p:txBody>
          <a:bodyPr wrap="none">
            <a:spAutoFit/>
          </a:bodyPr>
          <a:lstStyle/>
          <a:p>
            <a:r>
              <a:rPr lang="en-GB" sz="2800" dirty="0">
                <a:ea typeface="Roboto" panose="02000000000000000000" pitchFamily="2" charset="0"/>
                <a:cs typeface="Calibri" panose="020F0502020204030204" pitchFamily="34" charset="0"/>
              </a:rPr>
              <a:t>Watch Video 1.4</a:t>
            </a:r>
            <a:r>
              <a:rPr lang="en-GB" sz="2800" dirty="0"/>
              <a:t> </a:t>
            </a:r>
            <a:endParaRPr lang="en-US" sz="2800" dirty="0"/>
          </a:p>
        </p:txBody>
      </p:sp>
      <p:pic>
        <p:nvPicPr>
          <p:cNvPr id="8" name="Picture 7">
            <a:extLst>
              <a:ext uri="{FF2B5EF4-FFF2-40B4-BE49-F238E27FC236}">
                <a16:creationId xmlns:a16="http://schemas.microsoft.com/office/drawing/2014/main" id="{CFE091C4-3BB2-4868-8047-5ADA8D2733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4190137"/>
            <a:ext cx="5847080" cy="1547756"/>
          </a:xfrm>
          <a:prstGeom prst="rect">
            <a:avLst/>
          </a:prstGeom>
        </p:spPr>
      </p:pic>
    </p:spTree>
    <p:extLst>
      <p:ext uri="{BB962C8B-B14F-4D97-AF65-F5344CB8AC3E}">
        <p14:creationId xmlns:p14="http://schemas.microsoft.com/office/powerpoint/2010/main" val="3538170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able&#10;&#10;Description automatically generated">
            <a:extLst>
              <a:ext uri="{FF2B5EF4-FFF2-40B4-BE49-F238E27FC236}">
                <a16:creationId xmlns:a16="http://schemas.microsoft.com/office/drawing/2014/main" id="{EBF31872-D62C-4A45-B634-6E5EF2986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168" y="3717401"/>
            <a:ext cx="7818252" cy="2863444"/>
          </a:xfrm>
          <a:prstGeom prst="rect">
            <a:avLst/>
          </a:prstGeom>
        </p:spPr>
      </p:pic>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10694505" cy="775252"/>
          </a:xfrm>
        </p:spPr>
        <p:txBody>
          <a:bodyPr>
            <a:normAutofit/>
          </a:bodyPr>
          <a:lstStyle/>
          <a:p>
            <a:r>
              <a:rPr lang="en-GB" b="1" dirty="0">
                <a:solidFill>
                  <a:schemeClr val="bg1"/>
                </a:solidFill>
              </a:rPr>
              <a:t>Activity 1.4: Adjusting the levels</a:t>
            </a:r>
          </a:p>
        </p:txBody>
      </p:sp>
      <p:sp>
        <p:nvSpPr>
          <p:cNvPr id="3" name="Rectangle 2">
            <a:extLst>
              <a:ext uri="{FF2B5EF4-FFF2-40B4-BE49-F238E27FC236}">
                <a16:creationId xmlns:a16="http://schemas.microsoft.com/office/drawing/2014/main" id="{2E18DB44-5438-A243-AC7D-2EE0C721D2AE}"/>
              </a:ext>
            </a:extLst>
          </p:cNvPr>
          <p:cNvSpPr/>
          <p:nvPr/>
        </p:nvSpPr>
        <p:spPr>
          <a:xfrm>
            <a:off x="1710683" y="2069141"/>
            <a:ext cx="6590037" cy="2308324"/>
          </a:xfrm>
          <a:prstGeom prst="rect">
            <a:avLst/>
          </a:prstGeom>
        </p:spPr>
        <p:txBody>
          <a:bodyPr wrap="square">
            <a:spAutoFit/>
          </a:bodyPr>
          <a:lstStyle/>
          <a:p>
            <a:r>
              <a:rPr lang="en-GB" sz="2400" dirty="0"/>
              <a:t>Change the volume of each track, so that levels match the audio timeline.</a:t>
            </a:r>
          </a:p>
          <a:p>
            <a:r>
              <a:rPr lang="en-GB" sz="2400" dirty="0">
                <a:latin typeface="Calibri" panose="020F0502020204030204" pitchFamily="34" charset="0"/>
                <a:ea typeface="Arial" panose="020B0604020202020204" pitchFamily="34" charset="0"/>
                <a:cs typeface="Calibri" panose="020F0502020204030204" pitchFamily="34" charset="0"/>
              </a:rPr>
              <a:t>It is important to ensure the voiceover is clear and easy to hear because the voiceover is the most important part of the advert.</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endParaRPr lang="en-GB" sz="2400" dirty="0"/>
          </a:p>
        </p:txBody>
      </p:sp>
      <p:pic>
        <p:nvPicPr>
          <p:cNvPr id="8" name="Picture 7" descr="A picture containing athletic game, basketball, sport&#10;&#10;Description automatically generated">
            <a:extLst>
              <a:ext uri="{FF2B5EF4-FFF2-40B4-BE49-F238E27FC236}">
                <a16:creationId xmlns:a16="http://schemas.microsoft.com/office/drawing/2014/main" id="{003027FE-8DA0-49F7-9164-7E3FD220B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5420" y="1912526"/>
            <a:ext cx="2844364" cy="2786872"/>
          </a:xfrm>
          <a:prstGeom prst="rect">
            <a:avLst/>
          </a:prstGeom>
        </p:spPr>
      </p:pic>
    </p:spTree>
    <p:extLst>
      <p:ext uri="{BB962C8B-B14F-4D97-AF65-F5344CB8AC3E}">
        <p14:creationId xmlns:p14="http://schemas.microsoft.com/office/powerpoint/2010/main" val="3390456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630017" y="805070"/>
            <a:ext cx="9783417" cy="775252"/>
          </a:xfrm>
        </p:spPr>
        <p:txBody>
          <a:bodyPr/>
          <a:lstStyle/>
          <a:p>
            <a:r>
              <a:rPr lang="en-GB" b="1" dirty="0">
                <a:solidFill>
                  <a:schemeClr val="bg1"/>
                </a:solidFill>
              </a:rPr>
              <a:t>Quiz 1</a:t>
            </a:r>
          </a:p>
        </p:txBody>
      </p:sp>
      <p:pic>
        <p:nvPicPr>
          <p:cNvPr id="4" name="Picture 3" descr="A picture containing athletic game, basketball, sport&#10;&#10;Description automatically generated">
            <a:extLst>
              <a:ext uri="{FF2B5EF4-FFF2-40B4-BE49-F238E27FC236}">
                <a16:creationId xmlns:a16="http://schemas.microsoft.com/office/drawing/2014/main" id="{B4D786EF-F11C-4A4E-A507-49D469C7B0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7950" y="1851566"/>
            <a:ext cx="4796100" cy="4699158"/>
          </a:xfrm>
          <a:prstGeom prst="rect">
            <a:avLst/>
          </a:prstGeom>
        </p:spPr>
      </p:pic>
    </p:spTree>
    <p:extLst>
      <p:ext uri="{BB962C8B-B14F-4D97-AF65-F5344CB8AC3E}">
        <p14:creationId xmlns:p14="http://schemas.microsoft.com/office/powerpoint/2010/main" val="292287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739</TotalTime>
  <Words>856</Words>
  <Application>Microsoft Office PowerPoint</Application>
  <PresentationFormat>Widescreen</PresentationFormat>
  <Paragraphs>62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Symbol</vt:lpstr>
      <vt:lpstr>Office Theme</vt:lpstr>
      <vt:lpstr>Sound and video editing</vt:lpstr>
      <vt:lpstr>Objectives</vt:lpstr>
      <vt:lpstr>Radio advert </vt:lpstr>
      <vt:lpstr>Sound editing software </vt:lpstr>
      <vt:lpstr>Sound editing software </vt:lpstr>
      <vt:lpstr>Sound editing software </vt:lpstr>
      <vt:lpstr>Recording a radio advert</vt:lpstr>
      <vt:lpstr>Importing audio tracks</vt:lpstr>
      <vt:lpstr>Activity 1.1: Importing audio tracks</vt:lpstr>
      <vt:lpstr>Arranging the composition</vt:lpstr>
      <vt:lpstr>Trimming tracks </vt:lpstr>
      <vt:lpstr>Activity 1.2: Arranging the composition and trimming </vt:lpstr>
      <vt:lpstr>Recording the voiceover </vt:lpstr>
      <vt:lpstr>Activity 1.3: Recording the voiceover </vt:lpstr>
      <vt:lpstr>Adjusting the levels  </vt:lpstr>
      <vt:lpstr>Activity 1.4: Adjusting the levels</vt:lpstr>
      <vt:lpstr>Quiz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Lea Albrechtsen</cp:lastModifiedBy>
  <cp:revision>39</cp:revision>
  <dcterms:created xsi:type="dcterms:W3CDTF">2020-11-04T15:22:46Z</dcterms:created>
  <dcterms:modified xsi:type="dcterms:W3CDTF">2021-07-27T10:57:12Z</dcterms:modified>
</cp:coreProperties>
</file>