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73" r:id="rId6"/>
    <p:sldId id="284" r:id="rId7"/>
    <p:sldId id="285" r:id="rId8"/>
    <p:sldId id="286" r:id="rId9"/>
    <p:sldId id="287" r:id="rId10"/>
    <p:sldId id="288" r:id="rId11"/>
    <p:sldId id="274" r:id="rId12"/>
    <p:sldId id="289" r:id="rId13"/>
    <p:sldId id="275" r:id="rId14"/>
    <p:sldId id="26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24"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16/06/2021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6" name="Picture 5">
            <a:extLst>
              <a:ext uri="{FF2B5EF4-FFF2-40B4-BE49-F238E27FC236}">
                <a16:creationId xmlns:a16="http://schemas.microsoft.com/office/drawing/2014/main" id="{5700FF46-9591-E444-B749-96268477A6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22391"/>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0E71FF-FC12-41A1-B141-D1202AC64696}"/>
              </a:ext>
            </a:extLst>
          </p:cNvPr>
          <p:cNvSpPr>
            <a:spLocks noGrp="1"/>
          </p:cNvSpPr>
          <p:nvPr>
            <p:ph type="ctrTitle"/>
          </p:nvPr>
        </p:nvSpPr>
        <p:spPr>
          <a:xfrm>
            <a:off x="2047478" y="2498614"/>
            <a:ext cx="5516881" cy="1860771"/>
          </a:xfrm>
        </p:spPr>
        <p:txBody>
          <a:bodyPr>
            <a:noAutofit/>
          </a:bodyPr>
          <a:lstStyle/>
          <a:p>
            <a:pPr algn="r"/>
            <a:r>
              <a:rPr lang="en-GB" b="1" dirty="0"/>
              <a:t>Sound and video editing</a:t>
            </a:r>
          </a:p>
        </p:txBody>
      </p:sp>
      <p:sp>
        <p:nvSpPr>
          <p:cNvPr id="9" name="Rectangle 8">
            <a:extLst>
              <a:ext uri="{FF2B5EF4-FFF2-40B4-BE49-F238E27FC236}">
                <a16:creationId xmlns:a16="http://schemas.microsoft.com/office/drawing/2014/main" id="{D2D249B6-A6B9-4F49-81F1-0663DC4407DB}"/>
              </a:ext>
            </a:extLst>
          </p:cNvPr>
          <p:cNvSpPr/>
          <p:nvPr/>
        </p:nvSpPr>
        <p:spPr>
          <a:xfrm>
            <a:off x="4939858" y="4359385"/>
            <a:ext cx="2624501" cy="400110"/>
          </a:xfrm>
          <a:prstGeom prst="rect">
            <a:avLst/>
          </a:prstGeom>
        </p:spPr>
        <p:txBody>
          <a:bodyPr wrap="none">
            <a:spAutoFit/>
          </a:bodyPr>
          <a:lstStyle/>
          <a:p>
            <a:pPr algn="r"/>
            <a:r>
              <a:rPr lang="en-GB" sz="2000" b="1" dirty="0">
                <a:solidFill>
                  <a:srgbClr val="FF0000"/>
                </a:solidFill>
                <a:latin typeface="Calibri" panose="020F0502020204030204" pitchFamily="34" charset="0"/>
                <a:ea typeface="Times New Roman" panose="02020603050405020304" pitchFamily="18" charset="0"/>
              </a:rPr>
              <a:t>Lesson 2: Audio effects</a:t>
            </a:r>
            <a:endParaRPr lang="en-GB" sz="2000" b="1" dirty="0">
              <a:solidFill>
                <a:srgbClr val="FF0000"/>
              </a:solidFill>
            </a:endParaRPr>
          </a:p>
        </p:txBody>
      </p:sp>
      <p:pic>
        <p:nvPicPr>
          <p:cNvPr id="10" name="Picture 9">
            <a:extLst>
              <a:ext uri="{FF2B5EF4-FFF2-40B4-BE49-F238E27FC236}">
                <a16:creationId xmlns:a16="http://schemas.microsoft.com/office/drawing/2014/main" id="{94EFFC6E-21EE-4AD4-A5BD-0E52A228B5D6}"/>
              </a:ext>
            </a:extLst>
          </p:cNvPr>
          <p:cNvPicPr>
            <a:picLocks noChangeAspect="1"/>
          </p:cNvPicPr>
          <p:nvPr/>
        </p:nvPicPr>
        <p:blipFill>
          <a:blip r:embed="rId2"/>
          <a:stretch>
            <a:fillRect/>
          </a:stretch>
        </p:blipFill>
        <p:spPr>
          <a:xfrm>
            <a:off x="8251906" y="2191860"/>
            <a:ext cx="2916165" cy="3635738"/>
          </a:xfrm>
          <a:prstGeom prst="rect">
            <a:avLst/>
          </a:prstGeom>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30018" y="824948"/>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30018" y="2367171"/>
            <a:ext cx="8189843" cy="2123658"/>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457200" lvl="0" indent="-457200">
              <a:buFont typeface="Arial" panose="020B0604020202020204" pitchFamily="34" charset="0"/>
              <a:buChar char="•"/>
            </a:pPr>
            <a:r>
              <a:rPr lang="en-GB" sz="2400" dirty="0">
                <a:latin typeface="Calibri" panose="020F0502020204030204" pitchFamily="34" charset="0"/>
                <a:ea typeface="Arial" panose="020B0604020202020204" pitchFamily="34" charset="0"/>
                <a:cs typeface="Calibri" panose="020F0502020204030204" pitchFamily="34" charset="0"/>
              </a:rPr>
              <a:t>about the impact some audio effects have on sound</a:t>
            </a:r>
            <a:endParaRPr lang="en-GB" sz="2400" dirty="0">
              <a:latin typeface="Noto Sans Symbols"/>
              <a:ea typeface="Noto Sans Symbols"/>
              <a:cs typeface="Noto Sans Symbols"/>
            </a:endParaRPr>
          </a:p>
          <a:p>
            <a:pPr marL="457200" lvl="0" indent="-457200">
              <a:buFont typeface="Arial" panose="020B0604020202020204" pitchFamily="34" charset="0"/>
              <a:buChar char="•"/>
            </a:pPr>
            <a:r>
              <a:rPr lang="en-GB" sz="2400" dirty="0">
                <a:latin typeface="Calibri" panose="020F0502020204030204" pitchFamily="34" charset="0"/>
                <a:ea typeface="Arial" panose="020B0604020202020204" pitchFamily="34" charset="0"/>
                <a:cs typeface="Calibri" panose="020F0502020204030204" pitchFamily="34" charset="0"/>
              </a:rPr>
              <a:t>how to apply fade in/fade out, envelope and reverb to sound files.</a:t>
            </a:r>
            <a:br>
              <a:rPr lang="en-GB" sz="2400" dirty="0">
                <a:latin typeface="Ubuntu"/>
                <a:ea typeface="Ubuntu"/>
                <a:cs typeface="Ubuntu"/>
              </a:rPr>
            </a:br>
            <a:endParaRPr lang="en-GB" sz="2800" dirty="0">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775252"/>
            <a:ext cx="9773478" cy="834887"/>
          </a:xfrm>
        </p:spPr>
        <p:txBody>
          <a:bodyPr/>
          <a:lstStyle/>
          <a:p>
            <a:r>
              <a:rPr lang="en-GB" b="1" dirty="0">
                <a:solidFill>
                  <a:schemeClr val="bg1"/>
                </a:solidFill>
              </a:rPr>
              <a:t>What does the audio effect do? </a:t>
            </a:r>
          </a:p>
        </p:txBody>
      </p:sp>
      <p:sp>
        <p:nvSpPr>
          <p:cNvPr id="3" name="Rectangle 2">
            <a:extLst>
              <a:ext uri="{FF2B5EF4-FFF2-40B4-BE49-F238E27FC236}">
                <a16:creationId xmlns:a16="http://schemas.microsoft.com/office/drawing/2014/main" id="{868C1B8D-6296-0444-89C8-6A5A704E09AB}"/>
              </a:ext>
            </a:extLst>
          </p:cNvPr>
          <p:cNvSpPr/>
          <p:nvPr/>
        </p:nvSpPr>
        <p:spPr>
          <a:xfrm>
            <a:off x="1580322" y="2395597"/>
            <a:ext cx="8618756" cy="1938992"/>
          </a:xfrm>
          <a:prstGeom prst="rect">
            <a:avLst/>
          </a:prstGeom>
        </p:spPr>
        <p:txBody>
          <a:bodyPr wrap="square">
            <a:spAutoFit/>
          </a:bodyPr>
          <a:lstStyle/>
          <a:p>
            <a:r>
              <a:rPr lang="en-GB" sz="2400" dirty="0"/>
              <a:t>Listen to these four sounds before an audio effect has been applied to them and after an audio effect has been applied to them.</a:t>
            </a:r>
          </a:p>
          <a:p>
            <a:endParaRPr lang="en-GB" sz="2400" dirty="0"/>
          </a:p>
          <a:p>
            <a:r>
              <a:rPr lang="en-GB" sz="2400" dirty="0"/>
              <a:t>Write down what the audio effect does. How does the sound change after the audio effect has been applied?</a:t>
            </a:r>
          </a:p>
        </p:txBody>
      </p:sp>
      <p:sp>
        <p:nvSpPr>
          <p:cNvPr id="6" name="Rectangle 5">
            <a:extLst>
              <a:ext uri="{FF2B5EF4-FFF2-40B4-BE49-F238E27FC236}">
                <a16:creationId xmlns:a16="http://schemas.microsoft.com/office/drawing/2014/main" id="{3B18B9E5-75A0-F94D-9A41-825C9CCF7B25}"/>
              </a:ext>
            </a:extLst>
          </p:cNvPr>
          <p:cNvSpPr/>
          <p:nvPr/>
        </p:nvSpPr>
        <p:spPr>
          <a:xfrm>
            <a:off x="4603540" y="5120048"/>
            <a:ext cx="2984920" cy="523220"/>
          </a:xfrm>
          <a:prstGeom prst="rect">
            <a:avLst/>
          </a:prstGeom>
        </p:spPr>
        <p:txBody>
          <a:bodyPr wrap="none">
            <a:spAutoFit/>
          </a:bodyPr>
          <a:lstStyle/>
          <a:p>
            <a:r>
              <a:rPr lang="en-GB" sz="2800" dirty="0">
                <a:ea typeface="Roboto" panose="02000000000000000000" pitchFamily="2" charset="0"/>
                <a:cs typeface="Calibri" panose="020F0502020204030204" pitchFamily="34" charset="0"/>
              </a:rPr>
              <a:t>Listen to Audio 2.1</a:t>
            </a:r>
            <a:r>
              <a:rPr lang="en-GB" sz="2800" dirty="0"/>
              <a:t> </a:t>
            </a:r>
            <a:endParaRPr lang="en-US" sz="2800" dirty="0"/>
          </a:p>
        </p:txBody>
      </p:sp>
    </p:spTree>
    <p:extLst>
      <p:ext uri="{BB962C8B-B14F-4D97-AF65-F5344CB8AC3E}">
        <p14:creationId xmlns:p14="http://schemas.microsoft.com/office/powerpoint/2010/main" val="116616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p:cTn id="7" dur="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6">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6">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Adding audio effects to your advert</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9" y="2153616"/>
            <a:ext cx="8560242" cy="3312906"/>
          </a:xfrm>
        </p:spPr>
        <p:txBody>
          <a:bodyPr>
            <a:normAutofit/>
          </a:bodyPr>
          <a:lstStyle/>
          <a:p>
            <a:pPr marL="0" indent="0">
              <a:buNone/>
            </a:pPr>
            <a:r>
              <a:rPr lang="en-GB" sz="2400" dirty="0"/>
              <a:t>You have created a radio advert. Now you will apply </a:t>
            </a:r>
            <a:r>
              <a:rPr lang="en-GB" sz="2400" b="1" dirty="0">
                <a:solidFill>
                  <a:srgbClr val="FF0000"/>
                </a:solidFill>
              </a:rPr>
              <a:t>audio effects</a:t>
            </a:r>
            <a:r>
              <a:rPr lang="en-GB" sz="2400" dirty="0"/>
              <a:t> to the audio tracks in Audacity to make the advert sound more professional.</a:t>
            </a:r>
          </a:p>
          <a:p>
            <a:pPr marL="0" indent="0">
              <a:buNone/>
            </a:pPr>
            <a:r>
              <a:rPr lang="en-GB" sz="2400" dirty="0"/>
              <a:t>Your advert should sound something like Audio 1.2 now.</a:t>
            </a:r>
          </a:p>
          <a:p>
            <a:pPr marL="0" indent="0">
              <a:buNone/>
            </a:pPr>
            <a:r>
              <a:rPr lang="en-GB" sz="2400" dirty="0"/>
              <a:t>After you have added audio effects, it should sound something like Audio 2.2.</a:t>
            </a:r>
          </a:p>
          <a:p>
            <a:pPr marL="0" indent="0">
              <a:buNone/>
            </a:pPr>
            <a:r>
              <a:rPr lang="en-GB" sz="2400" dirty="0"/>
              <a:t>Can you hear some of the differences between the two versions of the advert?</a:t>
            </a:r>
          </a:p>
        </p:txBody>
      </p:sp>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Fade in/fade out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7" y="1964774"/>
            <a:ext cx="9733721" cy="2159966"/>
          </a:xfrm>
        </p:spPr>
        <p:txBody>
          <a:bodyPr>
            <a:noAutofit/>
          </a:bodyPr>
          <a:lstStyle/>
          <a:p>
            <a:pPr marL="0" indent="0">
              <a:buNone/>
            </a:pPr>
            <a:r>
              <a:rPr lang="en-GB" sz="1800" dirty="0">
                <a:ea typeface="Roboto" panose="02000000000000000000" pitchFamily="2" charset="0"/>
                <a:cs typeface="Calibri" panose="020F0502020204030204" pitchFamily="34" charset="0"/>
              </a:rPr>
              <a:t>A </a:t>
            </a:r>
            <a:r>
              <a:rPr lang="en-GB" sz="1800" b="1" dirty="0">
                <a:solidFill>
                  <a:srgbClr val="FF0000"/>
                </a:solidFill>
                <a:ea typeface="Roboto" panose="02000000000000000000" pitchFamily="2" charset="0"/>
                <a:cs typeface="Calibri" panose="020F0502020204030204" pitchFamily="34" charset="0"/>
              </a:rPr>
              <a:t>fade in</a:t>
            </a:r>
            <a:r>
              <a:rPr lang="en-GB" sz="1800" dirty="0">
                <a:solidFill>
                  <a:srgbClr val="FF0000"/>
                </a:solidFill>
                <a:ea typeface="Roboto" panose="02000000000000000000" pitchFamily="2" charset="0"/>
                <a:cs typeface="Calibri" panose="020F0502020204030204" pitchFamily="34" charset="0"/>
              </a:rPr>
              <a:t> </a:t>
            </a:r>
            <a:r>
              <a:rPr lang="en-GB" sz="1800" dirty="0">
                <a:ea typeface="Roboto" panose="02000000000000000000" pitchFamily="2" charset="0"/>
                <a:cs typeface="Calibri" panose="020F0502020204030204" pitchFamily="34" charset="0"/>
              </a:rPr>
              <a:t>is added to the beginning of a track and a </a:t>
            </a:r>
            <a:r>
              <a:rPr lang="en-GB" sz="1800" b="1" dirty="0">
                <a:solidFill>
                  <a:srgbClr val="FF0000"/>
                </a:solidFill>
                <a:ea typeface="Roboto" panose="02000000000000000000" pitchFamily="2" charset="0"/>
                <a:cs typeface="Calibri" panose="020F0502020204030204" pitchFamily="34" charset="0"/>
              </a:rPr>
              <a:t>fade out</a:t>
            </a:r>
            <a:r>
              <a:rPr lang="en-GB" sz="1800" dirty="0">
                <a:solidFill>
                  <a:srgbClr val="FF0000"/>
                </a:solidFill>
                <a:ea typeface="Roboto" panose="02000000000000000000" pitchFamily="2" charset="0"/>
                <a:cs typeface="Calibri" panose="020F0502020204030204" pitchFamily="34" charset="0"/>
              </a:rPr>
              <a:t> </a:t>
            </a:r>
            <a:r>
              <a:rPr lang="en-GB" sz="1800" dirty="0">
                <a:ea typeface="Roboto" panose="02000000000000000000" pitchFamily="2" charset="0"/>
                <a:cs typeface="Calibri" panose="020F0502020204030204" pitchFamily="34" charset="0"/>
              </a:rPr>
              <a:t>is added to the end of a track so that it starts and stops playing smoothly, without pops or crackles.</a:t>
            </a:r>
          </a:p>
          <a:p>
            <a:pPr marL="0" indent="0">
              <a:buNone/>
            </a:pPr>
            <a:r>
              <a:rPr lang="en-GB" sz="1800" dirty="0">
                <a:ea typeface="Roboto" panose="02000000000000000000" pitchFamily="2" charset="0"/>
                <a:cs typeface="Calibri" panose="020F0502020204030204" pitchFamily="34" charset="0"/>
              </a:rPr>
              <a:t>Some tracks, such as background music, might have a longer fade in and fade out than other tracks, such as voiceovers. Voiceovers need to be heard clearly almost straight away, but background music can be overpowering if it is too loud at the beginning.</a:t>
            </a:r>
          </a:p>
          <a:p>
            <a:pPr marL="0" indent="0">
              <a:buNone/>
            </a:pPr>
            <a:r>
              <a:rPr lang="en-GB" sz="1800" dirty="0">
                <a:ea typeface="Roboto" panose="02000000000000000000" pitchFamily="2" charset="0"/>
                <a:cs typeface="Calibri" panose="020F0502020204030204" pitchFamily="34" charset="0"/>
              </a:rPr>
              <a:t>You add a fade in or a fade out by selecting the part of the track you want to apply it to and then clicking on ‘Effect’ and ‘Fade in’ or ‘Effect’ and ‘Fade out’.</a:t>
            </a:r>
            <a:endParaRPr lang="en-GB" sz="1800" dirty="0">
              <a:ea typeface="Ubuntu"/>
              <a:cs typeface="Ubuntu"/>
            </a:endParaRPr>
          </a:p>
        </p:txBody>
      </p:sp>
      <p:sp>
        <p:nvSpPr>
          <p:cNvPr id="5" name="Rectangle 4">
            <a:extLst>
              <a:ext uri="{FF2B5EF4-FFF2-40B4-BE49-F238E27FC236}">
                <a16:creationId xmlns:a16="http://schemas.microsoft.com/office/drawing/2014/main" id="{D6553847-64DD-414E-9DCA-62273F58F021}"/>
              </a:ext>
            </a:extLst>
          </p:cNvPr>
          <p:cNvSpPr/>
          <p:nvPr/>
        </p:nvSpPr>
        <p:spPr>
          <a:xfrm>
            <a:off x="8056832" y="5039118"/>
            <a:ext cx="2984920" cy="523220"/>
          </a:xfrm>
          <a:prstGeom prst="rect">
            <a:avLst/>
          </a:prstGeom>
        </p:spPr>
        <p:txBody>
          <a:bodyPr wrap="none">
            <a:spAutoFit/>
          </a:bodyPr>
          <a:lstStyle/>
          <a:p>
            <a:r>
              <a:rPr lang="en-GB" sz="2800" dirty="0">
                <a:ea typeface="Roboto" panose="02000000000000000000" pitchFamily="2" charset="0"/>
                <a:cs typeface="Calibri" panose="020F0502020204030204" pitchFamily="34" charset="0"/>
              </a:rPr>
              <a:t>Listen to Audio 2.1</a:t>
            </a:r>
            <a:r>
              <a:rPr lang="en-GB" sz="2800" dirty="0"/>
              <a:t> </a:t>
            </a:r>
            <a:endParaRPr lang="en-US" sz="2800" dirty="0"/>
          </a:p>
        </p:txBody>
      </p:sp>
      <p:pic>
        <p:nvPicPr>
          <p:cNvPr id="7" name="Picture 6" descr="A picture containing graphical user interface&#10;&#10;Description automatically generated">
            <a:extLst>
              <a:ext uri="{FF2B5EF4-FFF2-40B4-BE49-F238E27FC236}">
                <a16:creationId xmlns:a16="http://schemas.microsoft.com/office/drawing/2014/main" id="{6A35BC58-F883-4BFE-9A4B-C7521D9204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2742" y="4124740"/>
            <a:ext cx="5691426" cy="2351977"/>
          </a:xfrm>
          <a:prstGeom prst="rect">
            <a:avLst/>
          </a:prstGeom>
        </p:spPr>
      </p:pic>
    </p:spTree>
    <p:extLst>
      <p:ext uri="{BB962C8B-B14F-4D97-AF65-F5344CB8AC3E}">
        <p14:creationId xmlns:p14="http://schemas.microsoft.com/office/powerpoint/2010/main" val="411491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 calcmode="lin" valueType="num">
                                      <p:cBhvr>
                                        <p:cTn id="9" dur="500" fill="hold"/>
                                        <p:tgtEl>
                                          <p:spTgt spid="5"/>
                                        </p:tgtEl>
                                        <p:attrNameLst>
                                          <p:attrName>style.rotation</p:attrName>
                                        </p:attrNameLst>
                                      </p:cBhvr>
                                      <p:tavLst>
                                        <p:tav tm="0">
                                          <p:val>
                                            <p:fltVal val="360"/>
                                          </p:val>
                                        </p:tav>
                                        <p:tav tm="100000">
                                          <p:val>
                                            <p:fltVal val="0"/>
                                          </p:val>
                                        </p:tav>
                                      </p:tavLst>
                                    </p:anim>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2.1: Applying fade in and fade out</a:t>
            </a:r>
            <a:endParaRPr lang="en-GB"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040803"/>
            <a:ext cx="3815473" cy="3785652"/>
          </a:xfrm>
          <a:prstGeom prst="rect">
            <a:avLst/>
          </a:prstGeom>
        </p:spPr>
        <p:txBody>
          <a:bodyPr wrap="square">
            <a:spAutoFit/>
          </a:bodyPr>
          <a:lstStyle/>
          <a:p>
            <a:r>
              <a:rPr lang="en-GB" sz="2400" dirty="0"/>
              <a:t>Experiment with fade in and fade out and then apply a fade in and a fade out to all the tracks that make up your advert.</a:t>
            </a:r>
          </a:p>
          <a:p>
            <a:endParaRPr lang="en-GB" sz="2400" dirty="0"/>
          </a:p>
          <a:p>
            <a:r>
              <a:rPr lang="en-GB" sz="2400" dirty="0"/>
              <a:t>Zooming in will make it easier to control the length of time over which the fade occurs.</a:t>
            </a:r>
          </a:p>
        </p:txBody>
      </p:sp>
      <p:pic>
        <p:nvPicPr>
          <p:cNvPr id="5" name="Picture 4" descr="A picture containing athletic game, basketball, sport&#10;&#10;Description automatically generated">
            <a:extLst>
              <a:ext uri="{FF2B5EF4-FFF2-40B4-BE49-F238E27FC236}">
                <a16:creationId xmlns:a16="http://schemas.microsoft.com/office/drawing/2014/main" id="{30F96FE4-31CF-417E-AA6B-8879016A80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8441" y="1778673"/>
            <a:ext cx="4815843" cy="4718502"/>
          </a:xfrm>
          <a:prstGeom prst="rect">
            <a:avLst/>
          </a:prstGeom>
        </p:spPr>
      </p:pic>
    </p:spTree>
    <p:extLst>
      <p:ext uri="{BB962C8B-B14F-4D97-AF65-F5344CB8AC3E}">
        <p14:creationId xmlns:p14="http://schemas.microsoft.com/office/powerpoint/2010/main" val="397434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Chart&#10;&#10;Description automatically generated">
            <a:extLst>
              <a:ext uri="{FF2B5EF4-FFF2-40B4-BE49-F238E27FC236}">
                <a16:creationId xmlns:a16="http://schemas.microsoft.com/office/drawing/2014/main" id="{CF241025-A6F0-412F-B726-43A8467565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7072" y="2346728"/>
            <a:ext cx="4023360" cy="3511296"/>
          </a:xfrm>
          <a:prstGeom prst="rect">
            <a:avLst/>
          </a:prstGeom>
        </p:spPr>
      </p:pic>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Reverb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7" y="1964774"/>
            <a:ext cx="6067325" cy="3578518"/>
          </a:xfrm>
        </p:spPr>
        <p:txBody>
          <a:bodyPr>
            <a:noAutofit/>
          </a:bodyPr>
          <a:lstStyle/>
          <a:p>
            <a:pPr marL="0" indent="0">
              <a:buNone/>
            </a:pPr>
            <a:r>
              <a:rPr lang="en-GB" sz="2400" b="1" dirty="0">
                <a:solidFill>
                  <a:srgbClr val="FF0000"/>
                </a:solidFill>
                <a:latin typeface="Calibri" panose="020F0502020204030204" pitchFamily="34" charset="0"/>
                <a:ea typeface="Roboto" panose="02000000000000000000" pitchFamily="2" charset="0"/>
                <a:cs typeface="Calibri" panose="020F0502020204030204" pitchFamily="34" charset="0"/>
              </a:rPr>
              <a:t>Reverb</a:t>
            </a:r>
            <a:r>
              <a:rPr lang="en-GB" sz="2400" dirty="0">
                <a:latin typeface="Calibri" panose="020F0502020204030204" pitchFamily="34" charset="0"/>
                <a:ea typeface="Roboto" panose="02000000000000000000" pitchFamily="2" charset="0"/>
                <a:cs typeface="Calibri" panose="020F0502020204030204" pitchFamily="34" charset="0"/>
              </a:rPr>
              <a:t> is used to make a sound feel like it is in a different space.</a:t>
            </a:r>
            <a:endParaRPr lang="en-GB" sz="2400" dirty="0">
              <a:latin typeface="Ubuntu"/>
              <a:ea typeface="Ubuntu"/>
              <a:cs typeface="Ubuntu"/>
            </a:endParaRPr>
          </a:p>
          <a:p>
            <a:pPr marL="0" indent="0">
              <a:buNone/>
            </a:pPr>
            <a:r>
              <a:rPr lang="en-GB" sz="2400" dirty="0">
                <a:latin typeface="Calibri" panose="020F0502020204030204" pitchFamily="34" charset="0"/>
                <a:ea typeface="Roboto" panose="02000000000000000000" pitchFamily="2" charset="0"/>
                <a:cs typeface="Calibri" panose="020F0502020204030204" pitchFamily="34" charset="0"/>
              </a:rPr>
              <a:t>For example, you can record a voiceover into a microphone in your classroom and then use reverb to make it sound like it was recorded in a tunnel!</a:t>
            </a:r>
            <a:endParaRPr lang="en-GB" sz="2400" dirty="0">
              <a:latin typeface="Ubuntu"/>
              <a:ea typeface="Ubuntu"/>
              <a:cs typeface="Ubuntu"/>
            </a:endParaRPr>
          </a:p>
          <a:p>
            <a:pPr marL="0" indent="0">
              <a:buNone/>
            </a:pPr>
            <a:r>
              <a:rPr lang="en-GB" sz="2400" dirty="0">
                <a:latin typeface="Calibri" panose="020F0502020204030204" pitchFamily="34" charset="0"/>
                <a:ea typeface="Roboto" panose="02000000000000000000" pitchFamily="2" charset="0"/>
                <a:cs typeface="Calibri" panose="020F0502020204030204" pitchFamily="34" charset="0"/>
              </a:rPr>
              <a:t>You can add reverb by selecting the part of the track you want to apply reverb to and then clicking on ‘Effect’ and ‘Reverb …’.</a:t>
            </a:r>
            <a:endParaRPr lang="en-GB" sz="2400" dirty="0">
              <a:latin typeface="Ubuntu"/>
              <a:ea typeface="Ubuntu"/>
              <a:cs typeface="Ubuntu"/>
            </a:endParaRPr>
          </a:p>
          <a:p>
            <a:pPr marL="0" indent="0">
              <a:buNone/>
            </a:pPr>
            <a:r>
              <a:rPr lang="en-GB" sz="2400" dirty="0">
                <a:latin typeface="Calibri" panose="020F0502020204030204" pitchFamily="34" charset="0"/>
                <a:ea typeface="Roboto" panose="02000000000000000000" pitchFamily="2" charset="0"/>
                <a:cs typeface="Calibri" panose="020F0502020204030204" pitchFamily="34" charset="0"/>
              </a:rPr>
              <a:t>Reverb can get quite complicated, but you can test it out by moving the sliders on the effect and ‘previewing’ the output before applying it.</a:t>
            </a:r>
            <a:endParaRPr lang="en-GB" sz="2400" dirty="0">
              <a:latin typeface="Ubuntu"/>
              <a:ea typeface="Ubuntu"/>
              <a:cs typeface="Ubuntu"/>
            </a:endParaRPr>
          </a:p>
        </p:txBody>
      </p:sp>
    </p:spTree>
    <p:extLst>
      <p:ext uri="{BB962C8B-B14F-4D97-AF65-F5344CB8AC3E}">
        <p14:creationId xmlns:p14="http://schemas.microsoft.com/office/powerpoint/2010/main" val="2372648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2.2: Applying reverb </a:t>
            </a:r>
            <a:endParaRPr lang="en-GB"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040803"/>
            <a:ext cx="4115628" cy="3416320"/>
          </a:xfrm>
          <a:prstGeom prst="rect">
            <a:avLst/>
          </a:prstGeom>
        </p:spPr>
        <p:txBody>
          <a:bodyPr wrap="square">
            <a:spAutoFit/>
          </a:bodyPr>
          <a:lstStyle/>
          <a:p>
            <a:r>
              <a:rPr lang="en-GB" sz="2400" dirty="0"/>
              <a:t>Experiment with reverb and then apply reverb to the voiceover and crowd cheer tracks in your advert.</a:t>
            </a:r>
          </a:p>
          <a:p>
            <a:endParaRPr lang="en-GB" sz="2400" dirty="0"/>
          </a:p>
          <a:p>
            <a:r>
              <a:rPr lang="en-GB" sz="2400" dirty="0"/>
              <a:t>Remember that it is particularly important that you can hear what the voiceover is saying, so don’t go crazy with the reverb!</a:t>
            </a:r>
          </a:p>
        </p:txBody>
      </p:sp>
      <p:pic>
        <p:nvPicPr>
          <p:cNvPr id="7" name="Picture 6" descr="A picture containing athletic game, basketball, sport&#10;&#10;Description automatically generated">
            <a:extLst>
              <a:ext uri="{FF2B5EF4-FFF2-40B4-BE49-F238E27FC236}">
                <a16:creationId xmlns:a16="http://schemas.microsoft.com/office/drawing/2014/main" id="{7E5555C7-1805-4F51-9D05-A728B2867D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8441" y="1778673"/>
            <a:ext cx="4815843" cy="4718502"/>
          </a:xfrm>
          <a:prstGeom prst="rect">
            <a:avLst/>
          </a:prstGeom>
        </p:spPr>
      </p:pic>
    </p:spTree>
    <p:extLst>
      <p:ext uri="{BB962C8B-B14F-4D97-AF65-F5344CB8AC3E}">
        <p14:creationId xmlns:p14="http://schemas.microsoft.com/office/powerpoint/2010/main" val="2847372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Compression</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2141236"/>
            <a:ext cx="9135007" cy="3136615"/>
          </a:xfrm>
        </p:spPr>
        <p:txBody>
          <a:bodyPr>
            <a:noAutofit/>
          </a:bodyPr>
          <a:lstStyle/>
          <a:p>
            <a:pPr>
              <a:buClr>
                <a:schemeClr val="tx1"/>
              </a:buClr>
            </a:pPr>
            <a:r>
              <a:rPr lang="en-GB" sz="2400" b="1" dirty="0">
                <a:solidFill>
                  <a:srgbClr val="FF0000"/>
                </a:solidFill>
                <a:ea typeface="Roboto" panose="02000000000000000000" pitchFamily="2" charset="0"/>
                <a:cs typeface="Calibri" panose="020F0502020204030204" pitchFamily="34" charset="0"/>
              </a:rPr>
              <a:t>Compression</a:t>
            </a:r>
            <a:r>
              <a:rPr lang="en-GB" sz="2400" dirty="0">
                <a:ea typeface="Roboto" panose="02000000000000000000" pitchFamily="2" charset="0"/>
                <a:cs typeface="Calibri" panose="020F0502020204030204" pitchFamily="34" charset="0"/>
              </a:rPr>
              <a:t> is a tool used to make sure that no parts of a sound are too quiet or loud. It makes the quiet sounds louder, and the loud sounds slightly quieter.</a:t>
            </a:r>
            <a:endParaRPr lang="en-GB" sz="2400" dirty="0">
              <a:ea typeface="Ubuntu"/>
              <a:cs typeface="Ubuntu"/>
            </a:endParaRPr>
          </a:p>
          <a:p>
            <a:r>
              <a:rPr lang="en-GB" sz="2400" dirty="0">
                <a:ea typeface="Roboto" panose="02000000000000000000" pitchFamily="2" charset="0"/>
                <a:cs typeface="Calibri" panose="020F0502020204030204" pitchFamily="34" charset="0"/>
              </a:rPr>
              <a:t>You can add compression by selecting the part of the track you want to apply compression to and then click on ‘Effect’ and ‘Compressor …’.</a:t>
            </a:r>
            <a:endParaRPr lang="en-GB" sz="2400" dirty="0">
              <a:ea typeface="Ubuntu"/>
              <a:cs typeface="Ubuntu"/>
            </a:endParaRPr>
          </a:p>
          <a:p>
            <a:r>
              <a:rPr lang="en-GB" sz="2400" dirty="0">
                <a:ea typeface="Roboto" panose="02000000000000000000" pitchFamily="2" charset="0"/>
                <a:cs typeface="Calibri" panose="020F0502020204030204" pitchFamily="34" charset="0"/>
              </a:rPr>
              <a:t>Like reverb, compression can get quite complicated, but you can test it out by moving the sliders on the effect and ‘previewing’ the output before applying it.</a:t>
            </a:r>
            <a:endParaRPr lang="en-GB" sz="2400" dirty="0">
              <a:ea typeface="Ubuntu"/>
              <a:cs typeface="Ubuntu"/>
            </a:endParaRPr>
          </a:p>
        </p:txBody>
      </p:sp>
    </p:spTree>
    <p:extLst>
      <p:ext uri="{BB962C8B-B14F-4D97-AF65-F5344CB8AC3E}">
        <p14:creationId xmlns:p14="http://schemas.microsoft.com/office/powerpoint/2010/main" val="4170654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2.3 Applying compression </a:t>
            </a:r>
            <a:endParaRPr lang="en-GB"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644170"/>
            <a:ext cx="4115628" cy="1569660"/>
          </a:xfrm>
          <a:prstGeom prst="rect">
            <a:avLst/>
          </a:prstGeom>
        </p:spPr>
        <p:txBody>
          <a:bodyPr wrap="square">
            <a:spAutoFit/>
          </a:bodyPr>
          <a:lstStyle/>
          <a:p>
            <a:r>
              <a:rPr lang="en-GB" sz="2400" dirty="0"/>
              <a:t>Experiment with compression and then apply compression to the voiceover and jet plane tracks in your advert.</a:t>
            </a:r>
          </a:p>
        </p:txBody>
      </p:sp>
      <p:pic>
        <p:nvPicPr>
          <p:cNvPr id="5" name="Picture 4" descr="A picture containing athletic game, basketball, sport&#10;&#10;Description automatically generated">
            <a:extLst>
              <a:ext uri="{FF2B5EF4-FFF2-40B4-BE49-F238E27FC236}">
                <a16:creationId xmlns:a16="http://schemas.microsoft.com/office/drawing/2014/main" id="{66161943-F78F-43E0-9299-559B27FD68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8441" y="1778673"/>
            <a:ext cx="4815843" cy="4718502"/>
          </a:xfrm>
          <a:prstGeom prst="rect">
            <a:avLst/>
          </a:prstGeom>
        </p:spPr>
      </p:pic>
    </p:spTree>
    <p:extLst>
      <p:ext uri="{BB962C8B-B14F-4D97-AF65-F5344CB8AC3E}">
        <p14:creationId xmlns:p14="http://schemas.microsoft.com/office/powerpoint/2010/main" val="2465107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Envelope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1964774"/>
            <a:ext cx="9034670" cy="2159966"/>
          </a:xfrm>
        </p:spPr>
        <p:txBody>
          <a:bodyPr>
            <a:noAutofit/>
          </a:bodyPr>
          <a:lstStyle/>
          <a:p>
            <a:pPr marL="0" indent="0">
              <a:buNone/>
            </a:pPr>
            <a:r>
              <a:rPr lang="en-GB" sz="2400" b="1" dirty="0">
                <a:solidFill>
                  <a:srgbClr val="FF0000"/>
                </a:solidFill>
              </a:rPr>
              <a:t>Envelope</a:t>
            </a:r>
            <a:r>
              <a:rPr lang="en-GB" sz="2400" dirty="0"/>
              <a:t> allows you to make a track quieter and louder at certain points. For example, you might want the voiceover to be louder when the background music is playing and quieter when it is not, and you can use envelope to do this.</a:t>
            </a:r>
          </a:p>
          <a:p>
            <a:pPr marL="0" indent="0">
              <a:buNone/>
            </a:pPr>
            <a:r>
              <a:rPr lang="en-GB" sz="2400" dirty="0"/>
              <a:t>Click on the ‘Envelope Tool’ 	   and then use your cursor to increase or decrease the volume.</a:t>
            </a:r>
          </a:p>
        </p:txBody>
      </p:sp>
      <p:pic>
        <p:nvPicPr>
          <p:cNvPr id="10" name="Picture 9" descr="A picture containing text, piano, picture frame&#10;&#10;Description automatically generated">
            <a:extLst>
              <a:ext uri="{FF2B5EF4-FFF2-40B4-BE49-F238E27FC236}">
                <a16:creationId xmlns:a16="http://schemas.microsoft.com/office/drawing/2014/main" id="{F4C26654-CEF0-417C-9449-521BF247B6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51387" y="3433092"/>
            <a:ext cx="338328" cy="338328"/>
          </a:xfrm>
          <a:prstGeom prst="rect">
            <a:avLst/>
          </a:prstGeom>
        </p:spPr>
      </p:pic>
      <p:pic>
        <p:nvPicPr>
          <p:cNvPr id="12" name="Picture 11" descr="Timeline&#10;&#10;Description automatically generated">
            <a:extLst>
              <a:ext uri="{FF2B5EF4-FFF2-40B4-BE49-F238E27FC236}">
                <a16:creationId xmlns:a16="http://schemas.microsoft.com/office/drawing/2014/main" id="{2ED8F4D2-CC7B-4A87-B6E6-547A12438D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32653" y="4429829"/>
            <a:ext cx="7126694" cy="1345785"/>
          </a:xfrm>
          <a:prstGeom prst="rect">
            <a:avLst/>
          </a:prstGeom>
        </p:spPr>
      </p:pic>
    </p:spTree>
    <p:extLst>
      <p:ext uri="{BB962C8B-B14F-4D97-AF65-F5344CB8AC3E}">
        <p14:creationId xmlns:p14="http://schemas.microsoft.com/office/powerpoint/2010/main" val="1010547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94505" cy="775252"/>
          </a:xfrm>
        </p:spPr>
        <p:txBody>
          <a:bodyPr>
            <a:normAutofit/>
          </a:bodyPr>
          <a:lstStyle/>
          <a:p>
            <a:r>
              <a:rPr lang="en-GB" b="1" dirty="0">
                <a:solidFill>
                  <a:schemeClr val="bg1"/>
                </a:solidFill>
              </a:rPr>
              <a:t>Activity 2.4: Applying envelope </a:t>
            </a:r>
            <a:endParaRPr lang="en-GB" dirty="0">
              <a:solidFill>
                <a:schemeClr val="bg1"/>
              </a:solidFill>
            </a:endParaRPr>
          </a:p>
        </p:txBody>
      </p:sp>
      <p:sp>
        <p:nvSpPr>
          <p:cNvPr id="3" name="Rectangle 2">
            <a:extLst>
              <a:ext uri="{FF2B5EF4-FFF2-40B4-BE49-F238E27FC236}">
                <a16:creationId xmlns:a16="http://schemas.microsoft.com/office/drawing/2014/main" id="{2E18DB44-5438-A243-AC7D-2EE0C721D2AE}"/>
              </a:ext>
            </a:extLst>
          </p:cNvPr>
          <p:cNvSpPr/>
          <p:nvPr/>
        </p:nvSpPr>
        <p:spPr>
          <a:xfrm>
            <a:off x="1570382" y="2644170"/>
            <a:ext cx="3786809" cy="1569660"/>
          </a:xfrm>
          <a:prstGeom prst="rect">
            <a:avLst/>
          </a:prstGeom>
        </p:spPr>
        <p:txBody>
          <a:bodyPr wrap="square">
            <a:spAutoFit/>
          </a:bodyPr>
          <a:lstStyle/>
          <a:p>
            <a:r>
              <a:rPr lang="en-GB" sz="2400" dirty="0"/>
              <a:t>Experiment with envelope and then apply envelope to the voiceover and beach tracks in your advert.</a:t>
            </a:r>
          </a:p>
        </p:txBody>
      </p:sp>
      <p:pic>
        <p:nvPicPr>
          <p:cNvPr id="7" name="Picture 6" descr="A picture containing athletic game, basketball, sport&#10;&#10;Description automatically generated">
            <a:extLst>
              <a:ext uri="{FF2B5EF4-FFF2-40B4-BE49-F238E27FC236}">
                <a16:creationId xmlns:a16="http://schemas.microsoft.com/office/drawing/2014/main" id="{79E8F109-6C3C-47F5-820D-39C7ECD358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8441" y="1778673"/>
            <a:ext cx="4815843" cy="4718502"/>
          </a:xfrm>
          <a:prstGeom prst="rect">
            <a:avLst/>
          </a:prstGeom>
        </p:spPr>
      </p:pic>
    </p:spTree>
    <p:extLst>
      <p:ext uri="{BB962C8B-B14F-4D97-AF65-F5344CB8AC3E}">
        <p14:creationId xmlns:p14="http://schemas.microsoft.com/office/powerpoint/2010/main" val="399144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65312"/>
            <a:ext cx="9733721" cy="835923"/>
          </a:xfrm>
        </p:spPr>
        <p:txBody>
          <a:bodyPr/>
          <a:lstStyle/>
          <a:p>
            <a:r>
              <a:rPr lang="en-GB" b="1" dirty="0">
                <a:solidFill>
                  <a:schemeClr val="bg1"/>
                </a:solidFill>
              </a:rPr>
              <a:t>Audio effects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2183434"/>
            <a:ext cx="8309113" cy="917574"/>
          </a:xfrm>
        </p:spPr>
        <p:txBody>
          <a:bodyPr>
            <a:noAutofit/>
          </a:bodyPr>
          <a:lstStyle/>
          <a:p>
            <a:pPr marL="0" indent="0">
              <a:buNone/>
            </a:pPr>
            <a:r>
              <a:rPr lang="en-GB" sz="2400" dirty="0"/>
              <a:t>Listen to these four sounds and identify the audio effect that has been applied to each of them.</a:t>
            </a:r>
          </a:p>
        </p:txBody>
      </p:sp>
      <p:sp>
        <p:nvSpPr>
          <p:cNvPr id="7" name="Rectangle 6">
            <a:extLst>
              <a:ext uri="{FF2B5EF4-FFF2-40B4-BE49-F238E27FC236}">
                <a16:creationId xmlns:a16="http://schemas.microsoft.com/office/drawing/2014/main" id="{D67E8014-86B8-0C4A-B67D-58724DCE02EE}"/>
              </a:ext>
            </a:extLst>
          </p:cNvPr>
          <p:cNvSpPr/>
          <p:nvPr/>
        </p:nvSpPr>
        <p:spPr>
          <a:xfrm>
            <a:off x="4603540" y="4993970"/>
            <a:ext cx="2984920" cy="523220"/>
          </a:xfrm>
          <a:prstGeom prst="rect">
            <a:avLst/>
          </a:prstGeom>
        </p:spPr>
        <p:txBody>
          <a:bodyPr wrap="none">
            <a:spAutoFit/>
          </a:bodyPr>
          <a:lstStyle/>
          <a:p>
            <a:r>
              <a:rPr lang="en-GB" sz="2800" dirty="0">
                <a:ea typeface="Roboto" panose="02000000000000000000" pitchFamily="2" charset="0"/>
                <a:cs typeface="Calibri" panose="020F0502020204030204" pitchFamily="34" charset="0"/>
              </a:rPr>
              <a:t>Listen to Audio 2.3</a:t>
            </a:r>
            <a:r>
              <a:rPr lang="en-GB" sz="2800" dirty="0"/>
              <a:t> </a:t>
            </a:r>
            <a:endParaRPr lang="en-US" sz="2800" dirty="0"/>
          </a:p>
        </p:txBody>
      </p:sp>
    </p:spTree>
    <p:extLst>
      <p:ext uri="{BB962C8B-B14F-4D97-AF65-F5344CB8AC3E}">
        <p14:creationId xmlns:p14="http://schemas.microsoft.com/office/powerpoint/2010/main" val="2084577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 calcmode="lin" valueType="num">
                                      <p:cBhvr>
                                        <p:cTn id="7" dur="500" fill="hold"/>
                                        <p:tgtEl>
                                          <p:spTgt spid="7">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7">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7">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30017" y="805070"/>
            <a:ext cx="9783417" cy="775252"/>
          </a:xfrm>
        </p:spPr>
        <p:txBody>
          <a:bodyPr/>
          <a:lstStyle/>
          <a:p>
            <a:r>
              <a:rPr lang="en-GB" b="1" dirty="0">
                <a:solidFill>
                  <a:schemeClr val="bg1"/>
                </a:solidFill>
              </a:rPr>
              <a:t>Quiz 2</a:t>
            </a:r>
          </a:p>
        </p:txBody>
      </p:sp>
      <p:pic>
        <p:nvPicPr>
          <p:cNvPr id="4" name="Picture 3" descr="A picture containing athletic game, basketball, sport&#10;&#10;Description automatically generated">
            <a:extLst>
              <a:ext uri="{FF2B5EF4-FFF2-40B4-BE49-F238E27FC236}">
                <a16:creationId xmlns:a16="http://schemas.microsoft.com/office/drawing/2014/main" id="{0A3C30AB-F3BA-4B1C-A4D2-A824EFCFBA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8078" y="1810757"/>
            <a:ext cx="4815843" cy="4718502"/>
          </a:xfrm>
          <a:prstGeom prst="rect">
            <a:avLst/>
          </a:prstGeom>
        </p:spPr>
      </p:pic>
    </p:spTree>
    <p:extLst>
      <p:ext uri="{BB962C8B-B14F-4D97-AF65-F5344CB8AC3E}">
        <p14:creationId xmlns:p14="http://schemas.microsoft.com/office/powerpoint/2010/main" val="292287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393</TotalTime>
  <Words>738</Words>
  <Application>Microsoft Office PowerPoint</Application>
  <PresentationFormat>Widescreen</PresentationFormat>
  <Paragraphs>49</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Noto Sans Symbols</vt:lpstr>
      <vt:lpstr>Ubuntu</vt:lpstr>
      <vt:lpstr>Office Theme</vt:lpstr>
      <vt:lpstr>Sound and video editing</vt:lpstr>
      <vt:lpstr>Objectives</vt:lpstr>
      <vt:lpstr>What does the audio effect do? </vt:lpstr>
      <vt:lpstr>Adding audio effects to your advert</vt:lpstr>
      <vt:lpstr>Fade in/fade out </vt:lpstr>
      <vt:lpstr>Activity 2.1: Applying fade in and fade out</vt:lpstr>
      <vt:lpstr>Reverb </vt:lpstr>
      <vt:lpstr>Activity 2.2: Applying reverb </vt:lpstr>
      <vt:lpstr>Compression</vt:lpstr>
      <vt:lpstr>Activity 2.3 Applying compression </vt:lpstr>
      <vt:lpstr>Envelope </vt:lpstr>
      <vt:lpstr>Activity 2.4: Applying envelope </vt:lpstr>
      <vt:lpstr>Audio effects </vt:lpstr>
      <vt:lpstr>Quiz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46</cp:revision>
  <dcterms:created xsi:type="dcterms:W3CDTF">2020-11-04T15:22:46Z</dcterms:created>
  <dcterms:modified xsi:type="dcterms:W3CDTF">2021-06-16T12:27:12Z</dcterms:modified>
</cp:coreProperties>
</file>