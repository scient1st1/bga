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4" r:id="rId8"/>
    <p:sldId id="265" r:id="rId9"/>
    <p:sldId id="266" r:id="rId10"/>
    <p:sldId id="267" r:id="rId11"/>
    <p:sldId id="268" r:id="rId12"/>
    <p:sldId id="263" r:id="rId13"/>
    <p:sldId id="269" r:id="rId14"/>
    <p:sldId id="262"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hQu+9+mWQdOwsYe7fzZRiPVrNvy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226"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 name="Google Shape;12;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 name="Google Shape;1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2" name="Google Shape;2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
        <p:cNvGrpSpPr/>
        <p:nvPr/>
      </p:nvGrpSpPr>
      <p:grpSpPr>
        <a:xfrm>
          <a:off x="0" y="0"/>
          <a:ext cx="0" cy="0"/>
          <a:chOff x="0" y="0"/>
          <a:chExt cx="0" cy="0"/>
        </a:xfrm>
      </p:grpSpPr>
      <p:sp>
        <p:nvSpPr>
          <p:cNvPr id="26" name="Google Shape;2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2"/>
        <p:cNvGrpSpPr/>
        <p:nvPr/>
      </p:nvGrpSpPr>
      <p:grpSpPr>
        <a:xfrm>
          <a:off x="0" y="0"/>
          <a:ext cx="0" cy="0"/>
          <a:chOff x="0" y="0"/>
          <a:chExt cx="0" cy="0"/>
        </a:xfrm>
      </p:grpSpPr>
      <p:sp>
        <p:nvSpPr>
          <p:cNvPr id="33" name="Google Shape;33;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3" name="Google Shape;53;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4" name="Google Shape;5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7"/>
        <p:cNvGrpSpPr/>
        <p:nvPr/>
      </p:nvGrpSpPr>
      <p:grpSpPr>
        <a:xfrm>
          <a:off x="0" y="0"/>
          <a:ext cx="0" cy="0"/>
          <a:chOff x="0" y="0"/>
          <a:chExt cx="0" cy="0"/>
        </a:xfrm>
      </p:grpSpPr>
      <p:sp>
        <p:nvSpPr>
          <p:cNvPr id="58" name="Google Shape;58;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5"/>
          <p:cNvSpPr>
            <a:spLocks noGrp="1"/>
          </p:cNvSpPr>
          <p:nvPr>
            <p:ph type="pic" idx="2"/>
          </p:nvPr>
        </p:nvSpPr>
        <p:spPr>
          <a:xfrm>
            <a:off x="5183188" y="987425"/>
            <a:ext cx="6172200" cy="4873625"/>
          </a:xfrm>
          <a:prstGeom prst="rect">
            <a:avLst/>
          </a:prstGeom>
          <a:noFill/>
          <a:ln>
            <a:noFill/>
          </a:ln>
        </p:spPr>
      </p:sp>
      <p:sp>
        <p:nvSpPr>
          <p:cNvPr id="60" name="Google Shape;60;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4"/>
        <p:cNvGrpSpPr/>
        <p:nvPr/>
      </p:nvGrpSpPr>
      <p:grpSpPr>
        <a:xfrm>
          <a:off x="0" y="0"/>
          <a:ext cx="0" cy="0"/>
          <a:chOff x="0" y="0"/>
          <a:chExt cx="0" cy="0"/>
        </a:xfrm>
      </p:grpSpPr>
      <p:sp>
        <p:nvSpPr>
          <p:cNvPr id="65" name="Google Shape;65;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0"/>
        <p:cNvGrpSpPr/>
        <p:nvPr/>
      </p:nvGrpSpPr>
      <p:grpSpPr>
        <a:xfrm>
          <a:off x="0" y="0"/>
          <a:ext cx="0" cy="0"/>
          <a:chOff x="0" y="0"/>
          <a:chExt cx="0" cy="0"/>
        </a:xfrm>
      </p:grpSpPr>
      <p:sp>
        <p:nvSpPr>
          <p:cNvPr id="71" name="Google Shape;71;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6"/>
          <p:cNvSpPr txBox="1"/>
          <p:nvPr/>
        </p:nvSpPr>
        <p:spPr>
          <a:xfrm>
            <a:off x="7547114" y="6380197"/>
            <a:ext cx="4114800" cy="36512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GB" sz="1200" b="0" i="0" u="none" strike="noStrike" cap="none">
                <a:solidFill>
                  <a:schemeClr val="dk1"/>
                </a:solidFill>
                <a:latin typeface="Calibri"/>
                <a:ea typeface="Calibri"/>
                <a:cs typeface="Calibri"/>
                <a:sym typeface="Calibri"/>
              </a:rPr>
              <a:t>© Hodder &amp; Stoughton Limited 2021</a:t>
            </a:r>
            <a:endParaRPr/>
          </a:p>
        </p:txBody>
      </p:sp>
      <p:pic>
        <p:nvPicPr>
          <p:cNvPr id="9" name="Google Shape;9;p16" descr="Shape, rectangle&#10;&#10;Description automatically generated"/>
          <p:cNvPicPr preferRelativeResize="0"/>
          <p:nvPr/>
        </p:nvPicPr>
        <p:blipFill rotWithShape="1">
          <a:blip r:embed="rId13">
            <a:alphaModFix/>
          </a:blip>
          <a:srcRect/>
          <a:stretch/>
        </p:blipFill>
        <p:spPr>
          <a:xfrm>
            <a:off x="0" y="0"/>
            <a:ext cx="12192000" cy="169561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
          <p:cNvSpPr txBox="1">
            <a:spLocks noGrp="1"/>
          </p:cNvSpPr>
          <p:nvPr>
            <p:ph type="ctrTitle"/>
          </p:nvPr>
        </p:nvSpPr>
        <p:spPr>
          <a:xfrm>
            <a:off x="1646583" y="2929767"/>
            <a:ext cx="9920500" cy="91585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GB" b="1"/>
              <a:t>Internet safety, cyber security</a:t>
            </a:r>
            <a:br>
              <a:rPr lang="en-GB" b="1"/>
            </a:br>
            <a:r>
              <a:rPr lang="en-GB" b="1"/>
              <a:t>and encryption</a:t>
            </a:r>
            <a:endParaRPr/>
          </a:p>
        </p:txBody>
      </p:sp>
      <p:sp>
        <p:nvSpPr>
          <p:cNvPr id="81" name="Google Shape;81;p1"/>
          <p:cNvSpPr/>
          <p:nvPr/>
        </p:nvSpPr>
        <p:spPr>
          <a:xfrm>
            <a:off x="4636690" y="3928233"/>
            <a:ext cx="2166747"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i="0" u="none" strike="noStrike" cap="none">
                <a:solidFill>
                  <a:schemeClr val="accent6"/>
                </a:solidFill>
                <a:latin typeface="Calibri"/>
                <a:ea typeface="Calibri"/>
                <a:cs typeface="Calibri"/>
                <a:sym typeface="Calibri"/>
              </a:rPr>
              <a:t>Lesson 3: Malware</a:t>
            </a:r>
            <a:endParaRPr/>
          </a:p>
          <a:p>
            <a:pPr marL="0" marR="0" lvl="0" indent="0" algn="l" rtl="0">
              <a:spcBef>
                <a:spcPts val="0"/>
              </a:spcBef>
              <a:spcAft>
                <a:spcPts val="0"/>
              </a:spcAft>
              <a:buNone/>
            </a:pPr>
            <a:endParaRPr sz="2000" b="1">
              <a:solidFill>
                <a:schemeClr val="accent6"/>
              </a:solidFill>
              <a:latin typeface="Calibri"/>
              <a:ea typeface="Calibri"/>
              <a:cs typeface="Calibri"/>
              <a:sym typeface="Calibri"/>
            </a:endParaRPr>
          </a:p>
        </p:txBody>
      </p:sp>
      <p:pic>
        <p:nvPicPr>
          <p:cNvPr id="82" name="Google Shape;82;p1"/>
          <p:cNvPicPr preferRelativeResize="0"/>
          <p:nvPr/>
        </p:nvPicPr>
        <p:blipFill rotWithShape="1">
          <a:blip r:embed="rId3">
            <a:alphaModFix/>
          </a:blip>
          <a:srcRect/>
          <a:stretch/>
        </p:blipFill>
        <p:spPr>
          <a:xfrm>
            <a:off x="8629671" y="3429000"/>
            <a:ext cx="2937412" cy="244392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
          <p:cNvSpPr txBox="1">
            <a:spLocks noGrp="1"/>
          </p:cNvSpPr>
          <p:nvPr>
            <p:ph type="title"/>
          </p:nvPr>
        </p:nvSpPr>
        <p:spPr>
          <a:xfrm>
            <a:off x="1545483" y="824947"/>
            <a:ext cx="9634330" cy="766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Objectives</a:t>
            </a:r>
            <a:endParaRPr/>
          </a:p>
        </p:txBody>
      </p:sp>
      <p:sp>
        <p:nvSpPr>
          <p:cNvPr id="88" name="Google Shape;88;p2"/>
          <p:cNvSpPr/>
          <p:nvPr/>
        </p:nvSpPr>
        <p:spPr>
          <a:xfrm>
            <a:off x="1545483" y="2066398"/>
            <a:ext cx="8950239" cy="27392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a:solidFill>
                  <a:schemeClr val="dk1"/>
                </a:solidFill>
                <a:latin typeface="Calibri"/>
                <a:ea typeface="Calibri"/>
                <a:cs typeface="Calibri"/>
                <a:sym typeface="Calibri"/>
              </a:rPr>
              <a:t>In this lesson, you will learn:</a:t>
            </a:r>
            <a:endParaRPr/>
          </a:p>
          <a:p>
            <a:pPr marL="342900" marR="0" lvl="0" indent="-342900" algn="l" rtl="0">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the names of different types of malware</a:t>
            </a:r>
            <a:endParaRPr/>
          </a:p>
          <a:p>
            <a:pPr marL="342900" marR="0" lvl="0" indent="-342900" algn="l" rtl="0">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different types of malware work</a:t>
            </a:r>
            <a:endParaRPr/>
          </a:p>
          <a:p>
            <a:pPr marL="342900" marR="0" lvl="0" indent="-342900" algn="l" rtl="0">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what software can be used to protect computer systems from malware</a:t>
            </a:r>
            <a:endParaRPr/>
          </a:p>
          <a:p>
            <a:pPr marL="342900" marR="0" lvl="0" indent="-342900" algn="l" rtl="0">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match protective measures to threats.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3"/>
          <p:cNvSpPr txBox="1">
            <a:spLocks noGrp="1"/>
          </p:cNvSpPr>
          <p:nvPr>
            <p:ph type="title"/>
          </p:nvPr>
        </p:nvSpPr>
        <p:spPr>
          <a:xfrm>
            <a:off x="1580322" y="844826"/>
            <a:ext cx="9773478" cy="8458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Malware attack</a:t>
            </a:r>
            <a:endParaRPr/>
          </a:p>
        </p:txBody>
      </p:sp>
      <p:sp>
        <p:nvSpPr>
          <p:cNvPr id="94" name="Google Shape;94;p3"/>
          <p:cNvSpPr/>
          <p:nvPr/>
        </p:nvSpPr>
        <p:spPr>
          <a:xfrm>
            <a:off x="1580322" y="2495014"/>
            <a:ext cx="5308158"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Some of the computers in the research lab at the International Space Organisation are playing up, and someone has suggested that there might be a computer virus involved.</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You must use your knowledge of malware to identify the problem and prevent it from causing further damage.</a:t>
            </a:r>
            <a:endParaRPr/>
          </a:p>
        </p:txBody>
      </p:sp>
      <p:pic>
        <p:nvPicPr>
          <p:cNvPr id="95" name="Google Shape;95;p3" descr="Diagram&#10;&#10;Description automatically generated"/>
          <p:cNvPicPr preferRelativeResize="0"/>
          <p:nvPr/>
        </p:nvPicPr>
        <p:blipFill rotWithShape="1">
          <a:blip r:embed="rId3">
            <a:alphaModFix/>
          </a:blip>
          <a:srcRect/>
          <a:stretch/>
        </p:blipFill>
        <p:spPr>
          <a:xfrm>
            <a:off x="7091390" y="2698724"/>
            <a:ext cx="4035552" cy="263956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4"/>
          <p:cNvSpPr txBox="1">
            <a:spLocks noGrp="1"/>
          </p:cNvSpPr>
          <p:nvPr>
            <p:ph type="title"/>
          </p:nvPr>
        </p:nvSpPr>
        <p:spPr>
          <a:xfrm>
            <a:off x="1620078" y="795131"/>
            <a:ext cx="9733721" cy="89555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What does the word malware</a:t>
            </a:r>
            <a:r>
              <a:rPr lang="en-GB" b="1"/>
              <a:t> </a:t>
            </a:r>
            <a:r>
              <a:rPr lang="en-GB" b="1">
                <a:solidFill>
                  <a:schemeClr val="lt1"/>
                </a:solidFill>
              </a:rPr>
              <a:t>mean?</a:t>
            </a:r>
            <a:endParaRPr/>
          </a:p>
        </p:txBody>
      </p:sp>
      <p:sp>
        <p:nvSpPr>
          <p:cNvPr id="101" name="Google Shape;101;p4"/>
          <p:cNvSpPr txBox="1">
            <a:spLocks noGrp="1"/>
          </p:cNvSpPr>
          <p:nvPr>
            <p:ph type="body" idx="1"/>
          </p:nvPr>
        </p:nvSpPr>
        <p:spPr>
          <a:xfrm>
            <a:off x="1489450" y="2688720"/>
            <a:ext cx="4475922" cy="259738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70AD47"/>
              </a:buClr>
              <a:buSzPts val="2400"/>
              <a:buNone/>
            </a:pPr>
            <a:r>
              <a:rPr lang="en-GB" sz="2400" b="1">
                <a:solidFill>
                  <a:srgbClr val="70AD47"/>
                </a:solidFill>
              </a:rPr>
              <a:t>Malware</a:t>
            </a:r>
            <a:r>
              <a:rPr lang="en-GB" sz="2400"/>
              <a:t> comes from the words </a:t>
            </a:r>
            <a:r>
              <a:rPr lang="en-GB" sz="2400" b="1"/>
              <a:t>mal</a:t>
            </a:r>
            <a:r>
              <a:rPr lang="en-GB" sz="2400"/>
              <a:t>icious (meaning ‘bad’) and soft</a:t>
            </a:r>
            <a:r>
              <a:rPr lang="en-GB" sz="2400" b="1"/>
              <a:t>ware</a:t>
            </a:r>
            <a:r>
              <a:rPr lang="en-GB" sz="2400"/>
              <a:t> (meaning ‘computer programs’).</a:t>
            </a:r>
            <a:endParaRPr/>
          </a:p>
          <a:p>
            <a:pPr marL="0" lvl="0" indent="0" algn="l" rtl="0">
              <a:lnSpc>
                <a:spcPct val="90000"/>
              </a:lnSpc>
              <a:spcBef>
                <a:spcPts val="1000"/>
              </a:spcBef>
              <a:spcAft>
                <a:spcPts val="0"/>
              </a:spcAft>
              <a:buClr>
                <a:schemeClr val="dk1"/>
              </a:buClr>
              <a:buSzPts val="2400"/>
              <a:buNone/>
            </a:pPr>
            <a:r>
              <a:rPr lang="en-GB" sz="2400"/>
              <a:t>‘Malware’ is used to describe computer programs designed to do something bad.</a:t>
            </a:r>
            <a:endParaRPr/>
          </a:p>
        </p:txBody>
      </p:sp>
      <p:pic>
        <p:nvPicPr>
          <p:cNvPr id="102" name="Google Shape;102;p4" descr="Text&#10;&#10;Description automatically generated"/>
          <p:cNvPicPr preferRelativeResize="0"/>
          <p:nvPr/>
        </p:nvPicPr>
        <p:blipFill rotWithShape="1">
          <a:blip r:embed="rId3">
            <a:alphaModFix/>
          </a:blip>
          <a:srcRect/>
          <a:stretch/>
        </p:blipFill>
        <p:spPr>
          <a:xfrm>
            <a:off x="6096000" y="2275753"/>
            <a:ext cx="5246479" cy="342331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1620078" y="795131"/>
            <a:ext cx="9733721" cy="89555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What types of malware are there?</a:t>
            </a:r>
            <a:endParaRPr/>
          </a:p>
        </p:txBody>
      </p:sp>
      <p:sp>
        <p:nvSpPr>
          <p:cNvPr id="108" name="Google Shape;108;p5"/>
          <p:cNvSpPr txBox="1">
            <a:spLocks noGrp="1"/>
          </p:cNvSpPr>
          <p:nvPr>
            <p:ph type="body" idx="1"/>
          </p:nvPr>
        </p:nvSpPr>
        <p:spPr>
          <a:xfrm>
            <a:off x="1620078" y="2270710"/>
            <a:ext cx="8754197" cy="314602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GB" sz="2400"/>
              <a:t>There’s more to malware than </a:t>
            </a:r>
            <a:r>
              <a:rPr lang="en-GB" sz="2400" b="1"/>
              <a:t>viruses</a:t>
            </a:r>
            <a:r>
              <a:rPr lang="en-GB" sz="2400"/>
              <a:t>. You also need to be careful of:</a:t>
            </a:r>
            <a:endParaRPr/>
          </a:p>
          <a:p>
            <a:pPr marL="0" lvl="0" indent="0" algn="ctr" rtl="0">
              <a:lnSpc>
                <a:spcPct val="90000"/>
              </a:lnSpc>
              <a:spcBef>
                <a:spcPts val="1000"/>
              </a:spcBef>
              <a:spcAft>
                <a:spcPts val="0"/>
              </a:spcAft>
              <a:buClr>
                <a:schemeClr val="accent6"/>
              </a:buClr>
              <a:buSzPts val="2400"/>
              <a:buNone/>
            </a:pPr>
            <a:r>
              <a:rPr lang="en-GB" sz="2400" b="1">
                <a:solidFill>
                  <a:schemeClr val="accent6"/>
                </a:solidFill>
              </a:rPr>
              <a:t>trojans       worms       ransomware       </a:t>
            </a:r>
            <a:r>
              <a:rPr lang="en-GB" sz="2400" b="1">
                <a:solidFill>
                  <a:srgbClr val="70AD47"/>
                </a:solidFill>
              </a:rPr>
              <a:t>adware        </a:t>
            </a:r>
            <a:r>
              <a:rPr lang="en-GB" sz="2400" b="1">
                <a:solidFill>
                  <a:schemeClr val="accent6"/>
                </a:solidFill>
              </a:rPr>
              <a:t>spyware</a:t>
            </a:r>
            <a:endParaRPr/>
          </a:p>
          <a:p>
            <a:pPr marL="0" lvl="0" indent="0" algn="l" rtl="0">
              <a:lnSpc>
                <a:spcPct val="90000"/>
              </a:lnSpc>
              <a:spcBef>
                <a:spcPts val="1000"/>
              </a:spcBef>
              <a:spcAft>
                <a:spcPts val="0"/>
              </a:spcAft>
              <a:buClr>
                <a:schemeClr val="dk1"/>
              </a:buClr>
              <a:buSzPts val="2400"/>
              <a:buNone/>
            </a:pPr>
            <a:r>
              <a:rPr lang="en-GB" sz="2400"/>
              <a:t>Labelling all malware as ‘a virus’ is like labelling all types of glue as ‘Pritt Stick</a:t>
            </a:r>
            <a:r>
              <a:rPr lang="en-GB" sz="2400" baseline="30000"/>
              <a:t>™</a:t>
            </a:r>
            <a:r>
              <a:rPr lang="en-GB" sz="2400"/>
              <a:t>’.</a:t>
            </a:r>
            <a:endParaRPr/>
          </a:p>
          <a:p>
            <a:pPr marL="0" lvl="0" indent="0" algn="l" rtl="0">
              <a:lnSpc>
                <a:spcPct val="90000"/>
              </a:lnSpc>
              <a:spcBef>
                <a:spcPts val="1000"/>
              </a:spcBef>
              <a:spcAft>
                <a:spcPts val="0"/>
              </a:spcAft>
              <a:buClr>
                <a:schemeClr val="dk1"/>
              </a:buClr>
              <a:buSzPts val="2400"/>
              <a:buNone/>
            </a:pPr>
            <a:r>
              <a:rPr lang="en-GB" sz="2400"/>
              <a:t>Everyone will know what you are talking about, but people in the know will need more detail to know how to fix the problem. After all, you wouldn’t use a Pritt Stick to glue two pieces of wood together!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title"/>
          </p:nvPr>
        </p:nvSpPr>
        <p:spPr>
          <a:xfrm>
            <a:off x="1570382" y="834887"/>
            <a:ext cx="9783417" cy="855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Activity 3.1: Types of malware (Part one)</a:t>
            </a:r>
            <a:endParaRPr/>
          </a:p>
        </p:txBody>
      </p:sp>
      <p:pic>
        <p:nvPicPr>
          <p:cNvPr id="114" name="Google Shape;114;p6" descr="A picture containing athletic game, basketball, sport&#10;&#10;Description automatically generated"/>
          <p:cNvPicPr preferRelativeResize="0"/>
          <p:nvPr/>
        </p:nvPicPr>
        <p:blipFill rotWithShape="1">
          <a:blip r:embed="rId3">
            <a:alphaModFix/>
          </a:blip>
          <a:srcRect/>
          <a:stretch/>
        </p:blipFill>
        <p:spPr>
          <a:xfrm>
            <a:off x="3690255" y="1912181"/>
            <a:ext cx="4811489" cy="4714236"/>
          </a:xfrm>
          <a:prstGeom prst="rect">
            <a:avLst/>
          </a:prstGeom>
          <a:noFill/>
          <a:ln>
            <a:noFill/>
          </a:ln>
        </p:spPr>
      </p:pic>
      <p:sp>
        <p:nvSpPr>
          <p:cNvPr id="4" name="Title 1">
            <a:extLst>
              <a:ext uri="{FF2B5EF4-FFF2-40B4-BE49-F238E27FC236}">
                <a16:creationId xmlns:a16="http://schemas.microsoft.com/office/drawing/2014/main" id="{269353FF-D2D1-43C4-8784-2E8EF14E8544}"/>
              </a:ext>
            </a:extLst>
          </p:cNvPr>
          <p:cNvSpPr txBox="1">
            <a:spLocks/>
          </p:cNvSpPr>
          <p:nvPr/>
        </p:nvSpPr>
        <p:spPr>
          <a:xfrm>
            <a:off x="288275" y="5860495"/>
            <a:ext cx="3088385" cy="865740"/>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b="1" dirty="0" smtClean="0">
                <a:solidFill>
                  <a:schemeClr val="accent6">
                    <a:lumMod val="20000"/>
                    <a:lumOff val="80000"/>
                  </a:schemeClr>
                </a:solidFill>
              </a:rPr>
              <a:t>DO NOW</a:t>
            </a:r>
            <a:endParaRPr lang="en-GB" b="1" dirty="0">
              <a:solidFill>
                <a:schemeClr val="accent6">
                  <a:lumMod val="20000"/>
                  <a:lumOff val="8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9"/>
          <p:cNvSpPr txBox="1">
            <a:spLocks noGrp="1"/>
          </p:cNvSpPr>
          <p:nvPr>
            <p:ph type="title"/>
          </p:nvPr>
        </p:nvSpPr>
        <p:spPr>
          <a:xfrm>
            <a:off x="1600200" y="844826"/>
            <a:ext cx="9753599" cy="8458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Anti-malware software</a:t>
            </a:r>
            <a:r>
              <a:rPr lang="en-GB">
                <a:solidFill>
                  <a:schemeClr val="lt1"/>
                </a:solidFill>
              </a:rPr>
              <a:t> </a:t>
            </a:r>
            <a:endParaRPr b="1">
              <a:solidFill>
                <a:schemeClr val="lt1"/>
              </a:solidFill>
            </a:endParaRPr>
          </a:p>
        </p:txBody>
      </p:sp>
      <p:sp>
        <p:nvSpPr>
          <p:cNvPr id="133" name="Google Shape;133;p9"/>
          <p:cNvSpPr txBox="1">
            <a:spLocks noGrp="1"/>
          </p:cNvSpPr>
          <p:nvPr>
            <p:ph type="body" idx="1"/>
          </p:nvPr>
        </p:nvSpPr>
        <p:spPr>
          <a:xfrm>
            <a:off x="1600200" y="2330132"/>
            <a:ext cx="8696739" cy="219773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accent6"/>
              </a:buClr>
              <a:buSzPts val="2400"/>
              <a:buChar char="•"/>
            </a:pPr>
            <a:r>
              <a:rPr lang="en-GB" sz="2400" b="1">
                <a:solidFill>
                  <a:schemeClr val="accent6"/>
                </a:solidFill>
              </a:rPr>
              <a:t>Anti-malware</a:t>
            </a:r>
            <a:r>
              <a:rPr lang="en-GB" sz="2400">
                <a:solidFill>
                  <a:schemeClr val="accent6"/>
                </a:solidFill>
              </a:rPr>
              <a:t> </a:t>
            </a:r>
            <a:r>
              <a:rPr lang="en-GB" sz="2400" b="1">
                <a:solidFill>
                  <a:schemeClr val="accent6"/>
                </a:solidFill>
              </a:rPr>
              <a:t>software</a:t>
            </a:r>
            <a:r>
              <a:rPr lang="en-GB" sz="2400">
                <a:solidFill>
                  <a:schemeClr val="accent6"/>
                </a:solidFill>
              </a:rPr>
              <a:t> </a:t>
            </a:r>
            <a:r>
              <a:rPr lang="en-GB" sz="2400"/>
              <a:t>(often called </a:t>
            </a:r>
            <a:r>
              <a:rPr lang="en-GB" sz="2400" b="1">
                <a:solidFill>
                  <a:schemeClr val="accent6"/>
                </a:solidFill>
              </a:rPr>
              <a:t>anti-virus</a:t>
            </a:r>
            <a:r>
              <a:rPr lang="en-GB" sz="2400">
                <a:solidFill>
                  <a:schemeClr val="accent6"/>
                </a:solidFill>
              </a:rPr>
              <a:t> </a:t>
            </a:r>
            <a:r>
              <a:rPr lang="en-GB" sz="2400" b="1">
                <a:solidFill>
                  <a:schemeClr val="accent6"/>
                </a:solidFill>
              </a:rPr>
              <a:t>software</a:t>
            </a:r>
            <a:r>
              <a:rPr lang="en-GB" sz="2400"/>
              <a:t>) scans computer programs and emails for malicious code.</a:t>
            </a:r>
            <a:endParaRPr/>
          </a:p>
          <a:p>
            <a:pPr marL="228600" lvl="0" indent="-228600" algn="l" rtl="0">
              <a:lnSpc>
                <a:spcPct val="90000"/>
              </a:lnSpc>
              <a:spcBef>
                <a:spcPts val="1000"/>
              </a:spcBef>
              <a:spcAft>
                <a:spcPts val="0"/>
              </a:spcAft>
              <a:buClr>
                <a:schemeClr val="dk1"/>
              </a:buClr>
              <a:buSzPts val="2400"/>
              <a:buChar char="•"/>
            </a:pPr>
            <a:r>
              <a:rPr lang="en-GB" sz="2400"/>
              <a:t>If it finds anything suspicious it puts it into quarantine so it cannot infect or damage the computer system. The user can then decide whether or not to trust the file, or delete it.</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0"/>
          <p:cNvSpPr txBox="1">
            <a:spLocks noGrp="1"/>
          </p:cNvSpPr>
          <p:nvPr>
            <p:ph type="title"/>
          </p:nvPr>
        </p:nvSpPr>
        <p:spPr>
          <a:xfrm>
            <a:off x="1560442" y="834887"/>
            <a:ext cx="9793357" cy="855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Firewalls </a:t>
            </a:r>
            <a:endParaRPr/>
          </a:p>
        </p:txBody>
      </p:sp>
      <p:sp>
        <p:nvSpPr>
          <p:cNvPr id="139" name="Google Shape;139;p10"/>
          <p:cNvSpPr txBox="1">
            <a:spLocks noGrp="1"/>
          </p:cNvSpPr>
          <p:nvPr>
            <p:ph type="body" idx="1"/>
          </p:nvPr>
        </p:nvSpPr>
        <p:spPr>
          <a:xfrm>
            <a:off x="1560442" y="2605038"/>
            <a:ext cx="4152381" cy="3007635"/>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accent6"/>
              </a:buClr>
              <a:buSzPts val="2400"/>
              <a:buNone/>
            </a:pPr>
            <a:r>
              <a:rPr lang="en-GB" sz="2400" b="1">
                <a:solidFill>
                  <a:schemeClr val="accent6"/>
                </a:solidFill>
              </a:rPr>
              <a:t>Firewalls</a:t>
            </a:r>
            <a:r>
              <a:rPr lang="en-GB" sz="2400"/>
              <a:t> block connections into or out of a computer system unless they are authorised.</a:t>
            </a:r>
            <a:endParaRPr/>
          </a:p>
          <a:p>
            <a:pPr marL="0" lvl="0" indent="0" algn="l" rtl="0">
              <a:lnSpc>
                <a:spcPct val="90000"/>
              </a:lnSpc>
              <a:spcBef>
                <a:spcPts val="1000"/>
              </a:spcBef>
              <a:spcAft>
                <a:spcPts val="0"/>
              </a:spcAft>
              <a:buClr>
                <a:schemeClr val="dk1"/>
              </a:buClr>
              <a:buSzPts val="2400"/>
              <a:buNone/>
            </a:pPr>
            <a:r>
              <a:rPr lang="en-GB" sz="2400"/>
              <a:t>Firewalls stop spyware and keyloggers from sending data back to the creators of the malware, and they stop worms from spreading automatically.</a:t>
            </a:r>
            <a:endParaRPr/>
          </a:p>
        </p:txBody>
      </p:sp>
      <p:pic>
        <p:nvPicPr>
          <p:cNvPr id="140" name="Google Shape;140;p10" descr="Diagram&#10;&#10;Description automatically generated"/>
          <p:cNvPicPr preferRelativeResize="0"/>
          <p:nvPr/>
        </p:nvPicPr>
        <p:blipFill rotWithShape="1">
          <a:blip r:embed="rId3">
            <a:alphaModFix/>
          </a:blip>
          <a:srcRect/>
          <a:stretch/>
        </p:blipFill>
        <p:spPr>
          <a:xfrm>
            <a:off x="6331748" y="2451686"/>
            <a:ext cx="5022051" cy="331434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1"/>
          <p:cNvSpPr txBox="1">
            <a:spLocks noGrp="1"/>
          </p:cNvSpPr>
          <p:nvPr>
            <p:ph type="title"/>
          </p:nvPr>
        </p:nvSpPr>
        <p:spPr>
          <a:xfrm>
            <a:off x="1560442" y="834887"/>
            <a:ext cx="9793357" cy="855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Backups</a:t>
            </a:r>
            <a:endParaRPr/>
          </a:p>
        </p:txBody>
      </p:sp>
      <p:sp>
        <p:nvSpPr>
          <p:cNvPr id="146" name="Google Shape;146;p11"/>
          <p:cNvSpPr txBox="1">
            <a:spLocks noGrp="1"/>
          </p:cNvSpPr>
          <p:nvPr>
            <p:ph type="body" idx="1"/>
          </p:nvPr>
        </p:nvSpPr>
        <p:spPr>
          <a:xfrm>
            <a:off x="1560442" y="2495416"/>
            <a:ext cx="4256884" cy="329501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GB" sz="2400"/>
              <a:t>Regularly backing up your files (saving a copy of all your files) means that damaged or deleted files can be quickly replaced with little or no loss of data.</a:t>
            </a:r>
            <a:endParaRPr/>
          </a:p>
          <a:p>
            <a:pPr marL="0" lvl="0" indent="0" algn="l" rtl="0">
              <a:lnSpc>
                <a:spcPct val="90000"/>
              </a:lnSpc>
              <a:spcBef>
                <a:spcPts val="1000"/>
              </a:spcBef>
              <a:spcAft>
                <a:spcPts val="0"/>
              </a:spcAft>
              <a:buClr>
                <a:schemeClr val="dk1"/>
              </a:buClr>
              <a:buSzPts val="2400"/>
              <a:buNone/>
            </a:pPr>
            <a:r>
              <a:rPr lang="en-GB" sz="2400"/>
              <a:t>This limits the impact of viruses, trojans, worms and ransomware.</a:t>
            </a:r>
            <a:endParaRPr/>
          </a:p>
        </p:txBody>
      </p:sp>
      <p:pic>
        <p:nvPicPr>
          <p:cNvPr id="147" name="Google Shape;147;p11" descr="A picture containing text, indoor, computer, computer&#10;&#10;Description automatically generated"/>
          <p:cNvPicPr preferRelativeResize="0"/>
          <p:nvPr/>
        </p:nvPicPr>
        <p:blipFill rotWithShape="1">
          <a:blip r:embed="rId3">
            <a:alphaModFix/>
          </a:blip>
          <a:srcRect/>
          <a:stretch/>
        </p:blipFill>
        <p:spPr>
          <a:xfrm>
            <a:off x="6096000" y="2379074"/>
            <a:ext cx="5291545" cy="35276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12" descr="A picture containing icon&#10;&#10;Description automatically generated"/>
          <p:cNvPicPr preferRelativeResize="0"/>
          <p:nvPr/>
        </p:nvPicPr>
        <p:blipFill rotWithShape="1">
          <a:blip r:embed="rId3">
            <a:alphaModFix/>
          </a:blip>
          <a:srcRect/>
          <a:stretch/>
        </p:blipFill>
        <p:spPr>
          <a:xfrm>
            <a:off x="8905820" y="2020069"/>
            <a:ext cx="2764536" cy="2566416"/>
          </a:xfrm>
          <a:prstGeom prst="rect">
            <a:avLst/>
          </a:prstGeom>
          <a:noFill/>
          <a:ln>
            <a:noFill/>
          </a:ln>
        </p:spPr>
      </p:pic>
      <p:sp>
        <p:nvSpPr>
          <p:cNvPr id="153" name="Google Shape;153;p12"/>
          <p:cNvSpPr txBox="1">
            <a:spLocks noGrp="1"/>
          </p:cNvSpPr>
          <p:nvPr>
            <p:ph type="title"/>
          </p:nvPr>
        </p:nvSpPr>
        <p:spPr>
          <a:xfrm>
            <a:off x="1600200" y="815009"/>
            <a:ext cx="9753600" cy="87567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Updates </a:t>
            </a:r>
            <a:endParaRPr/>
          </a:p>
        </p:txBody>
      </p:sp>
      <p:sp>
        <p:nvSpPr>
          <p:cNvPr id="154" name="Google Shape;154;p12"/>
          <p:cNvSpPr/>
          <p:nvPr/>
        </p:nvSpPr>
        <p:spPr>
          <a:xfrm>
            <a:off x="1600200" y="2019749"/>
            <a:ext cx="7835348" cy="415498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Installing system updates fixes security flaws identified by the company that makes your computer’s operating system.</a:t>
            </a:r>
            <a:endParaRPr/>
          </a:p>
          <a:p>
            <a:pPr marL="285750" marR="0" lvl="0" indent="-285750" algn="l" rtl="0">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Installing program updates fixes the security flaws identified by the companies that make the software programs your computer uses.</a:t>
            </a:r>
            <a:endParaRPr/>
          </a:p>
          <a:p>
            <a:pPr marL="285750" marR="0" lvl="0" indent="-285750" algn="l" rtl="0">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New flaws are found all the time, so it’s really important to install updates whenever they are available.</a:t>
            </a:r>
            <a:endParaRPr/>
          </a:p>
          <a:p>
            <a:pPr marL="285750" marR="0" lvl="0" indent="-285750" algn="l" rtl="0">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These updates make your computer, phone and console much harder to attack. Putting off a security update is a major security mistake!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3"/>
          <p:cNvSpPr txBox="1">
            <a:spLocks noGrp="1"/>
          </p:cNvSpPr>
          <p:nvPr>
            <p:ph type="title"/>
          </p:nvPr>
        </p:nvSpPr>
        <p:spPr>
          <a:xfrm>
            <a:off x="1600200" y="815009"/>
            <a:ext cx="9753600" cy="87567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Avoid file-sharing websites </a:t>
            </a:r>
            <a:endParaRPr/>
          </a:p>
        </p:txBody>
      </p:sp>
      <p:sp>
        <p:nvSpPr>
          <p:cNvPr id="160" name="Google Shape;160;p13"/>
          <p:cNvSpPr/>
          <p:nvPr/>
        </p:nvSpPr>
        <p:spPr>
          <a:xfrm>
            <a:off x="1600200" y="1889434"/>
            <a:ext cx="7835348"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File-sharing websites are common places to pick up malware.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Stay away from dodgy websites and illegal downloads and stick to legal and official websites. This will reduce your risk of infecting your computer system with malware.</a:t>
            </a:r>
            <a:endParaRPr/>
          </a:p>
        </p:txBody>
      </p:sp>
      <p:pic>
        <p:nvPicPr>
          <p:cNvPr id="161" name="Google Shape;161;p13"/>
          <p:cNvPicPr preferRelativeResize="0"/>
          <p:nvPr/>
        </p:nvPicPr>
        <p:blipFill rotWithShape="1">
          <a:blip r:embed="rId3">
            <a:alphaModFix/>
          </a:blip>
          <a:srcRect/>
          <a:stretch/>
        </p:blipFill>
        <p:spPr>
          <a:xfrm>
            <a:off x="3480816" y="4027172"/>
            <a:ext cx="5230368" cy="227220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8" descr="A picture containing athletic game, basketball, sport&#10;&#10;Description automatically generated"/>
          <p:cNvPicPr preferRelativeResize="0"/>
          <p:nvPr/>
        </p:nvPicPr>
        <p:blipFill rotWithShape="1">
          <a:blip r:embed="rId3">
            <a:alphaModFix/>
          </a:blip>
          <a:srcRect/>
          <a:stretch/>
        </p:blipFill>
        <p:spPr>
          <a:xfrm>
            <a:off x="3690255" y="1912181"/>
            <a:ext cx="4811489" cy="4714236"/>
          </a:xfrm>
          <a:prstGeom prst="rect">
            <a:avLst/>
          </a:prstGeom>
          <a:noFill/>
          <a:ln>
            <a:noFill/>
          </a:ln>
        </p:spPr>
      </p:pic>
      <p:sp>
        <p:nvSpPr>
          <p:cNvPr id="127" name="Google Shape;127;p8"/>
          <p:cNvSpPr txBox="1">
            <a:spLocks noGrp="1"/>
          </p:cNvSpPr>
          <p:nvPr>
            <p:ph type="title"/>
          </p:nvPr>
        </p:nvSpPr>
        <p:spPr>
          <a:xfrm>
            <a:off x="1570382" y="834887"/>
            <a:ext cx="9783417" cy="855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Activity 3.1: Types of malware (Part two)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4"/>
          <p:cNvSpPr txBox="1">
            <a:spLocks noGrp="1"/>
          </p:cNvSpPr>
          <p:nvPr>
            <p:ph type="title"/>
          </p:nvPr>
        </p:nvSpPr>
        <p:spPr>
          <a:xfrm>
            <a:off x="1570382" y="834887"/>
            <a:ext cx="10296940" cy="85580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000"/>
              <a:buFont typeface="Calibri"/>
              <a:buNone/>
            </a:pPr>
            <a:r>
              <a:rPr lang="en-GB" sz="4000" b="1">
                <a:solidFill>
                  <a:schemeClr val="lt1"/>
                </a:solidFill>
              </a:rPr>
              <a:t>Activity 3.3: Malware: risks and minimising risks </a:t>
            </a:r>
            <a:endParaRPr/>
          </a:p>
        </p:txBody>
      </p:sp>
      <p:pic>
        <p:nvPicPr>
          <p:cNvPr id="167" name="Google Shape;167;p14" descr="A picture containing athletic game, basketball, sport&#10;&#10;Description automatically generated"/>
          <p:cNvPicPr preferRelativeResize="0"/>
          <p:nvPr/>
        </p:nvPicPr>
        <p:blipFill rotWithShape="1">
          <a:blip r:embed="rId3">
            <a:alphaModFix/>
          </a:blip>
          <a:srcRect/>
          <a:stretch/>
        </p:blipFill>
        <p:spPr>
          <a:xfrm>
            <a:off x="3690255" y="1912181"/>
            <a:ext cx="4811489" cy="471423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118"/>
        <p:cNvGrpSpPr/>
        <p:nvPr/>
      </p:nvGrpSpPr>
      <p:grpSpPr>
        <a:xfrm>
          <a:off x="0" y="0"/>
          <a:ext cx="0" cy="0"/>
          <a:chOff x="0" y="0"/>
          <a:chExt cx="0" cy="0"/>
        </a:xfrm>
      </p:grpSpPr>
      <p:sp>
        <p:nvSpPr>
          <p:cNvPr id="119" name="Google Shape;119;p7"/>
          <p:cNvSpPr txBox="1">
            <a:spLocks noGrp="1"/>
          </p:cNvSpPr>
          <p:nvPr>
            <p:ph type="title"/>
          </p:nvPr>
        </p:nvSpPr>
        <p:spPr>
          <a:xfrm>
            <a:off x="1570382" y="834887"/>
            <a:ext cx="9783417" cy="855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3.2: Malware posters</a:t>
            </a:r>
            <a:endParaRPr/>
          </a:p>
        </p:txBody>
      </p:sp>
      <p:sp>
        <p:nvSpPr>
          <p:cNvPr id="120" name="Google Shape;120;p7"/>
          <p:cNvSpPr/>
          <p:nvPr/>
        </p:nvSpPr>
        <p:spPr>
          <a:xfrm>
            <a:off x="6401130" y="3429000"/>
            <a:ext cx="4257261"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Your poster or presentation slide can contain images but should include no more than 10 words.</a:t>
            </a:r>
            <a:endParaRPr sz="2400">
              <a:solidFill>
                <a:schemeClr val="dk1"/>
              </a:solidFill>
              <a:latin typeface="Times New Roman"/>
              <a:ea typeface="Times New Roman"/>
              <a:cs typeface="Times New Roman"/>
              <a:sym typeface="Times New Roman"/>
            </a:endParaRPr>
          </a:p>
        </p:txBody>
      </p:sp>
      <p:pic>
        <p:nvPicPr>
          <p:cNvPr id="121" name="Google Shape;121;p7" descr="A picture containing athletic game, basketball, sport&#10;&#10;Description automatically generated"/>
          <p:cNvPicPr preferRelativeResize="0"/>
          <p:nvPr/>
        </p:nvPicPr>
        <p:blipFill rotWithShape="1">
          <a:blip r:embed="rId3">
            <a:alphaModFix/>
          </a:blip>
          <a:srcRect/>
          <a:stretch/>
        </p:blipFill>
        <p:spPr>
          <a:xfrm>
            <a:off x="979382" y="1886757"/>
            <a:ext cx="4811489" cy="471423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71"/>
        <p:cNvGrpSpPr/>
        <p:nvPr/>
      </p:nvGrpSpPr>
      <p:grpSpPr>
        <a:xfrm>
          <a:off x="0" y="0"/>
          <a:ext cx="0" cy="0"/>
          <a:chOff x="0" y="0"/>
          <a:chExt cx="0" cy="0"/>
        </a:xfrm>
      </p:grpSpPr>
      <p:sp>
        <p:nvSpPr>
          <p:cNvPr id="172" name="Google Shape;172;p15"/>
          <p:cNvSpPr txBox="1">
            <a:spLocks noGrp="1"/>
          </p:cNvSpPr>
          <p:nvPr>
            <p:ph type="title"/>
          </p:nvPr>
        </p:nvSpPr>
        <p:spPr>
          <a:xfrm>
            <a:off x="1570382" y="834887"/>
            <a:ext cx="10296940" cy="85580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400"/>
              <a:buFont typeface="Calibri"/>
              <a:buNone/>
            </a:pPr>
            <a:r>
              <a:rPr lang="en-GB" b="1">
                <a:solidFill>
                  <a:schemeClr val="lt1"/>
                </a:solidFill>
              </a:rPr>
              <a:t>Quiz 3</a:t>
            </a:r>
            <a:endParaRPr/>
          </a:p>
        </p:txBody>
      </p:sp>
      <p:pic>
        <p:nvPicPr>
          <p:cNvPr id="173" name="Google Shape;173;p15" descr="A picture containing athletic game, basketball, sport&#10;&#10;Description automatically generated"/>
          <p:cNvPicPr preferRelativeResize="0"/>
          <p:nvPr/>
        </p:nvPicPr>
        <p:blipFill rotWithShape="1">
          <a:blip r:embed="rId3">
            <a:alphaModFix/>
          </a:blip>
          <a:srcRect/>
          <a:stretch/>
        </p:blipFill>
        <p:spPr>
          <a:xfrm>
            <a:off x="3690255" y="1912181"/>
            <a:ext cx="4811489" cy="471423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554</Words>
  <Application>Microsoft Office PowerPoint</Application>
  <PresentationFormat>Widescreen</PresentationFormat>
  <Paragraphs>44</Paragraphs>
  <Slides>15</Slides>
  <Notes>15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Noto Sans Symbols</vt:lpstr>
      <vt:lpstr>Times New Roman</vt:lpstr>
      <vt:lpstr>Office Theme</vt:lpstr>
      <vt:lpstr>Internet safety, cyber security and encryption</vt:lpstr>
      <vt:lpstr>Objectives</vt:lpstr>
      <vt:lpstr>Malware attack</vt:lpstr>
      <vt:lpstr>What does the word malware mean?</vt:lpstr>
      <vt:lpstr>What types of malware are there?</vt:lpstr>
      <vt:lpstr>Activity 3.1: Types of malware (Part one)</vt:lpstr>
      <vt:lpstr>Anti-malware software </vt:lpstr>
      <vt:lpstr>Firewalls </vt:lpstr>
      <vt:lpstr>Backups</vt:lpstr>
      <vt:lpstr>Updates </vt:lpstr>
      <vt:lpstr>Avoid file-sharing websites </vt:lpstr>
      <vt:lpstr>Activity 3.1: Types of malware (Part two)</vt:lpstr>
      <vt:lpstr>Activity 3.3: Malware: risks and minimising risks </vt:lpstr>
      <vt:lpstr>3.2: Malware posters</vt:lpstr>
      <vt:lpstr>Quiz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safety, cyber security and encryption</dc:title>
  <dc:creator>Lea Albrechtsen</dc:creator>
  <cp:lastModifiedBy>DavitZh</cp:lastModifiedBy>
  <cp:revision>1</cp:revision>
  <dcterms:created xsi:type="dcterms:W3CDTF">2020-11-04T15:22:46Z</dcterms:created>
  <dcterms:modified xsi:type="dcterms:W3CDTF">2024-10-01T04:23:00Z</dcterms:modified>
</cp:coreProperties>
</file>