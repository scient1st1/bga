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75" r:id="rId6"/>
    <p:sldId id="260" r:id="rId7"/>
    <p:sldId id="279" r:id="rId8"/>
    <p:sldId id="280" r:id="rId9"/>
    <p:sldId id="281" r:id="rId10"/>
    <p:sldId id="273" r:id="rId11"/>
    <p:sldId id="283" r:id="rId12"/>
    <p:sldId id="284" r:id="rId13"/>
    <p:sldId id="285" r:id="rId14"/>
    <p:sldId id="286" r:id="rId15"/>
    <p:sldId id="287" r:id="rId16"/>
    <p:sldId id="282" r:id="rId17"/>
    <p:sldId id="289" r:id="rId18"/>
    <p:sldId id="290" r:id="rId19"/>
    <p:sldId id="288" r:id="rId20"/>
    <p:sldId id="278"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2" clrIdx="0">
    <p:extLst>
      <p:ext uri="{19B8F6BF-5375-455C-9EA6-DF929625EA0E}">
        <p15:presenceInfo xmlns:p15="http://schemas.microsoft.com/office/powerpoint/2012/main" userId="S::Lea.Albrechtsen@hoddereducation.co.uk::4df490f3-5904-4e82-a5b6-23281874b6f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624" autoAdjust="0"/>
    <p:restoredTop sz="94660"/>
  </p:normalViewPr>
  <p:slideViewPr>
    <p:cSldViewPr snapToGrid="0">
      <p:cViewPr varScale="1">
        <p:scale>
          <a:sx n="110" d="100"/>
          <a:sy n="110" d="100"/>
        </p:scale>
        <p:origin x="28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commentAuthors" Target="commentAuthor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07/06/2021</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07/06/2021</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07/06/2021</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07/06/2021</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07/06/2021</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07/06/2021</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07/06/2021</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07/06/2021</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07/06/2021</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07/06/2021</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pic>
        <p:nvPicPr>
          <p:cNvPr id="8" name="Picture 7" descr="Shape, rectangle&#10;&#10;Description automatically generated">
            <a:extLst>
              <a:ext uri="{FF2B5EF4-FFF2-40B4-BE49-F238E27FC236}">
                <a16:creationId xmlns:a16="http://schemas.microsoft.com/office/drawing/2014/main" id="{8E162879-1CE5-EF46-AF8E-A0A77F5B7A12}"/>
              </a:ext>
            </a:extLst>
          </p:cNvPr>
          <p:cNvPicPr/>
          <p:nvPr userDrawn="1"/>
        </p:nvPicPr>
        <p:blipFill>
          <a:blip r:embed="rId13" cstate="print">
            <a:extLst>
              <a:ext uri="{28A0092B-C50C-407E-A947-70E740481C1C}">
                <a14:useLocalDpi xmlns:a14="http://schemas.microsoft.com/office/drawing/2010/main" val="0"/>
              </a:ext>
            </a:extLst>
          </a:blip>
          <a:stretch>
            <a:fillRect/>
          </a:stretch>
        </p:blipFill>
        <p:spPr>
          <a:xfrm>
            <a:off x="0" y="0"/>
            <a:ext cx="12192000" cy="1695610"/>
          </a:xfrm>
          <a:prstGeom prst="rect">
            <a:avLst/>
          </a:prstGeom>
        </p:spPr>
      </p:pic>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2B9C3-E44C-4313-895D-D43DD1C92CE3}"/>
              </a:ext>
            </a:extLst>
          </p:cNvPr>
          <p:cNvSpPr>
            <a:spLocks noGrp="1"/>
          </p:cNvSpPr>
          <p:nvPr>
            <p:ph type="ctrTitle"/>
          </p:nvPr>
        </p:nvSpPr>
        <p:spPr>
          <a:xfrm>
            <a:off x="1646583" y="2929767"/>
            <a:ext cx="9920500" cy="915850"/>
          </a:xfrm>
        </p:spPr>
        <p:txBody>
          <a:bodyPr>
            <a:normAutofit fontScale="90000"/>
          </a:bodyPr>
          <a:lstStyle/>
          <a:p>
            <a:pPr algn="l"/>
            <a:r>
              <a:rPr lang="en-GB" b="1" dirty="0"/>
              <a:t>Internet safety, cyber security</a:t>
            </a:r>
            <a:br>
              <a:rPr lang="en-GB" b="1" dirty="0"/>
            </a:br>
            <a:r>
              <a:rPr lang="en-GB" b="1" dirty="0"/>
              <a:t>and encryption</a:t>
            </a:r>
          </a:p>
        </p:txBody>
      </p:sp>
      <p:sp>
        <p:nvSpPr>
          <p:cNvPr id="11" name="Rectangle 10">
            <a:extLst>
              <a:ext uri="{FF2B5EF4-FFF2-40B4-BE49-F238E27FC236}">
                <a16:creationId xmlns:a16="http://schemas.microsoft.com/office/drawing/2014/main" id="{5346DB13-257C-4484-9CB0-C755672B55D3}"/>
              </a:ext>
            </a:extLst>
          </p:cNvPr>
          <p:cNvSpPr/>
          <p:nvPr/>
        </p:nvSpPr>
        <p:spPr>
          <a:xfrm>
            <a:off x="4636690" y="3928233"/>
            <a:ext cx="3755836" cy="707886"/>
          </a:xfrm>
          <a:prstGeom prst="rect">
            <a:avLst/>
          </a:prstGeom>
        </p:spPr>
        <p:txBody>
          <a:bodyPr wrap="none">
            <a:spAutoFit/>
          </a:bodyPr>
          <a:lstStyle/>
          <a:p>
            <a:r>
              <a:rPr lang="en-GB" sz="2000" b="1" dirty="0">
                <a:solidFill>
                  <a:schemeClr val="accent6"/>
                </a:solidFill>
                <a:latin typeface="Calibri" panose="020F0502020204030204" pitchFamily="34" charset="0"/>
                <a:ea typeface="Times New Roman" panose="02020603050405020304" pitchFamily="18" charset="0"/>
              </a:rPr>
              <a:t>Lesson 2: Passwords and phishing</a:t>
            </a:r>
          </a:p>
          <a:p>
            <a:endParaRPr lang="en-GB" sz="2000" b="1" dirty="0">
              <a:solidFill>
                <a:schemeClr val="accent6"/>
              </a:solidFill>
            </a:endParaRPr>
          </a:p>
        </p:txBody>
      </p:sp>
      <p:pic>
        <p:nvPicPr>
          <p:cNvPr id="3" name="Picture 2">
            <a:extLst>
              <a:ext uri="{FF2B5EF4-FFF2-40B4-BE49-F238E27FC236}">
                <a16:creationId xmlns:a16="http://schemas.microsoft.com/office/drawing/2014/main" id="{06DB04D9-E080-9D4B-853A-22B67AD09829}"/>
              </a:ext>
            </a:extLst>
          </p:cNvPr>
          <p:cNvPicPr>
            <a:picLocks noChangeAspect="1"/>
          </p:cNvPicPr>
          <p:nvPr/>
        </p:nvPicPr>
        <p:blipFill>
          <a:blip r:embed="rId2"/>
          <a:stretch>
            <a:fillRect/>
          </a:stretch>
        </p:blipFill>
        <p:spPr>
          <a:xfrm>
            <a:off x="8629671" y="3429000"/>
            <a:ext cx="2937412" cy="2443927"/>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0543161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545483" y="824947"/>
            <a:ext cx="9634330" cy="766349"/>
          </a:xfrm>
        </p:spPr>
        <p:txBody>
          <a:bodyPr/>
          <a:lstStyle/>
          <a:p>
            <a:r>
              <a:rPr lang="en-GB" b="1" dirty="0">
                <a:solidFill>
                  <a:schemeClr val="bg1"/>
                </a:solidFill>
              </a:rPr>
              <a:t>Objectives</a:t>
            </a:r>
          </a:p>
        </p:txBody>
      </p:sp>
      <p:sp>
        <p:nvSpPr>
          <p:cNvPr id="5" name="Rectangle 4">
            <a:extLst>
              <a:ext uri="{FF2B5EF4-FFF2-40B4-BE49-F238E27FC236}">
                <a16:creationId xmlns:a16="http://schemas.microsoft.com/office/drawing/2014/main" id="{8430BE0A-41D5-4110-A78D-A6ACD33DE78B}"/>
              </a:ext>
            </a:extLst>
          </p:cNvPr>
          <p:cNvSpPr/>
          <p:nvPr/>
        </p:nvSpPr>
        <p:spPr>
          <a:xfrm>
            <a:off x="1545483" y="2066398"/>
            <a:ext cx="8950239" cy="2739211"/>
          </a:xfrm>
          <a:prstGeom prst="rect">
            <a:avLst/>
          </a:prstGeom>
        </p:spPr>
        <p:txBody>
          <a:bodyPr wrap="square">
            <a:spAutoFit/>
          </a:bodyPr>
          <a:lstStyle/>
          <a:p>
            <a:pPr>
              <a:spcAft>
                <a:spcPts val="0"/>
              </a:spcAft>
            </a:pPr>
            <a:r>
              <a:rPr lang="en-GB" sz="3200" dirty="0">
                <a:ea typeface="Times New Roman" panose="02020603050405020304" pitchFamily="18" charset="0"/>
              </a:rPr>
              <a:t>In this lesson, you will learn:</a:t>
            </a:r>
          </a:p>
          <a:p>
            <a:pPr marL="342900" lvl="0" indent="-342900">
              <a:spcAft>
                <a:spcPts val="0"/>
              </a:spcAft>
              <a:buFont typeface="Symbol" panose="05050102010706020507" pitchFamily="18" charset="2"/>
              <a:buChar char=""/>
            </a:pPr>
            <a:r>
              <a:rPr lang="en-GB" sz="2800" dirty="0">
                <a:ea typeface="Times New Roman" panose="02020603050405020304" pitchFamily="18" charset="0"/>
              </a:rPr>
              <a:t>what makes up a secure password</a:t>
            </a:r>
          </a:p>
          <a:p>
            <a:pPr marL="342900" lvl="0" indent="-342900">
              <a:spcAft>
                <a:spcPts val="0"/>
              </a:spcAft>
              <a:buFont typeface="Symbol" panose="05050102010706020507" pitchFamily="18" charset="2"/>
              <a:buChar char=""/>
            </a:pPr>
            <a:r>
              <a:rPr lang="en-GB" sz="2800" dirty="0">
                <a:ea typeface="Times New Roman" panose="02020603050405020304" pitchFamily="18" charset="0"/>
              </a:rPr>
              <a:t>why reusing passwords is dangerous</a:t>
            </a:r>
          </a:p>
          <a:p>
            <a:pPr marL="342900" lvl="0" indent="-342900">
              <a:spcAft>
                <a:spcPts val="0"/>
              </a:spcAft>
              <a:buFont typeface="Symbol" panose="05050102010706020507" pitchFamily="18" charset="2"/>
              <a:buChar char=""/>
            </a:pPr>
            <a:r>
              <a:rPr lang="en-GB" sz="2800" dirty="0">
                <a:ea typeface="Times New Roman" panose="02020603050405020304" pitchFamily="18" charset="0"/>
              </a:rPr>
              <a:t>how publicly accessible information can be used against you</a:t>
            </a:r>
          </a:p>
          <a:p>
            <a:pPr marL="342900" lvl="0" indent="-342900">
              <a:spcAft>
                <a:spcPts val="0"/>
              </a:spcAft>
              <a:buFont typeface="Symbol" panose="05050102010706020507" pitchFamily="18" charset="2"/>
              <a:buChar char=""/>
            </a:pPr>
            <a:r>
              <a:rPr lang="en-GB" sz="2800" dirty="0">
                <a:ea typeface="Times New Roman" panose="02020603050405020304" pitchFamily="18" charset="0"/>
              </a:rPr>
              <a:t>how to spot a phishing email.</a:t>
            </a: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580322" y="844826"/>
            <a:ext cx="9773478" cy="845862"/>
          </a:xfrm>
        </p:spPr>
        <p:txBody>
          <a:bodyPr/>
          <a:lstStyle/>
          <a:p>
            <a:r>
              <a:rPr lang="en-GB" b="1" dirty="0">
                <a:solidFill>
                  <a:schemeClr val="bg1"/>
                </a:solidFill>
              </a:rPr>
              <a:t>International Space Organisation </a:t>
            </a:r>
          </a:p>
        </p:txBody>
      </p:sp>
      <p:sp>
        <p:nvSpPr>
          <p:cNvPr id="6" name="Rectangle 5">
            <a:extLst>
              <a:ext uri="{FF2B5EF4-FFF2-40B4-BE49-F238E27FC236}">
                <a16:creationId xmlns:a16="http://schemas.microsoft.com/office/drawing/2014/main" id="{4542E26B-ED72-4EB1-AC4D-285BEC477E25}"/>
              </a:ext>
            </a:extLst>
          </p:cNvPr>
          <p:cNvSpPr/>
          <p:nvPr/>
        </p:nvSpPr>
        <p:spPr>
          <a:xfrm>
            <a:off x="1632573" y="2518843"/>
            <a:ext cx="4097667" cy="3046988"/>
          </a:xfrm>
          <a:prstGeom prst="rect">
            <a:avLst/>
          </a:prstGeom>
        </p:spPr>
        <p:txBody>
          <a:bodyPr wrap="square">
            <a:spAutoFit/>
          </a:bodyPr>
          <a:lstStyle/>
          <a:p>
            <a:r>
              <a:rPr lang="en-GB" sz="2400" dirty="0">
                <a:ea typeface="Times New Roman" panose="02020603050405020304" pitchFamily="18" charset="0"/>
                <a:cs typeface="Calibri" panose="020F0502020204030204" pitchFamily="34" charset="0"/>
              </a:rPr>
              <a:t>You have been hired by the International Space Organisation as a cyber security expert.</a:t>
            </a:r>
            <a:endParaRPr lang="en-GB" sz="2400" dirty="0">
              <a:ea typeface="Times New Roman" panose="02020603050405020304" pitchFamily="18" charset="0"/>
            </a:endParaRPr>
          </a:p>
          <a:p>
            <a:r>
              <a:rPr lang="en-GB" sz="2400" dirty="0">
                <a:ea typeface="Times New Roman" panose="02020603050405020304" pitchFamily="18" charset="0"/>
                <a:cs typeface="Calibri" panose="020F0502020204030204" pitchFamily="34" charset="0"/>
              </a:rPr>
              <a:t>You will be required to carry out a series of tasks over the next few lessons to defend the ISO against cyber security risks.</a:t>
            </a:r>
            <a:endParaRPr lang="en-GB" sz="2400" dirty="0">
              <a:ea typeface="Times New Roman" panose="02020603050405020304" pitchFamily="18" charset="0"/>
            </a:endParaRPr>
          </a:p>
        </p:txBody>
      </p:sp>
      <p:pic>
        <p:nvPicPr>
          <p:cNvPr id="7" name="Picture 6" descr="A picture containing text, person, computer, electronics&#10;&#10;Description automatically generated">
            <a:extLst>
              <a:ext uri="{FF2B5EF4-FFF2-40B4-BE49-F238E27FC236}">
                <a16:creationId xmlns:a16="http://schemas.microsoft.com/office/drawing/2014/main" id="{258C06DE-2522-4CCE-9583-2BB9BBCDA0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2634840"/>
            <a:ext cx="5277394" cy="2783001"/>
          </a:xfrm>
          <a:prstGeom prst="rect">
            <a:avLst/>
          </a:prstGeom>
        </p:spPr>
      </p:pic>
    </p:spTree>
    <p:extLst>
      <p:ext uri="{BB962C8B-B14F-4D97-AF65-F5344CB8AC3E}">
        <p14:creationId xmlns:p14="http://schemas.microsoft.com/office/powerpoint/2010/main" val="1166166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95131"/>
            <a:ext cx="9733721" cy="895558"/>
          </a:xfrm>
        </p:spPr>
        <p:txBody>
          <a:bodyPr/>
          <a:lstStyle/>
          <a:p>
            <a:r>
              <a:rPr lang="en-GB" b="1" dirty="0">
                <a:solidFill>
                  <a:schemeClr val="bg1"/>
                </a:solidFill>
              </a:rPr>
              <a:t>Improving security</a:t>
            </a:r>
          </a:p>
        </p:txBody>
      </p:sp>
      <p:sp>
        <p:nvSpPr>
          <p:cNvPr id="3" name="Content Placeholder 2">
            <a:extLst>
              <a:ext uri="{FF2B5EF4-FFF2-40B4-BE49-F238E27FC236}">
                <a16:creationId xmlns:a16="http://schemas.microsoft.com/office/drawing/2014/main" id="{603992AB-7463-4849-AFE8-C91C20C45440}"/>
              </a:ext>
            </a:extLst>
          </p:cNvPr>
          <p:cNvSpPr>
            <a:spLocks noGrp="1"/>
          </p:cNvSpPr>
          <p:nvPr>
            <p:ph idx="1"/>
          </p:nvPr>
        </p:nvSpPr>
        <p:spPr>
          <a:xfrm>
            <a:off x="5137131" y="2592925"/>
            <a:ext cx="6216668" cy="2858641"/>
          </a:xfrm>
        </p:spPr>
        <p:txBody>
          <a:bodyPr>
            <a:noAutofit/>
          </a:bodyPr>
          <a:lstStyle/>
          <a:p>
            <a:pPr marL="0" indent="0">
              <a:buNone/>
            </a:pPr>
            <a:r>
              <a:rPr lang="en-GB" sz="2400" dirty="0"/>
              <a:t>The Chief Scientist has come to see you because she thinks her computer has been </a:t>
            </a:r>
            <a:r>
              <a:rPr lang="en-GB" sz="2400" b="1" dirty="0">
                <a:solidFill>
                  <a:srgbClr val="92D050"/>
                </a:solidFill>
              </a:rPr>
              <a:t>hacked</a:t>
            </a:r>
            <a:r>
              <a:rPr lang="en-GB" sz="2400" dirty="0"/>
              <a:t>!</a:t>
            </a:r>
          </a:p>
          <a:p>
            <a:pPr marL="0" indent="0">
              <a:buNone/>
            </a:pPr>
            <a:r>
              <a:rPr lang="en-GB" sz="2400" dirty="0"/>
              <a:t>Some of her top-secret research has been copied and posted online.</a:t>
            </a:r>
          </a:p>
          <a:p>
            <a:pPr marL="0" indent="0">
              <a:buNone/>
            </a:pPr>
            <a:r>
              <a:rPr lang="en-GB" sz="2400" dirty="0"/>
              <a:t>Your job is to find out how this might have happened, and to make sure it cannot happen again.</a:t>
            </a:r>
          </a:p>
          <a:p>
            <a:pPr marL="0" indent="0">
              <a:buNone/>
            </a:pPr>
            <a:endParaRPr lang="en-GB" sz="2400" dirty="0"/>
          </a:p>
        </p:txBody>
      </p:sp>
      <p:pic>
        <p:nvPicPr>
          <p:cNvPr id="6" name="Picture 5" descr="Graphical user interface, application&#10;&#10;Description automatically generated">
            <a:extLst>
              <a:ext uri="{FF2B5EF4-FFF2-40B4-BE49-F238E27FC236}">
                <a16:creationId xmlns:a16="http://schemas.microsoft.com/office/drawing/2014/main" id="{5488F93C-047C-41D9-91B1-4410B8293C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82338" y="2188592"/>
            <a:ext cx="3488444" cy="4072871"/>
          </a:xfrm>
          <a:prstGeom prst="rect">
            <a:avLst/>
          </a:prstGeom>
        </p:spPr>
      </p:pic>
    </p:spTree>
    <p:extLst>
      <p:ext uri="{BB962C8B-B14F-4D97-AF65-F5344CB8AC3E}">
        <p14:creationId xmlns:p14="http://schemas.microsoft.com/office/powerpoint/2010/main" val="3005745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7"/>
            <a:ext cx="9783417" cy="855801"/>
          </a:xfrm>
        </p:spPr>
        <p:txBody>
          <a:bodyPr/>
          <a:lstStyle/>
          <a:p>
            <a:r>
              <a:rPr lang="en-GB" b="1" dirty="0">
                <a:solidFill>
                  <a:schemeClr val="bg1"/>
                </a:solidFill>
              </a:rPr>
              <a:t>Online backup</a:t>
            </a:r>
          </a:p>
        </p:txBody>
      </p:sp>
      <p:sp>
        <p:nvSpPr>
          <p:cNvPr id="3" name="Rectangle 2">
            <a:extLst>
              <a:ext uri="{FF2B5EF4-FFF2-40B4-BE49-F238E27FC236}">
                <a16:creationId xmlns:a16="http://schemas.microsoft.com/office/drawing/2014/main" id="{42E163DC-BDC5-D14A-8091-1CF4FD7D0D19}"/>
              </a:ext>
            </a:extLst>
          </p:cNvPr>
          <p:cNvSpPr/>
          <p:nvPr/>
        </p:nvSpPr>
        <p:spPr>
          <a:xfrm>
            <a:off x="1570381" y="2090172"/>
            <a:ext cx="8160027" cy="2677656"/>
          </a:xfrm>
          <a:prstGeom prst="rect">
            <a:avLst/>
          </a:prstGeom>
        </p:spPr>
        <p:txBody>
          <a:bodyPr wrap="square">
            <a:spAutoFit/>
          </a:bodyPr>
          <a:lstStyle/>
          <a:p>
            <a:pPr>
              <a:tabLst>
                <a:tab pos="5727700" algn="r"/>
              </a:tabLst>
            </a:pPr>
            <a:r>
              <a:rPr lang="en-GB" sz="2400" dirty="0">
                <a:ea typeface="Times New Roman" panose="02020603050405020304" pitchFamily="18" charset="0"/>
                <a:cs typeface="Calibri" panose="020F0502020204030204" pitchFamily="34" charset="0"/>
              </a:rPr>
              <a:t>You interview the Chief Scientist and discover she backs her research up to an online account, so she can access it at home and at the office.</a:t>
            </a:r>
          </a:p>
          <a:p>
            <a:pPr>
              <a:tabLst>
                <a:tab pos="5727700" algn="r"/>
              </a:tabLst>
            </a:pPr>
            <a:endParaRPr lang="en-GB" sz="2400" dirty="0">
              <a:ea typeface="Times New Roman" panose="02020603050405020304" pitchFamily="18" charset="0"/>
            </a:endParaRPr>
          </a:p>
          <a:p>
            <a:pPr>
              <a:tabLst>
                <a:tab pos="5727700" algn="r"/>
              </a:tabLst>
            </a:pPr>
            <a:r>
              <a:rPr lang="en-GB" sz="2400" dirty="0">
                <a:ea typeface="Times New Roman" panose="02020603050405020304" pitchFamily="18" charset="0"/>
                <a:cs typeface="Calibri" panose="020F0502020204030204" pitchFamily="34" charset="0"/>
              </a:rPr>
              <a:t>One possibility is that someone managed to find the password for this online account, log in to the backup and copy the data from there.</a:t>
            </a:r>
            <a:endParaRPr lang="en-GB" sz="2400" dirty="0">
              <a:ea typeface="Times New Roman" panose="02020603050405020304" pitchFamily="18" charset="0"/>
            </a:endParaRPr>
          </a:p>
        </p:txBody>
      </p:sp>
    </p:spTree>
    <p:extLst>
      <p:ext uri="{BB962C8B-B14F-4D97-AF65-F5344CB8AC3E}">
        <p14:creationId xmlns:p14="http://schemas.microsoft.com/office/powerpoint/2010/main" val="28231043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10356574" cy="845862"/>
          </a:xfrm>
        </p:spPr>
        <p:txBody>
          <a:bodyPr>
            <a:normAutofit fontScale="90000"/>
          </a:bodyPr>
          <a:lstStyle/>
          <a:p>
            <a:r>
              <a:rPr lang="en-GB" b="1" dirty="0">
                <a:solidFill>
                  <a:schemeClr val="bg1"/>
                </a:solidFill>
              </a:rPr>
              <a:t>What are the most commonly used passwords?</a:t>
            </a:r>
          </a:p>
        </p:txBody>
      </p:sp>
      <p:sp>
        <p:nvSpPr>
          <p:cNvPr id="3" name="Content Placeholder 2">
            <a:extLst>
              <a:ext uri="{FF2B5EF4-FFF2-40B4-BE49-F238E27FC236}">
                <a16:creationId xmlns:a16="http://schemas.microsoft.com/office/drawing/2014/main" id="{928FB485-6993-428E-81B4-749465982CC5}"/>
              </a:ext>
            </a:extLst>
          </p:cNvPr>
          <p:cNvSpPr>
            <a:spLocks noGrp="1"/>
          </p:cNvSpPr>
          <p:nvPr>
            <p:ph idx="1"/>
          </p:nvPr>
        </p:nvSpPr>
        <p:spPr>
          <a:xfrm>
            <a:off x="1600200" y="2296930"/>
            <a:ext cx="8696739" cy="3598774"/>
          </a:xfrm>
        </p:spPr>
        <p:txBody>
          <a:bodyPr>
            <a:normAutofit/>
          </a:bodyPr>
          <a:lstStyle/>
          <a:p>
            <a:pPr marL="0" indent="0">
              <a:buNone/>
            </a:pPr>
            <a:r>
              <a:rPr lang="en-GB" sz="2400" dirty="0"/>
              <a:t>The most commonly used passwords are:</a:t>
            </a:r>
          </a:p>
          <a:p>
            <a:r>
              <a:rPr lang="en-GB" sz="2400" dirty="0">
                <a:solidFill>
                  <a:srgbClr val="0070C0"/>
                </a:solidFill>
                <a:latin typeface="Arial" panose="020B0604020202020204" pitchFamily="34" charset="0"/>
                <a:cs typeface="Arial" panose="020B0604020202020204" pitchFamily="34" charset="0"/>
              </a:rPr>
              <a:t>password</a:t>
            </a:r>
          </a:p>
          <a:p>
            <a:r>
              <a:rPr lang="en-GB" sz="2400" dirty="0">
                <a:solidFill>
                  <a:schemeClr val="accent2">
                    <a:lumMod val="75000"/>
                  </a:schemeClr>
                </a:solidFill>
                <a:latin typeface="Baskerville Old Face" panose="02020602080505020303" pitchFamily="18" charset="77"/>
              </a:rPr>
              <a:t>qwerty</a:t>
            </a:r>
          </a:p>
          <a:p>
            <a:r>
              <a:rPr lang="en-GB" sz="2400" dirty="0">
                <a:solidFill>
                  <a:schemeClr val="accent6">
                    <a:lumMod val="75000"/>
                  </a:schemeClr>
                </a:solidFill>
                <a:latin typeface="Bradley Hand" pitchFamily="2" charset="77"/>
              </a:rPr>
              <a:t>12345</a:t>
            </a:r>
          </a:p>
          <a:p>
            <a:r>
              <a:rPr lang="en-GB" sz="2400" dirty="0">
                <a:solidFill>
                  <a:srgbClr val="7030A0"/>
                </a:solidFill>
                <a:latin typeface="Harrington" pitchFamily="82" charset="77"/>
              </a:rPr>
              <a:t>11111</a:t>
            </a:r>
          </a:p>
          <a:p>
            <a:r>
              <a:rPr lang="en-GB" sz="2400" dirty="0">
                <a:solidFill>
                  <a:srgbClr val="C00000"/>
                </a:solidFill>
                <a:latin typeface="Chalkboard" panose="03050602040202020205" pitchFamily="66" charset="77"/>
              </a:rPr>
              <a:t>password1</a:t>
            </a:r>
          </a:p>
          <a:p>
            <a:pPr marL="0" indent="0">
              <a:buNone/>
            </a:pPr>
            <a:r>
              <a:rPr lang="en-GB" sz="2400" dirty="0"/>
              <a:t>The names of local football teams and celebrities are also commonly used passwords.</a:t>
            </a:r>
          </a:p>
        </p:txBody>
      </p:sp>
    </p:spTree>
    <p:extLst>
      <p:ext uri="{BB962C8B-B14F-4D97-AF65-F5344CB8AC3E}">
        <p14:creationId xmlns:p14="http://schemas.microsoft.com/office/powerpoint/2010/main" val="3538170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 calcmode="lin" valueType="num">
                                      <p:cBhvr additive="base">
                                        <p:cTn id="2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 calcmode="lin" valueType="num">
                                      <p:cBhvr additive="base">
                                        <p:cTn id="3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10356574" cy="845862"/>
          </a:xfrm>
        </p:spPr>
        <p:txBody>
          <a:bodyPr>
            <a:normAutofit/>
          </a:bodyPr>
          <a:lstStyle/>
          <a:p>
            <a:r>
              <a:rPr lang="en-GB" b="1" dirty="0">
                <a:solidFill>
                  <a:schemeClr val="bg1"/>
                </a:solidFill>
              </a:rPr>
              <a:t>Why do people use common passwords?</a:t>
            </a:r>
          </a:p>
        </p:txBody>
      </p:sp>
      <p:sp>
        <p:nvSpPr>
          <p:cNvPr id="3" name="Content Placeholder 2">
            <a:extLst>
              <a:ext uri="{FF2B5EF4-FFF2-40B4-BE49-F238E27FC236}">
                <a16:creationId xmlns:a16="http://schemas.microsoft.com/office/drawing/2014/main" id="{928FB485-6993-428E-81B4-749465982CC5}"/>
              </a:ext>
            </a:extLst>
          </p:cNvPr>
          <p:cNvSpPr>
            <a:spLocks noGrp="1"/>
          </p:cNvSpPr>
          <p:nvPr>
            <p:ph idx="1"/>
          </p:nvPr>
        </p:nvSpPr>
        <p:spPr>
          <a:xfrm>
            <a:off x="1600200" y="2123799"/>
            <a:ext cx="8696739" cy="4351338"/>
          </a:xfrm>
        </p:spPr>
        <p:txBody>
          <a:bodyPr>
            <a:normAutofit/>
          </a:bodyPr>
          <a:lstStyle/>
          <a:p>
            <a:pPr marL="0" indent="0">
              <a:buNone/>
            </a:pPr>
            <a:r>
              <a:rPr lang="en-GB" sz="2400" dirty="0"/>
              <a:t>People use these passwords because they are:</a:t>
            </a:r>
          </a:p>
          <a:p>
            <a:pPr lvl="0"/>
            <a:r>
              <a:rPr lang="en-GB" sz="2400" dirty="0"/>
              <a:t>easy to remember</a:t>
            </a:r>
          </a:p>
          <a:p>
            <a:pPr lvl="0"/>
            <a:r>
              <a:rPr lang="en-GB" sz="2400" dirty="0"/>
              <a:t>quick to type.</a:t>
            </a:r>
          </a:p>
          <a:p>
            <a:pPr marL="0" indent="0">
              <a:buNone/>
            </a:pPr>
            <a:endParaRPr lang="en-GB" sz="2400" dirty="0"/>
          </a:p>
          <a:p>
            <a:pPr marL="0" indent="0">
              <a:buNone/>
            </a:pPr>
            <a:r>
              <a:rPr lang="en-GB" sz="2400" dirty="0"/>
              <a:t>Most people have lots of online accounts and use one password for them all.</a:t>
            </a:r>
          </a:p>
        </p:txBody>
      </p:sp>
    </p:spTree>
    <p:extLst>
      <p:ext uri="{BB962C8B-B14F-4D97-AF65-F5344CB8AC3E}">
        <p14:creationId xmlns:p14="http://schemas.microsoft.com/office/powerpoint/2010/main" val="2655203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10591800" cy="845862"/>
          </a:xfrm>
        </p:spPr>
        <p:txBody>
          <a:bodyPr>
            <a:normAutofit/>
          </a:bodyPr>
          <a:lstStyle/>
          <a:p>
            <a:r>
              <a:rPr lang="en-GB" sz="3600" b="1" dirty="0">
                <a:solidFill>
                  <a:schemeClr val="bg1"/>
                </a:solidFill>
              </a:rPr>
              <a:t>What’s wrong with using an easy to guess password?</a:t>
            </a:r>
          </a:p>
        </p:txBody>
      </p:sp>
      <p:sp>
        <p:nvSpPr>
          <p:cNvPr id="3" name="Content Placeholder 2">
            <a:extLst>
              <a:ext uri="{FF2B5EF4-FFF2-40B4-BE49-F238E27FC236}">
                <a16:creationId xmlns:a16="http://schemas.microsoft.com/office/drawing/2014/main" id="{928FB485-6993-428E-81B4-749465982CC5}"/>
              </a:ext>
            </a:extLst>
          </p:cNvPr>
          <p:cNvSpPr>
            <a:spLocks noGrp="1"/>
          </p:cNvSpPr>
          <p:nvPr>
            <p:ph idx="1"/>
          </p:nvPr>
        </p:nvSpPr>
        <p:spPr>
          <a:xfrm>
            <a:off x="1600200" y="2133738"/>
            <a:ext cx="8806543" cy="4058340"/>
          </a:xfrm>
        </p:spPr>
        <p:txBody>
          <a:bodyPr>
            <a:normAutofit/>
          </a:bodyPr>
          <a:lstStyle/>
          <a:p>
            <a:pPr marL="0" indent="0">
              <a:buNone/>
            </a:pPr>
            <a:r>
              <a:rPr lang="en-GB" sz="2400" dirty="0"/>
              <a:t>It’s a terrible idea to use one of the most commonly used passwords.</a:t>
            </a:r>
          </a:p>
          <a:p>
            <a:r>
              <a:rPr lang="en-GB" sz="2400" dirty="0"/>
              <a:t>They are easy to guess and can be quickly identified with a </a:t>
            </a:r>
            <a:r>
              <a:rPr lang="en-GB" sz="2400" b="1" dirty="0">
                <a:solidFill>
                  <a:srgbClr val="92D050"/>
                </a:solidFill>
              </a:rPr>
              <a:t>brute force attack</a:t>
            </a:r>
            <a:r>
              <a:rPr lang="en-GB" sz="2400" dirty="0"/>
              <a:t>.</a:t>
            </a:r>
          </a:p>
          <a:p>
            <a:r>
              <a:rPr lang="en-GB" sz="2400" dirty="0"/>
              <a:t>If someone wants to log into your account but doesn’t know the password, they can use a computer program that tries every possible combination of letters, numbers, and symbols until it breaks in.</a:t>
            </a:r>
          </a:p>
          <a:p>
            <a:r>
              <a:rPr lang="en-GB" sz="2400" dirty="0"/>
              <a:t>The software will try the most common passwords first, so the more common your password the quicker it will be identified.</a:t>
            </a:r>
          </a:p>
        </p:txBody>
      </p:sp>
    </p:spTree>
    <p:extLst>
      <p:ext uri="{BB962C8B-B14F-4D97-AF65-F5344CB8AC3E}">
        <p14:creationId xmlns:p14="http://schemas.microsoft.com/office/powerpoint/2010/main" val="1371733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10591800" cy="845862"/>
          </a:xfrm>
        </p:spPr>
        <p:txBody>
          <a:bodyPr>
            <a:normAutofit/>
          </a:bodyPr>
          <a:lstStyle/>
          <a:p>
            <a:r>
              <a:rPr lang="en-GB" b="1" dirty="0">
                <a:solidFill>
                  <a:schemeClr val="bg1"/>
                </a:solidFill>
              </a:rPr>
              <a:t>What makes a password hard to identify?</a:t>
            </a:r>
          </a:p>
        </p:txBody>
      </p:sp>
      <p:sp>
        <p:nvSpPr>
          <p:cNvPr id="3" name="Content Placeholder 2">
            <a:extLst>
              <a:ext uri="{FF2B5EF4-FFF2-40B4-BE49-F238E27FC236}">
                <a16:creationId xmlns:a16="http://schemas.microsoft.com/office/drawing/2014/main" id="{928FB485-6993-428E-81B4-749465982CC5}"/>
              </a:ext>
            </a:extLst>
          </p:cNvPr>
          <p:cNvSpPr>
            <a:spLocks noGrp="1"/>
          </p:cNvSpPr>
          <p:nvPr>
            <p:ph idx="1"/>
          </p:nvPr>
        </p:nvSpPr>
        <p:spPr>
          <a:xfrm>
            <a:off x="1600200" y="1987826"/>
            <a:ext cx="9529354" cy="4502426"/>
          </a:xfrm>
        </p:spPr>
        <p:txBody>
          <a:bodyPr>
            <a:noAutofit/>
          </a:bodyPr>
          <a:lstStyle/>
          <a:p>
            <a:pPr marL="0" indent="0">
              <a:buNone/>
            </a:pPr>
            <a:r>
              <a:rPr lang="en-GB" sz="2400" dirty="0"/>
              <a:t>A password is much harder to identify if it is a mixture of the following:</a:t>
            </a:r>
          </a:p>
          <a:p>
            <a:pPr lvl="0"/>
            <a:r>
              <a:rPr lang="en-GB" sz="2400" dirty="0"/>
              <a:t>upper case letters (A B C D E, etc.)</a:t>
            </a:r>
          </a:p>
          <a:p>
            <a:pPr lvl="0"/>
            <a:r>
              <a:rPr lang="en-GB" sz="2400" dirty="0"/>
              <a:t>lower case letters (a b c d e, etc.)</a:t>
            </a:r>
          </a:p>
          <a:p>
            <a:pPr lvl="0"/>
            <a:r>
              <a:rPr lang="en-GB" sz="2400" dirty="0"/>
              <a:t>digits (1 2 3 4 5, etc.)</a:t>
            </a:r>
          </a:p>
          <a:p>
            <a:pPr lvl="0"/>
            <a:r>
              <a:rPr lang="en-GB" sz="2400" dirty="0"/>
              <a:t>special characters (! £ $ %, etc.)</a:t>
            </a:r>
          </a:p>
          <a:p>
            <a:pPr marL="0" indent="0">
              <a:buNone/>
            </a:pPr>
            <a:r>
              <a:rPr lang="en-GB" sz="2400" dirty="0"/>
              <a:t>Passwords that are harder to identify are also harder to remember, so a good technique to create a strong but memorable password is to base it on a phrase or song lyric.</a:t>
            </a:r>
          </a:p>
          <a:p>
            <a:pPr marL="0" indent="0">
              <a:buNone/>
            </a:pPr>
            <a:r>
              <a:rPr lang="en-GB" sz="2400" dirty="0"/>
              <a:t>For example, the song lyrics ‘Twinkle twinkle little star, How I wonder what you are’ become the password ‘</a:t>
            </a:r>
            <a:r>
              <a:rPr lang="en-GB" sz="2400" dirty="0" err="1"/>
              <a:t>Ttls,H1wwya</a:t>
            </a:r>
            <a:r>
              <a:rPr lang="en-GB" sz="2400" dirty="0"/>
              <a:t>’</a:t>
            </a:r>
          </a:p>
        </p:txBody>
      </p:sp>
    </p:spTree>
    <p:extLst>
      <p:ext uri="{BB962C8B-B14F-4D97-AF65-F5344CB8AC3E}">
        <p14:creationId xmlns:p14="http://schemas.microsoft.com/office/powerpoint/2010/main" val="3213447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 calcmode="lin" valueType="num">
                                      <p:cBhvr additive="base">
                                        <p:cTn id="2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7"/>
            <a:ext cx="10296940" cy="855801"/>
          </a:xfrm>
        </p:spPr>
        <p:txBody>
          <a:bodyPr>
            <a:noAutofit/>
          </a:bodyPr>
          <a:lstStyle/>
          <a:p>
            <a:r>
              <a:rPr lang="en-GB" b="1" dirty="0">
                <a:solidFill>
                  <a:schemeClr val="bg1"/>
                </a:solidFill>
              </a:rPr>
              <a:t>Activity 2.1: Password security</a:t>
            </a:r>
          </a:p>
        </p:txBody>
      </p:sp>
      <p:pic>
        <p:nvPicPr>
          <p:cNvPr id="4" name="Picture 3" descr="A picture containing athletic game, basketball, sport&#10;&#10;Description automatically generated">
            <a:extLst>
              <a:ext uri="{FF2B5EF4-FFF2-40B4-BE49-F238E27FC236}">
                <a16:creationId xmlns:a16="http://schemas.microsoft.com/office/drawing/2014/main" id="{ADA501D9-3424-469A-AA63-241FDFEB35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27611" y="1947016"/>
            <a:ext cx="4536777" cy="4445076"/>
          </a:xfrm>
          <a:prstGeom prst="rect">
            <a:avLst/>
          </a:prstGeom>
        </p:spPr>
      </p:pic>
    </p:spTree>
    <p:extLst>
      <p:ext uri="{BB962C8B-B14F-4D97-AF65-F5344CB8AC3E}">
        <p14:creationId xmlns:p14="http://schemas.microsoft.com/office/powerpoint/2010/main" val="2905421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8728166" cy="845862"/>
          </a:xfrm>
        </p:spPr>
        <p:txBody>
          <a:bodyPr>
            <a:noAutofit/>
          </a:bodyPr>
          <a:lstStyle/>
          <a:p>
            <a:r>
              <a:rPr lang="en-GB" sz="3200" b="1" dirty="0">
                <a:solidFill>
                  <a:schemeClr val="bg1"/>
                </a:solidFill>
              </a:rPr>
              <a:t>Once someone has come up with a secure password, should they use it for everything?</a:t>
            </a:r>
          </a:p>
        </p:txBody>
      </p:sp>
      <p:sp>
        <p:nvSpPr>
          <p:cNvPr id="3" name="Content Placeholder 2">
            <a:extLst>
              <a:ext uri="{FF2B5EF4-FFF2-40B4-BE49-F238E27FC236}">
                <a16:creationId xmlns:a16="http://schemas.microsoft.com/office/drawing/2014/main" id="{928FB485-6993-428E-81B4-749465982CC5}"/>
              </a:ext>
            </a:extLst>
          </p:cNvPr>
          <p:cNvSpPr>
            <a:spLocks noGrp="1"/>
          </p:cNvSpPr>
          <p:nvPr>
            <p:ph idx="1"/>
          </p:nvPr>
        </p:nvSpPr>
        <p:spPr>
          <a:xfrm>
            <a:off x="4214191" y="2524540"/>
            <a:ext cx="4094922" cy="2216426"/>
          </a:xfrm>
        </p:spPr>
        <p:txBody>
          <a:bodyPr>
            <a:normAutofit fontScale="62500" lnSpcReduction="20000"/>
          </a:bodyPr>
          <a:lstStyle/>
          <a:p>
            <a:pPr marL="0" indent="0">
              <a:buNone/>
            </a:pPr>
            <a:r>
              <a:rPr lang="en-GB" sz="28800" dirty="0">
                <a:solidFill>
                  <a:srgbClr val="FF0000"/>
                </a:solidFill>
              </a:rPr>
              <a:t>NO!</a:t>
            </a:r>
            <a:endParaRPr lang="en-GB" dirty="0"/>
          </a:p>
        </p:txBody>
      </p:sp>
      <p:sp>
        <p:nvSpPr>
          <p:cNvPr id="4" name="Rectangle 3">
            <a:extLst>
              <a:ext uri="{FF2B5EF4-FFF2-40B4-BE49-F238E27FC236}">
                <a16:creationId xmlns:a16="http://schemas.microsoft.com/office/drawing/2014/main" id="{82B55947-EF8C-E643-BB1D-1653AF91BF9D}"/>
              </a:ext>
            </a:extLst>
          </p:cNvPr>
          <p:cNvSpPr/>
          <p:nvPr/>
        </p:nvSpPr>
        <p:spPr>
          <a:xfrm>
            <a:off x="1600200" y="4740966"/>
            <a:ext cx="8797834" cy="830997"/>
          </a:xfrm>
          <a:prstGeom prst="rect">
            <a:avLst/>
          </a:prstGeom>
        </p:spPr>
        <p:txBody>
          <a:bodyPr wrap="square">
            <a:spAutoFit/>
          </a:bodyPr>
          <a:lstStyle/>
          <a:p>
            <a:r>
              <a:rPr lang="en-GB" sz="2400" dirty="0"/>
              <a:t>Using the same password on several sites means that, if one website is compromised, a hacker can access your other accounts.</a:t>
            </a:r>
          </a:p>
        </p:txBody>
      </p:sp>
    </p:spTree>
    <p:extLst>
      <p:ext uri="{BB962C8B-B14F-4D97-AF65-F5344CB8AC3E}">
        <p14:creationId xmlns:p14="http://schemas.microsoft.com/office/powerpoint/2010/main" val="3591248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7273834" cy="845862"/>
          </a:xfrm>
        </p:spPr>
        <p:txBody>
          <a:bodyPr>
            <a:noAutofit/>
          </a:bodyPr>
          <a:lstStyle/>
          <a:p>
            <a:r>
              <a:rPr lang="en-GB" sz="3200" b="1" dirty="0">
                <a:solidFill>
                  <a:schemeClr val="bg1"/>
                </a:solidFill>
              </a:rPr>
              <a:t>How can you remember all your passwords if you use a different one for every account? </a:t>
            </a:r>
          </a:p>
        </p:txBody>
      </p:sp>
      <p:sp>
        <p:nvSpPr>
          <p:cNvPr id="4" name="Rectangle 3">
            <a:extLst>
              <a:ext uri="{FF2B5EF4-FFF2-40B4-BE49-F238E27FC236}">
                <a16:creationId xmlns:a16="http://schemas.microsoft.com/office/drawing/2014/main" id="{82B55947-EF8C-E643-BB1D-1653AF91BF9D}"/>
              </a:ext>
            </a:extLst>
          </p:cNvPr>
          <p:cNvSpPr/>
          <p:nvPr/>
        </p:nvSpPr>
        <p:spPr>
          <a:xfrm>
            <a:off x="1669774" y="2286001"/>
            <a:ext cx="8676009" cy="3416320"/>
          </a:xfrm>
          <a:prstGeom prst="rect">
            <a:avLst/>
          </a:prstGeom>
        </p:spPr>
        <p:txBody>
          <a:bodyPr wrap="square">
            <a:spAutoFit/>
          </a:bodyPr>
          <a:lstStyle/>
          <a:p>
            <a:r>
              <a:rPr lang="en-GB" sz="2400" dirty="0"/>
              <a:t>There are no perfect solutions. Remembering dozens of unique passwords is almost impossible and writing them down somewhere is a big risk.</a:t>
            </a:r>
          </a:p>
          <a:p>
            <a:r>
              <a:rPr lang="en-GB" sz="2400" dirty="0"/>
              <a:t>One strategy is to use unique passwords for key accounts (banking, email, social media and so on) and worry less about websites that don’t include payment information.</a:t>
            </a:r>
          </a:p>
          <a:p>
            <a:r>
              <a:rPr lang="en-GB" sz="2400" dirty="0"/>
              <a:t>Another strategy is to use a password manager, a piece of software that you can use to store and retrieve passwords for different websites.</a:t>
            </a:r>
          </a:p>
        </p:txBody>
      </p:sp>
    </p:spTree>
    <p:extLst>
      <p:ext uri="{BB962C8B-B14F-4D97-AF65-F5344CB8AC3E}">
        <p14:creationId xmlns:p14="http://schemas.microsoft.com/office/powerpoint/2010/main" val="3974519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9015549" cy="845862"/>
          </a:xfrm>
        </p:spPr>
        <p:txBody>
          <a:bodyPr>
            <a:noAutofit/>
          </a:bodyPr>
          <a:lstStyle/>
          <a:p>
            <a:r>
              <a:rPr lang="en-GB" sz="3200" b="1" dirty="0">
                <a:solidFill>
                  <a:schemeClr val="bg1"/>
                </a:solidFill>
              </a:rPr>
              <a:t>Once someone has come up with a secure password, are there other ways to try and guess it? </a:t>
            </a:r>
          </a:p>
        </p:txBody>
      </p:sp>
      <p:sp>
        <p:nvSpPr>
          <p:cNvPr id="4" name="Rectangle 3">
            <a:extLst>
              <a:ext uri="{FF2B5EF4-FFF2-40B4-BE49-F238E27FC236}">
                <a16:creationId xmlns:a16="http://schemas.microsoft.com/office/drawing/2014/main" id="{82B55947-EF8C-E643-BB1D-1653AF91BF9D}"/>
              </a:ext>
            </a:extLst>
          </p:cNvPr>
          <p:cNvSpPr/>
          <p:nvPr/>
        </p:nvSpPr>
        <p:spPr>
          <a:xfrm>
            <a:off x="1669774" y="2286001"/>
            <a:ext cx="5645426" cy="3785652"/>
          </a:xfrm>
          <a:prstGeom prst="rect">
            <a:avLst/>
          </a:prstGeom>
        </p:spPr>
        <p:txBody>
          <a:bodyPr wrap="square">
            <a:spAutoFit/>
          </a:bodyPr>
          <a:lstStyle/>
          <a:p>
            <a:r>
              <a:rPr lang="en-GB" sz="2400" dirty="0"/>
              <a:t>There are two other threats to passwords.</a:t>
            </a:r>
          </a:p>
          <a:p>
            <a:r>
              <a:rPr lang="en-GB" sz="2400" dirty="0"/>
              <a:t>The first threat is from publicly accessible information.</a:t>
            </a:r>
          </a:p>
          <a:p>
            <a:r>
              <a:rPr lang="en-GB" sz="2400" dirty="0"/>
              <a:t>If you use the name of a favourite musician or sports personality, the name of your pet or your brother, or a key date like your birthday as part of your password, then a hacker can surf your social media to find out information about you that will help them guess your password.</a:t>
            </a:r>
          </a:p>
        </p:txBody>
      </p:sp>
      <p:pic>
        <p:nvPicPr>
          <p:cNvPr id="6" name="Picture 5">
            <a:extLst>
              <a:ext uri="{FF2B5EF4-FFF2-40B4-BE49-F238E27FC236}">
                <a16:creationId xmlns:a16="http://schemas.microsoft.com/office/drawing/2014/main" id="{97F7A739-E363-46EF-8691-88D4265142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93508" y="2286001"/>
            <a:ext cx="3422904" cy="3736848"/>
          </a:xfrm>
          <a:prstGeom prst="rect">
            <a:avLst/>
          </a:prstGeom>
        </p:spPr>
      </p:pic>
    </p:spTree>
    <p:extLst>
      <p:ext uri="{BB962C8B-B14F-4D97-AF65-F5344CB8AC3E}">
        <p14:creationId xmlns:p14="http://schemas.microsoft.com/office/powerpoint/2010/main" val="2513595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8815251" cy="845862"/>
          </a:xfrm>
        </p:spPr>
        <p:txBody>
          <a:bodyPr>
            <a:noAutofit/>
          </a:bodyPr>
          <a:lstStyle/>
          <a:p>
            <a:r>
              <a:rPr lang="en-GB" sz="3200" b="1" dirty="0">
                <a:solidFill>
                  <a:schemeClr val="bg1"/>
                </a:solidFill>
              </a:rPr>
              <a:t>Once someone has come up with a secure password, are there other ways to try and guess it? </a:t>
            </a:r>
          </a:p>
        </p:txBody>
      </p:sp>
      <p:sp>
        <p:nvSpPr>
          <p:cNvPr id="4" name="Rectangle 3">
            <a:extLst>
              <a:ext uri="{FF2B5EF4-FFF2-40B4-BE49-F238E27FC236}">
                <a16:creationId xmlns:a16="http://schemas.microsoft.com/office/drawing/2014/main" id="{82B55947-EF8C-E643-BB1D-1653AF91BF9D}"/>
              </a:ext>
            </a:extLst>
          </p:cNvPr>
          <p:cNvSpPr/>
          <p:nvPr/>
        </p:nvSpPr>
        <p:spPr>
          <a:xfrm>
            <a:off x="1669774" y="2286001"/>
            <a:ext cx="5000991" cy="2677656"/>
          </a:xfrm>
          <a:prstGeom prst="rect">
            <a:avLst/>
          </a:prstGeom>
        </p:spPr>
        <p:txBody>
          <a:bodyPr wrap="square">
            <a:spAutoFit/>
          </a:bodyPr>
          <a:lstStyle/>
          <a:p>
            <a:r>
              <a:rPr lang="en-GB" sz="2400" dirty="0"/>
              <a:t>The second threat is </a:t>
            </a:r>
            <a:r>
              <a:rPr lang="en-GB" sz="2400" b="1" dirty="0">
                <a:solidFill>
                  <a:srgbClr val="92D050"/>
                </a:solidFill>
              </a:rPr>
              <a:t>shoulder surfing</a:t>
            </a:r>
            <a:r>
              <a:rPr lang="en-GB" sz="2400" dirty="0"/>
              <a:t>.</a:t>
            </a:r>
          </a:p>
          <a:p>
            <a:r>
              <a:rPr lang="en-GB" sz="2400" dirty="0"/>
              <a:t>It is surprisingly easy for someone to look over your shoulder as you enter your password. This is why you should be especially careful entering passwords into your devices in public places.</a:t>
            </a:r>
          </a:p>
        </p:txBody>
      </p:sp>
      <p:pic>
        <p:nvPicPr>
          <p:cNvPr id="6" name="Picture 5">
            <a:extLst>
              <a:ext uri="{FF2B5EF4-FFF2-40B4-BE49-F238E27FC236}">
                <a16:creationId xmlns:a16="http://schemas.microsoft.com/office/drawing/2014/main" id="{80869074-CA5D-40DC-9B32-96880FD77259}"/>
              </a:ext>
            </a:extLst>
          </p:cNvPr>
          <p:cNvPicPr>
            <a:picLocks noChangeAspect="1"/>
          </p:cNvPicPr>
          <p:nvPr/>
        </p:nvPicPr>
        <p:blipFill rotWithShape="1">
          <a:blip r:embed="rId2">
            <a:extLst>
              <a:ext uri="{28A0092B-C50C-407E-A947-70E740481C1C}">
                <a14:useLocalDpi xmlns:a14="http://schemas.microsoft.com/office/drawing/2010/main" val="0"/>
              </a:ext>
            </a:extLst>
          </a:blip>
          <a:srcRect t="15238"/>
          <a:stretch/>
        </p:blipFill>
        <p:spPr>
          <a:xfrm>
            <a:off x="6938649" y="1762196"/>
            <a:ext cx="3583577" cy="4556262"/>
          </a:xfrm>
          <a:prstGeom prst="rect">
            <a:avLst/>
          </a:prstGeom>
        </p:spPr>
      </p:pic>
    </p:spTree>
    <p:extLst>
      <p:ext uri="{BB962C8B-B14F-4D97-AF65-F5344CB8AC3E}">
        <p14:creationId xmlns:p14="http://schemas.microsoft.com/office/powerpoint/2010/main" val="327020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9760226" cy="845862"/>
          </a:xfrm>
        </p:spPr>
        <p:txBody>
          <a:bodyPr>
            <a:noAutofit/>
          </a:bodyPr>
          <a:lstStyle/>
          <a:p>
            <a:r>
              <a:rPr lang="en-GB" sz="3200" b="1" dirty="0">
                <a:solidFill>
                  <a:schemeClr val="bg1"/>
                </a:solidFill>
              </a:rPr>
              <a:t>What else can an organisation do to make sure passwords are safe and secure?</a:t>
            </a:r>
          </a:p>
        </p:txBody>
      </p:sp>
      <p:sp>
        <p:nvSpPr>
          <p:cNvPr id="4" name="Rectangle 3">
            <a:extLst>
              <a:ext uri="{FF2B5EF4-FFF2-40B4-BE49-F238E27FC236}">
                <a16:creationId xmlns:a16="http://schemas.microsoft.com/office/drawing/2014/main" id="{82B55947-EF8C-E643-BB1D-1653AF91BF9D}"/>
              </a:ext>
            </a:extLst>
          </p:cNvPr>
          <p:cNvSpPr/>
          <p:nvPr/>
        </p:nvSpPr>
        <p:spPr>
          <a:xfrm>
            <a:off x="1600200" y="1960892"/>
            <a:ext cx="9085312" cy="4524315"/>
          </a:xfrm>
          <a:prstGeom prst="rect">
            <a:avLst/>
          </a:prstGeom>
        </p:spPr>
        <p:txBody>
          <a:bodyPr wrap="square">
            <a:spAutoFit/>
          </a:bodyPr>
          <a:lstStyle/>
          <a:p>
            <a:r>
              <a:rPr lang="en-GB" sz="2400" dirty="0"/>
              <a:t>An organisation can establish a </a:t>
            </a:r>
            <a:r>
              <a:rPr lang="en-GB" sz="2400" b="1" dirty="0">
                <a:solidFill>
                  <a:srgbClr val="92D050"/>
                </a:solidFill>
              </a:rPr>
              <a:t>password policy</a:t>
            </a:r>
            <a:r>
              <a:rPr lang="en-GB" sz="2400" dirty="0"/>
              <a:t>.</a:t>
            </a:r>
          </a:p>
          <a:p>
            <a:r>
              <a:rPr lang="en-GB" sz="2400" dirty="0"/>
              <a:t>This is a set of rules for passwords, that everyone in the organisation has to follow.</a:t>
            </a:r>
            <a:r>
              <a:rPr lang="en-GB" sz="2400" b="1" dirty="0">
                <a:solidFill>
                  <a:srgbClr val="92D050"/>
                </a:solidFill>
              </a:rPr>
              <a:t> </a:t>
            </a:r>
          </a:p>
          <a:p>
            <a:r>
              <a:rPr lang="en-GB" sz="2400" dirty="0"/>
              <a:t>Here are some rules that many organisations have:</a:t>
            </a:r>
          </a:p>
          <a:p>
            <a:pPr marL="342900" lvl="0" indent="-342900">
              <a:buFont typeface="Arial" panose="020B0604020202020204" pitchFamily="34" charset="0"/>
              <a:buChar char="•"/>
            </a:pPr>
            <a:r>
              <a:rPr lang="en-GB" sz="2400" dirty="0"/>
              <a:t>Passwords must be a minimum length.</a:t>
            </a:r>
          </a:p>
          <a:p>
            <a:pPr marL="342900" lvl="0" indent="-342900">
              <a:buFont typeface="Arial" panose="020B0604020202020204" pitchFamily="34" charset="0"/>
              <a:buChar char="•"/>
            </a:pPr>
            <a:r>
              <a:rPr lang="en-GB" sz="2400" dirty="0"/>
              <a:t>Password must contain a mixture of upper-case and lower-case letters, digits and special characters.</a:t>
            </a:r>
          </a:p>
          <a:p>
            <a:pPr marL="342900" lvl="0" indent="-342900">
              <a:buFont typeface="Arial" panose="020B0604020202020204" pitchFamily="34" charset="0"/>
              <a:buChar char="•"/>
            </a:pPr>
            <a:r>
              <a:rPr lang="en-GB" sz="2400" dirty="0"/>
              <a:t>There is a time limit on each password and users are forced to change their password frequently. This means that, even if a password is compromised, it will be changed shortly.</a:t>
            </a:r>
          </a:p>
          <a:p>
            <a:r>
              <a:rPr lang="en-GB" sz="2400" dirty="0"/>
              <a:t>These rules can make passwords hard to remember, so there isn't a perfect solution.</a:t>
            </a:r>
          </a:p>
        </p:txBody>
      </p:sp>
    </p:spTree>
    <p:extLst>
      <p:ext uri="{BB962C8B-B14F-4D97-AF65-F5344CB8AC3E}">
        <p14:creationId xmlns:p14="http://schemas.microsoft.com/office/powerpoint/2010/main" val="41301956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anim calcmode="lin" valueType="num">
                                      <p:cBhvr additive="base">
                                        <p:cTn id="19" dur="500" fill="hold"/>
                                        <p:tgtEl>
                                          <p:spTgt spid="4">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anim calcmode="lin" valueType="num">
                                      <p:cBhvr additive="base">
                                        <p:cTn id="25"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4">
                                            <p:txEl>
                                              <p:pRg st="5" end="5"/>
                                            </p:txEl>
                                          </p:spTgt>
                                        </p:tgtEl>
                                        <p:attrNameLst>
                                          <p:attrName>style.visibility</p:attrName>
                                        </p:attrNameLst>
                                      </p:cBhvr>
                                      <p:to>
                                        <p:strVal val="visible"/>
                                      </p:to>
                                    </p:set>
                                    <p:anim calcmode="lin" valueType="num">
                                      <p:cBhvr additive="base">
                                        <p:cTn id="31"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4">
                                            <p:txEl>
                                              <p:pRg st="6" end="6"/>
                                            </p:txEl>
                                          </p:spTgt>
                                        </p:tgtEl>
                                        <p:attrNameLst>
                                          <p:attrName>style.visibility</p:attrName>
                                        </p:attrNameLst>
                                      </p:cBhvr>
                                      <p:to>
                                        <p:strVal val="visible"/>
                                      </p:to>
                                    </p:set>
                                    <p:anim calcmode="lin" valueType="num">
                                      <p:cBhvr additive="base">
                                        <p:cTn id="37"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4">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7"/>
            <a:ext cx="10296940" cy="855801"/>
          </a:xfrm>
        </p:spPr>
        <p:txBody>
          <a:bodyPr>
            <a:noAutofit/>
          </a:bodyPr>
          <a:lstStyle/>
          <a:p>
            <a:r>
              <a:rPr lang="en-GB" b="1" dirty="0">
                <a:solidFill>
                  <a:schemeClr val="bg1"/>
                </a:solidFill>
              </a:rPr>
              <a:t>Activity 2.2: Password policy</a:t>
            </a:r>
          </a:p>
        </p:txBody>
      </p:sp>
      <p:sp>
        <p:nvSpPr>
          <p:cNvPr id="4" name="Rectangle 3">
            <a:extLst>
              <a:ext uri="{FF2B5EF4-FFF2-40B4-BE49-F238E27FC236}">
                <a16:creationId xmlns:a16="http://schemas.microsoft.com/office/drawing/2014/main" id="{59F08524-B22C-C74B-B795-344D79D81EDD}"/>
              </a:ext>
            </a:extLst>
          </p:cNvPr>
          <p:cNvSpPr/>
          <p:nvPr/>
        </p:nvSpPr>
        <p:spPr>
          <a:xfrm>
            <a:off x="6820247" y="3056773"/>
            <a:ext cx="4187687" cy="2308324"/>
          </a:xfrm>
          <a:prstGeom prst="rect">
            <a:avLst/>
          </a:prstGeom>
        </p:spPr>
        <p:txBody>
          <a:bodyPr wrap="square">
            <a:spAutoFit/>
          </a:bodyPr>
          <a:lstStyle/>
          <a:p>
            <a:r>
              <a:rPr lang="en-GB" sz="2400" dirty="0">
                <a:ea typeface="Times New Roman" panose="02020603050405020304" pitchFamily="18" charset="0"/>
                <a:cs typeface="Calibri" panose="020F0502020204030204" pitchFamily="34" charset="0"/>
              </a:rPr>
              <a:t>Using everything you know about password security and shoulder surfing, devise a password policy for the International Space Organisation.</a:t>
            </a:r>
            <a:endParaRPr lang="en-GB" sz="2400" dirty="0">
              <a:ea typeface="Times New Roman" panose="02020603050405020304" pitchFamily="18" charset="0"/>
            </a:endParaRPr>
          </a:p>
        </p:txBody>
      </p:sp>
      <p:pic>
        <p:nvPicPr>
          <p:cNvPr id="5" name="Picture 4" descr="A picture containing athletic game, basketball, sport&#10;&#10;Description automatically generated">
            <a:extLst>
              <a:ext uri="{FF2B5EF4-FFF2-40B4-BE49-F238E27FC236}">
                <a16:creationId xmlns:a16="http://schemas.microsoft.com/office/drawing/2014/main" id="{88A8F318-AA76-4041-A2A5-6423832564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59223" y="1988397"/>
            <a:ext cx="4536777" cy="4445076"/>
          </a:xfrm>
          <a:prstGeom prst="rect">
            <a:avLst/>
          </a:prstGeom>
        </p:spPr>
      </p:pic>
    </p:spTree>
    <p:extLst>
      <p:ext uri="{BB962C8B-B14F-4D97-AF65-F5344CB8AC3E}">
        <p14:creationId xmlns:p14="http://schemas.microsoft.com/office/powerpoint/2010/main" val="5459937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9760226" cy="845862"/>
          </a:xfrm>
        </p:spPr>
        <p:txBody>
          <a:bodyPr>
            <a:noAutofit/>
          </a:bodyPr>
          <a:lstStyle/>
          <a:p>
            <a:r>
              <a:rPr lang="en-GB" b="1" dirty="0">
                <a:solidFill>
                  <a:schemeClr val="bg1"/>
                </a:solidFill>
              </a:rPr>
              <a:t>What do you know about phishing?</a:t>
            </a:r>
          </a:p>
        </p:txBody>
      </p:sp>
      <p:sp>
        <p:nvSpPr>
          <p:cNvPr id="4" name="Rectangle 3">
            <a:extLst>
              <a:ext uri="{FF2B5EF4-FFF2-40B4-BE49-F238E27FC236}">
                <a16:creationId xmlns:a16="http://schemas.microsoft.com/office/drawing/2014/main" id="{82B55947-EF8C-E643-BB1D-1653AF91BF9D}"/>
              </a:ext>
            </a:extLst>
          </p:cNvPr>
          <p:cNvSpPr/>
          <p:nvPr/>
        </p:nvSpPr>
        <p:spPr>
          <a:xfrm>
            <a:off x="1600200" y="1899934"/>
            <a:ext cx="5149037" cy="3416320"/>
          </a:xfrm>
          <a:prstGeom prst="rect">
            <a:avLst/>
          </a:prstGeom>
        </p:spPr>
        <p:txBody>
          <a:bodyPr wrap="square">
            <a:spAutoFit/>
          </a:bodyPr>
          <a:lstStyle/>
          <a:p>
            <a:r>
              <a:rPr lang="en-GB" sz="2400" b="1" dirty="0">
                <a:solidFill>
                  <a:srgbClr val="92D050"/>
                </a:solidFill>
              </a:rPr>
              <a:t>Phishing</a:t>
            </a:r>
            <a:r>
              <a:rPr lang="en-GB" sz="2400" dirty="0"/>
              <a:t> is a common scam.</a:t>
            </a:r>
          </a:p>
          <a:p>
            <a:r>
              <a:rPr lang="en-GB" sz="2400" dirty="0"/>
              <a:t>Someone sends you an email that pretends to be from a legitimate source, such as a bank or a big trusted company like Amazon or BT. The emails usually use a pressure tactic, for example, threatening to close your account, and contain a </a:t>
            </a:r>
            <a:r>
              <a:rPr lang="en-GB" sz="2400" b="1" dirty="0">
                <a:solidFill>
                  <a:srgbClr val="92D050"/>
                </a:solidFill>
              </a:rPr>
              <a:t>hyperlink</a:t>
            </a:r>
            <a:r>
              <a:rPr lang="en-GB" sz="2400" dirty="0"/>
              <a:t> for the user to click on.</a:t>
            </a:r>
          </a:p>
        </p:txBody>
      </p:sp>
      <p:pic>
        <p:nvPicPr>
          <p:cNvPr id="6" name="Picture 5" descr="A picture containing water, boat, sky, outdoor&#10;&#10;Description automatically generated">
            <a:extLst>
              <a:ext uri="{FF2B5EF4-FFF2-40B4-BE49-F238E27FC236}">
                <a16:creationId xmlns:a16="http://schemas.microsoft.com/office/drawing/2014/main" id="{D0C9B981-2E8B-432B-A700-9E508B8D8F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10400" y="1899934"/>
            <a:ext cx="4595837" cy="3058132"/>
          </a:xfrm>
          <a:prstGeom prst="rect">
            <a:avLst/>
          </a:prstGeom>
        </p:spPr>
      </p:pic>
      <p:sp>
        <p:nvSpPr>
          <p:cNvPr id="7" name="Rectangle 6">
            <a:extLst>
              <a:ext uri="{FF2B5EF4-FFF2-40B4-BE49-F238E27FC236}">
                <a16:creationId xmlns:a16="http://schemas.microsoft.com/office/drawing/2014/main" id="{BDCE226D-D6DD-468B-8E0E-12EE295FA27A}"/>
              </a:ext>
            </a:extLst>
          </p:cNvPr>
          <p:cNvSpPr/>
          <p:nvPr/>
        </p:nvSpPr>
        <p:spPr>
          <a:xfrm>
            <a:off x="1600200" y="5167312"/>
            <a:ext cx="9512032" cy="1200329"/>
          </a:xfrm>
          <a:prstGeom prst="rect">
            <a:avLst/>
          </a:prstGeom>
        </p:spPr>
        <p:txBody>
          <a:bodyPr wrap="square">
            <a:spAutoFit/>
          </a:bodyPr>
          <a:lstStyle/>
          <a:p>
            <a:r>
              <a:rPr lang="en-GB" sz="2400" dirty="0"/>
              <a:t>This hyperlink will take you to a fake website that looks real, where you will be asked to log in. The scammers have now discovered your password and can use it to log in to your real account.</a:t>
            </a:r>
          </a:p>
        </p:txBody>
      </p:sp>
    </p:spTree>
    <p:extLst>
      <p:ext uri="{BB962C8B-B14F-4D97-AF65-F5344CB8AC3E}">
        <p14:creationId xmlns:p14="http://schemas.microsoft.com/office/powerpoint/2010/main" val="244769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9760226" cy="845862"/>
          </a:xfrm>
        </p:spPr>
        <p:txBody>
          <a:bodyPr>
            <a:noAutofit/>
          </a:bodyPr>
          <a:lstStyle/>
          <a:p>
            <a:r>
              <a:rPr lang="en-GB" b="1" dirty="0">
                <a:solidFill>
                  <a:schemeClr val="bg1"/>
                </a:solidFill>
              </a:rPr>
              <a:t>How do you spot a phishing email?</a:t>
            </a:r>
          </a:p>
        </p:txBody>
      </p:sp>
      <p:sp>
        <p:nvSpPr>
          <p:cNvPr id="4" name="Rectangle 3">
            <a:extLst>
              <a:ext uri="{FF2B5EF4-FFF2-40B4-BE49-F238E27FC236}">
                <a16:creationId xmlns:a16="http://schemas.microsoft.com/office/drawing/2014/main" id="{82B55947-EF8C-E643-BB1D-1653AF91BF9D}"/>
              </a:ext>
            </a:extLst>
          </p:cNvPr>
          <p:cNvSpPr/>
          <p:nvPr/>
        </p:nvSpPr>
        <p:spPr>
          <a:xfrm>
            <a:off x="1600200" y="1795076"/>
            <a:ext cx="8517835" cy="4093428"/>
          </a:xfrm>
          <a:prstGeom prst="rect">
            <a:avLst/>
          </a:prstGeom>
        </p:spPr>
        <p:txBody>
          <a:bodyPr wrap="square">
            <a:spAutoFit/>
          </a:bodyPr>
          <a:lstStyle/>
          <a:p>
            <a:r>
              <a:rPr lang="en-GB" sz="2000" dirty="0"/>
              <a:t>Common features of phishing emails include:</a:t>
            </a:r>
          </a:p>
          <a:p>
            <a:pPr marL="342900" lvl="0" indent="-342900">
              <a:buFont typeface="Arial" panose="020B0604020202020204" pitchFamily="34" charset="0"/>
              <a:buChar char="•"/>
            </a:pPr>
            <a:r>
              <a:rPr lang="en-GB" sz="2000" dirty="0"/>
              <a:t>a generic greeting, when the real company knows your name</a:t>
            </a:r>
          </a:p>
          <a:p>
            <a:pPr marL="342900" lvl="0" indent="-342900">
              <a:buFont typeface="Arial" panose="020B0604020202020204" pitchFamily="34" charset="0"/>
              <a:buChar char="•"/>
            </a:pPr>
            <a:r>
              <a:rPr lang="en-GB" sz="2000" dirty="0"/>
              <a:t>spelling and grammar mistakes</a:t>
            </a:r>
          </a:p>
          <a:p>
            <a:pPr marL="342900" lvl="0" indent="-342900">
              <a:buFont typeface="Arial" panose="020B0604020202020204" pitchFamily="34" charset="0"/>
              <a:buChar char="•"/>
            </a:pPr>
            <a:r>
              <a:rPr lang="en-GB" sz="2000" dirty="0"/>
              <a:t>a suspicious email address; the email has obviously not come from the real company</a:t>
            </a:r>
          </a:p>
          <a:p>
            <a:pPr marL="342900" lvl="0" indent="-342900">
              <a:buFont typeface="Arial" panose="020B0604020202020204" pitchFamily="34" charset="0"/>
              <a:buChar char="•"/>
            </a:pPr>
            <a:r>
              <a:rPr lang="en-GB" sz="2000" dirty="0"/>
              <a:t>high pressure tactics; for example, telling you that your account will be closed unless you click on the hyperlink</a:t>
            </a:r>
          </a:p>
          <a:p>
            <a:pPr marL="342900" lvl="0" indent="-342900">
              <a:buFont typeface="Arial" panose="020B0604020202020204" pitchFamily="34" charset="0"/>
              <a:buChar char="•"/>
            </a:pPr>
            <a:r>
              <a:rPr lang="en-GB" sz="2000" dirty="0"/>
              <a:t>exploiting greed; for example, offering you a free iPhone if you click on the hyperlink</a:t>
            </a:r>
          </a:p>
          <a:p>
            <a:pPr marL="342900" lvl="0" indent="-342900">
              <a:buFont typeface="Arial" panose="020B0604020202020204" pitchFamily="34" charset="0"/>
              <a:buChar char="•"/>
            </a:pPr>
            <a:r>
              <a:rPr lang="en-GB" sz="2000" dirty="0"/>
              <a:t>a hyperlink to click on, which may look legitimate but hovering over shows that it will not take you to the real company.</a:t>
            </a:r>
          </a:p>
          <a:p>
            <a:pPr lvl="0"/>
            <a:endParaRPr lang="en-GB" sz="2000" dirty="0"/>
          </a:p>
          <a:p>
            <a:r>
              <a:rPr lang="en-GB" sz="2000" b="1" dirty="0"/>
              <a:t>If you suspect an email is a phishing email, ignore it. DO NOT click on the link.</a:t>
            </a:r>
            <a:endParaRPr lang="en-GB" sz="2000" dirty="0"/>
          </a:p>
        </p:txBody>
      </p:sp>
      <p:sp>
        <p:nvSpPr>
          <p:cNvPr id="5" name="Rectangle 4">
            <a:extLst>
              <a:ext uri="{FF2B5EF4-FFF2-40B4-BE49-F238E27FC236}">
                <a16:creationId xmlns:a16="http://schemas.microsoft.com/office/drawing/2014/main" id="{17B6129C-B936-B34E-B1C3-BD466277775C}"/>
              </a:ext>
            </a:extLst>
          </p:cNvPr>
          <p:cNvSpPr/>
          <p:nvPr/>
        </p:nvSpPr>
        <p:spPr>
          <a:xfrm>
            <a:off x="4072272" y="5888504"/>
            <a:ext cx="4047455" cy="523220"/>
          </a:xfrm>
          <a:prstGeom prst="rect">
            <a:avLst/>
          </a:prstGeom>
        </p:spPr>
        <p:txBody>
          <a:bodyPr wrap="none">
            <a:spAutoFit/>
          </a:bodyPr>
          <a:lstStyle/>
          <a:p>
            <a:pPr>
              <a:tabLst>
                <a:tab pos="5727700" algn="r"/>
              </a:tabLst>
            </a:pPr>
            <a:r>
              <a:rPr lang="en-GB" sz="2800" dirty="0">
                <a:latin typeface="Calibri" panose="020F0502020204030204" pitchFamily="34" charset="0"/>
                <a:ea typeface="Times New Roman" panose="02020603050405020304" pitchFamily="18" charset="0"/>
                <a:cs typeface="Calibri" panose="020F0502020204030204" pitchFamily="34" charset="0"/>
              </a:rPr>
              <a:t>Now watch Animation 2.1.</a:t>
            </a:r>
            <a:endParaRPr lang="en-GB" sz="2800" dirty="0">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504606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anim calcmode="lin" valueType="num">
                                      <p:cBhvr additive="base">
                                        <p:cTn id="11"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 calcmode="lin" valueType="num">
                                      <p:cBhvr additive="base">
                                        <p:cTn id="17"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anim calcmode="lin" valueType="num">
                                      <p:cBhvr additive="base">
                                        <p:cTn id="23" dur="500" fill="hold"/>
                                        <p:tgtEl>
                                          <p:spTgt spid="4">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4">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4">
                                            <p:txEl>
                                              <p:pRg st="4" end="4"/>
                                            </p:txEl>
                                          </p:spTgt>
                                        </p:tgtEl>
                                        <p:attrNameLst>
                                          <p:attrName>style.visibility</p:attrName>
                                        </p:attrNameLst>
                                      </p:cBhvr>
                                      <p:to>
                                        <p:strVal val="visible"/>
                                      </p:to>
                                    </p:set>
                                    <p:anim calcmode="lin" valueType="num">
                                      <p:cBhvr additive="base">
                                        <p:cTn id="2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4">
                                            <p:txEl>
                                              <p:pRg st="5" end="5"/>
                                            </p:txEl>
                                          </p:spTgt>
                                        </p:tgtEl>
                                        <p:attrNameLst>
                                          <p:attrName>style.visibility</p:attrName>
                                        </p:attrNameLst>
                                      </p:cBhvr>
                                      <p:to>
                                        <p:strVal val="visible"/>
                                      </p:to>
                                    </p:set>
                                    <p:anim calcmode="lin" valueType="num">
                                      <p:cBhvr additive="base">
                                        <p:cTn id="35"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4">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4">
                                            <p:txEl>
                                              <p:pRg st="6" end="6"/>
                                            </p:txEl>
                                          </p:spTgt>
                                        </p:tgtEl>
                                        <p:attrNameLst>
                                          <p:attrName>style.visibility</p:attrName>
                                        </p:attrNameLst>
                                      </p:cBhvr>
                                      <p:to>
                                        <p:strVal val="visible"/>
                                      </p:to>
                                    </p:set>
                                    <p:anim calcmode="lin" valueType="num">
                                      <p:cBhvr additive="base">
                                        <p:cTn id="41"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4">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4">
                                            <p:txEl>
                                              <p:pRg st="8" end="8"/>
                                            </p:txEl>
                                          </p:spTgt>
                                        </p:tgtEl>
                                        <p:attrNameLst>
                                          <p:attrName>style.visibility</p:attrName>
                                        </p:attrNameLst>
                                      </p:cBhvr>
                                      <p:to>
                                        <p:strVal val="visible"/>
                                      </p:to>
                                    </p:set>
                                    <p:anim calcmode="lin" valueType="num">
                                      <p:cBhvr additive="base">
                                        <p:cTn id="47" dur="5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4">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49" presetClass="entr" presetSubtype="0" decel="100000" fill="hold" nodeType="clickEffect">
                                  <p:stCondLst>
                                    <p:cond delay="0"/>
                                  </p:stCondLst>
                                  <p:childTnLst>
                                    <p:set>
                                      <p:cBhvr>
                                        <p:cTn id="52" dur="1" fill="hold">
                                          <p:stCondLst>
                                            <p:cond delay="0"/>
                                          </p:stCondLst>
                                        </p:cTn>
                                        <p:tgtEl>
                                          <p:spTgt spid="5">
                                            <p:txEl>
                                              <p:pRg st="0" end="0"/>
                                            </p:txEl>
                                          </p:spTgt>
                                        </p:tgtEl>
                                        <p:attrNameLst>
                                          <p:attrName>style.visibility</p:attrName>
                                        </p:attrNameLst>
                                      </p:cBhvr>
                                      <p:to>
                                        <p:strVal val="visible"/>
                                      </p:to>
                                    </p:set>
                                    <p:anim calcmode="lin" valueType="num">
                                      <p:cBhvr>
                                        <p:cTn id="53" dur="500" fill="hold"/>
                                        <p:tgtEl>
                                          <p:spTgt spid="5">
                                            <p:txEl>
                                              <p:pRg st="0" end="0"/>
                                            </p:txEl>
                                          </p:spTgt>
                                        </p:tgtEl>
                                        <p:attrNameLst>
                                          <p:attrName>ppt_w</p:attrName>
                                        </p:attrNameLst>
                                      </p:cBhvr>
                                      <p:tavLst>
                                        <p:tav tm="0">
                                          <p:val>
                                            <p:fltVal val="0"/>
                                          </p:val>
                                        </p:tav>
                                        <p:tav tm="100000">
                                          <p:val>
                                            <p:strVal val="#ppt_w"/>
                                          </p:val>
                                        </p:tav>
                                      </p:tavLst>
                                    </p:anim>
                                    <p:anim calcmode="lin" valueType="num">
                                      <p:cBhvr>
                                        <p:cTn id="54" dur="500" fill="hold"/>
                                        <p:tgtEl>
                                          <p:spTgt spid="5">
                                            <p:txEl>
                                              <p:pRg st="0" end="0"/>
                                            </p:txEl>
                                          </p:spTgt>
                                        </p:tgtEl>
                                        <p:attrNameLst>
                                          <p:attrName>ppt_h</p:attrName>
                                        </p:attrNameLst>
                                      </p:cBhvr>
                                      <p:tavLst>
                                        <p:tav tm="0">
                                          <p:val>
                                            <p:fltVal val="0"/>
                                          </p:val>
                                        </p:tav>
                                        <p:tav tm="100000">
                                          <p:val>
                                            <p:strVal val="#ppt_h"/>
                                          </p:val>
                                        </p:tav>
                                      </p:tavLst>
                                    </p:anim>
                                    <p:anim calcmode="lin" valueType="num">
                                      <p:cBhvr>
                                        <p:cTn id="55" dur="500" fill="hold"/>
                                        <p:tgtEl>
                                          <p:spTgt spid="5">
                                            <p:txEl>
                                              <p:pRg st="0" end="0"/>
                                            </p:txEl>
                                          </p:spTgt>
                                        </p:tgtEl>
                                        <p:attrNameLst>
                                          <p:attrName>style.rotation</p:attrName>
                                        </p:attrNameLst>
                                      </p:cBhvr>
                                      <p:tavLst>
                                        <p:tav tm="0">
                                          <p:val>
                                            <p:fltVal val="360"/>
                                          </p:val>
                                        </p:tav>
                                        <p:tav tm="100000">
                                          <p:val>
                                            <p:fltVal val="0"/>
                                          </p:val>
                                        </p:tav>
                                      </p:tavLst>
                                    </p:anim>
                                    <p:animEffect transition="in" filter="fade">
                                      <p:cBhvr>
                                        <p:cTn id="56"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7"/>
            <a:ext cx="10296940" cy="855801"/>
          </a:xfrm>
        </p:spPr>
        <p:txBody>
          <a:bodyPr>
            <a:noAutofit/>
          </a:bodyPr>
          <a:lstStyle/>
          <a:p>
            <a:r>
              <a:rPr lang="en-GB" b="1" dirty="0">
                <a:solidFill>
                  <a:schemeClr val="bg1"/>
                </a:solidFill>
              </a:rPr>
              <a:t>Activity 2.3: Phishing or genuine?</a:t>
            </a:r>
          </a:p>
        </p:txBody>
      </p:sp>
      <p:pic>
        <p:nvPicPr>
          <p:cNvPr id="5" name="Picture 4" descr="A picture containing athletic game, basketball, sport&#10;&#10;Description automatically generated">
            <a:extLst>
              <a:ext uri="{FF2B5EF4-FFF2-40B4-BE49-F238E27FC236}">
                <a16:creationId xmlns:a16="http://schemas.microsoft.com/office/drawing/2014/main" id="{20363B22-48E3-4108-817E-DF367C22F1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27611" y="1947016"/>
            <a:ext cx="4536777" cy="4445076"/>
          </a:xfrm>
          <a:prstGeom prst="rect">
            <a:avLst/>
          </a:prstGeom>
        </p:spPr>
      </p:pic>
    </p:spTree>
    <p:extLst>
      <p:ext uri="{BB962C8B-B14F-4D97-AF65-F5344CB8AC3E}">
        <p14:creationId xmlns:p14="http://schemas.microsoft.com/office/powerpoint/2010/main" val="10484862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7"/>
            <a:ext cx="10296940" cy="855801"/>
          </a:xfrm>
        </p:spPr>
        <p:txBody>
          <a:bodyPr>
            <a:noAutofit/>
          </a:bodyPr>
          <a:lstStyle/>
          <a:p>
            <a:r>
              <a:rPr lang="en-GB" b="1" dirty="0">
                <a:solidFill>
                  <a:schemeClr val="bg1"/>
                </a:solidFill>
              </a:rPr>
              <a:t>Quiz 2</a:t>
            </a:r>
          </a:p>
        </p:txBody>
      </p:sp>
      <p:pic>
        <p:nvPicPr>
          <p:cNvPr id="4" name="Picture 3" descr="A picture containing athletic game, basketball, sport&#10;&#10;Description automatically generated">
            <a:extLst>
              <a:ext uri="{FF2B5EF4-FFF2-40B4-BE49-F238E27FC236}">
                <a16:creationId xmlns:a16="http://schemas.microsoft.com/office/drawing/2014/main" id="{669539F6-019E-4BD5-B013-59078C9AAD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27611" y="1947016"/>
            <a:ext cx="4536777" cy="4445076"/>
          </a:xfrm>
          <a:prstGeom prst="rect">
            <a:avLst/>
          </a:prstGeom>
        </p:spPr>
      </p:pic>
    </p:spTree>
    <p:extLst>
      <p:ext uri="{BB962C8B-B14F-4D97-AF65-F5344CB8AC3E}">
        <p14:creationId xmlns:p14="http://schemas.microsoft.com/office/powerpoint/2010/main" val="34262029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442</TotalTime>
  <Words>1202</Words>
  <Application>Microsoft Office PowerPoint</Application>
  <PresentationFormat>Widescreen</PresentationFormat>
  <Paragraphs>88</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Arial</vt:lpstr>
      <vt:lpstr>Baskerville Old Face</vt:lpstr>
      <vt:lpstr>Bradley Hand</vt:lpstr>
      <vt:lpstr>Calibri</vt:lpstr>
      <vt:lpstr>Calibri Light</vt:lpstr>
      <vt:lpstr>Chalkboard</vt:lpstr>
      <vt:lpstr>Harrington</vt:lpstr>
      <vt:lpstr>Symbol</vt:lpstr>
      <vt:lpstr>Times New Roman</vt:lpstr>
      <vt:lpstr>Office Theme</vt:lpstr>
      <vt:lpstr>Internet safety, cyber security and encryption</vt:lpstr>
      <vt:lpstr>Objectives</vt:lpstr>
      <vt:lpstr>International Space Organisation </vt:lpstr>
      <vt:lpstr>Improving security</vt:lpstr>
      <vt:lpstr>Online backup</vt:lpstr>
      <vt:lpstr>What are the most commonly used passwords?</vt:lpstr>
      <vt:lpstr>Why do people use common passwords?</vt:lpstr>
      <vt:lpstr>What’s wrong with using an easy to guess password?</vt:lpstr>
      <vt:lpstr>What makes a password hard to identify?</vt:lpstr>
      <vt:lpstr>Activity 2.1: Password security</vt:lpstr>
      <vt:lpstr>Once someone has come up with a secure password, should they use it for everything?</vt:lpstr>
      <vt:lpstr>How can you remember all your passwords if you use a different one for every account? </vt:lpstr>
      <vt:lpstr>Once someone has come up with a secure password, are there other ways to try and guess it? </vt:lpstr>
      <vt:lpstr>Once someone has come up with a secure password, are there other ways to try and guess it? </vt:lpstr>
      <vt:lpstr>What else can an organisation do to make sure passwords are safe and secure?</vt:lpstr>
      <vt:lpstr>Activity 2.2: Password policy</vt:lpstr>
      <vt:lpstr>What do you know about phishing?</vt:lpstr>
      <vt:lpstr>How do you spot a phishing email?</vt:lpstr>
      <vt:lpstr>Activity 2.3: Phishing or genuine?</vt:lpstr>
      <vt:lpstr>Quiz 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spreadsheets</dc:title>
  <dc:creator>Lea Albrechtsen</dc:creator>
  <cp:lastModifiedBy>Lea Albrechtsen</cp:lastModifiedBy>
  <cp:revision>45</cp:revision>
  <dcterms:created xsi:type="dcterms:W3CDTF">2020-11-04T15:22:46Z</dcterms:created>
  <dcterms:modified xsi:type="dcterms:W3CDTF">2021-06-07T16:44:18Z</dcterms:modified>
</cp:coreProperties>
</file>