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9" r:id="rId6"/>
    <p:sldId id="275" r:id="rId7"/>
    <p:sldId id="280" r:id="rId8"/>
    <p:sldId id="281" r:id="rId9"/>
    <p:sldId id="282" r:id="rId10"/>
    <p:sldId id="283" r:id="rId11"/>
    <p:sldId id="284" r:id="rId12"/>
    <p:sldId id="285" r:id="rId13"/>
    <p:sldId id="27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8" name="Picture 7" descr="Shape, rectangle&#10;&#10;Description automatically generated">
            <a:extLst>
              <a:ext uri="{FF2B5EF4-FFF2-40B4-BE49-F238E27FC236}">
                <a16:creationId xmlns:a16="http://schemas.microsoft.com/office/drawing/2014/main" id="{8E162879-1CE5-EF46-AF8E-A0A77F5B7A12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9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583" y="2929767"/>
            <a:ext cx="9920500" cy="915850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/>
              <a:t>Internet safety, cyber security</a:t>
            </a:r>
            <a:br>
              <a:rPr lang="en-GB" b="1" dirty="0"/>
            </a:br>
            <a:r>
              <a:rPr lang="en-GB" b="1" dirty="0"/>
              <a:t>and encryption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4636690" y="3928233"/>
            <a:ext cx="37482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accent6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5: Automating encryption </a:t>
            </a:r>
            <a:endParaRPr lang="en-GB" sz="2000" b="1" dirty="0">
              <a:solidFill>
                <a:schemeClr val="accent6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DB04D9-E080-9D4B-853A-22B67AD09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9671" y="3429000"/>
            <a:ext cx="2937412" cy="24439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483" y="824947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545484" y="2066398"/>
            <a:ext cx="8781274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that encryption algorithms can be automated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how to use spreadsheet formulae to automate the Atbash Cipher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how to use spreadsheet formulae to automate the Caesar Cipher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why a programmed encryption algorithm is more efficient.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44826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Secret message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CFAB51-3F10-8F42-A993-73A822C6CF9F}"/>
              </a:ext>
            </a:extLst>
          </p:cNvPr>
          <p:cNvSpPr/>
          <p:nvPr/>
        </p:nvSpPr>
        <p:spPr>
          <a:xfrm>
            <a:off x="1580322" y="2436571"/>
            <a:ext cx="873649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An email has been sent from one of the computers inside the International Space Organisation, with a garbled message attached.</a:t>
            </a:r>
          </a:p>
          <a:p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The Chief Security Officer thinks it might be an encrypted message and has asked you to decrypt it and work out if security has been compromised.</a:t>
            </a:r>
          </a:p>
          <a:p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You will need to use your new-found knowledge of the Atbash Cipher and the Caesar Cipher to crack the code.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95131"/>
            <a:ext cx="9733721" cy="89555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Atbash Cipher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8" y="2384851"/>
            <a:ext cx="9490807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The alphabet is written twice, once forwards and one backwards: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FD15E7-D54B-4F45-8A7E-FFF361234D76}"/>
              </a:ext>
            </a:extLst>
          </p:cNvPr>
          <p:cNvSpPr/>
          <p:nvPr/>
        </p:nvSpPr>
        <p:spPr>
          <a:xfrm>
            <a:off x="1620078" y="3890393"/>
            <a:ext cx="8497957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5727700" algn="r"/>
              </a:tabLst>
            </a:pPr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To encrypt a message, the original letter is identified in the plaintext row and the encrypted letter is taken from the ciphertext row directly below it.</a:t>
            </a:r>
            <a:endParaRPr lang="en-GB" sz="2400" dirty="0">
              <a:ea typeface="Times New Roman" panose="02020603050405020304" pitchFamily="18" charset="0"/>
            </a:endParaRPr>
          </a:p>
          <a:p>
            <a:pPr>
              <a:tabLst>
                <a:tab pos="5727700" algn="r"/>
              </a:tabLst>
            </a:pPr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'BAD' is encrypted as 'YZW'.</a:t>
            </a:r>
            <a:endParaRPr lang="en-GB" sz="2400" dirty="0">
              <a:ea typeface="Times New Roman" panose="02020603050405020304" pitchFamily="18" charset="0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C5608DC-7C38-6E40-BC06-6198CCE83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9388" y="3624263"/>
            <a:ext cx="94726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9F042FF-E3C6-4F97-A0E9-7D2F8AA749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997551"/>
              </p:ext>
            </p:extLst>
          </p:nvPr>
        </p:nvGraphicFramePr>
        <p:xfrm>
          <a:off x="1656528" y="3002181"/>
          <a:ext cx="8915394" cy="612000"/>
        </p:xfrm>
        <a:graphic>
          <a:graphicData uri="http://schemas.openxmlformats.org/drawingml/2006/table">
            <a:tbl>
              <a:tblPr firstRow="1" firstCol="1" bandRow="1"/>
              <a:tblGrid>
                <a:gridCol w="819306">
                  <a:extLst>
                    <a:ext uri="{9D8B030D-6E8A-4147-A177-3AD203B41FA5}">
                      <a16:colId xmlns:a16="http://schemas.microsoft.com/office/drawing/2014/main" val="2971061239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050743719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464204190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986929282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1438101455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903966664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073001546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577365412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985786054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872462336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631042741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13927787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1425527049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508381011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720553049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354233211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960730260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730559509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1450820009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086884905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011008325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792503173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932649457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330154079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1759625191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3543948276"/>
                    </a:ext>
                  </a:extLst>
                </a:gridCol>
                <a:gridCol w="311388">
                  <a:extLst>
                    <a:ext uri="{9D8B030D-6E8A-4147-A177-3AD203B41FA5}">
                      <a16:colId xmlns:a16="http://schemas.microsoft.com/office/drawing/2014/main" val="2024713235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Plaintext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Q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11625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Ciphertext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Q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4776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95131"/>
            <a:ext cx="9733721" cy="89555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Caesar Cipher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8" y="2195811"/>
            <a:ext cx="9490807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The ciphertext alphabet is written shifted sideways by the number of letters identified by the key. Here the key is 1: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FD15E7-D54B-4F45-8A7E-FFF361234D76}"/>
              </a:ext>
            </a:extLst>
          </p:cNvPr>
          <p:cNvSpPr/>
          <p:nvPr/>
        </p:nvSpPr>
        <p:spPr>
          <a:xfrm>
            <a:off x="1620078" y="4451263"/>
            <a:ext cx="707666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5727700" algn="r"/>
              </a:tabLst>
            </a:pPr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'BAD' is encrypted as 'CBE'.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C5608DC-7C38-6E40-BC06-6198CCE83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9388" y="3624263"/>
            <a:ext cx="94726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CAF9724-CFAA-1340-B874-C71F38CCA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522986"/>
              </p:ext>
            </p:extLst>
          </p:nvPr>
        </p:nvGraphicFramePr>
        <p:xfrm>
          <a:off x="1620078" y="3169478"/>
          <a:ext cx="7604047" cy="649986"/>
        </p:xfrm>
        <a:graphic>
          <a:graphicData uri="http://schemas.openxmlformats.org/drawingml/2006/table">
            <a:tbl>
              <a:tblPr/>
              <a:tblGrid>
                <a:gridCol w="1020353">
                  <a:extLst>
                    <a:ext uri="{9D8B030D-6E8A-4147-A177-3AD203B41FA5}">
                      <a16:colId xmlns:a16="http://schemas.microsoft.com/office/drawing/2014/main" val="2250092940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538225452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53425514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2477324000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3812121800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3025801426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2392105810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2222764635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510292757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1524401623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4242832080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2654615847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730357250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488188138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4019983992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1030545611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950238009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3008130222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2701447551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2065302834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1093000789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2969222800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4095353218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2135369910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2365724349"/>
                    </a:ext>
                  </a:extLst>
                </a:gridCol>
                <a:gridCol w="252944">
                  <a:extLst>
                    <a:ext uri="{9D8B030D-6E8A-4147-A177-3AD203B41FA5}">
                      <a16:colId xmlns:a16="http://schemas.microsoft.com/office/drawing/2014/main" val="2073067974"/>
                    </a:ext>
                  </a:extLst>
                </a:gridCol>
                <a:gridCol w="253659">
                  <a:extLst>
                    <a:ext uri="{9D8B030D-6E8A-4147-A177-3AD203B41FA5}">
                      <a16:colId xmlns:a16="http://schemas.microsoft.com/office/drawing/2014/main" val="65770227"/>
                    </a:ext>
                  </a:extLst>
                </a:gridCol>
              </a:tblGrid>
              <a:tr h="313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GB" sz="1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Plaintext</a:t>
                      </a:r>
                      <a:endParaRPr lang="en-GB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Q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437556"/>
                  </a:ext>
                </a:extLst>
              </a:tr>
              <a:tr h="313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GB" sz="1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Ciphertext</a:t>
                      </a:r>
                      <a:endParaRPr lang="en-GB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Q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10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788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1828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855801"/>
          </a:xfrm>
        </p:spPr>
        <p:txBody>
          <a:bodyPr>
            <a:noAutofit/>
          </a:bodyPr>
          <a:lstStyle/>
          <a:p>
            <a:r>
              <a:rPr lang="en-GB" sz="3400" b="1" dirty="0">
                <a:solidFill>
                  <a:schemeClr val="bg1"/>
                </a:solidFill>
              </a:rPr>
              <a:t>Activity 5.1: The Atbash Cipher: </a:t>
            </a:r>
            <a:br>
              <a:rPr lang="en-GB" sz="3400" b="1" dirty="0">
                <a:solidFill>
                  <a:schemeClr val="bg1"/>
                </a:solidFill>
              </a:rPr>
            </a:br>
            <a:r>
              <a:rPr lang="en-GB" sz="3400" b="1" dirty="0">
                <a:solidFill>
                  <a:schemeClr val="bg1"/>
                </a:solidFill>
              </a:rPr>
              <a:t>manual encryption and decryption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F17AB9F3-3E5A-4416-A6F0-0E2E5B342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098" y="1907177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4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855801"/>
          </a:xfrm>
        </p:spPr>
        <p:txBody>
          <a:bodyPr>
            <a:noAutofit/>
          </a:bodyPr>
          <a:lstStyle/>
          <a:p>
            <a:r>
              <a:rPr lang="en-GB" sz="3400" b="1" dirty="0">
                <a:solidFill>
                  <a:schemeClr val="bg1"/>
                </a:solidFill>
              </a:rPr>
              <a:t>Activity 5.2: The Atbash Cipher: </a:t>
            </a:r>
            <a:br>
              <a:rPr lang="en-GB" sz="3400" b="1" dirty="0">
                <a:solidFill>
                  <a:schemeClr val="bg1"/>
                </a:solidFill>
              </a:rPr>
            </a:br>
            <a:r>
              <a:rPr lang="en-GB" sz="3400" b="1" dirty="0">
                <a:solidFill>
                  <a:schemeClr val="bg1"/>
                </a:solidFill>
              </a:rPr>
              <a:t>automated encryption and decryption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0044E0-1D05-7F4B-8955-D561816CA9A1}"/>
              </a:ext>
            </a:extLst>
          </p:cNvPr>
          <p:cNvSpPr/>
          <p:nvPr/>
        </p:nvSpPr>
        <p:spPr>
          <a:xfrm>
            <a:off x="7925214" y="5083074"/>
            <a:ext cx="38180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ea typeface="Times New Roman" panose="02020603050405020304" pitchFamily="18" charset="0"/>
                <a:cs typeface="Calibri" panose="020F0502020204030204" pitchFamily="34" charset="0"/>
              </a:rPr>
              <a:t>Now watch Video 5.1</a:t>
            </a:r>
            <a:r>
              <a:rPr lang="en-GB" sz="3200" dirty="0"/>
              <a:t> </a:t>
            </a:r>
            <a:endParaRPr lang="en-US" sz="3200" dirty="0"/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D9253633-4FF2-44B7-8D5D-1C6FDE858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098" y="1907177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14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855801"/>
          </a:xfrm>
        </p:spPr>
        <p:txBody>
          <a:bodyPr>
            <a:noAutofit/>
          </a:bodyPr>
          <a:lstStyle/>
          <a:p>
            <a:r>
              <a:rPr lang="en-GB" sz="3400" b="1" dirty="0">
                <a:solidFill>
                  <a:schemeClr val="bg1"/>
                </a:solidFill>
              </a:rPr>
              <a:t>Activity 5.3: The Caesar Cipher: </a:t>
            </a:r>
            <a:br>
              <a:rPr lang="en-GB" sz="3400" b="1" dirty="0">
                <a:solidFill>
                  <a:schemeClr val="bg1"/>
                </a:solidFill>
              </a:rPr>
            </a:br>
            <a:r>
              <a:rPr lang="en-GB" sz="3400" b="1" dirty="0">
                <a:solidFill>
                  <a:schemeClr val="bg1"/>
                </a:solidFill>
              </a:rPr>
              <a:t>manual encryption and decryption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5AE079C7-BB25-4BA5-A233-CC7836307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098" y="1907177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17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855801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Activity 5.4: The Caesar Cipher: automated encryption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47C94E04-7E20-4520-B5A4-593D67B93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098" y="1907177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810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855801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Activity 5.5: The Caesar Cipher: automated encryption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2F728-DF44-7B43-966E-B998AE8D05E7}"/>
              </a:ext>
            </a:extLst>
          </p:cNvPr>
          <p:cNvSpPr/>
          <p:nvPr/>
        </p:nvSpPr>
        <p:spPr>
          <a:xfrm>
            <a:off x="8299633" y="5043317"/>
            <a:ext cx="336470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Times New Roman" panose="02020603050405020304" pitchFamily="18" charset="0"/>
                <a:cs typeface="Calibri" panose="020F0502020204030204" pitchFamily="34" charset="0"/>
              </a:rPr>
              <a:t>Now watch </a:t>
            </a:r>
            <a:r>
              <a:rPr lang="en-GB" sz="2800">
                <a:ea typeface="Times New Roman" panose="02020603050405020304" pitchFamily="18" charset="0"/>
                <a:cs typeface="Calibri" panose="020F0502020204030204" pitchFamily="34" charset="0"/>
              </a:rPr>
              <a:t>Video 5.2</a:t>
            </a:r>
            <a:r>
              <a:rPr lang="en-GB" sz="2800"/>
              <a:t> </a:t>
            </a:r>
            <a:endParaRPr lang="en-US" sz="2800" dirty="0"/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6E64D14D-A98A-4D6C-AEC5-6F281282A3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098" y="1907177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31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855801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5.6: Secret message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E415A0-D91D-B445-AA24-92947F531FF7}"/>
              </a:ext>
            </a:extLst>
          </p:cNvPr>
          <p:cNvSpPr/>
          <p:nvPr/>
        </p:nvSpPr>
        <p:spPr>
          <a:xfrm>
            <a:off x="5910470" y="2314405"/>
            <a:ext cx="5738191" cy="37087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ea typeface="Times New Roman" panose="02020603050405020304" pitchFamily="18" charset="0"/>
                <a:cs typeface="Calibri" panose="020F0502020204030204" pitchFamily="34" charset="0"/>
              </a:rPr>
              <a:t>Do you remember the garbled message attached to an email sent from one of the computers inside the International Space Organisation?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ea typeface="Times New Roman" panose="02020603050405020304" pitchFamily="18" charset="0"/>
                <a:cs typeface="Calibri" panose="020F0502020204030204" pitchFamily="34" charset="0"/>
              </a:rPr>
              <a:t>The Chief Security Officer has asked you to decrypt it.</a:t>
            </a:r>
            <a:endParaRPr lang="en-GB" sz="2200" dirty="0">
              <a:ea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lang="en-GB" sz="2200" dirty="0">
                <a:ea typeface="Times New Roman" panose="02020603050405020304" pitchFamily="18" charset="0"/>
                <a:cs typeface="Calibri" panose="020F0502020204030204" pitchFamily="34" charset="0"/>
              </a:rPr>
              <a:t>You need to work out if it was encrypted with the Atbash Cipher or the Caesar Cipher and, if it is the Caesar Cipher, what key was used.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ea typeface="Times New Roman" panose="02020603050405020304" pitchFamily="18" charset="0"/>
                <a:cs typeface="Calibri" panose="020F0502020204030204" pitchFamily="34" charset="0"/>
              </a:rPr>
              <a:t>Has the security of the International Space Organisation been compromised?</a:t>
            </a:r>
            <a:endParaRPr lang="en-GB" sz="2200" dirty="0">
              <a:ea typeface="Times New Roman" panose="02020603050405020304" pitchFamily="18" charset="0"/>
            </a:endParaRP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319BCD85-BB8A-4BD0-A173-C7E18B1BC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024" y="1887572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455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855801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5.6: Secret message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E415A0-D91D-B445-AA24-92947F531FF7}"/>
              </a:ext>
            </a:extLst>
          </p:cNvPr>
          <p:cNvSpPr/>
          <p:nvPr/>
        </p:nvSpPr>
        <p:spPr>
          <a:xfrm>
            <a:off x="5962721" y="2715471"/>
            <a:ext cx="5738191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Here is the message:</a:t>
            </a:r>
          </a:p>
          <a:p>
            <a:endParaRPr lang="en-GB" sz="2400" dirty="0"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r>
              <a:rPr lang="en-GB" sz="2400" dirty="0">
                <a:ea typeface="Times New Roman" panose="02020603050405020304" pitchFamily="18" charset="0"/>
                <a:cs typeface="Calibri" panose="020F0502020204030204" pitchFamily="34" charset="0"/>
              </a:rPr>
              <a:t>I have the new rocket launch computer program. It is far better than we ever expected and will ensure the ISO dominates the space tourism market for years to come. I can share it with you if you are willing to compensate me.</a:t>
            </a:r>
          </a:p>
        </p:txBody>
      </p:sp>
      <p:pic>
        <p:nvPicPr>
          <p:cNvPr id="7" name="Picture 6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9FADF359-A2C4-459C-99B7-B549B8D2D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024" y="1887572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766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296940" cy="855801"/>
          </a:xfrm>
        </p:spPr>
        <p:txBody>
          <a:bodyPr>
            <a:noAutofit/>
          </a:bodyPr>
          <a:lstStyle/>
          <a:p>
            <a:r>
              <a:rPr lang="en-GB" b="1">
                <a:solidFill>
                  <a:schemeClr val="bg1"/>
                </a:solidFill>
              </a:rPr>
              <a:t>Quiz 5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0663E3B4-62B8-4AF1-9975-BD5AAE1DB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098" y="1907177"/>
            <a:ext cx="4799803" cy="47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202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502</Words>
  <Application>Microsoft Office PowerPoint</Application>
  <PresentationFormat>Widescreen</PresentationFormat>
  <Paragraphs>144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Symbol</vt:lpstr>
      <vt:lpstr>Office Theme</vt:lpstr>
      <vt:lpstr>Internet safety, cyber security and encryption</vt:lpstr>
      <vt:lpstr>Objectives</vt:lpstr>
      <vt:lpstr>Secret message </vt:lpstr>
      <vt:lpstr>The Atbash Cipher </vt:lpstr>
      <vt:lpstr>The Caesar Cipher </vt:lpstr>
      <vt:lpstr>Activity 5.1: The Atbash Cipher:  manual encryption and decryption </vt:lpstr>
      <vt:lpstr>Activity 5.2: The Atbash Cipher:  automated encryption and decryption</vt:lpstr>
      <vt:lpstr>Activity 5.3: The Caesar Cipher:  manual encryption and decryption </vt:lpstr>
      <vt:lpstr>Activity 5.4: The Caesar Cipher: automated encryption </vt:lpstr>
      <vt:lpstr>Activity 5.5: The Caesar Cipher: automated encryption </vt:lpstr>
      <vt:lpstr>Activity 5.6: Secret message </vt:lpstr>
      <vt:lpstr>Activity 5.6: Secret message </vt:lpstr>
      <vt:lpstr>Quiz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44</cp:revision>
  <dcterms:created xsi:type="dcterms:W3CDTF">2020-11-04T15:22:46Z</dcterms:created>
  <dcterms:modified xsi:type="dcterms:W3CDTF">2021-06-07T16:10:00Z</dcterms:modified>
</cp:coreProperties>
</file>