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85" r:id="rId6"/>
    <p:sldId id="286" r:id="rId7"/>
    <p:sldId id="287" r:id="rId8"/>
    <p:sldId id="288" r:id="rId9"/>
    <p:sldId id="289" r:id="rId10"/>
    <p:sldId id="290" r:id="rId11"/>
    <p:sldId id="274" r:id="rId12"/>
    <p:sldId id="259" r:id="rId13"/>
    <p:sldId id="291" r:id="rId14"/>
    <p:sldId id="292" r:id="rId15"/>
    <p:sldId id="275" r:id="rId16"/>
    <p:sldId id="293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4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FEDAC554-0635-7742-969A-A6C2C4C2DD4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94"/>
            <a:ext cx="12217999" cy="162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youtube.com/watch?app=desktop&amp;v=nl2mQ2HiJZc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FB429F-3467-459E-849C-85790C8BA698}"/>
              </a:ext>
            </a:extLst>
          </p:cNvPr>
          <p:cNvSpPr/>
          <p:nvPr/>
        </p:nvSpPr>
        <p:spPr>
          <a:xfrm>
            <a:off x="4529536" y="4537165"/>
            <a:ext cx="25306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4: The internet</a:t>
            </a:r>
            <a:endParaRPr lang="en-GB" sz="2000" b="1" dirty="0">
              <a:solidFill>
                <a:srgbClr val="7030A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56B581-55FC-4399-A0EE-7218084A0477}"/>
              </a:ext>
            </a:extLst>
          </p:cNvPr>
          <p:cNvSpPr txBox="1">
            <a:spLocks/>
          </p:cNvSpPr>
          <p:nvPr/>
        </p:nvSpPr>
        <p:spPr>
          <a:xfrm>
            <a:off x="1202454" y="2908951"/>
            <a:ext cx="5857711" cy="16282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/>
              <a:t>Networking and the internet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35C5C-DA51-4832-9C30-432B144C3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297" y="2908950"/>
            <a:ext cx="2937413" cy="22678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8" y="854765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30018" y="2046520"/>
            <a:ext cx="1028539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that the internet is a global collection of computer networks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about the different types of internet services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what is meant by cloud computing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the pros and cons of cloud computing.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internet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644170"/>
            <a:ext cx="53656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Most people use the internet all the time. You probably use it every day.</a:t>
            </a:r>
          </a:p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But do you know what the internet is?</a:t>
            </a:r>
          </a:p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 you know how it works?</a:t>
            </a: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 global collection of computer networks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509176"/>
            <a:ext cx="323786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Most schools, offices and homes have a network.</a:t>
            </a:r>
          </a:p>
          <a:p>
            <a:r>
              <a:rPr lang="en-GB" sz="2400" dirty="0"/>
              <a:t>These networks join together to form the </a:t>
            </a:r>
            <a:r>
              <a:rPr lang="en-GB" sz="2400" b="1" dirty="0">
                <a:solidFill>
                  <a:srgbClr val="7049A8"/>
                </a:solidFill>
              </a:rPr>
              <a:t>internet</a:t>
            </a:r>
            <a:r>
              <a:rPr lang="en-GB" sz="2400" dirty="0"/>
              <a:t>, which connects over 50 billion devices worldwide.</a:t>
            </a:r>
          </a:p>
        </p:txBody>
      </p:sp>
      <p:pic>
        <p:nvPicPr>
          <p:cNvPr id="7" name="Picture 6" descr="A picture containing satellite&#10;&#10;Description automatically generated">
            <a:extLst>
              <a:ext uri="{FF2B5EF4-FFF2-40B4-BE49-F238E27FC236}">
                <a16:creationId xmlns:a16="http://schemas.microsoft.com/office/drawing/2014/main" id="{44847CB0-2D64-4B90-8263-F92733BAF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190" y="2052166"/>
            <a:ext cx="5978880" cy="396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0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Cables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274838"/>
            <a:ext cx="49435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The simplest method of joining networks together is using cables.</a:t>
            </a:r>
          </a:p>
          <a:p>
            <a:r>
              <a:rPr lang="en-GB" sz="2400" dirty="0"/>
              <a:t>It isn't practical to run cables between all the schools, offices and homes in a country, so existing telephone cables are used.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E87924-5FF5-C04F-B801-37AA54B73CBB}"/>
              </a:ext>
            </a:extLst>
          </p:cNvPr>
          <p:cNvSpPr/>
          <p:nvPr/>
        </p:nvSpPr>
        <p:spPr>
          <a:xfrm>
            <a:off x="7690339" y="5740029"/>
            <a:ext cx="24484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i="1" dirty="0">
                <a:ea typeface="Times New Roman" panose="02020603050405020304" pitchFamily="18" charset="0"/>
                <a:cs typeface="Calibri" panose="020F0502020204030204" pitchFamily="34" charset="0"/>
              </a:rPr>
              <a:t>Telephone cabinets contain the cables that connect networks to the internet.</a:t>
            </a:r>
            <a:r>
              <a:rPr lang="en-GB" sz="1200" i="1" dirty="0"/>
              <a:t> </a:t>
            </a:r>
            <a:endParaRPr lang="en-US" sz="12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9619D9-33FE-467C-9FCD-C7C2AF8D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339" y="2067339"/>
            <a:ext cx="2448460" cy="367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187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Submarine cables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073634"/>
            <a:ext cx="481177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Special submarine (under-sea) cables are used to connect networks across seas and oceans.</a:t>
            </a:r>
          </a:p>
          <a:p>
            <a:r>
              <a:rPr lang="en-GB" sz="2400" dirty="0"/>
              <a:t>These cables carry very high volumes of data at very high speed. They are very expensive and very important.</a:t>
            </a:r>
          </a:p>
          <a:p>
            <a:r>
              <a:rPr lang="en-GB" sz="2400" dirty="0"/>
              <a:t>If the cables are damaged, then whole countries can lose their internet connection.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E87924-5FF5-C04F-B801-37AA54B73CBB}"/>
              </a:ext>
            </a:extLst>
          </p:cNvPr>
          <p:cNvSpPr/>
          <p:nvPr/>
        </p:nvSpPr>
        <p:spPr>
          <a:xfrm>
            <a:off x="7469371" y="5489954"/>
            <a:ext cx="3013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Watch </a:t>
            </a:r>
            <a:r>
              <a:rPr lang="en-GB" sz="2800" dirty="0">
                <a:hlinkClick r:id="rId2"/>
              </a:rPr>
              <a:t>this</a:t>
            </a:r>
            <a:r>
              <a:rPr lang="en-GB" sz="2800" dirty="0"/>
              <a:t> video</a:t>
            </a:r>
            <a:endParaRPr lang="en-US" sz="2800" i="1" dirty="0"/>
          </a:p>
        </p:txBody>
      </p:sp>
      <p:pic>
        <p:nvPicPr>
          <p:cNvPr id="7" name="Picture 6" descr="A picture containing outdoor, nature, shore, ocean floor&#10;&#10;Description automatically generated">
            <a:extLst>
              <a:ext uri="{FF2B5EF4-FFF2-40B4-BE49-F238E27FC236}">
                <a16:creationId xmlns:a16="http://schemas.microsoft.com/office/drawing/2014/main" id="{3266F751-192F-4AB9-A846-2F03B9998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061" y="2073634"/>
            <a:ext cx="5017834" cy="334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4.1 Submarine cables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1F692-3E96-4624-B76A-F894036AB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09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Online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479991"/>
            <a:ext cx="417604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Connecting computers over the internet means that many services are available online.</a:t>
            </a:r>
          </a:p>
          <a:p>
            <a:r>
              <a:rPr lang="en-GB" sz="2400" dirty="0"/>
              <a:t>An online service set up and run in one country can be accessed by anyone, anywhere in the world.</a:t>
            </a:r>
          </a:p>
        </p:txBody>
      </p:sp>
      <p:pic>
        <p:nvPicPr>
          <p:cNvPr id="6" name="Picture 5" descr="A picture containing map&#10;&#10;Description automatically generated">
            <a:extLst>
              <a:ext uri="{FF2B5EF4-FFF2-40B4-BE49-F238E27FC236}">
                <a16:creationId xmlns:a16="http://schemas.microsoft.com/office/drawing/2014/main" id="{0802A481-BF2E-43CF-B566-CB320C56D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97892"/>
            <a:ext cx="5251267" cy="367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19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4.2: Online services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FD219-6E22-4DFB-A0EA-777B62B39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8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Cloud computing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525045"/>
            <a:ext cx="465501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7049A8"/>
                </a:solidFill>
              </a:rPr>
              <a:t>Cloud computing</a:t>
            </a:r>
            <a:r>
              <a:rPr lang="en-GB" sz="2400" dirty="0">
                <a:solidFill>
                  <a:srgbClr val="7049A8"/>
                </a:solidFill>
              </a:rPr>
              <a:t> </a:t>
            </a:r>
            <a:r>
              <a:rPr lang="en-GB" sz="2400" dirty="0"/>
              <a:t>means running programs and storing files on the internet.</a:t>
            </a:r>
          </a:p>
          <a:p>
            <a:r>
              <a:rPr lang="en-GB" sz="2400" dirty="0"/>
              <a:t>Cloud computing involves taking things that would be traditionally done on a computer and hosting them online so that they can be accessed from anywhere.</a:t>
            </a:r>
          </a:p>
        </p:txBody>
      </p:sp>
      <p:pic>
        <p:nvPicPr>
          <p:cNvPr id="7" name="Picture 6" descr="Shape, icon, circle&#10;&#10;Description automatically generated">
            <a:extLst>
              <a:ext uri="{FF2B5EF4-FFF2-40B4-BE49-F238E27FC236}">
                <a16:creationId xmlns:a16="http://schemas.microsoft.com/office/drawing/2014/main" id="{9FF80363-0C8D-4939-81D6-6DEAFDC75D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7"/>
          <a:stretch/>
        </p:blipFill>
        <p:spPr>
          <a:xfrm>
            <a:off x="7062365" y="2315533"/>
            <a:ext cx="3620873" cy="346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73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advantages of cloud storage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057852"/>
            <a:ext cx="875637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Many business backup their files online and many people back up their photos online.</a:t>
            </a:r>
          </a:p>
          <a:p>
            <a:endParaRPr lang="en-GB" sz="2400" dirty="0"/>
          </a:p>
          <a:p>
            <a:r>
              <a:rPr lang="en-GB" sz="2400" dirty="0"/>
              <a:t>Storing your files and photos online in the cloud has many advantages, including: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you can access your data on more than one device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you can access your data anywhere in the world if you have an internet connection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you will not lose your data if your device is lost, stolen or damaged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there is, potentially, unlimited storage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you can easily share your data with other people.</a:t>
            </a:r>
          </a:p>
        </p:txBody>
      </p:sp>
    </p:spTree>
    <p:extLst>
      <p:ext uri="{BB962C8B-B14F-4D97-AF65-F5344CB8AC3E}">
        <p14:creationId xmlns:p14="http://schemas.microsoft.com/office/powerpoint/2010/main" val="2454150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E1356D7F-0B85-456F-AF77-E6AFDE89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951" y="2954013"/>
            <a:ext cx="4117848" cy="24140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disadvantages of cloud storage</a:t>
            </a:r>
            <a:r>
              <a:rPr lang="en-GB" dirty="0">
                <a:solidFill>
                  <a:schemeClr val="bg1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7" y="2074102"/>
            <a:ext cx="6261180" cy="27264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However, there are disadvantages to storing files and photos online.</a:t>
            </a:r>
          </a:p>
          <a:p>
            <a:pPr lvl="0"/>
            <a:r>
              <a:rPr lang="en-GB" sz="2400" dirty="0"/>
              <a:t>You can store only a relatively small amount of data for free.</a:t>
            </a:r>
          </a:p>
          <a:p>
            <a:pPr lvl="0"/>
            <a:r>
              <a:rPr lang="en-GB" sz="2400" dirty="0"/>
              <a:t>Monthly fees for extra storage can be expensive.</a:t>
            </a:r>
          </a:p>
          <a:p>
            <a:pPr lvl="0"/>
            <a:r>
              <a:rPr lang="en-GB" sz="2400" dirty="0"/>
              <a:t>Cyber criminals can potentially access your files from a cloud server without accessing your computer or phone. They can then ransom them, delete them or steal sensitive information.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advantages of cloud software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1850659"/>
            <a:ext cx="875637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sz="2000" dirty="0">
                <a:ea typeface="Times New Roman" panose="02020603050405020304" pitchFamily="18" charset="0"/>
                <a:cs typeface="Calibri" panose="020F0502020204030204" pitchFamily="34" charset="0"/>
              </a:rPr>
              <a:t>Many people and business now use online software, including word-processing, spreadsheet and photo- and video-editing software.</a:t>
            </a:r>
          </a:p>
          <a:p>
            <a:pPr>
              <a:tabLst>
                <a:tab pos="5727700" algn="r"/>
              </a:tabLst>
            </a:pPr>
            <a:endParaRPr lang="en-GB" sz="2000" dirty="0">
              <a:ea typeface="Times New Roman" panose="02020603050405020304" pitchFamily="18" charset="0"/>
            </a:endParaRPr>
          </a:p>
          <a:p>
            <a:pPr>
              <a:tabLst>
                <a:tab pos="5727700" algn="r"/>
              </a:tabLst>
            </a:pPr>
            <a:r>
              <a:rPr lang="en-GB" sz="2000" dirty="0">
                <a:ea typeface="Times New Roman" panose="02020603050405020304" pitchFamily="18" charset="0"/>
                <a:cs typeface="Calibri" panose="020F0502020204030204" pitchFamily="34" charset="0"/>
              </a:rPr>
              <a:t>Using online software has many advantages, including:</a:t>
            </a:r>
            <a:endParaRPr lang="en-GB" sz="2000" dirty="0"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5727700" algn="r"/>
              </a:tabLst>
            </a:pPr>
            <a:r>
              <a:rPr lang="en-GB" sz="2000" dirty="0">
                <a:ea typeface="Times New Roman" panose="02020603050405020304" pitchFamily="18" charset="0"/>
                <a:cs typeface="Calibri" panose="020F0502020204030204" pitchFamily="34" charset="0"/>
              </a:rPr>
              <a:t>you do not need to install software on your computer</a:t>
            </a:r>
            <a:endParaRPr lang="en-GB" sz="2000" dirty="0"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5727700" algn="r"/>
              </a:tabLst>
            </a:pPr>
            <a:r>
              <a:rPr lang="en-GB" sz="2000" dirty="0">
                <a:ea typeface="Times New Roman" panose="02020603050405020304" pitchFamily="18" charset="0"/>
                <a:cs typeface="Calibri" panose="020F0502020204030204" pitchFamily="34" charset="0"/>
              </a:rPr>
              <a:t>you never have to worry about software updates</a:t>
            </a:r>
            <a:endParaRPr lang="en-GB" sz="2000" dirty="0"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5727700" algn="r"/>
              </a:tabLst>
            </a:pPr>
            <a:r>
              <a:rPr lang="en-GB" sz="2000" dirty="0">
                <a:ea typeface="Times New Roman" panose="02020603050405020304" pitchFamily="18" charset="0"/>
                <a:cs typeface="Calibri" panose="020F0502020204030204" pitchFamily="34" charset="0"/>
              </a:rPr>
              <a:t>you’re less likely to be affected by </a:t>
            </a:r>
            <a:r>
              <a:rPr lang="en-GB" sz="2000" b="1" dirty="0">
                <a:solidFill>
                  <a:srgbClr val="7049A8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malware</a:t>
            </a:r>
            <a:r>
              <a:rPr lang="en-GB" sz="2000" dirty="0">
                <a:ea typeface="Times New Roman" panose="02020603050405020304" pitchFamily="18" charset="0"/>
                <a:cs typeface="Calibri" panose="020F0502020204030204" pitchFamily="34" charset="0"/>
              </a:rPr>
              <a:t> because the data and programs are not stored on your computer</a:t>
            </a:r>
            <a:endParaRPr lang="en-GB" sz="2000" dirty="0"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5727700" algn="r"/>
              </a:tabLst>
            </a:pPr>
            <a:r>
              <a:rPr lang="en-GB" sz="2000" dirty="0">
                <a:ea typeface="Times New Roman" panose="02020603050405020304" pitchFamily="18" charset="0"/>
                <a:cs typeface="Calibri" panose="020F0502020204030204" pitchFamily="34" charset="0"/>
              </a:rPr>
              <a:t>you can work on your files anywhere using any device if you have an internet connection</a:t>
            </a:r>
            <a:endParaRPr lang="en-GB" sz="2000" dirty="0"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5727700" algn="r"/>
              </a:tabLst>
            </a:pPr>
            <a:r>
              <a:rPr lang="en-GB" sz="2000" dirty="0">
                <a:ea typeface="Times New Roman" panose="02020603050405020304" pitchFamily="18" charset="0"/>
                <a:cs typeface="Calibri" panose="020F0502020204030204" pitchFamily="34" charset="0"/>
              </a:rPr>
              <a:t>you don’t need a powerful computer because the processing is done by the server running in the cloud</a:t>
            </a:r>
            <a:endParaRPr lang="en-GB" sz="2000" dirty="0"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5727700" algn="r"/>
              </a:tabLst>
            </a:pPr>
            <a:r>
              <a:rPr lang="en-GB" sz="2000" dirty="0">
                <a:ea typeface="Times New Roman" panose="02020603050405020304" pitchFamily="18" charset="0"/>
                <a:cs typeface="Calibri" panose="020F0502020204030204" pitchFamily="34" charset="0"/>
              </a:rPr>
              <a:t>some of the most popular online software, including Google Docs, Google Sheets and Office Online, is free.</a:t>
            </a:r>
            <a:endParaRPr lang="en-GB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45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disadvantages of cloud software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1850659"/>
            <a:ext cx="875637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However, there are also disadvantages of running software in the cloud.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You can only access online software if you’re online.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Online image-editing and video-editing software is getting better, but it can be very slow.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Online versions of software often have fewer features than the downloadable versions.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The software developer may earn money selling advertising, so you may be distracted by a lot of adverts.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The software company may have access to your work and could sell this information to someone else.</a:t>
            </a:r>
          </a:p>
        </p:txBody>
      </p:sp>
    </p:spTree>
    <p:extLst>
      <p:ext uri="{BB962C8B-B14F-4D97-AF65-F5344CB8AC3E}">
        <p14:creationId xmlns:p14="http://schemas.microsoft.com/office/powerpoint/2010/main" val="3657350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4.3: Cloud computing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7B43F-1202-4C72-8C07-0520FF269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21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4.4: Toppers (Part 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04607-0DDD-4867-9DF6-02B449968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66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>
                <a:solidFill>
                  <a:schemeClr val="bg1"/>
                </a:solidFill>
              </a:rPr>
              <a:t>Quiz 4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CAA1D-B756-4D55-AB31-C305BE44F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8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704</Words>
  <Application>Microsoft Office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Office Theme</vt:lpstr>
      <vt:lpstr>PowerPoint Presentation</vt:lpstr>
      <vt:lpstr>Objectives</vt:lpstr>
      <vt:lpstr>The internet </vt:lpstr>
      <vt:lpstr>A global collection of computer networks </vt:lpstr>
      <vt:lpstr>Cables </vt:lpstr>
      <vt:lpstr>Submarine cables </vt:lpstr>
      <vt:lpstr>Activity 4.1 Submarine cables </vt:lpstr>
      <vt:lpstr>Online services</vt:lpstr>
      <vt:lpstr>Activity 4.2: Online services</vt:lpstr>
      <vt:lpstr>Cloud computing</vt:lpstr>
      <vt:lpstr>The advantages of cloud storage</vt:lpstr>
      <vt:lpstr>The disadvantages of cloud storage </vt:lpstr>
      <vt:lpstr>The advantages of cloud software </vt:lpstr>
      <vt:lpstr>The disadvantages of cloud software </vt:lpstr>
      <vt:lpstr>Activity 4.3: Cloud computing </vt:lpstr>
      <vt:lpstr>Activity 4.4: Toppers (Part 4)</vt:lpstr>
      <vt:lpstr>Quiz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44</cp:revision>
  <dcterms:created xsi:type="dcterms:W3CDTF">2020-11-04T15:22:46Z</dcterms:created>
  <dcterms:modified xsi:type="dcterms:W3CDTF">2021-06-07T17:42:34Z</dcterms:modified>
</cp:coreProperties>
</file>