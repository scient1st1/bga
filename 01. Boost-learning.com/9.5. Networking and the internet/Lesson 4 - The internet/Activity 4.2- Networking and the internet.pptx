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63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igail Woodman" initials="AW" lastIdx="5" clrIdx="0">
    <p:extLst>
      <p:ext uri="{19B8F6BF-5375-455C-9EA6-DF929625EA0E}">
        <p15:presenceInfo xmlns:p15="http://schemas.microsoft.com/office/powerpoint/2012/main" userId="101d9322c09a9ebd" providerId="Windows Live"/>
      </p:ext>
    </p:extLst>
  </p:cmAuthor>
  <p:cmAuthor id="2" name="Mr M Clarkson" initials="MMC" lastIdx="5" clrIdx="1">
    <p:extLst>
      <p:ext uri="{19B8F6BF-5375-455C-9EA6-DF929625EA0E}">
        <p15:presenceInfo xmlns:p15="http://schemas.microsoft.com/office/powerpoint/2012/main" userId="S-1-5-21-945254670-3325979339-902622878-507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3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108" y="5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25544-2910-4844-AB70-D10577CB2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2F123D-BE90-4937-9FDF-111AD9A3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1DEC9-A71C-4EBC-A557-0261282E7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8AC6F0-7B11-4FFC-85BF-EEE5CC51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FEC85-D8E0-4835-857D-FCD18DCC8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547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DD1A3-68AB-48BE-9411-3E4E60D3A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BE2A3-3486-42D0-A8AF-9D3776C93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317D4-DB0D-47B6-97CC-9DEADAB37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B585C-3E46-4663-95BD-CEAB6FC25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EA073-B4C5-4BBC-B5AA-DD5EEF4D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01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63506-00D1-4D25-ABA4-AD695AE34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6CFE4-B790-41BB-A639-530210812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4494DC-A722-4E24-8CFA-AC8625270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B1342-4DFA-45B0-BD30-03FFB956D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3074E-8275-4750-9C03-4ECA54D6D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725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B9180-FBE0-4FC5-990D-D5495C4E8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66F30-CCAB-4804-90C0-CF293DAEC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F0A4E9-2E00-41AD-9398-50EE07B08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90E92-12A9-4CE1-987B-0F09F1A7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D6009-DB3E-4B28-8E55-5DB8F2528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E12F7-48E1-40CF-BE38-2BC22957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918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15CD7-4D8F-4024-9EC9-C9DCA1B98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BF56BB-C54C-426F-A127-2346BD38B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94D007-30AF-4E06-93F8-101D664CA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2D0187-6241-4186-9C58-93D385EED7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20A441-2583-4967-866C-B7308E0A42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368DD-2A79-4469-95D9-752764E67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BCEEC7-0151-4061-A9AE-0B75A7291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4AE594-1F13-4767-BA95-E0528B29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055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D6E40-84E2-4319-9A22-3A3CA5AF0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3C3CB9-5887-4DA1-94D3-1E79D6178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B71890-BB14-4307-A74E-441AC6A2B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4404D-28FE-42EA-BCE9-DAD4499F5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704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8EBA6E-0308-4F80-B96A-FC634AC2A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DB1180-FE2D-4577-B71E-CE79DEEC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3E97D-E83C-4F03-9E5E-6FCBBDF2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439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618D-31A4-4AB0-9A2C-FCE4395E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BE36B-3F04-4A51-9C3E-18614341D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38FE6-9821-4FC8-AB0F-9972A19DB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7FE03E-F063-445F-9C2B-8A811374F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26E8-8B8A-47DA-B7E6-CF040DCF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1216-3BE7-4C2E-9C3A-714A38A8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1497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B3B33-2C16-485B-BD47-434B8E4D3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FDF0F9-E4B8-4C7B-B0CD-2FB57938C9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739C9-0D0D-433D-A876-0AD56DFE44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A7ECAD-8B0D-4696-B872-798F1277C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0442C-D68A-4F8D-8B16-896EAEE9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CA65B-4EFB-42D0-8AFD-48ED151BC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571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5303A-4AD0-4A32-A51A-F506C972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9DF74-BA92-4187-A60E-8689F0B8D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0DA99-47E9-4D36-BA8D-E877683B0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3ABF8-43E4-48C0-B0C8-6BE5A39B6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C4F64-4B2F-477A-893D-D2118F58F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24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1B93B9-94E7-4A34-BE20-858EE79D2E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3FF3D-477A-4E9D-8350-30055E879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24C0C-A4EF-4A1B-8B78-4F2FFAAB1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6E06B-F05F-4D33-ACD8-891A67549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D52B0-990F-4829-9AF2-56D7C8DD6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361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708BB4-6445-42E5-BE52-67A20D1DD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90418-BE70-4C22-B1D5-179C67A05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4B0ED-815B-4A55-9664-3054101FC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070934-94F8-4B8E-9B9A-58D3FF7D2707}" type="datetimeFigureOut">
              <a:rPr lang="en-GB" smtClean="0"/>
              <a:t>25/05/2021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A607A-8249-4D9A-BC73-80F806CDE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8A264-1A1B-42C0-B4D1-A6559B5E7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D124-C938-4B4E-8070-16540ADD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667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2D9B-38F3-4BA0-8C77-3A4828868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6364" y="2401455"/>
            <a:ext cx="8940800" cy="2866967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+mn-lt"/>
              </a:rPr>
              <a:t>Imagine the history department at your school is putting together a time capsule, which will stay buried for 100 years. Each subject area has been asked to describe one aspect of life in the early twenty-first century and you have been asked to describe five online services. A series of factsheets have been started, but you still need to complete the advantages and disadvantages of each service.</a:t>
            </a:r>
            <a:br>
              <a:rPr lang="en-GB" sz="2400" dirty="0">
                <a:latin typeface="+mn-lt"/>
              </a:rPr>
            </a:br>
            <a:br>
              <a:rPr lang="en-GB" sz="2400" dirty="0">
                <a:latin typeface="+mn-lt"/>
              </a:rPr>
            </a:br>
            <a:r>
              <a:rPr lang="en-GB" sz="2400" dirty="0">
                <a:latin typeface="+mn-lt"/>
              </a:rPr>
              <a:t>Work through this presentation and fill in the gaps.</a:t>
            </a:r>
          </a:p>
        </p:txBody>
      </p:sp>
      <p:pic>
        <p:nvPicPr>
          <p:cNvPr id="3" name="Picture 2" descr="Shape, rectangle&#10;&#10;Description automatically generated">
            <a:extLst>
              <a:ext uri="{FF2B5EF4-FFF2-40B4-BE49-F238E27FC236}">
                <a16:creationId xmlns:a16="http://schemas.microsoft.com/office/drawing/2014/main" id="{CDFC6583-81C9-4AA8-B394-5F3BED10D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7999" cy="16223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679AEB8-B62B-49B8-8883-03F2D611FE45}"/>
              </a:ext>
            </a:extLst>
          </p:cNvPr>
          <p:cNvSpPr/>
          <p:nvPr/>
        </p:nvSpPr>
        <p:spPr>
          <a:xfrm>
            <a:off x="1616364" y="811195"/>
            <a:ext cx="5718425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Activity 4.2: Online services</a:t>
            </a:r>
            <a:endParaRPr lang="en-GB" sz="40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620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91ADC4-DD3E-45B0-9F38-558345261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484722"/>
              </p:ext>
            </p:extLst>
          </p:nvPr>
        </p:nvGraphicFramePr>
        <p:xfrm>
          <a:off x="341744" y="554182"/>
          <a:ext cx="11526983" cy="573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65623">
                  <a:extLst>
                    <a:ext uri="{9D8B030D-6E8A-4147-A177-3AD203B41FA5}">
                      <a16:colId xmlns:a16="http://schemas.microsoft.com/office/drawing/2014/main" val="938328853"/>
                    </a:ext>
                  </a:extLst>
                </a:gridCol>
                <a:gridCol w="8661360">
                  <a:extLst>
                    <a:ext uri="{9D8B030D-6E8A-4147-A177-3AD203B41FA5}">
                      <a16:colId xmlns:a16="http://schemas.microsoft.com/office/drawing/2014/main" val="3516646680"/>
                    </a:ext>
                  </a:extLst>
                </a:gridCol>
              </a:tblGrid>
              <a:tr h="1846800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Online service:</a:t>
                      </a:r>
                    </a:p>
                    <a:p>
                      <a:pPr algn="ctr"/>
                      <a:r>
                        <a:rPr lang="en-GB" sz="2400" b="1" dirty="0"/>
                        <a:t>Streaming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What you can do:</a:t>
                      </a:r>
                    </a:p>
                    <a:p>
                      <a:endParaRPr lang="en-GB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Watch videos, TV programs and films online.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Listen to music and can find new artists.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770909"/>
                  </a:ext>
                </a:extLst>
              </a:tr>
              <a:tr h="1944000">
                <a:tc rowSpan="2">
                  <a:txBody>
                    <a:bodyPr/>
                    <a:lstStyle/>
                    <a:p>
                      <a:r>
                        <a:rPr lang="en-GB" sz="2400" b="1" dirty="0"/>
                        <a:t>Examples: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GB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YouTube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Netflix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Spotify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1305414"/>
                  </a:ext>
                </a:extLst>
              </a:tr>
              <a:tr h="1944000"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Disadvantages: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5849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608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91ADC4-DD3E-45B0-9F38-558345261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337010"/>
              </p:ext>
            </p:extLst>
          </p:nvPr>
        </p:nvGraphicFramePr>
        <p:xfrm>
          <a:off x="341744" y="554180"/>
          <a:ext cx="11526983" cy="573578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65623">
                  <a:extLst>
                    <a:ext uri="{9D8B030D-6E8A-4147-A177-3AD203B41FA5}">
                      <a16:colId xmlns:a16="http://schemas.microsoft.com/office/drawing/2014/main" val="938328853"/>
                    </a:ext>
                  </a:extLst>
                </a:gridCol>
                <a:gridCol w="8661360">
                  <a:extLst>
                    <a:ext uri="{9D8B030D-6E8A-4147-A177-3AD203B41FA5}">
                      <a16:colId xmlns:a16="http://schemas.microsoft.com/office/drawing/2014/main" val="3516646680"/>
                    </a:ext>
                  </a:extLst>
                </a:gridCol>
              </a:tblGrid>
              <a:tr h="1848283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Online service:</a:t>
                      </a:r>
                    </a:p>
                    <a:p>
                      <a:pPr algn="ctr"/>
                      <a:r>
                        <a:rPr lang="en-GB" sz="2400" b="1" dirty="0"/>
                        <a:t>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What you can do: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Send messages to other people.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Set up group chats so that more than two people can chat online.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Organise online meet-ups and events.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Have video chats so you can see each other while you are talking.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Send files by email.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770909"/>
                  </a:ext>
                </a:extLst>
              </a:tr>
              <a:tr h="1943750">
                <a:tc rowSpan="2">
                  <a:txBody>
                    <a:bodyPr/>
                    <a:lstStyle/>
                    <a:p>
                      <a:r>
                        <a:rPr lang="en-GB" sz="2400" b="1" dirty="0"/>
                        <a:t>Examples: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GB" sz="2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Email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Messenger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WhatsApp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Zoom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dirty="0"/>
                        <a:t>Social Media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1305414"/>
                  </a:ext>
                </a:extLst>
              </a:tr>
              <a:tr h="1943750"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Disadvantages: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5849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2777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91ADC4-DD3E-45B0-9F38-558345261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28201"/>
              </p:ext>
            </p:extLst>
          </p:nvPr>
        </p:nvGraphicFramePr>
        <p:xfrm>
          <a:off x="341744" y="554180"/>
          <a:ext cx="11526983" cy="573578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65623">
                  <a:extLst>
                    <a:ext uri="{9D8B030D-6E8A-4147-A177-3AD203B41FA5}">
                      <a16:colId xmlns:a16="http://schemas.microsoft.com/office/drawing/2014/main" val="938328853"/>
                    </a:ext>
                  </a:extLst>
                </a:gridCol>
                <a:gridCol w="8661360">
                  <a:extLst>
                    <a:ext uri="{9D8B030D-6E8A-4147-A177-3AD203B41FA5}">
                      <a16:colId xmlns:a16="http://schemas.microsoft.com/office/drawing/2014/main" val="3516646680"/>
                    </a:ext>
                  </a:extLst>
                </a:gridCol>
              </a:tblGrid>
              <a:tr h="1848283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Online service:</a:t>
                      </a:r>
                    </a:p>
                    <a:p>
                      <a:pPr algn="ctr"/>
                      <a:r>
                        <a:rPr lang="en-GB" sz="2400" b="1" dirty="0"/>
                        <a:t>Online 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What you can do: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Find out new information.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Learn new skills by watching videos or animations.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Teach yourself.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770909"/>
                  </a:ext>
                </a:extLst>
              </a:tr>
              <a:tr h="1943750">
                <a:tc rowSpan="2">
                  <a:txBody>
                    <a:bodyPr/>
                    <a:lstStyle/>
                    <a:p>
                      <a:r>
                        <a:rPr lang="en-GB" sz="2400" b="1" dirty="0"/>
                        <a:t>Examples: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GB" sz="2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BBC Bitesize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Khan Academy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Duolingo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1305414"/>
                  </a:ext>
                </a:extLst>
              </a:tr>
              <a:tr h="1943750"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Disadvantages: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5849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7999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91ADC4-DD3E-45B0-9F38-558345261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391569"/>
              </p:ext>
            </p:extLst>
          </p:nvPr>
        </p:nvGraphicFramePr>
        <p:xfrm>
          <a:off x="341744" y="554180"/>
          <a:ext cx="11526983" cy="573578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65623">
                  <a:extLst>
                    <a:ext uri="{9D8B030D-6E8A-4147-A177-3AD203B41FA5}">
                      <a16:colId xmlns:a16="http://schemas.microsoft.com/office/drawing/2014/main" val="938328853"/>
                    </a:ext>
                  </a:extLst>
                </a:gridCol>
                <a:gridCol w="8661360">
                  <a:extLst>
                    <a:ext uri="{9D8B030D-6E8A-4147-A177-3AD203B41FA5}">
                      <a16:colId xmlns:a16="http://schemas.microsoft.com/office/drawing/2014/main" val="3516646680"/>
                    </a:ext>
                  </a:extLst>
                </a:gridCol>
              </a:tblGrid>
              <a:tr h="1848283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Online service:</a:t>
                      </a:r>
                    </a:p>
                    <a:p>
                      <a:pPr algn="ctr"/>
                      <a:r>
                        <a:rPr lang="en-GB" sz="2400" b="1" dirty="0"/>
                        <a:t>Online gaming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What you can do: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Play games with others.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Play collaboratively, working with the other people to win the game.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Play competitively, trying to beat the other people to win the game.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770909"/>
                  </a:ext>
                </a:extLst>
              </a:tr>
              <a:tr h="1943750">
                <a:tc rowSpan="2">
                  <a:txBody>
                    <a:bodyPr/>
                    <a:lstStyle/>
                    <a:p>
                      <a:r>
                        <a:rPr lang="en-GB" sz="2400" b="1" dirty="0"/>
                        <a:t>Examples: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GB" sz="2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Minecraft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Animal Crossing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Rocket League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FIFA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 err="1"/>
                        <a:t>Fortnite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1305414"/>
                  </a:ext>
                </a:extLst>
              </a:tr>
              <a:tr h="1943750"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Disadvantages: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5849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4172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D91ADC4-DD3E-45B0-9F38-558345261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536357"/>
              </p:ext>
            </p:extLst>
          </p:nvPr>
        </p:nvGraphicFramePr>
        <p:xfrm>
          <a:off x="341744" y="554180"/>
          <a:ext cx="11526983" cy="573578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65623">
                  <a:extLst>
                    <a:ext uri="{9D8B030D-6E8A-4147-A177-3AD203B41FA5}">
                      <a16:colId xmlns:a16="http://schemas.microsoft.com/office/drawing/2014/main" val="938328853"/>
                    </a:ext>
                  </a:extLst>
                </a:gridCol>
                <a:gridCol w="8661360">
                  <a:extLst>
                    <a:ext uri="{9D8B030D-6E8A-4147-A177-3AD203B41FA5}">
                      <a16:colId xmlns:a16="http://schemas.microsoft.com/office/drawing/2014/main" val="3516646680"/>
                    </a:ext>
                  </a:extLst>
                </a:gridCol>
              </a:tblGrid>
              <a:tr h="1848283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Online service:</a:t>
                      </a:r>
                    </a:p>
                    <a:p>
                      <a:pPr algn="ctr"/>
                      <a:r>
                        <a:rPr lang="en-GB" sz="2400" b="1" dirty="0"/>
                        <a:t>Online shopping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What you can do: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View products.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Check prices for different products.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Compare prices in different online stores.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Order products to be delivered.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770909"/>
                  </a:ext>
                </a:extLst>
              </a:tr>
              <a:tr h="1943750">
                <a:tc rowSpan="2">
                  <a:txBody>
                    <a:bodyPr/>
                    <a:lstStyle/>
                    <a:p>
                      <a:r>
                        <a:rPr lang="en-GB" sz="2400" b="1" dirty="0"/>
                        <a:t>Examples: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GB" sz="2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Amazon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eBay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Etsy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1305414"/>
                  </a:ext>
                </a:extLst>
              </a:tr>
              <a:tr h="1943750"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1" dirty="0"/>
                        <a:t>Disadvantages:</a:t>
                      </a:r>
                    </a:p>
                  </a:txBody>
                  <a:tcPr>
                    <a:lnL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759A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5849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581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313</Words>
  <Application>Microsoft Office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Imagine the history department at your school is putting together a time capsule, which will stay buried for 100 years. Each subject area has been asked to describe one aspect of life in the early twenty-first century and you have been asked to describe five online services. A series of factsheets have been started, but you still need to complete the advantages and disadvantages of each service.  Work through this presentation and fill in the gaps.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M Clarkson</dc:creator>
  <cp:lastModifiedBy>Lea Albrechtsen</cp:lastModifiedBy>
  <cp:revision>21</cp:revision>
  <dcterms:created xsi:type="dcterms:W3CDTF">2020-08-06T09:36:32Z</dcterms:created>
  <dcterms:modified xsi:type="dcterms:W3CDTF">2021-05-25T14:05:30Z</dcterms:modified>
</cp:coreProperties>
</file>