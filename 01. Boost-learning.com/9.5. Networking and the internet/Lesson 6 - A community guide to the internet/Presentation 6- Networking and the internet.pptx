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5" r:id="rId5"/>
    <p:sldId id="285"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a Albrechtsen" initials="LA" lastIdx="2" clrIdx="0">
    <p:extLst>
      <p:ext uri="{19B8F6BF-5375-455C-9EA6-DF929625EA0E}">
        <p15:presenceInfo xmlns:p15="http://schemas.microsoft.com/office/powerpoint/2012/main" userId="S::Lea.Albrechtsen@hoddereducation.co.uk::4df490f3-5904-4e82-a5b6-23281874b6f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049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36" autoAdjust="0"/>
    <p:restoredTop sz="94660"/>
  </p:normalViewPr>
  <p:slideViewPr>
    <p:cSldViewPr snapToGrid="0">
      <p:cViewPr varScale="1">
        <p:scale>
          <a:sx n="42" d="100"/>
          <a:sy n="42" d="100"/>
        </p:scale>
        <p:origin x="54" y="15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commentAuthors" Target="commen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7712-1F3B-4253-AEF1-0FE171523E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DC14F2F-A2B8-4861-8B33-2CF08A1C25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137814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0902-80CF-4DD3-B59F-8E58611CF1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B756315-CBCB-4124-93B3-3DEF3C56BD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FA47B5-60C4-46E0-B317-50F50E6D857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25/05/2021</a:t>
            </a:fld>
            <a:endParaRPr lang="en-GB"/>
          </a:p>
        </p:txBody>
      </p:sp>
      <p:sp>
        <p:nvSpPr>
          <p:cNvPr id="5" name="Footer Placeholder 4">
            <a:extLst>
              <a:ext uri="{FF2B5EF4-FFF2-40B4-BE49-F238E27FC236}">
                <a16:creationId xmlns:a16="http://schemas.microsoft.com/office/drawing/2014/main" id="{5F049A0D-7474-4882-A51A-CF35E154FD2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99F5A12C-5BED-457E-A6CE-2E58C8D0DED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323353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2461-8DBB-43F0-A3AC-126E643979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596A727-278D-4E57-850B-78E0D727C7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41C733-75AA-40FE-8179-B58FA4EA5EE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25/05/2021</a:t>
            </a:fld>
            <a:endParaRPr lang="en-GB"/>
          </a:p>
        </p:txBody>
      </p:sp>
      <p:sp>
        <p:nvSpPr>
          <p:cNvPr id="5" name="Footer Placeholder 4">
            <a:extLst>
              <a:ext uri="{FF2B5EF4-FFF2-40B4-BE49-F238E27FC236}">
                <a16:creationId xmlns:a16="http://schemas.microsoft.com/office/drawing/2014/main" id="{FB8C4D2E-FA87-41DA-961F-7D250DD08DA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F020F2E-2A86-4F16-B83F-E86E7319950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61104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B458-3AE6-4C21-BEBE-F7B76061980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2FF206-47D4-451B-80B7-578E10A3E6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D2DF79-B13E-46C5-AAA1-F49C3BABAB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F199702-3758-423C-8C91-550D5C885DF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25/05/2021</a:t>
            </a:fld>
            <a:endParaRPr lang="en-GB"/>
          </a:p>
        </p:txBody>
      </p:sp>
      <p:sp>
        <p:nvSpPr>
          <p:cNvPr id="6" name="Footer Placeholder 5">
            <a:extLst>
              <a:ext uri="{FF2B5EF4-FFF2-40B4-BE49-F238E27FC236}">
                <a16:creationId xmlns:a16="http://schemas.microsoft.com/office/drawing/2014/main" id="{4355CC31-BF31-4EB1-8B54-2DD0D6BE79BC}"/>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303EFAF2-4586-4670-8EF7-78067B1872A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411615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5FA2-A60C-405C-A307-880C049CB0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970388-4034-4A46-8B98-D37491E014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C39A8B-6B00-4329-AC44-AD6EBE236E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55DFF08-1C59-4E60-A964-4D4A369007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548497-A585-4527-B8A6-BB01B9FBC4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77C2D4B-BCC3-48CF-B358-D817886727C0}"/>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25/05/2021</a:t>
            </a:fld>
            <a:endParaRPr lang="en-GB"/>
          </a:p>
        </p:txBody>
      </p:sp>
      <p:sp>
        <p:nvSpPr>
          <p:cNvPr id="8" name="Footer Placeholder 7">
            <a:extLst>
              <a:ext uri="{FF2B5EF4-FFF2-40B4-BE49-F238E27FC236}">
                <a16:creationId xmlns:a16="http://schemas.microsoft.com/office/drawing/2014/main" id="{B393C415-FAAE-444A-BBA1-9059E1C450A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16C512DB-E555-4910-92DC-7AB19F87F8E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4774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8A33-5CA5-4826-9B83-0B2F6A50C2B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17C1E61-1B5E-44DC-BC0F-2F956B04C01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25/05/2021</a:t>
            </a:fld>
            <a:endParaRPr lang="en-GB"/>
          </a:p>
        </p:txBody>
      </p:sp>
      <p:sp>
        <p:nvSpPr>
          <p:cNvPr id="4" name="Footer Placeholder 3">
            <a:extLst>
              <a:ext uri="{FF2B5EF4-FFF2-40B4-BE49-F238E27FC236}">
                <a16:creationId xmlns:a16="http://schemas.microsoft.com/office/drawing/2014/main" id="{DBA212BA-9EF0-4463-A9C0-997D5572049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E350D64F-9F3A-43FB-A563-07763EE16E2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27959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39767-A677-43FB-A13E-C6E76D21E158}"/>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25/05/2021</a:t>
            </a:fld>
            <a:endParaRPr lang="en-GB"/>
          </a:p>
        </p:txBody>
      </p:sp>
      <p:sp>
        <p:nvSpPr>
          <p:cNvPr id="3" name="Footer Placeholder 2">
            <a:extLst>
              <a:ext uri="{FF2B5EF4-FFF2-40B4-BE49-F238E27FC236}">
                <a16:creationId xmlns:a16="http://schemas.microsoft.com/office/drawing/2014/main" id="{BFA103BA-C2DE-41DE-842B-306DECB788D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5B8320D2-03FC-47A8-B437-7B7CEBDD6176}"/>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747179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20E6-8664-4FD7-A9B2-0B5C17E86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D75017E-7CE6-4AFE-8756-092A858401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85C17A6-B2E1-42BB-9629-032C80545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DC4D7-18F9-4992-BB61-15FA97A5299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25/05/2021</a:t>
            </a:fld>
            <a:endParaRPr lang="en-GB"/>
          </a:p>
        </p:txBody>
      </p:sp>
      <p:sp>
        <p:nvSpPr>
          <p:cNvPr id="6" name="Footer Placeholder 5">
            <a:extLst>
              <a:ext uri="{FF2B5EF4-FFF2-40B4-BE49-F238E27FC236}">
                <a16:creationId xmlns:a16="http://schemas.microsoft.com/office/drawing/2014/main" id="{4FB52144-EB56-46FB-8C3D-7A870235437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E7142B02-C27D-4AC0-9DE7-A653F338FB9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89558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D8A0-DA8A-463F-AC82-9A3D896B80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B553CB-6BB8-4D69-8270-E69093C148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00E0B06-F972-42E3-B94A-6BA4824458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CFE24-5759-425E-A7E5-6EAACD13BAA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25/05/2021</a:t>
            </a:fld>
            <a:endParaRPr lang="en-GB"/>
          </a:p>
        </p:txBody>
      </p:sp>
      <p:sp>
        <p:nvSpPr>
          <p:cNvPr id="6" name="Footer Placeholder 5">
            <a:extLst>
              <a:ext uri="{FF2B5EF4-FFF2-40B4-BE49-F238E27FC236}">
                <a16:creationId xmlns:a16="http://schemas.microsoft.com/office/drawing/2014/main" id="{EC458F3E-34B5-48AA-B148-66ED69F3067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AB133722-4E46-4BF0-841D-DC92DCB4825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2153194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43C2-4F61-40F8-A06C-596F42B7D0A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12D4A7-8F4B-484D-90BE-4A6A303F65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BE0C66-2DCD-4454-98BE-EE8ADD1D798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25/05/2021</a:t>
            </a:fld>
            <a:endParaRPr lang="en-GB"/>
          </a:p>
        </p:txBody>
      </p:sp>
      <p:sp>
        <p:nvSpPr>
          <p:cNvPr id="5" name="Footer Placeholder 4">
            <a:extLst>
              <a:ext uri="{FF2B5EF4-FFF2-40B4-BE49-F238E27FC236}">
                <a16:creationId xmlns:a16="http://schemas.microsoft.com/office/drawing/2014/main" id="{B6C655C5-A5ED-4766-97E4-846A805367D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17ADFEEA-B282-4D56-A557-4193031EB4A7}"/>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901290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1B7A8B-8DD3-4239-8EA1-8739462541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5621B91-126F-434B-86F2-89E6778E91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BFCCA6-FBA0-4A4B-97BC-8B2465C0186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25/05/2021</a:t>
            </a:fld>
            <a:endParaRPr lang="en-GB"/>
          </a:p>
        </p:txBody>
      </p:sp>
      <p:sp>
        <p:nvSpPr>
          <p:cNvPr id="5" name="Footer Placeholder 4">
            <a:extLst>
              <a:ext uri="{FF2B5EF4-FFF2-40B4-BE49-F238E27FC236}">
                <a16:creationId xmlns:a16="http://schemas.microsoft.com/office/drawing/2014/main" id="{5A17EED6-4B0F-4C58-A54B-C4F0F72D7BAA}"/>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1249905-D4AB-4930-9B2A-6E8E550A0D1E}"/>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08111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B9995C-D844-455E-9E19-BF66C81EFD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D204189-41E9-4E09-B418-B033E7F14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4">
            <a:extLst>
              <a:ext uri="{FF2B5EF4-FFF2-40B4-BE49-F238E27FC236}">
                <a16:creationId xmlns:a16="http://schemas.microsoft.com/office/drawing/2014/main" id="{4D739203-7E29-BA40-9D51-8F9968799BF3}"/>
              </a:ext>
            </a:extLst>
          </p:cNvPr>
          <p:cNvSpPr txBox="1">
            <a:spLocks/>
          </p:cNvSpPr>
          <p:nvPr userDrawn="1"/>
        </p:nvSpPr>
        <p:spPr>
          <a:xfrm>
            <a:off x="7547114" y="6380197"/>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1200" dirty="0"/>
              <a:t>© Hodder &amp; Stoughton Limited 2021</a:t>
            </a:r>
          </a:p>
        </p:txBody>
      </p:sp>
      <p:pic>
        <p:nvPicPr>
          <p:cNvPr id="8" name="Picture 7" descr="Shape, rectangle&#10;&#10;Description automatically generated">
            <a:extLst>
              <a:ext uri="{FF2B5EF4-FFF2-40B4-BE49-F238E27FC236}">
                <a16:creationId xmlns:a16="http://schemas.microsoft.com/office/drawing/2014/main" id="{FEDAC554-0635-7742-969A-A6C2C4C2DD42}"/>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794"/>
            <a:ext cx="12217999" cy="1622390"/>
          </a:xfrm>
          <a:prstGeom prst="rect">
            <a:avLst/>
          </a:prstGeom>
        </p:spPr>
      </p:pic>
    </p:spTree>
    <p:extLst>
      <p:ext uri="{BB962C8B-B14F-4D97-AF65-F5344CB8AC3E}">
        <p14:creationId xmlns:p14="http://schemas.microsoft.com/office/powerpoint/2010/main" val="2658774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99C9EE9-9A47-468F-8F6B-ACF273E940DB}"/>
              </a:ext>
            </a:extLst>
          </p:cNvPr>
          <p:cNvSpPr/>
          <p:nvPr/>
        </p:nvSpPr>
        <p:spPr>
          <a:xfrm>
            <a:off x="2159272" y="4537165"/>
            <a:ext cx="4900893" cy="400110"/>
          </a:xfrm>
          <a:prstGeom prst="rect">
            <a:avLst/>
          </a:prstGeom>
        </p:spPr>
        <p:txBody>
          <a:bodyPr wrap="none">
            <a:spAutoFit/>
          </a:bodyPr>
          <a:lstStyle/>
          <a:p>
            <a:pPr algn="r"/>
            <a:r>
              <a:rPr lang="en-GB" sz="2000" b="1" dirty="0">
                <a:solidFill>
                  <a:srgbClr val="7030A0"/>
                </a:solidFill>
                <a:latin typeface="Calibri" panose="020F0502020204030204" pitchFamily="34" charset="0"/>
                <a:ea typeface="Times New Roman" panose="02020603050405020304" pitchFamily="18" charset="0"/>
              </a:rPr>
              <a:t>Lesson 6: A community guide to the internet</a:t>
            </a:r>
            <a:endParaRPr lang="en-GB" sz="2000" b="1" dirty="0">
              <a:solidFill>
                <a:srgbClr val="7030A0"/>
              </a:solidFill>
            </a:endParaRPr>
          </a:p>
        </p:txBody>
      </p:sp>
      <p:sp>
        <p:nvSpPr>
          <p:cNvPr id="8" name="Title 1">
            <a:extLst>
              <a:ext uri="{FF2B5EF4-FFF2-40B4-BE49-F238E27FC236}">
                <a16:creationId xmlns:a16="http://schemas.microsoft.com/office/drawing/2014/main" id="{16A7237C-5F5E-45EC-AE00-E819E7A68F93}"/>
              </a:ext>
            </a:extLst>
          </p:cNvPr>
          <p:cNvSpPr txBox="1">
            <a:spLocks/>
          </p:cNvSpPr>
          <p:nvPr/>
        </p:nvSpPr>
        <p:spPr>
          <a:xfrm>
            <a:off x="1202454" y="2908951"/>
            <a:ext cx="5857711" cy="162821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GB" b="1" dirty="0"/>
              <a:t>Networking and the internet</a:t>
            </a:r>
          </a:p>
        </p:txBody>
      </p:sp>
      <p:pic>
        <p:nvPicPr>
          <p:cNvPr id="9" name="Picture 8">
            <a:extLst>
              <a:ext uri="{FF2B5EF4-FFF2-40B4-BE49-F238E27FC236}">
                <a16:creationId xmlns:a16="http://schemas.microsoft.com/office/drawing/2014/main" id="{31CC8561-8199-4E86-B07E-A113FEBBD279}"/>
              </a:ext>
            </a:extLst>
          </p:cNvPr>
          <p:cNvPicPr>
            <a:picLocks noChangeAspect="1"/>
          </p:cNvPicPr>
          <p:nvPr/>
        </p:nvPicPr>
        <p:blipFill>
          <a:blip r:embed="rId2"/>
          <a:stretch>
            <a:fillRect/>
          </a:stretch>
        </p:blipFill>
        <p:spPr>
          <a:xfrm>
            <a:off x="7295297" y="2908950"/>
            <a:ext cx="2937413" cy="226785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54316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630018" y="854765"/>
            <a:ext cx="9634330" cy="766349"/>
          </a:xfrm>
        </p:spPr>
        <p:txBody>
          <a:bodyPr/>
          <a:lstStyle/>
          <a:p>
            <a:r>
              <a:rPr lang="en-GB" b="1" dirty="0">
                <a:solidFill>
                  <a:schemeClr val="bg1"/>
                </a:solidFill>
              </a:rPr>
              <a:t>Objectives</a:t>
            </a:r>
          </a:p>
        </p:txBody>
      </p:sp>
      <p:sp>
        <p:nvSpPr>
          <p:cNvPr id="5" name="Rectangle 4">
            <a:extLst>
              <a:ext uri="{FF2B5EF4-FFF2-40B4-BE49-F238E27FC236}">
                <a16:creationId xmlns:a16="http://schemas.microsoft.com/office/drawing/2014/main" id="{8430BE0A-41D5-4110-A78D-A6ACD33DE78B}"/>
              </a:ext>
            </a:extLst>
          </p:cNvPr>
          <p:cNvSpPr/>
          <p:nvPr/>
        </p:nvSpPr>
        <p:spPr>
          <a:xfrm>
            <a:off x="1630018" y="2397948"/>
            <a:ext cx="9114182" cy="1692771"/>
          </a:xfrm>
          <a:prstGeom prst="rect">
            <a:avLst/>
          </a:prstGeom>
        </p:spPr>
        <p:txBody>
          <a:bodyPr wrap="square">
            <a:spAutoFit/>
          </a:bodyPr>
          <a:lstStyle/>
          <a:p>
            <a:pPr>
              <a:spcAft>
                <a:spcPts val="0"/>
              </a:spcAft>
            </a:pPr>
            <a:r>
              <a:rPr lang="en-GB" sz="3200" dirty="0">
                <a:ea typeface="Times New Roman" panose="02020603050405020304" pitchFamily="18" charset="0"/>
              </a:rPr>
              <a:t>In this lesson, you will:</a:t>
            </a:r>
          </a:p>
          <a:p>
            <a:pPr marL="342900" lvl="0" indent="-342900">
              <a:spcAft>
                <a:spcPts val="0"/>
              </a:spcAft>
              <a:buFont typeface="Symbol" panose="05050102010706020507" pitchFamily="18" charset="2"/>
              <a:buChar char=""/>
            </a:pPr>
            <a:r>
              <a:rPr lang="en-GB" sz="2400" dirty="0">
                <a:latin typeface="Calibri" panose="020F0502020204030204" pitchFamily="34" charset="0"/>
                <a:ea typeface="Times New Roman" panose="02020603050405020304" pitchFamily="18" charset="0"/>
              </a:rPr>
              <a:t>demonstrate what you have learnt about networking and the internet over the course of the module</a:t>
            </a:r>
          </a:p>
          <a:p>
            <a:pPr marL="342900" lvl="0" indent="-342900">
              <a:spcAft>
                <a:spcPts val="0"/>
              </a:spcAft>
              <a:buFont typeface="Symbol" panose="05050102010706020507" pitchFamily="18" charset="2"/>
              <a:buChar char=""/>
            </a:pPr>
            <a:r>
              <a:rPr lang="en-GB" sz="2400" dirty="0">
                <a:latin typeface="Calibri" panose="020F0502020204030204" pitchFamily="34" charset="0"/>
                <a:ea typeface="Times New Roman" panose="02020603050405020304" pitchFamily="18" charset="0"/>
              </a:rPr>
              <a:t>identify strengths and areas for improvement in your understanding.</a:t>
            </a:r>
          </a:p>
        </p:txBody>
      </p:sp>
    </p:spTree>
    <p:extLst>
      <p:ext uri="{BB962C8B-B14F-4D97-AF65-F5344CB8AC3E}">
        <p14:creationId xmlns:p14="http://schemas.microsoft.com/office/powerpoint/2010/main" val="1699810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844826"/>
            <a:ext cx="9773478" cy="775252"/>
          </a:xfrm>
        </p:spPr>
        <p:txBody>
          <a:bodyPr/>
          <a:lstStyle/>
          <a:p>
            <a:r>
              <a:rPr lang="en-GB" b="1" dirty="0">
                <a:solidFill>
                  <a:schemeClr val="bg1"/>
                </a:solidFill>
              </a:rPr>
              <a:t>Frequently Asked Questions (FAQs) </a:t>
            </a:r>
          </a:p>
        </p:txBody>
      </p:sp>
      <p:sp>
        <p:nvSpPr>
          <p:cNvPr id="3" name="Rectangle 2">
            <a:extLst>
              <a:ext uri="{FF2B5EF4-FFF2-40B4-BE49-F238E27FC236}">
                <a16:creationId xmlns:a16="http://schemas.microsoft.com/office/drawing/2014/main" id="{440A2FE6-5E02-704F-998C-BA733B4FB89C}"/>
              </a:ext>
            </a:extLst>
          </p:cNvPr>
          <p:cNvSpPr/>
          <p:nvPr/>
        </p:nvSpPr>
        <p:spPr>
          <a:xfrm>
            <a:off x="1580322" y="1950050"/>
            <a:ext cx="8179904" cy="1200329"/>
          </a:xfrm>
          <a:prstGeom prst="rect">
            <a:avLst/>
          </a:prstGeom>
        </p:spPr>
        <p:txBody>
          <a:bodyPr wrap="square">
            <a:spAutoFit/>
          </a:bodyPr>
          <a:lstStyle/>
          <a:p>
            <a:r>
              <a:rPr lang="en-GB" sz="2400" dirty="0"/>
              <a:t>Imagine your school is launching a project to help students, their parents and members of the wider community become more confident using online technology.</a:t>
            </a:r>
          </a:p>
        </p:txBody>
      </p:sp>
      <p:pic>
        <p:nvPicPr>
          <p:cNvPr id="6" name="Picture 5" descr="A picture containing text, clipart&#10;&#10;Description automatically generated">
            <a:extLst>
              <a:ext uri="{FF2B5EF4-FFF2-40B4-BE49-F238E27FC236}">
                <a16:creationId xmlns:a16="http://schemas.microsoft.com/office/drawing/2014/main" id="{DEB2D653-2026-4C42-AD5E-B0F191EE42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3867" y="3154470"/>
            <a:ext cx="6239934" cy="3048180"/>
          </a:xfrm>
          <a:prstGeom prst="rect">
            <a:avLst/>
          </a:prstGeom>
        </p:spPr>
      </p:pic>
      <p:sp>
        <p:nvSpPr>
          <p:cNvPr id="8" name="Rectangle 7">
            <a:extLst>
              <a:ext uri="{FF2B5EF4-FFF2-40B4-BE49-F238E27FC236}">
                <a16:creationId xmlns:a16="http://schemas.microsoft.com/office/drawing/2014/main" id="{2044198E-753A-49EC-AAB2-46F30DC538F3}"/>
              </a:ext>
            </a:extLst>
          </p:cNvPr>
          <p:cNvSpPr/>
          <p:nvPr/>
        </p:nvSpPr>
        <p:spPr>
          <a:xfrm>
            <a:off x="1580322" y="3150379"/>
            <a:ext cx="3533544" cy="2677656"/>
          </a:xfrm>
          <a:prstGeom prst="rect">
            <a:avLst/>
          </a:prstGeom>
        </p:spPr>
        <p:txBody>
          <a:bodyPr wrap="square">
            <a:spAutoFit/>
          </a:bodyPr>
          <a:lstStyle/>
          <a:p>
            <a:r>
              <a:rPr lang="en-GB" sz="2400" dirty="0"/>
              <a:t>The school has asked people what they struggle with and what they want to know more about and has collected together a list of Frequently Asked Questions (FAQs).</a:t>
            </a:r>
          </a:p>
        </p:txBody>
      </p:sp>
    </p:spTree>
    <p:extLst>
      <p:ext uri="{BB962C8B-B14F-4D97-AF65-F5344CB8AC3E}">
        <p14:creationId xmlns:p14="http://schemas.microsoft.com/office/powerpoint/2010/main" val="1166166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620078" y="834888"/>
            <a:ext cx="10571922" cy="775252"/>
          </a:xfrm>
        </p:spPr>
        <p:txBody>
          <a:bodyPr>
            <a:normAutofit/>
          </a:bodyPr>
          <a:lstStyle/>
          <a:p>
            <a:r>
              <a:rPr lang="en-GB" b="1" dirty="0">
                <a:solidFill>
                  <a:schemeClr val="bg1"/>
                </a:solidFill>
              </a:rPr>
              <a:t>Activity 6.1: A community guide to the internet</a:t>
            </a:r>
          </a:p>
        </p:txBody>
      </p:sp>
      <p:pic>
        <p:nvPicPr>
          <p:cNvPr id="4" name="Picture 3">
            <a:extLst>
              <a:ext uri="{FF2B5EF4-FFF2-40B4-BE49-F238E27FC236}">
                <a16:creationId xmlns:a16="http://schemas.microsoft.com/office/drawing/2014/main" id="{CECBB777-9A09-4EE3-B075-98FB41A356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9261" y="1903472"/>
            <a:ext cx="4393477" cy="4304673"/>
          </a:xfrm>
          <a:prstGeom prst="rect">
            <a:avLst/>
          </a:prstGeom>
        </p:spPr>
      </p:pic>
    </p:spTree>
    <p:extLst>
      <p:ext uri="{BB962C8B-B14F-4D97-AF65-F5344CB8AC3E}">
        <p14:creationId xmlns:p14="http://schemas.microsoft.com/office/powerpoint/2010/main" val="2354521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620078" y="834888"/>
            <a:ext cx="10571922" cy="775252"/>
          </a:xfrm>
        </p:spPr>
        <p:txBody>
          <a:bodyPr>
            <a:normAutofit/>
          </a:bodyPr>
          <a:lstStyle/>
          <a:p>
            <a:r>
              <a:rPr lang="en-GB" b="1" dirty="0">
                <a:solidFill>
                  <a:schemeClr val="bg1"/>
                </a:solidFill>
              </a:rPr>
              <a:t>Activity 6.2: Play Toppers! </a:t>
            </a:r>
          </a:p>
        </p:txBody>
      </p:sp>
      <p:sp>
        <p:nvSpPr>
          <p:cNvPr id="3" name="Rectangle 2">
            <a:extLst>
              <a:ext uri="{FF2B5EF4-FFF2-40B4-BE49-F238E27FC236}">
                <a16:creationId xmlns:a16="http://schemas.microsoft.com/office/drawing/2014/main" id="{B47DF74E-0D73-CA43-AE9C-20713A738966}"/>
              </a:ext>
            </a:extLst>
          </p:cNvPr>
          <p:cNvSpPr/>
          <p:nvPr/>
        </p:nvSpPr>
        <p:spPr>
          <a:xfrm>
            <a:off x="795868" y="2088261"/>
            <a:ext cx="9955231" cy="4154984"/>
          </a:xfrm>
          <a:prstGeom prst="rect">
            <a:avLst/>
          </a:prstGeom>
        </p:spPr>
        <p:txBody>
          <a:bodyPr wrap="square">
            <a:spAutoFit/>
          </a:bodyPr>
          <a:lstStyle/>
          <a:p>
            <a:pPr marL="355600" indent="-355600">
              <a:buFont typeface="+mj-lt"/>
              <a:buAutoNum type="arabicPeriod"/>
              <a:tabLst>
                <a:tab pos="5727700" algn="r"/>
              </a:tabLst>
            </a:pPr>
            <a:r>
              <a:rPr lang="en-GB" sz="2400" dirty="0">
                <a:ea typeface="Times New Roman" panose="02020603050405020304" pitchFamily="18" charset="0"/>
                <a:cs typeface="Calibri" panose="020F0502020204030204" pitchFamily="34" charset="0"/>
              </a:rPr>
              <a:t>In pairs collect your Topper cards together and shuffle them.</a:t>
            </a:r>
            <a:endParaRPr lang="en-GB" sz="2400" dirty="0">
              <a:ea typeface="Times New Roman" panose="02020603050405020304" pitchFamily="18" charset="0"/>
            </a:endParaRPr>
          </a:p>
          <a:p>
            <a:pPr marL="355600" indent="-355600">
              <a:buFont typeface="+mj-lt"/>
              <a:buAutoNum type="arabicPeriod"/>
              <a:tabLst>
                <a:tab pos="5727700" algn="r"/>
              </a:tabLst>
            </a:pPr>
            <a:r>
              <a:rPr lang="en-GB" sz="2400" dirty="0">
                <a:ea typeface="Times New Roman" panose="02020603050405020304" pitchFamily="18" charset="0"/>
                <a:cs typeface="Calibri" panose="020F0502020204030204" pitchFamily="34" charset="0"/>
              </a:rPr>
              <a:t>Deal the cards evenly to everyone who is playing face down.</a:t>
            </a:r>
            <a:endParaRPr lang="en-GB" sz="2400" dirty="0">
              <a:ea typeface="Times New Roman" panose="02020603050405020304" pitchFamily="18" charset="0"/>
            </a:endParaRPr>
          </a:p>
          <a:p>
            <a:pPr marL="355600" indent="-355600">
              <a:buFont typeface="+mj-lt"/>
              <a:buAutoNum type="arabicPeriod"/>
              <a:tabLst>
                <a:tab pos="5727700" algn="r"/>
              </a:tabLst>
            </a:pPr>
            <a:r>
              <a:rPr lang="en-GB" sz="2400" dirty="0">
                <a:ea typeface="Times New Roman" panose="02020603050405020304" pitchFamily="18" charset="0"/>
                <a:cs typeface="Calibri" panose="020F0502020204030204" pitchFamily="34" charset="0"/>
              </a:rPr>
              <a:t>The player to the left of the dealer begins by reading out a category from their top card (for example, ‘Cost 12’). The other players then read out the same category from their top card. The person with the highest value wins, collects the other players’ cards and places them at the bottom of their pile. It is now their turn to read out a category.</a:t>
            </a:r>
            <a:endParaRPr lang="en-GB" sz="2400" dirty="0">
              <a:ea typeface="Times New Roman" panose="02020603050405020304" pitchFamily="18" charset="0"/>
            </a:endParaRPr>
          </a:p>
          <a:p>
            <a:pPr marL="355600" indent="-355600">
              <a:buFont typeface="+mj-lt"/>
              <a:buAutoNum type="arabicPeriod"/>
              <a:tabLst>
                <a:tab pos="5727700" algn="r"/>
              </a:tabLst>
            </a:pPr>
            <a:r>
              <a:rPr lang="en-GB" sz="2400" dirty="0">
                <a:ea typeface="Times New Roman" panose="02020603050405020304" pitchFamily="18" charset="0"/>
                <a:cs typeface="Calibri" panose="020F0502020204030204" pitchFamily="34" charset="0"/>
              </a:rPr>
              <a:t>If two or more cards are the same, the cards are placed in the middle and the player reads out a category from their next card. The winner collects the cards in the middle along with the cards won during their winning turn.</a:t>
            </a:r>
            <a:endParaRPr lang="en-GB" sz="2400" dirty="0">
              <a:ea typeface="Times New Roman" panose="02020603050405020304" pitchFamily="18" charset="0"/>
            </a:endParaRPr>
          </a:p>
          <a:p>
            <a:pPr marL="355600" indent="-355600">
              <a:buFont typeface="+mj-lt"/>
              <a:buAutoNum type="arabicPeriod"/>
              <a:tabLst>
                <a:tab pos="5727700" algn="r"/>
              </a:tabLst>
            </a:pPr>
            <a:r>
              <a:rPr lang="en-GB" sz="2400" dirty="0">
                <a:ea typeface="Times New Roman" panose="02020603050405020304" pitchFamily="18" charset="0"/>
                <a:cs typeface="Calibri" panose="020F0502020204030204" pitchFamily="34" charset="0"/>
              </a:rPr>
              <a:t>The person with the most cards at the end is the winner.</a:t>
            </a:r>
            <a:endParaRPr lang="en-GB" sz="2400" dirty="0">
              <a:ea typeface="Times New Roman" panose="02020603050405020304" pitchFamily="18" charset="0"/>
            </a:endParaRPr>
          </a:p>
        </p:txBody>
      </p:sp>
      <p:pic>
        <p:nvPicPr>
          <p:cNvPr id="5" name="Picture 4">
            <a:extLst>
              <a:ext uri="{FF2B5EF4-FFF2-40B4-BE49-F238E27FC236}">
                <a16:creationId xmlns:a16="http://schemas.microsoft.com/office/drawing/2014/main" id="{744F308D-284A-4EA5-944B-B4A56C1A23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80542" y="1800395"/>
            <a:ext cx="1662203" cy="1628605"/>
          </a:xfrm>
          <a:prstGeom prst="rect">
            <a:avLst/>
          </a:prstGeom>
        </p:spPr>
      </p:pic>
    </p:spTree>
    <p:extLst>
      <p:ext uri="{BB962C8B-B14F-4D97-AF65-F5344CB8AC3E}">
        <p14:creationId xmlns:p14="http://schemas.microsoft.com/office/powerpoint/2010/main" val="1361440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375</TotalTime>
  <Words>281</Words>
  <Application>Microsoft Office PowerPoint</Application>
  <PresentationFormat>Widescreen</PresentationFormat>
  <Paragraphs>16</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Symbol</vt:lpstr>
      <vt:lpstr>Office Theme</vt:lpstr>
      <vt:lpstr>PowerPoint Presentation</vt:lpstr>
      <vt:lpstr>Objectives</vt:lpstr>
      <vt:lpstr>Frequently Asked Questions (FAQs) </vt:lpstr>
      <vt:lpstr>Activity 6.1: A community guide to the internet</vt:lpstr>
      <vt:lpstr>Activity 6.2: Play Toppers!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spreadsheets</dc:title>
  <dc:creator>Lea Albrechtsen</dc:creator>
  <cp:lastModifiedBy>Lea Albrechtsen</cp:lastModifiedBy>
  <cp:revision>33</cp:revision>
  <dcterms:created xsi:type="dcterms:W3CDTF">2020-11-04T15:22:46Z</dcterms:created>
  <dcterms:modified xsi:type="dcterms:W3CDTF">2021-05-25T15:47:22Z</dcterms:modified>
</cp:coreProperties>
</file>