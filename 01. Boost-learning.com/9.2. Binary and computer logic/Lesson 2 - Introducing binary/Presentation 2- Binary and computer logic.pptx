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74" r:id="rId5"/>
    <p:sldId id="284" r:id="rId6"/>
    <p:sldId id="273" r:id="rId7"/>
    <p:sldId id="286" r:id="rId8"/>
    <p:sldId id="275" r:id="rId9"/>
    <p:sldId id="287" r:id="rId10"/>
    <p:sldId id="288" r:id="rId11"/>
    <p:sldId id="289" r:id="rId12"/>
    <p:sldId id="285" r:id="rId13"/>
    <p:sldId id="290" r:id="rId14"/>
    <p:sldId id="291"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ea Albrechtsen" initials="LA" lastIdx="2" clrIdx="0">
    <p:extLst>
      <p:ext uri="{19B8F6BF-5375-455C-9EA6-DF929625EA0E}">
        <p15:presenceInfo xmlns:p15="http://schemas.microsoft.com/office/powerpoint/2012/main" userId="S::Lea.Albrechtsen@hoddereducation.co.uk::4df490f3-5904-4e82-a5b6-23281874b6f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636" autoAdjust="0"/>
    <p:restoredTop sz="94660"/>
  </p:normalViewPr>
  <p:slideViewPr>
    <p:cSldViewPr snapToGrid="0">
      <p:cViewPr varScale="1">
        <p:scale>
          <a:sx n="96" d="100"/>
          <a:sy n="96" d="100"/>
        </p:scale>
        <p:origin x="96" y="4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F7712-1F3B-4253-AEF1-0FE171523E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7DC14F2F-A2B8-4861-8B33-2CF08A1C25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Tree>
    <p:extLst>
      <p:ext uri="{BB962C8B-B14F-4D97-AF65-F5344CB8AC3E}">
        <p14:creationId xmlns:p14="http://schemas.microsoft.com/office/powerpoint/2010/main" val="31378146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60902-80CF-4DD3-B59F-8E58611CF13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B756315-CBCB-4124-93B3-3DEF3C56BD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DFA47B5-60C4-46E0-B317-50F50E6D857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03/06/2021</a:t>
            </a:fld>
            <a:endParaRPr lang="en-GB"/>
          </a:p>
        </p:txBody>
      </p:sp>
      <p:sp>
        <p:nvSpPr>
          <p:cNvPr id="5" name="Footer Placeholder 4">
            <a:extLst>
              <a:ext uri="{FF2B5EF4-FFF2-40B4-BE49-F238E27FC236}">
                <a16:creationId xmlns:a16="http://schemas.microsoft.com/office/drawing/2014/main" id="{5F049A0D-7474-4882-A51A-CF35E154FD2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99F5A12C-5BED-457E-A6CE-2E58C8D0DED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3233533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9C2461-8DBB-43F0-A3AC-126E643979E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596A727-278D-4E57-850B-78E0D727C72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F41C733-75AA-40FE-8179-B58FA4EA5EE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03/06/2021</a:t>
            </a:fld>
            <a:endParaRPr lang="en-GB"/>
          </a:p>
        </p:txBody>
      </p:sp>
      <p:sp>
        <p:nvSpPr>
          <p:cNvPr id="5" name="Footer Placeholder 4">
            <a:extLst>
              <a:ext uri="{FF2B5EF4-FFF2-40B4-BE49-F238E27FC236}">
                <a16:creationId xmlns:a16="http://schemas.microsoft.com/office/drawing/2014/main" id="{FB8C4D2E-FA87-41DA-961F-7D250DD08DA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BF020F2E-2A86-4F16-B83F-E86E7319950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611048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5B458-3AE6-4C21-BEBE-F7B76061980E}"/>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2FF206-47D4-451B-80B7-578E10A3E6E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1D2DF79-B13E-46C5-AAA1-F49C3BABAB6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F199702-3758-423C-8C91-550D5C885DF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03/06/2021</a:t>
            </a:fld>
            <a:endParaRPr lang="en-GB"/>
          </a:p>
        </p:txBody>
      </p:sp>
      <p:sp>
        <p:nvSpPr>
          <p:cNvPr id="6" name="Footer Placeholder 5">
            <a:extLst>
              <a:ext uri="{FF2B5EF4-FFF2-40B4-BE49-F238E27FC236}">
                <a16:creationId xmlns:a16="http://schemas.microsoft.com/office/drawing/2014/main" id="{4355CC31-BF31-4EB1-8B54-2DD0D6BE79BC}"/>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303EFAF2-4586-4670-8EF7-78067B1872A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41161545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05FA2-A60C-405C-A307-880C049CB034}"/>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A970388-4034-4A46-8B98-D37491E014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C39A8B-6B00-4329-AC44-AD6EBE236EC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55DFF08-1C59-4E60-A964-4D4A3690072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6548497-A585-4527-B8A6-BB01B9FBC4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77C2D4B-BCC3-48CF-B358-D817886727C0}"/>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03/06/2021</a:t>
            </a:fld>
            <a:endParaRPr lang="en-GB"/>
          </a:p>
        </p:txBody>
      </p:sp>
      <p:sp>
        <p:nvSpPr>
          <p:cNvPr id="8" name="Footer Placeholder 7">
            <a:extLst>
              <a:ext uri="{FF2B5EF4-FFF2-40B4-BE49-F238E27FC236}">
                <a16:creationId xmlns:a16="http://schemas.microsoft.com/office/drawing/2014/main" id="{B393C415-FAAE-444A-BBA1-9059E1C450A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16C512DB-E555-4910-92DC-7AB19F87F8E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477414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D8A33-5CA5-4826-9B83-0B2F6A50C2B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A17C1E61-1B5E-44DC-BC0F-2F956B04C01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03/06/2021</a:t>
            </a:fld>
            <a:endParaRPr lang="en-GB"/>
          </a:p>
        </p:txBody>
      </p:sp>
      <p:sp>
        <p:nvSpPr>
          <p:cNvPr id="4" name="Footer Placeholder 3">
            <a:extLst>
              <a:ext uri="{FF2B5EF4-FFF2-40B4-BE49-F238E27FC236}">
                <a16:creationId xmlns:a16="http://schemas.microsoft.com/office/drawing/2014/main" id="{DBA212BA-9EF0-4463-A9C0-997D5572049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E350D64F-9F3A-43FB-A563-07763EE16E2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2795999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4739767-A677-43FB-A13E-C6E76D21E158}"/>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03/06/2021</a:t>
            </a:fld>
            <a:endParaRPr lang="en-GB"/>
          </a:p>
        </p:txBody>
      </p:sp>
      <p:sp>
        <p:nvSpPr>
          <p:cNvPr id="3" name="Footer Placeholder 2">
            <a:extLst>
              <a:ext uri="{FF2B5EF4-FFF2-40B4-BE49-F238E27FC236}">
                <a16:creationId xmlns:a16="http://schemas.microsoft.com/office/drawing/2014/main" id="{BFA103BA-C2DE-41DE-842B-306DECB788D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5B8320D2-03FC-47A8-B437-7B7CEBDD6176}"/>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747179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B20E6-8664-4FD7-A9B2-0B5C17E861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D75017E-7CE6-4AFE-8756-092A858401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85C17A6-B2E1-42BB-9629-032C80545F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1DC4D7-18F9-4992-BB61-15FA97A5299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03/06/2021</a:t>
            </a:fld>
            <a:endParaRPr lang="en-GB"/>
          </a:p>
        </p:txBody>
      </p:sp>
      <p:sp>
        <p:nvSpPr>
          <p:cNvPr id="6" name="Footer Placeholder 5">
            <a:extLst>
              <a:ext uri="{FF2B5EF4-FFF2-40B4-BE49-F238E27FC236}">
                <a16:creationId xmlns:a16="http://schemas.microsoft.com/office/drawing/2014/main" id="{4FB52144-EB56-46FB-8C3D-7A870235437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E7142B02-C27D-4AC0-9DE7-A653F338FB9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8955819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FD8A0-DA8A-463F-AC82-9A3D896B80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E3B553CB-6BB8-4D69-8270-E69093C148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00E0B06-F972-42E3-B94A-6BA4824458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FCFE24-5759-425E-A7E5-6EAACD13BAA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03/06/2021</a:t>
            </a:fld>
            <a:endParaRPr lang="en-GB"/>
          </a:p>
        </p:txBody>
      </p:sp>
      <p:sp>
        <p:nvSpPr>
          <p:cNvPr id="6" name="Footer Placeholder 5">
            <a:extLst>
              <a:ext uri="{FF2B5EF4-FFF2-40B4-BE49-F238E27FC236}">
                <a16:creationId xmlns:a16="http://schemas.microsoft.com/office/drawing/2014/main" id="{EC458F3E-34B5-48AA-B148-66ED69F3067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AB133722-4E46-4BF0-841D-DC92DCB4825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21531943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A43C2-4F61-40F8-A06C-596F42B7D0AD}"/>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012D4A7-8F4B-484D-90BE-4A6A303F659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BBE0C66-2DCD-4454-98BE-EE8ADD1D798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03/06/2021</a:t>
            </a:fld>
            <a:endParaRPr lang="en-GB"/>
          </a:p>
        </p:txBody>
      </p:sp>
      <p:sp>
        <p:nvSpPr>
          <p:cNvPr id="5" name="Footer Placeholder 4">
            <a:extLst>
              <a:ext uri="{FF2B5EF4-FFF2-40B4-BE49-F238E27FC236}">
                <a16:creationId xmlns:a16="http://schemas.microsoft.com/office/drawing/2014/main" id="{B6C655C5-A5ED-4766-97E4-846A805367D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17ADFEEA-B282-4D56-A557-4193031EB4A7}"/>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9012902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1B7A8B-8DD3-4239-8EA1-87394625413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5621B91-126F-434B-86F2-89E6778E91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7BFCCA6-FBA0-4A4B-97BC-8B2465C0186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03/06/2021</a:t>
            </a:fld>
            <a:endParaRPr lang="en-GB"/>
          </a:p>
        </p:txBody>
      </p:sp>
      <p:sp>
        <p:nvSpPr>
          <p:cNvPr id="5" name="Footer Placeholder 4">
            <a:extLst>
              <a:ext uri="{FF2B5EF4-FFF2-40B4-BE49-F238E27FC236}">
                <a16:creationId xmlns:a16="http://schemas.microsoft.com/office/drawing/2014/main" id="{5A17EED6-4B0F-4C58-A54B-C4F0F72D7BAA}"/>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51249905-D4AB-4930-9B2A-6E8E550A0D1E}"/>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081115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9" name="Picture 8" descr="Shape, rectangle&#10;&#10;Description automatically generated">
            <a:extLst>
              <a:ext uri="{FF2B5EF4-FFF2-40B4-BE49-F238E27FC236}">
                <a16:creationId xmlns:a16="http://schemas.microsoft.com/office/drawing/2014/main" id="{9E872171-DDA3-8241-A182-0AFA884F91D7}"/>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794"/>
            <a:ext cx="12192000" cy="1616288"/>
          </a:xfrm>
          <a:prstGeom prst="rect">
            <a:avLst/>
          </a:prstGeom>
        </p:spPr>
      </p:pic>
      <p:sp>
        <p:nvSpPr>
          <p:cNvPr id="2" name="Title Placeholder 1">
            <a:extLst>
              <a:ext uri="{FF2B5EF4-FFF2-40B4-BE49-F238E27FC236}">
                <a16:creationId xmlns:a16="http://schemas.microsoft.com/office/drawing/2014/main" id="{83B9995C-D844-455E-9E19-BF66C81EFD3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D204189-41E9-4E09-B418-B033E7F1473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Footer Placeholder 4">
            <a:extLst>
              <a:ext uri="{FF2B5EF4-FFF2-40B4-BE49-F238E27FC236}">
                <a16:creationId xmlns:a16="http://schemas.microsoft.com/office/drawing/2014/main" id="{4D739203-7E29-BA40-9D51-8F9968799BF3}"/>
              </a:ext>
            </a:extLst>
          </p:cNvPr>
          <p:cNvSpPr txBox="1">
            <a:spLocks/>
          </p:cNvSpPr>
          <p:nvPr userDrawn="1"/>
        </p:nvSpPr>
        <p:spPr>
          <a:xfrm>
            <a:off x="7547114" y="6380197"/>
            <a:ext cx="41148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1200" dirty="0"/>
              <a:t>© Hodder &amp; Stoughton Limited 2021</a:t>
            </a:r>
          </a:p>
        </p:txBody>
      </p:sp>
    </p:spTree>
    <p:extLst>
      <p:ext uri="{BB962C8B-B14F-4D97-AF65-F5344CB8AC3E}">
        <p14:creationId xmlns:p14="http://schemas.microsoft.com/office/powerpoint/2010/main" val="26587743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849B406E-ADED-44B5-B9BF-1C3C046CCF49}"/>
              </a:ext>
            </a:extLst>
          </p:cNvPr>
          <p:cNvSpPr>
            <a:spLocks noGrp="1"/>
          </p:cNvSpPr>
          <p:nvPr>
            <p:ph type="ctrTitle"/>
          </p:nvPr>
        </p:nvSpPr>
        <p:spPr>
          <a:xfrm>
            <a:off x="1006679" y="2816695"/>
            <a:ext cx="5595456" cy="1528155"/>
          </a:xfrm>
        </p:spPr>
        <p:txBody>
          <a:bodyPr>
            <a:normAutofit fontScale="90000"/>
          </a:bodyPr>
          <a:lstStyle/>
          <a:p>
            <a:pPr algn="r"/>
            <a:r>
              <a:rPr lang="en-GB" b="1" dirty="0"/>
              <a:t>Binary and computer logic</a:t>
            </a:r>
          </a:p>
        </p:txBody>
      </p:sp>
      <p:sp>
        <p:nvSpPr>
          <p:cNvPr id="8" name="Rectangle 7">
            <a:extLst>
              <a:ext uri="{FF2B5EF4-FFF2-40B4-BE49-F238E27FC236}">
                <a16:creationId xmlns:a16="http://schemas.microsoft.com/office/drawing/2014/main" id="{75F895CB-1B26-4E70-A3B8-487FB72E0360}"/>
              </a:ext>
            </a:extLst>
          </p:cNvPr>
          <p:cNvSpPr/>
          <p:nvPr/>
        </p:nvSpPr>
        <p:spPr>
          <a:xfrm>
            <a:off x="3421008" y="4344850"/>
            <a:ext cx="3181127" cy="400110"/>
          </a:xfrm>
          <a:prstGeom prst="rect">
            <a:avLst/>
          </a:prstGeom>
        </p:spPr>
        <p:txBody>
          <a:bodyPr wrap="none">
            <a:spAutoFit/>
          </a:bodyPr>
          <a:lstStyle/>
          <a:p>
            <a:pPr algn="r"/>
            <a:r>
              <a:rPr lang="en-GB" sz="2000" b="1" dirty="0">
                <a:solidFill>
                  <a:srgbClr val="0070C0"/>
                </a:solidFill>
                <a:latin typeface="Calibri" panose="020F0502020204030204" pitchFamily="34" charset="0"/>
                <a:ea typeface="Times New Roman" panose="02020603050405020304" pitchFamily="18" charset="0"/>
              </a:rPr>
              <a:t>Lesson 2: Introducing binary</a:t>
            </a:r>
            <a:endParaRPr lang="en-GB" sz="2000" b="1" dirty="0">
              <a:solidFill>
                <a:srgbClr val="0070C0"/>
              </a:solidFill>
            </a:endParaRPr>
          </a:p>
        </p:txBody>
      </p:sp>
      <p:pic>
        <p:nvPicPr>
          <p:cNvPr id="9" name="Picture 8" descr="A picture containing text, electronics, display, screenshot&#10;&#10;Description automatically generated">
            <a:extLst>
              <a:ext uri="{FF2B5EF4-FFF2-40B4-BE49-F238E27FC236}">
                <a16:creationId xmlns:a16="http://schemas.microsoft.com/office/drawing/2014/main" id="{D7A7B57A-DBBA-4D33-B608-0C6386A434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14532" y="2816695"/>
            <a:ext cx="2937410" cy="2420426"/>
          </a:xfrm>
          <a:prstGeom prst="rect">
            <a:avLst/>
          </a:prstGeom>
        </p:spPr>
      </p:pic>
    </p:spTree>
    <p:extLst>
      <p:ext uri="{BB962C8B-B14F-4D97-AF65-F5344CB8AC3E}">
        <p14:creationId xmlns:p14="http://schemas.microsoft.com/office/powerpoint/2010/main" val="10543161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C4667-2A3C-4536-9386-00402F3C6EE6}"/>
              </a:ext>
            </a:extLst>
          </p:cNvPr>
          <p:cNvSpPr>
            <a:spLocks noGrp="1"/>
          </p:cNvSpPr>
          <p:nvPr>
            <p:ph type="title"/>
          </p:nvPr>
        </p:nvSpPr>
        <p:spPr>
          <a:xfrm>
            <a:off x="1620079" y="795130"/>
            <a:ext cx="9634330" cy="815009"/>
          </a:xfrm>
        </p:spPr>
        <p:txBody>
          <a:bodyPr/>
          <a:lstStyle/>
          <a:p>
            <a:r>
              <a:rPr lang="en-GB" b="1" dirty="0">
                <a:solidFill>
                  <a:schemeClr val="bg1"/>
                </a:solidFill>
              </a:rPr>
              <a:t>Objectives</a:t>
            </a:r>
          </a:p>
        </p:txBody>
      </p:sp>
      <p:sp>
        <p:nvSpPr>
          <p:cNvPr id="5" name="Rectangle 4">
            <a:extLst>
              <a:ext uri="{FF2B5EF4-FFF2-40B4-BE49-F238E27FC236}">
                <a16:creationId xmlns:a16="http://schemas.microsoft.com/office/drawing/2014/main" id="{8430BE0A-41D5-4110-A78D-A6ACD33DE78B}"/>
              </a:ext>
            </a:extLst>
          </p:cNvPr>
          <p:cNvSpPr/>
          <p:nvPr/>
        </p:nvSpPr>
        <p:spPr>
          <a:xfrm>
            <a:off x="1620079" y="2397948"/>
            <a:ext cx="8666921" cy="2062103"/>
          </a:xfrm>
          <a:prstGeom prst="rect">
            <a:avLst/>
          </a:prstGeom>
        </p:spPr>
        <p:txBody>
          <a:bodyPr wrap="square">
            <a:spAutoFit/>
          </a:bodyPr>
          <a:lstStyle/>
          <a:p>
            <a:pPr>
              <a:spcAft>
                <a:spcPts val="0"/>
              </a:spcAft>
            </a:pPr>
            <a:r>
              <a:rPr lang="en-GB" sz="3200" dirty="0">
                <a:ea typeface="Times New Roman" panose="02020603050405020304" pitchFamily="18" charset="0"/>
              </a:rPr>
              <a:t>In this lesson, you will learn:</a:t>
            </a:r>
          </a:p>
          <a:p>
            <a:pPr marL="342900" lvl="0" indent="-342900">
              <a:spcAft>
                <a:spcPts val="0"/>
              </a:spcAft>
              <a:buFont typeface="Symbol" panose="05050102010706020507" pitchFamily="18" charset="2"/>
              <a:buChar char=""/>
            </a:pPr>
            <a:r>
              <a:rPr lang="en-GB" sz="2400" dirty="0">
                <a:latin typeface="Calibri" panose="020F0502020204030204" pitchFamily="34" charset="0"/>
                <a:ea typeface="Times New Roman" panose="02020603050405020304" pitchFamily="18" charset="0"/>
              </a:rPr>
              <a:t>what the binary system is</a:t>
            </a:r>
          </a:p>
          <a:p>
            <a:pPr marL="342900" lvl="0" indent="-342900">
              <a:spcAft>
                <a:spcPts val="0"/>
              </a:spcAft>
              <a:buFont typeface="Symbol" panose="05050102010706020507" pitchFamily="18" charset="2"/>
              <a:buChar char=""/>
            </a:pPr>
            <a:r>
              <a:rPr lang="en-GB" sz="2400" dirty="0">
                <a:latin typeface="Calibri" panose="020F0502020204030204" pitchFamily="34" charset="0"/>
                <a:ea typeface="Times New Roman" panose="02020603050405020304" pitchFamily="18" charset="0"/>
              </a:rPr>
              <a:t>how binary numbers relate to denary numbers</a:t>
            </a:r>
          </a:p>
          <a:p>
            <a:pPr marL="342900" lvl="0" indent="-342900">
              <a:spcAft>
                <a:spcPts val="0"/>
              </a:spcAft>
              <a:buFont typeface="Symbol" panose="05050102010706020507" pitchFamily="18" charset="2"/>
              <a:buChar char=""/>
            </a:pPr>
            <a:r>
              <a:rPr lang="en-GB" sz="2400" dirty="0">
                <a:latin typeface="Calibri" panose="020F0502020204030204" pitchFamily="34" charset="0"/>
                <a:ea typeface="Times New Roman" panose="02020603050405020304" pitchFamily="18" charset="0"/>
              </a:rPr>
              <a:t>how to count in binary</a:t>
            </a:r>
          </a:p>
          <a:p>
            <a:pPr marL="342900" lvl="0" indent="-342900">
              <a:spcAft>
                <a:spcPts val="0"/>
              </a:spcAft>
              <a:buFont typeface="Symbol" panose="05050102010706020507" pitchFamily="18" charset="2"/>
              <a:buChar char=""/>
            </a:pPr>
            <a:r>
              <a:rPr lang="en-GB" sz="2400" dirty="0">
                <a:latin typeface="Calibri" panose="020F0502020204030204" pitchFamily="34" charset="0"/>
                <a:ea typeface="Times New Roman" panose="02020603050405020304" pitchFamily="18" charset="0"/>
              </a:rPr>
              <a:t>how to convert binary numbers to denary numbers.</a:t>
            </a:r>
          </a:p>
        </p:txBody>
      </p:sp>
    </p:spTree>
    <p:extLst>
      <p:ext uri="{BB962C8B-B14F-4D97-AF65-F5344CB8AC3E}">
        <p14:creationId xmlns:p14="http://schemas.microsoft.com/office/powerpoint/2010/main" val="16998104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905C-00CB-4FC9-83B7-66A2E3C077C8}"/>
              </a:ext>
            </a:extLst>
          </p:cNvPr>
          <p:cNvSpPr>
            <a:spLocks noGrp="1"/>
          </p:cNvSpPr>
          <p:nvPr>
            <p:ph type="title"/>
          </p:nvPr>
        </p:nvSpPr>
        <p:spPr>
          <a:xfrm>
            <a:off x="1620079" y="787237"/>
            <a:ext cx="9773478" cy="845862"/>
          </a:xfrm>
        </p:spPr>
        <p:txBody>
          <a:bodyPr/>
          <a:lstStyle/>
          <a:p>
            <a:r>
              <a:rPr lang="en-GB" b="1" dirty="0">
                <a:solidFill>
                  <a:schemeClr val="bg1"/>
                </a:solidFill>
              </a:rPr>
              <a:t>The CPU and logic gates </a:t>
            </a:r>
          </a:p>
        </p:txBody>
      </p:sp>
      <p:sp>
        <p:nvSpPr>
          <p:cNvPr id="4" name="Rectangle 3">
            <a:extLst>
              <a:ext uri="{FF2B5EF4-FFF2-40B4-BE49-F238E27FC236}">
                <a16:creationId xmlns:a16="http://schemas.microsoft.com/office/drawing/2014/main" id="{747506F8-656E-A344-ADBD-DBA3FB2862E8}"/>
              </a:ext>
            </a:extLst>
          </p:cNvPr>
          <p:cNvSpPr/>
          <p:nvPr/>
        </p:nvSpPr>
        <p:spPr>
          <a:xfrm>
            <a:off x="1620078" y="2151960"/>
            <a:ext cx="6138002" cy="3836563"/>
          </a:xfrm>
          <a:prstGeom prst="rect">
            <a:avLst/>
          </a:prstGeom>
        </p:spPr>
        <p:txBody>
          <a:bodyPr wrap="square">
            <a:spAutoFit/>
          </a:bodyPr>
          <a:lstStyle/>
          <a:p>
            <a:pPr>
              <a:lnSpc>
                <a:spcPct val="107000"/>
              </a:lnSpc>
              <a:spcAft>
                <a:spcPts val="800"/>
              </a:spcAft>
            </a:pPr>
            <a:r>
              <a:rPr lang="en-GB" sz="2400" dirty="0">
                <a:latin typeface="Calibri" panose="020F0502020204030204" pitchFamily="34" charset="0"/>
                <a:ea typeface="Calibri" panose="020F0502020204030204" pitchFamily="34" charset="0"/>
                <a:cs typeface="Calibri" panose="020F0502020204030204" pitchFamily="34" charset="0"/>
              </a:rPr>
              <a:t>The CPU, the processor at the heart of every digital device, is composed of millions of microscopic electronic circuits called logic gates.</a:t>
            </a:r>
            <a:endParaRPr lang="en-GB" sz="2400" dirty="0">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pPr>
            <a:r>
              <a:rPr lang="en-GB" sz="2400" dirty="0">
                <a:latin typeface="Calibri" panose="020F0502020204030204" pitchFamily="34" charset="0"/>
                <a:ea typeface="Calibri" panose="020F0502020204030204" pitchFamily="34" charset="0"/>
                <a:cs typeface="Calibri" panose="020F0502020204030204" pitchFamily="34" charset="0"/>
              </a:rPr>
              <a:t>There are only two possible states for the inputs to, and the outputs from, a logic gate: ON represented by 1 and OFF represented 0.</a:t>
            </a:r>
            <a:endParaRPr lang="en-GB" sz="2400" dirty="0">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pPr>
            <a:r>
              <a:rPr lang="en-GB" sz="2400" dirty="0">
                <a:latin typeface="Calibri" panose="020F0502020204030204" pitchFamily="34" charset="0"/>
                <a:ea typeface="Calibri" panose="020F0502020204030204" pitchFamily="34" charset="0"/>
                <a:cs typeface="Calibri" panose="020F0502020204030204" pitchFamily="34" charset="0"/>
              </a:rPr>
              <a:t>Computer programmers write computer code and this is converted, by a translator, into 1s and 0s that activate the logic gates in the CPU.</a:t>
            </a:r>
            <a:endParaRPr lang="en-GB" sz="2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7" name="Rectangle 6">
            <a:extLst>
              <a:ext uri="{FF2B5EF4-FFF2-40B4-BE49-F238E27FC236}">
                <a16:creationId xmlns:a16="http://schemas.microsoft.com/office/drawing/2014/main" id="{3E1CA225-B599-E24B-A2D0-428A75DDAD62}"/>
              </a:ext>
            </a:extLst>
          </p:cNvPr>
          <p:cNvSpPr/>
          <p:nvPr/>
        </p:nvSpPr>
        <p:spPr>
          <a:xfrm>
            <a:off x="7758080" y="5088836"/>
            <a:ext cx="3635477" cy="461665"/>
          </a:xfrm>
          <a:prstGeom prst="rect">
            <a:avLst/>
          </a:prstGeom>
        </p:spPr>
        <p:txBody>
          <a:bodyPr wrap="square">
            <a:spAutoFit/>
          </a:bodyPr>
          <a:lstStyle/>
          <a:p>
            <a:r>
              <a:rPr lang="en-GB" sz="1200" i="1" dirty="0">
                <a:ea typeface="Calibri" panose="020F0502020204030204" pitchFamily="34" charset="0"/>
                <a:cs typeface="Calibri" panose="020F0502020204030204" pitchFamily="34" charset="0"/>
              </a:rPr>
              <a:t>An integrated circuit containing millions of logic gates, on a fingernail!</a:t>
            </a:r>
            <a:r>
              <a:rPr lang="en-GB" sz="1200" i="1" dirty="0"/>
              <a:t> </a:t>
            </a:r>
            <a:endParaRPr lang="en-US" sz="1200" i="1" dirty="0"/>
          </a:p>
        </p:txBody>
      </p:sp>
      <p:pic>
        <p:nvPicPr>
          <p:cNvPr id="8" name="Picture 7">
            <a:extLst>
              <a:ext uri="{FF2B5EF4-FFF2-40B4-BE49-F238E27FC236}">
                <a16:creationId xmlns:a16="http://schemas.microsoft.com/office/drawing/2014/main" id="{367D9BC8-A08F-4D08-BAEA-6D69FE0F09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8080" y="2342348"/>
            <a:ext cx="3661984" cy="2746488"/>
          </a:xfrm>
          <a:prstGeom prst="rect">
            <a:avLst/>
          </a:prstGeom>
        </p:spPr>
      </p:pic>
    </p:spTree>
    <p:extLst>
      <p:ext uri="{BB962C8B-B14F-4D97-AF65-F5344CB8AC3E}">
        <p14:creationId xmlns:p14="http://schemas.microsoft.com/office/powerpoint/2010/main" val="11661668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905C-00CB-4FC9-83B7-66A2E3C077C8}"/>
              </a:ext>
            </a:extLst>
          </p:cNvPr>
          <p:cNvSpPr>
            <a:spLocks noGrp="1"/>
          </p:cNvSpPr>
          <p:nvPr>
            <p:ph type="title"/>
          </p:nvPr>
        </p:nvSpPr>
        <p:spPr>
          <a:xfrm>
            <a:off x="1620079" y="787237"/>
            <a:ext cx="9773478" cy="845862"/>
          </a:xfrm>
        </p:spPr>
        <p:txBody>
          <a:bodyPr/>
          <a:lstStyle/>
          <a:p>
            <a:r>
              <a:rPr lang="en-GB" b="1" dirty="0">
                <a:solidFill>
                  <a:schemeClr val="bg1"/>
                </a:solidFill>
              </a:rPr>
              <a:t>Counting in denary </a:t>
            </a:r>
          </a:p>
        </p:txBody>
      </p:sp>
      <p:sp>
        <p:nvSpPr>
          <p:cNvPr id="7" name="Rectangle 6">
            <a:extLst>
              <a:ext uri="{FF2B5EF4-FFF2-40B4-BE49-F238E27FC236}">
                <a16:creationId xmlns:a16="http://schemas.microsoft.com/office/drawing/2014/main" id="{EEBFC950-243A-2048-99AE-921E161E58FC}"/>
              </a:ext>
            </a:extLst>
          </p:cNvPr>
          <p:cNvSpPr/>
          <p:nvPr/>
        </p:nvSpPr>
        <p:spPr>
          <a:xfrm>
            <a:off x="1620079" y="2098287"/>
            <a:ext cx="8818378" cy="1929503"/>
          </a:xfrm>
          <a:prstGeom prst="rect">
            <a:avLst/>
          </a:prstGeom>
        </p:spPr>
        <p:txBody>
          <a:bodyPr wrap="square">
            <a:spAutoFit/>
          </a:bodyPr>
          <a:lstStyle/>
          <a:p>
            <a:pPr>
              <a:lnSpc>
                <a:spcPct val="107000"/>
              </a:lnSpc>
              <a:spcAft>
                <a:spcPts val="800"/>
              </a:spcAft>
            </a:pPr>
            <a:r>
              <a:rPr lang="en-GB" sz="2000" dirty="0">
                <a:latin typeface="Calibri" panose="020F0502020204030204" pitchFamily="34" charset="0"/>
                <a:ea typeface="Calibri" panose="020F0502020204030204" pitchFamily="34" charset="0"/>
                <a:cs typeface="Calibri" panose="020F0502020204030204" pitchFamily="34" charset="0"/>
              </a:rPr>
              <a:t>You should be familiar with the </a:t>
            </a:r>
            <a:r>
              <a:rPr lang="en-GB" sz="2000" b="1" dirty="0">
                <a:solidFill>
                  <a:srgbClr val="0070C0"/>
                </a:solidFill>
                <a:latin typeface="Calibri" panose="020F0502020204030204" pitchFamily="34" charset="0"/>
                <a:ea typeface="Calibri" panose="020F0502020204030204" pitchFamily="34" charset="0"/>
                <a:cs typeface="Calibri" panose="020F0502020204030204" pitchFamily="34" charset="0"/>
              </a:rPr>
              <a:t>decimal system</a:t>
            </a:r>
            <a:r>
              <a:rPr lang="en-GB" sz="2000" dirty="0">
                <a:latin typeface="Calibri" panose="020F0502020204030204" pitchFamily="34" charset="0"/>
                <a:ea typeface="Calibri" panose="020F0502020204030204" pitchFamily="34" charset="0"/>
                <a:cs typeface="Calibri" panose="020F0502020204030204" pitchFamily="34" charset="0"/>
              </a:rPr>
              <a:t>, which uses ten digits: 0, 1, 2, 3, 4, 5, 6, 7, 8 and 9.</a:t>
            </a:r>
            <a:endParaRPr lang="en-GB" sz="2000" dirty="0">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pPr>
            <a:r>
              <a:rPr lang="en-GB" sz="2000" dirty="0">
                <a:latin typeface="Calibri" panose="020F0502020204030204" pitchFamily="34" charset="0"/>
                <a:ea typeface="Calibri" panose="020F0502020204030204" pitchFamily="34" charset="0"/>
                <a:cs typeface="Calibri" panose="020F0502020204030204" pitchFamily="34" charset="0"/>
              </a:rPr>
              <a:t>The decimal system is also known as the </a:t>
            </a:r>
            <a:r>
              <a:rPr lang="en-GB" sz="2000" b="1" dirty="0">
                <a:solidFill>
                  <a:srgbClr val="0070C0"/>
                </a:solidFill>
                <a:latin typeface="Calibri" panose="020F0502020204030204" pitchFamily="34" charset="0"/>
                <a:ea typeface="Calibri" panose="020F0502020204030204" pitchFamily="34" charset="0"/>
                <a:cs typeface="Calibri" panose="020F0502020204030204" pitchFamily="34" charset="0"/>
              </a:rPr>
              <a:t>denary system</a:t>
            </a:r>
            <a:r>
              <a:rPr lang="en-GB" sz="2000" dirty="0">
                <a:solidFill>
                  <a:srgbClr val="0070C0"/>
                </a:solidFill>
                <a:latin typeface="Calibri" panose="020F0502020204030204" pitchFamily="34" charset="0"/>
                <a:ea typeface="Calibri" panose="020F0502020204030204" pitchFamily="34" charset="0"/>
                <a:cs typeface="Calibri" panose="020F0502020204030204" pitchFamily="34" charset="0"/>
              </a:rPr>
              <a:t> </a:t>
            </a:r>
            <a:r>
              <a:rPr lang="en-GB" sz="2000" dirty="0">
                <a:latin typeface="Calibri" panose="020F0502020204030204" pitchFamily="34" charset="0"/>
                <a:ea typeface="Calibri" panose="020F0502020204030204" pitchFamily="34" charset="0"/>
                <a:cs typeface="Calibri" panose="020F0502020204030204" pitchFamily="34" charset="0"/>
              </a:rPr>
              <a:t>or </a:t>
            </a:r>
            <a:r>
              <a:rPr lang="en-GB" sz="2000" b="1" dirty="0">
                <a:solidFill>
                  <a:srgbClr val="0070C0"/>
                </a:solidFill>
                <a:latin typeface="Calibri" panose="020F0502020204030204" pitchFamily="34" charset="0"/>
                <a:ea typeface="Calibri" panose="020F0502020204030204" pitchFamily="34" charset="0"/>
                <a:cs typeface="Calibri" panose="020F0502020204030204" pitchFamily="34" charset="0"/>
              </a:rPr>
              <a:t>base 10</a:t>
            </a:r>
            <a:r>
              <a:rPr lang="en-GB" sz="2000" dirty="0">
                <a:latin typeface="Calibri" panose="020F0502020204030204" pitchFamily="34" charset="0"/>
                <a:ea typeface="Calibri" panose="020F0502020204030204" pitchFamily="34" charset="0"/>
                <a:cs typeface="Calibri" panose="020F0502020204030204" pitchFamily="34" charset="0"/>
              </a:rPr>
              <a:t>.</a:t>
            </a:r>
            <a:endParaRPr lang="en-GB" sz="2000" dirty="0">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pPr>
            <a:r>
              <a:rPr lang="en-GB" sz="2000" dirty="0">
                <a:latin typeface="Calibri" panose="020F0502020204030204" pitchFamily="34" charset="0"/>
                <a:ea typeface="Calibri" panose="020F0502020204030204" pitchFamily="34" charset="0"/>
                <a:cs typeface="Calibri" panose="020F0502020204030204" pitchFamily="34" charset="0"/>
              </a:rPr>
              <a:t>In base 10, </a:t>
            </a:r>
            <a:r>
              <a:rPr lang="en-GB" sz="2000" b="1" dirty="0">
                <a:solidFill>
                  <a:srgbClr val="0070C0"/>
                </a:solidFill>
                <a:latin typeface="Calibri" panose="020F0502020204030204" pitchFamily="34" charset="0"/>
                <a:ea typeface="Calibri" panose="020F0502020204030204" pitchFamily="34" charset="0"/>
                <a:cs typeface="Calibri" panose="020F0502020204030204" pitchFamily="34" charset="0"/>
              </a:rPr>
              <a:t>place values</a:t>
            </a:r>
            <a:r>
              <a:rPr lang="en-GB" sz="2000" dirty="0">
                <a:solidFill>
                  <a:srgbClr val="0070C0"/>
                </a:solidFill>
                <a:latin typeface="Calibri" panose="020F0502020204030204" pitchFamily="34" charset="0"/>
                <a:ea typeface="Calibri" panose="020F0502020204030204" pitchFamily="34" charset="0"/>
                <a:cs typeface="Calibri" panose="020F0502020204030204" pitchFamily="34" charset="0"/>
              </a:rPr>
              <a:t> </a:t>
            </a:r>
            <a:r>
              <a:rPr lang="en-GB" sz="2000" dirty="0">
                <a:latin typeface="Calibri" panose="020F0502020204030204" pitchFamily="34" charset="0"/>
                <a:ea typeface="Calibri" panose="020F0502020204030204" pitchFamily="34" charset="0"/>
                <a:cs typeface="Calibri" panose="020F0502020204030204" pitchFamily="34" charset="0"/>
              </a:rPr>
              <a:t>increase in multiples of 10. The units are followed by 10s, the 10s are followed by 100s and the 100s are followed by 1000s and so on.</a:t>
            </a:r>
            <a:endParaRPr lang="en-GB" sz="2000" dirty="0">
              <a:effectLst/>
              <a:latin typeface="Calibri" panose="020F0502020204030204" pitchFamily="34" charset="0"/>
              <a:ea typeface="Calibri" panose="020F0502020204030204" pitchFamily="34" charset="0"/>
              <a:cs typeface="Times New Roman" panose="02020603050405020304" pitchFamily="18" charset="0"/>
            </a:endParaRPr>
          </a:p>
        </p:txBody>
      </p:sp>
      <p:graphicFrame>
        <p:nvGraphicFramePr>
          <p:cNvPr id="9" name="Table 8">
            <a:extLst>
              <a:ext uri="{FF2B5EF4-FFF2-40B4-BE49-F238E27FC236}">
                <a16:creationId xmlns:a16="http://schemas.microsoft.com/office/drawing/2014/main" id="{773DBA32-C508-3048-BE8A-5C57A79A3125}"/>
              </a:ext>
            </a:extLst>
          </p:cNvPr>
          <p:cNvGraphicFramePr>
            <a:graphicFrameLocks noGrp="1"/>
          </p:cNvGraphicFramePr>
          <p:nvPr>
            <p:extLst>
              <p:ext uri="{D42A27DB-BD31-4B8C-83A1-F6EECF244321}">
                <p14:modId xmlns:p14="http://schemas.microsoft.com/office/powerpoint/2010/main" val="1236142361"/>
              </p:ext>
            </p:extLst>
          </p:nvPr>
        </p:nvGraphicFramePr>
        <p:xfrm>
          <a:off x="1740838" y="4232919"/>
          <a:ext cx="8460000" cy="1440000"/>
        </p:xfrm>
        <a:graphic>
          <a:graphicData uri="http://schemas.openxmlformats.org/drawingml/2006/table">
            <a:tbl>
              <a:tblPr/>
              <a:tblGrid>
                <a:gridCol w="1260000">
                  <a:extLst>
                    <a:ext uri="{9D8B030D-6E8A-4147-A177-3AD203B41FA5}">
                      <a16:colId xmlns:a16="http://schemas.microsoft.com/office/drawing/2014/main" val="4046973464"/>
                    </a:ext>
                  </a:extLst>
                </a:gridCol>
                <a:gridCol w="1260000">
                  <a:extLst>
                    <a:ext uri="{9D8B030D-6E8A-4147-A177-3AD203B41FA5}">
                      <a16:colId xmlns:a16="http://schemas.microsoft.com/office/drawing/2014/main" val="3073737824"/>
                    </a:ext>
                  </a:extLst>
                </a:gridCol>
                <a:gridCol w="1260000">
                  <a:extLst>
                    <a:ext uri="{9D8B030D-6E8A-4147-A177-3AD203B41FA5}">
                      <a16:colId xmlns:a16="http://schemas.microsoft.com/office/drawing/2014/main" val="3565710632"/>
                    </a:ext>
                  </a:extLst>
                </a:gridCol>
                <a:gridCol w="1260000">
                  <a:extLst>
                    <a:ext uri="{9D8B030D-6E8A-4147-A177-3AD203B41FA5}">
                      <a16:colId xmlns:a16="http://schemas.microsoft.com/office/drawing/2014/main" val="340497728"/>
                    </a:ext>
                  </a:extLst>
                </a:gridCol>
                <a:gridCol w="2160000">
                  <a:extLst>
                    <a:ext uri="{9D8B030D-6E8A-4147-A177-3AD203B41FA5}">
                      <a16:colId xmlns:a16="http://schemas.microsoft.com/office/drawing/2014/main" val="2406890693"/>
                    </a:ext>
                  </a:extLst>
                </a:gridCol>
                <a:gridCol w="1260000">
                  <a:extLst>
                    <a:ext uri="{9D8B030D-6E8A-4147-A177-3AD203B41FA5}">
                      <a16:colId xmlns:a16="http://schemas.microsoft.com/office/drawing/2014/main" val="480585798"/>
                    </a:ext>
                  </a:extLst>
                </a:gridCol>
              </a:tblGrid>
              <a:tr h="288000">
                <a:tc>
                  <a:txBody>
                    <a:bodyPr/>
                    <a:lstStyle/>
                    <a:p>
                      <a:pPr algn="l">
                        <a:lnSpc>
                          <a:spcPct val="107000"/>
                        </a:lnSpc>
                        <a:spcAft>
                          <a:spcPts val="800"/>
                        </a:spcAft>
                      </a:pPr>
                      <a:r>
                        <a:rPr lang="en-GB" sz="1200" b="1" dirty="0" err="1">
                          <a:solidFill>
                            <a:schemeClr val="bg1"/>
                          </a:solidFill>
                          <a:effectLst/>
                          <a:latin typeface="Calibri" panose="020F0502020204030204" pitchFamily="34" charset="0"/>
                          <a:ea typeface="Calibri" panose="020F0502020204030204" pitchFamily="34" charset="0"/>
                          <a:cs typeface="Calibri" panose="020F0502020204030204" pitchFamily="34" charset="0"/>
                        </a:rPr>
                        <a:t>1000s</a:t>
                      </a:r>
                      <a:endParaRPr lang="en-GB"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solidFill>
                      <a:srgbClr val="0075BE"/>
                    </a:solidFill>
                  </a:tcPr>
                </a:tc>
                <a:tc>
                  <a:txBody>
                    <a:bodyPr/>
                    <a:lstStyle/>
                    <a:p>
                      <a:pPr algn="l">
                        <a:lnSpc>
                          <a:spcPct val="107000"/>
                        </a:lnSpc>
                        <a:spcAft>
                          <a:spcPts val="800"/>
                        </a:spcAft>
                      </a:pPr>
                      <a:r>
                        <a:rPr lang="en-GB" sz="1200" b="1" dirty="0" err="1">
                          <a:solidFill>
                            <a:schemeClr val="bg1"/>
                          </a:solidFill>
                          <a:effectLst/>
                          <a:latin typeface="Calibri" panose="020F0502020204030204" pitchFamily="34" charset="0"/>
                          <a:ea typeface="Calibri" panose="020F0502020204030204" pitchFamily="34" charset="0"/>
                          <a:cs typeface="Calibri" panose="020F0502020204030204" pitchFamily="34" charset="0"/>
                        </a:rPr>
                        <a:t>100s</a:t>
                      </a:r>
                      <a:endParaRPr lang="en-GB"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solidFill>
                      <a:srgbClr val="0075BE"/>
                    </a:solidFill>
                  </a:tcPr>
                </a:tc>
                <a:tc>
                  <a:txBody>
                    <a:bodyPr/>
                    <a:lstStyle/>
                    <a:p>
                      <a:pPr algn="l">
                        <a:lnSpc>
                          <a:spcPct val="107000"/>
                        </a:lnSpc>
                        <a:spcAft>
                          <a:spcPts val="800"/>
                        </a:spcAft>
                      </a:pPr>
                      <a:r>
                        <a:rPr lang="en-GB" sz="1200" b="1" dirty="0" err="1">
                          <a:solidFill>
                            <a:schemeClr val="bg1"/>
                          </a:solidFill>
                          <a:effectLst/>
                          <a:latin typeface="Calibri" panose="020F0502020204030204" pitchFamily="34" charset="0"/>
                          <a:ea typeface="Calibri" panose="020F0502020204030204" pitchFamily="34" charset="0"/>
                          <a:cs typeface="Calibri" panose="020F0502020204030204" pitchFamily="34" charset="0"/>
                        </a:rPr>
                        <a:t>10s</a:t>
                      </a:r>
                      <a:endParaRPr lang="en-GB"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solidFill>
                      <a:srgbClr val="0075BE"/>
                    </a:solidFill>
                  </a:tcPr>
                </a:tc>
                <a:tc>
                  <a:txBody>
                    <a:bodyPr/>
                    <a:lstStyle/>
                    <a:p>
                      <a:pPr algn="l">
                        <a:lnSpc>
                          <a:spcPct val="107000"/>
                        </a:lnSpc>
                        <a:spcAft>
                          <a:spcPts val="800"/>
                        </a:spcAft>
                      </a:pPr>
                      <a:r>
                        <a:rPr lang="en-GB" sz="1200" b="1" dirty="0">
                          <a:solidFill>
                            <a:schemeClr val="bg1"/>
                          </a:solidFill>
                          <a:effectLst/>
                          <a:latin typeface="Calibri" panose="020F0502020204030204" pitchFamily="34" charset="0"/>
                          <a:ea typeface="Calibri" panose="020F0502020204030204" pitchFamily="34" charset="0"/>
                          <a:cs typeface="Calibri" panose="020F0502020204030204" pitchFamily="34" charset="0"/>
                        </a:rPr>
                        <a:t>1s</a:t>
                      </a:r>
                      <a:endParaRPr lang="en-GB"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solidFill>
                      <a:srgbClr val="0075BE"/>
                    </a:solidFill>
                  </a:tcPr>
                </a:tc>
                <a:tc>
                  <a:txBody>
                    <a:bodyPr/>
                    <a:lstStyle/>
                    <a:p>
                      <a:pPr algn="l">
                        <a:lnSpc>
                          <a:spcPct val="107000"/>
                        </a:lnSpc>
                        <a:spcAft>
                          <a:spcPts val="800"/>
                        </a:spcAft>
                      </a:pPr>
                      <a:r>
                        <a:rPr lang="en-GB" sz="1200" b="1" dirty="0">
                          <a:solidFill>
                            <a:schemeClr val="bg1"/>
                          </a:solidFill>
                          <a:effectLst/>
                          <a:latin typeface="Calibri" panose="020F0502020204030204" pitchFamily="34" charset="0"/>
                          <a:ea typeface="Calibri" panose="020F0502020204030204" pitchFamily="34" charset="0"/>
                          <a:cs typeface="Calibri" panose="020F0502020204030204" pitchFamily="34" charset="0"/>
                        </a:rPr>
                        <a:t>Place values</a:t>
                      </a:r>
                      <a:endParaRPr lang="en-GB"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solidFill>
                      <a:srgbClr val="0075BE"/>
                    </a:solidFill>
                  </a:tcPr>
                </a:tc>
                <a:tc>
                  <a:txBody>
                    <a:bodyPr/>
                    <a:lstStyle/>
                    <a:p>
                      <a:pPr algn="l">
                        <a:lnSpc>
                          <a:spcPct val="107000"/>
                        </a:lnSpc>
                        <a:spcAft>
                          <a:spcPts val="800"/>
                        </a:spcAft>
                      </a:pPr>
                      <a:r>
                        <a:rPr lang="en-GB" sz="1100" b="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Denary number</a:t>
                      </a: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solidFill>
                      <a:srgbClr val="0075BE"/>
                    </a:solidFill>
                  </a:tcPr>
                </a:tc>
                <a:extLst>
                  <a:ext uri="{0D108BD9-81ED-4DB2-BD59-A6C34878D82A}">
                    <a16:rowId xmlns:a16="http://schemas.microsoft.com/office/drawing/2014/main" val="416251235"/>
                  </a:ext>
                </a:extLst>
              </a:tr>
              <a:tr h="288000">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 </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 </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 </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8</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1 × 8</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100" dirty="0">
                          <a:effectLst/>
                          <a:latin typeface="Calibri" panose="020F0502020204030204" pitchFamily="34" charset="0"/>
                          <a:ea typeface="Calibri" panose="020F0502020204030204" pitchFamily="34" charset="0"/>
                          <a:cs typeface="Times New Roman" panose="02020603050405020304" pitchFamily="18" charset="0"/>
                        </a:rPr>
                        <a:t>8</a:t>
                      </a: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extLst>
                  <a:ext uri="{0D108BD9-81ED-4DB2-BD59-A6C34878D82A}">
                    <a16:rowId xmlns:a16="http://schemas.microsoft.com/office/drawing/2014/main" val="205226881"/>
                  </a:ext>
                </a:extLst>
              </a:tr>
              <a:tr h="288000">
                <a:tc>
                  <a:txBody>
                    <a:bodyPr/>
                    <a:lstStyle/>
                    <a:p>
                      <a:pPr algn="l">
                        <a:lnSpc>
                          <a:spcPct val="107000"/>
                        </a:lnSpc>
                        <a:spcAft>
                          <a:spcPts val="800"/>
                        </a:spcAft>
                      </a:pPr>
                      <a:r>
                        <a:rPr lang="en-GB" sz="1200">
                          <a:effectLst/>
                          <a:latin typeface="Calibri" panose="020F0502020204030204" pitchFamily="34" charset="0"/>
                          <a:ea typeface="Calibri" panose="020F0502020204030204" pitchFamily="34" charset="0"/>
                          <a:cs typeface="Calibri" panose="020F0502020204030204" pitchFamily="34" charset="0"/>
                        </a:rPr>
                        <a:t> </a:t>
                      </a:r>
                      <a:endParaRPr lang="en-GB"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 </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2</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5</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(2 × 10) + (5 × 1)</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100" dirty="0">
                          <a:effectLst/>
                          <a:latin typeface="Calibri" panose="020F0502020204030204" pitchFamily="34" charset="0"/>
                          <a:ea typeface="Calibri" panose="020F0502020204030204" pitchFamily="34" charset="0"/>
                          <a:cs typeface="Times New Roman" panose="02020603050405020304" pitchFamily="18" charset="0"/>
                        </a:rPr>
                        <a:t>25</a:t>
                      </a: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extLst>
                  <a:ext uri="{0D108BD9-81ED-4DB2-BD59-A6C34878D82A}">
                    <a16:rowId xmlns:a16="http://schemas.microsoft.com/office/drawing/2014/main" val="3988177354"/>
                  </a:ext>
                </a:extLst>
              </a:tr>
              <a:tr h="288000">
                <a:tc>
                  <a:txBody>
                    <a:bodyPr/>
                    <a:lstStyle/>
                    <a:p>
                      <a:pPr algn="l">
                        <a:lnSpc>
                          <a:spcPct val="107000"/>
                        </a:lnSpc>
                        <a:spcAft>
                          <a:spcPts val="800"/>
                        </a:spcAft>
                      </a:pPr>
                      <a:r>
                        <a:rPr lang="en-GB" sz="1200">
                          <a:effectLst/>
                          <a:latin typeface="Calibri" panose="020F0502020204030204" pitchFamily="34" charset="0"/>
                          <a:ea typeface="Calibri" panose="020F0502020204030204" pitchFamily="34" charset="0"/>
                          <a:cs typeface="Calibri" panose="020F0502020204030204" pitchFamily="34" charset="0"/>
                        </a:rPr>
                        <a:t> </a:t>
                      </a:r>
                      <a:endParaRPr lang="en-GB"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a:effectLst/>
                          <a:latin typeface="Calibri" panose="020F0502020204030204" pitchFamily="34" charset="0"/>
                          <a:ea typeface="Calibri" panose="020F0502020204030204" pitchFamily="34" charset="0"/>
                          <a:cs typeface="Calibri" panose="020F0502020204030204" pitchFamily="34" charset="0"/>
                        </a:rPr>
                        <a:t>3</a:t>
                      </a:r>
                      <a:endParaRPr lang="en-GB"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6</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2</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(3 × 100) + (6 × 10) + (2 </a:t>
                      </a:r>
                      <a:r>
                        <a:rPr lang="en-GB" sz="1100" dirty="0">
                          <a:effectLst/>
                          <a:latin typeface="Calibri" panose="020F0502020204030204" pitchFamily="34" charset="0"/>
                          <a:ea typeface="Calibri" panose="020F0502020204030204" pitchFamily="34" charset="0"/>
                          <a:cs typeface="Calibri" panose="020F0502020204030204" pitchFamily="34" charset="0"/>
                        </a:rPr>
                        <a:t>× 1)</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100" dirty="0">
                          <a:effectLst/>
                          <a:latin typeface="Calibri" panose="020F0502020204030204" pitchFamily="34" charset="0"/>
                          <a:ea typeface="Calibri" panose="020F0502020204030204" pitchFamily="34" charset="0"/>
                          <a:cs typeface="Times New Roman" panose="02020603050405020304" pitchFamily="18" charset="0"/>
                        </a:rPr>
                        <a:t>362</a:t>
                      </a: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extLst>
                  <a:ext uri="{0D108BD9-81ED-4DB2-BD59-A6C34878D82A}">
                    <a16:rowId xmlns:a16="http://schemas.microsoft.com/office/drawing/2014/main" val="3009925893"/>
                  </a:ext>
                </a:extLst>
              </a:tr>
              <a:tr h="288000">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1</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0</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4</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0</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a:t>
                      </a:r>
                      <a:r>
                        <a:rPr lang="en-GB" sz="1200">
                          <a:effectLst/>
                          <a:latin typeface="Calibri" panose="020F0502020204030204" pitchFamily="34" charset="0"/>
                          <a:ea typeface="Calibri" panose="020F0502020204030204" pitchFamily="34" charset="0"/>
                          <a:cs typeface="Calibri" panose="020F0502020204030204" pitchFamily="34" charset="0"/>
                        </a:rPr>
                        <a:t>1 × </a:t>
                      </a:r>
                      <a:r>
                        <a:rPr lang="en-GB" sz="1200" dirty="0">
                          <a:effectLst/>
                          <a:latin typeface="Calibri" panose="020F0502020204030204" pitchFamily="34" charset="0"/>
                          <a:ea typeface="Calibri" panose="020F0502020204030204" pitchFamily="34" charset="0"/>
                          <a:cs typeface="Calibri" panose="020F0502020204030204" pitchFamily="34" charset="0"/>
                        </a:rPr>
                        <a:t>1000) </a:t>
                      </a:r>
                      <a:r>
                        <a:rPr lang="en-GB" sz="1200">
                          <a:effectLst/>
                          <a:latin typeface="Calibri" panose="020F0502020204030204" pitchFamily="34" charset="0"/>
                          <a:ea typeface="Calibri" panose="020F0502020204030204" pitchFamily="34" charset="0"/>
                          <a:cs typeface="Calibri" panose="020F0502020204030204" pitchFamily="34" charset="0"/>
                        </a:rPr>
                        <a:t>+ (4 × 10)</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100" dirty="0">
                          <a:effectLst/>
                          <a:latin typeface="Calibri" panose="020F0502020204030204" pitchFamily="34" charset="0"/>
                          <a:ea typeface="Calibri" panose="020F0502020204030204" pitchFamily="34" charset="0"/>
                          <a:cs typeface="Times New Roman" panose="02020603050405020304" pitchFamily="18" charset="0"/>
                        </a:rPr>
                        <a:t>1040</a:t>
                      </a: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extLst>
                  <a:ext uri="{0D108BD9-81ED-4DB2-BD59-A6C34878D82A}">
                    <a16:rowId xmlns:a16="http://schemas.microsoft.com/office/drawing/2014/main" val="2768523843"/>
                  </a:ext>
                </a:extLst>
              </a:tr>
            </a:tbl>
          </a:graphicData>
        </a:graphic>
      </p:graphicFrame>
    </p:spTree>
    <p:extLst>
      <p:ext uri="{BB962C8B-B14F-4D97-AF65-F5344CB8AC3E}">
        <p14:creationId xmlns:p14="http://schemas.microsoft.com/office/powerpoint/2010/main" val="23427461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905C-00CB-4FC9-83B7-66A2E3C077C8}"/>
              </a:ext>
            </a:extLst>
          </p:cNvPr>
          <p:cNvSpPr>
            <a:spLocks noGrp="1"/>
          </p:cNvSpPr>
          <p:nvPr>
            <p:ph type="title"/>
          </p:nvPr>
        </p:nvSpPr>
        <p:spPr>
          <a:xfrm>
            <a:off x="1620079" y="787237"/>
            <a:ext cx="9773478" cy="845862"/>
          </a:xfrm>
        </p:spPr>
        <p:txBody>
          <a:bodyPr/>
          <a:lstStyle/>
          <a:p>
            <a:r>
              <a:rPr lang="en-GB" b="1" dirty="0">
                <a:solidFill>
                  <a:schemeClr val="bg1"/>
                </a:solidFill>
              </a:rPr>
              <a:t>Counting in binary  </a:t>
            </a:r>
          </a:p>
        </p:txBody>
      </p:sp>
      <p:sp>
        <p:nvSpPr>
          <p:cNvPr id="7" name="Rectangle 6">
            <a:extLst>
              <a:ext uri="{FF2B5EF4-FFF2-40B4-BE49-F238E27FC236}">
                <a16:creationId xmlns:a16="http://schemas.microsoft.com/office/drawing/2014/main" id="{EEBFC950-243A-2048-99AE-921E161E58FC}"/>
              </a:ext>
            </a:extLst>
          </p:cNvPr>
          <p:cNvSpPr/>
          <p:nvPr/>
        </p:nvSpPr>
        <p:spPr>
          <a:xfrm>
            <a:off x="1620078" y="2136858"/>
            <a:ext cx="9054548" cy="1929503"/>
          </a:xfrm>
          <a:prstGeom prst="rect">
            <a:avLst/>
          </a:prstGeom>
        </p:spPr>
        <p:txBody>
          <a:bodyPr wrap="square">
            <a:spAutoFit/>
          </a:bodyPr>
          <a:lstStyle/>
          <a:p>
            <a:pPr>
              <a:lnSpc>
                <a:spcPct val="107000"/>
              </a:lnSpc>
              <a:spcAft>
                <a:spcPts val="800"/>
              </a:spcAft>
            </a:pPr>
            <a:r>
              <a:rPr lang="en-GB" sz="2000" dirty="0">
                <a:latin typeface="Calibri" panose="020F0502020204030204" pitchFamily="34" charset="0"/>
                <a:ea typeface="Calibri" panose="020F0502020204030204" pitchFamily="34" charset="0"/>
                <a:cs typeface="Calibri" panose="020F0502020204030204" pitchFamily="34" charset="0"/>
              </a:rPr>
              <a:t>The </a:t>
            </a:r>
            <a:r>
              <a:rPr lang="en-GB" sz="2000" b="1" dirty="0">
                <a:solidFill>
                  <a:srgbClr val="0070C0"/>
                </a:solidFill>
                <a:latin typeface="Calibri" panose="020F0502020204030204" pitchFamily="34" charset="0"/>
                <a:ea typeface="Calibri" panose="020F0502020204030204" pitchFamily="34" charset="0"/>
                <a:cs typeface="Calibri" panose="020F0502020204030204" pitchFamily="34" charset="0"/>
              </a:rPr>
              <a:t>binary system </a:t>
            </a:r>
            <a:r>
              <a:rPr lang="en-GB" sz="2000" dirty="0">
                <a:latin typeface="Calibri" panose="020F0502020204030204" pitchFamily="34" charset="0"/>
                <a:ea typeface="Calibri" panose="020F0502020204030204" pitchFamily="34" charset="0"/>
                <a:cs typeface="Calibri" panose="020F0502020204030204" pitchFamily="34" charset="0"/>
              </a:rPr>
              <a:t>uses just two digits: 0 and 1.</a:t>
            </a:r>
          </a:p>
          <a:p>
            <a:pPr>
              <a:lnSpc>
                <a:spcPct val="107000"/>
              </a:lnSpc>
              <a:spcAft>
                <a:spcPts val="800"/>
              </a:spcAft>
            </a:pPr>
            <a:r>
              <a:rPr lang="en-GB" sz="2000" dirty="0">
                <a:latin typeface="Calibri" panose="020F0502020204030204" pitchFamily="34" charset="0"/>
                <a:ea typeface="Calibri" panose="020F0502020204030204" pitchFamily="34" charset="0"/>
                <a:cs typeface="Calibri" panose="020F0502020204030204" pitchFamily="34" charset="0"/>
              </a:rPr>
              <a:t>The binary system is also known as </a:t>
            </a:r>
            <a:r>
              <a:rPr lang="en-GB" sz="2000" b="1" dirty="0">
                <a:solidFill>
                  <a:srgbClr val="0070C0"/>
                </a:solidFill>
                <a:latin typeface="Calibri" panose="020F0502020204030204" pitchFamily="34" charset="0"/>
                <a:ea typeface="Calibri" panose="020F0502020204030204" pitchFamily="34" charset="0"/>
                <a:cs typeface="Calibri" panose="020F0502020204030204" pitchFamily="34" charset="0"/>
              </a:rPr>
              <a:t>base 2</a:t>
            </a:r>
            <a:r>
              <a:rPr lang="en-GB" sz="2000" dirty="0">
                <a:latin typeface="Calibri" panose="020F0502020204030204" pitchFamily="34" charset="0"/>
                <a:ea typeface="Calibri" panose="020F0502020204030204" pitchFamily="34" charset="0"/>
                <a:cs typeface="Calibri" panose="020F0502020204030204" pitchFamily="34" charset="0"/>
              </a:rPr>
              <a:t>.</a:t>
            </a:r>
          </a:p>
          <a:p>
            <a:pPr>
              <a:lnSpc>
                <a:spcPct val="107000"/>
              </a:lnSpc>
              <a:spcAft>
                <a:spcPts val="800"/>
              </a:spcAft>
            </a:pPr>
            <a:r>
              <a:rPr lang="en-GB" sz="2000" dirty="0">
                <a:latin typeface="Calibri" panose="020F0502020204030204" pitchFamily="34" charset="0"/>
                <a:ea typeface="Calibri" panose="020F0502020204030204" pitchFamily="34" charset="0"/>
                <a:cs typeface="Calibri" panose="020F0502020204030204" pitchFamily="34" charset="0"/>
              </a:rPr>
              <a:t>In base 2, place values increase in multiples of 2. The units are followed by 2s, the 2s are followed by 4s, the 4s are followed by 8s and the 8s are followed by 16s and so on.</a:t>
            </a:r>
          </a:p>
        </p:txBody>
      </p:sp>
      <p:graphicFrame>
        <p:nvGraphicFramePr>
          <p:cNvPr id="9" name="Table 8">
            <a:extLst>
              <a:ext uri="{FF2B5EF4-FFF2-40B4-BE49-F238E27FC236}">
                <a16:creationId xmlns:a16="http://schemas.microsoft.com/office/drawing/2014/main" id="{773DBA32-C508-3048-BE8A-5C57A79A3125}"/>
              </a:ext>
            </a:extLst>
          </p:cNvPr>
          <p:cNvGraphicFramePr>
            <a:graphicFrameLocks noGrp="1"/>
          </p:cNvGraphicFramePr>
          <p:nvPr>
            <p:extLst>
              <p:ext uri="{D42A27DB-BD31-4B8C-83A1-F6EECF244321}">
                <p14:modId xmlns:p14="http://schemas.microsoft.com/office/powerpoint/2010/main" val="2475374588"/>
              </p:ext>
            </p:extLst>
          </p:nvPr>
        </p:nvGraphicFramePr>
        <p:xfrm>
          <a:off x="1698780" y="4201004"/>
          <a:ext cx="8897145" cy="1728000"/>
        </p:xfrm>
        <a:graphic>
          <a:graphicData uri="http://schemas.openxmlformats.org/drawingml/2006/table">
            <a:tbl>
              <a:tblPr/>
              <a:tblGrid>
                <a:gridCol w="1152447">
                  <a:extLst>
                    <a:ext uri="{9D8B030D-6E8A-4147-A177-3AD203B41FA5}">
                      <a16:colId xmlns:a16="http://schemas.microsoft.com/office/drawing/2014/main" val="4046973464"/>
                    </a:ext>
                  </a:extLst>
                </a:gridCol>
                <a:gridCol w="1152447">
                  <a:extLst>
                    <a:ext uri="{9D8B030D-6E8A-4147-A177-3AD203B41FA5}">
                      <a16:colId xmlns:a16="http://schemas.microsoft.com/office/drawing/2014/main" val="3073737824"/>
                    </a:ext>
                  </a:extLst>
                </a:gridCol>
                <a:gridCol w="1152447">
                  <a:extLst>
                    <a:ext uri="{9D8B030D-6E8A-4147-A177-3AD203B41FA5}">
                      <a16:colId xmlns:a16="http://schemas.microsoft.com/office/drawing/2014/main" val="3565710632"/>
                    </a:ext>
                  </a:extLst>
                </a:gridCol>
                <a:gridCol w="1152447">
                  <a:extLst>
                    <a:ext uri="{9D8B030D-6E8A-4147-A177-3AD203B41FA5}">
                      <a16:colId xmlns:a16="http://schemas.microsoft.com/office/drawing/2014/main" val="340497728"/>
                    </a:ext>
                  </a:extLst>
                </a:gridCol>
                <a:gridCol w="1152447">
                  <a:extLst>
                    <a:ext uri="{9D8B030D-6E8A-4147-A177-3AD203B41FA5}">
                      <a16:colId xmlns:a16="http://schemas.microsoft.com/office/drawing/2014/main" val="752598288"/>
                    </a:ext>
                  </a:extLst>
                </a:gridCol>
                <a:gridCol w="1874910">
                  <a:extLst>
                    <a:ext uri="{9D8B030D-6E8A-4147-A177-3AD203B41FA5}">
                      <a16:colId xmlns:a16="http://schemas.microsoft.com/office/drawing/2014/main" val="2406890693"/>
                    </a:ext>
                  </a:extLst>
                </a:gridCol>
                <a:gridCol w="1260000">
                  <a:extLst>
                    <a:ext uri="{9D8B030D-6E8A-4147-A177-3AD203B41FA5}">
                      <a16:colId xmlns:a16="http://schemas.microsoft.com/office/drawing/2014/main" val="2639425693"/>
                    </a:ext>
                  </a:extLst>
                </a:gridCol>
              </a:tblGrid>
              <a:tr h="288000">
                <a:tc>
                  <a:txBody>
                    <a:bodyPr/>
                    <a:lstStyle/>
                    <a:p>
                      <a:pPr algn="l">
                        <a:lnSpc>
                          <a:spcPct val="107000"/>
                        </a:lnSpc>
                        <a:spcAft>
                          <a:spcPts val="800"/>
                        </a:spcAft>
                      </a:pPr>
                      <a:r>
                        <a:rPr lang="en-GB" sz="1200" b="1" dirty="0" err="1">
                          <a:solidFill>
                            <a:schemeClr val="bg1"/>
                          </a:solidFill>
                          <a:effectLst/>
                          <a:latin typeface="Calibri" panose="020F0502020204030204" pitchFamily="34" charset="0"/>
                          <a:ea typeface="Calibri" panose="020F0502020204030204" pitchFamily="34" charset="0"/>
                          <a:cs typeface="Calibri" panose="020F0502020204030204" pitchFamily="34" charset="0"/>
                        </a:rPr>
                        <a:t>16s</a:t>
                      </a:r>
                      <a:endParaRPr lang="en-GB"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solidFill>
                      <a:srgbClr val="0075BE"/>
                    </a:solidFill>
                  </a:tcPr>
                </a:tc>
                <a:tc>
                  <a:txBody>
                    <a:bodyPr/>
                    <a:lstStyle/>
                    <a:p>
                      <a:pPr algn="l">
                        <a:lnSpc>
                          <a:spcPct val="107000"/>
                        </a:lnSpc>
                        <a:spcAft>
                          <a:spcPts val="800"/>
                        </a:spcAft>
                      </a:pPr>
                      <a:r>
                        <a:rPr lang="en-GB" sz="1200" b="1" dirty="0" err="1">
                          <a:solidFill>
                            <a:schemeClr val="bg1"/>
                          </a:solidFill>
                          <a:effectLst/>
                          <a:latin typeface="Calibri" panose="020F0502020204030204" pitchFamily="34" charset="0"/>
                          <a:ea typeface="Calibri" panose="020F0502020204030204" pitchFamily="34" charset="0"/>
                          <a:cs typeface="Calibri" panose="020F0502020204030204" pitchFamily="34" charset="0"/>
                        </a:rPr>
                        <a:t>8s</a:t>
                      </a:r>
                      <a:endParaRPr lang="en-GB"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solidFill>
                      <a:srgbClr val="0075BE"/>
                    </a:solidFill>
                  </a:tcPr>
                </a:tc>
                <a:tc>
                  <a:txBody>
                    <a:bodyPr/>
                    <a:lstStyle/>
                    <a:p>
                      <a:pPr algn="l">
                        <a:lnSpc>
                          <a:spcPct val="107000"/>
                        </a:lnSpc>
                        <a:spcAft>
                          <a:spcPts val="800"/>
                        </a:spcAft>
                      </a:pPr>
                      <a:r>
                        <a:rPr lang="en-GB" sz="1200" b="1" dirty="0">
                          <a:solidFill>
                            <a:schemeClr val="bg1"/>
                          </a:solidFill>
                          <a:effectLst/>
                          <a:latin typeface="Calibri" panose="020F0502020204030204" pitchFamily="34" charset="0"/>
                          <a:ea typeface="Calibri" panose="020F0502020204030204" pitchFamily="34" charset="0"/>
                          <a:cs typeface="Calibri" panose="020F0502020204030204" pitchFamily="34" charset="0"/>
                        </a:rPr>
                        <a:t>4s</a:t>
                      </a:r>
                      <a:endParaRPr lang="en-GB"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solidFill>
                      <a:srgbClr val="0075BE"/>
                    </a:solidFill>
                  </a:tcPr>
                </a:tc>
                <a:tc>
                  <a:txBody>
                    <a:bodyPr/>
                    <a:lstStyle/>
                    <a:p>
                      <a:pPr algn="l">
                        <a:lnSpc>
                          <a:spcPct val="107000"/>
                        </a:lnSpc>
                        <a:spcAft>
                          <a:spcPts val="800"/>
                        </a:spcAft>
                      </a:pPr>
                      <a:r>
                        <a:rPr lang="en-GB" sz="1200" b="1" dirty="0">
                          <a:solidFill>
                            <a:schemeClr val="bg1"/>
                          </a:solidFill>
                          <a:effectLst/>
                          <a:latin typeface="Calibri" panose="020F0502020204030204" pitchFamily="34" charset="0"/>
                          <a:ea typeface="Calibri" panose="020F0502020204030204" pitchFamily="34" charset="0"/>
                          <a:cs typeface="Calibri" panose="020F0502020204030204" pitchFamily="34" charset="0"/>
                        </a:rPr>
                        <a:t>2s</a:t>
                      </a:r>
                      <a:endParaRPr lang="en-GB"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solidFill>
                      <a:srgbClr val="0075BE"/>
                    </a:solidFill>
                  </a:tcPr>
                </a:tc>
                <a:tc>
                  <a:txBody>
                    <a:bodyPr/>
                    <a:lstStyle/>
                    <a:p>
                      <a:pPr algn="l">
                        <a:lnSpc>
                          <a:spcPct val="107000"/>
                        </a:lnSpc>
                        <a:spcAft>
                          <a:spcPts val="800"/>
                        </a:spcAft>
                      </a:pPr>
                      <a:r>
                        <a:rPr lang="en-GB" sz="1100" b="1" dirty="0">
                          <a:solidFill>
                            <a:schemeClr val="bg1"/>
                          </a:solidFill>
                          <a:effectLst/>
                          <a:latin typeface="Calibri" panose="020F0502020204030204" pitchFamily="34" charset="0"/>
                          <a:ea typeface="Calibri" panose="020F0502020204030204" pitchFamily="34" charset="0"/>
                          <a:cs typeface="Calibri" panose="020F0502020204030204" pitchFamily="34" charset="0"/>
                        </a:rPr>
                        <a:t>1s</a:t>
                      </a:r>
                      <a:endParaRPr lang="en-GB"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solidFill>
                      <a:srgbClr val="0075BE"/>
                    </a:solidFill>
                  </a:tcPr>
                </a:tc>
                <a:tc>
                  <a:txBody>
                    <a:bodyPr/>
                    <a:lstStyle/>
                    <a:p>
                      <a:pPr marL="0" marR="0" indent="0" algn="l" defTabSz="914400" rtl="0" eaLnBrk="1" fontAlgn="auto" latinLnBrk="0" hangingPunct="1">
                        <a:lnSpc>
                          <a:spcPct val="107000"/>
                        </a:lnSpc>
                        <a:spcBef>
                          <a:spcPts val="0"/>
                        </a:spcBef>
                        <a:spcAft>
                          <a:spcPts val="800"/>
                        </a:spcAft>
                        <a:buClrTx/>
                        <a:buSzTx/>
                        <a:buFontTx/>
                        <a:buNone/>
                        <a:tabLst/>
                        <a:defRPr/>
                      </a:pPr>
                      <a:r>
                        <a:rPr lang="en-GB" sz="1200" b="1" dirty="0">
                          <a:solidFill>
                            <a:schemeClr val="bg1"/>
                          </a:solidFill>
                          <a:effectLst/>
                          <a:latin typeface="Calibri" panose="020F0502020204030204" pitchFamily="34" charset="0"/>
                          <a:ea typeface="Calibri" panose="020F0502020204030204" pitchFamily="34" charset="0"/>
                          <a:cs typeface="Calibri" panose="020F0502020204030204" pitchFamily="34" charset="0"/>
                        </a:rPr>
                        <a:t>Place values</a:t>
                      </a:r>
                      <a:endParaRPr lang="en-GB"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solidFill>
                      <a:srgbClr val="0075BE"/>
                    </a:solidFill>
                  </a:tcPr>
                </a:tc>
                <a:tc>
                  <a:txBody>
                    <a:bodyPr/>
                    <a:lstStyle/>
                    <a:p>
                      <a:pPr algn="l">
                        <a:lnSpc>
                          <a:spcPct val="107000"/>
                        </a:lnSpc>
                        <a:spcAft>
                          <a:spcPts val="800"/>
                        </a:spcAft>
                      </a:pPr>
                      <a:r>
                        <a:rPr lang="en-GB" sz="1200" b="1" dirty="0">
                          <a:solidFill>
                            <a:schemeClr val="bg1"/>
                          </a:solidFill>
                          <a:effectLst/>
                          <a:latin typeface="Calibri" panose="020F0502020204030204" pitchFamily="34" charset="0"/>
                          <a:ea typeface="Calibri" panose="020F0502020204030204" pitchFamily="34" charset="0"/>
                          <a:cs typeface="Calibri" panose="020F0502020204030204" pitchFamily="34" charset="0"/>
                        </a:rPr>
                        <a:t>Denary number</a:t>
                      </a:r>
                      <a:endParaRPr lang="en-GB" sz="1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solidFill>
                      <a:srgbClr val="0075BE"/>
                    </a:solidFill>
                  </a:tcPr>
                </a:tc>
                <a:extLst>
                  <a:ext uri="{0D108BD9-81ED-4DB2-BD59-A6C34878D82A}">
                    <a16:rowId xmlns:a16="http://schemas.microsoft.com/office/drawing/2014/main" val="416251235"/>
                  </a:ext>
                </a:extLst>
              </a:tr>
              <a:tr h="288000">
                <a:tc>
                  <a:txBody>
                    <a:bodyPr/>
                    <a:lstStyle/>
                    <a:p>
                      <a:pPr algn="r">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 </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r">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 </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r">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 </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r">
                        <a:lnSpc>
                          <a:spcPct val="107000"/>
                        </a:lnSpc>
                        <a:spcAft>
                          <a:spcPts val="800"/>
                        </a:spcAft>
                      </a:pPr>
                      <a:r>
                        <a:rPr lang="en-GB" sz="1200">
                          <a:effectLst/>
                          <a:latin typeface="Calibri" panose="020F0502020204030204" pitchFamily="34" charset="0"/>
                          <a:ea typeface="Calibri" panose="020F0502020204030204" pitchFamily="34" charset="0"/>
                          <a:cs typeface="Calibri" panose="020F0502020204030204" pitchFamily="34" charset="0"/>
                        </a:rPr>
                        <a:t> </a:t>
                      </a:r>
                      <a:endParaRPr lang="en-GB"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r">
                        <a:lnSpc>
                          <a:spcPct val="107000"/>
                        </a:lnSpc>
                        <a:spcAft>
                          <a:spcPts val="800"/>
                        </a:spcAft>
                      </a:pPr>
                      <a:r>
                        <a:rPr lang="en-GB" sz="1200">
                          <a:effectLst/>
                          <a:latin typeface="Calibri" panose="020F0502020204030204" pitchFamily="34" charset="0"/>
                          <a:ea typeface="Calibri" panose="020F0502020204030204" pitchFamily="34" charset="0"/>
                          <a:cs typeface="Calibri" panose="020F0502020204030204" pitchFamily="34" charset="0"/>
                        </a:rPr>
                        <a:t>1</a:t>
                      </a:r>
                      <a:endParaRPr lang="en-GB"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1 ×1</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1</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extLst>
                  <a:ext uri="{0D108BD9-81ED-4DB2-BD59-A6C34878D82A}">
                    <a16:rowId xmlns:a16="http://schemas.microsoft.com/office/drawing/2014/main" val="205226881"/>
                  </a:ext>
                </a:extLst>
              </a:tr>
              <a:tr h="288000">
                <a:tc>
                  <a:txBody>
                    <a:bodyPr/>
                    <a:lstStyle/>
                    <a:p>
                      <a:pPr algn="r">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 </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r">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 </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r">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 </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r">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1</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r">
                        <a:lnSpc>
                          <a:spcPct val="107000"/>
                        </a:lnSpc>
                        <a:spcAft>
                          <a:spcPts val="800"/>
                        </a:spcAft>
                      </a:pPr>
                      <a:r>
                        <a:rPr lang="en-GB" sz="1200">
                          <a:effectLst/>
                          <a:latin typeface="Calibri" panose="020F0502020204030204" pitchFamily="34" charset="0"/>
                          <a:ea typeface="Calibri" panose="020F0502020204030204" pitchFamily="34" charset="0"/>
                          <a:cs typeface="Calibri" panose="020F0502020204030204" pitchFamily="34" charset="0"/>
                        </a:rPr>
                        <a:t>0</a:t>
                      </a:r>
                      <a:endParaRPr lang="en-GB"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(1 × 2) + (0 × 1)</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2</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extLst>
                  <a:ext uri="{0D108BD9-81ED-4DB2-BD59-A6C34878D82A}">
                    <a16:rowId xmlns:a16="http://schemas.microsoft.com/office/drawing/2014/main" val="3988177354"/>
                  </a:ext>
                </a:extLst>
              </a:tr>
              <a:tr h="288000">
                <a:tc>
                  <a:txBody>
                    <a:bodyPr/>
                    <a:lstStyle/>
                    <a:p>
                      <a:pPr algn="r">
                        <a:lnSpc>
                          <a:spcPct val="107000"/>
                        </a:lnSpc>
                        <a:spcAft>
                          <a:spcPts val="800"/>
                        </a:spcAft>
                      </a:pPr>
                      <a:r>
                        <a:rPr lang="en-GB" sz="1200">
                          <a:effectLst/>
                          <a:latin typeface="Calibri" panose="020F0502020204030204" pitchFamily="34" charset="0"/>
                          <a:ea typeface="Calibri" panose="020F0502020204030204" pitchFamily="34" charset="0"/>
                          <a:cs typeface="Calibri" panose="020F0502020204030204" pitchFamily="34" charset="0"/>
                        </a:rPr>
                        <a:t> </a:t>
                      </a:r>
                      <a:endParaRPr lang="en-GB"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r">
                        <a:lnSpc>
                          <a:spcPct val="107000"/>
                        </a:lnSpc>
                        <a:spcAft>
                          <a:spcPts val="800"/>
                        </a:spcAft>
                      </a:pPr>
                      <a:r>
                        <a:rPr lang="en-GB" sz="1200">
                          <a:effectLst/>
                          <a:latin typeface="Calibri" panose="020F0502020204030204" pitchFamily="34" charset="0"/>
                          <a:ea typeface="Calibri" panose="020F0502020204030204" pitchFamily="34" charset="0"/>
                          <a:cs typeface="Calibri" panose="020F0502020204030204" pitchFamily="34" charset="0"/>
                        </a:rPr>
                        <a:t> </a:t>
                      </a:r>
                      <a:endParaRPr lang="en-GB"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r">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1</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r">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1</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r">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1</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(1 × 4) + (1 × 2) + (1 × 1)</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7</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extLst>
                  <a:ext uri="{0D108BD9-81ED-4DB2-BD59-A6C34878D82A}">
                    <a16:rowId xmlns:a16="http://schemas.microsoft.com/office/drawing/2014/main" val="3009925893"/>
                  </a:ext>
                </a:extLst>
              </a:tr>
              <a:tr h="288000">
                <a:tc>
                  <a:txBody>
                    <a:bodyPr/>
                    <a:lstStyle/>
                    <a:p>
                      <a:pPr algn="r">
                        <a:lnSpc>
                          <a:spcPct val="107000"/>
                        </a:lnSpc>
                        <a:spcAft>
                          <a:spcPts val="800"/>
                        </a:spcAft>
                      </a:pPr>
                      <a:r>
                        <a:rPr lang="en-GB" sz="1200">
                          <a:effectLst/>
                          <a:latin typeface="Calibri" panose="020F0502020204030204" pitchFamily="34" charset="0"/>
                          <a:ea typeface="Calibri" panose="020F0502020204030204" pitchFamily="34" charset="0"/>
                          <a:cs typeface="Calibri" panose="020F0502020204030204" pitchFamily="34" charset="0"/>
                        </a:rPr>
                        <a:t> </a:t>
                      </a:r>
                      <a:endParaRPr lang="en-GB"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r">
                        <a:lnSpc>
                          <a:spcPct val="107000"/>
                        </a:lnSpc>
                        <a:spcAft>
                          <a:spcPts val="800"/>
                        </a:spcAft>
                      </a:pPr>
                      <a:r>
                        <a:rPr lang="en-GB" sz="1200">
                          <a:effectLst/>
                          <a:latin typeface="Calibri" panose="020F0502020204030204" pitchFamily="34" charset="0"/>
                          <a:ea typeface="Calibri" panose="020F0502020204030204" pitchFamily="34" charset="0"/>
                          <a:cs typeface="Calibri" panose="020F0502020204030204" pitchFamily="34" charset="0"/>
                        </a:rPr>
                        <a:t>1</a:t>
                      </a:r>
                      <a:endParaRPr lang="en-GB"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r">
                        <a:lnSpc>
                          <a:spcPct val="107000"/>
                        </a:lnSpc>
                        <a:spcAft>
                          <a:spcPts val="800"/>
                        </a:spcAft>
                      </a:pPr>
                      <a:r>
                        <a:rPr lang="en-GB" sz="1200">
                          <a:effectLst/>
                          <a:latin typeface="Calibri" panose="020F0502020204030204" pitchFamily="34" charset="0"/>
                          <a:ea typeface="Calibri" panose="020F0502020204030204" pitchFamily="34" charset="0"/>
                          <a:cs typeface="Calibri" panose="020F0502020204030204" pitchFamily="34" charset="0"/>
                        </a:rPr>
                        <a:t>0</a:t>
                      </a:r>
                      <a:endParaRPr lang="en-GB"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r">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1</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r">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0</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(1 × 8) + (1 × 2)</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10</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extLst>
                  <a:ext uri="{0D108BD9-81ED-4DB2-BD59-A6C34878D82A}">
                    <a16:rowId xmlns:a16="http://schemas.microsoft.com/office/drawing/2014/main" val="2768523843"/>
                  </a:ext>
                </a:extLst>
              </a:tr>
              <a:tr h="288000">
                <a:tc>
                  <a:txBody>
                    <a:bodyPr/>
                    <a:lstStyle/>
                    <a:p>
                      <a:pPr algn="r">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1</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r">
                        <a:lnSpc>
                          <a:spcPct val="107000"/>
                        </a:lnSpc>
                        <a:spcAft>
                          <a:spcPts val="800"/>
                        </a:spcAft>
                      </a:pPr>
                      <a:r>
                        <a:rPr lang="en-GB" sz="1200">
                          <a:effectLst/>
                          <a:latin typeface="Calibri" panose="020F0502020204030204" pitchFamily="34" charset="0"/>
                          <a:ea typeface="Calibri" panose="020F0502020204030204" pitchFamily="34" charset="0"/>
                          <a:cs typeface="Calibri" panose="020F0502020204030204" pitchFamily="34" charset="0"/>
                        </a:rPr>
                        <a:t>1</a:t>
                      </a:r>
                      <a:endParaRPr lang="en-GB"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r">
                        <a:lnSpc>
                          <a:spcPct val="107000"/>
                        </a:lnSpc>
                        <a:spcAft>
                          <a:spcPts val="800"/>
                        </a:spcAft>
                      </a:pPr>
                      <a:r>
                        <a:rPr lang="en-GB" sz="1200">
                          <a:effectLst/>
                          <a:latin typeface="Calibri" panose="020F0502020204030204" pitchFamily="34" charset="0"/>
                          <a:ea typeface="Calibri" panose="020F0502020204030204" pitchFamily="34" charset="0"/>
                          <a:cs typeface="Calibri" panose="020F0502020204030204" pitchFamily="34" charset="0"/>
                        </a:rPr>
                        <a:t>0</a:t>
                      </a:r>
                      <a:endParaRPr lang="en-GB"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r">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0</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r">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1</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(1 × 16) + (1 × 8) + (1 × 1)</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tc>
                  <a:txBody>
                    <a:bodyPr/>
                    <a:lstStyle/>
                    <a:p>
                      <a:pPr algn="l">
                        <a:lnSpc>
                          <a:spcPct val="107000"/>
                        </a:lnSpc>
                        <a:spcAft>
                          <a:spcPts val="800"/>
                        </a:spcAft>
                      </a:pPr>
                      <a:r>
                        <a:rPr lang="en-GB" sz="1200" dirty="0">
                          <a:effectLst/>
                          <a:latin typeface="Calibri" panose="020F0502020204030204" pitchFamily="34" charset="0"/>
                          <a:ea typeface="Calibri" panose="020F0502020204030204" pitchFamily="34" charset="0"/>
                          <a:cs typeface="Calibri" panose="020F0502020204030204" pitchFamily="34" charset="0"/>
                        </a:rPr>
                        <a:t>25</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lnL w="12700" cap="flat" cmpd="sng" algn="ctr">
                      <a:solidFill>
                        <a:srgbClr val="0075BE"/>
                      </a:solidFill>
                      <a:prstDash val="solid"/>
                      <a:round/>
                      <a:headEnd type="none" w="med" len="med"/>
                      <a:tailEnd type="none" w="med" len="med"/>
                    </a:lnL>
                    <a:lnR w="12700" cap="flat" cmpd="sng" algn="ctr">
                      <a:solidFill>
                        <a:srgbClr val="0075BE"/>
                      </a:solidFill>
                      <a:prstDash val="solid"/>
                      <a:round/>
                      <a:headEnd type="none" w="med" len="med"/>
                      <a:tailEnd type="none" w="med" len="med"/>
                    </a:lnR>
                    <a:lnT w="12700" cap="flat" cmpd="sng" algn="ctr">
                      <a:solidFill>
                        <a:srgbClr val="0075BE"/>
                      </a:solidFill>
                      <a:prstDash val="solid"/>
                      <a:round/>
                      <a:headEnd type="none" w="med" len="med"/>
                      <a:tailEnd type="none" w="med" len="med"/>
                    </a:lnT>
                    <a:lnB w="12700" cap="flat" cmpd="sng" algn="ctr">
                      <a:solidFill>
                        <a:srgbClr val="0075BE"/>
                      </a:solidFill>
                      <a:prstDash val="solid"/>
                      <a:round/>
                      <a:headEnd type="none" w="med" len="med"/>
                      <a:tailEnd type="none" w="med" len="med"/>
                    </a:lnB>
                  </a:tcPr>
                </a:tc>
                <a:extLst>
                  <a:ext uri="{0D108BD9-81ED-4DB2-BD59-A6C34878D82A}">
                    <a16:rowId xmlns:a16="http://schemas.microsoft.com/office/drawing/2014/main" val="2511394341"/>
                  </a:ext>
                </a:extLst>
              </a:tr>
            </a:tbl>
          </a:graphicData>
        </a:graphic>
      </p:graphicFrame>
    </p:spTree>
    <p:extLst>
      <p:ext uri="{BB962C8B-B14F-4D97-AF65-F5344CB8AC3E}">
        <p14:creationId xmlns:p14="http://schemas.microsoft.com/office/powerpoint/2010/main" val="5669429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620078" y="805071"/>
            <a:ext cx="9743660" cy="815008"/>
          </a:xfrm>
        </p:spPr>
        <p:txBody>
          <a:bodyPr/>
          <a:lstStyle/>
          <a:p>
            <a:r>
              <a:rPr lang="en-GB" b="1" dirty="0">
                <a:solidFill>
                  <a:schemeClr val="bg1"/>
                </a:solidFill>
              </a:rPr>
              <a:t>Activity 2.1: Counting in binary </a:t>
            </a:r>
          </a:p>
        </p:txBody>
      </p:sp>
      <p:pic>
        <p:nvPicPr>
          <p:cNvPr id="4" name="Picture 3" descr="A picture containing athletic game, basketball, sport&#10;&#10;Description automatically generated">
            <a:extLst>
              <a:ext uri="{FF2B5EF4-FFF2-40B4-BE49-F238E27FC236}">
                <a16:creationId xmlns:a16="http://schemas.microsoft.com/office/drawing/2014/main" id="{38726B6C-C33A-4534-A8BE-7E7303D973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68169" y="1898933"/>
            <a:ext cx="4655661" cy="4561557"/>
          </a:xfrm>
          <a:prstGeom prst="rect">
            <a:avLst/>
          </a:prstGeom>
        </p:spPr>
      </p:pic>
    </p:spTree>
    <p:extLst>
      <p:ext uri="{BB962C8B-B14F-4D97-AF65-F5344CB8AC3E}">
        <p14:creationId xmlns:p14="http://schemas.microsoft.com/office/powerpoint/2010/main" val="27512341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620078" y="805071"/>
            <a:ext cx="9743660" cy="815008"/>
          </a:xfrm>
        </p:spPr>
        <p:txBody>
          <a:bodyPr/>
          <a:lstStyle/>
          <a:p>
            <a:r>
              <a:rPr lang="en-GB" b="1" dirty="0">
                <a:solidFill>
                  <a:schemeClr val="bg1"/>
                </a:solidFill>
              </a:rPr>
              <a:t>Activity 2.2: Binary to denary conversion </a:t>
            </a:r>
          </a:p>
        </p:txBody>
      </p:sp>
      <p:pic>
        <p:nvPicPr>
          <p:cNvPr id="4" name="Picture 3" descr="A picture containing athletic game, basketball, sport&#10;&#10;Description automatically generated">
            <a:extLst>
              <a:ext uri="{FF2B5EF4-FFF2-40B4-BE49-F238E27FC236}">
                <a16:creationId xmlns:a16="http://schemas.microsoft.com/office/drawing/2014/main" id="{9A2DD93C-665F-470B-A04A-B26CA45CF2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68169" y="1898933"/>
            <a:ext cx="4655661" cy="4561557"/>
          </a:xfrm>
          <a:prstGeom prst="rect">
            <a:avLst/>
          </a:prstGeom>
        </p:spPr>
      </p:pic>
    </p:spTree>
    <p:extLst>
      <p:ext uri="{BB962C8B-B14F-4D97-AF65-F5344CB8AC3E}">
        <p14:creationId xmlns:p14="http://schemas.microsoft.com/office/powerpoint/2010/main" val="1989817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905C-00CB-4FC9-83B7-66A2E3C077C8}"/>
              </a:ext>
            </a:extLst>
          </p:cNvPr>
          <p:cNvSpPr>
            <a:spLocks noGrp="1"/>
          </p:cNvSpPr>
          <p:nvPr>
            <p:ph type="title"/>
          </p:nvPr>
        </p:nvSpPr>
        <p:spPr>
          <a:xfrm>
            <a:off x="1620079" y="787237"/>
            <a:ext cx="9773478" cy="845862"/>
          </a:xfrm>
        </p:spPr>
        <p:txBody>
          <a:bodyPr/>
          <a:lstStyle/>
          <a:p>
            <a:r>
              <a:rPr lang="en-GB" b="1" dirty="0">
                <a:solidFill>
                  <a:schemeClr val="bg1"/>
                </a:solidFill>
              </a:rPr>
              <a:t>Binary to denary conversion </a:t>
            </a:r>
          </a:p>
        </p:txBody>
      </p:sp>
      <p:sp>
        <p:nvSpPr>
          <p:cNvPr id="7" name="Rectangle 6">
            <a:extLst>
              <a:ext uri="{FF2B5EF4-FFF2-40B4-BE49-F238E27FC236}">
                <a16:creationId xmlns:a16="http://schemas.microsoft.com/office/drawing/2014/main" id="{EAD6AFC6-4D02-9941-A5F0-122E6AA1866E}"/>
              </a:ext>
            </a:extLst>
          </p:cNvPr>
          <p:cNvSpPr/>
          <p:nvPr/>
        </p:nvSpPr>
        <p:spPr>
          <a:xfrm>
            <a:off x="1620078" y="1965294"/>
            <a:ext cx="8421543" cy="470000"/>
          </a:xfrm>
          <a:prstGeom prst="rect">
            <a:avLst/>
          </a:prstGeom>
        </p:spPr>
        <p:txBody>
          <a:bodyPr wrap="square">
            <a:spAutoFit/>
          </a:bodyPr>
          <a:lstStyle/>
          <a:p>
            <a:pPr>
              <a:lnSpc>
                <a:spcPct val="107000"/>
              </a:lnSpc>
              <a:spcAft>
                <a:spcPts val="800"/>
              </a:spcAft>
            </a:pPr>
            <a:r>
              <a:rPr lang="en-GB" sz="2400" dirty="0">
                <a:latin typeface="Calibri" panose="020F0502020204030204" pitchFamily="34" charset="0"/>
                <a:ea typeface="Calibri" panose="020F0502020204030204" pitchFamily="34" charset="0"/>
                <a:cs typeface="Times New Roman" panose="02020603050405020304" pitchFamily="18" charset="0"/>
              </a:rPr>
              <a:t>Lay out the cards with the denary numbers uppermost as shown:</a:t>
            </a:r>
            <a:endParaRPr lang="en-GB" sz="2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9" name="Rectangle 8">
            <a:extLst>
              <a:ext uri="{FF2B5EF4-FFF2-40B4-BE49-F238E27FC236}">
                <a16:creationId xmlns:a16="http://schemas.microsoft.com/office/drawing/2014/main" id="{5B2F2E9D-D72D-3A4E-BF6F-B3F2A388403D}"/>
              </a:ext>
            </a:extLst>
          </p:cNvPr>
          <p:cNvSpPr/>
          <p:nvPr/>
        </p:nvSpPr>
        <p:spPr>
          <a:xfrm>
            <a:off x="1620078" y="4054529"/>
            <a:ext cx="8597347" cy="865173"/>
          </a:xfrm>
          <a:prstGeom prst="rect">
            <a:avLst/>
          </a:prstGeom>
        </p:spPr>
        <p:txBody>
          <a:bodyPr wrap="square">
            <a:spAutoFit/>
          </a:bodyPr>
          <a:lstStyle/>
          <a:p>
            <a:pPr>
              <a:lnSpc>
                <a:spcPct val="107000"/>
              </a:lnSpc>
              <a:spcAft>
                <a:spcPts val="800"/>
              </a:spcAft>
            </a:pPr>
            <a:r>
              <a:rPr lang="en-GB" sz="2400" dirty="0">
                <a:latin typeface="Calibri" panose="020F0502020204030204" pitchFamily="34" charset="0"/>
                <a:ea typeface="Calibri" panose="020F0502020204030204" pitchFamily="34" charset="0"/>
                <a:cs typeface="Calibri" panose="020F0502020204030204" pitchFamily="34" charset="0"/>
              </a:rPr>
              <a:t>Without changing the order of the cards, turn each card over so that the 0 on the back is showing:</a:t>
            </a:r>
            <a:endParaRPr lang="en-GB" sz="2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5" name="Picture 4" descr="A picture containing text, clock&#10;&#10;Description automatically generated">
            <a:extLst>
              <a:ext uri="{FF2B5EF4-FFF2-40B4-BE49-F238E27FC236}">
                <a16:creationId xmlns:a16="http://schemas.microsoft.com/office/drawing/2014/main" id="{F7E3161B-22BC-4FD9-900E-9B75E89F063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90051" y="2704524"/>
            <a:ext cx="5409705" cy="1020393"/>
          </a:xfrm>
          <a:prstGeom prst="rect">
            <a:avLst/>
          </a:prstGeom>
        </p:spPr>
      </p:pic>
      <p:pic>
        <p:nvPicPr>
          <p:cNvPr id="12" name="Picture 11" descr="Diagram&#10;&#10;Description automatically generated">
            <a:extLst>
              <a:ext uri="{FF2B5EF4-FFF2-40B4-BE49-F238E27FC236}">
                <a16:creationId xmlns:a16="http://schemas.microsoft.com/office/drawing/2014/main" id="{EE0713B3-E0E8-4C09-8FA2-19675FE2A58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01701" y="5125662"/>
            <a:ext cx="5586404" cy="1218011"/>
          </a:xfrm>
          <a:prstGeom prst="rect">
            <a:avLst/>
          </a:prstGeom>
        </p:spPr>
      </p:pic>
    </p:spTree>
    <p:extLst>
      <p:ext uri="{BB962C8B-B14F-4D97-AF65-F5344CB8AC3E}">
        <p14:creationId xmlns:p14="http://schemas.microsoft.com/office/powerpoint/2010/main" val="39682386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905C-00CB-4FC9-83B7-66A2E3C077C8}"/>
              </a:ext>
            </a:extLst>
          </p:cNvPr>
          <p:cNvSpPr>
            <a:spLocks noGrp="1"/>
          </p:cNvSpPr>
          <p:nvPr>
            <p:ph type="title"/>
          </p:nvPr>
        </p:nvSpPr>
        <p:spPr>
          <a:xfrm>
            <a:off x="1620079" y="787237"/>
            <a:ext cx="9773478" cy="845862"/>
          </a:xfrm>
        </p:spPr>
        <p:txBody>
          <a:bodyPr/>
          <a:lstStyle/>
          <a:p>
            <a:r>
              <a:rPr lang="en-GB" b="1" dirty="0">
                <a:solidFill>
                  <a:schemeClr val="bg1"/>
                </a:solidFill>
              </a:rPr>
              <a:t>Converting binary 1 to denary </a:t>
            </a:r>
          </a:p>
        </p:txBody>
      </p:sp>
      <p:sp>
        <p:nvSpPr>
          <p:cNvPr id="7" name="Rectangle 6">
            <a:extLst>
              <a:ext uri="{FF2B5EF4-FFF2-40B4-BE49-F238E27FC236}">
                <a16:creationId xmlns:a16="http://schemas.microsoft.com/office/drawing/2014/main" id="{EAD6AFC6-4D02-9941-A5F0-122E6AA1866E}"/>
              </a:ext>
            </a:extLst>
          </p:cNvPr>
          <p:cNvSpPr/>
          <p:nvPr/>
        </p:nvSpPr>
        <p:spPr>
          <a:xfrm>
            <a:off x="1615358" y="1998217"/>
            <a:ext cx="7166112" cy="470000"/>
          </a:xfrm>
          <a:prstGeom prst="rect">
            <a:avLst/>
          </a:prstGeom>
        </p:spPr>
        <p:txBody>
          <a:bodyPr wrap="square">
            <a:spAutoFit/>
          </a:bodyPr>
          <a:lstStyle/>
          <a:p>
            <a:pPr>
              <a:lnSpc>
                <a:spcPct val="107000"/>
              </a:lnSpc>
              <a:spcAft>
                <a:spcPts val="800"/>
              </a:spcAft>
            </a:pPr>
            <a:r>
              <a:rPr lang="en-GB" sz="2400" dirty="0">
                <a:latin typeface="Calibri" panose="020F0502020204030204" pitchFamily="34" charset="0"/>
                <a:ea typeface="Calibri" panose="020F0502020204030204" pitchFamily="34" charset="0"/>
                <a:cs typeface="Times New Roman" panose="02020603050405020304" pitchFamily="18" charset="0"/>
              </a:rPr>
              <a:t>Turn over the card on the far right:</a:t>
            </a:r>
          </a:p>
        </p:txBody>
      </p:sp>
      <p:sp>
        <p:nvSpPr>
          <p:cNvPr id="9" name="Rectangle 8">
            <a:extLst>
              <a:ext uri="{FF2B5EF4-FFF2-40B4-BE49-F238E27FC236}">
                <a16:creationId xmlns:a16="http://schemas.microsoft.com/office/drawing/2014/main" id="{5B2F2E9D-D72D-3A4E-BF6F-B3F2A388403D}"/>
              </a:ext>
            </a:extLst>
          </p:cNvPr>
          <p:cNvSpPr/>
          <p:nvPr/>
        </p:nvSpPr>
        <p:spPr>
          <a:xfrm>
            <a:off x="1615358" y="4136172"/>
            <a:ext cx="8597347" cy="1569660"/>
          </a:xfrm>
          <a:prstGeom prst="rect">
            <a:avLst/>
          </a:prstGeom>
        </p:spPr>
        <p:txBody>
          <a:bodyPr wrap="square">
            <a:spAutoFit/>
          </a:bodyPr>
          <a:lstStyle/>
          <a:p>
            <a:r>
              <a:rPr lang="en-GB" sz="2400" dirty="0"/>
              <a:t>The card on the far right now represents the binary number 1.</a:t>
            </a:r>
          </a:p>
          <a:p>
            <a:r>
              <a:rPr lang="en-GB" sz="2400" dirty="0"/>
              <a:t>The denary equivalent of the binary digit is the red number in the bottom left-hand corner of the card; in this case </a:t>
            </a:r>
            <a:r>
              <a:rPr lang="en-GB" sz="2400" b="1" dirty="0">
                <a:solidFill>
                  <a:srgbClr val="0070C0"/>
                </a:solidFill>
              </a:rPr>
              <a:t>1</a:t>
            </a:r>
            <a:r>
              <a:rPr lang="en-GB" sz="2400" dirty="0"/>
              <a:t>.</a:t>
            </a:r>
          </a:p>
          <a:p>
            <a:r>
              <a:rPr lang="en-GB" sz="2400" dirty="0"/>
              <a:t>Binary 1 is denary 1.</a:t>
            </a:r>
          </a:p>
        </p:txBody>
      </p:sp>
      <p:pic>
        <p:nvPicPr>
          <p:cNvPr id="10" name="Picture 9" descr="A picture containing text, clock, clipart, keyboard&#10;&#10;Description automatically generated">
            <a:extLst>
              <a:ext uri="{FF2B5EF4-FFF2-40B4-BE49-F238E27FC236}">
                <a16:creationId xmlns:a16="http://schemas.microsoft.com/office/drawing/2014/main" id="{A3BFEFD9-7527-4921-99A0-9DC9E611E9A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0424" y="2693140"/>
            <a:ext cx="5590661" cy="1218109"/>
          </a:xfrm>
          <a:prstGeom prst="rect">
            <a:avLst/>
          </a:prstGeom>
        </p:spPr>
      </p:pic>
    </p:spTree>
    <p:extLst>
      <p:ext uri="{BB962C8B-B14F-4D97-AF65-F5344CB8AC3E}">
        <p14:creationId xmlns:p14="http://schemas.microsoft.com/office/powerpoint/2010/main" val="37608750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905C-00CB-4FC9-83B7-66A2E3C077C8}"/>
              </a:ext>
            </a:extLst>
          </p:cNvPr>
          <p:cNvSpPr>
            <a:spLocks noGrp="1"/>
          </p:cNvSpPr>
          <p:nvPr>
            <p:ph type="title"/>
          </p:nvPr>
        </p:nvSpPr>
        <p:spPr>
          <a:xfrm>
            <a:off x="1620079" y="787237"/>
            <a:ext cx="9773478" cy="845862"/>
          </a:xfrm>
        </p:spPr>
        <p:txBody>
          <a:bodyPr/>
          <a:lstStyle/>
          <a:p>
            <a:r>
              <a:rPr lang="en-GB" b="1" dirty="0">
                <a:solidFill>
                  <a:schemeClr val="bg1"/>
                </a:solidFill>
              </a:rPr>
              <a:t>Converting binary 11 to denary </a:t>
            </a:r>
          </a:p>
        </p:txBody>
      </p:sp>
      <p:sp>
        <p:nvSpPr>
          <p:cNvPr id="7" name="Rectangle 6">
            <a:extLst>
              <a:ext uri="{FF2B5EF4-FFF2-40B4-BE49-F238E27FC236}">
                <a16:creationId xmlns:a16="http://schemas.microsoft.com/office/drawing/2014/main" id="{EAD6AFC6-4D02-9941-A5F0-122E6AA1866E}"/>
              </a:ext>
            </a:extLst>
          </p:cNvPr>
          <p:cNvSpPr/>
          <p:nvPr/>
        </p:nvSpPr>
        <p:spPr>
          <a:xfrm>
            <a:off x="1615358" y="2223139"/>
            <a:ext cx="7166112" cy="470000"/>
          </a:xfrm>
          <a:prstGeom prst="rect">
            <a:avLst/>
          </a:prstGeom>
        </p:spPr>
        <p:txBody>
          <a:bodyPr wrap="square">
            <a:spAutoFit/>
          </a:bodyPr>
          <a:lstStyle/>
          <a:p>
            <a:pPr>
              <a:lnSpc>
                <a:spcPct val="107000"/>
              </a:lnSpc>
              <a:spcAft>
                <a:spcPts val="800"/>
              </a:spcAft>
            </a:pPr>
            <a:r>
              <a:rPr lang="en-GB" sz="2400" dirty="0">
                <a:latin typeface="Calibri" panose="020F0502020204030204" pitchFamily="34" charset="0"/>
                <a:ea typeface="Calibri" panose="020F0502020204030204" pitchFamily="34" charset="0"/>
                <a:cs typeface="Times New Roman" panose="02020603050405020304" pitchFamily="18" charset="0"/>
              </a:rPr>
              <a:t>Turn over the two cards on the far right:</a:t>
            </a:r>
          </a:p>
        </p:txBody>
      </p:sp>
      <p:sp>
        <p:nvSpPr>
          <p:cNvPr id="9" name="Rectangle 8">
            <a:extLst>
              <a:ext uri="{FF2B5EF4-FFF2-40B4-BE49-F238E27FC236}">
                <a16:creationId xmlns:a16="http://schemas.microsoft.com/office/drawing/2014/main" id="{5B2F2E9D-D72D-3A4E-BF6F-B3F2A388403D}"/>
              </a:ext>
            </a:extLst>
          </p:cNvPr>
          <p:cNvSpPr/>
          <p:nvPr/>
        </p:nvSpPr>
        <p:spPr>
          <a:xfrm>
            <a:off x="1615358" y="4164860"/>
            <a:ext cx="8597347" cy="1860702"/>
          </a:xfrm>
          <a:prstGeom prst="rect">
            <a:avLst/>
          </a:prstGeom>
        </p:spPr>
        <p:txBody>
          <a:bodyPr wrap="square">
            <a:spAutoFit/>
          </a:bodyPr>
          <a:lstStyle/>
          <a:p>
            <a:pPr>
              <a:lnSpc>
                <a:spcPct val="107000"/>
              </a:lnSpc>
              <a:spcAft>
                <a:spcPts val="800"/>
              </a:spcAft>
            </a:pPr>
            <a:r>
              <a:rPr lang="en-GB" sz="2400" dirty="0">
                <a:latin typeface="Calibri" panose="020F0502020204030204" pitchFamily="34" charset="0"/>
                <a:ea typeface="Calibri" panose="020F0502020204030204" pitchFamily="34" charset="0"/>
                <a:cs typeface="Calibri" panose="020F0502020204030204" pitchFamily="34" charset="0"/>
              </a:rPr>
              <a:t>The two cards on the far right represent the binary number 11.</a:t>
            </a:r>
            <a:endParaRPr lang="en-GB" sz="2000" dirty="0">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pPr>
            <a:r>
              <a:rPr lang="en-GB" sz="2400" dirty="0">
                <a:latin typeface="Calibri" panose="020F0502020204030204" pitchFamily="34" charset="0"/>
                <a:ea typeface="Calibri" panose="020F0502020204030204" pitchFamily="34" charset="0"/>
                <a:cs typeface="Calibri" panose="020F0502020204030204" pitchFamily="34" charset="0"/>
              </a:rPr>
              <a:t>The denary equivalent is the sum of the red numbers; in this case, </a:t>
            </a:r>
            <a:r>
              <a:rPr lang="en-GB" sz="2400" b="1" dirty="0">
                <a:solidFill>
                  <a:srgbClr val="0070C0"/>
                </a:solidFill>
                <a:latin typeface="Calibri" panose="020F0502020204030204" pitchFamily="34" charset="0"/>
                <a:ea typeface="Calibri" panose="020F0502020204030204" pitchFamily="34" charset="0"/>
                <a:cs typeface="Calibri" panose="020F0502020204030204" pitchFamily="34" charset="0"/>
              </a:rPr>
              <a:t>2</a:t>
            </a:r>
            <a:r>
              <a:rPr lang="en-GB" sz="2400" dirty="0">
                <a:latin typeface="Calibri" panose="020F0502020204030204" pitchFamily="34" charset="0"/>
                <a:ea typeface="Calibri" panose="020F0502020204030204" pitchFamily="34" charset="0"/>
                <a:cs typeface="Calibri" panose="020F0502020204030204" pitchFamily="34" charset="0"/>
              </a:rPr>
              <a:t> + </a:t>
            </a:r>
            <a:r>
              <a:rPr lang="en-GB" sz="2400" b="1" dirty="0">
                <a:solidFill>
                  <a:srgbClr val="0070C0"/>
                </a:solidFill>
                <a:latin typeface="Calibri" panose="020F0502020204030204" pitchFamily="34" charset="0"/>
                <a:ea typeface="Calibri" panose="020F0502020204030204" pitchFamily="34" charset="0"/>
                <a:cs typeface="Calibri" panose="020F0502020204030204" pitchFamily="34" charset="0"/>
              </a:rPr>
              <a:t>1</a:t>
            </a:r>
            <a:r>
              <a:rPr lang="en-GB" sz="2400" dirty="0">
                <a:solidFill>
                  <a:srgbClr val="000000"/>
                </a:solidFill>
                <a:latin typeface="Calibri" panose="020F0502020204030204" pitchFamily="34" charset="0"/>
                <a:ea typeface="Calibri" panose="020F0502020204030204" pitchFamily="34" charset="0"/>
                <a:cs typeface="Calibri" panose="020F0502020204030204" pitchFamily="34" charset="0"/>
              </a:rPr>
              <a:t> = 3.</a:t>
            </a:r>
            <a:endParaRPr lang="en-GB" sz="2000" dirty="0">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pPr>
            <a:r>
              <a:rPr lang="en-GB" sz="2400" dirty="0">
                <a:latin typeface="Calibri" panose="020F0502020204030204" pitchFamily="34" charset="0"/>
                <a:ea typeface="Calibri" panose="020F0502020204030204" pitchFamily="34" charset="0"/>
                <a:cs typeface="Calibri" panose="020F0502020204030204" pitchFamily="34" charset="0"/>
              </a:rPr>
              <a:t>So binary 11 is denary 3.</a:t>
            </a:r>
            <a:endParaRPr lang="en-GB" sz="2000" dirty="0">
              <a:latin typeface="Calibri" panose="020F0502020204030204" pitchFamily="34" charset="0"/>
              <a:ea typeface="Calibri" panose="020F0502020204030204" pitchFamily="34" charset="0"/>
              <a:cs typeface="Times New Roman" panose="02020603050405020304" pitchFamily="18" charset="0"/>
            </a:endParaRPr>
          </a:p>
        </p:txBody>
      </p:sp>
      <p:pic>
        <p:nvPicPr>
          <p:cNvPr id="10" name="Picture 9" descr="A picture containing text, clock, clipart&#10;&#10;Description automatically generated">
            <a:extLst>
              <a:ext uri="{FF2B5EF4-FFF2-40B4-BE49-F238E27FC236}">
                <a16:creationId xmlns:a16="http://schemas.microsoft.com/office/drawing/2014/main" id="{EC0E02B7-7CF2-487F-A2BA-D6365840FB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44313" y="2817967"/>
            <a:ext cx="5590661" cy="1222065"/>
          </a:xfrm>
          <a:prstGeom prst="rect">
            <a:avLst/>
          </a:prstGeom>
        </p:spPr>
      </p:pic>
    </p:spTree>
    <p:extLst>
      <p:ext uri="{BB962C8B-B14F-4D97-AF65-F5344CB8AC3E}">
        <p14:creationId xmlns:p14="http://schemas.microsoft.com/office/powerpoint/2010/main" val="9487668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905C-00CB-4FC9-83B7-66A2E3C077C8}"/>
              </a:ext>
            </a:extLst>
          </p:cNvPr>
          <p:cNvSpPr>
            <a:spLocks noGrp="1"/>
          </p:cNvSpPr>
          <p:nvPr>
            <p:ph type="title"/>
          </p:nvPr>
        </p:nvSpPr>
        <p:spPr>
          <a:xfrm>
            <a:off x="1620079" y="787237"/>
            <a:ext cx="9773478" cy="845862"/>
          </a:xfrm>
        </p:spPr>
        <p:txBody>
          <a:bodyPr/>
          <a:lstStyle/>
          <a:p>
            <a:r>
              <a:rPr lang="en-GB" b="1" dirty="0">
                <a:solidFill>
                  <a:schemeClr val="bg1"/>
                </a:solidFill>
              </a:rPr>
              <a:t>Converting binary 100110 to denary </a:t>
            </a:r>
          </a:p>
        </p:txBody>
      </p:sp>
      <p:sp>
        <p:nvSpPr>
          <p:cNvPr id="7" name="Rectangle 6">
            <a:extLst>
              <a:ext uri="{FF2B5EF4-FFF2-40B4-BE49-F238E27FC236}">
                <a16:creationId xmlns:a16="http://schemas.microsoft.com/office/drawing/2014/main" id="{EAD6AFC6-4D02-9941-A5F0-122E6AA1866E}"/>
              </a:ext>
            </a:extLst>
          </p:cNvPr>
          <p:cNvSpPr/>
          <p:nvPr/>
        </p:nvSpPr>
        <p:spPr>
          <a:xfrm>
            <a:off x="1615357" y="1830638"/>
            <a:ext cx="9508445" cy="1260345"/>
          </a:xfrm>
          <a:prstGeom prst="rect">
            <a:avLst/>
          </a:prstGeom>
        </p:spPr>
        <p:txBody>
          <a:bodyPr wrap="square">
            <a:spAutoFit/>
          </a:bodyPr>
          <a:lstStyle/>
          <a:p>
            <a:pPr>
              <a:lnSpc>
                <a:spcPct val="107000"/>
              </a:lnSpc>
              <a:spcAft>
                <a:spcPts val="800"/>
              </a:spcAft>
            </a:pPr>
            <a:r>
              <a:rPr lang="en-GB" sz="2400" dirty="0">
                <a:latin typeface="Calibri" panose="020F0502020204030204" pitchFamily="34" charset="0"/>
                <a:ea typeface="Calibri" panose="020F0502020204030204" pitchFamily="34" charset="0"/>
                <a:cs typeface="Calibri" panose="020F0502020204030204" pitchFamily="34" charset="0"/>
              </a:rPr>
              <a:t>Working from right to left, turn over the cards that correspond to a 1 in the binary number 100110. Ignore the 0s on the left-hand side of the first 1; they have no numerical value.</a:t>
            </a:r>
            <a:endParaRPr lang="en-GB" sz="2000" dirty="0">
              <a:latin typeface="Calibri" panose="020F0502020204030204" pitchFamily="34" charset="0"/>
              <a:ea typeface="Calibri" panose="020F0502020204030204" pitchFamily="34" charset="0"/>
              <a:cs typeface="Times New Roman" panose="02020603050405020304" pitchFamily="18" charset="0"/>
            </a:endParaRPr>
          </a:p>
        </p:txBody>
      </p:sp>
      <p:sp>
        <p:nvSpPr>
          <p:cNvPr id="9" name="Rectangle 8">
            <a:extLst>
              <a:ext uri="{FF2B5EF4-FFF2-40B4-BE49-F238E27FC236}">
                <a16:creationId xmlns:a16="http://schemas.microsoft.com/office/drawing/2014/main" id="{5B2F2E9D-D72D-3A4E-BF6F-B3F2A388403D}"/>
              </a:ext>
            </a:extLst>
          </p:cNvPr>
          <p:cNvSpPr/>
          <p:nvPr/>
        </p:nvSpPr>
        <p:spPr>
          <a:xfrm>
            <a:off x="1615357" y="4641684"/>
            <a:ext cx="10321539" cy="1655518"/>
          </a:xfrm>
          <a:prstGeom prst="rect">
            <a:avLst/>
          </a:prstGeom>
        </p:spPr>
        <p:txBody>
          <a:bodyPr wrap="square">
            <a:spAutoFit/>
          </a:bodyPr>
          <a:lstStyle/>
          <a:p>
            <a:pPr>
              <a:lnSpc>
                <a:spcPct val="107000"/>
              </a:lnSpc>
            </a:pPr>
            <a:r>
              <a:rPr lang="en-GB" sz="2400" dirty="0">
                <a:latin typeface="Calibri" panose="020F0502020204030204" pitchFamily="34" charset="0"/>
                <a:ea typeface="Calibri" panose="020F0502020204030204" pitchFamily="34" charset="0"/>
                <a:cs typeface="Calibri" panose="020F0502020204030204" pitchFamily="34" charset="0"/>
              </a:rPr>
              <a:t>The six cards on the right represent the binary number 100110.</a:t>
            </a:r>
            <a:endParaRPr lang="en-GB" sz="2000" dirty="0">
              <a:latin typeface="Calibri" panose="020F0502020204030204" pitchFamily="34" charset="0"/>
              <a:ea typeface="Calibri" panose="020F0502020204030204" pitchFamily="34" charset="0"/>
              <a:cs typeface="Times New Roman" panose="02020603050405020304" pitchFamily="18" charset="0"/>
            </a:endParaRPr>
          </a:p>
          <a:p>
            <a:pPr>
              <a:lnSpc>
                <a:spcPct val="107000"/>
              </a:lnSpc>
            </a:pPr>
            <a:r>
              <a:rPr lang="en-GB" sz="2400" dirty="0">
                <a:latin typeface="Calibri" panose="020F0502020204030204" pitchFamily="34" charset="0"/>
                <a:ea typeface="Calibri" panose="020F0502020204030204" pitchFamily="34" charset="0"/>
                <a:cs typeface="Calibri" panose="020F0502020204030204" pitchFamily="34" charset="0"/>
              </a:rPr>
              <a:t>The denary equivalent is the sum of the red numbers; </a:t>
            </a:r>
          </a:p>
          <a:p>
            <a:pPr>
              <a:lnSpc>
                <a:spcPct val="107000"/>
              </a:lnSpc>
            </a:pPr>
            <a:r>
              <a:rPr lang="en-GB" sz="2400" dirty="0">
                <a:latin typeface="Calibri" panose="020F0502020204030204" pitchFamily="34" charset="0"/>
                <a:ea typeface="Calibri" panose="020F0502020204030204" pitchFamily="34" charset="0"/>
                <a:cs typeface="Calibri" panose="020F0502020204030204" pitchFamily="34" charset="0"/>
              </a:rPr>
              <a:t>in this case, </a:t>
            </a:r>
            <a:r>
              <a:rPr lang="en-GB" sz="2400" b="1" dirty="0">
                <a:solidFill>
                  <a:srgbClr val="0070C0"/>
                </a:solidFill>
                <a:latin typeface="Calibri" panose="020F0502020204030204" pitchFamily="34" charset="0"/>
                <a:ea typeface="Calibri" panose="020F0502020204030204" pitchFamily="34" charset="0"/>
                <a:cs typeface="Calibri" panose="020F0502020204030204" pitchFamily="34" charset="0"/>
              </a:rPr>
              <a:t>32</a:t>
            </a:r>
            <a:r>
              <a:rPr lang="en-GB" sz="2400" dirty="0">
                <a:solidFill>
                  <a:srgbClr val="FF0000"/>
                </a:solidFill>
                <a:latin typeface="Calibri" panose="020F0502020204030204" pitchFamily="34" charset="0"/>
                <a:ea typeface="Calibri" panose="020F0502020204030204" pitchFamily="34" charset="0"/>
                <a:cs typeface="Calibri" panose="020F0502020204030204" pitchFamily="34" charset="0"/>
              </a:rPr>
              <a:t> </a:t>
            </a:r>
            <a:r>
              <a:rPr lang="en-GB" sz="24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GB" sz="2400" dirty="0">
                <a:solidFill>
                  <a:srgbClr val="FF0000"/>
                </a:solidFill>
                <a:latin typeface="Calibri" panose="020F0502020204030204" pitchFamily="34" charset="0"/>
                <a:ea typeface="Calibri" panose="020F0502020204030204" pitchFamily="34" charset="0"/>
                <a:cs typeface="Calibri" panose="020F0502020204030204" pitchFamily="34" charset="0"/>
              </a:rPr>
              <a:t> </a:t>
            </a:r>
            <a:r>
              <a:rPr lang="en-GB" sz="2400" b="1" dirty="0">
                <a:solidFill>
                  <a:srgbClr val="0070C0"/>
                </a:solidFill>
                <a:latin typeface="Calibri" panose="020F0502020204030204" pitchFamily="34" charset="0"/>
                <a:ea typeface="Calibri" panose="020F0502020204030204" pitchFamily="34" charset="0"/>
                <a:cs typeface="Calibri" panose="020F0502020204030204" pitchFamily="34" charset="0"/>
              </a:rPr>
              <a:t>4</a:t>
            </a:r>
            <a:r>
              <a:rPr lang="en-GB" sz="2400" dirty="0">
                <a:latin typeface="Calibri" panose="020F0502020204030204" pitchFamily="34" charset="0"/>
                <a:ea typeface="Calibri" panose="020F0502020204030204" pitchFamily="34" charset="0"/>
                <a:cs typeface="Calibri" panose="020F0502020204030204" pitchFamily="34" charset="0"/>
              </a:rPr>
              <a:t> + </a:t>
            </a:r>
            <a:r>
              <a:rPr lang="en-GB" sz="2400" b="1" dirty="0">
                <a:solidFill>
                  <a:srgbClr val="0070C0"/>
                </a:solidFill>
                <a:latin typeface="Calibri" panose="020F0502020204030204" pitchFamily="34" charset="0"/>
                <a:ea typeface="Calibri" panose="020F0502020204030204" pitchFamily="34" charset="0"/>
                <a:cs typeface="Calibri" panose="020F0502020204030204" pitchFamily="34" charset="0"/>
              </a:rPr>
              <a:t>2</a:t>
            </a:r>
            <a:r>
              <a:rPr lang="en-GB" sz="2400" dirty="0">
                <a:solidFill>
                  <a:srgbClr val="000000"/>
                </a:solidFill>
                <a:latin typeface="Calibri" panose="020F0502020204030204" pitchFamily="34" charset="0"/>
                <a:ea typeface="Calibri" panose="020F0502020204030204" pitchFamily="34" charset="0"/>
                <a:cs typeface="Calibri" panose="020F0502020204030204" pitchFamily="34" charset="0"/>
              </a:rPr>
              <a:t> = 38</a:t>
            </a:r>
            <a:endParaRPr lang="en-GB" sz="2000" dirty="0">
              <a:latin typeface="Calibri" panose="020F0502020204030204" pitchFamily="34" charset="0"/>
              <a:ea typeface="Calibri" panose="020F0502020204030204" pitchFamily="34" charset="0"/>
              <a:cs typeface="Times New Roman" panose="02020603050405020304" pitchFamily="18" charset="0"/>
            </a:endParaRPr>
          </a:p>
          <a:p>
            <a:pPr>
              <a:lnSpc>
                <a:spcPct val="107000"/>
              </a:lnSpc>
            </a:pPr>
            <a:r>
              <a:rPr lang="en-GB" sz="2400" dirty="0">
                <a:latin typeface="Calibri" panose="020F0502020204030204" pitchFamily="34" charset="0"/>
                <a:ea typeface="Calibri" panose="020F0502020204030204" pitchFamily="34" charset="0"/>
                <a:cs typeface="Calibri" panose="020F0502020204030204" pitchFamily="34" charset="0"/>
              </a:rPr>
              <a:t>So binary 100110 is denary 38.</a:t>
            </a:r>
            <a:endParaRPr lang="en-GB" sz="2000" dirty="0">
              <a:latin typeface="Calibri" panose="020F0502020204030204" pitchFamily="34" charset="0"/>
              <a:ea typeface="Calibri" panose="020F0502020204030204" pitchFamily="34" charset="0"/>
              <a:cs typeface="Times New Roman" panose="02020603050405020304" pitchFamily="18" charset="0"/>
            </a:endParaRPr>
          </a:p>
        </p:txBody>
      </p:sp>
      <p:pic>
        <p:nvPicPr>
          <p:cNvPr id="10" name="Picture 9" descr="A picture containing text, clock, clipart&#10;&#10;Description automatically generated">
            <a:extLst>
              <a:ext uri="{FF2B5EF4-FFF2-40B4-BE49-F238E27FC236}">
                <a16:creationId xmlns:a16="http://schemas.microsoft.com/office/drawing/2014/main" id="{AD6A59CB-1C44-4BFA-B712-BD8CB274D0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60968" y="3255301"/>
            <a:ext cx="5590661" cy="1222065"/>
          </a:xfrm>
          <a:prstGeom prst="rect">
            <a:avLst/>
          </a:prstGeom>
        </p:spPr>
      </p:pic>
    </p:spTree>
    <p:extLst>
      <p:ext uri="{BB962C8B-B14F-4D97-AF65-F5344CB8AC3E}">
        <p14:creationId xmlns:p14="http://schemas.microsoft.com/office/powerpoint/2010/main" val="19667467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620078" y="805071"/>
            <a:ext cx="9743660" cy="815008"/>
          </a:xfrm>
        </p:spPr>
        <p:txBody>
          <a:bodyPr/>
          <a:lstStyle/>
          <a:p>
            <a:r>
              <a:rPr lang="en-GB" b="1" dirty="0">
                <a:solidFill>
                  <a:schemeClr val="bg1"/>
                </a:solidFill>
              </a:rPr>
              <a:t>Activity 2.3: Adding binary numbers </a:t>
            </a:r>
          </a:p>
        </p:txBody>
      </p:sp>
      <p:pic>
        <p:nvPicPr>
          <p:cNvPr id="4" name="Picture 3" descr="A picture containing athletic game, basketball, sport&#10;&#10;Description automatically generated">
            <a:extLst>
              <a:ext uri="{FF2B5EF4-FFF2-40B4-BE49-F238E27FC236}">
                <a16:creationId xmlns:a16="http://schemas.microsoft.com/office/drawing/2014/main" id="{075D80FE-7E31-4A3D-9B2F-C68C9F316FE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68169" y="1898933"/>
            <a:ext cx="4655661" cy="4561557"/>
          </a:xfrm>
          <a:prstGeom prst="rect">
            <a:avLst/>
          </a:prstGeom>
        </p:spPr>
      </p:pic>
    </p:spTree>
    <p:extLst>
      <p:ext uri="{BB962C8B-B14F-4D97-AF65-F5344CB8AC3E}">
        <p14:creationId xmlns:p14="http://schemas.microsoft.com/office/powerpoint/2010/main" val="35420899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620078" y="805071"/>
            <a:ext cx="9743660" cy="815008"/>
          </a:xfrm>
        </p:spPr>
        <p:txBody>
          <a:bodyPr/>
          <a:lstStyle/>
          <a:p>
            <a:r>
              <a:rPr lang="en-GB" b="1" dirty="0">
                <a:solidFill>
                  <a:schemeClr val="bg1"/>
                </a:solidFill>
              </a:rPr>
              <a:t>Quiz 2</a:t>
            </a:r>
          </a:p>
        </p:txBody>
      </p:sp>
      <p:pic>
        <p:nvPicPr>
          <p:cNvPr id="4" name="Picture 3" descr="A picture containing athletic game, basketball, sport&#10;&#10;Description automatically generated">
            <a:extLst>
              <a:ext uri="{FF2B5EF4-FFF2-40B4-BE49-F238E27FC236}">
                <a16:creationId xmlns:a16="http://schemas.microsoft.com/office/drawing/2014/main" id="{120E0202-08EF-45C4-BAB9-86F7873AD9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68169" y="1898933"/>
            <a:ext cx="4655661" cy="4561557"/>
          </a:xfrm>
          <a:prstGeom prst="rect">
            <a:avLst/>
          </a:prstGeom>
        </p:spPr>
      </p:pic>
    </p:spTree>
    <p:extLst>
      <p:ext uri="{BB962C8B-B14F-4D97-AF65-F5344CB8AC3E}">
        <p14:creationId xmlns:p14="http://schemas.microsoft.com/office/powerpoint/2010/main" val="2521287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620078" y="805071"/>
            <a:ext cx="9743660" cy="815008"/>
          </a:xfrm>
        </p:spPr>
        <p:txBody>
          <a:bodyPr/>
          <a:lstStyle/>
          <a:p>
            <a:r>
              <a:rPr lang="en-GB" b="1" dirty="0">
                <a:solidFill>
                  <a:schemeClr val="bg1"/>
                </a:solidFill>
              </a:rPr>
              <a:t>Activity 2.4: Planning an app</a:t>
            </a:r>
          </a:p>
        </p:txBody>
      </p:sp>
      <p:pic>
        <p:nvPicPr>
          <p:cNvPr id="4" name="Picture 3" descr="A picture containing athletic game, basketball, sport&#10;&#10;Description automatically generated">
            <a:extLst>
              <a:ext uri="{FF2B5EF4-FFF2-40B4-BE49-F238E27FC236}">
                <a16:creationId xmlns:a16="http://schemas.microsoft.com/office/drawing/2014/main" id="{89F3C61C-F699-4FC5-96D6-39B98D01BF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68169" y="1898933"/>
            <a:ext cx="4655661" cy="4561557"/>
          </a:xfrm>
          <a:prstGeom prst="rect">
            <a:avLst/>
          </a:prstGeom>
        </p:spPr>
      </p:pic>
    </p:spTree>
    <p:extLst>
      <p:ext uri="{BB962C8B-B14F-4D97-AF65-F5344CB8AC3E}">
        <p14:creationId xmlns:p14="http://schemas.microsoft.com/office/powerpoint/2010/main" val="259677513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460</TotalTime>
  <Words>714</Words>
  <Application>Microsoft Office PowerPoint</Application>
  <PresentationFormat>Widescreen</PresentationFormat>
  <Paragraphs>117</Paragraphs>
  <Slides>14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Calibri Light</vt:lpstr>
      <vt:lpstr>Symbol</vt:lpstr>
      <vt:lpstr>Office Theme</vt:lpstr>
      <vt:lpstr>Binary and computer logic</vt:lpstr>
      <vt:lpstr>Objectives</vt:lpstr>
      <vt:lpstr>The CPU and logic gates </vt:lpstr>
      <vt:lpstr>Counting in denary </vt:lpstr>
      <vt:lpstr>Counting in binary  </vt:lpstr>
      <vt:lpstr>Activity 2.1: Counting in binary </vt:lpstr>
      <vt:lpstr>Activity 2.2: Binary to denary conversion </vt:lpstr>
      <vt:lpstr>Binary to denary conversion </vt:lpstr>
      <vt:lpstr>Converting binary 1 to denary </vt:lpstr>
      <vt:lpstr>Converting binary 11 to denary </vt:lpstr>
      <vt:lpstr>Converting binary 100110 to denary </vt:lpstr>
      <vt:lpstr>Activity 2.3: Adding binary numbers </vt:lpstr>
      <vt:lpstr>Quiz 2</vt:lpstr>
      <vt:lpstr>Activity 2.4: Planning an app</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Introducing spreadsheets</dc:title>
  <dc:creator>Lea Albrechtsen</dc:creator>
  <cp:lastModifiedBy>Lea Albrechtsen</cp:lastModifiedBy>
  <cp:revision>51</cp:revision>
  <dcterms:created xsi:type="dcterms:W3CDTF">2020-11-04T15:22:46Z</dcterms:created>
  <dcterms:modified xsi:type="dcterms:W3CDTF">2021-06-03T18:04:42Z</dcterms:modified>
</cp:coreProperties>
</file>