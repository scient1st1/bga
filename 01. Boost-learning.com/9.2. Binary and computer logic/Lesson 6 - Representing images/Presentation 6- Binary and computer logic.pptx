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4" r:id="rId5"/>
    <p:sldId id="284" r:id="rId6"/>
    <p:sldId id="285" r:id="rId7"/>
    <p:sldId id="286" r:id="rId8"/>
    <p:sldId id="287" r:id="rId9"/>
    <p:sldId id="288" r:id="rId10"/>
    <p:sldId id="289" r:id="rId11"/>
    <p:sldId id="273" r:id="rId12"/>
    <p:sldId id="267" r:id="rId13"/>
    <p:sldId id="27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  <p:cmAuthor id="2" name="Jane Fairnie" initials="JF" lastIdx="1" clrIdx="1">
    <p:extLst>
      <p:ext uri="{19B8F6BF-5375-455C-9EA6-DF929625EA0E}">
        <p15:presenceInfo xmlns:p15="http://schemas.microsoft.com/office/powerpoint/2012/main" userId="Jane Fairni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36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hape, rectangle&#10;&#10;Description automatically generated">
            <a:extLst>
              <a:ext uri="{FF2B5EF4-FFF2-40B4-BE49-F238E27FC236}">
                <a16:creationId xmlns:a16="http://schemas.microsoft.com/office/drawing/2014/main" id="{9E872171-DDA3-8241-A182-0AFA884F91D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94"/>
            <a:ext cx="12192000" cy="1616288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93BC6389-5A68-4354-95EF-8D78B22D32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6679" y="2816695"/>
            <a:ext cx="5595456" cy="1528155"/>
          </a:xfrm>
        </p:spPr>
        <p:txBody>
          <a:bodyPr>
            <a:normAutofit fontScale="90000"/>
          </a:bodyPr>
          <a:lstStyle/>
          <a:p>
            <a:pPr algn="r"/>
            <a:r>
              <a:rPr lang="en-GB" b="1" dirty="0"/>
              <a:t>Binary and computer logic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7E2D64-9FCB-412D-89A3-D1AB764177A9}"/>
              </a:ext>
            </a:extLst>
          </p:cNvPr>
          <p:cNvSpPr/>
          <p:nvPr/>
        </p:nvSpPr>
        <p:spPr>
          <a:xfrm>
            <a:off x="3170362" y="4344850"/>
            <a:ext cx="343177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6: Representing images</a:t>
            </a:r>
            <a:endParaRPr lang="en-GB" sz="2000" b="1" dirty="0">
              <a:solidFill>
                <a:srgbClr val="0070C0"/>
              </a:solidFill>
            </a:endParaRPr>
          </a:p>
        </p:txBody>
      </p:sp>
      <p:pic>
        <p:nvPicPr>
          <p:cNvPr id="9" name="Picture 8" descr="A picture containing text, electronics, display, screenshot&#10;&#10;Description automatically generated">
            <a:extLst>
              <a:ext uri="{FF2B5EF4-FFF2-40B4-BE49-F238E27FC236}">
                <a16:creationId xmlns:a16="http://schemas.microsoft.com/office/drawing/2014/main" id="{DE601011-662A-4DD4-9188-D6E243AC91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4532" y="2816695"/>
            <a:ext cx="2937410" cy="242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9" y="795130"/>
            <a:ext cx="9634330" cy="81500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620079" y="1917311"/>
            <a:ext cx="8666921" cy="33304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ea typeface="Times New Roman" panose="02020603050405020304" pitchFamily="18" charset="0"/>
              </a:rPr>
              <a:t>In this lesson, you will learn:</a:t>
            </a: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meaning of the term ‘data representation’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how to produce an algorithm for encoding an image into a binary string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how to decode binary strings to create black and white and colour images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itchFamily="2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the importance of metadata.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9" y="787237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Processing images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175D54-DF7B-DF43-9696-0B6D2EA71AEF}"/>
              </a:ext>
            </a:extLst>
          </p:cNvPr>
          <p:cNvSpPr/>
          <p:nvPr/>
        </p:nvSpPr>
        <p:spPr>
          <a:xfrm>
            <a:off x="1620079" y="1896415"/>
            <a:ext cx="4351398" cy="41743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n-GB" sz="2400" dirty="0">
                <a:ea typeface="Arial" panose="020B0604020202020204" pitchFamily="34" charset="0"/>
                <a:cs typeface="Calibri" panose="020F0502020204030204" pitchFamily="34" charset="0"/>
              </a:rPr>
              <a:t>As you know, all the processing that takes place inside a computer is done using binary code, using 1s and 0s.</a:t>
            </a:r>
          </a:p>
          <a:p>
            <a:pPr>
              <a:lnSpc>
                <a:spcPct val="115000"/>
              </a:lnSpc>
            </a:pPr>
            <a:endParaRPr lang="en-GB" sz="2400" dirty="0">
              <a:ea typeface="Arial" panose="020B060402020202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ea typeface="Calibri" panose="020F0502020204030204" pitchFamily="34" charset="0"/>
                <a:cs typeface="Calibri" panose="020F0502020204030204" pitchFamily="34" charset="0"/>
              </a:rPr>
              <a:t>Photographs are no exception. This bitmap photograph is stored in the computer’s memory and processed by the CPU as binary code.</a:t>
            </a:r>
            <a:endParaRPr lang="en-GB" sz="2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 close up of a flower&#10;&#10;Description automatically generated">
            <a:extLst>
              <a:ext uri="{FF2B5EF4-FFF2-40B4-BE49-F238E27FC236}">
                <a16:creationId xmlns:a16="http://schemas.microsoft.com/office/drawing/2014/main" id="{26FC7D6E-FD9C-4EB9-8D55-61B0C1E7FE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7028" y="2026147"/>
            <a:ext cx="4876529" cy="3914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9" y="787237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Zooming in on a bitmap graphic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6C80F4-7C3A-DA40-BFD0-4C7DAC956643}"/>
              </a:ext>
            </a:extLst>
          </p:cNvPr>
          <p:cNvSpPr/>
          <p:nvPr/>
        </p:nvSpPr>
        <p:spPr>
          <a:xfrm>
            <a:off x="1620079" y="1999868"/>
            <a:ext cx="5734033" cy="39154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Bitmap graphics</a:t>
            </a:r>
            <a:r>
              <a:rPr lang="en-GB" sz="2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store an image as a matrix of dots.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Each dot is called a </a:t>
            </a:r>
            <a:r>
              <a:rPr lang="en-GB" sz="240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pixel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short for ‘picture element’. This photograph contains about 100,000 pixels.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we can see the pixels in an image, it is </a:t>
            </a:r>
            <a:r>
              <a:rPr lang="en-GB" sz="240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pixelated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GB" sz="24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The colour of every pixel is stored, and every different colour in the picture has its own unique binary code.</a:t>
            </a:r>
            <a:endParaRPr lang="en-GB" sz="24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5" name="Picture 4" descr="A picture containing plant, flower, blur&#10;&#10;Description automatically generated">
            <a:extLst>
              <a:ext uri="{FF2B5EF4-FFF2-40B4-BE49-F238E27FC236}">
                <a16:creationId xmlns:a16="http://schemas.microsoft.com/office/drawing/2014/main" id="{BF619341-189D-432D-B4BB-3AFEFAA5F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3488" y="2401560"/>
            <a:ext cx="3420168" cy="3112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746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9" y="787237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Zooming in on a bitmap graphic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6C80F4-7C3A-DA40-BFD0-4C7DAC956643}"/>
              </a:ext>
            </a:extLst>
          </p:cNvPr>
          <p:cNvSpPr/>
          <p:nvPr/>
        </p:nvSpPr>
        <p:spPr>
          <a:xfrm>
            <a:off x="1644999" y="2018881"/>
            <a:ext cx="5627027" cy="42317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quality of a bitmap image depends on its </a:t>
            </a:r>
            <a:r>
              <a:rPr lang="en-GB" sz="240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resolution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This is the number of pixels the image contains.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size of a bitmap graphic file depends on the resolution of the image, and also the size of the image and how many unique colours it contains.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Bigger images contain more pixels and unusual colours have longer numbers, so there is more data to store.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D41D24-1164-4D7D-85FA-663F821652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6013" y="2018881"/>
            <a:ext cx="3351262" cy="4231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513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805071"/>
            <a:ext cx="10571922" cy="815008"/>
          </a:xfrm>
        </p:spPr>
        <p:txBody>
          <a:bodyPr>
            <a:normAutofit fontScale="90000"/>
          </a:bodyPr>
          <a:lstStyle/>
          <a:p>
            <a:r>
              <a:rPr lang="en-GB" sz="4000" b="1" dirty="0">
                <a:solidFill>
                  <a:schemeClr val="bg1"/>
                </a:solidFill>
              </a:rPr>
              <a:t>Activity 6.1: Writing an algorithm to encode an image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E99821A-4D13-4F62-AE2D-C768439B9B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8169" y="1988077"/>
            <a:ext cx="4655661" cy="456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060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805071"/>
            <a:ext cx="10571922" cy="815008"/>
          </a:xfrm>
        </p:spPr>
        <p:txBody>
          <a:bodyPr>
            <a:normAutofit fontScale="90000"/>
          </a:bodyPr>
          <a:lstStyle/>
          <a:p>
            <a:r>
              <a:rPr lang="en-GB" sz="4000" b="1" dirty="0">
                <a:solidFill>
                  <a:schemeClr val="bg1"/>
                </a:solidFill>
              </a:rPr>
              <a:t>Activity 6.1: Writing an algorithm to encode an image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431B0E-A83D-034D-A7B4-7C2C757E5C19}"/>
              </a:ext>
            </a:extLst>
          </p:cNvPr>
          <p:cNvSpPr/>
          <p:nvPr/>
        </p:nvSpPr>
        <p:spPr>
          <a:xfrm>
            <a:off x="1620077" y="1828553"/>
            <a:ext cx="8060817" cy="43086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ea typeface="Calibri" panose="020F0502020204030204" pitchFamily="34" charset="0"/>
                <a:cs typeface="Calibri" panose="020F0502020204030204" pitchFamily="34" charset="0"/>
              </a:rPr>
              <a:t>Here is one possible solution:</a:t>
            </a:r>
            <a:endParaRPr lang="en-GB" sz="20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GB" sz="1600" dirty="0">
              <a:ea typeface="Arial" panose="020B0604020202020204" pitchFamily="34" charset="0"/>
              <a:cs typeface="Calibri" panose="020F0502020204030204" pitchFamily="34" charset="0"/>
            </a:endParaRPr>
          </a:p>
          <a:p>
            <a:r>
              <a:rPr lang="en-GB" dirty="0">
                <a:ea typeface="Arial" panose="020B0604020202020204" pitchFamily="34" charset="0"/>
                <a:cs typeface="Calibri" panose="020F0502020204030204" pitchFamily="34" charset="0"/>
              </a:rPr>
              <a:t>Start with top left pixel.</a:t>
            </a:r>
            <a:endParaRPr lang="en-GB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dirty="0">
                <a:ea typeface="Arial" panose="020B0604020202020204" pitchFamily="34" charset="0"/>
                <a:cs typeface="Calibri" panose="020F0502020204030204" pitchFamily="34" charset="0"/>
              </a:rPr>
              <a:t>If pixel is white print 0, if pixel is black print 1.</a:t>
            </a:r>
            <a:endParaRPr lang="en-GB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dirty="0">
                <a:ea typeface="Arial" panose="020B0604020202020204" pitchFamily="34" charset="0"/>
              </a:rPr>
              <a:t>Move to the next pixel on the right. If pixel is white print 0, if pixel is black print 1.</a:t>
            </a:r>
          </a:p>
          <a:p>
            <a:r>
              <a:rPr lang="en-GB" dirty="0">
                <a:ea typeface="Arial" panose="020B0604020202020204" pitchFamily="34" charset="0"/>
              </a:rPr>
              <a:t>Repeat for the remaining pixels on that line.</a:t>
            </a:r>
          </a:p>
          <a:p>
            <a:r>
              <a:rPr lang="en-GB" dirty="0">
                <a:ea typeface="Arial" panose="020B0604020202020204" pitchFamily="34" charset="0"/>
              </a:rPr>
              <a:t>Move to the next line and repeat for each pixel.</a:t>
            </a:r>
          </a:p>
          <a:p>
            <a:r>
              <a:rPr lang="en-GB" dirty="0">
                <a:ea typeface="Arial" panose="020B0604020202020204" pitchFamily="34" charset="0"/>
              </a:rPr>
              <a:t>Move to the next line and repeat for each pixel.</a:t>
            </a:r>
          </a:p>
          <a:p>
            <a:r>
              <a:rPr lang="en-GB" dirty="0">
                <a:ea typeface="Arial" panose="020B0604020202020204" pitchFamily="34" charset="0"/>
              </a:rPr>
              <a:t>Move to the next line and repeat for each pixel.</a:t>
            </a:r>
          </a:p>
          <a:p>
            <a:r>
              <a:rPr lang="en-GB" dirty="0">
                <a:ea typeface="Arial" panose="020B0604020202020204" pitchFamily="34" charset="0"/>
              </a:rPr>
              <a:t>End</a:t>
            </a:r>
          </a:p>
          <a:p>
            <a:endParaRPr lang="en-GB" sz="1600" dirty="0">
              <a:ea typeface="Arial" panose="020B060402020202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ea typeface="Calibri" panose="020F0502020204030204" pitchFamily="34" charset="0"/>
                <a:cs typeface="Calibri" panose="020F0502020204030204" pitchFamily="34" charset="0"/>
              </a:rPr>
              <a:t>This gives the answer: 0000000110100100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/>
              <a:t>Converting text, images and sound into binary, so they can be processed by a computer, is known as </a:t>
            </a:r>
            <a:r>
              <a:rPr lang="en-GB" sz="2000" b="1" dirty="0">
                <a:solidFill>
                  <a:srgbClr val="0070C0"/>
                </a:solidFill>
              </a:rPr>
              <a:t>data representation</a:t>
            </a:r>
            <a:r>
              <a:rPr lang="en-GB" sz="2000" dirty="0"/>
              <a:t>.</a:t>
            </a:r>
          </a:p>
        </p:txBody>
      </p:sp>
      <p:pic>
        <p:nvPicPr>
          <p:cNvPr id="6" name="Picture 5" descr="A picture containing shoji, crossword puzzle, building&#10;&#10;Description automatically generated">
            <a:extLst>
              <a:ext uri="{FF2B5EF4-FFF2-40B4-BE49-F238E27FC236}">
                <a16:creationId xmlns:a16="http://schemas.microsoft.com/office/drawing/2014/main" id="{24CB726C-3466-49C0-9CEA-CF24C6082C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3091" y="2905020"/>
            <a:ext cx="1397663" cy="139473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55EFD0-50B5-4503-8E8F-314A77BEA919}"/>
              </a:ext>
            </a:extLst>
          </p:cNvPr>
          <p:cNvSpPr/>
          <p:nvPr/>
        </p:nvSpPr>
        <p:spPr>
          <a:xfrm>
            <a:off x="3048000" y="2122168"/>
            <a:ext cx="6096000" cy="383823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endParaRPr lang="en-GB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0747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2338 L 0.20859 -0.02338 C 0.30195 -0.02338 0.41719 0.0456 0.41719 0.10162 L 0.41719 0.22662 " pathEditMode="relative" rAng="0" ptsTypes="AA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59" y="1250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805071"/>
            <a:ext cx="10571922" cy="815008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Decoding our binary string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431B0E-A83D-034D-A7B4-7C2C757E5C19}"/>
              </a:ext>
            </a:extLst>
          </p:cNvPr>
          <p:cNvSpPr/>
          <p:nvPr/>
        </p:nvSpPr>
        <p:spPr>
          <a:xfrm>
            <a:off x="1620078" y="2264916"/>
            <a:ext cx="7504044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If white is encoded as 0 and black is encoded as 1, decoding the string of binary code would not give us the tick sprite, it would give us this:</a:t>
            </a:r>
            <a:endParaRPr lang="en-GB" sz="2400" dirty="0">
              <a:cs typeface="Times New Roman" panose="02020603050405020304" pitchFamily="18" charset="0"/>
            </a:endParaRPr>
          </a:p>
          <a:p>
            <a:endParaRPr lang="en-GB" sz="2400" dirty="0">
              <a:cs typeface="Times New Roman" panose="02020603050405020304" pitchFamily="18" charset="0"/>
            </a:endParaRPr>
          </a:p>
          <a:p>
            <a:endParaRPr lang="en-GB" sz="2400" dirty="0">
              <a:cs typeface="Times New Roman" panose="02020603050405020304" pitchFamily="18" charset="0"/>
            </a:endParaRPr>
          </a:p>
          <a:p>
            <a:endParaRPr lang="en-GB" sz="2400" dirty="0">
              <a:cs typeface="Times New Roman" panose="02020603050405020304" pitchFamily="18" charset="0"/>
            </a:endParaRPr>
          </a:p>
          <a:p>
            <a:r>
              <a:rPr lang="en-GB" sz="2400" dirty="0">
                <a:cs typeface="Times New Roman" panose="02020603050405020304" pitchFamily="18" charset="0"/>
              </a:rPr>
              <a:t>There is some information missing from our binary code …</a:t>
            </a:r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25CA5B-0EA8-CE44-8FF1-CFF719F5C29C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053" y="3788410"/>
            <a:ext cx="5464810" cy="3594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2475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805071"/>
            <a:ext cx="10571922" cy="815008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Metadata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431B0E-A83D-034D-A7B4-7C2C757E5C19}"/>
              </a:ext>
            </a:extLst>
          </p:cNvPr>
          <p:cNvSpPr/>
          <p:nvPr/>
        </p:nvSpPr>
        <p:spPr>
          <a:xfrm>
            <a:off x="1620078" y="2238748"/>
            <a:ext cx="6992699" cy="26510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Extra data is required to specify the dimensions of the image (the width and height of the image).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about data is called </a:t>
            </a:r>
            <a:r>
              <a:rPr lang="en-GB" sz="240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metadata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metadata for the dimensions of the tick sprite image is 4 x 4. This tells the computer that the image is 4 pixels wide and 4 pixels high.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 picture containing shoji, crossword puzzle, building&#10;&#10;Description automatically generated">
            <a:extLst>
              <a:ext uri="{FF2B5EF4-FFF2-40B4-BE49-F238E27FC236}">
                <a16:creationId xmlns:a16="http://schemas.microsoft.com/office/drawing/2014/main" id="{5A4D8E31-D917-4433-A4B4-12071DE1CF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4870" y="2772391"/>
            <a:ext cx="2121843" cy="2117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447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805071"/>
            <a:ext cx="10571922" cy="815008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Metadata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431B0E-A83D-034D-A7B4-7C2C757E5C19}"/>
              </a:ext>
            </a:extLst>
          </p:cNvPr>
          <p:cNvSpPr/>
          <p:nvPr/>
        </p:nvSpPr>
        <p:spPr>
          <a:xfrm>
            <a:off x="1620078" y="2123940"/>
            <a:ext cx="6760247" cy="37339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metadata for the image of the flower we looked at earlier, tells us that: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is a 4.62 MB big JPG file</a:t>
            </a:r>
          </a:p>
          <a:p>
            <a:pPr marL="34290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was taken on 4</a:t>
            </a:r>
            <a:r>
              <a:rPr lang="en-GB" sz="2400" baseline="30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January 2015</a:t>
            </a:r>
          </a:p>
          <a:p>
            <a:pPr marL="34290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copyright belongs to </a:t>
            </a: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gicku91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stock.adobe.com</a:t>
            </a:r>
          </a:p>
          <a:p>
            <a:pPr marL="34290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is 3641 pixels wide and 2923 pixels high</a:t>
            </a:r>
          </a:p>
          <a:p>
            <a:pPr marL="34290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resolution is 300 dpi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… and much more.</a:t>
            </a:r>
          </a:p>
        </p:txBody>
      </p:sp>
      <p:pic>
        <p:nvPicPr>
          <p:cNvPr id="6" name="Picture 5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37DCA6DB-25B6-429B-9553-4F37142A71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1003" y="2123940"/>
            <a:ext cx="3046766" cy="417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2640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805071"/>
            <a:ext cx="10571922" cy="815008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6.2: Encoding and decoding a colour image 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A3EF8735-7F2D-47CD-9F82-6010216178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8169" y="1988077"/>
            <a:ext cx="4655661" cy="456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234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36AC-12A9-4A2C-9D8A-8D001EE0D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139" y="775253"/>
            <a:ext cx="10694504" cy="824947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6.2: Encoding and decoding a colour image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CC13E-1871-4787-BADF-14253538B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0139" y="2112914"/>
            <a:ext cx="556438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Here is the answer to question 2.</a:t>
            </a:r>
          </a:p>
          <a:p>
            <a:pPr marL="0" indent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GB" sz="2600" dirty="0">
                <a:ea typeface="Calibri" panose="020F0502020204030204" pitchFamily="34" charset="0"/>
                <a:cs typeface="Calibri" panose="020F0502020204030204" pitchFamily="34" charset="0"/>
              </a:rPr>
              <a:t>The binary string and metadata for the smiley face is:</a:t>
            </a:r>
            <a:endParaRPr lang="en-GB" sz="2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GB" sz="2600" dirty="0">
                <a:ea typeface="Calibri" panose="020F0502020204030204" pitchFamily="34" charset="0"/>
                <a:cs typeface="Calibri" panose="020F0502020204030204" pitchFamily="34" charset="0"/>
              </a:rPr>
              <a:t>00001111111100000011111111111100111101111101111111111111111111111111101111101111111111101011111100111111111111000000111111110000</a:t>
            </a:r>
            <a:endParaRPr lang="en-GB" sz="2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GB" sz="2600" dirty="0">
                <a:ea typeface="Calibri" panose="020F0502020204030204" pitchFamily="34" charset="0"/>
                <a:cs typeface="Calibri" panose="020F0502020204030204" pitchFamily="34" charset="0"/>
              </a:rPr>
              <a:t>Dimensions: 8 x 8</a:t>
            </a:r>
            <a:endParaRPr lang="en-GB" sz="2600" dirty="0"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B4CF31B2-1107-764C-B95A-117BDE92F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1283913"/>
              </p:ext>
            </p:extLst>
          </p:nvPr>
        </p:nvGraphicFramePr>
        <p:xfrm>
          <a:off x="7701861" y="2571298"/>
          <a:ext cx="2880000" cy="2880000"/>
        </p:xfrm>
        <a:graphic>
          <a:graphicData uri="http://schemas.openxmlformats.org/drawingml/2006/table">
            <a:tbl>
              <a:tblPr firstRow="1" firstCol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18899447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303271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001914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848639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3175066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5091080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7961112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9964245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89539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423237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837418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816149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199586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663064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88546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0793388"/>
                  </a:ext>
                </a:extLst>
              </a:tr>
            </a:tbl>
          </a:graphicData>
        </a:graphic>
      </p:graphicFrame>
      <p:pic>
        <p:nvPicPr>
          <p:cNvPr id="6" name="Picture 5" descr="Chart, bar chart&#10;&#10;Description automatically generated">
            <a:extLst>
              <a:ext uri="{FF2B5EF4-FFF2-40B4-BE49-F238E27FC236}">
                <a16:creationId xmlns:a16="http://schemas.microsoft.com/office/drawing/2014/main" id="{63BA799B-5A87-4523-BF12-FFB97E27BC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1862" y="2571299"/>
            <a:ext cx="2879999" cy="287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272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110D6-9DED-4A63-8F81-14093CD98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05070"/>
            <a:ext cx="9773478" cy="824947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6.3: What do you know?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85EA23-5B33-4546-8A29-897B3A13F8EF}"/>
              </a:ext>
            </a:extLst>
          </p:cNvPr>
          <p:cNvSpPr/>
          <p:nvPr/>
        </p:nvSpPr>
        <p:spPr>
          <a:xfrm>
            <a:off x="7034687" y="3946955"/>
            <a:ext cx="456150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ea typeface="Calibri" panose="020F0502020204030204" pitchFamily="34" charset="0"/>
                <a:cs typeface="Calibri" panose="020F0502020204030204" pitchFamily="34" charset="0"/>
              </a:rPr>
              <a:t>Now complete Interactive 6.3</a:t>
            </a:r>
            <a:r>
              <a:rPr lang="en-GB" sz="2800" dirty="0"/>
              <a:t> </a:t>
            </a:r>
            <a:endParaRPr lang="en-US" sz="2800" dirty="0"/>
          </a:p>
        </p:txBody>
      </p:sp>
      <p:pic>
        <p:nvPicPr>
          <p:cNvPr id="6" name="Picture 5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F088DD2D-7F74-479D-A03C-4BBADE1E2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0322" y="1927787"/>
            <a:ext cx="4655661" cy="456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716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493</TotalTime>
  <Words>688</Words>
  <Application>Microsoft Office PowerPoint</Application>
  <PresentationFormat>Widescreen</PresentationFormat>
  <Paragraphs>125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Symbol</vt:lpstr>
      <vt:lpstr>Office Theme</vt:lpstr>
      <vt:lpstr>Binary and computer logic</vt:lpstr>
      <vt:lpstr>Objectives</vt:lpstr>
      <vt:lpstr>Processing images </vt:lpstr>
      <vt:lpstr>Zooming in on a bitmap graphic </vt:lpstr>
      <vt:lpstr>Zooming in on a bitmap graphic </vt:lpstr>
      <vt:lpstr>Activity 6.1: Writing an algorithm to encode an image</vt:lpstr>
      <vt:lpstr>Activity 6.1: Writing an algorithm to encode an image</vt:lpstr>
      <vt:lpstr>Decoding our binary string </vt:lpstr>
      <vt:lpstr>Metadata </vt:lpstr>
      <vt:lpstr>Metadata </vt:lpstr>
      <vt:lpstr>Activity 6.2: Encoding and decoding a colour image </vt:lpstr>
      <vt:lpstr>Activity 6.2: Encoding and decoding a colour image </vt:lpstr>
      <vt:lpstr>Activity 6.3: What do you know?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54</cp:revision>
  <dcterms:created xsi:type="dcterms:W3CDTF">2020-11-04T15:22:46Z</dcterms:created>
  <dcterms:modified xsi:type="dcterms:W3CDTF">2021-06-04T09:34:39Z</dcterms:modified>
</cp:coreProperties>
</file>