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4" r:id="rId5"/>
    <p:sldId id="275" r:id="rId6"/>
    <p:sldId id="259" r:id="rId7"/>
    <p:sldId id="276" r:id="rId8"/>
    <p:sldId id="277" r:id="rId9"/>
    <p:sldId id="285" r:id="rId10"/>
    <p:sldId id="278" r:id="rId11"/>
    <p:sldId id="260" r:id="rId12"/>
    <p:sldId id="279" r:id="rId13"/>
    <p:sldId id="266" r:id="rId14"/>
    <p:sldId id="273" r:id="rId15"/>
    <p:sldId id="267" r:id="rId16"/>
    <p:sldId id="280" r:id="rId17"/>
    <p:sldId id="281" r:id="rId18"/>
    <p:sldId id="268" r:id="rId19"/>
    <p:sldId id="282" r:id="rId20"/>
    <p:sldId id="269" r:id="rId21"/>
    <p:sldId id="270" r:id="rId22"/>
    <p:sldId id="283" r:id="rId23"/>
    <p:sldId id="271" r:id="rId24"/>
    <p:sldId id="27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4" autoAdjust="0"/>
    <p:restoredTop sz="96357" autoAdjust="0"/>
  </p:normalViewPr>
  <p:slideViewPr>
    <p:cSldViewPr snapToGrid="0">
      <p:cViewPr varScale="1">
        <p:scale>
          <a:sx n="106" d="100"/>
          <a:sy n="106" d="100"/>
        </p:scale>
        <p:origin x="4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03/06/2021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hape, rectangle&#10;&#10;Description automatically generated">
            <a:extLst>
              <a:ext uri="{FF2B5EF4-FFF2-40B4-BE49-F238E27FC236}">
                <a16:creationId xmlns:a16="http://schemas.microsoft.com/office/drawing/2014/main" id="{9E872171-DDA3-8241-A182-0AFA884F91D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94"/>
            <a:ext cx="12192000" cy="1616288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6679" y="2816695"/>
            <a:ext cx="5595456" cy="1528155"/>
          </a:xfrm>
        </p:spPr>
        <p:txBody>
          <a:bodyPr>
            <a:normAutofit fontScale="90000"/>
          </a:bodyPr>
          <a:lstStyle/>
          <a:p>
            <a:pPr algn="r"/>
            <a:r>
              <a:rPr lang="en-GB" b="1" dirty="0"/>
              <a:t>Binary and computer logic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4168712" y="4344850"/>
            <a:ext cx="243342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1: Logic gates </a:t>
            </a:r>
            <a:endParaRPr lang="en-GB" sz="2000" b="1" dirty="0">
              <a:solidFill>
                <a:srgbClr val="0070C0"/>
              </a:solidFill>
            </a:endParaRPr>
          </a:p>
        </p:txBody>
      </p:sp>
      <p:pic>
        <p:nvPicPr>
          <p:cNvPr id="5" name="Picture 4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343B695E-5381-5441-B44D-66E2A4A74B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4532" y="2816695"/>
            <a:ext cx="2937410" cy="242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95130"/>
            <a:ext cx="9634330" cy="81500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620079" y="2028616"/>
            <a:ext cx="8666921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that digital devices rely on switches to make the decisions involved in data processing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AND, OR and NOT logic gates operate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how to complete truth tables for logic gates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</a:rPr>
              <a:t>the significance of 1s and 0s in data processing within digital systems.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Animal sorting gate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0452D9-6EC4-1A47-89F8-2887EFCA5D54}"/>
              </a:ext>
            </a:extLst>
          </p:cNvPr>
          <p:cNvSpPr/>
          <p:nvPr/>
        </p:nvSpPr>
        <p:spPr>
          <a:xfrm>
            <a:off x="1502633" y="2246244"/>
            <a:ext cx="4593367" cy="36786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zookeeper has installed a digital sorting gate between two animal enclosures, to control which animals leave the first enclosure and enter the second enclosure.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gate is programmed to allow only big cats with stripes through, so two things must happen for an animal to enter the second enclosure: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animal must be a big cat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animal must have stripes.</a:t>
            </a:r>
            <a:endParaRPr lang="en-GB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Diagram, engineering drawing, schematic&#10;&#10;Description automatically generated">
            <a:extLst>
              <a:ext uri="{FF2B5EF4-FFF2-40B4-BE49-F238E27FC236}">
                <a16:creationId xmlns:a16="http://schemas.microsoft.com/office/drawing/2014/main" id="{DD200378-A328-4CBF-8D19-20343A26E7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915" y="1939159"/>
            <a:ext cx="5368923" cy="429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Animal sorting gate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0452D9-6EC4-1A47-89F8-2887EFCA5D54}"/>
              </a:ext>
            </a:extLst>
          </p:cNvPr>
          <p:cNvSpPr/>
          <p:nvPr/>
        </p:nvSpPr>
        <p:spPr>
          <a:xfrm>
            <a:off x="1620079" y="2249767"/>
            <a:ext cx="4080330" cy="3353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lion approaches the gate.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 animal a big cat?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YES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 the animal have stripes?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NO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lion cannot enter the second enclosure.</a:t>
            </a:r>
          </a:p>
        </p:txBody>
      </p:sp>
      <p:pic>
        <p:nvPicPr>
          <p:cNvPr id="9" name="Picture 8" descr="Diagram, engineering drawing&#10;&#10;Description automatically generated">
            <a:extLst>
              <a:ext uri="{FF2B5EF4-FFF2-40B4-BE49-F238E27FC236}">
                <a16:creationId xmlns:a16="http://schemas.microsoft.com/office/drawing/2014/main" id="{F51F5914-C0ED-40BE-8948-6239D5C2B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914" y="1939159"/>
            <a:ext cx="5368923" cy="429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74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905C-00CB-4FC9-83B7-66A2E3C07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9" y="787237"/>
            <a:ext cx="9773478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Animal sorting gate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0452D9-6EC4-1A47-89F8-2887EFCA5D54}"/>
              </a:ext>
            </a:extLst>
          </p:cNvPr>
          <p:cNvSpPr/>
          <p:nvPr/>
        </p:nvSpPr>
        <p:spPr>
          <a:xfrm>
            <a:off x="1620079" y="2253502"/>
            <a:ext cx="4059268" cy="3353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tiger approaches the gate.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 animal a big cat?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YES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 the animal have stripes?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YES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tiger can enter the second enclosure.</a:t>
            </a:r>
          </a:p>
        </p:txBody>
      </p:sp>
      <p:pic>
        <p:nvPicPr>
          <p:cNvPr id="9" name="Picture 8" descr="Diagram, engineering drawing, schematic&#10;&#10;Description automatically generated">
            <a:extLst>
              <a:ext uri="{FF2B5EF4-FFF2-40B4-BE49-F238E27FC236}">
                <a16:creationId xmlns:a16="http://schemas.microsoft.com/office/drawing/2014/main" id="{99619F5D-5D7F-42A6-B735-309AEFEA9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913" y="1939159"/>
            <a:ext cx="5368923" cy="429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23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90169" y="2004655"/>
            <a:ext cx="8531605" cy="6392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A basic process in computing is: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8BC07D-C6FC-4F47-B7BA-D7A008787822}"/>
              </a:ext>
            </a:extLst>
          </p:cNvPr>
          <p:cNvSpPr/>
          <p:nvPr/>
        </p:nvSpPr>
        <p:spPr>
          <a:xfrm>
            <a:off x="1590169" y="4692962"/>
            <a:ext cx="9200322" cy="865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describes data going into a processing system and </a:t>
            </a: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en-GB" sz="2400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describes data leaving a processing system.</a:t>
            </a:r>
            <a:endParaRPr lang="en-GB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997B1238-1EF4-4B10-A0BD-25642EC658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978" y="2960158"/>
            <a:ext cx="7840044" cy="110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92AB-7463-4849-AFE8-C91C20C45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0441" y="1769165"/>
            <a:ext cx="9988830" cy="4711148"/>
          </a:xfrm>
        </p:spPr>
        <p:txBody>
          <a:bodyPr>
            <a:normAutofit fontScale="47500" lnSpcReduction="20000"/>
          </a:bodyPr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Our animal sorting gate receives two inputs: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-226800">
              <a:lnSpc>
                <a:spcPct val="107000"/>
              </a:lnSpc>
              <a:buFont typeface="+mj-lt"/>
              <a:buAutoNum type="arabicPeriod"/>
            </a:pPr>
            <a:r>
              <a:rPr lang="en-GB" sz="4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 animal a big cat?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6800" lvl="0" indent="-2268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 answer is YES, this is represented by a 1.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26800" lvl="0" indent="-2268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 answer is NO, this is represented by a 0.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>
              <a:lnSpc>
                <a:spcPct val="107000"/>
              </a:lnSpc>
              <a:buNone/>
            </a:pPr>
            <a:r>
              <a:rPr lang="en-GB" sz="4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Does the animal have stripes?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-2268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 answer is YES, this is represented by a 1.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-226800">
              <a:lnSpc>
                <a:spcPct val="107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 answer is NO, this is represented by a 0.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Our animal sorting gate produces one output: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-226800">
              <a:lnSpc>
                <a:spcPct val="107000"/>
              </a:lnSpc>
              <a:buFont typeface="Symbol" pitchFamily="2" charset="2"/>
              <a:buChar char=""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both inputs are 1, the gate between the enclosures opens, and this is represented by a 1.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-226800">
              <a:lnSpc>
                <a:spcPct val="107000"/>
              </a:lnSpc>
              <a:spcAft>
                <a:spcPts val="800"/>
              </a:spcAft>
              <a:buFont typeface="Symbol" pitchFamily="2" charset="2"/>
              <a:buChar char=""/>
            </a:pPr>
            <a:r>
              <a:rPr lang="en-GB" sz="4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only one input is 1 or both inputs are 0, the gate between the enclosures remains closed,    and this is represented by a 0.</a:t>
            </a:r>
            <a:endParaRPr lang="en-GB" sz="4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4639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0452D9-6EC4-1A47-89F8-2887EFCA5D54}"/>
              </a:ext>
            </a:extLst>
          </p:cNvPr>
          <p:cNvSpPr/>
          <p:nvPr/>
        </p:nvSpPr>
        <p:spPr>
          <a:xfrm>
            <a:off x="5249927" y="2375621"/>
            <a:ext cx="6839205" cy="3430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lion approaches the gate.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 animal a big cat?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YES (represented by a 1)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 the animal have stripes?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NO (represented by a 0)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state of the gate?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CLOSED (the output is 0 so the gate remains closed)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lion cannot enter the second enclosure.</a:t>
            </a:r>
          </a:p>
        </p:txBody>
      </p:sp>
      <p:pic>
        <p:nvPicPr>
          <p:cNvPr id="7" name="Picture 6" descr="Diagram, engineering drawing&#10;&#10;Description automatically generated">
            <a:extLst>
              <a:ext uri="{FF2B5EF4-FFF2-40B4-BE49-F238E27FC236}">
                <a16:creationId xmlns:a16="http://schemas.microsoft.com/office/drawing/2014/main" id="{514C76CF-D8F3-4FAC-9B73-64C2E7ED22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718" y="2483145"/>
            <a:ext cx="4021349" cy="321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27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0452D9-6EC4-1A47-89F8-2887EFCA5D54}"/>
              </a:ext>
            </a:extLst>
          </p:cNvPr>
          <p:cNvSpPr/>
          <p:nvPr/>
        </p:nvSpPr>
        <p:spPr>
          <a:xfrm>
            <a:off x="5251308" y="2375621"/>
            <a:ext cx="6839205" cy="34304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tiger approaches the gate.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 the animal a big cat?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YES (represented by a 1)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 the animal have stripes?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YES (represented by a 1)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the state of the gate?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OPEN (the output is 1 so the gate remains closed)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tiger can enter the second enclosure.</a:t>
            </a:r>
          </a:p>
        </p:txBody>
      </p:sp>
      <p:pic>
        <p:nvPicPr>
          <p:cNvPr id="7" name="Picture 6" descr="Diagram, engineering drawing&#10;&#10;Description automatically generated">
            <a:extLst>
              <a:ext uri="{FF2B5EF4-FFF2-40B4-BE49-F238E27FC236}">
                <a16:creationId xmlns:a16="http://schemas.microsoft.com/office/drawing/2014/main" id="{514C76CF-D8F3-4FAC-9B73-64C2E7ED22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718" y="2483145"/>
            <a:ext cx="4021349" cy="3215378"/>
          </a:xfrm>
          <a:prstGeom prst="rect">
            <a:avLst/>
          </a:prstGeom>
        </p:spPr>
      </p:pic>
      <p:pic>
        <p:nvPicPr>
          <p:cNvPr id="3" name="Picture 2" descr="Diagram, engineering drawing, schematic&#10;&#10;Description automatically generated">
            <a:extLst>
              <a:ext uri="{FF2B5EF4-FFF2-40B4-BE49-F238E27FC236}">
                <a16:creationId xmlns:a16="http://schemas.microsoft.com/office/drawing/2014/main" id="{02CDD216-5120-4088-9667-3369AD44BD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718" y="2483145"/>
            <a:ext cx="4021349" cy="321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624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FC678C-4651-2444-84FD-C24D42682AC1}"/>
              </a:ext>
            </a:extLst>
          </p:cNvPr>
          <p:cNvSpPr/>
          <p:nvPr/>
        </p:nvSpPr>
        <p:spPr>
          <a:xfrm>
            <a:off x="1620079" y="2157342"/>
            <a:ext cx="5785656" cy="32514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Think of each input like a </a:t>
            </a:r>
            <a:r>
              <a:rPr lang="en-GB" sz="2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switch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 switch is turned on, the input is YES and this is represented by a 1.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 switch is turned off, the input is NO and this is represented by a 0.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DE1609A0-5BC0-470A-B62D-BAD2B50E2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6784" y="1827633"/>
            <a:ext cx="984542" cy="19554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A4044C-7F42-4630-95F0-AF2C2310AC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6785" y="4125565"/>
            <a:ext cx="984541" cy="193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328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9036" y="2309493"/>
            <a:ext cx="8756357" cy="3022998"/>
          </a:xfrm>
        </p:spPr>
        <p:txBody>
          <a:bodyPr>
            <a:noAutofit/>
          </a:bodyPr>
          <a:lstStyle/>
          <a:p>
            <a:pPr marL="0" indent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GB" sz="2400" dirty="0"/>
              <a:t>The animal sorting gate has two switches, one to identify if the animal at the gate is a big cat and one to identify if animal at the gate has stripes.</a:t>
            </a:r>
          </a:p>
          <a:p>
            <a:pPr marL="0" indent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GB" sz="2400" dirty="0"/>
              <a:t>These two switches combine to create a </a:t>
            </a:r>
            <a:r>
              <a:rPr lang="en-GB" sz="2400" b="1" dirty="0">
                <a:solidFill>
                  <a:srgbClr val="0070C0"/>
                </a:solidFill>
              </a:rPr>
              <a:t>logic gate</a:t>
            </a:r>
            <a:r>
              <a:rPr lang="en-GB" sz="2400" dirty="0"/>
              <a:t>.</a:t>
            </a:r>
          </a:p>
          <a:p>
            <a:pPr marL="0" indent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GB" sz="2400" dirty="0"/>
              <a:t>Logic gates process two or more inputs and produce the correct output. They make decisions.</a:t>
            </a:r>
          </a:p>
        </p:txBody>
      </p:sp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0688" y="2074103"/>
            <a:ext cx="4450925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GB" sz="2000" dirty="0"/>
              <a:t>The sorting gate requires two conditions to be met before it will open:</a:t>
            </a:r>
          </a:p>
          <a:p>
            <a:pPr marL="514350" indent="-514350">
              <a:lnSpc>
                <a:spcPct val="114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2000" dirty="0"/>
              <a:t>the animal must be a big cat</a:t>
            </a:r>
          </a:p>
          <a:p>
            <a:pPr marL="0" indent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GB" sz="2000" dirty="0"/>
              <a:t>AND</a:t>
            </a:r>
          </a:p>
          <a:p>
            <a:pPr marL="0" indent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GB" sz="2000" dirty="0"/>
              <a:t>2.    the animal must have stripes. 	</a:t>
            </a:r>
          </a:p>
          <a:p>
            <a:pPr marL="0" indent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GB" sz="2000" dirty="0"/>
              <a:t>This logic gate is called an </a:t>
            </a:r>
            <a:r>
              <a:rPr lang="en-GB" sz="2000" b="1" dirty="0">
                <a:solidFill>
                  <a:srgbClr val="0070C0"/>
                </a:solidFill>
              </a:rPr>
              <a:t>AND gate </a:t>
            </a:r>
            <a:r>
              <a:rPr lang="en-GB" sz="2000" dirty="0"/>
              <a:t>because both condition 1 AND condition 2 must be met for the gate to open.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 descr="Diagram, engineering drawing&#10;&#10;Description automatically generated">
            <a:extLst>
              <a:ext uri="{FF2B5EF4-FFF2-40B4-BE49-F238E27FC236}">
                <a16:creationId xmlns:a16="http://schemas.microsoft.com/office/drawing/2014/main" id="{835CA70B-117F-4688-B0FA-EC977455FE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1613" y="1817938"/>
            <a:ext cx="5736501" cy="442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221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931" y="824614"/>
            <a:ext cx="9783417" cy="77525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1.1: Animal sorting gate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1EDC97-68EE-4D48-8988-9686D4613C88}"/>
              </a:ext>
            </a:extLst>
          </p:cNvPr>
          <p:cNvSpPr/>
          <p:nvPr/>
        </p:nvSpPr>
        <p:spPr>
          <a:xfrm>
            <a:off x="1570382" y="4762767"/>
            <a:ext cx="4178614" cy="12603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zebra approaches the gate, but the gate remains closed. Why?</a:t>
            </a:r>
            <a:endParaRPr lang="en-GB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66140CFB-E6D1-459F-B918-D63B7255E6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2263" y="2095233"/>
            <a:ext cx="2535676" cy="2493474"/>
          </a:xfrm>
          <a:prstGeom prst="rect">
            <a:avLst/>
          </a:prstGeom>
        </p:spPr>
      </p:pic>
      <p:pic>
        <p:nvPicPr>
          <p:cNvPr id="8" name="Picture 7" descr="Diagram, engineering drawing, schematic&#10;&#10;Description automatically generated">
            <a:extLst>
              <a:ext uri="{FF2B5EF4-FFF2-40B4-BE49-F238E27FC236}">
                <a16:creationId xmlns:a16="http://schemas.microsoft.com/office/drawing/2014/main" id="{78729C55-3FD2-469A-9D48-332A0A60155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51"/>
          <a:stretch/>
        </p:blipFill>
        <p:spPr>
          <a:xfrm>
            <a:off x="6096000" y="1817938"/>
            <a:ext cx="5612114" cy="442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7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256" y="811905"/>
            <a:ext cx="9743660" cy="81500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1.2: Circuits</a:t>
            </a:r>
          </a:p>
        </p:txBody>
      </p:sp>
      <p:pic>
        <p:nvPicPr>
          <p:cNvPr id="4" name="Content Placeholder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84F619C6-6779-4269-A319-643D896253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340" y="1983380"/>
            <a:ext cx="4201320" cy="413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234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36AC-12A9-4A2C-9D8A-8D001EE0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775253"/>
            <a:ext cx="9743661" cy="82494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Two-key bank vault circuit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C13E-1871-4787-BADF-14253538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0139" y="2358292"/>
            <a:ext cx="4738410" cy="3583035"/>
          </a:xfrm>
        </p:spPr>
        <p:txBody>
          <a:bodyPr>
            <a:noAutofit/>
          </a:bodyPr>
          <a:lstStyle/>
          <a:p>
            <a:r>
              <a:rPr lang="en-GB" sz="2400" dirty="0"/>
              <a:t>Key A closes switch A and Key B closes switch B.</a:t>
            </a:r>
          </a:p>
          <a:p>
            <a:r>
              <a:rPr lang="en-GB" sz="2400" dirty="0"/>
              <a:t>The circuit diagram shows that both switch A </a:t>
            </a:r>
            <a:r>
              <a:rPr lang="en-GB" sz="2400" b="1" dirty="0"/>
              <a:t>AND</a:t>
            </a:r>
            <a:r>
              <a:rPr lang="en-GB" sz="2400" dirty="0"/>
              <a:t> switch B have to be closed to turn on the motor that unlocks the safe door.</a:t>
            </a:r>
          </a:p>
          <a:p>
            <a:r>
              <a:rPr lang="en-GB" sz="2400" dirty="0"/>
              <a:t>The logic gate in this circuit is an AND gate, just like the logic gate in the animal sorting gate.</a:t>
            </a:r>
          </a:p>
        </p:txBody>
      </p:sp>
      <p:pic>
        <p:nvPicPr>
          <p:cNvPr id="7" name="Picture 6" descr="Diagram, schematic&#10;&#10;Description automatically generated">
            <a:extLst>
              <a:ext uri="{FF2B5EF4-FFF2-40B4-BE49-F238E27FC236}">
                <a16:creationId xmlns:a16="http://schemas.microsoft.com/office/drawing/2014/main" id="{75DA0A96-FFC8-4408-9E28-359D3336AA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0892" y="2216874"/>
            <a:ext cx="4487657" cy="386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272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36AC-12A9-4A2C-9D8A-8D001EE0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775253"/>
            <a:ext cx="9743661" cy="82494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Automatic shop door circuit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C13E-1871-4787-BADF-14253538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0139" y="2515318"/>
            <a:ext cx="4485861" cy="3419383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GB" sz="2400" dirty="0"/>
              <a:t>It does not matter which sensor switch detects a customer.</a:t>
            </a:r>
          </a:p>
          <a:p>
            <a:pPr marL="0" indent="0">
              <a:spcBef>
                <a:spcPts val="0"/>
              </a:spcBef>
              <a:buNone/>
            </a:pPr>
            <a:endParaRPr lang="en-GB" sz="2400" dirty="0"/>
          </a:p>
          <a:p>
            <a:pPr marL="0" indent="0">
              <a:spcBef>
                <a:spcPts val="0"/>
              </a:spcBef>
              <a:buNone/>
            </a:pPr>
            <a:r>
              <a:rPr lang="en-GB" sz="2400" dirty="0"/>
              <a:t>The circuit diagram shows that if just one switch is closed, A OR B, the motor will operate to open the door.</a:t>
            </a:r>
          </a:p>
          <a:p>
            <a:pPr marL="0" indent="0">
              <a:spcBef>
                <a:spcPts val="0"/>
              </a:spcBef>
              <a:buNone/>
            </a:pPr>
            <a:endParaRPr lang="en-GB" sz="2400" dirty="0"/>
          </a:p>
          <a:p>
            <a:pPr marL="0" indent="0">
              <a:spcBef>
                <a:spcPts val="0"/>
              </a:spcBef>
              <a:buNone/>
            </a:pPr>
            <a:r>
              <a:rPr lang="en-GB" sz="2400" dirty="0"/>
              <a:t>The logic gate in this circuit is an </a:t>
            </a:r>
            <a:r>
              <a:rPr lang="en-GB" sz="2400" b="1" dirty="0">
                <a:solidFill>
                  <a:srgbClr val="0069B4"/>
                </a:solidFill>
              </a:rPr>
              <a:t>OR gate</a:t>
            </a:r>
            <a:r>
              <a:rPr lang="en-GB" sz="2400" dirty="0"/>
              <a:t>.</a:t>
            </a:r>
          </a:p>
        </p:txBody>
      </p:sp>
      <p:pic>
        <p:nvPicPr>
          <p:cNvPr id="8" name="Picture 7" descr="Diagram, schematic&#10;&#10;Description automatically generated">
            <a:extLst>
              <a:ext uri="{FF2B5EF4-FFF2-40B4-BE49-F238E27FC236}">
                <a16:creationId xmlns:a16="http://schemas.microsoft.com/office/drawing/2014/main" id="{8B32FBE9-273F-4383-A911-13EDD22C32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0891" y="2216873"/>
            <a:ext cx="4487658" cy="386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627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36AC-12A9-4A2C-9D8A-8D001EE0D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0139" y="775253"/>
            <a:ext cx="9743661" cy="82494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Central processing unit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C13E-1871-4787-BADF-14253538B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054" y="1891947"/>
            <a:ext cx="5724515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The central processing unit of a computer, the CPU, is built from millions of electrical circuits containing logic gates.</a:t>
            </a:r>
          </a:p>
          <a:p>
            <a:pPr marL="0" indent="0">
              <a:buNone/>
            </a:pPr>
            <a:r>
              <a:rPr lang="en-GB" sz="2400" dirty="0"/>
              <a:t>When a computer is processing, each one of the millions of electrical circuits compares two items of data (the inputs) and makes a decision (the output).</a:t>
            </a:r>
          </a:p>
          <a:p>
            <a:pPr marL="0" indent="0">
              <a:buNone/>
            </a:pPr>
            <a:r>
              <a:rPr lang="en-GB" sz="2400" dirty="0"/>
              <a:t>The output from one electrical circuit often becomes one of the inputs for another electrical circuit.</a:t>
            </a:r>
          </a:p>
          <a:p>
            <a:pPr marL="0" indent="0">
              <a:buNone/>
            </a:pPr>
            <a:r>
              <a:rPr lang="en-GB" sz="2400" dirty="0"/>
              <a:t>The outputs result in the actions you can see on screen.</a:t>
            </a:r>
          </a:p>
        </p:txBody>
      </p:sp>
      <p:pic>
        <p:nvPicPr>
          <p:cNvPr id="9" name="Picture 8" descr="A picture containing text, circuit, electronics&#10;&#10;Description automatically generated">
            <a:extLst>
              <a:ext uri="{FF2B5EF4-FFF2-40B4-BE49-F238E27FC236}">
                <a16:creationId xmlns:a16="http://schemas.microsoft.com/office/drawing/2014/main" id="{93866CEA-7CAB-4FB4-9FA7-7A4735DA7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4621" y="2052485"/>
            <a:ext cx="4477379" cy="4030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018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D8971-0D9A-4A36-8231-D006AA258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85192"/>
            <a:ext cx="9733721" cy="82494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AND gate symbol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4FAEE4-329A-F646-8197-FC868F9236E2}"/>
              </a:ext>
            </a:extLst>
          </p:cNvPr>
          <p:cNvSpPr/>
          <p:nvPr/>
        </p:nvSpPr>
        <p:spPr>
          <a:xfrm>
            <a:off x="1712443" y="2029242"/>
            <a:ext cx="9431099" cy="41443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2400" dirty="0"/>
              <a:t>This is the standard symbol for the AND gate: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inputs come in the form of two electrical currents, A and B. Each current flows into a switch.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an input switch in the logic gate is open, the electrical current flows and this is represented by a 1.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an input switch in the logic gate is closed, the electrical current does not flow and this is represented by a 0.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input A is 1 </a:t>
            </a:r>
            <a:r>
              <a:rPr lang="en-GB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input B is 1, the output is 1. Otherwise, it is 0.</a:t>
            </a:r>
            <a:endParaRPr lang="en-GB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388C473-FCD6-42A4-936B-0BEBFE72EF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4502" y="1811120"/>
            <a:ext cx="3762350" cy="103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911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D8971-0D9A-4A36-8231-D006AA258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85192"/>
            <a:ext cx="9733721" cy="82494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OR gate symbol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09CEDA-07D6-6347-BC14-FABA37CE27D6}"/>
              </a:ext>
            </a:extLst>
          </p:cNvPr>
          <p:cNvSpPr/>
          <p:nvPr/>
        </p:nvSpPr>
        <p:spPr>
          <a:xfrm>
            <a:off x="1620078" y="2416162"/>
            <a:ext cx="580139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This is the standard symbol for the OR gate: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4FAEE4-329A-F646-8197-FC868F9236E2}"/>
              </a:ext>
            </a:extLst>
          </p:cNvPr>
          <p:cNvSpPr/>
          <p:nvPr/>
        </p:nvSpPr>
        <p:spPr>
          <a:xfrm>
            <a:off x="1620078" y="4537528"/>
            <a:ext cx="10058400" cy="47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input A is 1 OR input B is 1, the output is 1. Otherwise, it is 0.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BA9270-4420-4944-ABCA-084C8D6AD2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535" y="3173062"/>
            <a:ext cx="3732930" cy="10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585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C04558-796A-864E-9B6B-4EF6213D35D4}"/>
              </a:ext>
            </a:extLst>
          </p:cNvPr>
          <p:cNvSpPr/>
          <p:nvPr/>
        </p:nvSpPr>
        <p:spPr>
          <a:xfrm>
            <a:off x="1629519" y="829126"/>
            <a:ext cx="3000758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Truth tables</a:t>
            </a:r>
            <a:r>
              <a:rPr lang="en-GB" sz="4400" b="1" dirty="0">
                <a:solidFill>
                  <a:schemeClr val="bg1"/>
                </a:solidFill>
                <a:latin typeface="+mj-lt"/>
              </a:rPr>
              <a:t> </a:t>
            </a:r>
            <a:endParaRPr 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C18F4D-48D7-E949-B3C5-6248B0C83462}"/>
              </a:ext>
            </a:extLst>
          </p:cNvPr>
          <p:cNvSpPr/>
          <p:nvPr/>
        </p:nvSpPr>
        <p:spPr>
          <a:xfrm>
            <a:off x="1629520" y="2233703"/>
            <a:ext cx="7192264" cy="28410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GB" sz="2400" dirty="0">
                <a:solidFill>
                  <a:srgbClr val="222222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 gates are called logic gates because their operation is entirely logical and predictable.</a:t>
            </a:r>
          </a:p>
          <a:p>
            <a:pPr>
              <a:lnSpc>
                <a:spcPct val="107000"/>
              </a:lnSpc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 sz="2400" dirty="0">
                <a:solidFill>
                  <a:srgbClr val="222222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operation of a particular gate can, therefore, be summarised in a table, known as a </a:t>
            </a:r>
            <a:r>
              <a:rPr lang="en-GB" sz="2400" b="1" dirty="0">
                <a:solidFill>
                  <a:srgbClr val="0070C0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truth table</a:t>
            </a:r>
            <a:r>
              <a:rPr lang="en-GB" sz="2400" dirty="0">
                <a:solidFill>
                  <a:srgbClr val="222222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07000"/>
              </a:lnSpc>
            </a:pP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 sz="2400" dirty="0">
                <a:solidFill>
                  <a:srgbClr val="222222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Truth tables describe how a computer processes data.</a:t>
            </a:r>
            <a:endParaRPr lang="en-GB" sz="2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106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110D6-9DED-4A63-8F81-14093CD98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805070"/>
            <a:ext cx="9773478" cy="824947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1.3: Truth tables </a:t>
            </a:r>
          </a:p>
        </p:txBody>
      </p:sp>
      <p:pic>
        <p:nvPicPr>
          <p:cNvPr id="4" name="Content Placeholder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C5FFC4DF-C4C2-4A98-AD38-89D93139F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340" y="1983380"/>
            <a:ext cx="4201320" cy="413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7165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D8971-0D9A-4A36-8231-D006AA258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85192"/>
            <a:ext cx="9733721" cy="82494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 NOT gate</a:t>
            </a:r>
            <a:r>
              <a:rPr lang="en-GB" dirty="0">
                <a:solidFill>
                  <a:schemeClr val="bg1"/>
                </a:solidFill>
              </a:rPr>
              <a:t> 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09CEDA-07D6-6347-BC14-FABA37CE27D6}"/>
              </a:ext>
            </a:extLst>
          </p:cNvPr>
          <p:cNvSpPr/>
          <p:nvPr/>
        </p:nvSpPr>
        <p:spPr>
          <a:xfrm>
            <a:off x="1620078" y="2101482"/>
            <a:ext cx="9819861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If the input from a sensor or the output from a logic gate needs to be the opposite of what it currently is, we can add a </a:t>
            </a:r>
            <a:r>
              <a:rPr lang="en-US" sz="2400" b="1" dirty="0">
                <a:solidFill>
                  <a:srgbClr val="0070C0"/>
                </a:solidFill>
              </a:rPr>
              <a:t>NOT gate </a:t>
            </a:r>
            <a:r>
              <a:rPr lang="en-US" sz="2400" dirty="0"/>
              <a:t>– also called an </a:t>
            </a:r>
            <a:r>
              <a:rPr lang="en-US" sz="2400" b="1" dirty="0">
                <a:solidFill>
                  <a:srgbClr val="0070C0"/>
                </a:solidFill>
              </a:rPr>
              <a:t>inverter</a:t>
            </a:r>
            <a:r>
              <a:rPr lang="en-US" sz="2400" dirty="0"/>
              <a:t> – to switch 1 to 0 or 0 to 1.</a:t>
            </a:r>
          </a:p>
          <a:p>
            <a:r>
              <a:rPr lang="en-US" sz="2400" dirty="0"/>
              <a:t>Here is the standard symbol for the NOT gate:</a:t>
            </a:r>
          </a:p>
        </p:txBody>
      </p:sp>
      <p:pic>
        <p:nvPicPr>
          <p:cNvPr id="6" name="Picture 5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213DE7C0-4EE3-4EE2-B8E9-FC98313C3B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5488" y="4091940"/>
            <a:ext cx="4941024" cy="164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574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349DE-C14A-43C9-9DD0-7CF72DC6D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322" y="725558"/>
            <a:ext cx="9773478" cy="884582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1.4: Street light</a:t>
            </a:r>
          </a:p>
        </p:txBody>
      </p:sp>
      <p:pic>
        <p:nvPicPr>
          <p:cNvPr id="7" name="Content Placeholder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C0D85E59-DCBC-4745-90AF-1804DBC8F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340" y="1983380"/>
            <a:ext cx="4201320" cy="413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793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B4D36-2121-417F-8DFB-DF55C2380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0260" y="805070"/>
            <a:ext cx="9763539" cy="815008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Quiz 1</a:t>
            </a:r>
          </a:p>
        </p:txBody>
      </p:sp>
      <p:pic>
        <p:nvPicPr>
          <p:cNvPr id="4" name="Content Placeholder 3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1E45677F-69B1-4839-A2BE-E138802A59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340" y="1983380"/>
            <a:ext cx="4201320" cy="413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24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965</Words>
  <Application>Microsoft Office PowerPoint</Application>
  <PresentationFormat>Widescreen</PresentationFormat>
  <Paragraphs>108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Calibri Light</vt:lpstr>
      <vt:lpstr>Symbol</vt:lpstr>
      <vt:lpstr>Office Theme</vt:lpstr>
      <vt:lpstr>Binary and computer logic</vt:lpstr>
      <vt:lpstr>Objectives</vt:lpstr>
      <vt:lpstr>Animal sorting gate </vt:lpstr>
      <vt:lpstr>Animal sorting gate </vt:lpstr>
      <vt:lpstr>Animal sorting gate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Activity 1.1: Animal sorting gate </vt:lpstr>
      <vt:lpstr>Activity 1.2: Circuits</vt:lpstr>
      <vt:lpstr>Two-key bank vault circuit </vt:lpstr>
      <vt:lpstr>Automatic shop door circuit </vt:lpstr>
      <vt:lpstr>Central processing unit </vt:lpstr>
      <vt:lpstr>AND gate symbol </vt:lpstr>
      <vt:lpstr>OR gate symbol </vt:lpstr>
      <vt:lpstr>PowerPoint Presentation</vt:lpstr>
      <vt:lpstr>Activity 1.3: Truth tables </vt:lpstr>
      <vt:lpstr>The NOT gate </vt:lpstr>
      <vt:lpstr>Activity 1.4: Street light</vt:lpstr>
      <vt:lpstr>Quiz 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Lea Albrechtsen</cp:lastModifiedBy>
  <cp:revision>46</cp:revision>
  <dcterms:created xsi:type="dcterms:W3CDTF">2020-11-04T15:22:46Z</dcterms:created>
  <dcterms:modified xsi:type="dcterms:W3CDTF">2021-06-03T17:52:45Z</dcterms:modified>
</cp:coreProperties>
</file>