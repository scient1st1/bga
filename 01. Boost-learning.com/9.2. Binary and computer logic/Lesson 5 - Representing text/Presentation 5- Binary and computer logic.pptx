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59" r:id="rId7"/>
    <p:sldId id="284" r:id="rId8"/>
    <p:sldId id="273" r:id="rId9"/>
    <p:sldId id="285" r:id="rId10"/>
    <p:sldId id="287" r:id="rId11"/>
    <p:sldId id="286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9E872171-DDA3-8241-A182-0AFA884F9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4"/>
            <a:ext cx="12192000" cy="16162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1BA1FB9-53CB-4F8C-AE50-04134DB67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679" y="2816695"/>
            <a:ext cx="5595456" cy="1528155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/>
              <a:t>Binary and computer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92D17-E78C-474E-903A-AD06676AE770}"/>
              </a:ext>
            </a:extLst>
          </p:cNvPr>
          <p:cNvSpPr/>
          <p:nvPr/>
        </p:nvSpPr>
        <p:spPr>
          <a:xfrm>
            <a:off x="3488462" y="4344850"/>
            <a:ext cx="31136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5: Representing text</a:t>
            </a:r>
            <a:endParaRPr lang="en-GB" sz="2000" b="1" dirty="0">
              <a:solidFill>
                <a:srgbClr val="0070C0"/>
              </a:solidFill>
            </a:endParaRPr>
          </a:p>
        </p:txBody>
      </p:sp>
      <p:pic>
        <p:nvPicPr>
          <p:cNvPr id="9" name="Picture 8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254E05C9-FE63-4AEB-8216-A0EA97A1B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2" y="2816695"/>
            <a:ext cx="2937410" cy="24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95130"/>
            <a:ext cx="9634330" cy="81500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20079" y="2527150"/>
            <a:ext cx="8577469" cy="1803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the ASCII system has standardised the way characters are represented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convert ASCII text into binary strings and vice versa.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87237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binary number system: a reminder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67FF85-7BE6-154F-AA45-68A17EAC9F28}"/>
              </a:ext>
            </a:extLst>
          </p:cNvPr>
          <p:cNvSpPr/>
          <p:nvPr/>
        </p:nvSpPr>
        <p:spPr>
          <a:xfrm>
            <a:off x="1620079" y="1958322"/>
            <a:ext cx="7586870" cy="916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2400" dirty="0">
                <a:ea typeface="Arial" panose="020B0604020202020204" pitchFamily="34" charset="0"/>
                <a:cs typeface="Calibri" panose="020F0502020204030204" pitchFamily="34" charset="0"/>
              </a:rPr>
              <a:t>The binary system uses just two digits: 0 and 1.</a:t>
            </a:r>
            <a:endParaRPr lang="en-GB" sz="2400" dirty="0"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2400" dirty="0">
                <a:ea typeface="Arial" panose="020B0604020202020204" pitchFamily="34" charset="0"/>
                <a:cs typeface="Calibri" panose="020F0502020204030204" pitchFamily="34" charset="0"/>
              </a:rPr>
              <a:t>A denary number can be represented by a binary number.</a:t>
            </a:r>
            <a:endParaRPr lang="en-GB" sz="2400" dirty="0">
              <a:effectLst/>
              <a:ea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20096A-C466-2646-BA19-DF022365B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74353"/>
              </p:ext>
            </p:extLst>
          </p:nvPr>
        </p:nvGraphicFramePr>
        <p:xfrm>
          <a:off x="1620079" y="3200399"/>
          <a:ext cx="6617910" cy="1706469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12159339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11328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9638625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650424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52024508"/>
                    </a:ext>
                  </a:extLst>
                </a:gridCol>
                <a:gridCol w="2752498">
                  <a:extLst>
                    <a:ext uri="{9D8B030D-6E8A-4147-A177-3AD203B41FA5}">
                      <a16:colId xmlns:a16="http://schemas.microsoft.com/office/drawing/2014/main" val="2409123358"/>
                    </a:ext>
                  </a:extLst>
                </a:gridCol>
                <a:gridCol w="1165412">
                  <a:extLst>
                    <a:ext uri="{9D8B030D-6E8A-4147-A177-3AD203B41FA5}">
                      <a16:colId xmlns:a16="http://schemas.microsoft.com/office/drawing/2014/main" val="352896672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Place values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Denary number</a:t>
                      </a:r>
                      <a:endParaRPr lang="en-GB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6177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× 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2175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× 2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 × 4) + (1 × 2) + (1 × 1)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21842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 × 8) + (1 × 2)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1706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 × 16) + (1 × 8) (1 × 1)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12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87237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Processing characters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22146-89CD-A844-B004-21B1463214E7}"/>
              </a:ext>
            </a:extLst>
          </p:cNvPr>
          <p:cNvSpPr/>
          <p:nvPr/>
        </p:nvSpPr>
        <p:spPr>
          <a:xfrm>
            <a:off x="1620080" y="1924528"/>
            <a:ext cx="7700089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processing that takes place inside a computer is done using binary code, using 1s and 0s.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press a key on the keyboard, it uses a keyboard map to identify the character and return a binary code to the CPU.</a:t>
            </a:r>
          </a:p>
        </p:txBody>
      </p:sp>
      <p:pic>
        <p:nvPicPr>
          <p:cNvPr id="5" name="Picture 4" descr="A picture containing text, keyboard, computer, electronics&#10;&#10;Description automatically generated">
            <a:extLst>
              <a:ext uri="{FF2B5EF4-FFF2-40B4-BE49-F238E27FC236}">
                <a16:creationId xmlns:a16="http://schemas.microsoft.com/office/drawing/2014/main" id="{F4AB28B7-E8E4-4423-A7BF-A4420DC0E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246" y="3086367"/>
            <a:ext cx="4481117" cy="26425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F2E4CD-B99B-406F-B6AA-44CDB0E91EAC}"/>
              </a:ext>
            </a:extLst>
          </p:cNvPr>
          <p:cNvSpPr/>
          <p:nvPr/>
        </p:nvSpPr>
        <p:spPr>
          <a:xfrm>
            <a:off x="1620079" y="3291762"/>
            <a:ext cx="4898167" cy="2552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standard English alphabet characters, numbers and symbols are represented using seven bits. For example, H can be represented by 1001000.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Seven-bit binary code can be tricky for humans to work with, so we convert the binary numbers to denary. In this case, H can be represented by the denary number 72. </a:t>
            </a:r>
          </a:p>
        </p:txBody>
      </p:sp>
    </p:spTree>
    <p:extLst>
      <p:ext uri="{BB962C8B-B14F-4D97-AF65-F5344CB8AC3E}">
        <p14:creationId xmlns:p14="http://schemas.microsoft.com/office/powerpoint/2010/main" val="234274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9" y="787237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ASCII denary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EB8F98-8F9D-284F-BF9F-AE9AA442DF37}"/>
              </a:ext>
            </a:extLst>
          </p:cNvPr>
          <p:cNvSpPr/>
          <p:nvPr/>
        </p:nvSpPr>
        <p:spPr>
          <a:xfrm>
            <a:off x="1620079" y="2017558"/>
            <a:ext cx="8537712" cy="2258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a typeface="Arial" panose="020B0604020202020204" pitchFamily="34" charset="0"/>
              </a:rPr>
              <a:t>Standardisation is essential because we cannot assign the same denary number and binary string to two different characters if applications are to work on a range of different devices and on a global scale.</a:t>
            </a:r>
            <a:endParaRPr lang="en-GB" sz="20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The American Standard Code for Information Interchange (</a:t>
            </a:r>
            <a:r>
              <a:rPr lang="en-GB" sz="20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) was invented to standardise the denary numbers assigned to each character on a keyboard.</a:t>
            </a:r>
            <a:endParaRPr lang="en-GB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Here are some characters and their ASCII denary values:</a:t>
            </a:r>
            <a:endParaRPr lang="en-GB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4ADEAE9-1C41-2249-878B-738BFC382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16544"/>
              </p:ext>
            </p:extLst>
          </p:nvPr>
        </p:nvGraphicFramePr>
        <p:xfrm>
          <a:off x="1620079" y="4350057"/>
          <a:ext cx="2611471" cy="1838739"/>
        </p:xfrm>
        <a:graphic>
          <a:graphicData uri="http://schemas.openxmlformats.org/drawingml/2006/table">
            <a:tbl>
              <a:tblPr/>
              <a:tblGrid>
                <a:gridCol w="1121793">
                  <a:extLst>
                    <a:ext uri="{9D8B030D-6E8A-4147-A177-3AD203B41FA5}">
                      <a16:colId xmlns:a16="http://schemas.microsoft.com/office/drawing/2014/main" val="2415668870"/>
                    </a:ext>
                  </a:extLst>
                </a:gridCol>
                <a:gridCol w="1489678">
                  <a:extLst>
                    <a:ext uri="{9D8B030D-6E8A-4147-A177-3AD203B41FA5}">
                      <a16:colId xmlns:a16="http://schemas.microsoft.com/office/drawing/2014/main" val="1894626555"/>
                    </a:ext>
                  </a:extLst>
                </a:gridCol>
              </a:tblGrid>
              <a:tr h="3111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space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17598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!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1524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"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652606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18063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807962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13602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124F8E-CF45-4241-8C07-AF56C242F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841799"/>
              </p:ext>
            </p:extLst>
          </p:nvPr>
        </p:nvGraphicFramePr>
        <p:xfrm>
          <a:off x="4707041" y="4355670"/>
          <a:ext cx="2611471" cy="1833126"/>
        </p:xfrm>
        <a:graphic>
          <a:graphicData uri="http://schemas.openxmlformats.org/drawingml/2006/table">
            <a:tbl>
              <a:tblPr/>
              <a:tblGrid>
                <a:gridCol w="1121793">
                  <a:extLst>
                    <a:ext uri="{9D8B030D-6E8A-4147-A177-3AD203B41FA5}">
                      <a16:colId xmlns:a16="http://schemas.microsoft.com/office/drawing/2014/main" val="2415668870"/>
                    </a:ext>
                  </a:extLst>
                </a:gridCol>
                <a:gridCol w="1489678">
                  <a:extLst>
                    <a:ext uri="{9D8B030D-6E8A-4147-A177-3AD203B41FA5}">
                      <a16:colId xmlns:a16="http://schemas.microsoft.com/office/drawing/2014/main" val="1894626555"/>
                    </a:ext>
                  </a:extLst>
                </a:gridCol>
              </a:tblGrid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@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17598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1524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652606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18063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807962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13602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4AFD6B-DFF9-BE42-82E6-8C0912451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27791"/>
              </p:ext>
            </p:extLst>
          </p:nvPr>
        </p:nvGraphicFramePr>
        <p:xfrm>
          <a:off x="7794003" y="4369935"/>
          <a:ext cx="2611471" cy="1828800"/>
        </p:xfrm>
        <a:graphic>
          <a:graphicData uri="http://schemas.openxmlformats.org/drawingml/2006/table">
            <a:tbl>
              <a:tblPr/>
              <a:tblGrid>
                <a:gridCol w="1121793">
                  <a:extLst>
                    <a:ext uri="{9D8B030D-6E8A-4147-A177-3AD203B41FA5}">
                      <a16:colId xmlns:a16="http://schemas.microsoft.com/office/drawing/2014/main" val="2415668870"/>
                    </a:ext>
                  </a:extLst>
                </a:gridCol>
                <a:gridCol w="1489678">
                  <a:extLst>
                    <a:ext uri="{9D8B030D-6E8A-4147-A177-3AD203B41FA5}">
                      <a16:colId xmlns:a16="http://schemas.microsoft.com/office/drawing/2014/main" val="1894626555"/>
                    </a:ext>
                  </a:extLst>
                </a:gridCol>
              </a:tblGrid>
              <a:tr h="3011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‘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17598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1524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652606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718063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807962"/>
                  </a:ext>
                </a:extLst>
              </a:tr>
              <a:tr h="3055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13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3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18E5E8-6E52-F643-83FC-C4BA88D4B9EC}"/>
              </a:ext>
            </a:extLst>
          </p:cNvPr>
          <p:cNvSpPr/>
          <p:nvPr/>
        </p:nvSpPr>
        <p:spPr>
          <a:xfrm>
            <a:off x="1590169" y="756501"/>
            <a:ext cx="78307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Converting a character to binary</a:t>
            </a:r>
            <a:r>
              <a:rPr lang="en-GB" sz="4400" b="1" dirty="0">
                <a:solidFill>
                  <a:schemeClr val="bg1"/>
                </a:solidFill>
                <a:latin typeface="+mj-lt"/>
              </a:rPr>
              <a:t> </a:t>
            </a:r>
            <a:endParaRPr lang="en-US" sz="4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B2DAF-B36B-FB4F-8430-783E6AC0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69657"/>
              </p:ext>
            </p:extLst>
          </p:nvPr>
        </p:nvGraphicFramePr>
        <p:xfrm>
          <a:off x="2752394" y="4964447"/>
          <a:ext cx="5506281" cy="1302300"/>
        </p:xfrm>
        <a:graphic>
          <a:graphicData uri="http://schemas.openxmlformats.org/drawingml/2006/table">
            <a:tbl>
              <a:tblPr/>
              <a:tblGrid>
                <a:gridCol w="1819291">
                  <a:extLst>
                    <a:ext uri="{9D8B030D-6E8A-4147-A177-3AD203B41FA5}">
                      <a16:colId xmlns:a16="http://schemas.microsoft.com/office/drawing/2014/main" val="2415668870"/>
                    </a:ext>
                  </a:extLst>
                </a:gridCol>
                <a:gridCol w="1843495">
                  <a:extLst>
                    <a:ext uri="{9D8B030D-6E8A-4147-A177-3AD203B41FA5}">
                      <a16:colId xmlns:a16="http://schemas.microsoft.com/office/drawing/2014/main" val="1894626555"/>
                    </a:ext>
                  </a:extLst>
                </a:gridCol>
                <a:gridCol w="1843495">
                  <a:extLst>
                    <a:ext uri="{9D8B030D-6E8A-4147-A177-3AD203B41FA5}">
                      <a16:colId xmlns:a16="http://schemas.microsoft.com/office/drawing/2014/main" val="2987458085"/>
                    </a:ext>
                  </a:extLst>
                </a:gridCol>
              </a:tblGrid>
              <a:tr h="679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Letter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ASCII 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denary value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Binary value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017598"/>
                  </a:ext>
                </a:extLst>
              </a:tr>
              <a:tr h="6230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65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01000001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152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82B5870-25D6-41FF-B98E-0D19AEEBE551}"/>
              </a:ext>
            </a:extLst>
          </p:cNvPr>
          <p:cNvSpPr/>
          <p:nvPr/>
        </p:nvSpPr>
        <p:spPr>
          <a:xfrm>
            <a:off x="1590169" y="2206305"/>
            <a:ext cx="8979959" cy="2604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dirty="0">
                <a:latin typeface="Arial" panose="020B0604020202020204" pitchFamily="34" charset="0"/>
                <a:ea typeface="Arial" panose="020B0604020202020204" pitchFamily="34" charset="0"/>
              </a:rPr>
              <a:t>The denary number we humans use to define a character is the equivalent of the 7-bit binary number the computer uses. So, 1000001 is the equivalent to 65 in denary, which we use to refer to the character A. Computers work with groups of 8 bits, so an additional 0 is added to the left of the binary number to make it a byte: </a:t>
            </a: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807" y="2052068"/>
            <a:ext cx="8018358" cy="2024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Each 1 and 0 in a binary number is knows as a </a:t>
            </a:r>
            <a:r>
              <a:rPr lang="en-GB" sz="2400" b="1" dirty="0">
                <a:solidFill>
                  <a:srgbClr val="0070C0"/>
                </a:solidFill>
              </a:rPr>
              <a:t>bit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r>
              <a:rPr lang="en-GB" sz="2400" dirty="0"/>
              <a:t>The term ‘bit’ comes from the words ‘binary’</a:t>
            </a:r>
            <a:r>
              <a:rPr lang="en-GB" sz="2400" b="1" dirty="0"/>
              <a:t> </a:t>
            </a:r>
            <a:r>
              <a:rPr lang="en-GB" sz="2400" dirty="0"/>
              <a:t>(involving two things) and ‘digit’ (a number from 0 to 9).</a:t>
            </a:r>
          </a:p>
          <a:p>
            <a:pPr marL="0" indent="0">
              <a:buNone/>
            </a:pPr>
            <a:r>
              <a:rPr lang="en-GB" sz="2400" dirty="0"/>
              <a:t>An 8-bit string of data is known as a </a:t>
            </a:r>
            <a:r>
              <a:rPr lang="en-GB" sz="2400" b="1" dirty="0">
                <a:solidFill>
                  <a:srgbClr val="0070C0"/>
                </a:solidFill>
              </a:rPr>
              <a:t>byte</a:t>
            </a:r>
            <a:r>
              <a:rPr lang="en-GB" sz="2400" b="1" dirty="0"/>
              <a:t> </a:t>
            </a:r>
            <a:r>
              <a:rPr lang="en-GB" sz="2400" dirty="0"/>
              <a:t>of data. Computers process bytes.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8E5E8-6E52-F643-83FC-C4BA88D4B9EC}"/>
              </a:ext>
            </a:extLst>
          </p:cNvPr>
          <p:cNvSpPr/>
          <p:nvPr/>
        </p:nvSpPr>
        <p:spPr>
          <a:xfrm>
            <a:off x="1590169" y="756501"/>
            <a:ext cx="34733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Bits and bytes </a:t>
            </a:r>
            <a:endParaRPr lang="en-US" sz="4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Diagram, rectangle&#10;&#10;Description automatically generated">
            <a:extLst>
              <a:ext uri="{FF2B5EF4-FFF2-40B4-BE49-F238E27FC236}">
                <a16:creationId xmlns:a16="http://schemas.microsoft.com/office/drawing/2014/main" id="{66839E04-3A21-403E-A7AC-ACEB06826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067" y="4079445"/>
            <a:ext cx="4663865" cy="212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4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5.1: ASCII converter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4BFA676B-1859-4C4D-A4ED-A1053AEE1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988077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3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Activity 5.2: Processing a character like a computer (Part 1)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39EB44B-624B-43AC-B3BF-B6ACD6341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988077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9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Activity 5.3: Processing a character like a computer (Part 2)</a:t>
            </a:r>
          </a:p>
        </p:txBody>
      </p:sp>
      <p:pic>
        <p:nvPicPr>
          <p:cNvPr id="7" name="Picture 6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1E4902AC-ABE3-487A-8A12-7AC361ADF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988077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05071"/>
            <a:ext cx="9743660" cy="81500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5.4: Hexadecimal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B8A8173-6E78-4C9A-81B8-2708CB427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988077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08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9" y="775253"/>
            <a:ext cx="9743661" cy="82494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Unicode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139" y="2033401"/>
            <a:ext cx="888448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ASCII can only represent 256 characters. This is because there are only 256 different ways 8 bits can be arranged into a byte.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This is adequate to represent characters when writing in English, but it is not adequate to represent all the characters in all the languages in the world.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This is why </a:t>
            </a:r>
            <a:r>
              <a:rPr lang="en-GB" sz="2400" b="1" dirty="0">
                <a:solidFill>
                  <a:srgbClr val="0070C0"/>
                </a:solidFill>
              </a:rPr>
              <a:t>Unicode</a:t>
            </a:r>
            <a:r>
              <a:rPr lang="en-GB" sz="2400" dirty="0"/>
              <a:t> was developed. Each character is represented by 4 bytes, which means Unicode supports roughly 1,000,000 different characters.</a:t>
            </a:r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1500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5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733DFB0A-62ED-43A9-99FB-8C512598E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69" y="1988077"/>
            <a:ext cx="4655661" cy="45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631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Office Theme</vt:lpstr>
      <vt:lpstr>Binary and computer logic</vt:lpstr>
      <vt:lpstr>Objectives</vt:lpstr>
      <vt:lpstr>The binary number system: a reminder </vt:lpstr>
      <vt:lpstr>Processing characters </vt:lpstr>
      <vt:lpstr>ASCII denary values</vt:lpstr>
      <vt:lpstr>PowerPoint Presentation</vt:lpstr>
      <vt:lpstr>PowerPoint Presentation</vt:lpstr>
      <vt:lpstr>Activity 5.1: ASCII converter</vt:lpstr>
      <vt:lpstr>Activity 5.2: Processing a character like a computer (Part 1)</vt:lpstr>
      <vt:lpstr>Activity 5.3: Processing a character like a computer (Part 2)</vt:lpstr>
      <vt:lpstr>Activity 5.4: Hexadecimal </vt:lpstr>
      <vt:lpstr>Unicode </vt:lpstr>
      <vt:lpstr>Quiz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50</cp:revision>
  <dcterms:created xsi:type="dcterms:W3CDTF">2020-11-04T15:22:46Z</dcterms:created>
  <dcterms:modified xsi:type="dcterms:W3CDTF">2021-05-17T17:32:34Z</dcterms:modified>
</cp:coreProperties>
</file>