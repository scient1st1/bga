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6"/>
    <p:sldId id="274" r:id="rId7"/>
    <p:sldId id="260" r:id="rId8"/>
    <p:sldId id="275" r:id="rId9"/>
    <p:sldId id="276" r:id="rId10"/>
    <p:sldId id="27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35EF"/>
    <a:srgbClr val="DE35B7"/>
    <a:srgbClr val="B61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7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8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10" name="Picture 9" descr="A picture containing text, tool&#10;&#10;Description automatically generated">
            <a:extLst>
              <a:ext uri="{FF2B5EF4-FFF2-40B4-BE49-F238E27FC236}">
                <a16:creationId xmlns:a16="http://schemas.microsoft.com/office/drawing/2014/main" id="{D732EF40-B59C-F244-AAD1-54CD7DE5EBD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2928"/>
            <a:ext cx="12192000" cy="165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917" y="2306361"/>
            <a:ext cx="11202648" cy="915850"/>
          </a:xfrm>
        </p:spPr>
        <p:txBody>
          <a:bodyPr>
            <a:normAutofit/>
          </a:bodyPr>
          <a:lstStyle/>
          <a:p>
            <a:pPr algn="l"/>
            <a:r>
              <a:rPr lang="en-GB" b="1" dirty="0"/>
              <a:t>Programming in Python</a:t>
            </a:r>
            <a:r>
              <a:rPr lang="en-GB" b="1"/>
              <a:t>: iteration </a:t>
            </a:r>
            <a:endParaRPr lang="en-GB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4566059" y="3332524"/>
            <a:ext cx="371986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B612AD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1: Repeating instructions </a:t>
            </a:r>
            <a:endParaRPr lang="en-GB" sz="2000" b="1" dirty="0">
              <a:solidFill>
                <a:srgbClr val="B612AD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3800F9-5D41-D44C-BFEE-1DA26B97A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682" y="3332524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34887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580322" y="1907372"/>
            <a:ext cx="8418443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about the concept of iteration to create a repeated sequence of instructions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how to write a program in Python that uses a for loop to repeat a section of code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how to use </a:t>
            </a:r>
            <a:r>
              <a:rPr lang="en-GB" sz="2800" dirty="0">
                <a:latin typeface="Courier" pitchFamily="2" charset="0"/>
                <a:ea typeface="Times New Roman" panose="02020603050405020304" pitchFamily="18" charset="0"/>
              </a:rPr>
              <a:t>for</a:t>
            </a: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 to create a loop in Python.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795130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What is iteration?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4C4FE0-0A34-464C-A6A6-EDF07E0475E5}"/>
              </a:ext>
            </a:extLst>
          </p:cNvPr>
          <p:cNvSpPr/>
          <p:nvPr/>
        </p:nvSpPr>
        <p:spPr>
          <a:xfrm>
            <a:off x="1580322" y="2212610"/>
            <a:ext cx="7109791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b="1" dirty="0">
                <a:solidFill>
                  <a:srgbClr val="DE35B7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Iteration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when a set of instructions is repeated.</a:t>
            </a:r>
          </a:p>
          <a:p>
            <a:endParaRPr lang="en-GB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 is used when a program needs to complete the same process multiple times.</a:t>
            </a:r>
          </a:p>
          <a:p>
            <a:endParaRPr lang="en-GB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Iteration can also be referred to as using a </a:t>
            </a:r>
            <a:r>
              <a:rPr lang="en-GB" sz="2800" b="1" dirty="0">
                <a:solidFill>
                  <a:srgbClr val="DE35EF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loop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4" y="745436"/>
            <a:ext cx="9783416" cy="88458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Repeated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384" y="1925016"/>
            <a:ext cx="8335617" cy="6392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To draw a square in Logo we could use this code:</a:t>
            </a:r>
          </a:p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D534D5-9B64-C64A-B502-BD823F64B3EF}"/>
              </a:ext>
            </a:extLst>
          </p:cNvPr>
          <p:cNvSpPr/>
          <p:nvPr/>
        </p:nvSpPr>
        <p:spPr>
          <a:xfrm>
            <a:off x="6124162" y="2738498"/>
            <a:ext cx="1374913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fd</a:t>
            </a:r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10</a:t>
            </a:r>
          </a:p>
          <a:p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rt 90</a:t>
            </a:r>
          </a:p>
          <a:p>
            <a:r>
              <a:rPr lang="en-GB" sz="2000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fd</a:t>
            </a:r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10</a:t>
            </a:r>
          </a:p>
          <a:p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rt 90</a:t>
            </a:r>
          </a:p>
          <a:p>
            <a:r>
              <a:rPr lang="en-GB" sz="2000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fd</a:t>
            </a:r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10</a:t>
            </a:r>
          </a:p>
          <a:p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rt 90</a:t>
            </a:r>
          </a:p>
          <a:p>
            <a:r>
              <a:rPr lang="en-GB" sz="2000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fd</a:t>
            </a:r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10</a:t>
            </a:r>
          </a:p>
          <a:p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rt 90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52D52F-DF8B-8649-9529-276C401238DC}"/>
              </a:ext>
            </a:extLst>
          </p:cNvPr>
          <p:cNvSpPr/>
          <p:nvPr/>
        </p:nvSpPr>
        <p:spPr>
          <a:xfrm>
            <a:off x="1570384" y="5467246"/>
            <a:ext cx="910755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Or we could create a loop that repeats the two instructions four times:</a:t>
            </a:r>
          </a:p>
          <a:p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repeat 4 [</a:t>
            </a:r>
            <a:r>
              <a:rPr lang="en-GB" sz="2400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fd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10 rt 90]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06F541-BE4F-413F-8F13-89BCAD920CDF}"/>
              </a:ext>
            </a:extLst>
          </p:cNvPr>
          <p:cNvSpPr>
            <a:spLocks noChangeAspect="1"/>
          </p:cNvSpPr>
          <p:nvPr/>
        </p:nvSpPr>
        <p:spPr>
          <a:xfrm>
            <a:off x="3015133" y="3033202"/>
            <a:ext cx="1800000" cy="180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4" y="745436"/>
            <a:ext cx="9783416" cy="88458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Repeated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5315" y="1925016"/>
            <a:ext cx="9107557" cy="143331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What code would you write to draw the following shapes using a loop?</a:t>
            </a:r>
          </a:p>
          <a:p>
            <a:pPr marL="514350" indent="-514350">
              <a:buFont typeface="+mj-lt"/>
              <a:buAutoNum type="alphaLcPeriod"/>
            </a:pPr>
            <a:r>
              <a:rPr lang="en-GB" sz="2400" dirty="0"/>
              <a:t>an equilateral triangle</a:t>
            </a:r>
          </a:p>
          <a:p>
            <a:pPr marL="514350" indent="-514350">
              <a:buFont typeface="+mj-lt"/>
              <a:buAutoNum type="alphaLcPeriod"/>
            </a:pPr>
            <a:r>
              <a:rPr lang="en-GB" sz="2400" dirty="0"/>
              <a:t>a hexagon</a:t>
            </a:r>
          </a:p>
          <a:p>
            <a:pPr marL="514350" indent="-514350">
              <a:buFont typeface="+mj-lt"/>
              <a:buAutoNum type="alphaLcPeriod"/>
            </a:pPr>
            <a:r>
              <a:rPr lang="en-GB" sz="2400" dirty="0"/>
              <a:t>an octagon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52D52F-DF8B-8649-9529-276C401238DC}"/>
              </a:ext>
            </a:extLst>
          </p:cNvPr>
          <p:cNvSpPr/>
          <p:nvPr/>
        </p:nvSpPr>
        <p:spPr>
          <a:xfrm>
            <a:off x="1570384" y="5513000"/>
            <a:ext cx="91075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Hint: You can work out the internal angles of a shape by dividing 360 degrees by the number of sides the shape has.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0E570A-B25A-0D4A-9BFB-18650B16A234}"/>
              </a:ext>
            </a:extLst>
          </p:cNvPr>
          <p:cNvSpPr/>
          <p:nvPr/>
        </p:nvSpPr>
        <p:spPr>
          <a:xfrm>
            <a:off x="2347589" y="5129767"/>
            <a:ext cx="183210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200" i="1" dirty="0">
                <a:ea typeface="Calibri" panose="020F0502020204030204" pitchFamily="34" charset="0"/>
                <a:cs typeface="Times New Roman" panose="02020603050405020304" pitchFamily="18" charset="0"/>
              </a:rPr>
              <a:t>A triangle has three sides.</a:t>
            </a:r>
            <a:r>
              <a:rPr lang="en-GB" sz="1200" i="1" dirty="0"/>
              <a:t> </a:t>
            </a:r>
            <a:endParaRPr lang="en-US" sz="1200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0F957B-8BAA-1345-98B3-1D5315A243A0}"/>
              </a:ext>
            </a:extLst>
          </p:cNvPr>
          <p:cNvSpPr/>
          <p:nvPr/>
        </p:nvSpPr>
        <p:spPr>
          <a:xfrm>
            <a:off x="5242079" y="5129767"/>
            <a:ext cx="17078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200" i="1" dirty="0">
                <a:ea typeface="Calibri" panose="020F0502020204030204" pitchFamily="34" charset="0"/>
                <a:cs typeface="Times New Roman" panose="02020603050405020304" pitchFamily="18" charset="0"/>
              </a:rPr>
              <a:t>A hexagon has six sides.</a:t>
            </a:r>
            <a:r>
              <a:rPr lang="en-GB" sz="1200" i="1" dirty="0"/>
              <a:t> </a:t>
            </a:r>
            <a:endParaRPr lang="en-US" sz="1200" i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68D229-FA0B-874D-A2F9-15EA3D616BDD}"/>
              </a:ext>
            </a:extLst>
          </p:cNvPr>
          <p:cNvSpPr/>
          <p:nvPr/>
        </p:nvSpPr>
        <p:spPr>
          <a:xfrm>
            <a:off x="7927989" y="5129766"/>
            <a:ext cx="191642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200" i="1" dirty="0">
                <a:ea typeface="Calibri" panose="020F0502020204030204" pitchFamily="34" charset="0"/>
                <a:cs typeface="Times New Roman" panose="02020603050405020304" pitchFamily="18" charset="0"/>
              </a:rPr>
              <a:t>An octagon has eight sides.</a:t>
            </a:r>
            <a:r>
              <a:rPr lang="en-GB" sz="1200" i="1" dirty="0"/>
              <a:t> </a:t>
            </a:r>
            <a:endParaRPr lang="en-US" sz="1200" i="1" dirty="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EFF2B03C-F90E-423B-9E57-3CE9E1B3FF46}"/>
              </a:ext>
            </a:extLst>
          </p:cNvPr>
          <p:cNvSpPr>
            <a:spLocks noChangeAspect="1"/>
          </p:cNvSpPr>
          <p:nvPr/>
        </p:nvSpPr>
        <p:spPr>
          <a:xfrm>
            <a:off x="2536721" y="3784692"/>
            <a:ext cx="1453842" cy="1260000"/>
          </a:xfrm>
          <a:prstGeom prst="triangl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Hexagon 11">
            <a:extLst>
              <a:ext uri="{FF2B5EF4-FFF2-40B4-BE49-F238E27FC236}">
                <a16:creationId xmlns:a16="http://schemas.microsoft.com/office/drawing/2014/main" id="{0440213C-B965-4D96-8F99-21FF3D4A9C3B}"/>
              </a:ext>
            </a:extLst>
          </p:cNvPr>
          <p:cNvSpPr>
            <a:spLocks noChangeAspect="1"/>
          </p:cNvSpPr>
          <p:nvPr/>
        </p:nvSpPr>
        <p:spPr>
          <a:xfrm>
            <a:off x="5369075" y="3784692"/>
            <a:ext cx="1453849" cy="1260000"/>
          </a:xfrm>
          <a:prstGeom prst="hexagon">
            <a:avLst>
              <a:gd name="adj" fmla="val 32158"/>
              <a:gd name="vf" fmla="val 115470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ctagon 12">
            <a:extLst>
              <a:ext uri="{FF2B5EF4-FFF2-40B4-BE49-F238E27FC236}">
                <a16:creationId xmlns:a16="http://schemas.microsoft.com/office/drawing/2014/main" id="{F995133E-DE7B-4938-8DF0-A8CFE94073EC}"/>
              </a:ext>
            </a:extLst>
          </p:cNvPr>
          <p:cNvSpPr>
            <a:spLocks noChangeAspect="1"/>
          </p:cNvSpPr>
          <p:nvPr/>
        </p:nvSpPr>
        <p:spPr>
          <a:xfrm>
            <a:off x="8201436" y="3763535"/>
            <a:ext cx="1278048" cy="1260000"/>
          </a:xfrm>
          <a:prstGeom prst="octago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65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7"/>
            <a:ext cx="10621618" cy="785191"/>
          </a:xfrm>
        </p:spPr>
        <p:txBody>
          <a:bodyPr>
            <a:normAutofit fontScale="90000"/>
          </a:bodyPr>
          <a:lstStyle/>
          <a:p>
            <a:r>
              <a:rPr lang="en-GB" sz="4000" b="1" dirty="0">
                <a:solidFill>
                  <a:schemeClr val="bg1"/>
                </a:solidFill>
              </a:rPr>
              <a:t>Activity 1.1: Programming in Python: iteration, Section 1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04A2390F-8357-4EED-AF34-675C9459DB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553" y="2042810"/>
            <a:ext cx="4410894" cy="432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650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755374"/>
            <a:ext cx="9773477" cy="854765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0322" y="2246243"/>
            <a:ext cx="8140148" cy="3930720"/>
          </a:xfrm>
        </p:spPr>
        <p:txBody>
          <a:bodyPr/>
          <a:lstStyle/>
          <a:p>
            <a:pPr marL="0" indent="0">
              <a:buNone/>
            </a:pPr>
            <a:r>
              <a:rPr lang="en-GB" sz="3600" dirty="0"/>
              <a:t>How can we print the numbers 5 to 15 using a for loop?</a:t>
            </a:r>
          </a:p>
          <a:p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480951-78CE-7F4C-A5C4-E90E232B0495}"/>
              </a:ext>
            </a:extLst>
          </p:cNvPr>
          <p:cNvSpPr/>
          <p:nvPr/>
        </p:nvSpPr>
        <p:spPr>
          <a:xfrm>
            <a:off x="2602396" y="3672994"/>
            <a:ext cx="6096000" cy="10772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 i in range(5, 16):</a:t>
            </a:r>
          </a:p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print(i)</a:t>
            </a:r>
          </a:p>
        </p:txBody>
      </p:sp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755374"/>
            <a:ext cx="9773477" cy="854765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0322" y="2246243"/>
            <a:ext cx="8140148" cy="3930720"/>
          </a:xfrm>
        </p:spPr>
        <p:txBody>
          <a:bodyPr/>
          <a:lstStyle/>
          <a:p>
            <a:pPr marL="0" indent="0">
              <a:buNone/>
            </a:pPr>
            <a:r>
              <a:rPr lang="en-GB" sz="3600" dirty="0"/>
              <a:t>What will the following code output?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for i in range(2, 14, 3):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  print(i)</a:t>
            </a:r>
          </a:p>
          <a:p>
            <a:pPr marL="0" indent="0">
              <a:buNone/>
            </a:pPr>
            <a:endParaRPr lang="en-GB" dirty="0">
              <a:latin typeface="Courier" pitchFamily="2" charset="0"/>
            </a:endParaRPr>
          </a:p>
          <a:p>
            <a:pPr marL="0" indent="0">
              <a:buNone/>
            </a:pPr>
            <a:endParaRPr lang="en-GB" dirty="0">
              <a:latin typeface="Courier" pitchFamily="2" charset="0"/>
            </a:endParaRPr>
          </a:p>
          <a:p>
            <a:pPr marL="0" indent="0">
              <a:buNone/>
            </a:pPr>
            <a:endParaRPr lang="en-GB" sz="3600" dirty="0"/>
          </a:p>
          <a:p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480951-78CE-7F4C-A5C4-E90E232B0495}"/>
              </a:ext>
            </a:extLst>
          </p:cNvPr>
          <p:cNvSpPr/>
          <p:nvPr/>
        </p:nvSpPr>
        <p:spPr>
          <a:xfrm>
            <a:off x="5522843" y="4211603"/>
            <a:ext cx="1146313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</a:p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5</a:t>
            </a:r>
          </a:p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8</a:t>
            </a:r>
          </a:p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9070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755374"/>
            <a:ext cx="9773477" cy="854765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0322" y="2246243"/>
            <a:ext cx="8140148" cy="3930720"/>
          </a:xfrm>
        </p:spPr>
        <p:txBody>
          <a:bodyPr/>
          <a:lstStyle/>
          <a:p>
            <a:pPr marL="0" indent="0">
              <a:buNone/>
            </a:pPr>
            <a:r>
              <a:rPr lang="en-GB" sz="3600" dirty="0"/>
              <a:t>What will the following code output?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for i in range(10, 0, -2):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  print(i)</a:t>
            </a:r>
          </a:p>
          <a:p>
            <a:pPr marL="0" indent="0">
              <a:buNone/>
            </a:pPr>
            <a:endParaRPr lang="en-GB" dirty="0">
              <a:latin typeface="Courier" pitchFamily="2" charset="0"/>
            </a:endParaRPr>
          </a:p>
          <a:p>
            <a:pPr marL="0" indent="0">
              <a:buNone/>
            </a:pPr>
            <a:endParaRPr lang="en-GB" dirty="0">
              <a:latin typeface="Courier" pitchFamily="2" charset="0"/>
            </a:endParaRPr>
          </a:p>
          <a:p>
            <a:pPr marL="0" indent="0">
              <a:buNone/>
            </a:pPr>
            <a:endParaRPr lang="en-GB" sz="3600" dirty="0"/>
          </a:p>
          <a:p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480951-78CE-7F4C-A5C4-E90E232B0495}"/>
              </a:ext>
            </a:extLst>
          </p:cNvPr>
          <p:cNvSpPr/>
          <p:nvPr/>
        </p:nvSpPr>
        <p:spPr>
          <a:xfrm>
            <a:off x="5522843" y="4002881"/>
            <a:ext cx="1146313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10</a:t>
            </a:r>
          </a:p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8</a:t>
            </a:r>
          </a:p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6</a:t>
            </a:r>
          </a:p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</a:p>
          <a:p>
            <a:r>
              <a:rPr lang="en-GB" sz="32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34462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B4D36-2121-417F-8DFB-DF55C2380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05070"/>
            <a:ext cx="9763539" cy="80506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Quiz 1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3A684A42-4D0D-4C65-BEA7-CBE7C46A90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553" y="2042810"/>
            <a:ext cx="4410894" cy="432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24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</TotalTime>
  <Words>321</Words>
  <Application>Microsoft Office PowerPoint</Application>
  <PresentationFormat>Widescreen</PresentationFormat>
  <Paragraphs>61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Courier</vt:lpstr>
      <vt:lpstr>Symbol</vt:lpstr>
      <vt:lpstr>Office Theme</vt:lpstr>
      <vt:lpstr>Programming in Python: iteration </vt:lpstr>
      <vt:lpstr>Objectives</vt:lpstr>
      <vt:lpstr>What is iteration?</vt:lpstr>
      <vt:lpstr>Repeated instructions</vt:lpstr>
      <vt:lpstr>Repeated instructions</vt:lpstr>
      <vt:lpstr>Activity 1.1: Programming in Python: iteration, Section 1</vt:lpstr>
      <vt:lpstr>Question 1 </vt:lpstr>
      <vt:lpstr>Question 2 </vt:lpstr>
      <vt:lpstr>Question 3 </vt:lpstr>
      <vt:lpstr>Quiz 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33</cp:revision>
  <dcterms:created xsi:type="dcterms:W3CDTF">2020-11-04T15:22:46Z</dcterms:created>
  <dcterms:modified xsi:type="dcterms:W3CDTF">2021-06-17T13:35:00Z</dcterms:modified>
</cp:coreProperties>
</file>