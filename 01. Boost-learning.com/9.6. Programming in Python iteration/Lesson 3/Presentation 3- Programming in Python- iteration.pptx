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3" r:id="rId5"/>
    <p:sldId id="275" r:id="rId6"/>
    <p:sldId id="266" r:id="rId7"/>
    <p:sldId id="267" r:id="rId8"/>
    <p:sldId id="276" r:id="rId9"/>
    <p:sldId id="274" r:id="rId10"/>
    <p:sldId id="27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a Albrechtsen" initials="LA" lastIdx="2" clrIdx="0">
    <p:extLst>
      <p:ext uri="{19B8F6BF-5375-455C-9EA6-DF929625EA0E}">
        <p15:presenceInfo xmlns:p15="http://schemas.microsoft.com/office/powerpoint/2012/main" userId="S::Lea.Albrechtsen@hoddereducation.co.uk::4df490f3-5904-4e82-a5b6-23281874b6f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612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9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3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F7712-1F3B-4253-AEF1-0FE171523E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C14F2F-A2B8-4861-8B33-2CF08A1C25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814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60902-80CF-4DD3-B59F-8E58611CF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56315-CBCB-4124-93B3-3DEF3C56B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A47B5-60C4-46E0-B317-50F50E6D85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49A0D-7474-4882-A51A-CF35E154F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5A12C-5BED-457E-A6CE-2E58C8D0D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3353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2461-8DBB-43F0-A3AC-126E64397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6A727-278D-4E57-850B-78E0D727C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1C733-75AA-40FE-8179-B58FA4EA5E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C4D2E-FA87-41DA-961F-7D250DD08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20F2E-2A86-4F16-B83F-E86E73199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104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5B458-3AE6-4C21-BEBE-F7B760619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FF206-47D4-451B-80B7-578E10A3E6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2DF79-B13E-46C5-AAA1-F49C3BABAB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99702-3758-423C-8C91-550D5C885D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17/06/2021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55CC31-BF31-4EB1-8B54-2DD0D6BE7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EFAF2-4586-4670-8EF7-78067B187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6154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05FA2-A60C-405C-A307-880C049CB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70388-4034-4A46-8B98-D37491E01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C39A8B-6B00-4329-AC44-AD6EBE236E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5DFF08-1C59-4E60-A964-4D4A369007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548497-A585-4527-B8A6-BB01B9FBC4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C2D4B-BCC3-48CF-B358-D817886727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17/06/2021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93C415-FAAE-444A-BBA1-9059E1C45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C512DB-E555-4910-92DC-7AB19F87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74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D8A33-5CA5-4826-9B83-0B2F6A50C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7C1E61-1B5E-44DC-BC0F-2F956B04C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17/06/2021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A212BA-9EF0-4463-A9C0-997D55720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50D64F-9F3A-43FB-A563-07763EE16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9599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739767-A677-43FB-A13E-C6E76D21E1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17/06/2021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A103BA-C2DE-41DE-842B-306DECB78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320D2-03FC-47A8-B437-7B7CEBDD6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7179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B20E6-8664-4FD7-A9B2-0B5C17E86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5017E-7CE6-4AFE-8756-092A85840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5C17A6-B2E1-42BB-9629-032C80545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1DC4D7-18F9-4992-BB61-15FA97A529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17/06/2021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B52144-EB56-46FB-8C3D-7A8702354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142B02-C27D-4AC0-9DE7-A653F338F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5581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FD8A0-DA8A-463F-AC82-9A3D896B8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B553CB-6BB8-4D69-8270-E69093C148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0E0B06-F972-42E3-B94A-6BA4824458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FCFE24-5759-425E-A7E5-6EAACD13BA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17/06/2021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458F3E-34B5-48AA-B148-66ED69F30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33722-4E46-4BF0-841D-DC92DCB48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3194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A43C2-4F61-40F8-A06C-596F42B7D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12D4A7-8F4B-484D-90BE-4A6A303F6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E0C66-2DCD-4454-98BE-EE8ADD1D79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655C5-A5ED-4766-97E4-846A80536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DFEEA-B282-4D56-A557-4193031EB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1290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1B7A8B-8DD3-4239-8EA1-8739462541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21B91-126F-434B-86F2-89E6778E91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FCCA6-FBA0-4A4B-97BC-8B2465C018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7EED6-4B0F-4C58-A54B-C4F0F72D7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49905-D4AB-4930-9B2A-6E8E550A0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111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B9995C-D844-455E-9E19-BF66C81EF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204189-41E9-4E09-B418-B033E7F14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D739203-7E29-BA40-9D51-8F9968799BF3}"/>
              </a:ext>
            </a:extLst>
          </p:cNvPr>
          <p:cNvSpPr txBox="1">
            <a:spLocks/>
          </p:cNvSpPr>
          <p:nvPr userDrawn="1"/>
        </p:nvSpPr>
        <p:spPr>
          <a:xfrm>
            <a:off x="7547114" y="6380197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200" dirty="0"/>
              <a:t>© Hodder &amp; Stoughton Limited 2021</a:t>
            </a:r>
          </a:p>
        </p:txBody>
      </p:sp>
      <p:pic>
        <p:nvPicPr>
          <p:cNvPr id="10" name="Picture 9" descr="A picture containing text, tool&#10;&#10;Description automatically generated">
            <a:extLst>
              <a:ext uri="{FF2B5EF4-FFF2-40B4-BE49-F238E27FC236}">
                <a16:creationId xmlns:a16="http://schemas.microsoft.com/office/drawing/2014/main" id="{D732EF40-B59C-F244-AAD1-54CD7DE5EBD6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2928"/>
            <a:ext cx="12192000" cy="165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774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2B9C3-E44C-4313-895D-D43DD1C92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917" y="2306361"/>
            <a:ext cx="11202648" cy="915850"/>
          </a:xfrm>
        </p:spPr>
        <p:txBody>
          <a:bodyPr>
            <a:normAutofit/>
          </a:bodyPr>
          <a:lstStyle/>
          <a:p>
            <a:pPr algn="l"/>
            <a:r>
              <a:rPr lang="en-GB" b="1" dirty="0"/>
              <a:t>Programming in Python</a:t>
            </a:r>
            <a:r>
              <a:rPr lang="en-GB" b="1"/>
              <a:t>: iteration </a:t>
            </a:r>
            <a:endParaRPr lang="en-GB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46DB13-257C-4484-9CB0-C755672B55D3}"/>
              </a:ext>
            </a:extLst>
          </p:cNvPr>
          <p:cNvSpPr/>
          <p:nvPr/>
        </p:nvSpPr>
        <p:spPr>
          <a:xfrm>
            <a:off x="4859742" y="3332524"/>
            <a:ext cx="347794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b="1" dirty="0">
                <a:solidFill>
                  <a:srgbClr val="B612AD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Lesson 3: For loops and strings </a:t>
            </a:r>
            <a:endParaRPr lang="en-GB" sz="2000" b="1" dirty="0">
              <a:solidFill>
                <a:srgbClr val="B612AD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3800F9-5D41-D44C-BFEE-1DA26B97A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7682" y="3332524"/>
            <a:ext cx="2937413" cy="24439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54316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C4667-2A3C-4536-9386-00402F3C6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322" y="834887"/>
            <a:ext cx="9634330" cy="766349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30BE0A-41D5-4110-A78D-A6ACD33DE78B}"/>
              </a:ext>
            </a:extLst>
          </p:cNvPr>
          <p:cNvSpPr/>
          <p:nvPr/>
        </p:nvSpPr>
        <p:spPr>
          <a:xfrm>
            <a:off x="1580323" y="1907372"/>
            <a:ext cx="8338930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GB" sz="3200" dirty="0">
                <a:ea typeface="Times New Roman" panose="02020603050405020304" pitchFamily="18" charset="0"/>
              </a:rPr>
              <a:t>In this lesson, you will learn how to:</a:t>
            </a: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800" dirty="0">
                <a:latin typeface="Calibri" panose="020F0502020204030204" pitchFamily="34" charset="0"/>
                <a:ea typeface="Times New Roman" panose="02020603050405020304" pitchFamily="18" charset="0"/>
              </a:rPr>
              <a:t>use for loops to manipulate strings</a:t>
            </a: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800" dirty="0">
                <a:latin typeface="Calibri" panose="020F0502020204030204" pitchFamily="34" charset="0"/>
                <a:ea typeface="Times New Roman" panose="02020603050405020304" pitchFamily="18" charset="0"/>
              </a:rPr>
              <a:t>design and write programs in Python to manipulate strings using for loops.</a:t>
            </a:r>
          </a:p>
        </p:txBody>
      </p:sp>
    </p:spTree>
    <p:extLst>
      <p:ext uri="{BB962C8B-B14F-4D97-AF65-F5344CB8AC3E}">
        <p14:creationId xmlns:p14="http://schemas.microsoft.com/office/powerpoint/2010/main" val="1699810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905C-00CB-4FC9-83B7-66A2E3C07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322" y="795130"/>
            <a:ext cx="9773478" cy="84586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Strings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7D688D-6018-EE4C-B710-8696313FFCCC}"/>
              </a:ext>
            </a:extLst>
          </p:cNvPr>
          <p:cNvSpPr/>
          <p:nvPr/>
        </p:nvSpPr>
        <p:spPr>
          <a:xfrm>
            <a:off x="1580322" y="2272244"/>
            <a:ext cx="7563678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Look at this code:</a:t>
            </a:r>
          </a:p>
          <a:p>
            <a:r>
              <a:rPr lang="en-GB" sz="2400" dirty="0">
                <a:latin typeface="Courier" pitchFamily="2" charset="0"/>
              </a:rPr>
              <a:t>text = 'Python programming'</a:t>
            </a:r>
          </a:p>
          <a:p>
            <a:r>
              <a:rPr lang="en-GB" sz="2400" dirty="0"/>
              <a:t>The variable </a:t>
            </a:r>
            <a:r>
              <a:rPr lang="en-GB" sz="2400" dirty="0">
                <a:latin typeface="Courier" pitchFamily="2" charset="0"/>
              </a:rPr>
              <a:t>text</a:t>
            </a:r>
            <a:r>
              <a:rPr lang="en-GB" sz="2400" dirty="0"/>
              <a:t> is a </a:t>
            </a:r>
            <a:r>
              <a:rPr lang="en-GB" sz="2400" b="1" dirty="0">
                <a:solidFill>
                  <a:srgbClr val="B612AD"/>
                </a:solidFill>
              </a:rPr>
              <a:t>string</a:t>
            </a:r>
            <a:r>
              <a:rPr lang="en-GB" sz="2400" dirty="0"/>
              <a:t>.</a:t>
            </a:r>
          </a:p>
          <a:p>
            <a:r>
              <a:rPr lang="en-GB" sz="2400" dirty="0"/>
              <a:t>Each character in the string can be identified by an index value and we start counting at </a:t>
            </a:r>
            <a:r>
              <a:rPr lang="en-GB" sz="2400" dirty="0">
                <a:latin typeface="Courier" pitchFamily="2" charset="0"/>
              </a:rPr>
              <a:t>0</a:t>
            </a:r>
            <a:r>
              <a:rPr lang="en-GB" sz="2400" dirty="0"/>
              <a:t> in Python.</a:t>
            </a:r>
          </a:p>
          <a:p>
            <a:endParaRPr lang="en-GB" dirty="0"/>
          </a:p>
          <a:p>
            <a:pPr marL="342900" indent="-342900">
              <a:buFont typeface="+mj-lt"/>
              <a:buAutoNum type="arabicPeriod"/>
            </a:pPr>
            <a:r>
              <a:rPr lang="en-GB" sz="2400" dirty="0"/>
              <a:t>What character is </a:t>
            </a:r>
            <a:r>
              <a:rPr lang="en-GB" sz="2400" dirty="0">
                <a:latin typeface="Courier" pitchFamily="2" charset="0"/>
              </a:rPr>
              <a:t>text[1]</a:t>
            </a:r>
            <a:r>
              <a:rPr lang="en-GB" sz="2400" dirty="0"/>
              <a:t>?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400" dirty="0"/>
              <a:t>What character is </a:t>
            </a:r>
            <a:r>
              <a:rPr lang="en-GB" sz="2400" dirty="0">
                <a:latin typeface="Courier" pitchFamily="2" charset="0"/>
              </a:rPr>
              <a:t>text[7]</a:t>
            </a:r>
            <a:r>
              <a:rPr lang="en-GB" sz="2400" dirty="0"/>
              <a:t>?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400" dirty="0"/>
              <a:t>How would you return the character </a:t>
            </a:r>
            <a:r>
              <a:rPr lang="en-GB" sz="2400" dirty="0">
                <a:latin typeface="Courier" pitchFamily="2" charset="0"/>
              </a:rPr>
              <a:t>h</a:t>
            </a:r>
            <a:r>
              <a:rPr lang="en-GB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166166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67D688D-6018-EE4C-B710-8696313FFCCC}"/>
              </a:ext>
            </a:extLst>
          </p:cNvPr>
          <p:cNvSpPr/>
          <p:nvPr/>
        </p:nvSpPr>
        <p:spPr>
          <a:xfrm>
            <a:off x="1580322" y="1894557"/>
            <a:ext cx="96012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text = 'Python programming’</a:t>
            </a:r>
          </a:p>
          <a:p>
            <a:endParaRPr lang="en-GB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length of a string can be found using </a:t>
            </a:r>
            <a:r>
              <a:rPr lang="en-GB" sz="2800" dirty="0" err="1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len</a:t>
            </a:r>
            <a:r>
              <a:rPr lang="en-GB" sz="2800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en-GB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will </a:t>
            </a:r>
            <a:r>
              <a:rPr lang="en-GB" sz="2800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print(</a:t>
            </a:r>
            <a:r>
              <a:rPr lang="en-GB" sz="2800" dirty="0" err="1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len</a:t>
            </a:r>
            <a:r>
              <a:rPr lang="en-GB" sz="2800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('</a:t>
            </a:r>
            <a:r>
              <a:rPr lang="en-GB" sz="2800" dirty="0" err="1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mystring</a:t>
            </a:r>
            <a:r>
              <a:rPr lang="en-GB" sz="2800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'))</a:t>
            </a: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output?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</a:t>
            </a:r>
            <a:r>
              <a:rPr lang="en-GB" sz="28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will </a:t>
            </a:r>
            <a:r>
              <a:rPr lang="en-GB" sz="280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2800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2800" dirty="0" err="1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len</a:t>
            </a:r>
            <a:r>
              <a:rPr lang="en-GB" sz="2800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(text))</a:t>
            </a: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output?</a:t>
            </a:r>
          </a:p>
        </p:txBody>
      </p:sp>
    </p:spTree>
    <p:extLst>
      <p:ext uri="{BB962C8B-B14F-4D97-AF65-F5344CB8AC3E}">
        <p14:creationId xmlns:p14="http://schemas.microsoft.com/office/powerpoint/2010/main" val="1468400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67D688D-6018-EE4C-B710-8696313FFCCC}"/>
              </a:ext>
            </a:extLst>
          </p:cNvPr>
          <p:cNvSpPr/>
          <p:nvPr/>
        </p:nvSpPr>
        <p:spPr>
          <a:xfrm>
            <a:off x="1580322" y="1894557"/>
            <a:ext cx="96012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dirty="0">
                <a:ea typeface="Calibri" panose="020F0502020204030204" pitchFamily="34" charset="0"/>
                <a:cs typeface="Times New Roman" panose="02020603050405020304" pitchFamily="18" charset="0"/>
              </a:rPr>
              <a:t>We can join strings using concatenation. The </a:t>
            </a:r>
            <a:r>
              <a:rPr lang="en-GB" sz="2800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  <a:r>
              <a:rPr lang="en-GB" sz="2800" dirty="0">
                <a:ea typeface="Calibri" panose="020F0502020204030204" pitchFamily="34" charset="0"/>
                <a:cs typeface="Times New Roman" panose="02020603050405020304" pitchFamily="18" charset="0"/>
              </a:rPr>
              <a:t> combines strings inside quotes and strings stored as variables.</a:t>
            </a:r>
          </a:p>
          <a:p>
            <a:endParaRPr lang="en-GB" sz="28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2800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text1 = 'Progress’</a:t>
            </a:r>
          </a:p>
          <a:p>
            <a:r>
              <a:rPr lang="en-GB" sz="2800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text2 = 'Key Stage 3’</a:t>
            </a:r>
          </a:p>
          <a:p>
            <a:endParaRPr lang="en-GB" sz="2800" dirty="0">
              <a:latin typeface="Courier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GB" sz="2800" dirty="0">
                <a:ea typeface="Calibri" panose="020F0502020204030204" pitchFamily="34" charset="0"/>
                <a:cs typeface="Times New Roman" panose="02020603050405020304" pitchFamily="18" charset="0"/>
              </a:rPr>
              <a:t>What will </a:t>
            </a:r>
            <a:r>
              <a:rPr lang="en-GB" sz="2800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print(text1 + ' at ' + text2)</a:t>
            </a:r>
            <a:r>
              <a:rPr lang="en-GB" sz="2800" dirty="0">
                <a:ea typeface="Calibri" panose="020F0502020204030204" pitchFamily="34" charset="0"/>
                <a:cs typeface="Times New Roman" panose="02020603050405020304" pitchFamily="18" charset="0"/>
              </a:rPr>
              <a:t> output?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>
                <a:ea typeface="Calibri" panose="020F0502020204030204" pitchFamily="34" charset="0"/>
                <a:cs typeface="Times New Roman" panose="02020603050405020304" pitchFamily="18" charset="0"/>
              </a:rPr>
              <a:t>What will </a:t>
            </a:r>
            <a:r>
              <a:rPr lang="en-GB" sz="2800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print(text1[0] + text1[5] + text2[5])</a:t>
            </a:r>
            <a:r>
              <a:rPr lang="en-GB" sz="2800" dirty="0">
                <a:ea typeface="Calibri" panose="020F0502020204030204" pitchFamily="34" charset="0"/>
                <a:cs typeface="Times New Roman" panose="02020603050405020304" pitchFamily="18" charset="0"/>
              </a:rPr>
              <a:t> output?</a:t>
            </a:r>
          </a:p>
        </p:txBody>
      </p:sp>
    </p:spTree>
    <p:extLst>
      <p:ext uri="{BB962C8B-B14F-4D97-AF65-F5344CB8AC3E}">
        <p14:creationId xmlns:p14="http://schemas.microsoft.com/office/powerpoint/2010/main" val="2863519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0382" y="834887"/>
            <a:ext cx="10621618" cy="785191"/>
          </a:xfrm>
        </p:spPr>
        <p:txBody>
          <a:bodyPr>
            <a:normAutofit fontScale="90000"/>
          </a:bodyPr>
          <a:lstStyle/>
          <a:p>
            <a:r>
              <a:rPr lang="en-GB" sz="4000" b="1" dirty="0">
                <a:solidFill>
                  <a:schemeClr val="bg1"/>
                </a:solidFill>
              </a:rPr>
              <a:t>Activity 3.1: Programming in Python: iteration, Section 3</a:t>
            </a:r>
            <a:endParaRPr lang="en-GB" b="1" dirty="0">
              <a:solidFill>
                <a:schemeClr val="bg1"/>
              </a:solidFill>
            </a:endParaRPr>
          </a:p>
        </p:txBody>
      </p:sp>
      <p:pic>
        <p:nvPicPr>
          <p:cNvPr id="4" name="Picture 3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3A684A42-4D0D-4C65-BEA7-CBE7C46A90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553" y="1982234"/>
            <a:ext cx="4410894" cy="4321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87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E36AC-12A9-4A2C-9D8A-8D001EE0D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322" y="824948"/>
            <a:ext cx="9773478" cy="77525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Question 1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CC13E-1871-4787-BADF-14253538B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0321" y="2019942"/>
            <a:ext cx="977347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What is printed when this code is run?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0460A1-07E5-4FBE-9D19-6A257F06B890}"/>
              </a:ext>
            </a:extLst>
          </p:cNvPr>
          <p:cNvSpPr/>
          <p:nvPr/>
        </p:nvSpPr>
        <p:spPr>
          <a:xfrm>
            <a:off x="1580320" y="4661229"/>
            <a:ext cx="340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GB" sz="2400" dirty="0"/>
              <a:t>8</a:t>
            </a:r>
            <a:endParaRPr lang="en-GB" sz="2400" dirty="0">
              <a:latin typeface="Courier" pitchFamily="2" charset="0"/>
              <a:ea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701AA7-A513-5543-9F7E-0263533BEFFA}"/>
              </a:ext>
            </a:extLst>
          </p:cNvPr>
          <p:cNvSpPr/>
          <p:nvPr/>
        </p:nvSpPr>
        <p:spPr>
          <a:xfrm>
            <a:off x="1580320" y="2461301"/>
            <a:ext cx="2396810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>
                <a:latin typeface="Courier" pitchFamily="2" charset="0"/>
              </a:rPr>
              <a:t>num1 = 3</a:t>
            </a:r>
          </a:p>
          <a:p>
            <a:r>
              <a:rPr lang="en-GB" sz="2400" dirty="0">
                <a:latin typeface="Courier" pitchFamily="2" charset="0"/>
              </a:rPr>
              <a:t>num2 = 5</a:t>
            </a:r>
          </a:p>
          <a:p>
            <a:r>
              <a:rPr lang="en-GB" sz="2400" dirty="0">
                <a:latin typeface="Courier" pitchFamily="2" charset="0"/>
              </a:rPr>
              <a:t>num1 += num2</a:t>
            </a:r>
          </a:p>
          <a:p>
            <a:r>
              <a:rPr lang="en-GB" sz="2400" dirty="0">
                <a:latin typeface="Courier" pitchFamily="2" charset="0"/>
              </a:rPr>
              <a:t>print(num1)</a:t>
            </a:r>
          </a:p>
        </p:txBody>
      </p:sp>
    </p:spTree>
    <p:extLst>
      <p:ext uri="{BB962C8B-B14F-4D97-AF65-F5344CB8AC3E}">
        <p14:creationId xmlns:p14="http://schemas.microsoft.com/office/powerpoint/2010/main" val="1412272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E36AC-12A9-4A2C-9D8A-8D001EE0D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322" y="824948"/>
            <a:ext cx="9773478" cy="77525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Question 2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CC13E-1871-4787-BADF-14253538B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0321" y="2019942"/>
            <a:ext cx="977347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What is printed when this code is run?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0460A1-07E5-4FBE-9D19-6A257F06B890}"/>
              </a:ext>
            </a:extLst>
          </p:cNvPr>
          <p:cNvSpPr/>
          <p:nvPr/>
        </p:nvSpPr>
        <p:spPr>
          <a:xfrm>
            <a:off x="1580320" y="4661229"/>
            <a:ext cx="20281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 err="1">
                <a:latin typeface="Courier" pitchFamily="2" charset="0"/>
                <a:ea typeface="Times New Roman" panose="02020603050405020304" pitchFamily="18" charset="0"/>
              </a:rPr>
              <a:t>catdogdog</a:t>
            </a:r>
            <a:r>
              <a:rPr lang="en-GB" sz="2400" dirty="0">
                <a:latin typeface="Courier" pitchFamily="2" charset="0"/>
                <a:ea typeface="Times New Roman" panose="02020603050405020304" pitchFamily="18" charset="0"/>
              </a:rPr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701AA7-A513-5543-9F7E-0263533BEFFA}"/>
              </a:ext>
            </a:extLst>
          </p:cNvPr>
          <p:cNvSpPr/>
          <p:nvPr/>
        </p:nvSpPr>
        <p:spPr>
          <a:xfrm>
            <a:off x="1580320" y="2461301"/>
            <a:ext cx="4055919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>
                <a:latin typeface="Courier" pitchFamily="2" charset="0"/>
              </a:rPr>
              <a:t>text = 'cat'</a:t>
            </a:r>
          </a:p>
          <a:p>
            <a:r>
              <a:rPr lang="en-GB" sz="2400" dirty="0">
                <a:latin typeface="Courier" pitchFamily="2" charset="0"/>
              </a:rPr>
              <a:t>for i in range(1, 3):</a:t>
            </a:r>
          </a:p>
          <a:p>
            <a:r>
              <a:rPr lang="en-GB" sz="2400" dirty="0">
                <a:latin typeface="Courier" pitchFamily="2" charset="0"/>
              </a:rPr>
              <a:t>    text += 'dog'</a:t>
            </a:r>
          </a:p>
          <a:p>
            <a:r>
              <a:rPr lang="en-GB" sz="2400" dirty="0">
                <a:latin typeface="Courier" pitchFamily="2" charset="0"/>
              </a:rPr>
              <a:t>print(text)</a:t>
            </a:r>
          </a:p>
        </p:txBody>
      </p:sp>
    </p:spTree>
    <p:extLst>
      <p:ext uri="{BB962C8B-B14F-4D97-AF65-F5344CB8AC3E}">
        <p14:creationId xmlns:p14="http://schemas.microsoft.com/office/powerpoint/2010/main" val="1705449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E36AC-12A9-4A2C-9D8A-8D001EE0D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322" y="824948"/>
            <a:ext cx="9773478" cy="77525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Question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CC13E-1871-4787-BADF-14253538B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0321" y="2019942"/>
            <a:ext cx="8269357" cy="4351338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sz="1800" dirty="0"/>
              <a:t>What is printed when this code is run and the user enters &lt;code&gt;Secret&lt;/code&gt;?</a:t>
            </a:r>
          </a:p>
          <a:p>
            <a:pPr marL="0" indent="0">
              <a:buNone/>
            </a:pPr>
            <a:r>
              <a:rPr lang="en-GB" sz="1800" dirty="0">
                <a:latin typeface="Courier" pitchFamily="2" charset="0"/>
              </a:rPr>
              <a:t>word = input('Enter a word: ')</a:t>
            </a:r>
          </a:p>
          <a:p>
            <a:pPr marL="0" indent="0">
              <a:buNone/>
            </a:pPr>
            <a:r>
              <a:rPr lang="en-GB" sz="1800" dirty="0" err="1">
                <a:latin typeface="Courier" pitchFamily="2" charset="0"/>
              </a:rPr>
              <a:t>newword</a:t>
            </a:r>
            <a:r>
              <a:rPr lang="en-GB" sz="1800" dirty="0">
                <a:latin typeface="Courier" pitchFamily="2" charset="0"/>
              </a:rPr>
              <a:t> = ''</a:t>
            </a:r>
          </a:p>
          <a:p>
            <a:pPr marL="0" indent="0">
              <a:buNone/>
            </a:pPr>
            <a:r>
              <a:rPr lang="en-GB" sz="1800" dirty="0">
                <a:latin typeface="Courier" pitchFamily="2" charset="0"/>
              </a:rPr>
              <a:t>for i in range(0, </a:t>
            </a:r>
            <a:r>
              <a:rPr lang="en-GB" sz="1800" dirty="0" err="1">
                <a:latin typeface="Courier" pitchFamily="2" charset="0"/>
              </a:rPr>
              <a:t>len</a:t>
            </a:r>
            <a:r>
              <a:rPr lang="en-GB" sz="1800" dirty="0">
                <a:latin typeface="Courier" pitchFamily="2" charset="0"/>
              </a:rPr>
              <a:t>(word)):</a:t>
            </a:r>
          </a:p>
          <a:p>
            <a:pPr marL="0" indent="0">
              <a:buNone/>
            </a:pPr>
            <a:r>
              <a:rPr lang="en-GB" sz="1800" dirty="0">
                <a:latin typeface="Courier" pitchFamily="2" charset="0"/>
              </a:rPr>
              <a:t>    </a:t>
            </a:r>
            <a:r>
              <a:rPr lang="en-GB" sz="1800" dirty="0" err="1">
                <a:latin typeface="Courier" pitchFamily="2" charset="0"/>
              </a:rPr>
              <a:t>newword</a:t>
            </a:r>
            <a:r>
              <a:rPr lang="en-GB" sz="1800" dirty="0">
                <a:latin typeface="Courier" pitchFamily="2" charset="0"/>
              </a:rPr>
              <a:t> += '*'</a:t>
            </a:r>
          </a:p>
          <a:p>
            <a:pPr marL="0" indent="0">
              <a:buNone/>
            </a:pPr>
            <a:r>
              <a:rPr lang="en-GB" sz="1800" dirty="0">
                <a:latin typeface="Courier" pitchFamily="2" charset="0"/>
              </a:rPr>
              <a:t>print(</a:t>
            </a:r>
            <a:r>
              <a:rPr lang="en-GB" sz="1800" dirty="0" err="1">
                <a:latin typeface="Courier" pitchFamily="2" charset="0"/>
              </a:rPr>
              <a:t>newword</a:t>
            </a:r>
            <a:r>
              <a:rPr lang="en-GB" sz="1800" dirty="0">
                <a:latin typeface="Courier" pitchFamily="2" charset="0"/>
              </a:rPr>
              <a:t>)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BA88D0-8E21-624D-839C-133E10A736EC}"/>
              </a:ext>
            </a:extLst>
          </p:cNvPr>
          <p:cNvSpPr/>
          <p:nvPr/>
        </p:nvSpPr>
        <p:spPr>
          <a:xfrm>
            <a:off x="1580321" y="4195611"/>
            <a:ext cx="18188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ourier" pitchFamily="2" charset="0"/>
              </a:rPr>
              <a:t>******</a:t>
            </a:r>
            <a:r>
              <a:rPr lang="en-GB" sz="2400" dirty="0">
                <a:latin typeface="Courier" pitchFamily="2" charset="0"/>
              </a:rPr>
              <a:t> </a:t>
            </a:r>
            <a:endParaRPr lang="en-GB" dirty="0">
              <a:latin typeface="Courier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3F6657-1C24-F042-A5CD-1D29FC92FDF7}"/>
              </a:ext>
            </a:extLst>
          </p:cNvPr>
          <p:cNvSpPr/>
          <p:nvPr/>
        </p:nvSpPr>
        <p:spPr>
          <a:xfrm>
            <a:off x="1580321" y="4657276"/>
            <a:ext cx="912412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   What is printed if we change the third line to </a:t>
            </a:r>
            <a:r>
              <a:rPr lang="en-GB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for i in range(0, </a:t>
            </a:r>
            <a:r>
              <a:rPr lang="en-GB" dirty="0" err="1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len</a:t>
            </a:r>
            <a:r>
              <a:rPr lang="en-GB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(word) ,2):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the user enters </a:t>
            </a:r>
            <a:r>
              <a:rPr lang="en-GB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Secret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0893C4-0624-3C4E-BC42-65848E009871}"/>
              </a:ext>
            </a:extLst>
          </p:cNvPr>
          <p:cNvSpPr/>
          <p:nvPr/>
        </p:nvSpPr>
        <p:spPr>
          <a:xfrm>
            <a:off x="1580321" y="5468111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***</a:t>
            </a:r>
            <a:r>
              <a:rPr lang="en-GB" dirty="0">
                <a:latin typeface="Courier" pitchFamily="2" charset="0"/>
              </a:rPr>
              <a:t> </a:t>
            </a:r>
            <a:endParaRPr lang="en-US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6816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B4D36-2121-417F-8DFB-DF55C2380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0260" y="805070"/>
            <a:ext cx="9763539" cy="805069"/>
          </a:xfrm>
        </p:spPr>
        <p:txBody>
          <a:bodyPr/>
          <a:lstStyle/>
          <a:p>
            <a:r>
              <a:rPr lang="en-GB" b="1">
                <a:solidFill>
                  <a:schemeClr val="bg1"/>
                </a:solidFill>
              </a:rPr>
              <a:t>Quiz 3</a:t>
            </a:r>
            <a:endParaRPr lang="en-GB" b="1" dirty="0">
              <a:solidFill>
                <a:schemeClr val="bg1"/>
              </a:solidFill>
            </a:endParaRPr>
          </a:p>
        </p:txBody>
      </p:sp>
      <p:pic>
        <p:nvPicPr>
          <p:cNvPr id="4" name="Picture 3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A3D4B7EE-EEE3-4670-95B3-420A468720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553" y="1982234"/>
            <a:ext cx="4410894" cy="4321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24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</TotalTime>
  <Words>354</Words>
  <Application>Microsoft Office PowerPoint</Application>
  <PresentationFormat>Widescreen</PresentationFormat>
  <Paragraphs>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Courier</vt:lpstr>
      <vt:lpstr>Symbol</vt:lpstr>
      <vt:lpstr>Office Theme</vt:lpstr>
      <vt:lpstr>Programming in Python: iteration </vt:lpstr>
      <vt:lpstr>Objectives</vt:lpstr>
      <vt:lpstr>Strings </vt:lpstr>
      <vt:lpstr>PowerPoint Presentation</vt:lpstr>
      <vt:lpstr>PowerPoint Presentation</vt:lpstr>
      <vt:lpstr>Activity 3.1: Programming in Python: iteration, Section 3</vt:lpstr>
      <vt:lpstr>Question 1 </vt:lpstr>
      <vt:lpstr>Question 2 </vt:lpstr>
      <vt:lpstr>Question 3</vt:lpstr>
      <vt:lpstr>Quiz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Introducing spreadsheets</dc:title>
  <dc:creator>Lea Albrechtsen</dc:creator>
  <cp:lastModifiedBy>Lea Albrechtsen</cp:lastModifiedBy>
  <cp:revision>38</cp:revision>
  <dcterms:created xsi:type="dcterms:W3CDTF">2020-11-04T15:22:46Z</dcterms:created>
  <dcterms:modified xsi:type="dcterms:W3CDTF">2021-06-17T14:06:22Z</dcterms:modified>
</cp:coreProperties>
</file>