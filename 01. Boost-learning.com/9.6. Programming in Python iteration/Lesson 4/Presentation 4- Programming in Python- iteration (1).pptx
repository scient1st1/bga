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66" r:id="rId6"/>
    <p:sldId id="267" r:id="rId7"/>
    <p:sldId id="275" r:id="rId8"/>
    <p:sldId id="276" r:id="rId9"/>
    <p:sldId id="277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12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3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10" name="Picture 9" descr="A picture containing text, tool&#10;&#10;Description automatically generated">
            <a:extLst>
              <a:ext uri="{FF2B5EF4-FFF2-40B4-BE49-F238E27FC236}">
                <a16:creationId xmlns:a16="http://schemas.microsoft.com/office/drawing/2014/main" id="{D732EF40-B59C-F244-AAD1-54CD7DE5EBD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928"/>
            <a:ext cx="12192000" cy="165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917" y="2306361"/>
            <a:ext cx="11202648" cy="915850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Programming in Python</a:t>
            </a:r>
            <a:r>
              <a:rPr lang="en-GB" b="1"/>
              <a:t>: iteration </a:t>
            </a:r>
            <a:endParaRPr lang="en-GB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4631541" y="3332524"/>
            <a:ext cx="318939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b="1" dirty="0">
                <a:solidFill>
                  <a:srgbClr val="B612AD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4: For loops and lists</a:t>
            </a:r>
          </a:p>
          <a:p>
            <a:endParaRPr lang="en-GB" sz="2000" b="1" dirty="0">
              <a:solidFill>
                <a:srgbClr val="B612AD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endParaRPr lang="en-GB" sz="2000" b="1" dirty="0">
              <a:solidFill>
                <a:srgbClr val="B612AD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3800F9-5D41-D44C-BFEE-1DA26B97A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682" y="3332524"/>
            <a:ext cx="2937413" cy="24439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34887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580322" y="2116093"/>
            <a:ext cx="7702826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ea typeface="Times New Roman" panose="02020603050405020304" pitchFamily="18" charset="0"/>
              </a:rPr>
              <a:t>In this lesson, you will learn how to: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use lists with for loops 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</a:rPr>
              <a:t>design and write programs in Python that use for loops to work with lists.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795130"/>
            <a:ext cx="9773478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Lists</a:t>
            </a:r>
            <a:r>
              <a:rPr lang="en-GB" dirty="0">
                <a:solidFill>
                  <a:schemeClr val="bg1"/>
                </a:solidFill>
              </a:rPr>
              <a:t>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7D688D-6018-EE4C-B710-8696313FFCCC}"/>
              </a:ext>
            </a:extLst>
          </p:cNvPr>
          <p:cNvSpPr/>
          <p:nvPr/>
        </p:nvSpPr>
        <p:spPr>
          <a:xfrm>
            <a:off x="1580322" y="1944252"/>
            <a:ext cx="951174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A </a:t>
            </a:r>
            <a:r>
              <a:rPr lang="en-GB" sz="2000" b="1" dirty="0">
                <a:solidFill>
                  <a:srgbClr val="B612AD"/>
                </a:solidFill>
              </a:rPr>
              <a:t>list</a:t>
            </a:r>
            <a:r>
              <a:rPr lang="en-GB" sz="2000" dirty="0"/>
              <a:t> is a data container that uses a single identifier to store several data items.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A list contains elements, separated by commas, inside square brackets. Each element in a list is identified by an index value and we start counting at </a:t>
            </a:r>
            <a:r>
              <a:rPr lang="en-GB" sz="2000" dirty="0">
                <a:latin typeface="Courier" pitchFamily="2" charset="0"/>
              </a:rPr>
              <a:t>0</a:t>
            </a:r>
            <a:r>
              <a:rPr lang="en-GB" sz="2000" dirty="0"/>
              <a:t> in Python.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The number of items in the list can be found using </a:t>
            </a:r>
            <a:r>
              <a:rPr lang="en-GB" sz="2000" dirty="0" err="1">
                <a:latin typeface="Courier" pitchFamily="2" charset="0"/>
              </a:rPr>
              <a:t>len</a:t>
            </a:r>
            <a:r>
              <a:rPr lang="en-GB" sz="2000" dirty="0">
                <a:latin typeface="Courier" pitchFamily="2" charset="0"/>
              </a:rPr>
              <a:t>()</a:t>
            </a:r>
            <a:r>
              <a:rPr lang="en-GB" sz="2000" dirty="0"/>
              <a:t>.</a:t>
            </a:r>
          </a:p>
          <a:p>
            <a:endParaRPr lang="en-GB" sz="2000" dirty="0"/>
          </a:p>
          <a:p>
            <a:r>
              <a:rPr lang="en-GB" sz="2000" dirty="0"/>
              <a:t>Look at this code: </a:t>
            </a:r>
            <a:r>
              <a:rPr lang="en-GB" sz="2000" dirty="0">
                <a:latin typeface="Courier" pitchFamily="2" charset="0"/>
              </a:rPr>
              <a:t>fruits = ['Damson', 'Pear', 'Orange', 'Apple', 'Kiwi’]</a:t>
            </a:r>
          </a:p>
          <a:p>
            <a:endParaRPr lang="en-GB" sz="2000" dirty="0">
              <a:latin typeface="Courier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What is </a:t>
            </a:r>
            <a:r>
              <a:rPr lang="en-GB" sz="2000" dirty="0">
                <a:latin typeface="Courier" pitchFamily="2" charset="0"/>
              </a:rPr>
              <a:t>fruit[2]</a:t>
            </a:r>
            <a:r>
              <a:rPr lang="en-GB" sz="2000" dirty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What is </a:t>
            </a:r>
            <a:r>
              <a:rPr lang="en-GB" sz="2000" dirty="0">
                <a:latin typeface="Courier" pitchFamily="2" charset="0"/>
              </a:rPr>
              <a:t>fruit[4]</a:t>
            </a:r>
            <a:r>
              <a:rPr lang="en-GB" sz="2000" dirty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How would you get the program to return the fruit </a:t>
            </a:r>
            <a:r>
              <a:rPr lang="en-GB" sz="2000" dirty="0">
                <a:latin typeface="Courier" pitchFamily="2" charset="0"/>
              </a:rPr>
              <a:t>Damson</a:t>
            </a:r>
            <a:r>
              <a:rPr lang="en-GB" sz="2000" dirty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What will </a:t>
            </a:r>
            <a:r>
              <a:rPr lang="en-GB" sz="2000" dirty="0">
                <a:latin typeface="Courier" pitchFamily="2" charset="0"/>
              </a:rPr>
              <a:t>print(</a:t>
            </a:r>
            <a:r>
              <a:rPr lang="en-GB" sz="2000" dirty="0" err="1">
                <a:latin typeface="Courier" pitchFamily="2" charset="0"/>
              </a:rPr>
              <a:t>len</a:t>
            </a:r>
            <a:r>
              <a:rPr lang="en-GB" sz="2000" dirty="0">
                <a:latin typeface="Courier" pitchFamily="2" charset="0"/>
              </a:rPr>
              <a:t>(fruits))</a:t>
            </a:r>
            <a:r>
              <a:rPr lang="en-GB" sz="2000" dirty="0"/>
              <a:t> output?</a:t>
            </a:r>
          </a:p>
        </p:txBody>
      </p:sp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795130"/>
            <a:ext cx="9773478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For loops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7D688D-6018-EE4C-B710-8696313FFCCC}"/>
              </a:ext>
            </a:extLst>
          </p:cNvPr>
          <p:cNvSpPr/>
          <p:nvPr/>
        </p:nvSpPr>
        <p:spPr>
          <a:xfrm>
            <a:off x="1580322" y="1894557"/>
            <a:ext cx="913406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for loop must have two parameters and can have three.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first tells the loop where to start counting.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second tells the loop how many times the action should be completed. This needs to be one more than the number of times the action should be completed.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third, if it is included, is the step value, which tells the loop how many to step each time.</a:t>
            </a:r>
          </a:p>
          <a:p>
            <a:r>
              <a:rPr lang="en-GB" sz="2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</a:t>
            </a: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will the following code output? </a:t>
            </a:r>
          </a:p>
          <a:p>
            <a:r>
              <a:rPr lang="en-GB" sz="2000" dirty="0">
                <a:latin typeface="Courier" pitchFamily="2" charset="0"/>
              </a:rPr>
              <a:t>for index in range(1, 5):</a:t>
            </a:r>
          </a:p>
          <a:p>
            <a:r>
              <a:rPr lang="en-GB" sz="2000" dirty="0">
                <a:latin typeface="Courier" pitchFamily="2" charset="0"/>
              </a:rPr>
              <a:t>    print(index)</a:t>
            </a:r>
          </a:p>
          <a:p>
            <a:endParaRPr lang="en-GB" sz="2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5484D0-7B76-7A4A-975F-B19EAB5675E6}"/>
              </a:ext>
            </a:extLst>
          </p:cNvPr>
          <p:cNvSpPr/>
          <p:nvPr/>
        </p:nvSpPr>
        <p:spPr>
          <a:xfrm>
            <a:off x="6096000" y="5241276"/>
            <a:ext cx="84482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  <a:p>
            <a:r>
              <a:rPr lang="en-GB" sz="20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  <a:p>
            <a:r>
              <a:rPr lang="en-GB" sz="20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</a:p>
          <a:p>
            <a:r>
              <a:rPr lang="en-GB" sz="20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6840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2" y="834887"/>
            <a:ext cx="10621618" cy="785191"/>
          </a:xfrm>
        </p:spPr>
        <p:txBody>
          <a:bodyPr>
            <a:normAutofit fontScale="90000"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Activity 4.1: Programming in Python: iteration, Section 4 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3A684A42-4D0D-4C65-BEA7-CBE7C46A9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553" y="1999651"/>
            <a:ext cx="4410894" cy="432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87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36AC-12A9-4A2C-9D8A-8D001EE0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24948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CC13E-1871-4787-BADF-14253538B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321" y="2154048"/>
            <a:ext cx="97734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What will be output if this code is run?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0460A1-07E5-4FBE-9D19-6A257F06B890}"/>
              </a:ext>
            </a:extLst>
          </p:cNvPr>
          <p:cNvSpPr/>
          <p:nvPr/>
        </p:nvSpPr>
        <p:spPr>
          <a:xfrm>
            <a:off x="5804093" y="4455474"/>
            <a:ext cx="5838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GB" sz="2800" dirty="0">
                <a:latin typeface="Courier" pitchFamily="2" charset="0"/>
              </a:rPr>
              <a:t>5</a:t>
            </a:r>
            <a:r>
              <a:rPr lang="en-GB" sz="2400" dirty="0">
                <a:latin typeface="Courier" pitchFamily="2" charset="0"/>
              </a:rPr>
              <a:t> </a:t>
            </a:r>
            <a:endParaRPr lang="en-GB" sz="2400" dirty="0">
              <a:latin typeface="Courier" pitchFamily="2" charset="0"/>
              <a:ea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BDC2D0-7C27-6A49-915D-67150EC39BCE}"/>
              </a:ext>
            </a:extLst>
          </p:cNvPr>
          <p:cNvSpPr/>
          <p:nvPr/>
        </p:nvSpPr>
        <p:spPr>
          <a:xfrm>
            <a:off x="1580320" y="2946449"/>
            <a:ext cx="10074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ourier" pitchFamily="2" charset="0"/>
              </a:rPr>
              <a:t>fruits = ['Damson', 'Pear', 'Orange', 'Apple', 'Kiwi']</a:t>
            </a:r>
          </a:p>
          <a:p>
            <a:r>
              <a:rPr lang="en-GB" sz="2400" dirty="0">
                <a:latin typeface="Courier" pitchFamily="2" charset="0"/>
              </a:rPr>
              <a:t>print(</a:t>
            </a:r>
            <a:r>
              <a:rPr lang="en-GB" sz="2400" dirty="0" err="1">
                <a:latin typeface="Courier" pitchFamily="2" charset="0"/>
              </a:rPr>
              <a:t>len</a:t>
            </a:r>
            <a:r>
              <a:rPr lang="en-GB" sz="2400" dirty="0">
                <a:latin typeface="Courier" pitchFamily="2" charset="0"/>
              </a:rPr>
              <a:t>(fruits))</a:t>
            </a:r>
          </a:p>
        </p:txBody>
      </p:sp>
    </p:spTree>
    <p:extLst>
      <p:ext uri="{BB962C8B-B14F-4D97-AF65-F5344CB8AC3E}">
        <p14:creationId xmlns:p14="http://schemas.microsoft.com/office/powerpoint/2010/main" val="1412272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36AC-12A9-4A2C-9D8A-8D001EE0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24948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CC13E-1871-4787-BADF-14253538B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321" y="2154048"/>
            <a:ext cx="97734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What will be output if this code is run?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0460A1-07E5-4FBE-9D19-6A257F06B890}"/>
              </a:ext>
            </a:extLst>
          </p:cNvPr>
          <p:cNvSpPr/>
          <p:nvPr/>
        </p:nvSpPr>
        <p:spPr>
          <a:xfrm>
            <a:off x="5481889" y="4569847"/>
            <a:ext cx="12282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GB" sz="2800" dirty="0">
                <a:latin typeface="Courier" pitchFamily="2" charset="0"/>
              </a:rPr>
              <a:t>Kiwi</a:t>
            </a:r>
            <a:r>
              <a:rPr lang="en-GB" sz="2400" dirty="0">
                <a:latin typeface="Courier" pitchFamily="2" charset="0"/>
              </a:rPr>
              <a:t> </a:t>
            </a:r>
            <a:endParaRPr lang="en-GB" sz="2400" dirty="0">
              <a:latin typeface="Courier" pitchFamily="2" charset="0"/>
              <a:ea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BDC2D0-7C27-6A49-915D-67150EC39BCE}"/>
              </a:ext>
            </a:extLst>
          </p:cNvPr>
          <p:cNvSpPr/>
          <p:nvPr/>
        </p:nvSpPr>
        <p:spPr>
          <a:xfrm>
            <a:off x="1580320" y="2946449"/>
            <a:ext cx="1007496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ourier" pitchFamily="2" charset="0"/>
              </a:rPr>
              <a:t>fruits = ['Damson', 'Pear', 'Orange', 'Apple', 'Kiwi']</a:t>
            </a:r>
          </a:p>
          <a:p>
            <a:r>
              <a:rPr lang="en-GB" sz="2400" dirty="0">
                <a:latin typeface="Courier" pitchFamily="2" charset="0"/>
              </a:rPr>
              <a:t>print(fruits[</a:t>
            </a:r>
            <a:r>
              <a:rPr lang="en-GB" sz="2400" dirty="0" err="1">
                <a:latin typeface="Courier" pitchFamily="2" charset="0"/>
              </a:rPr>
              <a:t>len</a:t>
            </a:r>
            <a:r>
              <a:rPr lang="en-GB" sz="2400" dirty="0">
                <a:latin typeface="Courier" pitchFamily="2" charset="0"/>
              </a:rPr>
              <a:t>(fruits) -1])</a:t>
            </a:r>
          </a:p>
        </p:txBody>
      </p:sp>
    </p:spTree>
    <p:extLst>
      <p:ext uri="{BB962C8B-B14F-4D97-AF65-F5344CB8AC3E}">
        <p14:creationId xmlns:p14="http://schemas.microsoft.com/office/powerpoint/2010/main" val="199745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36AC-12A9-4A2C-9D8A-8D001EE0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24948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CC13E-1871-4787-BADF-14253538B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321" y="2154048"/>
            <a:ext cx="97734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What will be output if this code is run?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0460A1-07E5-4FBE-9D19-6A257F06B890}"/>
              </a:ext>
            </a:extLst>
          </p:cNvPr>
          <p:cNvSpPr/>
          <p:nvPr/>
        </p:nvSpPr>
        <p:spPr>
          <a:xfrm>
            <a:off x="5359260" y="4538920"/>
            <a:ext cx="147348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GB" sz="2800" dirty="0">
                <a:latin typeface="Courier" pitchFamily="2" charset="0"/>
              </a:rPr>
              <a:t>Damson</a:t>
            </a:r>
          </a:p>
          <a:p>
            <a:pPr>
              <a:spcAft>
                <a:spcPts val="0"/>
              </a:spcAft>
            </a:pPr>
            <a:r>
              <a:rPr lang="en-GB" sz="2800" dirty="0">
                <a:latin typeface="Courier" pitchFamily="2" charset="0"/>
              </a:rPr>
              <a:t>Orange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BDC2D0-7C27-6A49-915D-67150EC39BCE}"/>
              </a:ext>
            </a:extLst>
          </p:cNvPr>
          <p:cNvSpPr/>
          <p:nvPr/>
        </p:nvSpPr>
        <p:spPr>
          <a:xfrm>
            <a:off x="1580320" y="2946449"/>
            <a:ext cx="100749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ourier" pitchFamily="2" charset="0"/>
              </a:rPr>
              <a:t>fruits = ['Damson', 'Pear', 'Orange', 'Apple', 'Kiwi']</a:t>
            </a:r>
          </a:p>
          <a:p>
            <a:r>
              <a:rPr lang="en-GB" sz="2400" dirty="0">
                <a:latin typeface="Courier" pitchFamily="2" charset="0"/>
              </a:rPr>
              <a:t>for i in range(0, </a:t>
            </a:r>
            <a:r>
              <a:rPr lang="en-GB" sz="2400" dirty="0" err="1">
                <a:latin typeface="Courier" pitchFamily="2" charset="0"/>
              </a:rPr>
              <a:t>len</a:t>
            </a:r>
            <a:r>
              <a:rPr lang="en-GB" sz="2400" dirty="0">
                <a:latin typeface="Courier" pitchFamily="2" charset="0"/>
              </a:rPr>
              <a:t>(fruits) -1, 2):</a:t>
            </a:r>
          </a:p>
          <a:p>
            <a:r>
              <a:rPr lang="en-GB" sz="2400" dirty="0">
                <a:latin typeface="Courier" pitchFamily="2" charset="0"/>
              </a:rPr>
              <a:t>    print(fruits[i])</a:t>
            </a:r>
          </a:p>
        </p:txBody>
      </p:sp>
    </p:spTree>
    <p:extLst>
      <p:ext uri="{BB962C8B-B14F-4D97-AF65-F5344CB8AC3E}">
        <p14:creationId xmlns:p14="http://schemas.microsoft.com/office/powerpoint/2010/main" val="134200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36AC-12A9-4A2C-9D8A-8D001EE0D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24948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CC13E-1871-4787-BADF-14253538B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321" y="2154048"/>
            <a:ext cx="97734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If we have three lists containing related information about a number of different of items, how do we output all the information relating to a specific item?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0460A1-07E5-4FBE-9D19-6A257F06B890}"/>
              </a:ext>
            </a:extLst>
          </p:cNvPr>
          <p:cNvSpPr/>
          <p:nvPr/>
        </p:nvSpPr>
        <p:spPr>
          <a:xfrm>
            <a:off x="1580321" y="3580830"/>
            <a:ext cx="10139314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dirty="0">
                <a:latin typeface="Courier" pitchFamily="2" charset="0"/>
              </a:rPr>
              <a:t>fruits = ['Damson', 'Pear', 'Orange', 'Apple', 'Kiwi']</a:t>
            </a:r>
          </a:p>
          <a:p>
            <a:pPr>
              <a:spcAft>
                <a:spcPts val="0"/>
              </a:spcAft>
            </a:pPr>
            <a:r>
              <a:rPr lang="en-GB" sz="2400" dirty="0">
                <a:latin typeface="Courier" pitchFamily="2" charset="0"/>
              </a:rPr>
              <a:t>stock = ['Yes',' Yes', 'No', 'Yes', 'No']</a:t>
            </a:r>
          </a:p>
          <a:p>
            <a:pPr>
              <a:spcAft>
                <a:spcPts val="0"/>
              </a:spcAft>
            </a:pPr>
            <a:r>
              <a:rPr lang="en-GB" sz="2400" dirty="0">
                <a:latin typeface="Courier" pitchFamily="2" charset="0"/>
              </a:rPr>
              <a:t>price = [70, 40, 35, 25, 45]</a:t>
            </a:r>
          </a:p>
          <a:p>
            <a:pPr>
              <a:spcAft>
                <a:spcPts val="0"/>
              </a:spcAft>
            </a:pPr>
            <a:r>
              <a:rPr lang="en-GB" sz="2400" dirty="0">
                <a:latin typeface="Courier" pitchFamily="2" charset="0"/>
              </a:rPr>
              <a:t>for i in range(0, </a:t>
            </a:r>
            <a:r>
              <a:rPr lang="en-GB" sz="2400" dirty="0" err="1">
                <a:latin typeface="Courier" pitchFamily="2" charset="0"/>
              </a:rPr>
              <a:t>len</a:t>
            </a:r>
            <a:r>
              <a:rPr lang="en-GB" sz="2400" dirty="0">
                <a:latin typeface="Courier" pitchFamily="2" charset="0"/>
              </a:rPr>
              <a:t>(fruits)):</a:t>
            </a:r>
          </a:p>
          <a:p>
            <a:pPr>
              <a:spcAft>
                <a:spcPts val="0"/>
              </a:spcAft>
            </a:pPr>
            <a:r>
              <a:rPr lang="en-GB" sz="2400" dirty="0">
                <a:latin typeface="Courier" pitchFamily="2" charset="0"/>
              </a:rPr>
              <a:t>    print(fruits[i], stock[i], price[i])</a:t>
            </a:r>
          </a:p>
        </p:txBody>
      </p:sp>
    </p:spTree>
    <p:extLst>
      <p:ext uri="{BB962C8B-B14F-4D97-AF65-F5344CB8AC3E}">
        <p14:creationId xmlns:p14="http://schemas.microsoft.com/office/powerpoint/2010/main" val="286399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4D36-2121-417F-8DFB-DF55C2380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0" y="805070"/>
            <a:ext cx="9763539" cy="80506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Quiz 4</a:t>
            </a:r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AA6EE4DA-923E-4CE7-BB47-208788012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553" y="1999651"/>
            <a:ext cx="4410894" cy="432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4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491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Courier</vt:lpstr>
      <vt:lpstr>Symbol</vt:lpstr>
      <vt:lpstr>Office Theme</vt:lpstr>
      <vt:lpstr>Programming in Python: iteration </vt:lpstr>
      <vt:lpstr>Objectives</vt:lpstr>
      <vt:lpstr>Lists </vt:lpstr>
      <vt:lpstr>For loops </vt:lpstr>
      <vt:lpstr>Activity 4.1: Programming in Python: iteration, Section 4 </vt:lpstr>
      <vt:lpstr>Question 1 </vt:lpstr>
      <vt:lpstr>Question 2 </vt:lpstr>
      <vt:lpstr>Question 3 </vt:lpstr>
      <vt:lpstr>Question 4 </vt:lpstr>
      <vt:lpstr>Quiz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35</cp:revision>
  <dcterms:created xsi:type="dcterms:W3CDTF">2020-11-04T15:22:46Z</dcterms:created>
  <dcterms:modified xsi:type="dcterms:W3CDTF">2021-06-17T14:07:04Z</dcterms:modified>
</cp:coreProperties>
</file>