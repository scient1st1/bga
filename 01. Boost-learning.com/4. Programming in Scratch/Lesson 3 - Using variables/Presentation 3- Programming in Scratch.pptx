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3" r:id="rId2"/>
    <p:sldId id="257" r:id="rId3"/>
    <p:sldId id="258" r:id="rId4"/>
    <p:sldId id="259" r:id="rId5"/>
    <p:sldId id="260" r:id="rId6"/>
    <p:sldId id="261" r:id="rId7"/>
    <p:sldId id="274" r:id="rId8"/>
    <p:sldId id="262" r:id="rId9"/>
    <p:sldId id="282" r:id="rId10"/>
    <p:sldId id="276" r:id="rId11"/>
    <p:sldId id="275" r:id="rId12"/>
    <p:sldId id="283" r:id="rId13"/>
    <p:sldId id="284" r:id="rId14"/>
    <p:sldId id="263" r:id="rId15"/>
    <p:sldId id="277" r:id="rId16"/>
    <p:sldId id="278" r:id="rId17"/>
    <p:sldId id="279" r:id="rId18"/>
    <p:sldId id="280" r:id="rId19"/>
    <p:sldId id="285" r:id="rId20"/>
    <p:sldId id="28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3" clrIdx="0">
    <p:extLst>
      <p:ext uri="{19B8F6BF-5375-455C-9EA6-DF929625EA0E}">
        <p15:presenceInfo xmlns:p15="http://schemas.microsoft.com/office/powerpoint/2012/main" userId="S::Lea.Albrechtsen@hoddereducation.co.uk::4df490f3-5904-4e82-a5b6-23281874b6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9B4"/>
    <a:srgbClr val="E3061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655" autoAdjust="0"/>
    <p:restoredTop sz="94660"/>
  </p:normalViewPr>
  <p:slideViewPr>
    <p:cSldViewPr snapToGrid="0">
      <p:cViewPr varScale="1">
        <p:scale>
          <a:sx n="73" d="100"/>
          <a:sy n="73" d="100"/>
        </p:scale>
        <p:origin x="18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commentAuthors" Target="commentAuthor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07/07/2021</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07/07/2021</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07/07/2021</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07/07/2021</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07/07/2021</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07/07/2021</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07/07/2021</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07/07/2021</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07/07/2021</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07/07/2021</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pic>
        <p:nvPicPr>
          <p:cNvPr id="6" name="Picture 5">
            <a:extLst>
              <a:ext uri="{FF2B5EF4-FFF2-40B4-BE49-F238E27FC236}">
                <a16:creationId xmlns:a16="http://schemas.microsoft.com/office/drawing/2014/main" id="{5700FF46-9591-E444-B749-96268477A679}"/>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0"/>
            <a:ext cx="12238036" cy="1622391"/>
          </a:xfrm>
          <a:prstGeom prst="rect">
            <a:avLst/>
          </a:prstGeom>
        </p:spPr>
      </p:pic>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5.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2B9C3-E44C-4313-895D-D43DD1C92CE3}"/>
              </a:ext>
            </a:extLst>
          </p:cNvPr>
          <p:cNvSpPr>
            <a:spLocks noGrp="1"/>
          </p:cNvSpPr>
          <p:nvPr>
            <p:ph type="ctrTitle"/>
          </p:nvPr>
        </p:nvSpPr>
        <p:spPr>
          <a:xfrm>
            <a:off x="1098958" y="3010438"/>
            <a:ext cx="5931016" cy="915850"/>
          </a:xfrm>
        </p:spPr>
        <p:txBody>
          <a:bodyPr>
            <a:noAutofit/>
          </a:bodyPr>
          <a:lstStyle/>
          <a:p>
            <a:pPr algn="l"/>
            <a:r>
              <a:rPr lang="en-GB" sz="4800" b="1" dirty="0"/>
              <a:t>Programming in Scratch</a:t>
            </a:r>
          </a:p>
        </p:txBody>
      </p:sp>
      <p:sp>
        <p:nvSpPr>
          <p:cNvPr id="11" name="Rectangle 10">
            <a:extLst>
              <a:ext uri="{FF2B5EF4-FFF2-40B4-BE49-F238E27FC236}">
                <a16:creationId xmlns:a16="http://schemas.microsoft.com/office/drawing/2014/main" id="{5346DB13-257C-4484-9CB0-C755672B55D3}"/>
              </a:ext>
            </a:extLst>
          </p:cNvPr>
          <p:cNvSpPr/>
          <p:nvPr/>
        </p:nvSpPr>
        <p:spPr>
          <a:xfrm>
            <a:off x="1548484" y="3926287"/>
            <a:ext cx="5031964" cy="400110"/>
          </a:xfrm>
          <a:prstGeom prst="rect">
            <a:avLst/>
          </a:prstGeom>
        </p:spPr>
        <p:txBody>
          <a:bodyPr wrap="square">
            <a:spAutoFit/>
          </a:bodyPr>
          <a:lstStyle/>
          <a:p>
            <a:pPr algn="r"/>
            <a:r>
              <a:rPr lang="en-GB" sz="2000" b="1" dirty="0">
                <a:solidFill>
                  <a:srgbClr val="E30613"/>
                </a:solidFill>
                <a:latin typeface="Calibri" panose="020F0502020204030204" pitchFamily="34" charset="0"/>
                <a:ea typeface="Times New Roman" panose="02020603050405020304" pitchFamily="18" charset="0"/>
              </a:rPr>
              <a:t>Lesson 3: Using variables </a:t>
            </a:r>
            <a:endParaRPr lang="en-GB" sz="2000" b="1" dirty="0">
              <a:solidFill>
                <a:srgbClr val="E30613"/>
              </a:solidFill>
            </a:endParaRPr>
          </a:p>
        </p:txBody>
      </p:sp>
      <p:pic>
        <p:nvPicPr>
          <p:cNvPr id="5" name="Picture 4">
            <a:extLst>
              <a:ext uri="{FF2B5EF4-FFF2-40B4-BE49-F238E27FC236}">
                <a16:creationId xmlns:a16="http://schemas.microsoft.com/office/drawing/2014/main" id="{D327B39F-99FC-432D-B100-95B9F0B14229}"/>
              </a:ext>
            </a:extLst>
          </p:cNvPr>
          <p:cNvPicPr>
            <a:picLocks noChangeAspect="1"/>
          </p:cNvPicPr>
          <p:nvPr/>
        </p:nvPicPr>
        <p:blipFill>
          <a:blip r:embed="rId2"/>
          <a:stretch>
            <a:fillRect/>
          </a:stretch>
        </p:blipFill>
        <p:spPr>
          <a:xfrm>
            <a:off x="7305669" y="2704323"/>
            <a:ext cx="2937413" cy="244392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1762775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10413" y="806893"/>
            <a:ext cx="9634330" cy="766349"/>
          </a:xfrm>
        </p:spPr>
        <p:txBody>
          <a:bodyPr/>
          <a:lstStyle/>
          <a:p>
            <a:r>
              <a:rPr lang="en-GB" b="1" dirty="0">
                <a:solidFill>
                  <a:schemeClr val="bg1"/>
                </a:solidFill>
              </a:rPr>
              <a:t>Objectives</a:t>
            </a:r>
          </a:p>
        </p:txBody>
      </p:sp>
      <p:sp>
        <p:nvSpPr>
          <p:cNvPr id="4" name="Rectangle 3">
            <a:extLst>
              <a:ext uri="{FF2B5EF4-FFF2-40B4-BE49-F238E27FC236}">
                <a16:creationId xmlns:a16="http://schemas.microsoft.com/office/drawing/2014/main" id="{5EC36740-8540-4D8B-8D9C-EA9F1DCA5808}"/>
              </a:ext>
            </a:extLst>
          </p:cNvPr>
          <p:cNvSpPr/>
          <p:nvPr/>
        </p:nvSpPr>
        <p:spPr>
          <a:xfrm>
            <a:off x="1610413" y="2397948"/>
            <a:ext cx="6718578" cy="2062103"/>
          </a:xfrm>
          <a:prstGeom prst="rect">
            <a:avLst/>
          </a:prstGeom>
        </p:spPr>
        <p:txBody>
          <a:bodyPr wrap="square">
            <a:spAutoFit/>
          </a:bodyPr>
          <a:lstStyle/>
          <a:p>
            <a:pPr>
              <a:spcAft>
                <a:spcPts val="0"/>
              </a:spcAft>
            </a:pPr>
            <a:r>
              <a:rPr lang="en-GB" sz="3200" dirty="0">
                <a:latin typeface="Calibri" panose="020F0502020204030204" pitchFamily="34" charset="0"/>
                <a:ea typeface="Calibri" panose="020F0502020204030204" pitchFamily="34" charset="0"/>
              </a:rPr>
              <a:t>In this lesson, you will learn how to:</a:t>
            </a:r>
            <a:endParaRPr lang="en-GB" sz="3200" dirty="0">
              <a:latin typeface="Times New Roman" panose="02020603050405020304" pitchFamily="18" charset="0"/>
              <a:ea typeface="Times New Roman" panose="02020603050405020304" pitchFamily="18" charset="0"/>
            </a:endParaRPr>
          </a:p>
          <a:p>
            <a:pPr marL="342900" lvl="0" indent="-342900">
              <a:spcAft>
                <a:spcPts val="0"/>
              </a:spcAft>
              <a:buFont typeface="Arial" panose="020B0604020202020204" pitchFamily="34" charset="0"/>
              <a:buChar char="●"/>
            </a:pPr>
            <a:r>
              <a:rPr lang="en-GB" sz="2400" dirty="0">
                <a:latin typeface="Calibri" panose="020F0502020204030204" pitchFamily="34" charset="0"/>
                <a:ea typeface="Noto Sans Symbols"/>
                <a:cs typeface="Noto Sans Symbols"/>
              </a:rPr>
              <a:t>input and output data using Scratch</a:t>
            </a:r>
          </a:p>
          <a:p>
            <a:pPr marL="342900" lvl="0" indent="-342900">
              <a:spcAft>
                <a:spcPts val="0"/>
              </a:spcAft>
              <a:buFont typeface="Arial" panose="020B0604020202020204" pitchFamily="34" charset="0"/>
              <a:buChar char="●"/>
            </a:pPr>
            <a:r>
              <a:rPr lang="en-GB" sz="2400" dirty="0">
                <a:latin typeface="Calibri" panose="020F0502020204030204" pitchFamily="34" charset="0"/>
                <a:ea typeface="Noto Sans Symbols"/>
                <a:cs typeface="Noto Sans Symbols"/>
              </a:rPr>
              <a:t>define the term ‘variable’</a:t>
            </a:r>
          </a:p>
          <a:p>
            <a:pPr marL="342900" lvl="0" indent="-342900">
              <a:spcAft>
                <a:spcPts val="0"/>
              </a:spcAft>
              <a:buFont typeface="Arial" panose="020B0604020202020204" pitchFamily="34" charset="0"/>
              <a:buChar char="●"/>
            </a:pPr>
            <a:r>
              <a:rPr lang="en-GB" sz="2400" dirty="0">
                <a:latin typeface="Calibri" panose="020F0502020204030204" pitchFamily="34" charset="0"/>
                <a:ea typeface="Noto Sans Symbols"/>
                <a:cs typeface="Noto Sans Symbols"/>
              </a:rPr>
              <a:t>use variables to temporarily store data in Scratch</a:t>
            </a:r>
          </a:p>
          <a:p>
            <a:pPr marL="342900" lvl="0" indent="-342900">
              <a:spcAft>
                <a:spcPts val="0"/>
              </a:spcAft>
              <a:buFont typeface="Arial" panose="020B0604020202020204" pitchFamily="34" charset="0"/>
              <a:buChar char="●"/>
            </a:pPr>
            <a:r>
              <a:rPr lang="en-GB" sz="2400" dirty="0">
                <a:latin typeface="Calibri" panose="020F0502020204030204" pitchFamily="34" charset="0"/>
                <a:ea typeface="Noto Sans Symbols"/>
                <a:cs typeface="Noto Sans Symbols"/>
              </a:rPr>
              <a:t>apply concatenation to join strings and variables.</a:t>
            </a: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13878" y="802881"/>
            <a:ext cx="9773478" cy="845862"/>
          </a:xfrm>
        </p:spPr>
        <p:txBody>
          <a:bodyPr/>
          <a:lstStyle/>
          <a:p>
            <a:r>
              <a:rPr lang="en-GB" b="1" dirty="0">
                <a:solidFill>
                  <a:schemeClr val="bg1"/>
                </a:solidFill>
              </a:rPr>
              <a:t>What do you already know? </a:t>
            </a:r>
          </a:p>
        </p:txBody>
      </p:sp>
      <p:sp>
        <p:nvSpPr>
          <p:cNvPr id="5" name="Rectangle 4">
            <a:extLst>
              <a:ext uri="{FF2B5EF4-FFF2-40B4-BE49-F238E27FC236}">
                <a16:creationId xmlns:a16="http://schemas.microsoft.com/office/drawing/2014/main" id="{A69D50FE-CE84-460E-B8C7-224F80E0B881}"/>
              </a:ext>
            </a:extLst>
          </p:cNvPr>
          <p:cNvSpPr/>
          <p:nvPr/>
        </p:nvSpPr>
        <p:spPr>
          <a:xfrm>
            <a:off x="1613878" y="2598003"/>
            <a:ext cx="3822919" cy="830997"/>
          </a:xfrm>
          <a:prstGeom prst="rect">
            <a:avLst/>
          </a:prstGeom>
        </p:spPr>
        <p:txBody>
          <a:bodyPr wrap="square">
            <a:spAutoFit/>
          </a:bodyPr>
          <a:lstStyle/>
          <a:p>
            <a:r>
              <a:rPr lang="en-GB" sz="2400" dirty="0">
                <a:ea typeface="Times New Roman" panose="02020603050405020304" pitchFamily="18" charset="0"/>
                <a:cs typeface="Courier New" panose="02070309020205020404" pitchFamily="49" charset="0"/>
              </a:rPr>
              <a:t>Activity 3.1: Using variables in calculations </a:t>
            </a:r>
          </a:p>
        </p:txBody>
      </p:sp>
      <p:sp>
        <p:nvSpPr>
          <p:cNvPr id="3" name="Rectangle 2">
            <a:extLst>
              <a:ext uri="{FF2B5EF4-FFF2-40B4-BE49-F238E27FC236}">
                <a16:creationId xmlns:a16="http://schemas.microsoft.com/office/drawing/2014/main" id="{503A5B25-0227-7043-8E23-78A70282E54A}"/>
              </a:ext>
            </a:extLst>
          </p:cNvPr>
          <p:cNvSpPr/>
          <p:nvPr/>
        </p:nvSpPr>
        <p:spPr>
          <a:xfrm>
            <a:off x="1613878" y="4378260"/>
            <a:ext cx="4520789" cy="461665"/>
          </a:xfrm>
          <a:prstGeom prst="rect">
            <a:avLst/>
          </a:prstGeom>
        </p:spPr>
        <p:txBody>
          <a:bodyPr wrap="none">
            <a:spAutoFit/>
          </a:bodyPr>
          <a:lstStyle/>
          <a:p>
            <a:r>
              <a:rPr lang="en-GB" sz="2400" dirty="0">
                <a:ea typeface="Calibri" panose="020F0502020204030204" pitchFamily="34" charset="0"/>
              </a:rPr>
              <a:t>Now complete Interactive quiz 3.1.</a:t>
            </a:r>
            <a:endParaRPr lang="en-US" sz="2400" dirty="0"/>
          </a:p>
        </p:txBody>
      </p:sp>
      <p:pic>
        <p:nvPicPr>
          <p:cNvPr id="8" name="Picture 7" descr="A picture containing athletic game, basketball, sport&#10;&#10;Description automatically generated">
            <a:extLst>
              <a:ext uri="{FF2B5EF4-FFF2-40B4-BE49-F238E27FC236}">
                <a16:creationId xmlns:a16="http://schemas.microsoft.com/office/drawing/2014/main" id="{A8025162-2C19-2044-A6D1-5F669818EE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99789" y="1831567"/>
            <a:ext cx="4587567" cy="4494840"/>
          </a:xfrm>
          <a:prstGeom prst="rect">
            <a:avLst/>
          </a:prstGeom>
        </p:spPr>
      </p:pic>
    </p:spTree>
    <p:extLst>
      <p:ext uri="{BB962C8B-B14F-4D97-AF65-F5344CB8AC3E}">
        <p14:creationId xmlns:p14="http://schemas.microsoft.com/office/powerpoint/2010/main" val="1166166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5"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000"/>
                                        <p:tgtEl>
                                          <p:spTgt spid="3"/>
                                        </p:tgtEl>
                                      </p:cBhvr>
                                    </p:animEffect>
                                    <p:anim calcmode="lin" valueType="num">
                                      <p:cBhvr>
                                        <p:cTn id="8" dur="2000" fill="hold"/>
                                        <p:tgtEl>
                                          <p:spTgt spid="3"/>
                                        </p:tgtEl>
                                        <p:attrNameLst>
                                          <p:attrName>ppt_w</p:attrName>
                                        </p:attrNameLst>
                                      </p:cBhvr>
                                      <p:tavLst>
                                        <p:tav tm="0" fmla="#ppt_w*sin(2.5*pi*$)">
                                          <p:val>
                                            <p:fltVal val="0"/>
                                          </p:val>
                                        </p:tav>
                                        <p:tav tm="100000">
                                          <p:val>
                                            <p:fltVal val="1"/>
                                          </p:val>
                                        </p:tav>
                                      </p:tavLst>
                                    </p:anim>
                                    <p:anim calcmode="lin" valueType="num">
                                      <p:cBhvr>
                                        <p:cTn id="9" dur="2000" fill="hold"/>
                                        <p:tgtEl>
                                          <p:spTgt spid="3"/>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816265"/>
            <a:ext cx="9733721" cy="835923"/>
          </a:xfrm>
        </p:spPr>
        <p:txBody>
          <a:bodyPr/>
          <a:lstStyle/>
          <a:p>
            <a:r>
              <a:rPr lang="en-GB" b="1" dirty="0">
                <a:solidFill>
                  <a:schemeClr val="bg1"/>
                </a:solidFill>
              </a:rPr>
              <a:t>Variables </a:t>
            </a:r>
          </a:p>
        </p:txBody>
      </p:sp>
      <p:sp>
        <p:nvSpPr>
          <p:cNvPr id="7" name="Rectangle 6">
            <a:extLst>
              <a:ext uri="{FF2B5EF4-FFF2-40B4-BE49-F238E27FC236}">
                <a16:creationId xmlns:a16="http://schemas.microsoft.com/office/drawing/2014/main" id="{016E22C0-194E-42FD-A61E-B59B42CAFD46}"/>
              </a:ext>
            </a:extLst>
          </p:cNvPr>
          <p:cNvSpPr/>
          <p:nvPr/>
        </p:nvSpPr>
        <p:spPr>
          <a:xfrm>
            <a:off x="1620078" y="2242686"/>
            <a:ext cx="8194482" cy="3416320"/>
          </a:xfrm>
          <a:prstGeom prst="rect">
            <a:avLst/>
          </a:prstGeom>
        </p:spPr>
        <p:txBody>
          <a:bodyPr wrap="square">
            <a:spAutoFit/>
          </a:bodyPr>
          <a:lstStyle/>
          <a:p>
            <a:pPr marL="342900" indent="-342900">
              <a:spcAft>
                <a:spcPts val="0"/>
              </a:spcAft>
              <a:buFont typeface="Arial" panose="020B0604020202020204" pitchFamily="34" charset="0"/>
              <a:buChar char="•"/>
            </a:pPr>
            <a:r>
              <a:rPr lang="en-GB" sz="2400" dirty="0">
                <a:ea typeface="Calibri" panose="020F0502020204030204" pitchFamily="34" charset="0"/>
              </a:rPr>
              <a:t>A </a:t>
            </a:r>
            <a:r>
              <a:rPr lang="en-GB" sz="2400" b="1" dirty="0">
                <a:solidFill>
                  <a:srgbClr val="0069B4"/>
                </a:solidFill>
                <a:ea typeface="Calibri" panose="020F0502020204030204" pitchFamily="34" charset="0"/>
              </a:rPr>
              <a:t>variable</a:t>
            </a:r>
            <a:r>
              <a:rPr lang="en-GB" sz="2400" dirty="0">
                <a:ea typeface="Calibri" panose="020F0502020204030204" pitchFamily="34" charset="0"/>
              </a:rPr>
              <a:t> is a container that temporarily holds a value (a number or a piece of text). The value can be retrieved within the program using its variable name.</a:t>
            </a:r>
          </a:p>
          <a:p>
            <a:pPr marL="342900" indent="-342900">
              <a:spcAft>
                <a:spcPts val="0"/>
              </a:spcAft>
              <a:buFont typeface="Arial" panose="020B0604020202020204" pitchFamily="34" charset="0"/>
              <a:buChar char="•"/>
            </a:pPr>
            <a:r>
              <a:rPr lang="en-GB" sz="2400" dirty="0">
                <a:ea typeface="Calibri" panose="020F0502020204030204" pitchFamily="34" charset="0"/>
              </a:rPr>
              <a:t>This is very similar to cell references in spreadsheets, where you refer to the cell reference instead of the value in the cell.</a:t>
            </a:r>
          </a:p>
          <a:p>
            <a:pPr marL="342900" indent="-342900">
              <a:spcAft>
                <a:spcPts val="0"/>
              </a:spcAft>
              <a:buFont typeface="Arial" panose="020B0604020202020204" pitchFamily="34" charset="0"/>
              <a:buChar char="•"/>
            </a:pPr>
            <a:r>
              <a:rPr lang="en-GB" sz="2400" dirty="0">
                <a:ea typeface="Calibri" panose="020F0502020204030204" pitchFamily="34" charset="0"/>
              </a:rPr>
              <a:t>Using variables means that, if the value changes, you do not have to rewrite your code because it </a:t>
            </a:r>
            <a:r>
              <a:rPr lang="en-GB" sz="2400" b="1" dirty="0">
                <a:ea typeface="Calibri" panose="020F0502020204030204" pitchFamily="34" charset="0"/>
              </a:rPr>
              <a:t>updates</a:t>
            </a:r>
            <a:r>
              <a:rPr lang="en-GB" sz="2400" dirty="0">
                <a:ea typeface="Calibri" panose="020F0502020204030204" pitchFamily="34" charset="0"/>
              </a:rPr>
              <a:t> automatically.</a:t>
            </a:r>
          </a:p>
          <a:p>
            <a:pPr marL="342900" indent="-342900">
              <a:spcAft>
                <a:spcPts val="0"/>
              </a:spcAft>
              <a:buFont typeface="Arial" panose="020B0604020202020204" pitchFamily="34" charset="0"/>
              <a:buChar char="•"/>
            </a:pPr>
            <a:r>
              <a:rPr lang="en-GB" sz="2400" dirty="0">
                <a:ea typeface="Calibri" panose="020F0502020204030204" pitchFamily="34" charset="0"/>
              </a:rPr>
              <a:t>The content of a variable can change as the program runs, so it might not always stay the same.</a:t>
            </a:r>
          </a:p>
        </p:txBody>
      </p:sp>
    </p:spTree>
    <p:extLst>
      <p:ext uri="{BB962C8B-B14F-4D97-AF65-F5344CB8AC3E}">
        <p14:creationId xmlns:p14="http://schemas.microsoft.com/office/powerpoint/2010/main" val="3005745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9825" y="815951"/>
            <a:ext cx="9753599" cy="845862"/>
          </a:xfrm>
        </p:spPr>
        <p:txBody>
          <a:bodyPr/>
          <a:lstStyle/>
          <a:p>
            <a:r>
              <a:rPr lang="en-GB" b="1" dirty="0">
                <a:solidFill>
                  <a:schemeClr val="bg1"/>
                </a:solidFill>
              </a:rPr>
              <a:t>Understanding variables </a:t>
            </a:r>
          </a:p>
        </p:txBody>
      </p:sp>
      <p:sp>
        <p:nvSpPr>
          <p:cNvPr id="7" name="Rectangle 6">
            <a:extLst>
              <a:ext uri="{FF2B5EF4-FFF2-40B4-BE49-F238E27FC236}">
                <a16:creationId xmlns:a16="http://schemas.microsoft.com/office/drawing/2014/main" id="{379BE3F4-C108-451B-99D9-0BC0BC54E6E7}"/>
              </a:ext>
            </a:extLst>
          </p:cNvPr>
          <p:cNvSpPr/>
          <p:nvPr/>
        </p:nvSpPr>
        <p:spPr>
          <a:xfrm>
            <a:off x="1608324" y="2132150"/>
            <a:ext cx="8975349" cy="1200329"/>
          </a:xfrm>
          <a:prstGeom prst="rect">
            <a:avLst/>
          </a:prstGeom>
        </p:spPr>
        <p:txBody>
          <a:bodyPr wrap="square">
            <a:spAutoFit/>
          </a:bodyPr>
          <a:lstStyle/>
          <a:p>
            <a:r>
              <a:rPr lang="en-GB" sz="2400" dirty="0">
                <a:solidFill>
                  <a:srgbClr val="000000"/>
                </a:solidFill>
                <a:latin typeface="Calibri" panose="020F0502020204030204" pitchFamily="34" charset="0"/>
                <a:ea typeface="Calibri" panose="020F0502020204030204" pitchFamily="34" charset="0"/>
              </a:rPr>
              <a:t>Think of a variable as a box with a name, which contains a piece of information. You do not need to know what is in the box, but you can ask the program to display what is in the box by referring to its name.</a:t>
            </a:r>
            <a:endParaRPr lang="en-GB" sz="2400" dirty="0">
              <a:latin typeface="Times New Roman" panose="02020603050405020304" pitchFamily="18" charset="0"/>
              <a:ea typeface="Times New Roman" panose="02020603050405020304" pitchFamily="18" charset="0"/>
            </a:endParaRPr>
          </a:p>
        </p:txBody>
      </p:sp>
      <p:pic>
        <p:nvPicPr>
          <p:cNvPr id="5" name="Picture 4" descr="Chart, funnel chart&#10;&#10;Description automatically generated">
            <a:extLst>
              <a:ext uri="{FF2B5EF4-FFF2-40B4-BE49-F238E27FC236}">
                <a16:creationId xmlns:a16="http://schemas.microsoft.com/office/drawing/2014/main" id="{232B5FAD-00E1-4FA4-8D0E-1906AC6AF4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42905" y="4125685"/>
            <a:ext cx="9106189" cy="1526177"/>
          </a:xfrm>
          <a:prstGeom prst="rect">
            <a:avLst/>
          </a:prstGeom>
        </p:spPr>
      </p:pic>
    </p:spTree>
    <p:extLst>
      <p:ext uri="{BB962C8B-B14F-4D97-AF65-F5344CB8AC3E}">
        <p14:creationId xmlns:p14="http://schemas.microsoft.com/office/powerpoint/2010/main" val="3538170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4BA82-FE7D-4DE6-BC00-A388E38B624C}"/>
              </a:ext>
            </a:extLst>
          </p:cNvPr>
          <p:cNvSpPr>
            <a:spLocks noGrp="1"/>
          </p:cNvSpPr>
          <p:nvPr>
            <p:ph type="title"/>
          </p:nvPr>
        </p:nvSpPr>
        <p:spPr>
          <a:xfrm>
            <a:off x="1608567" y="815637"/>
            <a:ext cx="9793357" cy="855801"/>
          </a:xfrm>
        </p:spPr>
        <p:txBody>
          <a:bodyPr/>
          <a:lstStyle/>
          <a:p>
            <a:r>
              <a:rPr lang="en-GB" b="1" dirty="0">
                <a:solidFill>
                  <a:schemeClr val="bg1"/>
                </a:solidFill>
              </a:rPr>
              <a:t>Variables in Scratch </a:t>
            </a:r>
          </a:p>
        </p:txBody>
      </p:sp>
      <p:sp>
        <p:nvSpPr>
          <p:cNvPr id="12" name="Rectangle 11">
            <a:extLst>
              <a:ext uri="{FF2B5EF4-FFF2-40B4-BE49-F238E27FC236}">
                <a16:creationId xmlns:a16="http://schemas.microsoft.com/office/drawing/2014/main" id="{7E566908-CAF6-4EC9-8963-39F461842DFD}"/>
              </a:ext>
            </a:extLst>
          </p:cNvPr>
          <p:cNvSpPr/>
          <p:nvPr/>
        </p:nvSpPr>
        <p:spPr>
          <a:xfrm>
            <a:off x="1361320" y="3167390"/>
            <a:ext cx="9145572" cy="523220"/>
          </a:xfrm>
          <a:prstGeom prst="rect">
            <a:avLst/>
          </a:prstGeom>
        </p:spPr>
        <p:txBody>
          <a:bodyPr wrap="square">
            <a:spAutoFit/>
          </a:bodyPr>
          <a:lstStyle/>
          <a:p>
            <a:pPr algn="ctr">
              <a:spcAft>
                <a:spcPts val="0"/>
              </a:spcAft>
            </a:pPr>
            <a:r>
              <a:rPr lang="en-GB" sz="2800" dirty="0">
                <a:ea typeface="Calibri" panose="020F0502020204030204" pitchFamily="34" charset="0"/>
              </a:rPr>
              <a:t>Now watch Video 3.1</a:t>
            </a:r>
            <a:endParaRPr lang="en-GB" sz="2800" dirty="0">
              <a:ea typeface="Times New Roman" panose="02020603050405020304" pitchFamily="18" charset="0"/>
            </a:endParaRPr>
          </a:p>
        </p:txBody>
      </p:sp>
    </p:spTree>
    <p:extLst>
      <p:ext uri="{BB962C8B-B14F-4D97-AF65-F5344CB8AC3E}">
        <p14:creationId xmlns:p14="http://schemas.microsoft.com/office/powerpoint/2010/main" val="36150031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1000"/>
                                        <p:tgtEl>
                                          <p:spTgt spid="12"/>
                                        </p:tgtEl>
                                      </p:cBhvr>
                                    </p:animEffect>
                                    <p:anim calcmode="lin" valueType="num">
                                      <p:cBhvr>
                                        <p:cTn id="8" dur="1000" fill="hold"/>
                                        <p:tgtEl>
                                          <p:spTgt spid="12"/>
                                        </p:tgtEl>
                                        <p:attrNameLst>
                                          <p:attrName>ppt_x</p:attrName>
                                        </p:attrNameLst>
                                      </p:cBhvr>
                                      <p:tavLst>
                                        <p:tav tm="0">
                                          <p:val>
                                            <p:strVal val="#ppt_x"/>
                                          </p:val>
                                        </p:tav>
                                        <p:tav tm="100000">
                                          <p:val>
                                            <p:strVal val="#ppt_x"/>
                                          </p:val>
                                        </p:tav>
                                      </p:tavLst>
                                    </p:anim>
                                    <p:anim calcmode="lin" valueType="num">
                                      <p:cBhvr>
                                        <p:cTn id="9"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Graphical user interface, text, application, chat or text message&#10;&#10;Description automatically generated">
            <a:extLst>
              <a:ext uri="{FF2B5EF4-FFF2-40B4-BE49-F238E27FC236}">
                <a16:creationId xmlns:a16="http://schemas.microsoft.com/office/drawing/2014/main" id="{FE2E0F1F-2833-4892-8507-58F4B55C1E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9632" y="3272171"/>
            <a:ext cx="3915118" cy="2623532"/>
          </a:xfrm>
          <a:prstGeom prst="rect">
            <a:avLst/>
          </a:prstGeom>
        </p:spPr>
      </p:pic>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89632" y="796072"/>
            <a:ext cx="10037685" cy="865740"/>
          </a:xfrm>
        </p:spPr>
        <p:txBody>
          <a:bodyPr>
            <a:normAutofit/>
          </a:bodyPr>
          <a:lstStyle/>
          <a:p>
            <a:r>
              <a:rPr lang="en-GB" b="1" dirty="0">
                <a:solidFill>
                  <a:schemeClr val="bg1"/>
                </a:solidFill>
              </a:rPr>
              <a:t> New blocks </a:t>
            </a:r>
          </a:p>
        </p:txBody>
      </p:sp>
      <p:sp>
        <p:nvSpPr>
          <p:cNvPr id="3" name="Rectangle 2">
            <a:extLst>
              <a:ext uri="{FF2B5EF4-FFF2-40B4-BE49-F238E27FC236}">
                <a16:creationId xmlns:a16="http://schemas.microsoft.com/office/drawing/2014/main" id="{C3B631DC-ADA6-A44F-BB43-24CA8873FC22}"/>
              </a:ext>
            </a:extLst>
          </p:cNvPr>
          <p:cNvSpPr>
            <a:spLocks noChangeArrowheads="1"/>
          </p:cNvSpPr>
          <p:nvPr/>
        </p:nvSpPr>
        <p:spPr bwMode="auto">
          <a:xfrm>
            <a:off x="1589632" y="2255796"/>
            <a:ext cx="7961872"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5727700" algn="r"/>
              </a:tabLst>
              <a:defRPr>
                <a:solidFill>
                  <a:schemeClr val="tx1"/>
                </a:solidFill>
                <a:latin typeface="Arial" panose="020B0604020202020204" pitchFamily="34" charset="0"/>
              </a:defRPr>
            </a:lvl1pPr>
            <a:lvl2pPr eaLnBrk="0" fontAlgn="base" hangingPunct="0">
              <a:spcBef>
                <a:spcPct val="0"/>
              </a:spcBef>
              <a:spcAft>
                <a:spcPct val="0"/>
              </a:spcAft>
              <a:tabLst>
                <a:tab pos="5727700" algn="r"/>
              </a:tabLst>
              <a:defRPr>
                <a:solidFill>
                  <a:schemeClr val="tx1"/>
                </a:solidFill>
                <a:latin typeface="Arial" panose="020B0604020202020204" pitchFamily="34" charset="0"/>
              </a:defRPr>
            </a:lvl2pPr>
            <a:lvl3pPr eaLnBrk="0" fontAlgn="base" hangingPunct="0">
              <a:spcBef>
                <a:spcPct val="0"/>
              </a:spcBef>
              <a:spcAft>
                <a:spcPct val="0"/>
              </a:spcAft>
              <a:tabLst>
                <a:tab pos="5727700" algn="r"/>
              </a:tabLst>
              <a:defRPr>
                <a:solidFill>
                  <a:schemeClr val="tx1"/>
                </a:solidFill>
                <a:latin typeface="Arial" panose="020B0604020202020204" pitchFamily="34" charset="0"/>
              </a:defRPr>
            </a:lvl3pPr>
            <a:lvl4pPr eaLnBrk="0" fontAlgn="base" hangingPunct="0">
              <a:spcBef>
                <a:spcPct val="0"/>
              </a:spcBef>
              <a:spcAft>
                <a:spcPct val="0"/>
              </a:spcAft>
              <a:tabLst>
                <a:tab pos="5727700" algn="r"/>
              </a:tabLst>
              <a:defRPr>
                <a:solidFill>
                  <a:schemeClr val="tx1"/>
                </a:solidFill>
                <a:latin typeface="Arial" panose="020B0604020202020204" pitchFamily="34" charset="0"/>
              </a:defRPr>
            </a:lvl4pPr>
            <a:lvl5pPr eaLnBrk="0" fontAlgn="base" hangingPunct="0">
              <a:spcBef>
                <a:spcPct val="0"/>
              </a:spcBef>
              <a:spcAft>
                <a:spcPct val="0"/>
              </a:spcAft>
              <a:tabLst>
                <a:tab pos="5727700" algn="r"/>
              </a:tabLst>
              <a:defRPr>
                <a:solidFill>
                  <a:schemeClr val="tx1"/>
                </a:solidFill>
                <a:latin typeface="Arial" panose="020B0604020202020204" pitchFamily="34" charset="0"/>
              </a:defRPr>
            </a:lvl5pPr>
            <a:lvl6pPr eaLnBrk="0" fontAlgn="base" hangingPunct="0">
              <a:spcBef>
                <a:spcPct val="0"/>
              </a:spcBef>
              <a:spcAft>
                <a:spcPct val="0"/>
              </a:spcAft>
              <a:tabLst>
                <a:tab pos="5727700" algn="r"/>
              </a:tabLst>
              <a:defRPr>
                <a:solidFill>
                  <a:schemeClr val="tx1"/>
                </a:solidFill>
                <a:latin typeface="Arial" panose="020B0604020202020204" pitchFamily="34" charset="0"/>
              </a:defRPr>
            </a:lvl6pPr>
            <a:lvl7pPr eaLnBrk="0" fontAlgn="base" hangingPunct="0">
              <a:spcBef>
                <a:spcPct val="0"/>
              </a:spcBef>
              <a:spcAft>
                <a:spcPct val="0"/>
              </a:spcAft>
              <a:tabLst>
                <a:tab pos="5727700" algn="r"/>
              </a:tabLst>
              <a:defRPr>
                <a:solidFill>
                  <a:schemeClr val="tx1"/>
                </a:solidFill>
                <a:latin typeface="Arial" panose="020B0604020202020204" pitchFamily="34" charset="0"/>
              </a:defRPr>
            </a:lvl7pPr>
            <a:lvl8pPr eaLnBrk="0" fontAlgn="base" hangingPunct="0">
              <a:spcBef>
                <a:spcPct val="0"/>
              </a:spcBef>
              <a:spcAft>
                <a:spcPct val="0"/>
              </a:spcAft>
              <a:tabLst>
                <a:tab pos="5727700" algn="r"/>
              </a:tabLst>
              <a:defRPr>
                <a:solidFill>
                  <a:schemeClr val="tx1"/>
                </a:solidFill>
                <a:latin typeface="Arial" panose="020B0604020202020204" pitchFamily="34" charset="0"/>
              </a:defRPr>
            </a:lvl8pPr>
            <a:lvl9pPr eaLnBrk="0" fontAlgn="base" hangingPunct="0">
              <a:spcBef>
                <a:spcPct val="0"/>
              </a:spcBef>
              <a:spcAft>
                <a:spcPct val="0"/>
              </a:spcAft>
              <a:tabLst>
                <a:tab pos="5727700" algn="r"/>
              </a:tabLs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tab pos="5727700" algn="r"/>
              </a:tabLst>
            </a:pPr>
            <a:r>
              <a:rPr kumimoji="0" lang="en-US" altLang="en-US" sz="2400" b="0" i="0" u="none" strike="noStrike" cap="none" normalizeH="0" baseline="0" dirty="0">
                <a:ln>
                  <a:noFill/>
                </a:ln>
                <a:solidFill>
                  <a:schemeClr val="tx1"/>
                </a:solidFill>
                <a:effectLst/>
                <a:latin typeface="+mn-lt"/>
                <a:ea typeface="Calibri" panose="020F0502020204030204" pitchFamily="34" charset="0"/>
              </a:rPr>
              <a:t>Here are some of the new blocks that you will need to use to work with variables in Scratch.</a:t>
            </a:r>
            <a:endParaRPr kumimoji="0" lang="en-US" altLang="en-US" sz="2400" b="0" i="0" u="none" strike="noStrike" cap="none" normalizeH="0" baseline="0" dirty="0">
              <a:ln>
                <a:noFill/>
              </a:ln>
              <a:solidFill>
                <a:schemeClr val="tx1"/>
              </a:solidFill>
              <a:effectLst/>
              <a:latin typeface="+mn-lt"/>
            </a:endParaRPr>
          </a:p>
        </p:txBody>
      </p:sp>
      <p:sp>
        <p:nvSpPr>
          <p:cNvPr id="6" name="TextBox 5">
            <a:extLst>
              <a:ext uri="{FF2B5EF4-FFF2-40B4-BE49-F238E27FC236}">
                <a16:creationId xmlns:a16="http://schemas.microsoft.com/office/drawing/2014/main" id="{97F12B3A-D4BF-8A4A-9795-91ED12299D91}"/>
              </a:ext>
            </a:extLst>
          </p:cNvPr>
          <p:cNvSpPr txBox="1"/>
          <p:nvPr/>
        </p:nvSpPr>
        <p:spPr>
          <a:xfrm>
            <a:off x="6301406" y="3138675"/>
            <a:ext cx="4880113" cy="1200329"/>
          </a:xfrm>
          <a:prstGeom prst="rect">
            <a:avLst/>
          </a:prstGeom>
          <a:noFill/>
          <a:ln>
            <a:solidFill>
              <a:srgbClr val="E30613"/>
            </a:solidFill>
          </a:ln>
        </p:spPr>
        <p:txBody>
          <a:bodyPr wrap="square" rtlCol="0">
            <a:spAutoFit/>
          </a:bodyPr>
          <a:lstStyle/>
          <a:p>
            <a:r>
              <a:rPr lang="en-GB" dirty="0"/>
              <a:t>The ‘ask’ block displays a message and you can customise what it says in the white area. This block requires a response from the user. The user has to type something in; enter an </a:t>
            </a:r>
            <a:r>
              <a:rPr lang="en-GB" b="1" dirty="0">
                <a:solidFill>
                  <a:srgbClr val="FF0000"/>
                </a:solidFill>
              </a:rPr>
              <a:t>input</a:t>
            </a:r>
            <a:r>
              <a:rPr lang="en-GB" dirty="0"/>
              <a:t>.</a:t>
            </a:r>
          </a:p>
        </p:txBody>
      </p:sp>
      <p:sp>
        <p:nvSpPr>
          <p:cNvPr id="8" name="TextBox 7">
            <a:extLst>
              <a:ext uri="{FF2B5EF4-FFF2-40B4-BE49-F238E27FC236}">
                <a16:creationId xmlns:a16="http://schemas.microsoft.com/office/drawing/2014/main" id="{EB0017E1-2279-0D4E-869E-85EBCE16C74E}"/>
              </a:ext>
            </a:extLst>
          </p:cNvPr>
          <p:cNvSpPr txBox="1"/>
          <p:nvPr/>
        </p:nvSpPr>
        <p:spPr>
          <a:xfrm>
            <a:off x="6299757" y="4556511"/>
            <a:ext cx="4880113" cy="1477328"/>
          </a:xfrm>
          <a:prstGeom prst="rect">
            <a:avLst/>
          </a:prstGeom>
          <a:noFill/>
          <a:ln>
            <a:solidFill>
              <a:srgbClr val="E30613"/>
            </a:solidFill>
          </a:ln>
        </p:spPr>
        <p:txBody>
          <a:bodyPr wrap="square" rtlCol="0">
            <a:spAutoFit/>
          </a:bodyPr>
          <a:lstStyle/>
          <a:p>
            <a:r>
              <a:rPr lang="en-GB" dirty="0"/>
              <a:t>The ‘set’ block sets your chosen </a:t>
            </a:r>
            <a:r>
              <a:rPr lang="en-GB" b="1" dirty="0"/>
              <a:t>variable</a:t>
            </a:r>
            <a:r>
              <a:rPr lang="en-GB" dirty="0"/>
              <a:t> to something. You have to create your variable first, in the ‘Variables’ category of the palette. In this example, the variable </a:t>
            </a:r>
            <a:r>
              <a:rPr lang="en-GB" b="1" dirty="0">
                <a:solidFill>
                  <a:srgbClr val="FF0000"/>
                </a:solidFill>
                <a:cs typeface="Arial" panose="020B0604020202020204" pitchFamily="34" charset="0"/>
              </a:rPr>
              <a:t>number</a:t>
            </a:r>
            <a:r>
              <a:rPr lang="en-GB" dirty="0"/>
              <a:t> is set to the answer from the question asked in the previous block.</a:t>
            </a:r>
          </a:p>
        </p:txBody>
      </p:sp>
      <p:cxnSp>
        <p:nvCxnSpPr>
          <p:cNvPr id="10" name="Straight Arrow Connector 9">
            <a:extLst>
              <a:ext uri="{FF2B5EF4-FFF2-40B4-BE49-F238E27FC236}">
                <a16:creationId xmlns:a16="http://schemas.microsoft.com/office/drawing/2014/main" id="{68898F8C-1984-E44C-B267-F6C7955899A9}"/>
              </a:ext>
            </a:extLst>
          </p:cNvPr>
          <p:cNvCxnSpPr>
            <a:cxnSpLocks/>
            <a:stCxn id="6" idx="1"/>
          </p:cNvCxnSpPr>
          <p:nvPr/>
        </p:nvCxnSpPr>
        <p:spPr>
          <a:xfrm flipH="1">
            <a:off x="5291832" y="3738840"/>
            <a:ext cx="1009574" cy="685351"/>
          </a:xfrm>
          <a:prstGeom prst="straightConnector1">
            <a:avLst/>
          </a:prstGeom>
          <a:ln>
            <a:solidFill>
              <a:srgbClr val="E30613"/>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949A276-A61E-7E47-9104-225A46B22CE8}"/>
              </a:ext>
            </a:extLst>
          </p:cNvPr>
          <p:cNvCxnSpPr>
            <a:cxnSpLocks/>
            <a:stCxn id="8" idx="1"/>
          </p:cNvCxnSpPr>
          <p:nvPr/>
        </p:nvCxnSpPr>
        <p:spPr>
          <a:xfrm flipH="1">
            <a:off x="5138059" y="5295175"/>
            <a:ext cx="1161698" cy="138499"/>
          </a:xfrm>
          <a:prstGeom prst="straightConnector1">
            <a:avLst/>
          </a:prstGeom>
          <a:ln>
            <a:solidFill>
              <a:srgbClr val="E3061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81210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Graphical user interface, application&#10;&#10;Description automatically generated">
            <a:extLst>
              <a:ext uri="{FF2B5EF4-FFF2-40B4-BE49-F238E27FC236}">
                <a16:creationId xmlns:a16="http://schemas.microsoft.com/office/drawing/2014/main" id="{72F6A946-68FF-487A-AD85-732D581645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00200" y="2201732"/>
            <a:ext cx="3972479" cy="1686160"/>
          </a:xfrm>
          <a:prstGeom prst="rect">
            <a:avLst/>
          </a:prstGeom>
        </p:spPr>
      </p:pic>
      <p:sp>
        <p:nvSpPr>
          <p:cNvPr id="2" name="Title 1">
            <a:extLst>
              <a:ext uri="{FF2B5EF4-FFF2-40B4-BE49-F238E27FC236}">
                <a16:creationId xmlns:a16="http://schemas.microsoft.com/office/drawing/2014/main" id="{810B468A-662A-4290-A763-CBC919D3C24C}"/>
              </a:ext>
            </a:extLst>
          </p:cNvPr>
          <p:cNvSpPr>
            <a:spLocks noGrp="1"/>
          </p:cNvSpPr>
          <p:nvPr>
            <p:ph type="title"/>
          </p:nvPr>
        </p:nvSpPr>
        <p:spPr>
          <a:xfrm>
            <a:off x="1600200" y="815009"/>
            <a:ext cx="9753600" cy="875679"/>
          </a:xfrm>
        </p:spPr>
        <p:txBody>
          <a:bodyPr/>
          <a:lstStyle/>
          <a:p>
            <a:r>
              <a:rPr lang="en-GB" b="1" dirty="0">
                <a:solidFill>
                  <a:schemeClr val="bg1"/>
                </a:solidFill>
              </a:rPr>
              <a:t>New blocks</a:t>
            </a:r>
          </a:p>
        </p:txBody>
      </p:sp>
      <p:pic>
        <p:nvPicPr>
          <p:cNvPr id="7" name="image2.png">
            <a:extLst>
              <a:ext uri="{FF2B5EF4-FFF2-40B4-BE49-F238E27FC236}">
                <a16:creationId xmlns:a16="http://schemas.microsoft.com/office/drawing/2014/main" id="{49CA75A2-48CF-2046-B879-69E29FAC3427}"/>
              </a:ext>
            </a:extLst>
          </p:cNvPr>
          <p:cNvPicPr/>
          <p:nvPr/>
        </p:nvPicPr>
        <p:blipFill>
          <a:blip r:embed="rId3"/>
          <a:srcRect/>
          <a:stretch>
            <a:fillRect/>
          </a:stretch>
        </p:blipFill>
        <p:spPr>
          <a:xfrm>
            <a:off x="1494458" y="4114690"/>
            <a:ext cx="5727700" cy="824865"/>
          </a:xfrm>
          <a:prstGeom prst="rect">
            <a:avLst/>
          </a:prstGeom>
          <a:ln/>
        </p:spPr>
      </p:pic>
      <p:pic>
        <p:nvPicPr>
          <p:cNvPr id="8" name="image4.png">
            <a:extLst>
              <a:ext uri="{FF2B5EF4-FFF2-40B4-BE49-F238E27FC236}">
                <a16:creationId xmlns:a16="http://schemas.microsoft.com/office/drawing/2014/main" id="{CECB585A-CD62-6948-B5A6-642A7FEA3A3E}"/>
              </a:ext>
            </a:extLst>
          </p:cNvPr>
          <p:cNvPicPr/>
          <p:nvPr/>
        </p:nvPicPr>
        <p:blipFill>
          <a:blip r:embed="rId4"/>
          <a:srcRect/>
          <a:stretch>
            <a:fillRect/>
          </a:stretch>
        </p:blipFill>
        <p:spPr>
          <a:xfrm>
            <a:off x="1600200" y="5230826"/>
            <a:ext cx="5727700" cy="812165"/>
          </a:xfrm>
          <a:prstGeom prst="rect">
            <a:avLst/>
          </a:prstGeom>
          <a:ln/>
        </p:spPr>
      </p:pic>
      <p:sp>
        <p:nvSpPr>
          <p:cNvPr id="3" name="TextBox 2">
            <a:extLst>
              <a:ext uri="{FF2B5EF4-FFF2-40B4-BE49-F238E27FC236}">
                <a16:creationId xmlns:a16="http://schemas.microsoft.com/office/drawing/2014/main" id="{E3064D82-A1B7-2C49-85A8-10A36A49F2F1}"/>
              </a:ext>
            </a:extLst>
          </p:cNvPr>
          <p:cNvSpPr txBox="1"/>
          <p:nvPr/>
        </p:nvSpPr>
        <p:spPr>
          <a:xfrm>
            <a:off x="5512488" y="1813795"/>
            <a:ext cx="5727699" cy="584775"/>
          </a:xfrm>
          <a:prstGeom prst="rect">
            <a:avLst/>
          </a:prstGeom>
          <a:noFill/>
          <a:ln>
            <a:solidFill>
              <a:srgbClr val="E30613"/>
            </a:solidFill>
          </a:ln>
        </p:spPr>
        <p:txBody>
          <a:bodyPr wrap="square" rtlCol="0">
            <a:spAutoFit/>
          </a:bodyPr>
          <a:lstStyle/>
          <a:p>
            <a:r>
              <a:rPr lang="en-GB" sz="1600" dirty="0"/>
              <a:t>The ‘say’ block makes the cat say whatever is in the white area for as long as you specify.</a:t>
            </a:r>
          </a:p>
        </p:txBody>
      </p:sp>
      <p:sp>
        <p:nvSpPr>
          <p:cNvPr id="4" name="TextBox 3">
            <a:extLst>
              <a:ext uri="{FF2B5EF4-FFF2-40B4-BE49-F238E27FC236}">
                <a16:creationId xmlns:a16="http://schemas.microsoft.com/office/drawing/2014/main" id="{D6980B73-D524-7349-AA6D-803D17E64924}"/>
              </a:ext>
            </a:extLst>
          </p:cNvPr>
          <p:cNvSpPr txBox="1"/>
          <p:nvPr/>
        </p:nvSpPr>
        <p:spPr>
          <a:xfrm>
            <a:off x="5923722" y="2842835"/>
            <a:ext cx="5316465" cy="584775"/>
          </a:xfrm>
          <a:prstGeom prst="rect">
            <a:avLst/>
          </a:prstGeom>
          <a:noFill/>
          <a:ln>
            <a:solidFill>
              <a:srgbClr val="E30613"/>
            </a:solidFill>
          </a:ln>
        </p:spPr>
        <p:txBody>
          <a:bodyPr wrap="square" rtlCol="0">
            <a:spAutoFit/>
          </a:bodyPr>
          <a:lstStyle/>
          <a:p>
            <a:r>
              <a:rPr lang="en-GB" sz="1600" dirty="0"/>
              <a:t>The ‘join’ block is used to join text together with variables. This is called </a:t>
            </a:r>
            <a:r>
              <a:rPr lang="en-GB" sz="1600" b="1" dirty="0">
                <a:solidFill>
                  <a:srgbClr val="FF0000"/>
                </a:solidFill>
              </a:rPr>
              <a:t>concatenation</a:t>
            </a:r>
            <a:r>
              <a:rPr lang="en-GB" sz="1600" dirty="0"/>
              <a:t>.</a:t>
            </a:r>
          </a:p>
        </p:txBody>
      </p:sp>
      <p:sp>
        <p:nvSpPr>
          <p:cNvPr id="5" name="TextBox 4">
            <a:extLst>
              <a:ext uri="{FF2B5EF4-FFF2-40B4-BE49-F238E27FC236}">
                <a16:creationId xmlns:a16="http://schemas.microsoft.com/office/drawing/2014/main" id="{3A82C6CC-7009-EC4A-8D46-F9A935614548}"/>
              </a:ext>
            </a:extLst>
          </p:cNvPr>
          <p:cNvSpPr txBox="1"/>
          <p:nvPr/>
        </p:nvSpPr>
        <p:spPr>
          <a:xfrm>
            <a:off x="7327900" y="3902284"/>
            <a:ext cx="4452728" cy="1077218"/>
          </a:xfrm>
          <a:prstGeom prst="rect">
            <a:avLst/>
          </a:prstGeom>
          <a:noFill/>
          <a:ln>
            <a:solidFill>
              <a:srgbClr val="E30613"/>
            </a:solidFill>
          </a:ln>
        </p:spPr>
        <p:txBody>
          <a:bodyPr wrap="square" rtlCol="0">
            <a:spAutoFit/>
          </a:bodyPr>
          <a:lstStyle/>
          <a:p>
            <a:r>
              <a:rPr lang="en-GB" sz="1600" dirty="0"/>
              <a:t>You can combine the ‘say’ block and the ‘join’ block. This line of code would </a:t>
            </a:r>
            <a:r>
              <a:rPr lang="en-GB" sz="1600" b="1" dirty="0">
                <a:solidFill>
                  <a:srgbClr val="FF0000"/>
                </a:solidFill>
              </a:rPr>
              <a:t>output</a:t>
            </a:r>
            <a:r>
              <a:rPr lang="en-GB" sz="1600" dirty="0"/>
              <a:t> </a:t>
            </a:r>
            <a:r>
              <a:rPr lang="en-GB" sz="1600" dirty="0">
                <a:latin typeface="Courier New" panose="02070309020205020404" pitchFamily="49" charset="0"/>
                <a:cs typeface="Courier New" panose="02070309020205020404" pitchFamily="49" charset="0"/>
              </a:rPr>
              <a:t>The final number you entered was: </a:t>
            </a:r>
            <a:r>
              <a:rPr lang="en-GB" sz="1600" dirty="0"/>
              <a:t>and then the value that is stored in the </a:t>
            </a:r>
            <a:r>
              <a:rPr lang="en-GB" sz="1600" dirty="0">
                <a:latin typeface="Courier New" panose="02070309020205020404" pitchFamily="49" charset="0"/>
                <a:cs typeface="Courier New" panose="02070309020205020404" pitchFamily="49" charset="0"/>
              </a:rPr>
              <a:t>number</a:t>
            </a:r>
            <a:r>
              <a:rPr lang="en-GB" sz="1600" dirty="0"/>
              <a:t> variable.</a:t>
            </a:r>
          </a:p>
        </p:txBody>
      </p:sp>
      <p:sp>
        <p:nvSpPr>
          <p:cNvPr id="12" name="TextBox 11">
            <a:extLst>
              <a:ext uri="{FF2B5EF4-FFF2-40B4-BE49-F238E27FC236}">
                <a16:creationId xmlns:a16="http://schemas.microsoft.com/office/drawing/2014/main" id="{DB0FF966-8C94-C047-BBE8-323440C3104E}"/>
              </a:ext>
            </a:extLst>
          </p:cNvPr>
          <p:cNvSpPr txBox="1"/>
          <p:nvPr/>
        </p:nvSpPr>
        <p:spPr>
          <a:xfrm>
            <a:off x="7592944" y="5684178"/>
            <a:ext cx="3662483" cy="584775"/>
          </a:xfrm>
          <a:prstGeom prst="rect">
            <a:avLst/>
          </a:prstGeom>
          <a:noFill/>
          <a:ln>
            <a:solidFill>
              <a:srgbClr val="E30613"/>
            </a:solidFill>
          </a:ln>
        </p:spPr>
        <p:txBody>
          <a:bodyPr wrap="square" rtlCol="0">
            <a:spAutoFit/>
          </a:bodyPr>
          <a:lstStyle/>
          <a:p>
            <a:r>
              <a:rPr lang="en-GB" sz="1600" dirty="0"/>
              <a:t>Multiple ‘join’ blocks can be used to join together multiple strings and variables.</a:t>
            </a:r>
          </a:p>
        </p:txBody>
      </p:sp>
      <p:cxnSp>
        <p:nvCxnSpPr>
          <p:cNvPr id="14" name="Straight Arrow Connector 13">
            <a:extLst>
              <a:ext uri="{FF2B5EF4-FFF2-40B4-BE49-F238E27FC236}">
                <a16:creationId xmlns:a16="http://schemas.microsoft.com/office/drawing/2014/main" id="{E32CE760-5A10-9E49-9E88-9C34E1EAD0AE}"/>
              </a:ext>
            </a:extLst>
          </p:cNvPr>
          <p:cNvCxnSpPr/>
          <p:nvPr/>
        </p:nvCxnSpPr>
        <p:spPr>
          <a:xfrm flipH="1">
            <a:off x="4194313" y="2244682"/>
            <a:ext cx="1318175" cy="202103"/>
          </a:xfrm>
          <a:prstGeom prst="straightConnector1">
            <a:avLst/>
          </a:prstGeom>
          <a:ln>
            <a:solidFill>
              <a:srgbClr val="E30613"/>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3BC46C9B-F36D-CE4E-B959-2F9F0A02648F}"/>
              </a:ext>
            </a:extLst>
          </p:cNvPr>
          <p:cNvCxnSpPr>
            <a:cxnSpLocks/>
          </p:cNvCxnSpPr>
          <p:nvPr/>
        </p:nvCxnSpPr>
        <p:spPr>
          <a:xfrm flipH="1">
            <a:off x="5233852" y="3112948"/>
            <a:ext cx="689870" cy="192671"/>
          </a:xfrm>
          <a:prstGeom prst="straightConnector1">
            <a:avLst/>
          </a:prstGeom>
          <a:ln>
            <a:solidFill>
              <a:srgbClr val="E30613"/>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6565B00-58D3-E74E-B41D-DE10C85EFC8E}"/>
              </a:ext>
            </a:extLst>
          </p:cNvPr>
          <p:cNvCxnSpPr>
            <a:cxnSpLocks/>
          </p:cNvCxnSpPr>
          <p:nvPr/>
        </p:nvCxnSpPr>
        <p:spPr>
          <a:xfrm flipH="1">
            <a:off x="7071360" y="4089994"/>
            <a:ext cx="256541" cy="130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D5ADA22-3444-5F44-A02B-0D003E30C75F}"/>
              </a:ext>
            </a:extLst>
          </p:cNvPr>
          <p:cNvCxnSpPr>
            <a:cxnSpLocks/>
          </p:cNvCxnSpPr>
          <p:nvPr/>
        </p:nvCxnSpPr>
        <p:spPr>
          <a:xfrm flipH="1" flipV="1">
            <a:off x="5163786" y="5934179"/>
            <a:ext cx="2429158" cy="171864"/>
          </a:xfrm>
          <a:prstGeom prst="straightConnector1">
            <a:avLst/>
          </a:prstGeom>
          <a:ln>
            <a:solidFill>
              <a:srgbClr val="E3061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89363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3C3A6-59B0-1D46-A3BD-646356234DC6}"/>
              </a:ext>
            </a:extLst>
          </p:cNvPr>
          <p:cNvSpPr>
            <a:spLocks noGrp="1"/>
          </p:cNvSpPr>
          <p:nvPr>
            <p:ph type="title"/>
          </p:nvPr>
        </p:nvSpPr>
        <p:spPr>
          <a:xfrm>
            <a:off x="1600200" y="775252"/>
            <a:ext cx="9753600" cy="834887"/>
          </a:xfrm>
        </p:spPr>
        <p:txBody>
          <a:bodyPr/>
          <a:lstStyle/>
          <a:p>
            <a:r>
              <a:rPr lang="en-GB" b="1" dirty="0">
                <a:solidFill>
                  <a:schemeClr val="bg1"/>
                </a:solidFill>
              </a:rPr>
              <a:t>New blocks</a:t>
            </a:r>
            <a:endParaRPr lang="en-US" dirty="0"/>
          </a:p>
        </p:txBody>
      </p:sp>
      <p:sp>
        <p:nvSpPr>
          <p:cNvPr id="3" name="Content Placeholder 2">
            <a:extLst>
              <a:ext uri="{FF2B5EF4-FFF2-40B4-BE49-F238E27FC236}">
                <a16:creationId xmlns:a16="http://schemas.microsoft.com/office/drawing/2014/main" id="{1C84F760-BA61-544F-874C-3831BB31AB2F}"/>
              </a:ext>
            </a:extLst>
          </p:cNvPr>
          <p:cNvSpPr>
            <a:spLocks noGrp="1"/>
          </p:cNvSpPr>
          <p:nvPr>
            <p:ph idx="1"/>
          </p:nvPr>
        </p:nvSpPr>
        <p:spPr>
          <a:xfrm>
            <a:off x="1600200" y="2082233"/>
            <a:ext cx="8823960" cy="1919061"/>
          </a:xfrm>
        </p:spPr>
        <p:txBody>
          <a:bodyPr/>
          <a:lstStyle/>
          <a:p>
            <a:r>
              <a:rPr lang="en-GB" sz="2400" dirty="0"/>
              <a:t>When the ‘ask’ block is used, it automatically creates a variable called ‘answer’ that stores whatever is entered by the user.</a:t>
            </a:r>
          </a:p>
          <a:p>
            <a:r>
              <a:rPr lang="en-GB" sz="2400" dirty="0"/>
              <a:t>This means that, if you want to output the answer straight away, you don’t need to create a variable.</a:t>
            </a:r>
          </a:p>
        </p:txBody>
      </p:sp>
      <p:pic>
        <p:nvPicPr>
          <p:cNvPr id="6" name="Picture 5" descr="Graphical user interface, text, application&#10;&#10;Description automatically generated">
            <a:extLst>
              <a:ext uri="{FF2B5EF4-FFF2-40B4-BE49-F238E27FC236}">
                <a16:creationId xmlns:a16="http://schemas.microsoft.com/office/drawing/2014/main" id="{B48B86CB-54DC-4476-9BA4-01A423B092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598" y="3661660"/>
            <a:ext cx="4943339" cy="2444267"/>
          </a:xfrm>
          <a:prstGeom prst="rect">
            <a:avLst/>
          </a:prstGeom>
        </p:spPr>
      </p:pic>
    </p:spTree>
    <p:extLst>
      <p:ext uri="{BB962C8B-B14F-4D97-AF65-F5344CB8AC3E}">
        <p14:creationId xmlns:p14="http://schemas.microsoft.com/office/powerpoint/2010/main" val="40631554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DBFE932-887E-1741-ABF4-D1ED322C6B39}"/>
              </a:ext>
            </a:extLst>
          </p:cNvPr>
          <p:cNvSpPr/>
          <p:nvPr/>
        </p:nvSpPr>
        <p:spPr>
          <a:xfrm>
            <a:off x="1467969" y="1772801"/>
            <a:ext cx="9256062" cy="1323439"/>
          </a:xfrm>
          <a:prstGeom prst="rect">
            <a:avLst/>
          </a:prstGeom>
        </p:spPr>
        <p:txBody>
          <a:bodyPr wrap="square">
            <a:spAutoFit/>
          </a:bodyPr>
          <a:lstStyle/>
          <a:p>
            <a:pPr>
              <a:tabLst>
                <a:tab pos="5727700" algn="r"/>
              </a:tabLst>
            </a:pPr>
            <a:r>
              <a:rPr lang="en-GB" sz="2000" dirty="0">
                <a:ea typeface="Calibri" panose="020F0502020204030204" pitchFamily="34" charset="0"/>
              </a:rPr>
              <a:t>However, if you want to ask </a:t>
            </a:r>
            <a:r>
              <a:rPr lang="en-GB" sz="2000" dirty="0">
                <a:ea typeface="Times New Roman" panose="02020603050405020304" pitchFamily="18" charset="0"/>
              </a:rPr>
              <a:t>multiple questions and output the information entered by the user at a later date, you will need to create a separate variable for each question and set it to the corresponding answer.</a:t>
            </a:r>
          </a:p>
          <a:p>
            <a:pPr>
              <a:tabLst>
                <a:tab pos="5727700" algn="r"/>
              </a:tabLst>
            </a:pPr>
            <a:r>
              <a:rPr lang="en-GB" sz="2000" dirty="0">
                <a:ea typeface="Times New Roman" panose="02020603050405020304" pitchFamily="18" charset="0"/>
              </a:rPr>
              <a:t>Compare these two programs:</a:t>
            </a:r>
          </a:p>
        </p:txBody>
      </p:sp>
      <p:pic>
        <p:nvPicPr>
          <p:cNvPr id="5" name="Picture 4" descr="Graphical user interface, text, application, chat or text message&#10;&#10;Description automatically generated">
            <a:extLst>
              <a:ext uri="{FF2B5EF4-FFF2-40B4-BE49-F238E27FC236}">
                <a16:creationId xmlns:a16="http://schemas.microsoft.com/office/drawing/2014/main" id="{64488730-8B81-4146-9F92-5EBED26455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58565" y="3429000"/>
            <a:ext cx="3546318" cy="2592859"/>
          </a:xfrm>
          <a:prstGeom prst="rect">
            <a:avLst/>
          </a:prstGeom>
        </p:spPr>
      </p:pic>
      <p:pic>
        <p:nvPicPr>
          <p:cNvPr id="8" name="Picture 7" descr="Text&#10;&#10;Description automatically generated">
            <a:extLst>
              <a:ext uri="{FF2B5EF4-FFF2-40B4-BE49-F238E27FC236}">
                <a16:creationId xmlns:a16="http://schemas.microsoft.com/office/drawing/2014/main" id="{E59705C7-8E8F-4A5B-883A-25D15A44B0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62074" y="3429000"/>
            <a:ext cx="6051530" cy="2022245"/>
          </a:xfrm>
          <a:prstGeom prst="rect">
            <a:avLst/>
          </a:prstGeom>
        </p:spPr>
      </p:pic>
    </p:spTree>
    <p:extLst>
      <p:ext uri="{BB962C8B-B14F-4D97-AF65-F5344CB8AC3E}">
        <p14:creationId xmlns:p14="http://schemas.microsoft.com/office/powerpoint/2010/main" val="12630865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C8BB7FD-D81F-4CC3-8B0E-961D261248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7800" y="2646796"/>
            <a:ext cx="4648200" cy="3505200"/>
          </a:xfrm>
          <a:prstGeom prst="rect">
            <a:avLst/>
          </a:prstGeom>
        </p:spPr>
      </p:pic>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89632" y="796072"/>
            <a:ext cx="10037685" cy="865740"/>
          </a:xfrm>
        </p:spPr>
        <p:txBody>
          <a:bodyPr>
            <a:normAutofit/>
          </a:bodyPr>
          <a:lstStyle/>
          <a:p>
            <a:r>
              <a:rPr lang="en-GB" b="1" dirty="0">
                <a:solidFill>
                  <a:schemeClr val="bg1"/>
                </a:solidFill>
              </a:rPr>
              <a:t>Activity 3.2: Asking your name </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8474" y="1877575"/>
            <a:ext cx="4587567" cy="4494840"/>
          </a:xfrm>
          <a:prstGeom prst="rect">
            <a:avLst/>
          </a:prstGeom>
        </p:spPr>
      </p:pic>
      <p:sp>
        <p:nvSpPr>
          <p:cNvPr id="7" name="Rectangle 6">
            <a:extLst>
              <a:ext uri="{FF2B5EF4-FFF2-40B4-BE49-F238E27FC236}">
                <a16:creationId xmlns:a16="http://schemas.microsoft.com/office/drawing/2014/main" id="{9F1A58C0-E408-E941-BE92-61C8831FB0E9}"/>
              </a:ext>
            </a:extLst>
          </p:cNvPr>
          <p:cNvSpPr/>
          <p:nvPr/>
        </p:nvSpPr>
        <p:spPr>
          <a:xfrm>
            <a:off x="2354364" y="2277464"/>
            <a:ext cx="2835071" cy="369332"/>
          </a:xfrm>
          <a:prstGeom prst="rect">
            <a:avLst/>
          </a:prstGeom>
        </p:spPr>
        <p:txBody>
          <a:bodyPr wrap="none">
            <a:spAutoFit/>
          </a:bodyPr>
          <a:lstStyle/>
          <a:p>
            <a:pPr>
              <a:tabLst>
                <a:tab pos="5727700" algn="r"/>
              </a:tabLst>
            </a:pPr>
            <a:r>
              <a:rPr lang="en-GB" dirty="0">
                <a:latin typeface="Calibri" panose="020F0502020204030204" pitchFamily="34" charset="0"/>
                <a:ea typeface="Calibri" panose="020F0502020204030204" pitchFamily="34" charset="0"/>
              </a:rPr>
              <a:t>Example of finished solution</a:t>
            </a:r>
            <a:endParaRPr lang="en-GB" dirty="0">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350928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89632" y="796072"/>
            <a:ext cx="10037685" cy="865740"/>
          </a:xfrm>
        </p:spPr>
        <p:txBody>
          <a:bodyPr>
            <a:normAutofit/>
          </a:bodyPr>
          <a:lstStyle/>
          <a:p>
            <a:r>
              <a:rPr lang="en-GB" b="1" dirty="0">
                <a:solidFill>
                  <a:schemeClr val="bg1"/>
                </a:solidFill>
              </a:rPr>
              <a:t>Activity 3.3: Shopping list </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08474" y="1877575"/>
            <a:ext cx="4587567" cy="4494840"/>
          </a:xfrm>
          <a:prstGeom prst="rect">
            <a:avLst/>
          </a:prstGeom>
        </p:spPr>
      </p:pic>
      <p:sp>
        <p:nvSpPr>
          <p:cNvPr id="7" name="Rectangle 6">
            <a:extLst>
              <a:ext uri="{FF2B5EF4-FFF2-40B4-BE49-F238E27FC236}">
                <a16:creationId xmlns:a16="http://schemas.microsoft.com/office/drawing/2014/main" id="{9F1A58C0-E408-E941-BE92-61C8831FB0E9}"/>
              </a:ext>
            </a:extLst>
          </p:cNvPr>
          <p:cNvSpPr/>
          <p:nvPr/>
        </p:nvSpPr>
        <p:spPr>
          <a:xfrm>
            <a:off x="2354364" y="2281015"/>
            <a:ext cx="2835071" cy="369332"/>
          </a:xfrm>
          <a:prstGeom prst="rect">
            <a:avLst/>
          </a:prstGeom>
        </p:spPr>
        <p:txBody>
          <a:bodyPr wrap="none">
            <a:spAutoFit/>
          </a:bodyPr>
          <a:lstStyle/>
          <a:p>
            <a:pPr>
              <a:tabLst>
                <a:tab pos="5727700" algn="r"/>
              </a:tabLst>
            </a:pPr>
            <a:r>
              <a:rPr lang="en-GB" dirty="0">
                <a:latin typeface="Calibri" panose="020F0502020204030204" pitchFamily="34" charset="0"/>
                <a:ea typeface="Calibri" panose="020F0502020204030204" pitchFamily="34" charset="0"/>
              </a:rPr>
              <a:t>Example of finished solution</a:t>
            </a:r>
            <a:endParaRPr lang="en-GB" dirty="0">
              <a:latin typeface="Times New Roman" panose="02020603050405020304" pitchFamily="18" charset="0"/>
              <a:ea typeface="Times New Roman" panose="02020603050405020304" pitchFamily="18" charset="0"/>
            </a:endParaRPr>
          </a:p>
        </p:txBody>
      </p:sp>
      <p:pic>
        <p:nvPicPr>
          <p:cNvPr id="4" name="Picture 3">
            <a:extLst>
              <a:ext uri="{FF2B5EF4-FFF2-40B4-BE49-F238E27FC236}">
                <a16:creationId xmlns:a16="http://schemas.microsoft.com/office/drawing/2014/main" id="{E3923D35-2DE9-44C2-A0FB-6CD4CC7656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47800" y="2650347"/>
            <a:ext cx="4648200" cy="3505200"/>
          </a:xfrm>
          <a:prstGeom prst="rect">
            <a:avLst/>
          </a:prstGeom>
        </p:spPr>
      </p:pic>
    </p:spTree>
    <p:extLst>
      <p:ext uri="{BB962C8B-B14F-4D97-AF65-F5344CB8AC3E}">
        <p14:creationId xmlns:p14="http://schemas.microsoft.com/office/powerpoint/2010/main" val="3718419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89632" y="796072"/>
            <a:ext cx="10037685" cy="865740"/>
          </a:xfrm>
        </p:spPr>
        <p:txBody>
          <a:bodyPr>
            <a:normAutofit/>
          </a:bodyPr>
          <a:lstStyle/>
          <a:p>
            <a:r>
              <a:rPr lang="en-GB" b="1" dirty="0">
                <a:solidFill>
                  <a:schemeClr val="bg1"/>
                </a:solidFill>
              </a:rPr>
              <a:t>Activity 3.4: Chatbot aka ‘Cat Bot’ </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51466" y="1877575"/>
            <a:ext cx="3815148" cy="3738034"/>
          </a:xfrm>
          <a:prstGeom prst="rect">
            <a:avLst/>
          </a:prstGeom>
        </p:spPr>
      </p:pic>
      <p:sp>
        <p:nvSpPr>
          <p:cNvPr id="7" name="Rectangle 6">
            <a:extLst>
              <a:ext uri="{FF2B5EF4-FFF2-40B4-BE49-F238E27FC236}">
                <a16:creationId xmlns:a16="http://schemas.microsoft.com/office/drawing/2014/main" id="{9F1A58C0-E408-E941-BE92-61C8831FB0E9}"/>
              </a:ext>
            </a:extLst>
          </p:cNvPr>
          <p:cNvSpPr/>
          <p:nvPr/>
        </p:nvSpPr>
        <p:spPr>
          <a:xfrm>
            <a:off x="1185789" y="2561001"/>
            <a:ext cx="2835071" cy="369332"/>
          </a:xfrm>
          <a:prstGeom prst="rect">
            <a:avLst/>
          </a:prstGeom>
        </p:spPr>
        <p:txBody>
          <a:bodyPr wrap="none">
            <a:spAutoFit/>
          </a:bodyPr>
          <a:lstStyle/>
          <a:p>
            <a:pPr>
              <a:tabLst>
                <a:tab pos="5727700" algn="r"/>
              </a:tabLst>
            </a:pPr>
            <a:r>
              <a:rPr lang="en-GB" dirty="0">
                <a:latin typeface="Calibri" panose="020F0502020204030204" pitchFamily="34" charset="0"/>
                <a:ea typeface="Calibri" panose="020F0502020204030204" pitchFamily="34" charset="0"/>
              </a:rPr>
              <a:t>Example of finished solution</a:t>
            </a:r>
            <a:endParaRPr lang="en-GB" dirty="0">
              <a:latin typeface="Times New Roman" panose="02020603050405020304" pitchFamily="18" charset="0"/>
              <a:ea typeface="Times New Roman" panose="02020603050405020304" pitchFamily="18" charset="0"/>
            </a:endParaRPr>
          </a:p>
        </p:txBody>
      </p:sp>
      <p:sp>
        <p:nvSpPr>
          <p:cNvPr id="4" name="Rectangle 3">
            <a:extLst>
              <a:ext uri="{FF2B5EF4-FFF2-40B4-BE49-F238E27FC236}">
                <a16:creationId xmlns:a16="http://schemas.microsoft.com/office/drawing/2014/main" id="{4D2D430B-D1D8-294C-A24E-D9F1B6CD697D}"/>
              </a:ext>
            </a:extLst>
          </p:cNvPr>
          <p:cNvSpPr/>
          <p:nvPr/>
        </p:nvSpPr>
        <p:spPr>
          <a:xfrm>
            <a:off x="5002011" y="2548816"/>
            <a:ext cx="2408223" cy="369332"/>
          </a:xfrm>
          <a:prstGeom prst="rect">
            <a:avLst/>
          </a:prstGeom>
        </p:spPr>
        <p:txBody>
          <a:bodyPr wrap="none">
            <a:spAutoFit/>
          </a:bodyPr>
          <a:lstStyle/>
          <a:p>
            <a:pPr>
              <a:tabLst>
                <a:tab pos="5727700" algn="r"/>
              </a:tabLst>
            </a:pPr>
            <a:r>
              <a:rPr lang="en-GB" dirty="0">
                <a:latin typeface="Calibri" panose="020F0502020204030204" pitchFamily="34" charset="0"/>
                <a:ea typeface="Calibri" panose="020F0502020204030204" pitchFamily="34" charset="0"/>
              </a:rPr>
              <a:t>Example of </a:t>
            </a:r>
            <a:r>
              <a:rPr lang="en-GB" dirty="0"/>
              <a:t>extension 1 </a:t>
            </a:r>
            <a:endParaRPr lang="en-GB" dirty="0">
              <a:latin typeface="Times New Roman" panose="02020603050405020304" pitchFamily="18" charset="0"/>
              <a:ea typeface="Times New Roman" panose="02020603050405020304" pitchFamily="18" charset="0"/>
            </a:endParaRPr>
          </a:p>
        </p:txBody>
      </p:sp>
      <p:pic>
        <p:nvPicPr>
          <p:cNvPr id="9" name="Picture 8">
            <a:extLst>
              <a:ext uri="{FF2B5EF4-FFF2-40B4-BE49-F238E27FC236}">
                <a16:creationId xmlns:a16="http://schemas.microsoft.com/office/drawing/2014/main" id="{B09E5945-5E50-465E-91C2-61EB3DEF61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4635" y="2930333"/>
            <a:ext cx="3097380" cy="2312710"/>
          </a:xfrm>
          <a:prstGeom prst="rect">
            <a:avLst/>
          </a:prstGeom>
        </p:spPr>
      </p:pic>
      <p:pic>
        <p:nvPicPr>
          <p:cNvPr id="13" name="Picture 12">
            <a:extLst>
              <a:ext uri="{FF2B5EF4-FFF2-40B4-BE49-F238E27FC236}">
                <a16:creationId xmlns:a16="http://schemas.microsoft.com/office/drawing/2014/main" id="{84AF1C32-3CAE-46BF-8610-8125EC43B4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57433" y="2930333"/>
            <a:ext cx="3097380" cy="2312710"/>
          </a:xfrm>
          <a:prstGeom prst="rect">
            <a:avLst/>
          </a:prstGeom>
        </p:spPr>
      </p:pic>
    </p:spTree>
    <p:extLst>
      <p:ext uri="{BB962C8B-B14F-4D97-AF65-F5344CB8AC3E}">
        <p14:creationId xmlns:p14="http://schemas.microsoft.com/office/powerpoint/2010/main" val="160999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608882" y="805698"/>
            <a:ext cx="9783417" cy="865740"/>
          </a:xfrm>
        </p:spPr>
        <p:txBody>
          <a:bodyPr/>
          <a:lstStyle/>
          <a:p>
            <a:r>
              <a:rPr lang="en-GB" b="1" dirty="0">
                <a:solidFill>
                  <a:schemeClr val="bg1"/>
                </a:solidFill>
              </a:rPr>
              <a:t>Question 1</a:t>
            </a:r>
          </a:p>
        </p:txBody>
      </p:sp>
      <p:sp>
        <p:nvSpPr>
          <p:cNvPr id="5" name="Rectangle 4">
            <a:extLst>
              <a:ext uri="{FF2B5EF4-FFF2-40B4-BE49-F238E27FC236}">
                <a16:creationId xmlns:a16="http://schemas.microsoft.com/office/drawing/2014/main" id="{0EB22699-9BD3-47A9-BD0D-2498228DCE8E}"/>
              </a:ext>
            </a:extLst>
          </p:cNvPr>
          <p:cNvSpPr/>
          <p:nvPr/>
        </p:nvSpPr>
        <p:spPr>
          <a:xfrm>
            <a:off x="3977182" y="3179559"/>
            <a:ext cx="4237635" cy="707886"/>
          </a:xfrm>
          <a:prstGeom prst="rect">
            <a:avLst/>
          </a:prstGeom>
        </p:spPr>
        <p:txBody>
          <a:bodyPr wrap="none">
            <a:spAutoFit/>
          </a:bodyPr>
          <a:lstStyle/>
          <a:p>
            <a:pPr>
              <a:tabLst>
                <a:tab pos="5727700" algn="r"/>
              </a:tabLst>
            </a:pPr>
            <a:r>
              <a:rPr lang="en-GB" sz="4000" dirty="0">
                <a:latin typeface="Calibri" panose="020F0502020204030204" pitchFamily="34" charset="0"/>
                <a:ea typeface="Calibri" panose="020F0502020204030204" pitchFamily="34" charset="0"/>
              </a:rPr>
              <a:t>What is a variable? </a:t>
            </a:r>
            <a:endParaRPr lang="en-GB" sz="4000" dirty="0">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6694378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608882" y="805698"/>
            <a:ext cx="9783417" cy="865740"/>
          </a:xfrm>
        </p:spPr>
        <p:txBody>
          <a:bodyPr/>
          <a:lstStyle/>
          <a:p>
            <a:r>
              <a:rPr lang="en-GB" b="1" dirty="0">
                <a:solidFill>
                  <a:schemeClr val="bg1"/>
                </a:solidFill>
              </a:rPr>
              <a:t>Question 2</a:t>
            </a:r>
          </a:p>
        </p:txBody>
      </p:sp>
      <p:sp>
        <p:nvSpPr>
          <p:cNvPr id="4" name="Rectangle 3">
            <a:extLst>
              <a:ext uri="{FF2B5EF4-FFF2-40B4-BE49-F238E27FC236}">
                <a16:creationId xmlns:a16="http://schemas.microsoft.com/office/drawing/2014/main" id="{2FB607C9-DAA2-4DC0-A182-2F5EE3C4C032}"/>
              </a:ext>
            </a:extLst>
          </p:cNvPr>
          <p:cNvSpPr/>
          <p:nvPr/>
        </p:nvSpPr>
        <p:spPr>
          <a:xfrm>
            <a:off x="1608882" y="2598003"/>
            <a:ext cx="7603802" cy="830997"/>
          </a:xfrm>
          <a:prstGeom prst="rect">
            <a:avLst/>
          </a:prstGeom>
        </p:spPr>
        <p:txBody>
          <a:bodyPr wrap="square">
            <a:spAutoFit/>
          </a:bodyPr>
          <a:lstStyle/>
          <a:p>
            <a:r>
              <a:rPr lang="en-GB" sz="2400" dirty="0">
                <a:latin typeface="Calibri" panose="020F0502020204030204" pitchFamily="34" charset="0"/>
                <a:ea typeface="Calibri" panose="020F0502020204030204" pitchFamily="34" charset="0"/>
              </a:rPr>
              <a:t>In which category would you find the block to display something on screen?</a:t>
            </a:r>
          </a:p>
        </p:txBody>
      </p:sp>
      <p:pic>
        <p:nvPicPr>
          <p:cNvPr id="7" name="Picture 6" descr="Graphical user interface, text, application, chat or text message&#10;&#10;Description automatically generated">
            <a:extLst>
              <a:ext uri="{FF2B5EF4-FFF2-40B4-BE49-F238E27FC236}">
                <a16:creationId xmlns:a16="http://schemas.microsoft.com/office/drawing/2014/main" id="{D3B22A05-82BC-4D1E-B330-AE6D9CA66E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5919" y="3845650"/>
            <a:ext cx="6480161" cy="1632041"/>
          </a:xfrm>
          <a:prstGeom prst="rect">
            <a:avLst/>
          </a:prstGeom>
        </p:spPr>
      </p:pic>
    </p:spTree>
    <p:extLst>
      <p:ext uri="{BB962C8B-B14F-4D97-AF65-F5344CB8AC3E}">
        <p14:creationId xmlns:p14="http://schemas.microsoft.com/office/powerpoint/2010/main" val="31386521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608882" y="805698"/>
            <a:ext cx="9783417" cy="865740"/>
          </a:xfrm>
        </p:spPr>
        <p:txBody>
          <a:bodyPr/>
          <a:lstStyle/>
          <a:p>
            <a:r>
              <a:rPr lang="en-GB" b="1" dirty="0">
                <a:solidFill>
                  <a:schemeClr val="bg1"/>
                </a:solidFill>
              </a:rPr>
              <a:t>Question 3</a:t>
            </a:r>
          </a:p>
        </p:txBody>
      </p:sp>
      <p:sp>
        <p:nvSpPr>
          <p:cNvPr id="5" name="Rectangle 4">
            <a:extLst>
              <a:ext uri="{FF2B5EF4-FFF2-40B4-BE49-F238E27FC236}">
                <a16:creationId xmlns:a16="http://schemas.microsoft.com/office/drawing/2014/main" id="{21806B4C-DA32-429F-9876-49CF7DD8A5EC}"/>
              </a:ext>
            </a:extLst>
          </p:cNvPr>
          <p:cNvSpPr/>
          <p:nvPr/>
        </p:nvSpPr>
        <p:spPr>
          <a:xfrm>
            <a:off x="1608882" y="2598003"/>
            <a:ext cx="6879135" cy="830997"/>
          </a:xfrm>
          <a:prstGeom prst="rect">
            <a:avLst/>
          </a:prstGeom>
        </p:spPr>
        <p:txBody>
          <a:bodyPr wrap="square">
            <a:spAutoFit/>
          </a:bodyPr>
          <a:lstStyle/>
          <a:p>
            <a:r>
              <a:rPr lang="en-GB" sz="2400" dirty="0">
                <a:latin typeface="Calibri" panose="020F0502020204030204" pitchFamily="34" charset="0"/>
                <a:ea typeface="Calibri" panose="020F0502020204030204" pitchFamily="34" charset="0"/>
              </a:rPr>
              <a:t>In which category would you find the block to ask a question?</a:t>
            </a:r>
            <a:endParaRPr lang="en-GB" sz="2400" dirty="0"/>
          </a:p>
        </p:txBody>
      </p:sp>
      <p:pic>
        <p:nvPicPr>
          <p:cNvPr id="4" name="Picture 3" descr="Graphical user interface, application&#10;&#10;Description automatically generated">
            <a:extLst>
              <a:ext uri="{FF2B5EF4-FFF2-40B4-BE49-F238E27FC236}">
                <a16:creationId xmlns:a16="http://schemas.microsoft.com/office/drawing/2014/main" id="{5010A937-8E09-4B16-99EE-F501F849A4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61225" y="3680641"/>
            <a:ext cx="7469549" cy="1966982"/>
          </a:xfrm>
          <a:prstGeom prst="rect">
            <a:avLst/>
          </a:prstGeom>
        </p:spPr>
      </p:pic>
    </p:spTree>
    <p:extLst>
      <p:ext uri="{BB962C8B-B14F-4D97-AF65-F5344CB8AC3E}">
        <p14:creationId xmlns:p14="http://schemas.microsoft.com/office/powerpoint/2010/main" val="31033909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608882" y="805698"/>
            <a:ext cx="9783417" cy="865740"/>
          </a:xfrm>
        </p:spPr>
        <p:txBody>
          <a:bodyPr/>
          <a:lstStyle/>
          <a:p>
            <a:r>
              <a:rPr lang="en-GB" b="1" dirty="0">
                <a:solidFill>
                  <a:schemeClr val="bg1"/>
                </a:solidFill>
              </a:rPr>
              <a:t>Question 4</a:t>
            </a:r>
          </a:p>
        </p:txBody>
      </p:sp>
      <p:sp>
        <p:nvSpPr>
          <p:cNvPr id="5" name="Rectangle 4">
            <a:extLst>
              <a:ext uri="{FF2B5EF4-FFF2-40B4-BE49-F238E27FC236}">
                <a16:creationId xmlns:a16="http://schemas.microsoft.com/office/drawing/2014/main" id="{21806B4C-DA32-429F-9876-49CF7DD8A5EC}"/>
              </a:ext>
            </a:extLst>
          </p:cNvPr>
          <p:cNvSpPr/>
          <p:nvPr/>
        </p:nvSpPr>
        <p:spPr>
          <a:xfrm>
            <a:off x="1608882" y="2144422"/>
            <a:ext cx="4599272" cy="461665"/>
          </a:xfrm>
          <a:prstGeom prst="rect">
            <a:avLst/>
          </a:prstGeom>
        </p:spPr>
        <p:txBody>
          <a:bodyPr wrap="square">
            <a:spAutoFit/>
          </a:bodyPr>
          <a:lstStyle/>
          <a:p>
            <a:r>
              <a:rPr lang="en-GB" sz="2400" dirty="0">
                <a:latin typeface="Calibri" panose="020F0502020204030204" pitchFamily="34" charset="0"/>
              </a:rPr>
              <a:t>What is wrong with this code?</a:t>
            </a:r>
          </a:p>
        </p:txBody>
      </p:sp>
      <p:pic>
        <p:nvPicPr>
          <p:cNvPr id="4" name="Picture 3" descr="Graphical user interface&#10;&#10;Description automatically generated">
            <a:extLst>
              <a:ext uri="{FF2B5EF4-FFF2-40B4-BE49-F238E27FC236}">
                <a16:creationId xmlns:a16="http://schemas.microsoft.com/office/drawing/2014/main" id="{1394FDB8-0F0D-4248-B435-3B73450703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29782" y="2606087"/>
            <a:ext cx="4932435" cy="3767293"/>
          </a:xfrm>
          <a:prstGeom prst="rect">
            <a:avLst/>
          </a:prstGeom>
        </p:spPr>
      </p:pic>
    </p:spTree>
    <p:extLst>
      <p:ext uri="{BB962C8B-B14F-4D97-AF65-F5344CB8AC3E}">
        <p14:creationId xmlns:p14="http://schemas.microsoft.com/office/powerpoint/2010/main" val="6562736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608882" y="805698"/>
            <a:ext cx="9783417" cy="865740"/>
          </a:xfrm>
        </p:spPr>
        <p:txBody>
          <a:bodyPr/>
          <a:lstStyle/>
          <a:p>
            <a:r>
              <a:rPr lang="en-GB" b="1" dirty="0">
                <a:solidFill>
                  <a:schemeClr val="bg1"/>
                </a:solidFill>
              </a:rPr>
              <a:t>Question 5</a:t>
            </a:r>
          </a:p>
        </p:txBody>
      </p:sp>
      <p:sp>
        <p:nvSpPr>
          <p:cNvPr id="5" name="Rectangle 4">
            <a:extLst>
              <a:ext uri="{FF2B5EF4-FFF2-40B4-BE49-F238E27FC236}">
                <a16:creationId xmlns:a16="http://schemas.microsoft.com/office/drawing/2014/main" id="{21806B4C-DA32-429F-9876-49CF7DD8A5EC}"/>
              </a:ext>
            </a:extLst>
          </p:cNvPr>
          <p:cNvSpPr/>
          <p:nvPr/>
        </p:nvSpPr>
        <p:spPr>
          <a:xfrm>
            <a:off x="1496727" y="1907330"/>
            <a:ext cx="6036187" cy="830997"/>
          </a:xfrm>
          <a:prstGeom prst="rect">
            <a:avLst/>
          </a:prstGeom>
        </p:spPr>
        <p:txBody>
          <a:bodyPr wrap="square">
            <a:spAutoFit/>
          </a:bodyPr>
          <a:lstStyle/>
          <a:p>
            <a:r>
              <a:rPr lang="en-GB" sz="2400" dirty="0">
                <a:latin typeface="Calibri" panose="020F0502020204030204" pitchFamily="34" charset="0"/>
              </a:rPr>
              <a:t>How many variables are there in this code? What are the names of the variables?</a:t>
            </a:r>
          </a:p>
        </p:txBody>
      </p:sp>
      <p:pic>
        <p:nvPicPr>
          <p:cNvPr id="9" name="Picture 8" descr="Graphical user interface, application&#10;&#10;Description automatically generated">
            <a:extLst>
              <a:ext uri="{FF2B5EF4-FFF2-40B4-BE49-F238E27FC236}">
                <a16:creationId xmlns:a16="http://schemas.microsoft.com/office/drawing/2014/main" id="{155DE563-1021-467B-989D-EE755CB2C8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20718" y="2738327"/>
            <a:ext cx="5150563" cy="3836644"/>
          </a:xfrm>
          <a:prstGeom prst="rect">
            <a:avLst/>
          </a:prstGeom>
        </p:spPr>
      </p:pic>
    </p:spTree>
    <p:extLst>
      <p:ext uri="{BB962C8B-B14F-4D97-AF65-F5344CB8AC3E}">
        <p14:creationId xmlns:p14="http://schemas.microsoft.com/office/powerpoint/2010/main" val="42009392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608882" y="805698"/>
            <a:ext cx="9783417" cy="865740"/>
          </a:xfrm>
        </p:spPr>
        <p:txBody>
          <a:bodyPr/>
          <a:lstStyle/>
          <a:p>
            <a:r>
              <a:rPr lang="en-GB" b="1" dirty="0">
                <a:solidFill>
                  <a:schemeClr val="bg1"/>
                </a:solidFill>
              </a:rPr>
              <a:t>Question 6</a:t>
            </a:r>
          </a:p>
        </p:txBody>
      </p:sp>
      <p:sp>
        <p:nvSpPr>
          <p:cNvPr id="5" name="Rectangle 4">
            <a:extLst>
              <a:ext uri="{FF2B5EF4-FFF2-40B4-BE49-F238E27FC236}">
                <a16:creationId xmlns:a16="http://schemas.microsoft.com/office/drawing/2014/main" id="{21806B4C-DA32-429F-9876-49CF7DD8A5EC}"/>
              </a:ext>
            </a:extLst>
          </p:cNvPr>
          <p:cNvSpPr/>
          <p:nvPr/>
        </p:nvSpPr>
        <p:spPr>
          <a:xfrm>
            <a:off x="1608882" y="1976904"/>
            <a:ext cx="9006109" cy="461665"/>
          </a:xfrm>
          <a:prstGeom prst="rect">
            <a:avLst/>
          </a:prstGeom>
        </p:spPr>
        <p:txBody>
          <a:bodyPr wrap="square">
            <a:spAutoFit/>
          </a:bodyPr>
          <a:lstStyle/>
          <a:p>
            <a:r>
              <a:rPr lang="en-GB" sz="2400" dirty="0">
                <a:latin typeface="Calibri" panose="020F0502020204030204" pitchFamily="34" charset="0"/>
              </a:rPr>
              <a:t>What would the cat say on screen when the program is run?</a:t>
            </a:r>
          </a:p>
        </p:txBody>
      </p:sp>
      <p:pic>
        <p:nvPicPr>
          <p:cNvPr id="4" name="Picture 3" descr="Graphical user interface, text&#10;&#10;Description automatically generated">
            <a:extLst>
              <a:ext uri="{FF2B5EF4-FFF2-40B4-BE49-F238E27FC236}">
                <a16:creationId xmlns:a16="http://schemas.microsoft.com/office/drawing/2014/main" id="{B1BA5A44-C01C-46B7-BEEC-BB47CC69C5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08882" y="2854234"/>
            <a:ext cx="9793067" cy="2905530"/>
          </a:xfrm>
          <a:prstGeom prst="rect">
            <a:avLst/>
          </a:prstGeom>
        </p:spPr>
      </p:pic>
    </p:spTree>
    <p:extLst>
      <p:ext uri="{BB962C8B-B14F-4D97-AF65-F5344CB8AC3E}">
        <p14:creationId xmlns:p14="http://schemas.microsoft.com/office/powerpoint/2010/main" val="2205538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608882" y="796072"/>
            <a:ext cx="10037685" cy="865740"/>
          </a:xfrm>
        </p:spPr>
        <p:txBody>
          <a:bodyPr>
            <a:normAutofit/>
          </a:bodyPr>
          <a:lstStyle/>
          <a:p>
            <a:r>
              <a:rPr lang="en-GB" b="1">
                <a:solidFill>
                  <a:schemeClr val="bg1"/>
                </a:solidFill>
              </a:rPr>
              <a:t>Quiz 3</a:t>
            </a:r>
            <a:endParaRPr lang="en-GB" b="1" dirty="0">
              <a:solidFill>
                <a:schemeClr val="bg1"/>
              </a:solidFill>
            </a:endParaRP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2216" y="1967027"/>
            <a:ext cx="4587567" cy="4494840"/>
          </a:xfrm>
          <a:prstGeom prst="rect">
            <a:avLst/>
          </a:prstGeom>
        </p:spPr>
      </p:pic>
    </p:spTree>
    <p:extLst>
      <p:ext uri="{BB962C8B-B14F-4D97-AF65-F5344CB8AC3E}">
        <p14:creationId xmlns:p14="http://schemas.microsoft.com/office/powerpoint/2010/main" val="9877359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417</TotalTime>
  <Words>656</Words>
  <Application>Microsoft Office PowerPoint</Application>
  <PresentationFormat>Widescreen</PresentationFormat>
  <Paragraphs>54</Paragraphs>
  <Slides>20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Arial</vt:lpstr>
      <vt:lpstr>Calibri</vt:lpstr>
      <vt:lpstr>Calibri Light</vt:lpstr>
      <vt:lpstr>Courier New</vt:lpstr>
      <vt:lpstr>Noto Sans Symbols</vt:lpstr>
      <vt:lpstr>Times New Roman</vt:lpstr>
      <vt:lpstr>Office Theme</vt:lpstr>
      <vt:lpstr>Programming in Scratch</vt:lpstr>
      <vt:lpstr>Objectives</vt:lpstr>
      <vt:lpstr>What do you already know? </vt:lpstr>
      <vt:lpstr>Variables </vt:lpstr>
      <vt:lpstr>Understanding variables </vt:lpstr>
      <vt:lpstr>Variables in Scratch </vt:lpstr>
      <vt:lpstr> New blocks </vt:lpstr>
      <vt:lpstr>New blocks</vt:lpstr>
      <vt:lpstr>New blocks</vt:lpstr>
      <vt:lpstr>PowerPoint Presentation</vt:lpstr>
      <vt:lpstr>Activity 3.2: Asking your name </vt:lpstr>
      <vt:lpstr>Activity 3.3: Shopping list </vt:lpstr>
      <vt:lpstr>Activity 3.4: Chatbot aka ‘Cat Bot’ </vt:lpstr>
      <vt:lpstr>Question 1</vt:lpstr>
      <vt:lpstr>Question 2</vt:lpstr>
      <vt:lpstr>Question 3</vt:lpstr>
      <vt:lpstr>Question 4</vt:lpstr>
      <vt:lpstr>Question 5</vt:lpstr>
      <vt:lpstr>Question 6</vt:lpstr>
      <vt:lpstr>Quiz 3</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Windows User</cp:lastModifiedBy>
  <cp:revision>39</cp:revision>
  <dcterms:created xsi:type="dcterms:W3CDTF">2020-11-04T15:22:46Z</dcterms:created>
  <dcterms:modified xsi:type="dcterms:W3CDTF">2021-07-07T16:37:49Z</dcterms:modified>
</cp:coreProperties>
</file>