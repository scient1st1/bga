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74" r:id="rId8"/>
    <p:sldId id="286" r:id="rId9"/>
    <p:sldId id="276" r:id="rId10"/>
    <p:sldId id="275" r:id="rId11"/>
    <p:sldId id="283" r:id="rId12"/>
    <p:sldId id="287" r:id="rId13"/>
    <p:sldId id="284" r:id="rId14"/>
    <p:sldId id="288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3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0613"/>
    <a:srgbClr val="006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68" autoAdjust="0"/>
    <p:restoredTop sz="94660"/>
  </p:normalViewPr>
  <p:slideViewPr>
    <p:cSldViewPr snapToGrid="0">
      <p:cViewPr varScale="1">
        <p:scale>
          <a:sx n="65" d="100"/>
          <a:sy n="65" d="100"/>
        </p:scale>
        <p:origin x="5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00FF46-9591-E444-B749-96268477A6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8036" cy="16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gif"/><Relationship Id="rId4" Type="http://schemas.openxmlformats.org/officeDocument/2006/relationships/image" Target="../media/image16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8958" y="3010438"/>
            <a:ext cx="5931016" cy="915850"/>
          </a:xfrm>
        </p:spPr>
        <p:txBody>
          <a:bodyPr>
            <a:noAutofit/>
          </a:bodyPr>
          <a:lstStyle/>
          <a:p>
            <a:pPr algn="l"/>
            <a:r>
              <a:rPr lang="en-GB" sz="4800" b="1" dirty="0"/>
              <a:t>Programming in Scratch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1210554" y="3916679"/>
            <a:ext cx="50319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rgbClr val="E30613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4: Selection</a:t>
            </a:r>
          </a:p>
          <a:p>
            <a:pPr algn="r"/>
            <a:endParaRPr lang="en-GB" sz="2000" b="1" dirty="0">
              <a:solidFill>
                <a:srgbClr val="E3061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7B39F-99FC-432D-B100-95B9F0B14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669" y="2704323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627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413" y="806893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C36740-8540-4D8B-8D9C-EA9F1DCA5808}"/>
              </a:ext>
            </a:extLst>
          </p:cNvPr>
          <p:cNvSpPr/>
          <p:nvPr/>
        </p:nvSpPr>
        <p:spPr>
          <a:xfrm>
            <a:off x="1610413" y="2397948"/>
            <a:ext cx="671857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</a:rPr>
              <a:t>In this lesson, you will learn how to: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Noto Sans Symbols"/>
                <a:cs typeface="Noto Sans Symbols"/>
              </a:rPr>
              <a:t>define selection</a:t>
            </a: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Noto Sans Symbols"/>
                <a:cs typeface="Noto Sans Symbols"/>
              </a:rPr>
              <a:t>perform calculations using variables</a:t>
            </a: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Noto Sans Symbols"/>
                <a:cs typeface="Noto Sans Symbols"/>
              </a:rPr>
              <a:t>alter the pathway of a program using selection</a:t>
            </a: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Noto Sans Symbols"/>
                <a:cs typeface="Noto Sans Symbols"/>
              </a:rPr>
              <a:t>use if-else statements to check a single condition</a:t>
            </a: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Noto Sans Symbols"/>
                <a:cs typeface="Noto Sans Symbols"/>
              </a:rPr>
              <a:t>use nested if-else statements to check multiple conditions.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878" y="802881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What do you already know?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D50FE-CE84-460E-B8C7-224F80E0B881}"/>
              </a:ext>
            </a:extLst>
          </p:cNvPr>
          <p:cNvSpPr/>
          <p:nvPr/>
        </p:nvSpPr>
        <p:spPr>
          <a:xfrm>
            <a:off x="1613879" y="2237556"/>
            <a:ext cx="51745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ea typeface="Times New Roman" panose="02020603050405020304" pitchFamily="18" charset="0"/>
                <a:cs typeface="Courier New" panose="02070309020205020404" pitchFamily="49" charset="0"/>
              </a:rPr>
              <a:t>Activity 4.1: Single condition selection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3A5B25-0227-7043-8E23-78A70282E54A}"/>
              </a:ext>
            </a:extLst>
          </p:cNvPr>
          <p:cNvSpPr/>
          <p:nvPr/>
        </p:nvSpPr>
        <p:spPr>
          <a:xfrm>
            <a:off x="1613878" y="3417243"/>
            <a:ext cx="4520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ea typeface="Calibri" panose="020F0502020204030204" pitchFamily="34" charset="0"/>
              </a:rPr>
              <a:t>Now complete Interactive quiz 4.1.</a:t>
            </a:r>
            <a:endParaRPr lang="en-US" sz="2400" dirty="0"/>
          </a:p>
        </p:txBody>
      </p:sp>
      <p:pic>
        <p:nvPicPr>
          <p:cNvPr id="8" name="Picture 7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A8025162-2C19-2044-A6D1-5F669818E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427" y="1811969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16265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Programming constructs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E22C0-194E-42FD-A61E-B59B42CAFD46}"/>
              </a:ext>
            </a:extLst>
          </p:cNvPr>
          <p:cNvSpPr/>
          <p:nvPr/>
        </p:nvSpPr>
        <p:spPr>
          <a:xfrm>
            <a:off x="1620078" y="2242686"/>
            <a:ext cx="753386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dirty="0">
                <a:ea typeface="Calibri" panose="020F0502020204030204" pitchFamily="34" charset="0"/>
              </a:rPr>
              <a:t>Previously, we have looked at sequencing and how this works in programming. Sequencing is one of three key programming constructs:</a:t>
            </a: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ea typeface="Calibri" panose="020F0502020204030204" pitchFamily="34" charset="0"/>
              </a:rPr>
              <a:t>Sequence</a:t>
            </a: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ea typeface="Calibri" panose="020F0502020204030204" pitchFamily="34" charset="0"/>
              </a:rPr>
              <a:t>Selection</a:t>
            </a: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ea typeface="Calibri" panose="020F0502020204030204" pitchFamily="34" charset="0"/>
              </a:rPr>
              <a:t>Iteration</a:t>
            </a:r>
          </a:p>
          <a:p>
            <a:pPr>
              <a:spcAft>
                <a:spcPts val="0"/>
              </a:spcAft>
            </a:pPr>
            <a:endParaRPr lang="en-GB" sz="2400" dirty="0"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GB" sz="2400" dirty="0">
                <a:ea typeface="Calibri" panose="020F0502020204030204" pitchFamily="34" charset="0"/>
              </a:rPr>
              <a:t>These three concepts are crucial to allow us to solve problems, both in programming and day to day.</a:t>
            </a:r>
          </a:p>
          <a:p>
            <a:pPr>
              <a:spcAft>
                <a:spcPts val="0"/>
              </a:spcAft>
            </a:pPr>
            <a:r>
              <a:rPr lang="en-GB" sz="2400" dirty="0">
                <a:ea typeface="Calibri" panose="020F0502020204030204" pitchFamily="34" charset="0"/>
              </a:rPr>
              <a:t>Today, we will focus on selection.</a:t>
            </a:r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25" y="815951"/>
            <a:ext cx="9753599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Selection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9BE3F4-C108-451B-99D9-0BC0BC54E6E7}"/>
              </a:ext>
            </a:extLst>
          </p:cNvPr>
          <p:cNvSpPr/>
          <p:nvPr/>
        </p:nvSpPr>
        <p:spPr>
          <a:xfrm>
            <a:off x="1608325" y="2274838"/>
            <a:ext cx="89753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E30613"/>
                </a:solidFill>
              </a:rPr>
              <a:t>Selection</a:t>
            </a:r>
            <a:r>
              <a:rPr lang="en-GB" sz="2400" dirty="0"/>
              <a:t> is used to check a condition and then do one thing if the condition is </a:t>
            </a:r>
            <a:r>
              <a:rPr lang="en-GB" sz="2400" b="1" dirty="0"/>
              <a:t>True</a:t>
            </a:r>
            <a:r>
              <a:rPr lang="en-GB" sz="2400" dirty="0"/>
              <a:t> and another thing if the condition is </a:t>
            </a:r>
            <a:r>
              <a:rPr lang="en-GB" sz="2400" b="1" dirty="0"/>
              <a:t>False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r>
              <a:rPr lang="en-GB" sz="2400" dirty="0"/>
              <a:t>In programming, this is done using </a:t>
            </a:r>
            <a:r>
              <a:rPr lang="en-GB" sz="2400" b="1" dirty="0">
                <a:solidFill>
                  <a:srgbClr val="E30613"/>
                </a:solidFill>
              </a:rPr>
              <a:t>if statements</a:t>
            </a:r>
            <a:r>
              <a:rPr lang="en-GB" sz="2400" dirty="0">
                <a:solidFill>
                  <a:srgbClr val="E30613"/>
                </a:solidFill>
              </a:rPr>
              <a:t> </a:t>
            </a:r>
            <a:r>
              <a:rPr lang="en-GB" sz="2400" dirty="0"/>
              <a:t>and </a:t>
            </a:r>
            <a:r>
              <a:rPr lang="en-GB" sz="2400" b="1" dirty="0">
                <a:solidFill>
                  <a:srgbClr val="FF0000"/>
                </a:solidFill>
              </a:rPr>
              <a:t>if-</a:t>
            </a:r>
            <a:r>
              <a:rPr lang="en-GB" sz="2400" b="1" dirty="0">
                <a:solidFill>
                  <a:srgbClr val="E30613"/>
                </a:solidFill>
              </a:rPr>
              <a:t>else statements</a:t>
            </a:r>
            <a:r>
              <a:rPr lang="en-GB" sz="2400" dirty="0"/>
              <a:t>. You may have come across the </a:t>
            </a:r>
            <a:r>
              <a:rPr lang="en-GB" sz="2400" dirty="0">
                <a:latin typeface="Courier" pitchFamily="2" charset="0"/>
              </a:rPr>
              <a:t>IF </a:t>
            </a:r>
            <a:r>
              <a:rPr lang="en-GB" sz="2400" dirty="0"/>
              <a:t>function in spreadsheets, if-else statements work in exactly same way.</a:t>
            </a:r>
          </a:p>
        </p:txBody>
      </p:sp>
    </p:spTree>
    <p:extLst>
      <p:ext uri="{BB962C8B-B14F-4D97-AF65-F5344CB8AC3E}">
        <p14:creationId xmlns:p14="http://schemas.microsoft.com/office/powerpoint/2010/main" val="353817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BA82-FE7D-4DE6-BC00-A388E38B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567" y="815637"/>
            <a:ext cx="9793357" cy="85580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Selection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6FA37-1AB0-9A4E-96EA-D316BF4077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08567" y="2361164"/>
            <a:ext cx="3848928" cy="35493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D202D2-2C89-824E-9C79-CEB0BF62EDEA}"/>
              </a:ext>
            </a:extLst>
          </p:cNvPr>
          <p:cNvSpPr txBox="1"/>
          <p:nvPr/>
        </p:nvSpPr>
        <p:spPr>
          <a:xfrm>
            <a:off x="5441589" y="3743231"/>
            <a:ext cx="5767096" cy="430887"/>
          </a:xfrm>
          <a:prstGeom prst="rect">
            <a:avLst/>
          </a:prstGeom>
          <a:noFill/>
          <a:ln>
            <a:solidFill>
              <a:srgbClr val="E30613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CONDITION CHECK: this is what is being checked.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25D712-2CA7-3640-9FA2-86927FB795E3}"/>
              </a:ext>
            </a:extLst>
          </p:cNvPr>
          <p:cNvSpPr txBox="1"/>
          <p:nvPr/>
        </p:nvSpPr>
        <p:spPr>
          <a:xfrm>
            <a:off x="5457495" y="4320833"/>
            <a:ext cx="5783002" cy="1323439"/>
          </a:xfrm>
          <a:prstGeom prst="rect">
            <a:avLst/>
          </a:prstGeom>
          <a:noFill/>
          <a:ln>
            <a:solidFill>
              <a:srgbClr val="E30613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DO IF TRUE: This is what the program will do if the condition is True.</a:t>
            </a:r>
          </a:p>
          <a:p>
            <a:r>
              <a:rPr lang="en-GB" sz="2000" dirty="0"/>
              <a:t>If statements will only do something if the condition is </a:t>
            </a:r>
            <a:r>
              <a:rPr lang="en-GB" sz="2000" b="1" dirty="0"/>
              <a:t>True</a:t>
            </a:r>
            <a:r>
              <a:rPr lang="en-GB" sz="2000" dirty="0"/>
              <a:t>, but what about if it is </a:t>
            </a:r>
            <a:r>
              <a:rPr lang="en-GB" sz="2000" b="1" dirty="0"/>
              <a:t>False?</a:t>
            </a:r>
            <a:endParaRPr lang="en-GB" sz="20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E62F80-6FAA-8A40-BE52-EAD34C4B7306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015409" y="3958675"/>
            <a:ext cx="1426180" cy="362158"/>
          </a:xfrm>
          <a:prstGeom prst="straightConnector1">
            <a:avLst/>
          </a:prstGeom>
          <a:ln>
            <a:solidFill>
              <a:srgbClr val="E306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B79159-8F42-CB45-B5FD-42EFCD90633D}"/>
              </a:ext>
            </a:extLst>
          </p:cNvPr>
          <p:cNvCxnSpPr>
            <a:cxnSpLocks/>
          </p:cNvCxnSpPr>
          <p:nvPr/>
        </p:nvCxnSpPr>
        <p:spPr>
          <a:xfrm flipH="1">
            <a:off x="4422913" y="4645089"/>
            <a:ext cx="1034582" cy="344354"/>
          </a:xfrm>
          <a:prstGeom prst="straightConnector1">
            <a:avLst/>
          </a:prstGeom>
          <a:ln>
            <a:solidFill>
              <a:srgbClr val="E306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003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7B69A8-2E91-A64F-92E4-036585A4590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610" y="2638751"/>
            <a:ext cx="3390900" cy="35382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 Selection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B631DC-ADA6-A44F-BB43-24CA8873F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610" y="1983498"/>
            <a:ext cx="796187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7277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2400" dirty="0">
                <a:latin typeface="+mn-lt"/>
              </a:rPr>
              <a:t>This is an example of an if-else statement: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27700" algn="r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12B3A-D4BF-8A4A-9795-91ED12299D91}"/>
              </a:ext>
            </a:extLst>
          </p:cNvPr>
          <p:cNvSpPr txBox="1"/>
          <p:nvPr/>
        </p:nvSpPr>
        <p:spPr>
          <a:xfrm>
            <a:off x="6326260" y="3260591"/>
            <a:ext cx="4880113" cy="369332"/>
          </a:xfrm>
          <a:prstGeom prst="rect">
            <a:avLst/>
          </a:prstGeom>
          <a:noFill/>
          <a:ln>
            <a:solidFill>
              <a:srgbClr val="E30613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CONDITION CHECK: this is what is being checked.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017E1-2279-0D4E-869E-85EBCE16C74E}"/>
              </a:ext>
            </a:extLst>
          </p:cNvPr>
          <p:cNvSpPr txBox="1"/>
          <p:nvPr/>
        </p:nvSpPr>
        <p:spPr>
          <a:xfrm>
            <a:off x="5794514" y="4067014"/>
            <a:ext cx="4880113" cy="646331"/>
          </a:xfrm>
          <a:prstGeom prst="rect">
            <a:avLst/>
          </a:prstGeom>
          <a:noFill/>
          <a:ln>
            <a:solidFill>
              <a:srgbClr val="E30613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DO IF TRUE: This is what the program will do if the condition is True.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898F8C-1984-E44C-B267-F6C7955899A9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199290" y="3445257"/>
            <a:ext cx="2126970" cy="975791"/>
          </a:xfrm>
          <a:prstGeom prst="straightConnector1">
            <a:avLst/>
          </a:prstGeom>
          <a:ln>
            <a:solidFill>
              <a:srgbClr val="E306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49A276-A61E-7E47-9104-225A46B22CE8}"/>
              </a:ext>
            </a:extLst>
          </p:cNvPr>
          <p:cNvCxnSpPr>
            <a:cxnSpLocks/>
          </p:cNvCxnSpPr>
          <p:nvPr/>
        </p:nvCxnSpPr>
        <p:spPr>
          <a:xfrm flipH="1">
            <a:off x="4081676" y="4386324"/>
            <a:ext cx="1709531" cy="471815"/>
          </a:xfrm>
          <a:prstGeom prst="straightConnector1">
            <a:avLst/>
          </a:prstGeom>
          <a:ln>
            <a:solidFill>
              <a:srgbClr val="E306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3C95318-83D6-BE42-A654-980F57453A49}"/>
              </a:ext>
            </a:extLst>
          </p:cNvPr>
          <p:cNvSpPr txBox="1"/>
          <p:nvPr/>
        </p:nvSpPr>
        <p:spPr>
          <a:xfrm>
            <a:off x="4591878" y="4870892"/>
            <a:ext cx="7224282" cy="369332"/>
          </a:xfrm>
          <a:prstGeom prst="rect">
            <a:avLst/>
          </a:prstGeom>
          <a:noFill/>
          <a:ln>
            <a:solidFill>
              <a:srgbClr val="E30613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DO IF FALSE: This is what the program will do if the condition is False.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413363-FE77-A94C-BDAF-A611FBF49C1D}"/>
              </a:ext>
            </a:extLst>
          </p:cNvPr>
          <p:cNvCxnSpPr>
            <a:cxnSpLocks/>
          </p:cNvCxnSpPr>
          <p:nvPr/>
        </p:nvCxnSpPr>
        <p:spPr>
          <a:xfrm flipH="1">
            <a:off x="3995530" y="5171816"/>
            <a:ext cx="596348" cy="4519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34EE708-5DF8-8E4F-9728-4FAE65856089}"/>
              </a:ext>
            </a:extLst>
          </p:cNvPr>
          <p:cNvSpPr/>
          <p:nvPr/>
        </p:nvSpPr>
        <p:spPr>
          <a:xfrm>
            <a:off x="4936441" y="5373008"/>
            <a:ext cx="66908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If-else statements will perform one action if the condition is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 and another if it is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</a:rPr>
              <a:t>False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. They will not perform both actions.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 watch Video 4.1</a:t>
            </a:r>
            <a:endParaRPr lang="en-GB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121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4.2: Social media sign up 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474" y="1877575"/>
            <a:ext cx="4587567" cy="44948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F1A58C0-E408-E941-BE92-61C8831FB0E9}"/>
              </a:ext>
            </a:extLst>
          </p:cNvPr>
          <p:cNvSpPr/>
          <p:nvPr/>
        </p:nvSpPr>
        <p:spPr>
          <a:xfrm>
            <a:off x="2465879" y="1877575"/>
            <a:ext cx="2835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finished solution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1F89355-6FFC-554C-A54F-45C43D46D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5" y="2462670"/>
            <a:ext cx="4312418" cy="341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00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2BA124-05CA-B244-99F6-0FB4CC505FF7}"/>
              </a:ext>
            </a:extLst>
          </p:cNvPr>
          <p:cNvSpPr/>
          <p:nvPr/>
        </p:nvSpPr>
        <p:spPr>
          <a:xfrm>
            <a:off x="1614695" y="862612"/>
            <a:ext cx="921917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  <a:latin typeface="+mj-lt"/>
              </a:rPr>
              <a:t>Activity 4.3: Savings </a:t>
            </a:r>
            <a:endParaRPr lang="en-US" sz="4400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E3C59D-D3A5-474F-9DCD-12FE87BADA09}"/>
              </a:ext>
            </a:extLst>
          </p:cNvPr>
          <p:cNvSpPr/>
          <p:nvPr/>
        </p:nvSpPr>
        <p:spPr>
          <a:xfrm>
            <a:off x="1531855" y="3285899"/>
            <a:ext cx="3098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finished solution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04D90-983B-7D46-91A8-1E2C38E3ABBF}"/>
              </a:ext>
            </a:extLst>
          </p:cNvPr>
          <p:cNvSpPr/>
          <p:nvPr/>
        </p:nvSpPr>
        <p:spPr>
          <a:xfrm>
            <a:off x="4768456" y="3253345"/>
            <a:ext cx="240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</a:t>
            </a:r>
            <a:r>
              <a:rPr lang="en-GB" dirty="0"/>
              <a:t>extension 1 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C632F-5C7C-6848-883E-642AF5B96DF1}"/>
              </a:ext>
            </a:extLst>
          </p:cNvPr>
          <p:cNvSpPr/>
          <p:nvPr/>
        </p:nvSpPr>
        <p:spPr>
          <a:xfrm>
            <a:off x="8100188" y="3271239"/>
            <a:ext cx="240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</a:t>
            </a:r>
            <a:r>
              <a:rPr lang="en-GB" dirty="0"/>
              <a:t>extension 2 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AC29CD6C-A08A-A24E-8E1E-EBC62ABF5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866" y="4052957"/>
            <a:ext cx="3098800" cy="2336800"/>
          </a:xfrm>
          <a:prstGeom prst="rect">
            <a:avLst/>
          </a:prstGeom>
        </p:spPr>
      </p:pic>
      <p:pic>
        <p:nvPicPr>
          <p:cNvPr id="14" name="Picture 13" descr="Logo&#10;&#10;Description automatically generated with medium confidence">
            <a:extLst>
              <a:ext uri="{FF2B5EF4-FFF2-40B4-BE49-F238E27FC236}">
                <a16:creationId xmlns:a16="http://schemas.microsoft.com/office/drawing/2014/main" id="{B51DFE5C-DB59-AF46-AFA4-EEB09D570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00" y="4052957"/>
            <a:ext cx="3098800" cy="2336800"/>
          </a:xfrm>
          <a:prstGeom prst="rect">
            <a:avLst/>
          </a:prstGeom>
        </p:spPr>
      </p:pic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042B8201-2294-124B-A3B0-AC0CEB8140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334" y="4060688"/>
            <a:ext cx="3098800" cy="2336800"/>
          </a:xfrm>
          <a:prstGeom prst="rect">
            <a:avLst/>
          </a:prstGeom>
        </p:spPr>
      </p:pic>
      <p:pic>
        <p:nvPicPr>
          <p:cNvPr id="19" name="Picture 18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56D67381-4498-9443-8374-4CDD3E35D20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400" y="1696803"/>
            <a:ext cx="1650333" cy="161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8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Multiple condition selection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2A57EB-B7EC-F042-96F4-DE1C162473B1}"/>
              </a:ext>
            </a:extLst>
          </p:cNvPr>
          <p:cNvSpPr/>
          <p:nvPr/>
        </p:nvSpPr>
        <p:spPr>
          <a:xfrm>
            <a:off x="1589632" y="2332528"/>
            <a:ext cx="822029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ea typeface="Calibri" panose="020F0502020204030204" pitchFamily="34" charset="0"/>
              </a:rPr>
              <a:t>We have seen how you can use selection to check one condition. But what if you need to check more than one condition?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ea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ea typeface="Calibri" panose="020F0502020204030204" pitchFamily="34" charset="0"/>
              </a:rPr>
              <a:t>You can nest if-else statements inside if-else statements, so that </a:t>
            </a:r>
            <a:r>
              <a:rPr lang="en-GB" sz="2800" b="1" dirty="0">
                <a:ea typeface="Calibri" panose="020F0502020204030204" pitchFamily="34" charset="0"/>
              </a:rPr>
              <a:t>multiple conditions</a:t>
            </a:r>
            <a:r>
              <a:rPr lang="en-GB" sz="2800" dirty="0">
                <a:ea typeface="Calibri" panose="020F0502020204030204" pitchFamily="34" charset="0"/>
              </a:rPr>
              <a:t> can be checked.</a:t>
            </a:r>
            <a:endParaRPr lang="en-GB" sz="28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928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Multiple condition selection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0FC3E5-E7BC-BD4E-BA1B-96EBE84F580A}"/>
              </a:ext>
            </a:extLst>
          </p:cNvPr>
          <p:cNvSpPr/>
          <p:nvPr/>
        </p:nvSpPr>
        <p:spPr>
          <a:xfrm>
            <a:off x="1589632" y="2051638"/>
            <a:ext cx="65125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This is an example of how you can check multiple conditions:</a:t>
            </a:r>
            <a:endParaRPr lang="en-GB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FF284C-1BE9-A641-9CD3-5B0DA627FC1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632" y="2841574"/>
            <a:ext cx="2942611" cy="3825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5BBBBD-000A-1143-8248-C8EA4EB2CF84}"/>
              </a:ext>
            </a:extLst>
          </p:cNvPr>
          <p:cNvSpPr txBox="1"/>
          <p:nvPr/>
        </p:nvSpPr>
        <p:spPr>
          <a:xfrm>
            <a:off x="4770782" y="3196354"/>
            <a:ext cx="402534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FIRST CONDITION CHECK: this is what is being checked first.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EA3C0-EAD9-864A-904C-33311A4351F3}"/>
              </a:ext>
            </a:extLst>
          </p:cNvPr>
          <p:cNvSpPr txBox="1"/>
          <p:nvPr/>
        </p:nvSpPr>
        <p:spPr>
          <a:xfrm>
            <a:off x="5400263" y="3837221"/>
            <a:ext cx="413467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DO IF TRUE: This is what the program will do if the first condition is True.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B510E-CF48-A742-B0D5-04D80975DB5D}"/>
              </a:ext>
            </a:extLst>
          </p:cNvPr>
          <p:cNvSpPr txBox="1"/>
          <p:nvPr/>
        </p:nvSpPr>
        <p:spPr>
          <a:xfrm>
            <a:off x="5301498" y="4526020"/>
            <a:ext cx="5422824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SECOND CONDITION CHECK: This is what the program will do if the first condition is False. It will check a second condition.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687C2A-583F-214B-A7C5-0C91A0CE9A1A}"/>
              </a:ext>
            </a:extLst>
          </p:cNvPr>
          <p:cNvSpPr txBox="1"/>
          <p:nvPr/>
        </p:nvSpPr>
        <p:spPr>
          <a:xfrm>
            <a:off x="5400262" y="5214819"/>
            <a:ext cx="5711685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DO IF TRUE: This is what the program will do if the first condition is False and the second condition is True.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DDE667-B762-3444-B952-CC25E5A36049}"/>
              </a:ext>
            </a:extLst>
          </p:cNvPr>
          <p:cNvSpPr txBox="1"/>
          <p:nvPr/>
        </p:nvSpPr>
        <p:spPr>
          <a:xfrm>
            <a:off x="5046392" y="5837697"/>
            <a:ext cx="6483623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DO IF FALSE: This is what the program will do if the first condition is False and the second condition is False.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45726D-81AF-0542-AE59-0FDB97446DD8}"/>
              </a:ext>
            </a:extLst>
          </p:cNvPr>
          <p:cNvCxnSpPr>
            <a:cxnSpLocks/>
          </p:cNvCxnSpPr>
          <p:nvPr/>
        </p:nvCxnSpPr>
        <p:spPr>
          <a:xfrm flipH="1">
            <a:off x="3737113" y="3677904"/>
            <a:ext cx="1033669" cy="461087"/>
          </a:xfrm>
          <a:prstGeom prst="straightConnector1">
            <a:avLst/>
          </a:prstGeom>
          <a:ln>
            <a:solidFill>
              <a:srgbClr val="E306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0FDE26-46C7-7B45-80F8-A6FA4BAE5CCF}"/>
              </a:ext>
            </a:extLst>
          </p:cNvPr>
          <p:cNvCxnSpPr>
            <a:cxnSpLocks/>
          </p:cNvCxnSpPr>
          <p:nvPr/>
        </p:nvCxnSpPr>
        <p:spPr>
          <a:xfrm flipH="1">
            <a:off x="3737113" y="4042117"/>
            <a:ext cx="1663150" cy="483618"/>
          </a:xfrm>
          <a:prstGeom prst="straightConnector1">
            <a:avLst/>
          </a:prstGeom>
          <a:ln>
            <a:solidFill>
              <a:srgbClr val="E306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64771F-4AE2-C947-B7F7-FB75AD5FD4DC}"/>
              </a:ext>
            </a:extLst>
          </p:cNvPr>
          <p:cNvCxnSpPr>
            <a:cxnSpLocks/>
          </p:cNvCxnSpPr>
          <p:nvPr/>
        </p:nvCxnSpPr>
        <p:spPr>
          <a:xfrm flipH="1">
            <a:off x="4124739" y="4634546"/>
            <a:ext cx="1176759" cy="476249"/>
          </a:xfrm>
          <a:prstGeom prst="straightConnector1">
            <a:avLst/>
          </a:prstGeom>
          <a:ln>
            <a:solidFill>
              <a:srgbClr val="E306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0305DB-5E55-FD49-9E1A-AA61F360E154}"/>
              </a:ext>
            </a:extLst>
          </p:cNvPr>
          <p:cNvCxnSpPr>
            <a:cxnSpLocks/>
          </p:cNvCxnSpPr>
          <p:nvPr/>
        </p:nvCxnSpPr>
        <p:spPr>
          <a:xfrm flipH="1">
            <a:off x="4171121" y="5358429"/>
            <a:ext cx="1229142" cy="86180"/>
          </a:xfrm>
          <a:prstGeom prst="straightConnector1">
            <a:avLst/>
          </a:prstGeom>
          <a:ln>
            <a:solidFill>
              <a:srgbClr val="E306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046E68-C8CC-7F45-A3AE-0D9C1E0DE00A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3806687" y="5919951"/>
            <a:ext cx="1239705" cy="210134"/>
          </a:xfrm>
          <a:prstGeom prst="straightConnector1">
            <a:avLst/>
          </a:prstGeom>
          <a:ln>
            <a:solidFill>
              <a:srgbClr val="E3061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41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Multiple condition selection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0FC3E5-E7BC-BD4E-BA1B-96EBE84F580A}"/>
              </a:ext>
            </a:extLst>
          </p:cNvPr>
          <p:cNvSpPr/>
          <p:nvPr/>
        </p:nvSpPr>
        <p:spPr>
          <a:xfrm>
            <a:off x="1728780" y="1726643"/>
            <a:ext cx="962340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If the first condition is True, the second condition check </a:t>
            </a:r>
            <a:r>
              <a:rPr lang="en-GB" b="1" dirty="0"/>
              <a:t>will not</a:t>
            </a:r>
            <a:r>
              <a:rPr lang="en-GB" dirty="0"/>
              <a:t> take place. </a:t>
            </a:r>
          </a:p>
          <a:p>
            <a:r>
              <a:rPr lang="en-GB" dirty="0"/>
              <a:t>If you want more than one condition to be checked, you need separate if statements for each check. </a:t>
            </a:r>
          </a:p>
          <a:p>
            <a:r>
              <a:rPr lang="en-GB" dirty="0"/>
              <a:t>Compare these programs:</a:t>
            </a:r>
          </a:p>
        </p:txBody>
      </p:sp>
      <p:pic>
        <p:nvPicPr>
          <p:cNvPr id="21" name="image1.png">
            <a:extLst>
              <a:ext uri="{FF2B5EF4-FFF2-40B4-BE49-F238E27FC236}">
                <a16:creationId xmlns:a16="http://schemas.microsoft.com/office/drawing/2014/main" id="{ED4341C6-0DD4-3D41-9A73-7DCEAFFF423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798983" y="2649973"/>
            <a:ext cx="2745404" cy="3323444"/>
          </a:xfrm>
          <a:prstGeom prst="rect">
            <a:avLst/>
          </a:prstGeom>
          <a:ln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1FA324-8D5A-704A-A2B7-0F20E64AEA37}"/>
              </a:ext>
            </a:extLst>
          </p:cNvPr>
          <p:cNvSpPr/>
          <p:nvPr/>
        </p:nvSpPr>
        <p:spPr>
          <a:xfrm>
            <a:off x="1798983" y="5973417"/>
            <a:ext cx="4791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i="1" dirty="0">
                <a:ea typeface="Times New Roman" panose="02020603050405020304" pitchFamily="18" charset="0"/>
              </a:rPr>
              <a:t>This program contains a nested if-else statement. If the first condition is True, the second condition will not be checked</a:t>
            </a:r>
            <a:r>
              <a:rPr lang="en-GB" sz="1400" i="1" dirty="0"/>
              <a:t> </a:t>
            </a:r>
            <a:endParaRPr lang="en-US" sz="1400" i="1" dirty="0"/>
          </a:p>
        </p:txBody>
      </p:sp>
      <p:pic>
        <p:nvPicPr>
          <p:cNvPr id="22" name="image2.png">
            <a:extLst>
              <a:ext uri="{FF2B5EF4-FFF2-40B4-BE49-F238E27FC236}">
                <a16:creationId xmlns:a16="http://schemas.microsoft.com/office/drawing/2014/main" id="{7F129C33-24C6-9D49-854F-36DE753A136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749117" y="2649973"/>
            <a:ext cx="2745403" cy="3323444"/>
          </a:xfrm>
          <a:prstGeom prst="rect">
            <a:avLst/>
          </a:prstGeom>
          <a:ln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8974C49-2252-3540-B01E-86CC45576E45}"/>
              </a:ext>
            </a:extLst>
          </p:cNvPr>
          <p:cNvSpPr/>
          <p:nvPr/>
        </p:nvSpPr>
        <p:spPr>
          <a:xfrm>
            <a:off x="6749118" y="5973417"/>
            <a:ext cx="40348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This program contains three separate if statements. All three conditions will be checked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C6EB6D-BC51-0A48-9A17-5B9C5BC405A2}"/>
              </a:ext>
            </a:extLst>
          </p:cNvPr>
          <p:cNvSpPr/>
          <p:nvPr/>
        </p:nvSpPr>
        <p:spPr>
          <a:xfrm>
            <a:off x="9667946" y="4517427"/>
            <a:ext cx="223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ea typeface="Calibri" panose="020F0502020204030204" pitchFamily="34" charset="0"/>
              </a:rPr>
              <a:t>Watch Video 4.2</a:t>
            </a:r>
            <a:endParaRPr lang="en-GB" sz="24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18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4.4: Multiple condition selection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2FE37-6518-D942-AE77-FEEFCD514C86}"/>
              </a:ext>
            </a:extLst>
          </p:cNvPr>
          <p:cNvSpPr/>
          <p:nvPr/>
        </p:nvSpPr>
        <p:spPr>
          <a:xfrm>
            <a:off x="7886863" y="1516792"/>
            <a:ext cx="41742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ea typeface="Calibri" panose="020F0502020204030204" pitchFamily="34" charset="0"/>
              </a:rPr>
              <a:t>Now do Interactive quiz 4.4</a:t>
            </a:r>
            <a:endParaRPr lang="en-GB" sz="2800" dirty="0"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C1E44B-767A-421E-BF7C-4C1D6C1D7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9" y="1446202"/>
            <a:ext cx="5013256" cy="54117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E09A4C-106A-406C-9F06-12B2A7352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826" y="2382532"/>
            <a:ext cx="6468011" cy="322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2BA124-05CA-B244-99F6-0FB4CC505FF7}"/>
              </a:ext>
            </a:extLst>
          </p:cNvPr>
          <p:cNvSpPr/>
          <p:nvPr/>
        </p:nvSpPr>
        <p:spPr>
          <a:xfrm>
            <a:off x="1614695" y="862612"/>
            <a:ext cx="921917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  <a:latin typeface="+mj-lt"/>
              </a:rPr>
              <a:t>Activity 4.5: Computer game level up </a:t>
            </a:r>
            <a:endParaRPr lang="en-US" sz="4400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E3C59D-D3A5-474F-9DCD-12FE87BADA09}"/>
              </a:ext>
            </a:extLst>
          </p:cNvPr>
          <p:cNvSpPr/>
          <p:nvPr/>
        </p:nvSpPr>
        <p:spPr>
          <a:xfrm>
            <a:off x="1531855" y="3285899"/>
            <a:ext cx="3098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finished solution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04D90-983B-7D46-91A8-1E2C38E3ABBF}"/>
              </a:ext>
            </a:extLst>
          </p:cNvPr>
          <p:cNvSpPr/>
          <p:nvPr/>
        </p:nvSpPr>
        <p:spPr>
          <a:xfrm>
            <a:off x="4768456" y="3253345"/>
            <a:ext cx="240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</a:t>
            </a:r>
            <a:r>
              <a:rPr lang="en-GB" dirty="0"/>
              <a:t>extension 1 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C632F-5C7C-6848-883E-642AF5B96DF1}"/>
              </a:ext>
            </a:extLst>
          </p:cNvPr>
          <p:cNvSpPr/>
          <p:nvPr/>
        </p:nvSpPr>
        <p:spPr>
          <a:xfrm>
            <a:off x="8100188" y="3271239"/>
            <a:ext cx="2408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</a:t>
            </a:r>
            <a:r>
              <a:rPr lang="en-GB" dirty="0"/>
              <a:t>extension 2 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9" name="Picture 18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56D67381-4498-9443-8374-4CDD3E35D20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400" y="1696803"/>
            <a:ext cx="1650333" cy="1616976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A763954C-AB0D-5E4A-9D95-0D93D674A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072" y="4060688"/>
            <a:ext cx="3098800" cy="2336800"/>
          </a:xfrm>
          <a:prstGeom prst="rect">
            <a:avLst/>
          </a:prstGeom>
        </p:spPr>
      </p:pic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28C436EA-9745-2B4C-B186-C1B722E21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456" y="4060688"/>
            <a:ext cx="3098800" cy="2336800"/>
          </a:xfrm>
          <a:prstGeom prst="rect">
            <a:avLst/>
          </a:prstGeom>
        </p:spPr>
      </p:pic>
      <p:pic>
        <p:nvPicPr>
          <p:cNvPr id="17" name="Picture 16" descr="Logo&#10;&#10;Description automatically generated">
            <a:extLst>
              <a:ext uri="{FF2B5EF4-FFF2-40B4-BE49-F238E27FC236}">
                <a16:creationId xmlns:a16="http://schemas.microsoft.com/office/drawing/2014/main" id="{E91EF9F6-38EB-1E44-84A6-F813AA0A0C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397" y="4052957"/>
            <a:ext cx="30988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4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Quiz 4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35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618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</vt:lpstr>
      <vt:lpstr>Times New Roman</vt:lpstr>
      <vt:lpstr>Office Theme</vt:lpstr>
      <vt:lpstr>Programming in Scratch</vt:lpstr>
      <vt:lpstr>Objectives</vt:lpstr>
      <vt:lpstr>What do you already know? </vt:lpstr>
      <vt:lpstr>Programming constructs </vt:lpstr>
      <vt:lpstr>Selection </vt:lpstr>
      <vt:lpstr>Selection </vt:lpstr>
      <vt:lpstr> Selection</vt:lpstr>
      <vt:lpstr>Activity 4.2: Social media sign up </vt:lpstr>
      <vt:lpstr>PowerPoint Presentation</vt:lpstr>
      <vt:lpstr>Multiple condition selection </vt:lpstr>
      <vt:lpstr>Multiple condition selection </vt:lpstr>
      <vt:lpstr>Multiple condition selection </vt:lpstr>
      <vt:lpstr>Activity 4.4: Multiple condition selection </vt:lpstr>
      <vt:lpstr>PowerPoint Presentation</vt:lpstr>
      <vt:lpstr>Quiz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Tamar Zedginidze</cp:lastModifiedBy>
  <cp:revision>52</cp:revision>
  <dcterms:created xsi:type="dcterms:W3CDTF">2020-11-04T15:22:46Z</dcterms:created>
  <dcterms:modified xsi:type="dcterms:W3CDTF">2025-06-16T12:38:32Z</dcterms:modified>
</cp:coreProperties>
</file>