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3" r:id="rId2"/>
    <p:sldId id="257" r:id="rId3"/>
    <p:sldId id="258" r:id="rId4"/>
    <p:sldId id="259" r:id="rId5"/>
    <p:sldId id="260" r:id="rId6"/>
    <p:sldId id="261" r:id="rId7"/>
    <p:sldId id="274" r:id="rId8"/>
    <p:sldId id="262" r:id="rId9"/>
    <p:sldId id="275" r:id="rId10"/>
    <p:sldId id="276" r:id="rId11"/>
    <p:sldId id="263" r:id="rId12"/>
    <p:sldId id="277" r:id="rId13"/>
    <p:sldId id="278" r:id="rId14"/>
    <p:sldId id="279" r:id="rId15"/>
    <p:sldId id="280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3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0613"/>
    <a:srgbClr val="0069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5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03/06/2021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00FF46-9591-E444-B749-96268477A679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8036" cy="1622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2B9C3-E44C-4313-895D-D43DD1C92C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8958" y="3010438"/>
            <a:ext cx="5931016" cy="915850"/>
          </a:xfrm>
        </p:spPr>
        <p:txBody>
          <a:bodyPr>
            <a:noAutofit/>
          </a:bodyPr>
          <a:lstStyle/>
          <a:p>
            <a:pPr algn="l"/>
            <a:r>
              <a:rPr lang="en-GB" sz="4800" b="1" dirty="0"/>
              <a:t>Programming in Scratch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1998010" y="3926287"/>
            <a:ext cx="50319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2000" b="1" dirty="0">
                <a:solidFill>
                  <a:srgbClr val="E30613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1: Introduction to the Scratch environment and sequencing</a:t>
            </a:r>
            <a:endParaRPr lang="en-GB" sz="2000" b="1" dirty="0">
              <a:solidFill>
                <a:srgbClr val="E30613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B39F-99FC-432D-B100-95B9F0B14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669" y="2704323"/>
            <a:ext cx="2937413" cy="244392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76277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413" y="806893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C36740-8540-4D8B-8D9C-EA9F1DCA5808}"/>
              </a:ext>
            </a:extLst>
          </p:cNvPr>
          <p:cNvSpPr/>
          <p:nvPr/>
        </p:nvSpPr>
        <p:spPr>
          <a:xfrm>
            <a:off x="1610413" y="2397948"/>
            <a:ext cx="6678822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latin typeface="Calibri" panose="020F0502020204030204" pitchFamily="34" charset="0"/>
                <a:ea typeface="Calibri" panose="020F0502020204030204" pitchFamily="34" charset="0"/>
              </a:rPr>
              <a:t>In this lesson, you will learn how to:</a:t>
            </a:r>
            <a:endParaRPr lang="en-GB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Noto Sans Symbols"/>
                <a:cs typeface="Noto Sans Symbols"/>
              </a:rPr>
              <a:t>define sequencing</a:t>
            </a:r>
            <a:endParaRPr lang="en-GB" sz="2400" dirty="0"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use sequencing in a program</a:t>
            </a:r>
            <a:endParaRPr lang="en-GB" sz="2400" dirty="0">
              <a:latin typeface="Noto Sans Symbols"/>
              <a:ea typeface="Noto Sans Symbols"/>
              <a:cs typeface="Noto Sans Symbols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Noto Sans Symbols"/>
              </a:rPr>
              <a:t>construct a working program to solve a problem.</a:t>
            </a:r>
            <a:endParaRPr lang="en-GB" sz="2400" dirty="0">
              <a:latin typeface="Noto Sans Symbols"/>
              <a:ea typeface="Noto Sans Symbols"/>
              <a:cs typeface="Noto Sans Symbols"/>
            </a:endParaRP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3878" y="802881"/>
            <a:ext cx="9773478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Racing car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9D50FE-CE84-460E-B8C7-224F80E0B881}"/>
              </a:ext>
            </a:extLst>
          </p:cNvPr>
          <p:cNvSpPr/>
          <p:nvPr/>
        </p:nvSpPr>
        <p:spPr>
          <a:xfrm>
            <a:off x="1629961" y="2584876"/>
            <a:ext cx="579757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Write a sequence of instructions that will get the car from the start to the chequered flag. The only commands the car understands are:</a:t>
            </a:r>
          </a:p>
          <a:p>
            <a:pPr>
              <a:spcAft>
                <a:spcPts val="0"/>
              </a:spcAft>
            </a:pP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Move X square(s) forward</a:t>
            </a:r>
            <a:endParaRPr lang="en-GB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Turn X degrees right</a:t>
            </a:r>
            <a:endParaRPr lang="en-GB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4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Turn X degrees left</a:t>
            </a:r>
            <a:endParaRPr lang="en-GB" sz="24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  <p:pic>
        <p:nvPicPr>
          <p:cNvPr id="4" name="Picture 3" descr="Chart, treemap chart&#10;&#10;Description automatically generated">
            <a:extLst>
              <a:ext uri="{FF2B5EF4-FFF2-40B4-BE49-F238E27FC236}">
                <a16:creationId xmlns:a16="http://schemas.microsoft.com/office/drawing/2014/main" id="{31CAFF87-2571-48EA-82FA-AB53AC95C2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382" y="2142656"/>
            <a:ext cx="2976874" cy="391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16265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Programming constructs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6E22C0-194E-42FD-A61E-B59B42CAFD46}"/>
              </a:ext>
            </a:extLst>
          </p:cNvPr>
          <p:cNvSpPr/>
          <p:nvPr/>
        </p:nvSpPr>
        <p:spPr>
          <a:xfrm>
            <a:off x="1620078" y="2242686"/>
            <a:ext cx="8573076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800" dirty="0">
                <a:ea typeface="Calibri" panose="020F0502020204030204" pitchFamily="34" charset="0"/>
              </a:rPr>
              <a:t>In this module, you will learn about the three </a:t>
            </a:r>
            <a:r>
              <a:rPr lang="en-GB" sz="2800" b="1" dirty="0">
                <a:solidFill>
                  <a:srgbClr val="E30613"/>
                </a:solidFill>
                <a:ea typeface="Calibri" panose="020F0502020204030204" pitchFamily="34" charset="0"/>
              </a:rPr>
              <a:t>programming constructs</a:t>
            </a:r>
            <a:r>
              <a:rPr lang="en-GB" sz="2800" dirty="0">
                <a:ea typeface="Calibri" panose="020F0502020204030204" pitchFamily="34" charset="0"/>
              </a:rPr>
              <a:t>: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800" dirty="0">
                <a:ea typeface="Calibri" panose="020F0502020204030204" pitchFamily="34" charset="0"/>
              </a:rPr>
              <a:t>Sequence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800" dirty="0">
                <a:ea typeface="Calibri" panose="020F0502020204030204" pitchFamily="34" charset="0"/>
              </a:rPr>
              <a:t>Selection</a:t>
            </a:r>
            <a:endParaRPr lang="en-GB" sz="2800" dirty="0"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800" dirty="0">
                <a:ea typeface="Calibri" panose="020F0502020204030204" pitchFamily="34" charset="0"/>
              </a:rPr>
              <a:t>Iteration</a:t>
            </a:r>
            <a:endParaRPr lang="en-GB" sz="28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800" dirty="0">
                <a:ea typeface="Calibri" panose="020F0502020204030204" pitchFamily="34" charset="0"/>
              </a:rPr>
              <a:t>These three concepts are crucial in allowing us to solve problems, when programming and in day-to-day life.</a:t>
            </a:r>
            <a:endParaRPr lang="en-GB" sz="2800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800" dirty="0">
                <a:ea typeface="Calibri" panose="020F0502020204030204" pitchFamily="34" charset="0"/>
              </a:rPr>
              <a:t>We will start by focusing on sequencing.</a:t>
            </a:r>
            <a:endParaRPr lang="en-GB" sz="28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825" y="815951"/>
            <a:ext cx="9753599" cy="84586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Sequencing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9BE3F4-C108-451B-99D9-0BC0BC54E6E7}"/>
              </a:ext>
            </a:extLst>
          </p:cNvPr>
          <p:cNvSpPr/>
          <p:nvPr/>
        </p:nvSpPr>
        <p:spPr>
          <a:xfrm>
            <a:off x="1609825" y="1973180"/>
            <a:ext cx="8997215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400" b="1" dirty="0">
                <a:solidFill>
                  <a:srgbClr val="E3061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Sequencing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 is when a set of instructions is carried out in order.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Sequencing is important because, if your instructions are in the wrong order, what you want to happen won’t happen!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What is wrong with the sequence of these instructions to find the average of three numbers?</a:t>
            </a:r>
          </a:p>
          <a:p>
            <a:pPr>
              <a:spcAft>
                <a:spcPts val="0"/>
              </a:spcAft>
            </a:pP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Total = number 1 + number 2 + number 3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Enter number 1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Enter number 3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Enter number 2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Mean = Total / 3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>
              <a:spcAft>
                <a:spcPts val="0"/>
              </a:spcAft>
            </a:pPr>
            <a:r>
              <a:rPr lang="en-GB" sz="2000" dirty="0"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Display Mean</a:t>
            </a:r>
            <a:endParaRPr lang="en-GB" sz="2000" dirty="0">
              <a:latin typeface="Courier New" panose="02070309020205020404" pitchFamily="49" charset="0"/>
              <a:ea typeface="Times New Roman" panose="02020603050405020304" pitchFamily="18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4BA82-FE7D-4DE6-BC00-A388E38B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567" y="815637"/>
            <a:ext cx="9793357" cy="85580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What is Scratch?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C5FC049-5476-433F-A05A-1B4F7C358BD4}"/>
              </a:ext>
            </a:extLst>
          </p:cNvPr>
          <p:cNvSpPr/>
          <p:nvPr/>
        </p:nvSpPr>
        <p:spPr>
          <a:xfrm>
            <a:off x="1608567" y="1934678"/>
            <a:ext cx="537485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Scratch is a program that allows you to piece blocks of code together to solve problems.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It is a block-based programming language because you do not need to type any code.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image6.png">
            <a:extLst>
              <a:ext uri="{FF2B5EF4-FFF2-40B4-BE49-F238E27FC236}">
                <a16:creationId xmlns:a16="http://schemas.microsoft.com/office/drawing/2014/main" id="{66804538-A611-4AEF-BDFB-9886A23003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377831" y="2334788"/>
            <a:ext cx="3404008" cy="3923012"/>
          </a:xfrm>
          <a:prstGeom prst="rect">
            <a:avLst/>
          </a:prstGeom>
          <a:ln/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86BE928-200F-4272-8140-EAB9F61B0F0A}"/>
              </a:ext>
            </a:extLst>
          </p:cNvPr>
          <p:cNvSpPr/>
          <p:nvPr/>
        </p:nvSpPr>
        <p:spPr>
          <a:xfrm>
            <a:off x="7377831" y="1934678"/>
            <a:ext cx="423379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2000" dirty="0">
                <a:latin typeface="Calibri" panose="020F0502020204030204" pitchFamily="34" charset="0"/>
                <a:ea typeface="Calibri" panose="020F0502020204030204" pitchFamily="34" charset="0"/>
              </a:rPr>
              <a:t>This is what blocks in Scratch look like:</a:t>
            </a:r>
            <a:endParaRPr lang="en-GB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566908-CAF6-4EC9-8963-39F461842DFD}"/>
              </a:ext>
            </a:extLst>
          </p:cNvPr>
          <p:cNvSpPr/>
          <p:nvPr/>
        </p:nvSpPr>
        <p:spPr>
          <a:xfrm>
            <a:off x="1608567" y="5280604"/>
            <a:ext cx="32829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/>
              <a:t>Now watch Video 5.1</a:t>
            </a:r>
            <a:endParaRPr lang="en-GB" sz="28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5003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1.1: Your first Scratch program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76966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121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B468A-662A-4290-A763-CBC919D3C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15009"/>
            <a:ext cx="9753600" cy="785191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The pen extension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B5A8FB9-EE9D-424B-A4C6-589F82DDA84C}"/>
              </a:ext>
            </a:extLst>
          </p:cNvPr>
          <p:cNvSpPr/>
          <p:nvPr/>
        </p:nvSpPr>
        <p:spPr>
          <a:xfrm>
            <a:off x="1600200" y="2468956"/>
            <a:ext cx="357819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tabLst>
                <a:tab pos="5727700" algn="r"/>
              </a:tabLst>
            </a:pPr>
            <a:r>
              <a:rPr lang="en-GB" sz="2400" dirty="0">
                <a:ea typeface="Calibri" panose="020F0502020204030204" pitchFamily="34" charset="0"/>
              </a:rPr>
              <a:t>The pen extension allows the cat to draw different shapes. You will be using sequencing to draw different shapes.</a:t>
            </a:r>
          </a:p>
          <a:p>
            <a:pPr>
              <a:spcAft>
                <a:spcPts val="0"/>
              </a:spcAft>
              <a:tabLst>
                <a:tab pos="5727700" algn="r"/>
              </a:tabLst>
            </a:pPr>
            <a:endParaRPr lang="en-GB" sz="2400" dirty="0">
              <a:ea typeface="Times New Roman" panose="02020603050405020304" pitchFamily="18" charset="0"/>
            </a:endParaRPr>
          </a:p>
        </p:txBody>
      </p:sp>
      <p:pic>
        <p:nvPicPr>
          <p:cNvPr id="10" name="image3.png">
            <a:extLst>
              <a:ext uri="{FF2B5EF4-FFF2-40B4-BE49-F238E27FC236}">
                <a16:creationId xmlns:a16="http://schemas.microsoft.com/office/drawing/2014/main" id="{7CC555EC-DC01-447D-B19F-18949AC8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524934" y="2468956"/>
            <a:ext cx="6178656" cy="3171448"/>
          </a:xfrm>
          <a:prstGeom prst="rect">
            <a:avLst/>
          </a:prstGeom>
          <a:ln/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BC24818-F352-414F-89F1-5B3D219EBE74}"/>
              </a:ext>
            </a:extLst>
          </p:cNvPr>
          <p:cNvSpPr/>
          <p:nvPr/>
        </p:nvSpPr>
        <p:spPr>
          <a:xfrm>
            <a:off x="5822591" y="1803745"/>
            <a:ext cx="52454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tabLst>
                <a:tab pos="5727700" algn="r"/>
              </a:tabLst>
            </a:pPr>
            <a:r>
              <a:rPr lang="en-GB" sz="2400" dirty="0">
                <a:ea typeface="Calibri" panose="020F0502020204030204" pitchFamily="34" charset="0"/>
              </a:rPr>
              <a:t>Here are the blocks you will need to use:</a:t>
            </a:r>
            <a:endParaRPr lang="en-GB" sz="2400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936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1.2: Using the pen to draw shapes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86905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928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963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1.3: Drawing a square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1820" y="1746121"/>
            <a:ext cx="1148359" cy="11251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54DEA2-DD92-4F93-A865-76A7C8DE4D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03" y="3429000"/>
            <a:ext cx="3659592" cy="27596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B2B872-04B6-4C0D-896C-8C9C30D18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6204" y="3429000"/>
            <a:ext cx="3659592" cy="2759692"/>
          </a:xfrm>
          <a:prstGeom prst="rect">
            <a:avLst/>
          </a:prstGeom>
        </p:spPr>
      </p:pic>
      <p:pic>
        <p:nvPicPr>
          <p:cNvPr id="15" name="Picture 14" descr="A picture containing logo&#10;&#10;Description automatically generated">
            <a:extLst>
              <a:ext uri="{FF2B5EF4-FFF2-40B4-BE49-F238E27FC236}">
                <a16:creationId xmlns:a16="http://schemas.microsoft.com/office/drawing/2014/main" id="{88077C7C-6CD1-4A4D-B46E-987210B4F4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105" y="3428999"/>
            <a:ext cx="3659592" cy="27596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D4DF4BE-38DB-4010-9050-FA8D75140E05}"/>
              </a:ext>
            </a:extLst>
          </p:cNvPr>
          <p:cNvSpPr/>
          <p:nvPr/>
        </p:nvSpPr>
        <p:spPr>
          <a:xfrm>
            <a:off x="732764" y="2955577"/>
            <a:ext cx="284066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Example of finished solution</a:t>
            </a:r>
            <a:endParaRPr lang="en-GB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1A884D7-E960-4243-815E-ABD77B8A5FD8}"/>
              </a:ext>
            </a:extLst>
          </p:cNvPr>
          <p:cNvSpPr/>
          <p:nvPr/>
        </p:nvSpPr>
        <p:spPr>
          <a:xfrm>
            <a:off x="4878359" y="2955577"/>
            <a:ext cx="24352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Example of extension 1</a:t>
            </a:r>
            <a:endParaRPr lang="en-GB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1775674-5DEC-4BFF-9A3E-2600F8530620}"/>
              </a:ext>
            </a:extLst>
          </p:cNvPr>
          <p:cNvSpPr/>
          <p:nvPr/>
        </p:nvSpPr>
        <p:spPr>
          <a:xfrm>
            <a:off x="8863658" y="2955577"/>
            <a:ext cx="235048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dirty="0">
                <a:ea typeface="Calibri" panose="020F0502020204030204" pitchFamily="34" charset="0"/>
                <a:cs typeface="Times New Roman" panose="02020603050405020304" pitchFamily="18" charset="0"/>
              </a:rPr>
              <a:t>Example of extension 2</a:t>
            </a:r>
            <a:endParaRPr lang="en-GB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086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22699-9BD3-47A9-BD0D-2498228DCE8E}"/>
              </a:ext>
            </a:extLst>
          </p:cNvPr>
          <p:cNvSpPr/>
          <p:nvPr/>
        </p:nvSpPr>
        <p:spPr>
          <a:xfrm>
            <a:off x="3860420" y="3339548"/>
            <a:ext cx="447116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tabLst>
                <a:tab pos="5727700" algn="r"/>
              </a:tabLst>
            </a:pPr>
            <a:r>
              <a:rPr lang="en-GB" sz="4000" dirty="0">
                <a:latin typeface="Calibri" panose="020F0502020204030204" pitchFamily="34" charset="0"/>
                <a:ea typeface="Calibri" panose="020F0502020204030204" pitchFamily="34" charset="0"/>
              </a:rPr>
              <a:t>What is sequencing?</a:t>
            </a:r>
            <a:endParaRPr lang="en-GB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9437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B607C9-DAA2-4DC0-A182-2F5EE3C4C032}"/>
              </a:ext>
            </a:extLst>
          </p:cNvPr>
          <p:cNvSpPr/>
          <p:nvPr/>
        </p:nvSpPr>
        <p:spPr>
          <a:xfrm>
            <a:off x="2841057" y="2951946"/>
            <a:ext cx="65098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Calibri" panose="020F0502020204030204" pitchFamily="34" charset="0"/>
              </a:rPr>
              <a:t>What is the name of the area in Scratch where you can view your program running?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138652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06B4C-DA32-429F-9876-49CF7DD8A5EC}"/>
              </a:ext>
            </a:extLst>
          </p:cNvPr>
          <p:cNvSpPr/>
          <p:nvPr/>
        </p:nvSpPr>
        <p:spPr>
          <a:xfrm>
            <a:off x="1994033" y="2967335"/>
            <a:ext cx="820393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</a:rPr>
              <a:t>In which category would you find the block to change direction?</a:t>
            </a:r>
            <a:endParaRPr lang="en-GB" sz="2400" dirty="0"/>
          </a:p>
        </p:txBody>
      </p:sp>
      <p:pic>
        <p:nvPicPr>
          <p:cNvPr id="6" name="image2.png">
            <a:extLst>
              <a:ext uri="{FF2B5EF4-FFF2-40B4-BE49-F238E27FC236}">
                <a16:creationId xmlns:a16="http://schemas.microsoft.com/office/drawing/2014/main" id="{FCFCC97B-37E7-4921-9694-48F3FFFD9A35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3856384" y="3965714"/>
            <a:ext cx="3892838" cy="132401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103390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06B4C-DA32-429F-9876-49CF7DD8A5EC}"/>
              </a:ext>
            </a:extLst>
          </p:cNvPr>
          <p:cNvSpPr/>
          <p:nvPr/>
        </p:nvSpPr>
        <p:spPr>
          <a:xfrm>
            <a:off x="1457385" y="2114448"/>
            <a:ext cx="55004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</a:rPr>
              <a:t>What would the following code do?</a:t>
            </a:r>
            <a:endParaRPr lang="en-GB" sz="2800" dirty="0"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E892FDF3-2E0C-4DFB-9E70-6F68464D4B80}"/>
              </a:ext>
            </a:extLst>
          </p:cNvPr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13431" y="2077815"/>
            <a:ext cx="1266825" cy="459105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6562736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805698"/>
            <a:ext cx="9783417" cy="865740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Question 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806B4C-DA32-429F-9876-49CF7DD8A5EC}"/>
              </a:ext>
            </a:extLst>
          </p:cNvPr>
          <p:cNvSpPr/>
          <p:nvPr/>
        </p:nvSpPr>
        <p:spPr>
          <a:xfrm>
            <a:off x="1572089" y="2086235"/>
            <a:ext cx="45992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</a:rPr>
              <a:t>What would the following code do?</a:t>
            </a:r>
            <a:endParaRPr lang="en-GB" sz="2400" dirty="0"/>
          </a:p>
        </p:txBody>
      </p:sp>
      <p:pic>
        <p:nvPicPr>
          <p:cNvPr id="6" name="image4.png">
            <a:extLst>
              <a:ext uri="{FF2B5EF4-FFF2-40B4-BE49-F238E27FC236}">
                <a16:creationId xmlns:a16="http://schemas.microsoft.com/office/drawing/2014/main" id="{7D848E70-EB6A-4C1F-923F-D9A4B8F1FB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917807" y="1712849"/>
            <a:ext cx="2418699" cy="450822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4200939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C0D3D-3B5A-405C-A85C-D55D7E6FE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882" y="796072"/>
            <a:ext cx="10037685" cy="8657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Quiz 1</a:t>
            </a:r>
          </a:p>
        </p:txBody>
      </p:sp>
      <p:pic>
        <p:nvPicPr>
          <p:cNvPr id="5" name="Picture 4" descr="A picture containing athletic game, basketball, sport&#10;&#10;Description automatically generated">
            <a:extLst>
              <a:ext uri="{FF2B5EF4-FFF2-40B4-BE49-F238E27FC236}">
                <a16:creationId xmlns:a16="http://schemas.microsoft.com/office/drawing/2014/main" id="{E026BB22-2069-44BA-9C69-B4666D11C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216" y="1976966"/>
            <a:ext cx="4587567" cy="449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735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</TotalTime>
  <Words>384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Courier New</vt:lpstr>
      <vt:lpstr>Noto Sans Symbols</vt:lpstr>
      <vt:lpstr>Times New Roman</vt:lpstr>
      <vt:lpstr>Office Theme</vt:lpstr>
      <vt:lpstr>Programming in Scratch</vt:lpstr>
      <vt:lpstr>Objectives</vt:lpstr>
      <vt:lpstr>Racing car</vt:lpstr>
      <vt:lpstr>Programming constructs</vt:lpstr>
      <vt:lpstr>Sequencing</vt:lpstr>
      <vt:lpstr>What is Scratch?</vt:lpstr>
      <vt:lpstr>Activity 1.1: Your first Scratch program</vt:lpstr>
      <vt:lpstr>The pen extension</vt:lpstr>
      <vt:lpstr>Activity 1.2: Using the pen to draw shapes</vt:lpstr>
      <vt:lpstr>Activity 1.3: Drawing a square</vt:lpstr>
      <vt:lpstr>Question 1</vt:lpstr>
      <vt:lpstr>Question 2</vt:lpstr>
      <vt:lpstr>Question 3</vt:lpstr>
      <vt:lpstr>Question 4</vt:lpstr>
      <vt:lpstr>Question 5</vt:lpstr>
      <vt:lpstr>Quiz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26</cp:revision>
  <dcterms:created xsi:type="dcterms:W3CDTF">2020-11-04T15:22:46Z</dcterms:created>
  <dcterms:modified xsi:type="dcterms:W3CDTF">2021-06-03T10:16:33Z</dcterms:modified>
</cp:coreProperties>
</file>