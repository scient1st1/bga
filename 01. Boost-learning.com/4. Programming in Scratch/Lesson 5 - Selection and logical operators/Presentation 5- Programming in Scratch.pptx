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86" r:id="rId6"/>
    <p:sldId id="260" r:id="rId7"/>
    <p:sldId id="261" r:id="rId8"/>
    <p:sldId id="274" r:id="rId9"/>
    <p:sldId id="262" r:id="rId10"/>
    <p:sldId id="282" r:id="rId11"/>
    <p:sldId id="276" r:id="rId12"/>
    <p:sldId id="287" r:id="rId13"/>
    <p:sldId id="288" r:id="rId14"/>
    <p:sldId id="275" r:id="rId15"/>
    <p:sldId id="284" r:id="rId16"/>
    <p:sldId id="263" r:id="rId17"/>
    <p:sldId id="277" r:id="rId18"/>
    <p:sldId id="278" r:id="rId19"/>
    <p:sldId id="279" r:id="rId20"/>
    <p:sldId id="280" r:id="rId21"/>
    <p:sldId id="285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3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613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5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5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958" y="3010438"/>
            <a:ext cx="5931016" cy="915850"/>
          </a:xfrm>
        </p:spPr>
        <p:txBody>
          <a:bodyPr>
            <a:noAutofit/>
          </a:bodyPr>
          <a:lstStyle/>
          <a:p>
            <a:pPr algn="l"/>
            <a:r>
              <a:rPr lang="en-GB" sz="4800" b="1" dirty="0"/>
              <a:t>Programming in Scratch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737328" y="3926287"/>
            <a:ext cx="5031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E30613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5: Selection and logical operators </a:t>
            </a:r>
            <a:endParaRPr lang="en-GB" sz="2000" b="1" dirty="0">
              <a:solidFill>
                <a:srgbClr val="E3061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B39F-99FC-432D-B100-95B9F0B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704323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627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0689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C36740-8540-4D8B-8D9C-EA9F1DCA5808}"/>
              </a:ext>
            </a:extLst>
          </p:cNvPr>
          <p:cNvSpPr/>
          <p:nvPr/>
        </p:nvSpPr>
        <p:spPr>
          <a:xfrm>
            <a:off x="1610413" y="2397948"/>
            <a:ext cx="71062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</a:rPr>
              <a:t>In this lesson, you will learn how to use: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multiple condition checks with </a:t>
            </a:r>
            <a:r>
              <a:rPr lang="en-GB" sz="2400" dirty="0" smtClean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if-else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statements</a:t>
            </a:r>
            <a:endParaRPr lang="en-GB" sz="2400" dirty="0"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logical operators within </a:t>
            </a:r>
            <a:r>
              <a:rPr lang="en-GB" sz="2400" dirty="0" smtClean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if-else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statements.</a:t>
            </a:r>
            <a:endParaRPr lang="en-GB" sz="2400" dirty="0">
              <a:latin typeface="Noto Sans Symbols"/>
              <a:ea typeface="Noto Sans Symbols"/>
              <a:cs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02881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Meeting the criteria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D50FE-CE84-460E-B8C7-224F80E0B881}"/>
              </a:ext>
            </a:extLst>
          </p:cNvPr>
          <p:cNvSpPr/>
          <p:nvPr/>
        </p:nvSpPr>
        <p:spPr>
          <a:xfrm>
            <a:off x="1613878" y="2237556"/>
            <a:ext cx="7907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Times New Roman" panose="02020603050405020304" pitchFamily="18" charset="0"/>
                <a:cs typeface="Courier New" panose="02070309020205020404" pitchFamily="49" charset="0"/>
              </a:rPr>
              <a:t>Write down how many of the shapes meet the criteria below: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A64DD-96A7-4B41-8E54-CA7147A893DD}"/>
              </a:ext>
            </a:extLst>
          </p:cNvPr>
          <p:cNvSpPr/>
          <p:nvPr/>
        </p:nvSpPr>
        <p:spPr>
          <a:xfrm>
            <a:off x="5989983" y="3269450"/>
            <a:ext cx="37106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</a:rPr>
              <a:t>square AND circle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</a:rPr>
              <a:t>square OR circle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</a:rPr>
              <a:t>red OR circle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</a:rPr>
              <a:t>black AND square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</a:rPr>
              <a:t>red NOT square</a:t>
            </a:r>
            <a:endParaRPr lang="en-GB" sz="2800" dirty="0">
              <a:ea typeface="Times New Roman" panose="02020603050405020304" pitchFamily="18" charset="0"/>
            </a:endParaRP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8320079B-8FDE-4C6A-99B5-63CFA1069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814" y="2920248"/>
            <a:ext cx="3002412" cy="313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162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Selection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E22C0-194E-42FD-A61E-B59B42CAFD46}"/>
              </a:ext>
            </a:extLst>
          </p:cNvPr>
          <p:cNvSpPr/>
          <p:nvPr/>
        </p:nvSpPr>
        <p:spPr>
          <a:xfrm>
            <a:off x="1620078" y="1951672"/>
            <a:ext cx="54599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In the last lesson, we looked at how selection can involve more than one condition.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/>
              <a:t>Look at this program and write down what it would output for the following values: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score = 42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score = 60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score = 68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score = 90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score = 23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400" dirty="0"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6766E-D7C7-4C49-8515-F319E2A4F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243" y="1652188"/>
            <a:ext cx="2043730" cy="491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5.1: Water state 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474" y="1877575"/>
            <a:ext cx="4587567" cy="44948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1A58C0-E408-E941-BE92-61C8831FB0E9}"/>
              </a:ext>
            </a:extLst>
          </p:cNvPr>
          <p:cNvSpPr/>
          <p:nvPr/>
        </p:nvSpPr>
        <p:spPr>
          <a:xfrm>
            <a:off x="2031059" y="2397099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6A3D8AB-99D2-4DCB-993F-188605CBD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95" y="2766431"/>
            <a:ext cx="4648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8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25" y="815951"/>
            <a:ext cx="9753599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Logical operators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BE3F4-C108-451B-99D9-0BC0BC54E6E7}"/>
              </a:ext>
            </a:extLst>
          </p:cNvPr>
          <p:cNvSpPr/>
          <p:nvPr/>
        </p:nvSpPr>
        <p:spPr>
          <a:xfrm>
            <a:off x="1609825" y="2086392"/>
            <a:ext cx="857049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Logical operators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return a </a:t>
            </a:r>
            <a:r>
              <a:rPr lang="en-GB" sz="2800" b="1" dirty="0">
                <a:solidFill>
                  <a:srgbClr val="FF0000"/>
                </a:solidFill>
              </a:rPr>
              <a:t>Boolean value</a:t>
            </a:r>
            <a:r>
              <a:rPr lang="en-GB" sz="2800" dirty="0"/>
              <a:t>, a value that can be only True </a:t>
            </a:r>
            <a:r>
              <a:rPr lang="en-GB" sz="2800" dirty="0" smtClean="0"/>
              <a:t>or False</a:t>
            </a:r>
            <a:r>
              <a:rPr lang="en-GB" sz="2800" dirty="0"/>
              <a:t>.</a:t>
            </a:r>
          </a:p>
          <a:p>
            <a:r>
              <a:rPr lang="en-GB" sz="2800" dirty="0"/>
              <a:t>There are three logical operators that can be used in programming to help determine what a program should do. These are:</a:t>
            </a:r>
          </a:p>
          <a:p>
            <a:r>
              <a:rPr lang="en-GB" sz="2800" b="1" dirty="0">
                <a:solidFill>
                  <a:srgbClr val="FF0000"/>
                </a:solidFill>
                <a:latin typeface="Courier" pitchFamily="2" charset="0"/>
              </a:rPr>
              <a:t>and</a:t>
            </a:r>
            <a:r>
              <a:rPr lang="en-GB" sz="2800" b="1" dirty="0"/>
              <a:t>	</a:t>
            </a:r>
            <a:r>
              <a:rPr lang="en-GB" sz="2800" dirty="0"/>
              <a:t>both conditions must be true</a:t>
            </a:r>
          </a:p>
          <a:p>
            <a:r>
              <a:rPr lang="en-GB" sz="2800" b="1" dirty="0">
                <a:solidFill>
                  <a:srgbClr val="FF0000"/>
                </a:solidFill>
                <a:latin typeface="Courier" pitchFamily="2" charset="0"/>
              </a:rPr>
              <a:t>or</a:t>
            </a:r>
            <a:r>
              <a:rPr lang="en-GB" sz="2800" b="1" dirty="0"/>
              <a:t>	</a:t>
            </a:r>
            <a:r>
              <a:rPr lang="en-GB" sz="2800" dirty="0"/>
              <a:t>at least one condition must be true</a:t>
            </a:r>
          </a:p>
          <a:p>
            <a:r>
              <a:rPr lang="en-GB" sz="2800" b="1" dirty="0">
                <a:solidFill>
                  <a:srgbClr val="FF0000"/>
                </a:solidFill>
                <a:latin typeface="Courier" pitchFamily="2" charset="0"/>
              </a:rPr>
              <a:t>not</a:t>
            </a:r>
            <a:r>
              <a:rPr lang="en-GB" sz="2800" b="1" dirty="0">
                <a:solidFill>
                  <a:srgbClr val="FF0000"/>
                </a:solidFill>
              </a:rPr>
              <a:t>	</a:t>
            </a:r>
            <a:r>
              <a:rPr lang="en-GB" sz="2800" dirty="0"/>
              <a:t>anything but what is being asked for</a:t>
            </a:r>
          </a:p>
        </p:txBody>
      </p:sp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67" y="815637"/>
            <a:ext cx="979335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and </a:t>
            </a:r>
            <a:r>
              <a:rPr lang="en-GB" b="1" dirty="0">
                <a:solidFill>
                  <a:schemeClr val="bg1"/>
                </a:solidFill>
              </a:rPr>
              <a:t>operator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6F7C1B-2D59-594E-8729-9EF1DD19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567" y="2272618"/>
            <a:ext cx="79329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" pitchFamily="2" charset="0"/>
                <a:ea typeface="Calibri" panose="020F0502020204030204" pitchFamily="34" charset="0"/>
              </a:rPr>
              <a:t>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operator allows for two conditions to be checked.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For it to return True, both conditions must be true.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Here are some examples: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EE3CA6F-6A8F-5F43-A4C8-033EDCD5E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08805"/>
              </p:ext>
            </p:extLst>
          </p:nvPr>
        </p:nvGraphicFramePr>
        <p:xfrm>
          <a:off x="1699591" y="3775805"/>
          <a:ext cx="8235121" cy="226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367">
                  <a:extLst>
                    <a:ext uri="{9D8B030D-6E8A-4147-A177-3AD203B41FA5}">
                      <a16:colId xmlns:a16="http://schemas.microsoft.com/office/drawing/2014/main" val="1562216339"/>
                    </a:ext>
                  </a:extLst>
                </a:gridCol>
                <a:gridCol w="2748877">
                  <a:extLst>
                    <a:ext uri="{9D8B030D-6E8A-4147-A177-3AD203B41FA5}">
                      <a16:colId xmlns:a16="http://schemas.microsoft.com/office/drawing/2014/main" val="3343924745"/>
                    </a:ext>
                  </a:extLst>
                </a:gridCol>
                <a:gridCol w="2748877">
                  <a:extLst>
                    <a:ext uri="{9D8B030D-6E8A-4147-A177-3AD203B41FA5}">
                      <a16:colId xmlns:a16="http://schemas.microsoft.com/office/drawing/2014/main" val="1470685580"/>
                    </a:ext>
                  </a:extLst>
                </a:gridCol>
              </a:tblGrid>
              <a:tr h="558590"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Statement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Returns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Reason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510397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(10 &gt; 12) AND (15 &gt; 10)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False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Only one condition is true. 10 is not more than 12.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07657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(A = A) AND (C = C)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True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Both conditions are true.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184009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(5.5 &lt; 3) AND (G = F)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False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Both conditions are false.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265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 Using </a:t>
            </a:r>
            <a:r>
              <a:rPr lang="en-GB" dirty="0">
                <a:solidFill>
                  <a:schemeClr val="bg1"/>
                </a:solidFill>
                <a:latin typeface="Courier" pitchFamily="2" charset="0"/>
              </a:rPr>
              <a:t>and </a:t>
            </a:r>
            <a:r>
              <a:rPr lang="en-GB" b="1" dirty="0">
                <a:solidFill>
                  <a:schemeClr val="bg1"/>
                </a:solidFill>
              </a:rPr>
              <a:t>in Scratch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631DC-ADA6-A44F-BB43-24CA8873F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32" y="2367169"/>
            <a:ext cx="796187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400" dirty="0">
                <a:latin typeface="+mn-lt"/>
                <a:ea typeface="Calibri" panose="020F0502020204030204" pitchFamily="34" charset="0"/>
              </a:rPr>
              <a:t>Here is an example of </a:t>
            </a:r>
            <a:r>
              <a:rPr lang="en-US" alt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</a:t>
            </a:r>
            <a:r>
              <a:rPr lang="en-US" altLang="en-US" sz="2400" dirty="0">
                <a:latin typeface="+mn-lt"/>
                <a:ea typeface="Calibri" panose="020F0502020204030204" pitchFamily="34" charset="0"/>
              </a:rPr>
              <a:t> being used in Scratch: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27700" algn="r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E980-A563-7E42-B0C1-C4F0E9D7958B}"/>
              </a:ext>
            </a:extLst>
          </p:cNvPr>
          <p:cNvSpPr/>
          <p:nvPr/>
        </p:nvSpPr>
        <p:spPr>
          <a:xfrm>
            <a:off x="6096000" y="2919584"/>
            <a:ext cx="431027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</a:rPr>
              <a:t>If 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120 </a:t>
            </a:r>
            <a:r>
              <a:rPr lang="en-GB" sz="2000" dirty="0">
                <a:ea typeface="Calibri" panose="020F0502020204030204" pitchFamily="34" charset="0"/>
              </a:rPr>
              <a:t>is entered, the program would say 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FALSE</a:t>
            </a:r>
            <a:r>
              <a:rPr lang="en-GB" sz="2000" dirty="0">
                <a:ea typeface="Calibri" panose="020F0502020204030204" pitchFamily="34" charset="0"/>
              </a:rPr>
              <a:t>.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 </a:t>
            </a:r>
            <a:r>
              <a:rPr lang="en-GB" sz="2000" dirty="0">
                <a:ea typeface="Calibri" panose="020F0502020204030204" pitchFamily="34" charset="0"/>
              </a:rPr>
              <a:t>120 is more than 50 but it is not less than 100 so both conditions are not met.</a:t>
            </a:r>
          </a:p>
          <a:p>
            <a:endParaRPr lang="en-GB" sz="2000" dirty="0"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</a:rPr>
              <a:t>If 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67 </a:t>
            </a:r>
            <a:r>
              <a:rPr lang="en-GB" sz="2000" dirty="0">
                <a:ea typeface="Calibri" panose="020F0502020204030204" pitchFamily="34" charset="0"/>
              </a:rPr>
              <a:t>is entered, the program would say 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TRUE</a:t>
            </a:r>
            <a:r>
              <a:rPr lang="en-GB" sz="2000" dirty="0">
                <a:ea typeface="Calibri" panose="020F0502020204030204" pitchFamily="34" charset="0"/>
              </a:rPr>
              <a:t>.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 </a:t>
            </a:r>
            <a:r>
              <a:rPr lang="en-GB" sz="2000" dirty="0">
                <a:ea typeface="Calibri" panose="020F0502020204030204" pitchFamily="34" charset="0"/>
              </a:rPr>
              <a:t>67 is more than 50 and less than 100 so both conditions are met.</a:t>
            </a:r>
            <a:endParaRPr lang="en-GB" sz="2000" dirty="0">
              <a:ea typeface="Times New Roman" panose="02020603050405020304" pitchFamily="18" charset="0"/>
            </a:endParaRPr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49E50DB6-558F-4FD0-B2F3-B9213F74C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32" y="3008539"/>
            <a:ext cx="4227694" cy="277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2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87567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Why use logical operators?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F8E3D-93EA-CD44-B292-2386D32129FB}"/>
              </a:ext>
            </a:extLst>
          </p:cNvPr>
          <p:cNvSpPr/>
          <p:nvPr/>
        </p:nvSpPr>
        <p:spPr>
          <a:xfrm>
            <a:off x="1600199" y="1993949"/>
            <a:ext cx="9054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These programs both work in the same way, but the first one uses the logical operator </a:t>
            </a:r>
            <a:r>
              <a:rPr lang="en-GB" sz="2000" dirty="0">
                <a:latin typeface="Courier" pitchFamily="2" charset="0"/>
                <a:ea typeface="Calibri" panose="020F0502020204030204" pitchFamily="34" charset="0"/>
              </a:rPr>
              <a:t>and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inside the </a:t>
            </a:r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if-else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statement. This means that only one </a:t>
            </a:r>
            <a:r>
              <a:rPr lang="en-GB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if-else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statement is needed, simplifying the program and making it easier to follow.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0C6D196F-4EE0-48E9-A797-FCF3FFEA7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880" y="3151678"/>
            <a:ext cx="4523120" cy="2967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EAF3F-8E0A-48A9-A1C8-1F62EBE54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204" y="3009612"/>
            <a:ext cx="2152950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C3A6-59B0-1D46-A3BD-64635623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775252"/>
            <a:ext cx="9753600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dirty="0">
                <a:solidFill>
                  <a:schemeClr val="bg1"/>
                </a:solidFill>
                <a:latin typeface="Courier" pitchFamily="2" charset="0"/>
              </a:rPr>
              <a:t>or </a:t>
            </a:r>
            <a:r>
              <a:rPr lang="en-GB" b="1" dirty="0">
                <a:solidFill>
                  <a:schemeClr val="bg1"/>
                </a:solidFill>
              </a:rPr>
              <a:t>operator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F760-BA61-544F-874C-3831BB31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057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The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GB" sz="2400" dirty="0"/>
              <a:t> operator allows for two conditions to be checked.</a:t>
            </a:r>
          </a:p>
          <a:p>
            <a:pPr marL="0" indent="0">
              <a:buNone/>
            </a:pPr>
            <a:r>
              <a:rPr lang="en-GB" sz="2400" dirty="0"/>
              <a:t>For it to return True, at least one condition must be true.</a:t>
            </a:r>
          </a:p>
          <a:p>
            <a:pPr marL="0" indent="0">
              <a:buNone/>
            </a:pPr>
            <a:r>
              <a:rPr lang="en-GB" sz="2400" dirty="0"/>
              <a:t>Here are some examples: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EE5005-50BB-9143-A9FF-51C2A0B4A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546487"/>
              </p:ext>
            </p:extLst>
          </p:nvPr>
        </p:nvGraphicFramePr>
        <p:xfrm>
          <a:off x="1600200" y="3429000"/>
          <a:ext cx="8235121" cy="226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367">
                  <a:extLst>
                    <a:ext uri="{9D8B030D-6E8A-4147-A177-3AD203B41FA5}">
                      <a16:colId xmlns:a16="http://schemas.microsoft.com/office/drawing/2014/main" val="3280858172"/>
                    </a:ext>
                  </a:extLst>
                </a:gridCol>
                <a:gridCol w="2748877">
                  <a:extLst>
                    <a:ext uri="{9D8B030D-6E8A-4147-A177-3AD203B41FA5}">
                      <a16:colId xmlns:a16="http://schemas.microsoft.com/office/drawing/2014/main" val="160841656"/>
                    </a:ext>
                  </a:extLst>
                </a:gridCol>
                <a:gridCol w="2748877">
                  <a:extLst>
                    <a:ext uri="{9D8B030D-6E8A-4147-A177-3AD203B41FA5}">
                      <a16:colId xmlns:a16="http://schemas.microsoft.com/office/drawing/2014/main" val="3017896213"/>
                    </a:ext>
                  </a:extLst>
                </a:gridCol>
              </a:tblGrid>
              <a:tr h="558590"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Statement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Returns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Reason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56278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(10 &gt; 12) AND (15 &gt; 10)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True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At least one condition is met. 15 is more than 10.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079880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(A = A) AND (C = C)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True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Both conditions are true.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322099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(5.5 &lt; 3) AND (G = F)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False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Both conditions are false.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15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BFE932-887E-1741-ABF4-D1ED322C6B39}"/>
              </a:ext>
            </a:extLst>
          </p:cNvPr>
          <p:cNvSpPr/>
          <p:nvPr/>
        </p:nvSpPr>
        <p:spPr>
          <a:xfrm>
            <a:off x="1467969" y="1772801"/>
            <a:ext cx="9256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Here is an example of </a:t>
            </a:r>
            <a:r>
              <a:rPr lang="en-GB" sz="2400" dirty="0">
                <a:latin typeface="Courier" pitchFamily="2" charset="0"/>
              </a:rPr>
              <a:t>or </a:t>
            </a:r>
            <a:r>
              <a:rPr lang="en-GB" sz="2400" dirty="0"/>
              <a:t>being used in Scratch: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FEB80-583E-A644-B0A7-44D82960FE17}"/>
              </a:ext>
            </a:extLst>
          </p:cNvPr>
          <p:cNvSpPr/>
          <p:nvPr/>
        </p:nvSpPr>
        <p:spPr>
          <a:xfrm>
            <a:off x="1580323" y="739502"/>
            <a:ext cx="96310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</a:rPr>
              <a:t>Using </a:t>
            </a:r>
            <a:r>
              <a:rPr lang="en-GB" sz="4400" dirty="0">
                <a:solidFill>
                  <a:schemeClr val="bg1"/>
                </a:solidFill>
                <a:latin typeface="Courier" pitchFamily="2" charset="0"/>
              </a:rPr>
              <a:t>or </a:t>
            </a:r>
            <a:r>
              <a:rPr lang="en-GB" sz="4400" b="1" dirty="0">
                <a:solidFill>
                  <a:schemeClr val="bg1"/>
                </a:solidFill>
                <a:latin typeface="+mj-lt"/>
              </a:rPr>
              <a:t>in Scratch </a:t>
            </a:r>
            <a:endParaRPr lang="en-US" sz="4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2BEA8-D8B5-3B42-841E-4C5992547F6A}"/>
              </a:ext>
            </a:extLst>
          </p:cNvPr>
          <p:cNvSpPr/>
          <p:nvPr/>
        </p:nvSpPr>
        <p:spPr>
          <a:xfrm>
            <a:off x="6217920" y="2413337"/>
            <a:ext cx="54108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</a:rPr>
              <a:t>If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120 </a:t>
            </a:r>
            <a:r>
              <a:rPr lang="en-GB" sz="2400" dirty="0">
                <a:ea typeface="Calibri" panose="020F0502020204030204" pitchFamily="34" charset="0"/>
              </a:rPr>
              <a:t>is entered, the program would say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TRUE. </a:t>
            </a:r>
            <a:r>
              <a:rPr lang="en-GB" sz="2400" dirty="0">
                <a:ea typeface="Calibri" panose="020F0502020204030204" pitchFamily="34" charset="0"/>
              </a:rPr>
              <a:t>120 is more than 50 and it doesn’t matter if it isn’t less than 100 because only one condition needs to be met.</a:t>
            </a:r>
          </a:p>
          <a:p>
            <a:endParaRPr lang="en-GB" sz="2400" dirty="0">
              <a:ea typeface="Times New Roman" panose="02020603050405020304" pitchFamily="18" charset="0"/>
            </a:endParaRPr>
          </a:p>
          <a:p>
            <a:r>
              <a:rPr lang="en-GB" sz="2400" dirty="0">
                <a:ea typeface="Calibri" panose="020F0502020204030204" pitchFamily="34" charset="0"/>
              </a:rPr>
              <a:t>If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67 </a:t>
            </a:r>
            <a:r>
              <a:rPr lang="en-GB" sz="2400" dirty="0">
                <a:ea typeface="Calibri" panose="020F0502020204030204" pitchFamily="34" charset="0"/>
              </a:rPr>
              <a:t>is entered, the program would say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TRUE</a:t>
            </a:r>
            <a:r>
              <a:rPr lang="en-GB" sz="2400" dirty="0">
                <a:ea typeface="Calibri" panose="020F0502020204030204" pitchFamily="34" charset="0"/>
              </a:rPr>
              <a:t>. 67 is more than 50 and less than 100 and at least one condition needs to be met.</a:t>
            </a:r>
            <a:endParaRPr lang="en-GB" sz="2400" dirty="0">
              <a:ea typeface="Times New Roman" panose="02020603050405020304" pitchFamily="18" charset="0"/>
            </a:endParaRPr>
          </a:p>
        </p:txBody>
      </p:sp>
      <p:pic>
        <p:nvPicPr>
          <p:cNvPr id="7" name="Picture 6" descr="Timeline&#10;&#10;Description automatically generated">
            <a:extLst>
              <a:ext uri="{FF2B5EF4-FFF2-40B4-BE49-F238E27FC236}">
                <a16:creationId xmlns:a16="http://schemas.microsoft.com/office/drawing/2014/main" id="{7EC21698-500F-4672-A522-7258AD358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323" y="2808144"/>
            <a:ext cx="4439473" cy="299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8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C3A6-59B0-1D46-A3BD-64635623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775252"/>
            <a:ext cx="9753600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dirty="0">
                <a:solidFill>
                  <a:schemeClr val="bg1"/>
                </a:solidFill>
                <a:latin typeface="Courier" pitchFamily="2" charset="0"/>
              </a:rPr>
              <a:t>not </a:t>
            </a:r>
            <a:r>
              <a:rPr lang="en-GB" b="1" dirty="0">
                <a:solidFill>
                  <a:schemeClr val="bg1"/>
                </a:solidFill>
              </a:rPr>
              <a:t>operator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F760-BA61-544F-874C-3831BB31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057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The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sz="2400" dirty="0"/>
              <a:t> operator allows for one condition to be checked.</a:t>
            </a:r>
          </a:p>
          <a:p>
            <a:pPr marL="0" indent="0">
              <a:buNone/>
            </a:pPr>
            <a:r>
              <a:rPr lang="en-GB" sz="2400" dirty="0"/>
              <a:t>For it to return True, the value has to be anything but the value being asked for. Here are some examples: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EE5005-50BB-9143-A9FF-51C2A0B4A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302210"/>
              </p:ext>
            </p:extLst>
          </p:nvPr>
        </p:nvGraphicFramePr>
        <p:xfrm>
          <a:off x="1729408" y="3150704"/>
          <a:ext cx="9034669" cy="226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138">
                  <a:extLst>
                    <a:ext uri="{9D8B030D-6E8A-4147-A177-3AD203B41FA5}">
                      <a16:colId xmlns:a16="http://schemas.microsoft.com/office/drawing/2014/main" val="3280858172"/>
                    </a:ext>
                  </a:extLst>
                </a:gridCol>
                <a:gridCol w="2645197">
                  <a:extLst>
                    <a:ext uri="{9D8B030D-6E8A-4147-A177-3AD203B41FA5}">
                      <a16:colId xmlns:a16="http://schemas.microsoft.com/office/drawing/2014/main" val="160841656"/>
                    </a:ext>
                  </a:extLst>
                </a:gridCol>
                <a:gridCol w="3386334">
                  <a:extLst>
                    <a:ext uri="{9D8B030D-6E8A-4147-A177-3AD203B41FA5}">
                      <a16:colId xmlns:a16="http://schemas.microsoft.com/office/drawing/2014/main" val="3017896213"/>
                    </a:ext>
                  </a:extLst>
                </a:gridCol>
              </a:tblGrid>
              <a:tr h="558590"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Statement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Returns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u="non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Reason</a:t>
                      </a:r>
                      <a:endParaRPr lang="en-GB" sz="1800" u="none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56278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 = NOT(B)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True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The letter C is NOT the letter B.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079880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15 = NOT(14)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True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The number 15 is NOT the number 14.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322099"/>
                  </a:ext>
                </a:extLst>
              </a:tr>
              <a:tr h="516164"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14 = NOT(14)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False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The number 14 is the number 14.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0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17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BFE932-887E-1741-ABF4-D1ED322C6B39}"/>
              </a:ext>
            </a:extLst>
          </p:cNvPr>
          <p:cNvSpPr/>
          <p:nvPr/>
        </p:nvSpPr>
        <p:spPr>
          <a:xfrm>
            <a:off x="1467969" y="1772801"/>
            <a:ext cx="9256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Here is an example of </a:t>
            </a:r>
            <a:r>
              <a:rPr lang="en-GB" sz="2400" dirty="0">
                <a:latin typeface="Courier" pitchFamily="2" charset="0"/>
              </a:rPr>
              <a:t>not </a:t>
            </a:r>
            <a:r>
              <a:rPr lang="en-GB" sz="2400" dirty="0"/>
              <a:t>being used in Scratch: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FEB80-583E-A644-B0A7-44D82960FE17}"/>
              </a:ext>
            </a:extLst>
          </p:cNvPr>
          <p:cNvSpPr/>
          <p:nvPr/>
        </p:nvSpPr>
        <p:spPr>
          <a:xfrm>
            <a:off x="1580323" y="739502"/>
            <a:ext cx="96310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</a:rPr>
              <a:t>Using </a:t>
            </a:r>
            <a:r>
              <a:rPr lang="en-GB" sz="4400" dirty="0">
                <a:solidFill>
                  <a:schemeClr val="bg1"/>
                </a:solidFill>
                <a:latin typeface="Courier" pitchFamily="2" charset="0"/>
              </a:rPr>
              <a:t>not</a:t>
            </a:r>
            <a:r>
              <a:rPr lang="en-GB" sz="4400" dirty="0">
                <a:solidFill>
                  <a:schemeClr val="bg1"/>
                </a:solidFill>
              </a:rPr>
              <a:t> </a:t>
            </a:r>
            <a:r>
              <a:rPr lang="en-GB" sz="4400" b="1" dirty="0">
                <a:solidFill>
                  <a:schemeClr val="bg1"/>
                </a:solidFill>
                <a:latin typeface="+mj-lt"/>
              </a:rPr>
              <a:t>in Scratch </a:t>
            </a:r>
            <a:endParaRPr lang="en-US" sz="4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2BEA8-D8B5-3B42-841E-4C5992547F6A}"/>
              </a:ext>
            </a:extLst>
          </p:cNvPr>
          <p:cNvSpPr/>
          <p:nvPr/>
        </p:nvSpPr>
        <p:spPr>
          <a:xfrm>
            <a:off x="5678443" y="3015457"/>
            <a:ext cx="542839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</a:rPr>
              <a:t>If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14 </a:t>
            </a:r>
            <a:r>
              <a:rPr lang="en-GB" sz="2400" dirty="0">
                <a:ea typeface="Calibri" panose="020F0502020204030204" pitchFamily="34" charset="0"/>
              </a:rPr>
              <a:t>was entered, the program would say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TRUE </a:t>
            </a:r>
            <a:r>
              <a:rPr lang="en-GB" sz="2400" dirty="0">
                <a:ea typeface="Calibri" panose="020F0502020204030204" pitchFamily="34" charset="0"/>
              </a:rPr>
              <a:t>because the number entered is NOT 15.</a:t>
            </a:r>
          </a:p>
          <a:p>
            <a:endParaRPr lang="en-GB" sz="2400" dirty="0">
              <a:ea typeface="Calibri" panose="020F0502020204030204" pitchFamily="34" charset="0"/>
            </a:endParaRPr>
          </a:p>
          <a:p>
            <a:r>
              <a:rPr lang="en-GB" sz="2400" dirty="0">
                <a:ea typeface="Calibri" panose="020F0502020204030204" pitchFamily="34" charset="0"/>
              </a:rPr>
              <a:t>If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15 </a:t>
            </a:r>
            <a:r>
              <a:rPr lang="en-GB" sz="2400" dirty="0">
                <a:ea typeface="Calibri" panose="020F0502020204030204" pitchFamily="34" charset="0"/>
              </a:rPr>
              <a:t>is entered, the program would say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</a:rPr>
              <a:t>FALSE </a:t>
            </a:r>
            <a:r>
              <a:rPr lang="en-GB" sz="2400" dirty="0">
                <a:ea typeface="Calibri" panose="020F0502020204030204" pitchFamily="34" charset="0"/>
              </a:rPr>
              <a:t>because the number entered IS 15.</a:t>
            </a:r>
          </a:p>
        </p:txBody>
      </p:sp>
      <p:pic>
        <p:nvPicPr>
          <p:cNvPr id="8" name="Picture 7" descr="Timeline&#10;&#10;Description automatically generated">
            <a:extLst>
              <a:ext uri="{FF2B5EF4-FFF2-40B4-BE49-F238E27FC236}">
                <a16:creationId xmlns:a16="http://schemas.microsoft.com/office/drawing/2014/main" id="{B6EDEF6F-FFD9-479D-ABD7-19D4E8EA5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355" y="2498324"/>
            <a:ext cx="3763879" cy="376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9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5.2: What is the weather like? 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93" y="2950818"/>
            <a:ext cx="2863284" cy="28054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1A58C0-E408-E941-BE92-61C8831FB0E9}"/>
              </a:ext>
            </a:extLst>
          </p:cNvPr>
          <p:cNvSpPr/>
          <p:nvPr/>
        </p:nvSpPr>
        <p:spPr>
          <a:xfrm>
            <a:off x="1305930" y="2972659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5C073-777B-194F-A288-E1B042793CEC}"/>
              </a:ext>
            </a:extLst>
          </p:cNvPr>
          <p:cNvSpPr/>
          <p:nvPr/>
        </p:nvSpPr>
        <p:spPr>
          <a:xfrm>
            <a:off x="5846345" y="2950818"/>
            <a:ext cx="235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extension 1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91052E-B647-46D8-A2D7-CA7BE25F7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16" y="3319108"/>
            <a:ext cx="3771900" cy="2844383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65B67CB-315D-4E3A-9700-31EBF10D4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057" y="3245576"/>
            <a:ext cx="3771900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2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55ED8B9-AF1A-43AE-B543-3A3D2D5AD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230" y="3002223"/>
            <a:ext cx="3177540" cy="2396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5.3: Same!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A58C0-E408-E941-BE92-61C8831FB0E9}"/>
              </a:ext>
            </a:extLst>
          </p:cNvPr>
          <p:cNvSpPr/>
          <p:nvPr/>
        </p:nvSpPr>
        <p:spPr>
          <a:xfrm>
            <a:off x="1167744" y="2657228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2D430B-D1D8-294C-A24E-D9F1B6CD697D}"/>
              </a:ext>
            </a:extLst>
          </p:cNvPr>
          <p:cNvSpPr/>
          <p:nvPr/>
        </p:nvSpPr>
        <p:spPr>
          <a:xfrm>
            <a:off x="4891888" y="2632891"/>
            <a:ext cx="240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1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1A817-5530-CF44-A028-9A5B2452454F}"/>
              </a:ext>
            </a:extLst>
          </p:cNvPr>
          <p:cNvSpPr/>
          <p:nvPr/>
        </p:nvSpPr>
        <p:spPr>
          <a:xfrm>
            <a:off x="8600291" y="2612573"/>
            <a:ext cx="235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2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Picture 10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5411B28A-04FA-4A1D-919D-8D9EDA8CD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80" y="3026560"/>
            <a:ext cx="3098800" cy="233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0FA53A-18B5-4453-A289-759870E76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84" y="2985571"/>
            <a:ext cx="3177541" cy="2396179"/>
          </a:xfrm>
          <a:prstGeom prst="rect">
            <a:avLst/>
          </a:prstGeom>
        </p:spPr>
      </p:pic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08" y="1810616"/>
            <a:ext cx="4515076" cy="449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22699-9BD3-47A9-BD0D-2498228DCE8E}"/>
              </a:ext>
            </a:extLst>
          </p:cNvPr>
          <p:cNvSpPr/>
          <p:nvPr/>
        </p:nvSpPr>
        <p:spPr>
          <a:xfrm>
            <a:off x="2276423" y="2951946"/>
            <a:ext cx="76391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How many conditions need to be true for the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</a:rPr>
              <a:t>and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operator to return True?</a:t>
            </a:r>
          </a:p>
        </p:txBody>
      </p:sp>
    </p:spTree>
    <p:extLst>
      <p:ext uri="{BB962C8B-B14F-4D97-AF65-F5344CB8AC3E}">
        <p14:creationId xmlns:p14="http://schemas.microsoft.com/office/powerpoint/2010/main" val="2669437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B607C9-DAA2-4DC0-A182-2F5EE3C4C032}"/>
              </a:ext>
            </a:extLst>
          </p:cNvPr>
          <p:cNvSpPr/>
          <p:nvPr/>
        </p:nvSpPr>
        <p:spPr>
          <a:xfrm>
            <a:off x="2294099" y="2951946"/>
            <a:ext cx="76038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How many conditions need to be true for the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</a:rPr>
              <a:t>or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operator to return True?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52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06B4C-DA32-429F-9876-49CF7DD8A5EC}"/>
              </a:ext>
            </a:extLst>
          </p:cNvPr>
          <p:cNvSpPr/>
          <p:nvPr/>
        </p:nvSpPr>
        <p:spPr>
          <a:xfrm>
            <a:off x="1465044" y="3302040"/>
            <a:ext cx="37645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What is the problem with the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</a:rPr>
              <a:t>and</a:t>
            </a:r>
            <a:r>
              <a:rPr lang="en-GB" sz="2800" dirty="0">
                <a:latin typeface="+mj-lt"/>
                <a:ea typeface="Calibri" panose="020F0502020204030204" pitchFamily="34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operator in this program?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BE045D7E-E58C-4AB5-800C-977E3BCF1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775" y="2022211"/>
            <a:ext cx="6001432" cy="395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0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06B4C-DA32-429F-9876-49CF7DD8A5EC}"/>
              </a:ext>
            </a:extLst>
          </p:cNvPr>
          <p:cNvSpPr/>
          <p:nvPr/>
        </p:nvSpPr>
        <p:spPr>
          <a:xfrm>
            <a:off x="3389049" y="1972917"/>
            <a:ext cx="5413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What would this program output?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9B5A9E9E-3AA9-463E-ACB2-BE9994D97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796" y="2588605"/>
            <a:ext cx="5272405" cy="399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3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5</a:t>
            </a:r>
          </a:p>
        </p:txBody>
      </p:sp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4C52B42-4BC1-47C6-B2A7-641F28D2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49" y="2558406"/>
            <a:ext cx="5272405" cy="40511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0C2F79-54F0-431D-854B-C32335D3AFC3}"/>
              </a:ext>
            </a:extLst>
          </p:cNvPr>
          <p:cNvSpPr/>
          <p:nvPr/>
        </p:nvSpPr>
        <p:spPr>
          <a:xfrm>
            <a:off x="3389049" y="1972917"/>
            <a:ext cx="5413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What would this program output?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39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ebsite&#10;&#10;Description automatically generated">
            <a:extLst>
              <a:ext uri="{FF2B5EF4-FFF2-40B4-BE49-F238E27FC236}">
                <a16:creationId xmlns:a16="http://schemas.microsoft.com/office/drawing/2014/main" id="{0F5A913D-509B-45A7-9DA1-01855FAE8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796" y="2588605"/>
            <a:ext cx="5550640" cy="39890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A1A4F-234F-40A7-931A-48FAB7D3ED0D}"/>
              </a:ext>
            </a:extLst>
          </p:cNvPr>
          <p:cNvSpPr/>
          <p:nvPr/>
        </p:nvSpPr>
        <p:spPr>
          <a:xfrm>
            <a:off x="3389049" y="1972917"/>
            <a:ext cx="5413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What would this program output?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3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Quiz 5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3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817</Words>
  <Application>Microsoft Office PowerPoint</Application>
  <PresentationFormat>Widescreen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Courier</vt:lpstr>
      <vt:lpstr>Courier New</vt:lpstr>
      <vt:lpstr>Noto Sans Symbols</vt:lpstr>
      <vt:lpstr>Times New Roman</vt:lpstr>
      <vt:lpstr>Office Theme</vt:lpstr>
      <vt:lpstr>Programming in Scratch</vt:lpstr>
      <vt:lpstr>Objectives</vt:lpstr>
      <vt:lpstr>Meeting the criteria</vt:lpstr>
      <vt:lpstr>Selection </vt:lpstr>
      <vt:lpstr>Activity 5.1: Water state </vt:lpstr>
      <vt:lpstr>Logical operators </vt:lpstr>
      <vt:lpstr>The and operator </vt:lpstr>
      <vt:lpstr> Using and in Scratch </vt:lpstr>
      <vt:lpstr>Why use logical operators? </vt:lpstr>
      <vt:lpstr>The or operator </vt:lpstr>
      <vt:lpstr>PowerPoint Presentation</vt:lpstr>
      <vt:lpstr>The not operator </vt:lpstr>
      <vt:lpstr>PowerPoint Presentation</vt:lpstr>
      <vt:lpstr>Activity 5.2: What is the weather like? </vt:lpstr>
      <vt:lpstr>Activity 5.3: Same! </vt:lpstr>
      <vt:lpstr>Question 1</vt:lpstr>
      <vt:lpstr>Question 2</vt:lpstr>
      <vt:lpstr>Question 3</vt:lpstr>
      <vt:lpstr>Question 4</vt:lpstr>
      <vt:lpstr>Question 5</vt:lpstr>
      <vt:lpstr>Question 6</vt:lpstr>
      <vt:lpstr>Quiz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Windows User</cp:lastModifiedBy>
  <cp:revision>59</cp:revision>
  <dcterms:created xsi:type="dcterms:W3CDTF">2020-11-04T15:22:46Z</dcterms:created>
  <dcterms:modified xsi:type="dcterms:W3CDTF">2021-07-08T12:04:14Z</dcterms:modified>
</cp:coreProperties>
</file>