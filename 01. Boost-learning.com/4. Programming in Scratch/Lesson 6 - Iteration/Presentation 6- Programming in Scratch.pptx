
<file path=[Content_Types].xml><?xml version="1.0" encoding="utf-8"?>
<Types xmlns="http://schemas.openxmlformats.org/package/2006/content-types">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73" r:id="rId2"/>
    <p:sldId id="257" r:id="rId3"/>
    <p:sldId id="258" r:id="rId4"/>
    <p:sldId id="259" r:id="rId5"/>
    <p:sldId id="286" r:id="rId6"/>
    <p:sldId id="260" r:id="rId7"/>
    <p:sldId id="289" r:id="rId8"/>
    <p:sldId id="290" r:id="rId9"/>
    <p:sldId id="261" r:id="rId10"/>
    <p:sldId id="291" r:id="rId11"/>
    <p:sldId id="275" r:id="rId12"/>
    <p:sldId id="281"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ea Albrechtsen" initials="LA" lastIdx="3" clrIdx="0">
    <p:extLst>
      <p:ext uri="{19B8F6BF-5375-455C-9EA6-DF929625EA0E}">
        <p15:presenceInfo xmlns:p15="http://schemas.microsoft.com/office/powerpoint/2012/main" userId="S::Lea.Albrechtsen@hoddereducation.co.uk::4df490f3-5904-4e82-a5b6-23281874b6f0"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30613"/>
    <a:srgbClr val="0069B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655" autoAdjust="0"/>
    <p:restoredTop sz="94660"/>
  </p:normalViewPr>
  <p:slideViewPr>
    <p:cSldViewPr snapToGrid="0">
      <p:cViewPr varScale="1">
        <p:scale>
          <a:sx n="110" d="100"/>
          <a:sy n="110" d="100"/>
        </p:scale>
        <p:origin x="282"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commentAuthors" Target="commentAuthor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F7712-1F3B-4253-AEF1-0FE171523E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7DC14F2F-A2B8-4861-8B33-2CF08A1C259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Tree>
    <p:extLst>
      <p:ext uri="{BB962C8B-B14F-4D97-AF65-F5344CB8AC3E}">
        <p14:creationId xmlns:p14="http://schemas.microsoft.com/office/powerpoint/2010/main" val="31378146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660902-80CF-4DD3-B59F-8E58611CF136}"/>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B756315-CBCB-4124-93B3-3DEF3C56BD7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DFA47B5-60C4-46E0-B317-50F50E6D857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03/06/2021</a:t>
            </a:fld>
            <a:endParaRPr lang="en-GB"/>
          </a:p>
        </p:txBody>
      </p:sp>
      <p:sp>
        <p:nvSpPr>
          <p:cNvPr id="5" name="Footer Placeholder 4">
            <a:extLst>
              <a:ext uri="{FF2B5EF4-FFF2-40B4-BE49-F238E27FC236}">
                <a16:creationId xmlns:a16="http://schemas.microsoft.com/office/drawing/2014/main" id="{5F049A0D-7474-4882-A51A-CF35E154FD23}"/>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99F5A12C-5BED-457E-A6CE-2E58C8D0DEDC}"/>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3233533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9C2461-8DBB-43F0-A3AC-126E643979E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A596A727-278D-4E57-850B-78E0D727C72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F41C733-75AA-40FE-8179-B58FA4EA5EE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03/06/2021</a:t>
            </a:fld>
            <a:endParaRPr lang="en-GB"/>
          </a:p>
        </p:txBody>
      </p:sp>
      <p:sp>
        <p:nvSpPr>
          <p:cNvPr id="5" name="Footer Placeholder 4">
            <a:extLst>
              <a:ext uri="{FF2B5EF4-FFF2-40B4-BE49-F238E27FC236}">
                <a16:creationId xmlns:a16="http://schemas.microsoft.com/office/drawing/2014/main" id="{FB8C4D2E-FA87-41DA-961F-7D250DD08DA8}"/>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BF020F2E-2A86-4F16-B83F-E86E7319950C}"/>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3611048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35B458-3AE6-4C21-BEBE-F7B76061980E}"/>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32FF206-47D4-451B-80B7-578E10A3E6E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1D2DF79-B13E-46C5-AAA1-F49C3BABAB6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F199702-3758-423C-8C91-550D5C885DF9}"/>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03/06/2021</a:t>
            </a:fld>
            <a:endParaRPr lang="en-GB"/>
          </a:p>
        </p:txBody>
      </p:sp>
      <p:sp>
        <p:nvSpPr>
          <p:cNvPr id="6" name="Footer Placeholder 5">
            <a:extLst>
              <a:ext uri="{FF2B5EF4-FFF2-40B4-BE49-F238E27FC236}">
                <a16:creationId xmlns:a16="http://schemas.microsoft.com/office/drawing/2014/main" id="{4355CC31-BF31-4EB1-8B54-2DD0D6BE79BC}"/>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303EFAF2-4586-4670-8EF7-78067B1872A1}"/>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41161545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E05FA2-A60C-405C-A307-880C049CB034}"/>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A970388-4034-4A46-8B98-D37491E0148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EC39A8B-6B00-4329-AC44-AD6EBE236EC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E55DFF08-1C59-4E60-A964-4D4A3690072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6548497-A585-4527-B8A6-BB01B9FBC43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977C2D4B-BCC3-48CF-B358-D817886727C0}"/>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03/06/2021</a:t>
            </a:fld>
            <a:endParaRPr lang="en-GB"/>
          </a:p>
        </p:txBody>
      </p:sp>
      <p:sp>
        <p:nvSpPr>
          <p:cNvPr id="8" name="Footer Placeholder 7">
            <a:extLst>
              <a:ext uri="{FF2B5EF4-FFF2-40B4-BE49-F238E27FC236}">
                <a16:creationId xmlns:a16="http://schemas.microsoft.com/office/drawing/2014/main" id="{B393C415-FAAE-444A-BBA1-9059E1C450A3}"/>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16C512DB-E555-4910-92DC-7AB19F87F8E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477414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D8A33-5CA5-4826-9B83-0B2F6A50C2BE}"/>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A17C1E61-1B5E-44DC-BC0F-2F956B04C019}"/>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03/06/2021</a:t>
            </a:fld>
            <a:endParaRPr lang="en-GB"/>
          </a:p>
        </p:txBody>
      </p:sp>
      <p:sp>
        <p:nvSpPr>
          <p:cNvPr id="4" name="Footer Placeholder 3">
            <a:extLst>
              <a:ext uri="{FF2B5EF4-FFF2-40B4-BE49-F238E27FC236}">
                <a16:creationId xmlns:a16="http://schemas.microsoft.com/office/drawing/2014/main" id="{DBA212BA-9EF0-4463-A9C0-997D5572049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E350D64F-9F3A-43FB-A563-07763EE16E2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2795999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4739767-A677-43FB-A13E-C6E76D21E158}"/>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03/06/2021</a:t>
            </a:fld>
            <a:endParaRPr lang="en-GB"/>
          </a:p>
        </p:txBody>
      </p:sp>
      <p:sp>
        <p:nvSpPr>
          <p:cNvPr id="3" name="Footer Placeholder 2">
            <a:extLst>
              <a:ext uri="{FF2B5EF4-FFF2-40B4-BE49-F238E27FC236}">
                <a16:creationId xmlns:a16="http://schemas.microsoft.com/office/drawing/2014/main" id="{BFA103BA-C2DE-41DE-842B-306DECB788D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5B8320D2-03FC-47A8-B437-7B7CEBDD6176}"/>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7471799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5B20E6-8664-4FD7-A9B2-0B5C17E861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2D75017E-7CE6-4AFE-8756-092A858401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885C17A6-B2E1-42BB-9629-032C80545F1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51DC4D7-18F9-4992-BB61-15FA97A5299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03/06/2021</a:t>
            </a:fld>
            <a:endParaRPr lang="en-GB"/>
          </a:p>
        </p:txBody>
      </p:sp>
      <p:sp>
        <p:nvSpPr>
          <p:cNvPr id="6" name="Footer Placeholder 5">
            <a:extLst>
              <a:ext uri="{FF2B5EF4-FFF2-40B4-BE49-F238E27FC236}">
                <a16:creationId xmlns:a16="http://schemas.microsoft.com/office/drawing/2014/main" id="{4FB52144-EB56-46FB-8C3D-7A8702354378}"/>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E7142B02-C27D-4AC0-9DE7-A653F338FB9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8955819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0FD8A0-DA8A-463F-AC82-9A3D896B80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E3B553CB-6BB8-4D69-8270-E69093C148F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D00E0B06-F972-42E3-B94A-6BA48244584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FFCFE24-5759-425E-A7E5-6EAACD13BAA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03/06/2021</a:t>
            </a:fld>
            <a:endParaRPr lang="en-GB"/>
          </a:p>
        </p:txBody>
      </p:sp>
      <p:sp>
        <p:nvSpPr>
          <p:cNvPr id="6" name="Footer Placeholder 5">
            <a:extLst>
              <a:ext uri="{FF2B5EF4-FFF2-40B4-BE49-F238E27FC236}">
                <a16:creationId xmlns:a16="http://schemas.microsoft.com/office/drawing/2014/main" id="{EC458F3E-34B5-48AA-B148-66ED69F3067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AB133722-4E46-4BF0-841D-DC92DCB48251}"/>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21531943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0A43C2-4F61-40F8-A06C-596F42B7D0AD}"/>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012D4A7-8F4B-484D-90BE-4A6A303F659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BBE0C66-2DCD-4454-98BE-EE8ADD1D798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03/06/2021</a:t>
            </a:fld>
            <a:endParaRPr lang="en-GB"/>
          </a:p>
        </p:txBody>
      </p:sp>
      <p:sp>
        <p:nvSpPr>
          <p:cNvPr id="5" name="Footer Placeholder 4">
            <a:extLst>
              <a:ext uri="{FF2B5EF4-FFF2-40B4-BE49-F238E27FC236}">
                <a16:creationId xmlns:a16="http://schemas.microsoft.com/office/drawing/2014/main" id="{B6C655C5-A5ED-4766-97E4-846A805367D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17ADFEEA-B282-4D56-A557-4193031EB4A7}"/>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9012902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31B7A8B-8DD3-4239-8EA1-87394625413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5621B91-126F-434B-86F2-89E6778E91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57BFCCA6-FBA0-4A4B-97BC-8B2465C0186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03/06/2021</a:t>
            </a:fld>
            <a:endParaRPr lang="en-GB"/>
          </a:p>
        </p:txBody>
      </p:sp>
      <p:sp>
        <p:nvSpPr>
          <p:cNvPr id="5" name="Footer Placeholder 4">
            <a:extLst>
              <a:ext uri="{FF2B5EF4-FFF2-40B4-BE49-F238E27FC236}">
                <a16:creationId xmlns:a16="http://schemas.microsoft.com/office/drawing/2014/main" id="{5A17EED6-4B0F-4C58-A54B-C4F0F72D7BAA}"/>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51249905-D4AB-4930-9B2A-6E8E550A0D1E}"/>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3081115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3B9995C-D844-455E-9E19-BF66C81EFD3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D204189-41E9-4E09-B418-B033E7F1473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Footer Placeholder 4">
            <a:extLst>
              <a:ext uri="{FF2B5EF4-FFF2-40B4-BE49-F238E27FC236}">
                <a16:creationId xmlns:a16="http://schemas.microsoft.com/office/drawing/2014/main" id="{4D739203-7E29-BA40-9D51-8F9968799BF3}"/>
              </a:ext>
            </a:extLst>
          </p:cNvPr>
          <p:cNvSpPr txBox="1">
            <a:spLocks/>
          </p:cNvSpPr>
          <p:nvPr userDrawn="1"/>
        </p:nvSpPr>
        <p:spPr>
          <a:xfrm>
            <a:off x="7547114" y="6380197"/>
            <a:ext cx="4114800"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GB" sz="1200" dirty="0"/>
              <a:t>© Hodder &amp; Stoughton Limited 2021</a:t>
            </a:r>
          </a:p>
        </p:txBody>
      </p:sp>
      <p:pic>
        <p:nvPicPr>
          <p:cNvPr id="6" name="Picture 5">
            <a:extLst>
              <a:ext uri="{FF2B5EF4-FFF2-40B4-BE49-F238E27FC236}">
                <a16:creationId xmlns:a16="http://schemas.microsoft.com/office/drawing/2014/main" id="{5700FF46-9591-E444-B749-96268477A679}"/>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0"/>
            <a:ext cx="12238036" cy="1622391"/>
          </a:xfrm>
          <a:prstGeom prst="rect">
            <a:avLst/>
          </a:prstGeom>
        </p:spPr>
      </p:pic>
    </p:spTree>
    <p:extLst>
      <p:ext uri="{BB962C8B-B14F-4D97-AF65-F5344CB8AC3E}">
        <p14:creationId xmlns:p14="http://schemas.microsoft.com/office/powerpoint/2010/main" val="26587743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gif"/><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8.gif"/></Relationships>
</file>

<file path=ppt/slides/_rels/slide8.xml.rels><?xml version="1.0" encoding="UTF-8" standalone="yes"?>
<Relationships xmlns="http://schemas.openxmlformats.org/package/2006/relationships"><Relationship Id="rId3" Type="http://schemas.openxmlformats.org/officeDocument/2006/relationships/image" Target="../media/image9.gif"/><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10.gif"/></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15.gif"/></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82B9C3-E44C-4313-895D-D43DD1C92CE3}"/>
              </a:ext>
            </a:extLst>
          </p:cNvPr>
          <p:cNvSpPr>
            <a:spLocks noGrp="1"/>
          </p:cNvSpPr>
          <p:nvPr>
            <p:ph type="ctrTitle"/>
          </p:nvPr>
        </p:nvSpPr>
        <p:spPr>
          <a:xfrm>
            <a:off x="1098958" y="3010438"/>
            <a:ext cx="5931016" cy="915850"/>
          </a:xfrm>
        </p:spPr>
        <p:txBody>
          <a:bodyPr>
            <a:noAutofit/>
          </a:bodyPr>
          <a:lstStyle/>
          <a:p>
            <a:pPr algn="l"/>
            <a:r>
              <a:rPr lang="en-GB" sz="4800" b="1" dirty="0"/>
              <a:t>Programming in Scratch</a:t>
            </a:r>
          </a:p>
        </p:txBody>
      </p:sp>
      <p:sp>
        <p:nvSpPr>
          <p:cNvPr id="11" name="Rectangle 10">
            <a:extLst>
              <a:ext uri="{FF2B5EF4-FFF2-40B4-BE49-F238E27FC236}">
                <a16:creationId xmlns:a16="http://schemas.microsoft.com/office/drawing/2014/main" id="{5346DB13-257C-4484-9CB0-C755672B55D3}"/>
              </a:ext>
            </a:extLst>
          </p:cNvPr>
          <p:cNvSpPr/>
          <p:nvPr/>
        </p:nvSpPr>
        <p:spPr>
          <a:xfrm>
            <a:off x="1190676" y="3926618"/>
            <a:ext cx="5031964" cy="400110"/>
          </a:xfrm>
          <a:prstGeom prst="rect">
            <a:avLst/>
          </a:prstGeom>
        </p:spPr>
        <p:txBody>
          <a:bodyPr wrap="square">
            <a:spAutoFit/>
          </a:bodyPr>
          <a:lstStyle/>
          <a:p>
            <a:pPr algn="r"/>
            <a:r>
              <a:rPr lang="en-GB" sz="2000" b="1" dirty="0">
                <a:solidFill>
                  <a:srgbClr val="E30613"/>
                </a:solidFill>
                <a:latin typeface="Calibri" panose="020F0502020204030204" pitchFamily="34" charset="0"/>
                <a:ea typeface="Times New Roman" panose="02020603050405020304" pitchFamily="18" charset="0"/>
              </a:rPr>
              <a:t>Lesson 6: Iteration </a:t>
            </a:r>
            <a:endParaRPr lang="en-GB" sz="2000" b="1" dirty="0">
              <a:solidFill>
                <a:srgbClr val="E30613"/>
              </a:solidFill>
            </a:endParaRPr>
          </a:p>
        </p:txBody>
      </p:sp>
      <p:pic>
        <p:nvPicPr>
          <p:cNvPr id="5" name="Picture 4">
            <a:extLst>
              <a:ext uri="{FF2B5EF4-FFF2-40B4-BE49-F238E27FC236}">
                <a16:creationId xmlns:a16="http://schemas.microsoft.com/office/drawing/2014/main" id="{D327B39F-99FC-432D-B100-95B9F0B14229}"/>
              </a:ext>
            </a:extLst>
          </p:cNvPr>
          <p:cNvPicPr>
            <a:picLocks noChangeAspect="1"/>
          </p:cNvPicPr>
          <p:nvPr/>
        </p:nvPicPr>
        <p:blipFill>
          <a:blip r:embed="rId2"/>
          <a:stretch>
            <a:fillRect/>
          </a:stretch>
        </p:blipFill>
        <p:spPr>
          <a:xfrm>
            <a:off x="7305669" y="2704323"/>
            <a:ext cx="2937413" cy="2443928"/>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1762775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C4667-2A3C-4536-9386-00402F3C6EE6}"/>
              </a:ext>
            </a:extLst>
          </p:cNvPr>
          <p:cNvSpPr>
            <a:spLocks noGrp="1"/>
          </p:cNvSpPr>
          <p:nvPr>
            <p:ph type="title"/>
          </p:nvPr>
        </p:nvSpPr>
        <p:spPr>
          <a:xfrm>
            <a:off x="1610413" y="806893"/>
            <a:ext cx="9634330" cy="766349"/>
          </a:xfrm>
        </p:spPr>
        <p:txBody>
          <a:bodyPr/>
          <a:lstStyle/>
          <a:p>
            <a:r>
              <a:rPr lang="en-GB" b="1" dirty="0">
                <a:solidFill>
                  <a:schemeClr val="bg1"/>
                </a:solidFill>
              </a:rPr>
              <a:t>Objectives</a:t>
            </a:r>
          </a:p>
        </p:txBody>
      </p:sp>
      <p:sp>
        <p:nvSpPr>
          <p:cNvPr id="4" name="Rectangle 3">
            <a:extLst>
              <a:ext uri="{FF2B5EF4-FFF2-40B4-BE49-F238E27FC236}">
                <a16:creationId xmlns:a16="http://schemas.microsoft.com/office/drawing/2014/main" id="{5EC36740-8540-4D8B-8D9C-EA9F1DCA5808}"/>
              </a:ext>
            </a:extLst>
          </p:cNvPr>
          <p:cNvSpPr/>
          <p:nvPr/>
        </p:nvSpPr>
        <p:spPr>
          <a:xfrm>
            <a:off x="1610413" y="2397948"/>
            <a:ext cx="7106204" cy="2062103"/>
          </a:xfrm>
          <a:prstGeom prst="rect">
            <a:avLst/>
          </a:prstGeom>
        </p:spPr>
        <p:txBody>
          <a:bodyPr wrap="square">
            <a:spAutoFit/>
          </a:bodyPr>
          <a:lstStyle/>
          <a:p>
            <a:pPr>
              <a:spcAft>
                <a:spcPts val="0"/>
              </a:spcAft>
            </a:pPr>
            <a:r>
              <a:rPr lang="en-GB" sz="3200" dirty="0">
                <a:latin typeface="Calibri" panose="020F0502020204030204" pitchFamily="34" charset="0"/>
                <a:ea typeface="Calibri" panose="020F0502020204030204" pitchFamily="34" charset="0"/>
              </a:rPr>
              <a:t>In this lesson, you will learn how to use:</a:t>
            </a:r>
            <a:endParaRPr lang="en-GB" sz="3200" dirty="0">
              <a:latin typeface="Times New Roman" panose="02020603050405020304" pitchFamily="18" charset="0"/>
              <a:ea typeface="Times New Roman" panose="02020603050405020304" pitchFamily="18" charset="0"/>
            </a:endParaRPr>
          </a:p>
          <a:p>
            <a:pPr marL="342900" lvl="0" indent="-342900">
              <a:buFont typeface="Arial" panose="020B0604020202020204" pitchFamily="34" charset="0"/>
              <a:buChar char="●"/>
            </a:pPr>
            <a:r>
              <a:rPr lang="en-GB" sz="2400" dirty="0">
                <a:latin typeface="Calibri" panose="020F0502020204030204" pitchFamily="34" charset="0"/>
                <a:ea typeface="Calibri" panose="020F0502020204030204" pitchFamily="34" charset="0"/>
                <a:cs typeface="Noto Sans Symbols"/>
              </a:rPr>
              <a:t>define iteration</a:t>
            </a:r>
          </a:p>
          <a:p>
            <a:pPr marL="342900" lvl="0" indent="-342900">
              <a:buFont typeface="Arial" panose="020B0604020202020204" pitchFamily="34" charset="0"/>
              <a:buChar char="●"/>
            </a:pPr>
            <a:r>
              <a:rPr lang="en-GB" sz="2400" dirty="0">
                <a:latin typeface="Calibri" panose="020F0502020204030204" pitchFamily="34" charset="0"/>
                <a:ea typeface="Calibri" panose="020F0502020204030204" pitchFamily="34" charset="0"/>
                <a:cs typeface="Noto Sans Symbols"/>
              </a:rPr>
              <a:t>identify patterns in programming code</a:t>
            </a:r>
          </a:p>
          <a:p>
            <a:pPr marL="342900" lvl="0" indent="-342900">
              <a:buFont typeface="Arial" panose="020B0604020202020204" pitchFamily="34" charset="0"/>
              <a:buChar char="●"/>
            </a:pPr>
            <a:r>
              <a:rPr lang="en-GB" sz="2400" dirty="0">
                <a:latin typeface="Calibri" panose="020F0502020204030204" pitchFamily="34" charset="0"/>
                <a:ea typeface="Calibri" panose="020F0502020204030204" pitchFamily="34" charset="0"/>
                <a:cs typeface="Noto Sans Symbols"/>
              </a:rPr>
              <a:t>use iteration to make programs shorter and easier to code.</a:t>
            </a:r>
          </a:p>
        </p:txBody>
      </p:sp>
    </p:spTree>
    <p:extLst>
      <p:ext uri="{BB962C8B-B14F-4D97-AF65-F5344CB8AC3E}">
        <p14:creationId xmlns:p14="http://schemas.microsoft.com/office/powerpoint/2010/main" val="16998104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7905C-00CB-4FC9-83B7-66A2E3C077C8}"/>
              </a:ext>
            </a:extLst>
          </p:cNvPr>
          <p:cNvSpPr>
            <a:spLocks noGrp="1"/>
          </p:cNvSpPr>
          <p:nvPr>
            <p:ph type="title"/>
          </p:nvPr>
        </p:nvSpPr>
        <p:spPr>
          <a:xfrm>
            <a:off x="1613878" y="802881"/>
            <a:ext cx="9773478" cy="845862"/>
          </a:xfrm>
        </p:spPr>
        <p:txBody>
          <a:bodyPr/>
          <a:lstStyle/>
          <a:p>
            <a:r>
              <a:rPr lang="en-GB" b="1" dirty="0">
                <a:solidFill>
                  <a:schemeClr val="bg1"/>
                </a:solidFill>
              </a:rPr>
              <a:t>Racing car </a:t>
            </a:r>
          </a:p>
        </p:txBody>
      </p:sp>
      <p:sp>
        <p:nvSpPr>
          <p:cNvPr id="5" name="Rectangle 4">
            <a:extLst>
              <a:ext uri="{FF2B5EF4-FFF2-40B4-BE49-F238E27FC236}">
                <a16:creationId xmlns:a16="http://schemas.microsoft.com/office/drawing/2014/main" id="{A69D50FE-CE84-460E-B8C7-224F80E0B881}"/>
              </a:ext>
            </a:extLst>
          </p:cNvPr>
          <p:cNvSpPr/>
          <p:nvPr/>
        </p:nvSpPr>
        <p:spPr>
          <a:xfrm>
            <a:off x="1613878" y="2038773"/>
            <a:ext cx="5055278" cy="3477875"/>
          </a:xfrm>
          <a:prstGeom prst="rect">
            <a:avLst/>
          </a:prstGeom>
        </p:spPr>
        <p:txBody>
          <a:bodyPr wrap="square">
            <a:spAutoFit/>
          </a:bodyPr>
          <a:lstStyle/>
          <a:p>
            <a:r>
              <a:rPr lang="en-GB" sz="2000" dirty="0"/>
              <a:t>Do you remember this track from Lesson 1?</a:t>
            </a:r>
          </a:p>
          <a:p>
            <a:endParaRPr lang="en-GB" sz="2000" dirty="0"/>
          </a:p>
          <a:p>
            <a:r>
              <a:rPr lang="en-GB" sz="2000" dirty="0"/>
              <a:t>Write a sequence of instructions that uses as few lines of code as possible to get the car from the start to the chequered flag. </a:t>
            </a:r>
          </a:p>
          <a:p>
            <a:endParaRPr lang="en-GB" sz="2000" dirty="0"/>
          </a:p>
          <a:p>
            <a:r>
              <a:rPr lang="en-GB" sz="2000" dirty="0"/>
              <a:t>The only commands the car understands are:</a:t>
            </a:r>
          </a:p>
          <a:p>
            <a:pPr lvl="0"/>
            <a:r>
              <a:rPr lang="en-GB" sz="2000" dirty="0">
                <a:latin typeface="Courier" pitchFamily="2" charset="0"/>
              </a:rPr>
              <a:t>Move X square(s) forward </a:t>
            </a:r>
          </a:p>
          <a:p>
            <a:pPr lvl="0"/>
            <a:r>
              <a:rPr lang="en-GB" sz="2000" dirty="0">
                <a:latin typeface="Courier" pitchFamily="2" charset="0"/>
              </a:rPr>
              <a:t>Turn X degrees right</a:t>
            </a:r>
          </a:p>
          <a:p>
            <a:pPr lvl="0"/>
            <a:r>
              <a:rPr lang="en-GB" sz="2000" dirty="0">
                <a:latin typeface="Courier" pitchFamily="2" charset="0"/>
              </a:rPr>
              <a:t>Turn X degrees left </a:t>
            </a:r>
          </a:p>
          <a:p>
            <a:pPr lvl="0"/>
            <a:r>
              <a:rPr lang="en-GB" sz="2000" dirty="0">
                <a:latin typeface="Courier" pitchFamily="2" charset="0"/>
              </a:rPr>
              <a:t>Repeat X times</a:t>
            </a:r>
          </a:p>
        </p:txBody>
      </p:sp>
      <p:pic>
        <p:nvPicPr>
          <p:cNvPr id="4" name="Picture 3" descr="Chart, treemap chart&#10;&#10;Description automatically generated">
            <a:extLst>
              <a:ext uri="{FF2B5EF4-FFF2-40B4-BE49-F238E27FC236}">
                <a16:creationId xmlns:a16="http://schemas.microsoft.com/office/drawing/2014/main" id="{D224A2D1-0848-426F-AE1F-78E36664D5B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4990" y="2038773"/>
            <a:ext cx="3283132" cy="4314973"/>
          </a:xfrm>
          <a:prstGeom prst="rect">
            <a:avLst/>
          </a:prstGeom>
        </p:spPr>
      </p:pic>
    </p:spTree>
    <p:extLst>
      <p:ext uri="{BB962C8B-B14F-4D97-AF65-F5344CB8AC3E}">
        <p14:creationId xmlns:p14="http://schemas.microsoft.com/office/powerpoint/2010/main" val="11661668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4C3D19-1115-422D-B31A-F4EC856863A4}"/>
              </a:ext>
            </a:extLst>
          </p:cNvPr>
          <p:cNvSpPr>
            <a:spLocks noGrp="1"/>
          </p:cNvSpPr>
          <p:nvPr>
            <p:ph type="title"/>
          </p:nvPr>
        </p:nvSpPr>
        <p:spPr>
          <a:xfrm>
            <a:off x="1620078" y="816265"/>
            <a:ext cx="9733721" cy="835923"/>
          </a:xfrm>
        </p:spPr>
        <p:txBody>
          <a:bodyPr/>
          <a:lstStyle/>
          <a:p>
            <a:r>
              <a:rPr lang="en-GB" b="1" dirty="0">
                <a:solidFill>
                  <a:schemeClr val="bg1"/>
                </a:solidFill>
              </a:rPr>
              <a:t>Programming constructs  </a:t>
            </a:r>
          </a:p>
        </p:txBody>
      </p:sp>
      <p:sp>
        <p:nvSpPr>
          <p:cNvPr id="7" name="Rectangle 6">
            <a:extLst>
              <a:ext uri="{FF2B5EF4-FFF2-40B4-BE49-F238E27FC236}">
                <a16:creationId xmlns:a16="http://schemas.microsoft.com/office/drawing/2014/main" id="{016E22C0-194E-42FD-A61E-B59B42CAFD46}"/>
              </a:ext>
            </a:extLst>
          </p:cNvPr>
          <p:cNvSpPr/>
          <p:nvPr/>
        </p:nvSpPr>
        <p:spPr>
          <a:xfrm>
            <a:off x="1620078" y="1964353"/>
            <a:ext cx="7623313" cy="4893647"/>
          </a:xfrm>
          <a:prstGeom prst="rect">
            <a:avLst/>
          </a:prstGeom>
        </p:spPr>
        <p:txBody>
          <a:bodyPr wrap="square">
            <a:spAutoFit/>
          </a:bodyPr>
          <a:lstStyle/>
          <a:p>
            <a:r>
              <a:rPr lang="en-GB" sz="2400" dirty="0"/>
              <a:t>Previously, we have looked at sequencing and selection and how these work in programming. </a:t>
            </a:r>
          </a:p>
          <a:p>
            <a:endParaRPr lang="en-GB" sz="2400" dirty="0"/>
          </a:p>
          <a:p>
            <a:r>
              <a:rPr lang="en-GB" sz="2400" dirty="0"/>
              <a:t>Sequencing and selection are two of three key programming constructs:</a:t>
            </a:r>
          </a:p>
          <a:p>
            <a:pPr marL="285750" lvl="0" indent="-285750">
              <a:buFont typeface="Arial" panose="020B0604020202020204" pitchFamily="34" charset="0"/>
              <a:buChar char="•"/>
            </a:pPr>
            <a:r>
              <a:rPr lang="en-GB" sz="2400" dirty="0"/>
              <a:t>Sequence</a:t>
            </a:r>
          </a:p>
          <a:p>
            <a:pPr marL="285750" lvl="0" indent="-285750">
              <a:buFont typeface="Arial" panose="020B0604020202020204" pitchFamily="34" charset="0"/>
              <a:buChar char="•"/>
            </a:pPr>
            <a:r>
              <a:rPr lang="en-GB" sz="2400" dirty="0"/>
              <a:t>Selection</a:t>
            </a:r>
          </a:p>
          <a:p>
            <a:pPr marL="285750" lvl="0" indent="-285750">
              <a:buFont typeface="Arial" panose="020B0604020202020204" pitchFamily="34" charset="0"/>
              <a:buChar char="•"/>
            </a:pPr>
            <a:r>
              <a:rPr lang="en-GB" sz="2400" dirty="0"/>
              <a:t>Iteration</a:t>
            </a:r>
          </a:p>
          <a:p>
            <a:pPr lvl="0"/>
            <a:endParaRPr lang="en-GB" sz="2400" dirty="0"/>
          </a:p>
          <a:p>
            <a:r>
              <a:rPr lang="en-GB" sz="2400" dirty="0"/>
              <a:t>These three concepts are crucial to allow us to solve problems, both in programming and day to day.</a:t>
            </a:r>
          </a:p>
          <a:p>
            <a:r>
              <a:rPr lang="en-GB" sz="2400" dirty="0"/>
              <a:t>Today we will focus on iteration.</a:t>
            </a:r>
          </a:p>
          <a:p>
            <a:pPr marL="342900" indent="-342900">
              <a:spcAft>
                <a:spcPts val="0"/>
              </a:spcAft>
              <a:buFont typeface="Arial" panose="020B0604020202020204" pitchFamily="34" charset="0"/>
              <a:buChar char="•"/>
            </a:pPr>
            <a:endParaRPr lang="en-GB" sz="2400" dirty="0">
              <a:ea typeface="Calibri" panose="020F0502020204030204" pitchFamily="34" charset="0"/>
            </a:endParaRPr>
          </a:p>
        </p:txBody>
      </p:sp>
    </p:spTree>
    <p:extLst>
      <p:ext uri="{BB962C8B-B14F-4D97-AF65-F5344CB8AC3E}">
        <p14:creationId xmlns:p14="http://schemas.microsoft.com/office/powerpoint/2010/main" val="3005745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C0D3D-3B5A-405C-A85C-D55D7E6FEF9A}"/>
              </a:ext>
            </a:extLst>
          </p:cNvPr>
          <p:cNvSpPr>
            <a:spLocks noGrp="1"/>
          </p:cNvSpPr>
          <p:nvPr>
            <p:ph type="title"/>
          </p:nvPr>
        </p:nvSpPr>
        <p:spPr>
          <a:xfrm>
            <a:off x="1589632" y="796072"/>
            <a:ext cx="10037685" cy="865740"/>
          </a:xfrm>
        </p:spPr>
        <p:txBody>
          <a:bodyPr>
            <a:normAutofit/>
          </a:bodyPr>
          <a:lstStyle/>
          <a:p>
            <a:r>
              <a:rPr lang="en-GB" b="1" dirty="0">
                <a:solidFill>
                  <a:schemeClr val="bg1"/>
                </a:solidFill>
              </a:rPr>
              <a:t>Iteration </a:t>
            </a:r>
          </a:p>
        </p:txBody>
      </p:sp>
      <p:sp>
        <p:nvSpPr>
          <p:cNvPr id="3" name="Rectangle 2">
            <a:extLst>
              <a:ext uri="{FF2B5EF4-FFF2-40B4-BE49-F238E27FC236}">
                <a16:creationId xmlns:a16="http://schemas.microsoft.com/office/drawing/2014/main" id="{8C86033F-558E-9B4A-B611-DF928ED98F10}"/>
              </a:ext>
            </a:extLst>
          </p:cNvPr>
          <p:cNvSpPr/>
          <p:nvPr/>
        </p:nvSpPr>
        <p:spPr>
          <a:xfrm>
            <a:off x="1589631" y="2413338"/>
            <a:ext cx="8110959" cy="3416320"/>
          </a:xfrm>
          <a:prstGeom prst="rect">
            <a:avLst/>
          </a:prstGeom>
        </p:spPr>
        <p:txBody>
          <a:bodyPr wrap="square">
            <a:spAutoFit/>
          </a:bodyPr>
          <a:lstStyle/>
          <a:p>
            <a:r>
              <a:rPr lang="en-GB" sz="2400" b="1" dirty="0">
                <a:solidFill>
                  <a:srgbClr val="C0504D"/>
                </a:solidFill>
                <a:ea typeface="Calibri" panose="020F0502020204030204" pitchFamily="34" charset="0"/>
              </a:rPr>
              <a:t>Iteration</a:t>
            </a:r>
            <a:r>
              <a:rPr lang="en-GB" sz="2400" b="1" dirty="0">
                <a:ea typeface="Calibri" panose="020F0502020204030204" pitchFamily="34" charset="0"/>
              </a:rPr>
              <a:t> </a:t>
            </a:r>
            <a:r>
              <a:rPr lang="en-GB" sz="2400" dirty="0">
                <a:ea typeface="Calibri" panose="020F0502020204030204" pitchFamily="34" charset="0"/>
              </a:rPr>
              <a:t>is when a set of instructions is repeated. It is used when a program needs to complete the same process multiple times to make programs shorter and easier to code.</a:t>
            </a:r>
            <a:endParaRPr lang="en-GB" sz="2400" dirty="0">
              <a:ea typeface="Times New Roman" panose="02020603050405020304" pitchFamily="18" charset="0"/>
            </a:endParaRPr>
          </a:p>
          <a:p>
            <a:endParaRPr lang="en-GB" sz="2400" dirty="0">
              <a:ea typeface="Calibri" panose="020F0502020204030204" pitchFamily="34" charset="0"/>
            </a:endParaRPr>
          </a:p>
          <a:p>
            <a:r>
              <a:rPr lang="en-GB" sz="2400" dirty="0">
                <a:ea typeface="Calibri" panose="020F0502020204030204" pitchFamily="34" charset="0"/>
              </a:rPr>
              <a:t>Iteration can also be referred to as using a </a:t>
            </a:r>
            <a:r>
              <a:rPr lang="en-GB" sz="2400" b="1" dirty="0">
                <a:solidFill>
                  <a:srgbClr val="C0504D"/>
                </a:solidFill>
                <a:ea typeface="Calibri" panose="020F0502020204030204" pitchFamily="34" charset="0"/>
              </a:rPr>
              <a:t>loop</a:t>
            </a:r>
            <a:r>
              <a:rPr lang="en-GB" sz="2400" dirty="0">
                <a:ea typeface="Calibri" panose="020F0502020204030204" pitchFamily="34" charset="0"/>
              </a:rPr>
              <a:t>.</a:t>
            </a:r>
          </a:p>
          <a:p>
            <a:endParaRPr lang="en-GB" sz="2400" dirty="0">
              <a:ea typeface="Times New Roman" panose="02020603050405020304" pitchFamily="18" charset="0"/>
            </a:endParaRPr>
          </a:p>
          <a:p>
            <a:r>
              <a:rPr lang="en-GB" sz="2400" dirty="0">
                <a:ea typeface="Calibri" panose="020F0502020204030204" pitchFamily="34" charset="0"/>
              </a:rPr>
              <a:t>The most common form of iteration in Scratch is the ‘repeat’</a:t>
            </a:r>
            <a:r>
              <a:rPr lang="en-GB" sz="2400" b="1" dirty="0">
                <a:ea typeface="Calibri" panose="020F0502020204030204" pitchFamily="34" charset="0"/>
              </a:rPr>
              <a:t> </a:t>
            </a:r>
            <a:r>
              <a:rPr lang="en-GB" sz="2400" dirty="0">
                <a:ea typeface="Calibri" panose="020F0502020204030204" pitchFamily="34" charset="0"/>
              </a:rPr>
              <a:t>block. You set how many times you want something to repeat, or ask it to repeat until a condition is met.</a:t>
            </a:r>
            <a:endParaRPr lang="en-GB" sz="2400" dirty="0">
              <a:ea typeface="Times New Roman" panose="02020603050405020304" pitchFamily="18" charset="0"/>
            </a:endParaRPr>
          </a:p>
        </p:txBody>
      </p:sp>
    </p:spTree>
    <p:extLst>
      <p:ext uri="{BB962C8B-B14F-4D97-AF65-F5344CB8AC3E}">
        <p14:creationId xmlns:p14="http://schemas.microsoft.com/office/powerpoint/2010/main" val="25393851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F5B0F3-7F56-4F5C-81F1-A743D46BDBD9}"/>
              </a:ext>
            </a:extLst>
          </p:cNvPr>
          <p:cNvSpPr>
            <a:spLocks noGrp="1"/>
          </p:cNvSpPr>
          <p:nvPr>
            <p:ph type="title"/>
          </p:nvPr>
        </p:nvSpPr>
        <p:spPr>
          <a:xfrm>
            <a:off x="1609825" y="815951"/>
            <a:ext cx="9753599" cy="845862"/>
          </a:xfrm>
        </p:spPr>
        <p:txBody>
          <a:bodyPr/>
          <a:lstStyle/>
          <a:p>
            <a:r>
              <a:rPr lang="en-GB" b="1" dirty="0">
                <a:solidFill>
                  <a:schemeClr val="bg1"/>
                </a:solidFill>
              </a:rPr>
              <a:t>Iteration </a:t>
            </a:r>
          </a:p>
        </p:txBody>
      </p:sp>
      <p:sp>
        <p:nvSpPr>
          <p:cNvPr id="7" name="Rectangle 6">
            <a:extLst>
              <a:ext uri="{FF2B5EF4-FFF2-40B4-BE49-F238E27FC236}">
                <a16:creationId xmlns:a16="http://schemas.microsoft.com/office/drawing/2014/main" id="{379BE3F4-C108-451B-99D9-0BC0BC54E6E7}"/>
              </a:ext>
            </a:extLst>
          </p:cNvPr>
          <p:cNvSpPr/>
          <p:nvPr/>
        </p:nvSpPr>
        <p:spPr>
          <a:xfrm>
            <a:off x="1609825" y="1973180"/>
            <a:ext cx="9303340" cy="1015663"/>
          </a:xfrm>
          <a:prstGeom prst="rect">
            <a:avLst/>
          </a:prstGeom>
        </p:spPr>
        <p:txBody>
          <a:bodyPr wrap="square">
            <a:spAutoFit/>
          </a:bodyPr>
          <a:lstStyle/>
          <a:p>
            <a:r>
              <a:rPr lang="en-GB" sz="2000" dirty="0"/>
              <a:t>Here are two programs that ask the user to enter three scores. They add the scores and display the total. Both programs do exactly the same thing, but the one on the right makes use of iteration.</a:t>
            </a:r>
          </a:p>
        </p:txBody>
      </p:sp>
      <p:pic>
        <p:nvPicPr>
          <p:cNvPr id="6" name="image3.png">
            <a:extLst>
              <a:ext uri="{FF2B5EF4-FFF2-40B4-BE49-F238E27FC236}">
                <a16:creationId xmlns:a16="http://schemas.microsoft.com/office/drawing/2014/main" id="{28498C14-FFE1-EB45-A3B4-AF3A85F63DFE}"/>
              </a:ext>
            </a:extLst>
          </p:cNvPr>
          <p:cNvPicPr/>
          <p:nvPr/>
        </p:nvPicPr>
        <p:blipFill>
          <a:blip r:embed="rId2"/>
          <a:srcRect/>
          <a:stretch>
            <a:fillRect/>
          </a:stretch>
        </p:blipFill>
        <p:spPr>
          <a:xfrm>
            <a:off x="2287201" y="3125668"/>
            <a:ext cx="2423948" cy="3195619"/>
          </a:xfrm>
          <a:prstGeom prst="rect">
            <a:avLst/>
          </a:prstGeom>
          <a:ln/>
        </p:spPr>
      </p:pic>
      <p:sp>
        <p:nvSpPr>
          <p:cNvPr id="5" name="Rectangle 4">
            <a:extLst>
              <a:ext uri="{FF2B5EF4-FFF2-40B4-BE49-F238E27FC236}">
                <a16:creationId xmlns:a16="http://schemas.microsoft.com/office/drawing/2014/main" id="{8142C794-56D9-5648-ACB9-FF57CD003349}"/>
              </a:ext>
            </a:extLst>
          </p:cNvPr>
          <p:cNvSpPr/>
          <p:nvPr/>
        </p:nvSpPr>
        <p:spPr>
          <a:xfrm>
            <a:off x="2035929" y="6311348"/>
            <a:ext cx="2675220" cy="276999"/>
          </a:xfrm>
          <a:prstGeom prst="rect">
            <a:avLst/>
          </a:prstGeom>
        </p:spPr>
        <p:txBody>
          <a:bodyPr wrap="none">
            <a:spAutoFit/>
          </a:bodyPr>
          <a:lstStyle/>
          <a:p>
            <a:r>
              <a:rPr lang="en-GB" sz="1200" i="1" dirty="0">
                <a:ea typeface="Times New Roman" panose="02020603050405020304" pitchFamily="18" charset="0"/>
              </a:rPr>
              <a:t>Doesn’t use iteration: 9 blocks required</a:t>
            </a:r>
            <a:r>
              <a:rPr lang="en-GB" sz="1200" i="1" dirty="0"/>
              <a:t> </a:t>
            </a:r>
            <a:endParaRPr lang="en-US" sz="1200" i="1" dirty="0"/>
          </a:p>
        </p:txBody>
      </p:sp>
      <p:pic>
        <p:nvPicPr>
          <p:cNvPr id="8" name="image2.png">
            <a:extLst>
              <a:ext uri="{FF2B5EF4-FFF2-40B4-BE49-F238E27FC236}">
                <a16:creationId xmlns:a16="http://schemas.microsoft.com/office/drawing/2014/main" id="{610A5993-8DD9-1345-B675-E7BA86460A0F}"/>
              </a:ext>
            </a:extLst>
          </p:cNvPr>
          <p:cNvPicPr/>
          <p:nvPr/>
        </p:nvPicPr>
        <p:blipFill>
          <a:blip r:embed="rId3"/>
          <a:srcRect/>
          <a:stretch>
            <a:fillRect/>
          </a:stretch>
        </p:blipFill>
        <p:spPr>
          <a:xfrm>
            <a:off x="5538995" y="3185414"/>
            <a:ext cx="2724150" cy="2806700"/>
          </a:xfrm>
          <a:prstGeom prst="rect">
            <a:avLst/>
          </a:prstGeom>
          <a:ln/>
        </p:spPr>
      </p:pic>
      <p:sp>
        <p:nvSpPr>
          <p:cNvPr id="9" name="Rectangle 8">
            <a:extLst>
              <a:ext uri="{FF2B5EF4-FFF2-40B4-BE49-F238E27FC236}">
                <a16:creationId xmlns:a16="http://schemas.microsoft.com/office/drawing/2014/main" id="{938D97CF-9112-8F49-A3E4-23C5758DC692}"/>
              </a:ext>
            </a:extLst>
          </p:cNvPr>
          <p:cNvSpPr/>
          <p:nvPr/>
        </p:nvSpPr>
        <p:spPr>
          <a:xfrm>
            <a:off x="5601823" y="6311347"/>
            <a:ext cx="2225289" cy="276999"/>
          </a:xfrm>
          <a:prstGeom prst="rect">
            <a:avLst/>
          </a:prstGeom>
        </p:spPr>
        <p:txBody>
          <a:bodyPr wrap="none">
            <a:spAutoFit/>
          </a:bodyPr>
          <a:lstStyle/>
          <a:p>
            <a:r>
              <a:rPr lang="en-GB" sz="1200" i="1" dirty="0">
                <a:ea typeface="Times New Roman" panose="02020603050405020304" pitchFamily="18" charset="0"/>
              </a:rPr>
              <a:t>Uses iteration: 6 blocks required</a:t>
            </a:r>
            <a:r>
              <a:rPr lang="en-GB" sz="1200" i="1" dirty="0"/>
              <a:t> </a:t>
            </a:r>
            <a:endParaRPr lang="en-US" sz="1200" i="1" dirty="0"/>
          </a:p>
        </p:txBody>
      </p:sp>
      <p:sp>
        <p:nvSpPr>
          <p:cNvPr id="10" name="Rectangle 9">
            <a:extLst>
              <a:ext uri="{FF2B5EF4-FFF2-40B4-BE49-F238E27FC236}">
                <a16:creationId xmlns:a16="http://schemas.microsoft.com/office/drawing/2014/main" id="{899B775A-3D4A-714C-8E95-F7D46065AFAA}"/>
              </a:ext>
            </a:extLst>
          </p:cNvPr>
          <p:cNvSpPr/>
          <p:nvPr/>
        </p:nvSpPr>
        <p:spPr>
          <a:xfrm>
            <a:off x="8263145" y="3125668"/>
            <a:ext cx="2868681" cy="2554545"/>
          </a:xfrm>
          <a:prstGeom prst="rect">
            <a:avLst/>
          </a:prstGeom>
        </p:spPr>
        <p:txBody>
          <a:bodyPr wrap="square">
            <a:spAutoFit/>
          </a:bodyPr>
          <a:lstStyle/>
          <a:p>
            <a:r>
              <a:rPr lang="en-GB" sz="2000" dirty="0">
                <a:ea typeface="Calibri" panose="020F0502020204030204" pitchFamily="34" charset="0"/>
              </a:rPr>
              <a:t>The repeated blocks are placed inside the ‘repeat’ block (inside the loop) to reduce the amount of code needed.</a:t>
            </a:r>
          </a:p>
          <a:p>
            <a:endParaRPr lang="en-GB" sz="2000" dirty="0">
              <a:ea typeface="Times New Roman" panose="02020603050405020304" pitchFamily="18" charset="0"/>
            </a:endParaRPr>
          </a:p>
          <a:p>
            <a:endParaRPr lang="en-GB" sz="2000" dirty="0">
              <a:ea typeface="Times New Roman" panose="02020603050405020304" pitchFamily="18" charset="0"/>
            </a:endParaRPr>
          </a:p>
          <a:p>
            <a:r>
              <a:rPr lang="en-GB" sz="2000" dirty="0">
                <a:ea typeface="Calibri" panose="020F0502020204030204" pitchFamily="34" charset="0"/>
              </a:rPr>
              <a:t>Watch Video 6.1.</a:t>
            </a:r>
            <a:endParaRPr lang="en-GB" sz="2000" dirty="0">
              <a:ea typeface="Times New Roman" panose="02020603050405020304" pitchFamily="18" charset="0"/>
            </a:endParaRPr>
          </a:p>
        </p:txBody>
      </p:sp>
    </p:spTree>
    <p:extLst>
      <p:ext uri="{BB962C8B-B14F-4D97-AF65-F5344CB8AC3E}">
        <p14:creationId xmlns:p14="http://schemas.microsoft.com/office/powerpoint/2010/main" val="35381703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C0D3D-3B5A-405C-A85C-D55D7E6FEF9A}"/>
              </a:ext>
            </a:extLst>
          </p:cNvPr>
          <p:cNvSpPr>
            <a:spLocks noGrp="1"/>
          </p:cNvSpPr>
          <p:nvPr>
            <p:ph type="title"/>
          </p:nvPr>
        </p:nvSpPr>
        <p:spPr>
          <a:xfrm>
            <a:off x="1589632" y="796072"/>
            <a:ext cx="10037685" cy="865740"/>
          </a:xfrm>
        </p:spPr>
        <p:txBody>
          <a:bodyPr>
            <a:normAutofit/>
          </a:bodyPr>
          <a:lstStyle/>
          <a:p>
            <a:r>
              <a:rPr lang="en-GB" b="1" dirty="0">
                <a:solidFill>
                  <a:schemeClr val="bg1"/>
                </a:solidFill>
              </a:rPr>
              <a:t>Activity 6.1: Octagon </a:t>
            </a:r>
          </a:p>
        </p:txBody>
      </p:sp>
      <p:pic>
        <p:nvPicPr>
          <p:cNvPr id="5" name="Picture 4" descr="A picture containing athletic game, basketball, sport&#10;&#10;Description automatically generated">
            <a:extLst>
              <a:ext uri="{FF2B5EF4-FFF2-40B4-BE49-F238E27FC236}">
                <a16:creationId xmlns:a16="http://schemas.microsoft.com/office/drawing/2014/main" id="{E026BB22-2069-44BA-9C69-B4666D11CB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529611" y="2409264"/>
            <a:ext cx="3335173" cy="3267760"/>
          </a:xfrm>
          <a:prstGeom prst="rect">
            <a:avLst/>
          </a:prstGeom>
        </p:spPr>
      </p:pic>
      <p:sp>
        <p:nvSpPr>
          <p:cNvPr id="7" name="Rectangle 6">
            <a:extLst>
              <a:ext uri="{FF2B5EF4-FFF2-40B4-BE49-F238E27FC236}">
                <a16:creationId xmlns:a16="http://schemas.microsoft.com/office/drawing/2014/main" id="{9F1A58C0-E408-E941-BE92-61C8831FB0E9}"/>
              </a:ext>
            </a:extLst>
          </p:cNvPr>
          <p:cNvSpPr/>
          <p:nvPr/>
        </p:nvSpPr>
        <p:spPr>
          <a:xfrm>
            <a:off x="1582349" y="2670522"/>
            <a:ext cx="2835071" cy="369332"/>
          </a:xfrm>
          <a:prstGeom prst="rect">
            <a:avLst/>
          </a:prstGeom>
        </p:spPr>
        <p:txBody>
          <a:bodyPr wrap="none">
            <a:spAutoFit/>
          </a:bodyPr>
          <a:lstStyle/>
          <a:p>
            <a:pPr>
              <a:tabLst>
                <a:tab pos="5727700" algn="r"/>
              </a:tabLst>
            </a:pPr>
            <a:r>
              <a:rPr lang="en-GB" dirty="0">
                <a:latin typeface="Calibri" panose="020F0502020204030204" pitchFamily="34" charset="0"/>
                <a:ea typeface="Calibri" panose="020F0502020204030204" pitchFamily="34" charset="0"/>
              </a:rPr>
              <a:t>Example of finished solution</a:t>
            </a:r>
            <a:endParaRPr lang="en-GB" dirty="0">
              <a:latin typeface="Times New Roman" panose="02020603050405020304" pitchFamily="18" charset="0"/>
              <a:ea typeface="Times New Roman" panose="02020603050405020304" pitchFamily="18" charset="0"/>
            </a:endParaRPr>
          </a:p>
        </p:txBody>
      </p:sp>
      <p:sp>
        <p:nvSpPr>
          <p:cNvPr id="3" name="Rectangle 2">
            <a:extLst>
              <a:ext uri="{FF2B5EF4-FFF2-40B4-BE49-F238E27FC236}">
                <a16:creationId xmlns:a16="http://schemas.microsoft.com/office/drawing/2014/main" id="{C1A5C073-777B-194F-A288-E1B042793CEC}"/>
              </a:ext>
            </a:extLst>
          </p:cNvPr>
          <p:cNvSpPr/>
          <p:nvPr/>
        </p:nvSpPr>
        <p:spPr>
          <a:xfrm>
            <a:off x="5430811" y="2685694"/>
            <a:ext cx="2355325" cy="369332"/>
          </a:xfrm>
          <a:prstGeom prst="rect">
            <a:avLst/>
          </a:prstGeom>
        </p:spPr>
        <p:txBody>
          <a:bodyPr wrap="none">
            <a:spAutoFit/>
          </a:bodyPr>
          <a:lstStyle/>
          <a:p>
            <a:pPr>
              <a:tabLst>
                <a:tab pos="5727700" algn="r"/>
              </a:tabLst>
            </a:pPr>
            <a:r>
              <a:rPr lang="en-GB" dirty="0">
                <a:latin typeface="Calibri" panose="020F0502020204030204" pitchFamily="34" charset="0"/>
                <a:ea typeface="Calibri" panose="020F0502020204030204" pitchFamily="34" charset="0"/>
              </a:rPr>
              <a:t>Example of extension 1</a:t>
            </a:r>
            <a:endParaRPr lang="en-GB" dirty="0">
              <a:latin typeface="Times New Roman" panose="02020603050405020304" pitchFamily="18" charset="0"/>
              <a:ea typeface="Times New Roman" panose="02020603050405020304" pitchFamily="18" charset="0"/>
            </a:endParaRPr>
          </a:p>
        </p:txBody>
      </p:sp>
      <p:pic>
        <p:nvPicPr>
          <p:cNvPr id="9" name="Picture 8" descr="Graphical user interface&#10;&#10;Description automatically generated with low confidence">
            <a:extLst>
              <a:ext uri="{FF2B5EF4-FFF2-40B4-BE49-F238E27FC236}">
                <a16:creationId xmlns:a16="http://schemas.microsoft.com/office/drawing/2014/main" id="{1C331B3C-B87F-6C4D-B0E3-B6B10E131C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59074" y="3039854"/>
            <a:ext cx="3098800" cy="2336800"/>
          </a:xfrm>
          <a:prstGeom prst="rect">
            <a:avLst/>
          </a:prstGeom>
        </p:spPr>
      </p:pic>
      <p:pic>
        <p:nvPicPr>
          <p:cNvPr id="11" name="Picture 10" descr="Graphical user interface&#10;&#10;Description automatically generated with medium confidence">
            <a:extLst>
              <a:ext uri="{FF2B5EF4-FFF2-40B4-BE49-F238E27FC236}">
                <a16:creationId xmlns:a16="http://schemas.microsoft.com/office/drawing/2014/main" id="{57074804-014A-4E45-A825-CBAE71890EC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50485" y="3039854"/>
            <a:ext cx="3098800" cy="2336800"/>
          </a:xfrm>
          <a:prstGeom prst="rect">
            <a:avLst/>
          </a:prstGeom>
        </p:spPr>
      </p:pic>
    </p:spTree>
    <p:extLst>
      <p:ext uri="{BB962C8B-B14F-4D97-AF65-F5344CB8AC3E}">
        <p14:creationId xmlns:p14="http://schemas.microsoft.com/office/powerpoint/2010/main" val="1641534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C0D3D-3B5A-405C-A85C-D55D7E6FEF9A}"/>
              </a:ext>
            </a:extLst>
          </p:cNvPr>
          <p:cNvSpPr>
            <a:spLocks noGrp="1"/>
          </p:cNvSpPr>
          <p:nvPr>
            <p:ph type="title"/>
          </p:nvPr>
        </p:nvSpPr>
        <p:spPr>
          <a:xfrm>
            <a:off x="1589632" y="796072"/>
            <a:ext cx="10037685" cy="865740"/>
          </a:xfrm>
        </p:spPr>
        <p:txBody>
          <a:bodyPr>
            <a:normAutofit/>
          </a:bodyPr>
          <a:lstStyle/>
          <a:p>
            <a:r>
              <a:rPr lang="en-GB" b="1" dirty="0">
                <a:solidFill>
                  <a:schemeClr val="bg1"/>
                </a:solidFill>
              </a:rPr>
              <a:t>Activity 6.2: Squares </a:t>
            </a:r>
          </a:p>
        </p:txBody>
      </p:sp>
      <p:pic>
        <p:nvPicPr>
          <p:cNvPr id="5" name="Picture 4" descr="A picture containing athletic game, basketball, sport&#10;&#10;Description automatically generated">
            <a:extLst>
              <a:ext uri="{FF2B5EF4-FFF2-40B4-BE49-F238E27FC236}">
                <a16:creationId xmlns:a16="http://schemas.microsoft.com/office/drawing/2014/main" id="{E026BB22-2069-44BA-9C69-B4666D11CB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99394" y="2556613"/>
            <a:ext cx="3183399" cy="3168814"/>
          </a:xfrm>
          <a:prstGeom prst="rect">
            <a:avLst/>
          </a:prstGeom>
        </p:spPr>
      </p:pic>
      <p:sp>
        <p:nvSpPr>
          <p:cNvPr id="7" name="Rectangle 6">
            <a:extLst>
              <a:ext uri="{FF2B5EF4-FFF2-40B4-BE49-F238E27FC236}">
                <a16:creationId xmlns:a16="http://schemas.microsoft.com/office/drawing/2014/main" id="{9F1A58C0-E408-E941-BE92-61C8831FB0E9}"/>
              </a:ext>
            </a:extLst>
          </p:cNvPr>
          <p:cNvSpPr/>
          <p:nvPr/>
        </p:nvSpPr>
        <p:spPr>
          <a:xfrm>
            <a:off x="1450929" y="2693908"/>
            <a:ext cx="2835071" cy="369332"/>
          </a:xfrm>
          <a:prstGeom prst="rect">
            <a:avLst/>
          </a:prstGeom>
        </p:spPr>
        <p:txBody>
          <a:bodyPr wrap="none">
            <a:spAutoFit/>
          </a:bodyPr>
          <a:lstStyle/>
          <a:p>
            <a:pPr>
              <a:tabLst>
                <a:tab pos="5727700" algn="r"/>
              </a:tabLst>
            </a:pPr>
            <a:r>
              <a:rPr lang="en-GB" dirty="0">
                <a:latin typeface="Calibri" panose="020F0502020204030204" pitchFamily="34" charset="0"/>
                <a:ea typeface="Calibri" panose="020F0502020204030204" pitchFamily="34" charset="0"/>
              </a:rPr>
              <a:t>Example of finished solution</a:t>
            </a:r>
            <a:endParaRPr lang="en-GB" dirty="0">
              <a:latin typeface="Times New Roman" panose="02020603050405020304" pitchFamily="18" charset="0"/>
              <a:ea typeface="Times New Roman" panose="02020603050405020304" pitchFamily="18" charset="0"/>
            </a:endParaRPr>
          </a:p>
        </p:txBody>
      </p:sp>
      <p:sp>
        <p:nvSpPr>
          <p:cNvPr id="4" name="Rectangle 3">
            <a:extLst>
              <a:ext uri="{FF2B5EF4-FFF2-40B4-BE49-F238E27FC236}">
                <a16:creationId xmlns:a16="http://schemas.microsoft.com/office/drawing/2014/main" id="{4D2D430B-D1D8-294C-A24E-D9F1B6CD697D}"/>
              </a:ext>
            </a:extLst>
          </p:cNvPr>
          <p:cNvSpPr/>
          <p:nvPr/>
        </p:nvSpPr>
        <p:spPr>
          <a:xfrm>
            <a:off x="5131035" y="2693908"/>
            <a:ext cx="2408223" cy="369332"/>
          </a:xfrm>
          <a:prstGeom prst="rect">
            <a:avLst/>
          </a:prstGeom>
        </p:spPr>
        <p:txBody>
          <a:bodyPr wrap="none">
            <a:spAutoFit/>
          </a:bodyPr>
          <a:lstStyle/>
          <a:p>
            <a:pPr>
              <a:tabLst>
                <a:tab pos="5727700" algn="r"/>
              </a:tabLst>
            </a:pPr>
            <a:r>
              <a:rPr lang="en-GB" dirty="0">
                <a:latin typeface="Calibri" panose="020F0502020204030204" pitchFamily="34" charset="0"/>
                <a:ea typeface="Calibri" panose="020F0502020204030204" pitchFamily="34" charset="0"/>
              </a:rPr>
              <a:t>Example of </a:t>
            </a:r>
            <a:r>
              <a:rPr lang="en-GB" dirty="0"/>
              <a:t>extension 1 </a:t>
            </a:r>
            <a:endParaRPr lang="en-GB" dirty="0">
              <a:latin typeface="Times New Roman" panose="02020603050405020304" pitchFamily="18" charset="0"/>
              <a:ea typeface="Times New Roman" panose="02020603050405020304" pitchFamily="18" charset="0"/>
            </a:endParaRPr>
          </a:p>
        </p:txBody>
      </p:sp>
      <p:pic>
        <p:nvPicPr>
          <p:cNvPr id="11" name="Picture 10" descr="Graphical user interface, application&#10;&#10;Description automatically generated">
            <a:extLst>
              <a:ext uri="{FF2B5EF4-FFF2-40B4-BE49-F238E27FC236}">
                <a16:creationId xmlns:a16="http://schemas.microsoft.com/office/drawing/2014/main" id="{8DABAC53-A90B-C443-9EF4-4608F33E46D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16944" y="3019666"/>
            <a:ext cx="3103043" cy="2340000"/>
          </a:xfrm>
          <a:prstGeom prst="rect">
            <a:avLst/>
          </a:prstGeom>
        </p:spPr>
      </p:pic>
      <p:pic>
        <p:nvPicPr>
          <p:cNvPr id="14" name="Picture 13" descr="Graphical user interface, application, Word&#10;&#10;Description automatically generated">
            <a:extLst>
              <a:ext uri="{FF2B5EF4-FFF2-40B4-BE49-F238E27FC236}">
                <a16:creationId xmlns:a16="http://schemas.microsoft.com/office/drawing/2014/main" id="{CB6FF37C-10BA-5945-A551-E7168D1A9C6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85747" y="3025427"/>
            <a:ext cx="3098800" cy="2336800"/>
          </a:xfrm>
          <a:prstGeom prst="rect">
            <a:avLst/>
          </a:prstGeom>
        </p:spPr>
      </p:pic>
    </p:spTree>
    <p:extLst>
      <p:ext uri="{BB962C8B-B14F-4D97-AF65-F5344CB8AC3E}">
        <p14:creationId xmlns:p14="http://schemas.microsoft.com/office/powerpoint/2010/main" val="21801317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4BA82-FE7D-4DE6-BC00-A388E38B624C}"/>
              </a:ext>
            </a:extLst>
          </p:cNvPr>
          <p:cNvSpPr>
            <a:spLocks noGrp="1"/>
          </p:cNvSpPr>
          <p:nvPr>
            <p:ph type="title"/>
          </p:nvPr>
        </p:nvSpPr>
        <p:spPr>
          <a:xfrm>
            <a:off x="1608567" y="815637"/>
            <a:ext cx="9793357" cy="855801"/>
          </a:xfrm>
        </p:spPr>
        <p:txBody>
          <a:bodyPr/>
          <a:lstStyle/>
          <a:p>
            <a:r>
              <a:rPr lang="en-GB" b="1" dirty="0">
                <a:solidFill>
                  <a:schemeClr val="bg1"/>
                </a:solidFill>
              </a:rPr>
              <a:t>Nested iteration and variables </a:t>
            </a:r>
          </a:p>
        </p:txBody>
      </p:sp>
      <p:sp>
        <p:nvSpPr>
          <p:cNvPr id="6" name="Rectangle 2">
            <a:extLst>
              <a:ext uri="{FF2B5EF4-FFF2-40B4-BE49-F238E27FC236}">
                <a16:creationId xmlns:a16="http://schemas.microsoft.com/office/drawing/2014/main" id="{346F7C1B-2D59-594E-8729-9EF1DD1998D6}"/>
              </a:ext>
            </a:extLst>
          </p:cNvPr>
          <p:cNvSpPr>
            <a:spLocks noChangeArrowheads="1"/>
          </p:cNvSpPr>
          <p:nvPr/>
        </p:nvSpPr>
        <p:spPr bwMode="auto">
          <a:xfrm>
            <a:off x="1608567" y="2261956"/>
            <a:ext cx="793299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GB" sz="2400" dirty="0"/>
              <a:t>Draw what you think this code draws when the program is run</a:t>
            </a:r>
            <a:r>
              <a:rPr lang="en-GB" dirty="0"/>
              <a:t>.</a:t>
            </a:r>
          </a:p>
        </p:txBody>
      </p:sp>
      <p:pic>
        <p:nvPicPr>
          <p:cNvPr id="5" name="image4.png">
            <a:extLst>
              <a:ext uri="{FF2B5EF4-FFF2-40B4-BE49-F238E27FC236}">
                <a16:creationId xmlns:a16="http://schemas.microsoft.com/office/drawing/2014/main" id="{B384D4CD-B101-FD49-BC04-945BF21E22FC}"/>
              </a:ext>
            </a:extLst>
          </p:cNvPr>
          <p:cNvPicPr/>
          <p:nvPr/>
        </p:nvPicPr>
        <p:blipFill>
          <a:blip r:embed="rId2"/>
          <a:srcRect/>
          <a:stretch>
            <a:fillRect/>
          </a:stretch>
        </p:blipFill>
        <p:spPr>
          <a:xfrm>
            <a:off x="1807472" y="2723622"/>
            <a:ext cx="1929641" cy="3826266"/>
          </a:xfrm>
          <a:prstGeom prst="rect">
            <a:avLst/>
          </a:prstGeom>
          <a:ln/>
        </p:spPr>
      </p:pic>
      <p:pic>
        <p:nvPicPr>
          <p:cNvPr id="7" name="image5.png">
            <a:extLst>
              <a:ext uri="{FF2B5EF4-FFF2-40B4-BE49-F238E27FC236}">
                <a16:creationId xmlns:a16="http://schemas.microsoft.com/office/drawing/2014/main" id="{A40DAE99-F36E-0D49-8D0D-86426400E1B6}"/>
              </a:ext>
            </a:extLst>
          </p:cNvPr>
          <p:cNvPicPr/>
          <p:nvPr/>
        </p:nvPicPr>
        <p:blipFill>
          <a:blip r:embed="rId3"/>
          <a:srcRect/>
          <a:stretch>
            <a:fillRect/>
          </a:stretch>
        </p:blipFill>
        <p:spPr>
          <a:xfrm>
            <a:off x="4944696" y="3314139"/>
            <a:ext cx="3306419" cy="3071191"/>
          </a:xfrm>
          <a:prstGeom prst="rect">
            <a:avLst/>
          </a:prstGeom>
          <a:ln/>
        </p:spPr>
      </p:pic>
    </p:spTree>
    <p:extLst>
      <p:ext uri="{BB962C8B-B14F-4D97-AF65-F5344CB8AC3E}">
        <p14:creationId xmlns:p14="http://schemas.microsoft.com/office/powerpoint/2010/main" val="36150031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800" decel="100000"/>
                                        <p:tgtEl>
                                          <p:spTgt spid="7"/>
                                        </p:tgtEl>
                                      </p:cBhvr>
                                    </p:animEffect>
                                    <p:anim calcmode="lin" valueType="num">
                                      <p:cBhvr>
                                        <p:cTn id="8" dur="800" decel="100000" fill="hold"/>
                                        <p:tgtEl>
                                          <p:spTgt spid="7"/>
                                        </p:tgtEl>
                                        <p:attrNameLst>
                                          <p:attrName>style.rotation</p:attrName>
                                        </p:attrNameLst>
                                      </p:cBhvr>
                                      <p:tavLst>
                                        <p:tav tm="0">
                                          <p:val>
                                            <p:fltVal val="-90"/>
                                          </p:val>
                                        </p:tav>
                                        <p:tav tm="100000">
                                          <p:val>
                                            <p:fltVal val="0"/>
                                          </p:val>
                                        </p:tav>
                                      </p:tavLst>
                                    </p:anim>
                                    <p:anim calcmode="lin" valueType="num">
                                      <p:cBhvr>
                                        <p:cTn id="9" dur="800" decel="100000" fill="hold"/>
                                        <p:tgtEl>
                                          <p:spTgt spid="7"/>
                                        </p:tgtEl>
                                        <p:attrNameLst>
                                          <p:attrName>ppt_x</p:attrName>
                                        </p:attrNameLst>
                                      </p:cBhvr>
                                      <p:tavLst>
                                        <p:tav tm="0">
                                          <p:val>
                                            <p:strVal val="#ppt_x+0.4"/>
                                          </p:val>
                                        </p:tav>
                                        <p:tav tm="100000">
                                          <p:val>
                                            <p:strVal val="#ppt_x-0.05"/>
                                          </p:val>
                                        </p:tav>
                                      </p:tavLst>
                                    </p:anim>
                                    <p:anim calcmode="lin" valueType="num">
                                      <p:cBhvr>
                                        <p:cTn id="10" dur="800" decel="100000" fill="hold"/>
                                        <p:tgtEl>
                                          <p:spTgt spid="7"/>
                                        </p:tgtEl>
                                        <p:attrNameLst>
                                          <p:attrName>ppt_y</p:attrName>
                                        </p:attrNameLst>
                                      </p:cBhvr>
                                      <p:tavLst>
                                        <p:tav tm="0">
                                          <p:val>
                                            <p:strVal val="#ppt_y-0.4"/>
                                          </p:val>
                                        </p:tav>
                                        <p:tav tm="100000">
                                          <p:val>
                                            <p:strVal val="#ppt_y+0.1"/>
                                          </p:val>
                                        </p:tav>
                                      </p:tavLst>
                                    </p:anim>
                                    <p:anim calcmode="lin" valueType="num">
                                      <p:cBhvr>
                                        <p:cTn id="11" dur="200" accel="100000" fill="hold">
                                          <p:stCondLst>
                                            <p:cond delay="800"/>
                                          </p:stCondLst>
                                        </p:cTn>
                                        <p:tgtEl>
                                          <p:spTgt spid="7"/>
                                        </p:tgtEl>
                                        <p:attrNameLst>
                                          <p:attrName>ppt_x</p:attrName>
                                        </p:attrNameLst>
                                      </p:cBhvr>
                                      <p:tavLst>
                                        <p:tav tm="0">
                                          <p:val>
                                            <p:strVal val="#ppt_x-0.05"/>
                                          </p:val>
                                        </p:tav>
                                        <p:tav tm="100000">
                                          <p:val>
                                            <p:strVal val="#ppt_x"/>
                                          </p:val>
                                        </p:tav>
                                      </p:tavLst>
                                    </p:anim>
                                    <p:anim calcmode="lin" valueType="num">
                                      <p:cBhvr>
                                        <p:cTn id="12" dur="200" accel="100000" fill="hold">
                                          <p:stCondLst>
                                            <p:cond delay="800"/>
                                          </p:stCondLst>
                                        </p:cTn>
                                        <p:tgtEl>
                                          <p:spTgt spid="7"/>
                                        </p:tgtEl>
                                        <p:attrNameLst>
                                          <p:attrName>ppt_y</p:attrName>
                                        </p:attrNameLst>
                                      </p:cBhvr>
                                      <p:tavLst>
                                        <p:tav tm="0">
                                          <p:val>
                                            <p:strVal val="#ppt_y+0.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1.png">
            <a:extLst>
              <a:ext uri="{FF2B5EF4-FFF2-40B4-BE49-F238E27FC236}">
                <a16:creationId xmlns:a16="http://schemas.microsoft.com/office/drawing/2014/main" id="{16AE40CB-757C-944A-BC2F-60F883975165}"/>
              </a:ext>
            </a:extLst>
          </p:cNvPr>
          <p:cNvPicPr/>
          <p:nvPr/>
        </p:nvPicPr>
        <p:blipFill>
          <a:blip r:embed="rId2"/>
          <a:srcRect/>
          <a:stretch>
            <a:fillRect/>
          </a:stretch>
        </p:blipFill>
        <p:spPr>
          <a:xfrm>
            <a:off x="1595022" y="2172492"/>
            <a:ext cx="2271299" cy="3363604"/>
          </a:xfrm>
          <a:prstGeom prst="rect">
            <a:avLst/>
          </a:prstGeom>
          <a:ln/>
        </p:spPr>
      </p:pic>
      <p:sp>
        <p:nvSpPr>
          <p:cNvPr id="12" name="TextBox 11">
            <a:extLst>
              <a:ext uri="{FF2B5EF4-FFF2-40B4-BE49-F238E27FC236}">
                <a16:creationId xmlns:a16="http://schemas.microsoft.com/office/drawing/2014/main" id="{93A1F696-2804-C145-9AAD-F48475EAC11C}"/>
              </a:ext>
            </a:extLst>
          </p:cNvPr>
          <p:cNvSpPr txBox="1"/>
          <p:nvPr/>
        </p:nvSpPr>
        <p:spPr>
          <a:xfrm>
            <a:off x="4094238" y="1715936"/>
            <a:ext cx="2586949" cy="646331"/>
          </a:xfrm>
          <a:prstGeom prst="rect">
            <a:avLst/>
          </a:prstGeom>
          <a:noFill/>
          <a:ln>
            <a:solidFill>
              <a:srgbClr val="E30613"/>
            </a:solidFill>
          </a:ln>
        </p:spPr>
        <p:txBody>
          <a:bodyPr wrap="square" rtlCol="0">
            <a:spAutoFit/>
          </a:bodyPr>
          <a:lstStyle/>
          <a:p>
            <a:r>
              <a:rPr lang="en-GB" sz="1200" dirty="0"/>
              <a:t>The length of the line is set as a variable, </a:t>
            </a:r>
            <a:r>
              <a:rPr lang="en-GB" sz="1200" dirty="0">
                <a:latin typeface="Courier" pitchFamily="2" charset="0"/>
              </a:rPr>
              <a:t>size</a:t>
            </a:r>
            <a:r>
              <a:rPr lang="en-GB" sz="1200" dirty="0"/>
              <a:t>, before the outer loop starts. It is set at </a:t>
            </a:r>
            <a:r>
              <a:rPr lang="en-GB" sz="1200" dirty="0">
                <a:latin typeface="Courier" pitchFamily="2" charset="0"/>
              </a:rPr>
              <a:t>50.</a:t>
            </a:r>
          </a:p>
        </p:txBody>
      </p:sp>
      <p:sp>
        <p:nvSpPr>
          <p:cNvPr id="14" name="TextBox 13">
            <a:extLst>
              <a:ext uri="{FF2B5EF4-FFF2-40B4-BE49-F238E27FC236}">
                <a16:creationId xmlns:a16="http://schemas.microsoft.com/office/drawing/2014/main" id="{E5F8CE86-FBB0-6F40-9485-C3A2579557B2}"/>
              </a:ext>
            </a:extLst>
          </p:cNvPr>
          <p:cNvSpPr txBox="1"/>
          <p:nvPr/>
        </p:nvSpPr>
        <p:spPr>
          <a:xfrm>
            <a:off x="4093673" y="2450541"/>
            <a:ext cx="2588077" cy="461665"/>
          </a:xfrm>
          <a:prstGeom prst="rect">
            <a:avLst/>
          </a:prstGeom>
          <a:noFill/>
          <a:ln>
            <a:solidFill>
              <a:srgbClr val="E30613"/>
            </a:solidFill>
          </a:ln>
        </p:spPr>
        <p:txBody>
          <a:bodyPr wrap="square" rtlCol="0">
            <a:spAutoFit/>
          </a:bodyPr>
          <a:lstStyle/>
          <a:p>
            <a:r>
              <a:rPr lang="en-GB" sz="1200" dirty="0"/>
              <a:t>The outer loop is entered and it goes straight into the inner loop.</a:t>
            </a:r>
          </a:p>
        </p:txBody>
      </p:sp>
      <p:sp>
        <p:nvSpPr>
          <p:cNvPr id="16" name="TextBox 15">
            <a:extLst>
              <a:ext uri="{FF2B5EF4-FFF2-40B4-BE49-F238E27FC236}">
                <a16:creationId xmlns:a16="http://schemas.microsoft.com/office/drawing/2014/main" id="{CD27A8D8-8353-CF45-A119-6B84192FDB10}"/>
              </a:ext>
            </a:extLst>
          </p:cNvPr>
          <p:cNvSpPr txBox="1"/>
          <p:nvPr/>
        </p:nvSpPr>
        <p:spPr>
          <a:xfrm>
            <a:off x="4118136" y="3574794"/>
            <a:ext cx="3423567" cy="784830"/>
          </a:xfrm>
          <a:prstGeom prst="rect">
            <a:avLst/>
          </a:prstGeom>
          <a:noFill/>
          <a:ln>
            <a:solidFill>
              <a:srgbClr val="E30613"/>
            </a:solidFill>
          </a:ln>
        </p:spPr>
        <p:txBody>
          <a:bodyPr wrap="square" rtlCol="0">
            <a:spAutoFit/>
          </a:bodyPr>
          <a:lstStyle/>
          <a:p>
            <a:r>
              <a:rPr lang="en-GB" sz="1200" dirty="0"/>
              <a:t>The inner loop repeats the following 3 times: </a:t>
            </a:r>
          </a:p>
          <a:p>
            <a:pPr lvl="1"/>
            <a:r>
              <a:rPr lang="en-GB" sz="1100" dirty="0"/>
              <a:t>Waits 1 second.</a:t>
            </a:r>
          </a:p>
          <a:p>
            <a:pPr lvl="1"/>
            <a:r>
              <a:rPr lang="en-GB" sz="1100" dirty="0"/>
              <a:t>Moves </a:t>
            </a:r>
            <a:r>
              <a:rPr lang="en-GB" sz="1100" dirty="0">
                <a:latin typeface="Courier New" panose="02070309020205020404" pitchFamily="49" charset="0"/>
                <a:cs typeface="Courier New" panose="02070309020205020404" pitchFamily="49" charset="0"/>
              </a:rPr>
              <a:t>size</a:t>
            </a:r>
            <a:r>
              <a:rPr lang="en-GB" sz="1100" dirty="0"/>
              <a:t> steps which, at the moment, is </a:t>
            </a:r>
            <a:r>
              <a:rPr lang="en-GB" sz="1100" dirty="0">
                <a:latin typeface="Courier New" panose="02070309020205020404" pitchFamily="49" charset="0"/>
                <a:cs typeface="Courier New" panose="02070309020205020404" pitchFamily="49" charset="0"/>
              </a:rPr>
              <a:t>50</a:t>
            </a:r>
            <a:r>
              <a:rPr lang="en-GB" sz="1100" dirty="0"/>
              <a:t>.</a:t>
            </a:r>
          </a:p>
          <a:p>
            <a:pPr lvl="1"/>
            <a:r>
              <a:rPr lang="en-GB" sz="1100" dirty="0"/>
              <a:t>Turns </a:t>
            </a:r>
            <a:r>
              <a:rPr lang="en-GB" sz="1100" dirty="0">
                <a:latin typeface="Courier New" panose="02070309020205020404" pitchFamily="49" charset="0"/>
                <a:cs typeface="Courier New" panose="02070309020205020404" pitchFamily="49" charset="0"/>
              </a:rPr>
              <a:t>120</a:t>
            </a:r>
            <a:r>
              <a:rPr lang="en-GB" sz="1100" dirty="0"/>
              <a:t> degrees left.</a:t>
            </a:r>
          </a:p>
        </p:txBody>
      </p:sp>
      <p:sp>
        <p:nvSpPr>
          <p:cNvPr id="17" name="TextBox 16">
            <a:extLst>
              <a:ext uri="{FF2B5EF4-FFF2-40B4-BE49-F238E27FC236}">
                <a16:creationId xmlns:a16="http://schemas.microsoft.com/office/drawing/2014/main" id="{C36ED49B-6B3E-2940-A68D-B437BEB17D68}"/>
              </a:ext>
            </a:extLst>
          </p:cNvPr>
          <p:cNvSpPr txBox="1"/>
          <p:nvPr/>
        </p:nvSpPr>
        <p:spPr>
          <a:xfrm>
            <a:off x="4093110" y="4932993"/>
            <a:ext cx="2735588" cy="461665"/>
          </a:xfrm>
          <a:prstGeom prst="rect">
            <a:avLst/>
          </a:prstGeom>
          <a:noFill/>
          <a:ln>
            <a:solidFill>
              <a:srgbClr val="E30613"/>
            </a:solidFill>
          </a:ln>
        </p:spPr>
        <p:txBody>
          <a:bodyPr wrap="square" rtlCol="0">
            <a:spAutoFit/>
          </a:bodyPr>
          <a:lstStyle/>
          <a:p>
            <a:r>
              <a:rPr lang="en-GB" sz="1200" dirty="0"/>
              <a:t>The inner loop finishes, </a:t>
            </a:r>
            <a:r>
              <a:rPr lang="en-GB" sz="1200" dirty="0">
                <a:latin typeface="Courier New" panose="02070309020205020404" pitchFamily="49" charset="0"/>
                <a:cs typeface="Courier New" panose="02070309020205020404" pitchFamily="49" charset="0"/>
              </a:rPr>
              <a:t>size</a:t>
            </a:r>
            <a:r>
              <a:rPr lang="en-GB" sz="1200" dirty="0"/>
              <a:t> is increased by </a:t>
            </a:r>
            <a:r>
              <a:rPr lang="en-GB" sz="1200" dirty="0">
                <a:latin typeface="Courier New" panose="02070309020205020404" pitchFamily="49" charset="0"/>
                <a:cs typeface="Courier New" panose="02070309020205020404" pitchFamily="49" charset="0"/>
              </a:rPr>
              <a:t>50</a:t>
            </a:r>
            <a:r>
              <a:rPr lang="en-GB" sz="1200" dirty="0"/>
              <a:t>, from </a:t>
            </a:r>
            <a:r>
              <a:rPr lang="en-GB" sz="1200" dirty="0">
                <a:latin typeface="Courier New" panose="02070309020205020404" pitchFamily="49" charset="0"/>
                <a:cs typeface="Courier New" panose="02070309020205020404" pitchFamily="49" charset="0"/>
              </a:rPr>
              <a:t>50</a:t>
            </a:r>
            <a:r>
              <a:rPr lang="en-GB" sz="1200" dirty="0"/>
              <a:t> to </a:t>
            </a:r>
            <a:r>
              <a:rPr lang="en-GB" sz="1200" dirty="0">
                <a:latin typeface="Courier New" panose="02070309020205020404" pitchFamily="49" charset="0"/>
                <a:cs typeface="Courier New" panose="02070309020205020404" pitchFamily="49" charset="0"/>
              </a:rPr>
              <a:t>100</a:t>
            </a:r>
            <a:r>
              <a:rPr lang="en-GB" sz="1200" dirty="0"/>
              <a:t>.</a:t>
            </a:r>
          </a:p>
        </p:txBody>
      </p:sp>
      <p:sp>
        <p:nvSpPr>
          <p:cNvPr id="18" name="TextBox 17">
            <a:extLst>
              <a:ext uri="{FF2B5EF4-FFF2-40B4-BE49-F238E27FC236}">
                <a16:creationId xmlns:a16="http://schemas.microsoft.com/office/drawing/2014/main" id="{9F40EE6D-6CFB-AE4C-9E55-FB9C721F75D4}"/>
              </a:ext>
            </a:extLst>
          </p:cNvPr>
          <p:cNvSpPr txBox="1"/>
          <p:nvPr/>
        </p:nvSpPr>
        <p:spPr>
          <a:xfrm>
            <a:off x="7913990" y="2783173"/>
            <a:ext cx="2902590" cy="830997"/>
          </a:xfrm>
          <a:prstGeom prst="rect">
            <a:avLst/>
          </a:prstGeom>
          <a:noFill/>
          <a:ln>
            <a:solidFill>
              <a:srgbClr val="E30613"/>
            </a:solidFill>
          </a:ln>
        </p:spPr>
        <p:txBody>
          <a:bodyPr wrap="square" rtlCol="0">
            <a:spAutoFit/>
          </a:bodyPr>
          <a:lstStyle/>
          <a:p>
            <a:r>
              <a:rPr lang="en-GB" sz="1200" dirty="0"/>
              <a:t>The program returns to the beginning of the outer loop and starts this for the second time. It goes straight into the inner loop for a second time.</a:t>
            </a:r>
          </a:p>
        </p:txBody>
      </p:sp>
      <p:cxnSp>
        <p:nvCxnSpPr>
          <p:cNvPr id="24" name="Straight Arrow Connector 23">
            <a:extLst>
              <a:ext uri="{FF2B5EF4-FFF2-40B4-BE49-F238E27FC236}">
                <a16:creationId xmlns:a16="http://schemas.microsoft.com/office/drawing/2014/main" id="{75EE3F3D-A6FF-3E4F-9725-8B20FD24D760}"/>
              </a:ext>
            </a:extLst>
          </p:cNvPr>
          <p:cNvCxnSpPr>
            <a:cxnSpLocks/>
            <a:stCxn id="12" idx="1"/>
          </p:cNvCxnSpPr>
          <p:nvPr/>
        </p:nvCxnSpPr>
        <p:spPr>
          <a:xfrm flipH="1">
            <a:off x="3374902" y="2039102"/>
            <a:ext cx="719336" cy="16089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9BDA09DE-02F8-4043-A3CD-D83F9FEDC8D1}"/>
              </a:ext>
            </a:extLst>
          </p:cNvPr>
          <p:cNvCxnSpPr>
            <a:cxnSpLocks/>
            <a:stCxn id="18" idx="1"/>
          </p:cNvCxnSpPr>
          <p:nvPr/>
        </p:nvCxnSpPr>
        <p:spPr>
          <a:xfrm flipH="1" flipV="1">
            <a:off x="3065003" y="2740802"/>
            <a:ext cx="4848987" cy="4578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F47C0DA8-B63F-A340-885A-21D7D5E18726}"/>
              </a:ext>
            </a:extLst>
          </p:cNvPr>
          <p:cNvCxnSpPr>
            <a:cxnSpLocks/>
            <a:stCxn id="17" idx="1"/>
          </p:cNvCxnSpPr>
          <p:nvPr/>
        </p:nvCxnSpPr>
        <p:spPr>
          <a:xfrm flipH="1" flipV="1">
            <a:off x="3734570" y="4932993"/>
            <a:ext cx="358540" cy="2308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3CC30DFF-3B31-7B47-B8F7-FCB290613258}"/>
              </a:ext>
            </a:extLst>
          </p:cNvPr>
          <p:cNvCxnSpPr>
            <a:cxnSpLocks/>
            <a:stCxn id="16" idx="1"/>
          </p:cNvCxnSpPr>
          <p:nvPr/>
        </p:nvCxnSpPr>
        <p:spPr>
          <a:xfrm flipH="1">
            <a:off x="3767326" y="3967209"/>
            <a:ext cx="350810" cy="581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B3212B68-79AB-904C-A404-115FECE3462B}"/>
              </a:ext>
            </a:extLst>
          </p:cNvPr>
          <p:cNvCxnSpPr>
            <a:cxnSpLocks/>
          </p:cNvCxnSpPr>
          <p:nvPr/>
        </p:nvCxnSpPr>
        <p:spPr>
          <a:xfrm flipH="1">
            <a:off x="3045799" y="2640802"/>
            <a:ext cx="1039517" cy="644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DE8BF1E0-E7E6-9243-82BE-7538FD8F7DEA}"/>
              </a:ext>
            </a:extLst>
          </p:cNvPr>
          <p:cNvSpPr txBox="1"/>
          <p:nvPr/>
        </p:nvSpPr>
        <p:spPr>
          <a:xfrm>
            <a:off x="7913990" y="4431003"/>
            <a:ext cx="2902590" cy="461665"/>
          </a:xfrm>
          <a:prstGeom prst="rect">
            <a:avLst/>
          </a:prstGeom>
          <a:noFill/>
          <a:ln>
            <a:solidFill>
              <a:srgbClr val="E30613"/>
            </a:solidFill>
          </a:ln>
        </p:spPr>
        <p:txBody>
          <a:bodyPr wrap="square" rtlCol="0">
            <a:spAutoFit/>
          </a:bodyPr>
          <a:lstStyle/>
          <a:p>
            <a:r>
              <a:rPr lang="en-GB" sz="1200" dirty="0"/>
              <a:t>The inner loop finishes, </a:t>
            </a:r>
            <a:r>
              <a:rPr lang="en-GB" sz="1200" dirty="0">
                <a:latin typeface="Courier New" panose="02070309020205020404" pitchFamily="49" charset="0"/>
                <a:cs typeface="Courier New" panose="02070309020205020404" pitchFamily="49" charset="0"/>
              </a:rPr>
              <a:t>size</a:t>
            </a:r>
            <a:r>
              <a:rPr lang="en-GB" sz="1200" dirty="0"/>
              <a:t> is increased by </a:t>
            </a:r>
            <a:r>
              <a:rPr lang="en-GB" sz="1200" dirty="0">
                <a:latin typeface="Courier New" panose="02070309020205020404" pitchFamily="49" charset="0"/>
                <a:cs typeface="Courier New" panose="02070309020205020404" pitchFamily="49" charset="0"/>
              </a:rPr>
              <a:t>50</a:t>
            </a:r>
            <a:r>
              <a:rPr lang="en-GB" sz="1200" dirty="0">
                <a:cs typeface="Courier New" panose="02070309020205020404" pitchFamily="49" charset="0"/>
              </a:rPr>
              <a:t> again</a:t>
            </a:r>
            <a:r>
              <a:rPr lang="en-GB" sz="1200" dirty="0"/>
              <a:t>, from </a:t>
            </a:r>
            <a:r>
              <a:rPr lang="en-GB" sz="1200" dirty="0">
                <a:latin typeface="Courier New" panose="02070309020205020404" pitchFamily="49" charset="0"/>
                <a:cs typeface="Courier New" panose="02070309020205020404" pitchFamily="49" charset="0"/>
              </a:rPr>
              <a:t>100</a:t>
            </a:r>
            <a:r>
              <a:rPr lang="en-GB" sz="1200" dirty="0"/>
              <a:t> to </a:t>
            </a:r>
            <a:r>
              <a:rPr lang="en-GB" sz="1200" dirty="0">
                <a:latin typeface="Courier New" panose="02070309020205020404" pitchFamily="49" charset="0"/>
                <a:cs typeface="Courier New" panose="02070309020205020404" pitchFamily="49" charset="0"/>
              </a:rPr>
              <a:t>150</a:t>
            </a:r>
            <a:r>
              <a:rPr lang="en-GB" sz="1200" dirty="0"/>
              <a:t>.</a:t>
            </a:r>
          </a:p>
        </p:txBody>
      </p:sp>
      <p:sp>
        <p:nvSpPr>
          <p:cNvPr id="22" name="TextBox 21">
            <a:extLst>
              <a:ext uri="{FF2B5EF4-FFF2-40B4-BE49-F238E27FC236}">
                <a16:creationId xmlns:a16="http://schemas.microsoft.com/office/drawing/2014/main" id="{D2ACF7F3-2B48-2A43-8ECD-1754E59C52A2}"/>
              </a:ext>
            </a:extLst>
          </p:cNvPr>
          <p:cNvSpPr txBox="1"/>
          <p:nvPr/>
        </p:nvSpPr>
        <p:spPr>
          <a:xfrm>
            <a:off x="7913990" y="5216141"/>
            <a:ext cx="2902590" cy="646331"/>
          </a:xfrm>
          <a:prstGeom prst="rect">
            <a:avLst/>
          </a:prstGeom>
          <a:noFill/>
          <a:ln>
            <a:solidFill>
              <a:srgbClr val="E30613"/>
            </a:solidFill>
          </a:ln>
        </p:spPr>
        <p:txBody>
          <a:bodyPr wrap="square" rtlCol="0">
            <a:spAutoFit/>
          </a:bodyPr>
          <a:lstStyle/>
          <a:p>
            <a:r>
              <a:rPr lang="en-GB" sz="1200" dirty="0"/>
              <a:t>The program returns to the beginning of the first loop and it is repeated for the third – and final – time ...</a:t>
            </a:r>
          </a:p>
        </p:txBody>
      </p:sp>
      <p:cxnSp>
        <p:nvCxnSpPr>
          <p:cNvPr id="60" name="Straight Arrow Connector 59">
            <a:extLst>
              <a:ext uri="{FF2B5EF4-FFF2-40B4-BE49-F238E27FC236}">
                <a16:creationId xmlns:a16="http://schemas.microsoft.com/office/drawing/2014/main" id="{52F7BA28-AA6F-E94C-8264-171193861CE1}"/>
              </a:ext>
            </a:extLst>
          </p:cNvPr>
          <p:cNvCxnSpPr>
            <a:cxnSpLocks/>
          </p:cNvCxnSpPr>
          <p:nvPr/>
        </p:nvCxnSpPr>
        <p:spPr>
          <a:xfrm flipH="1">
            <a:off x="3734570" y="4809538"/>
            <a:ext cx="4179420" cy="24706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B0FFB304-7CEA-984D-8FE4-A62F7754C55F}"/>
              </a:ext>
            </a:extLst>
          </p:cNvPr>
          <p:cNvCxnSpPr>
            <a:cxnSpLocks/>
          </p:cNvCxnSpPr>
          <p:nvPr/>
        </p:nvCxnSpPr>
        <p:spPr>
          <a:xfrm flipH="1" flipV="1">
            <a:off x="3065003" y="2807598"/>
            <a:ext cx="4848987" cy="2526387"/>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6" name="Right Bracket 5">
            <a:extLst>
              <a:ext uri="{FF2B5EF4-FFF2-40B4-BE49-F238E27FC236}">
                <a16:creationId xmlns:a16="http://schemas.microsoft.com/office/drawing/2014/main" id="{07086BD8-736D-4B24-A978-87215F681344}"/>
              </a:ext>
            </a:extLst>
          </p:cNvPr>
          <p:cNvSpPr/>
          <p:nvPr/>
        </p:nvSpPr>
        <p:spPr>
          <a:xfrm>
            <a:off x="3274424" y="3208755"/>
            <a:ext cx="492902" cy="1369950"/>
          </a:xfrm>
          <a:prstGeom prst="rightBracket">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28589355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C0D3D-3B5A-405C-A85C-D55D7E6FEF9A}"/>
              </a:ext>
            </a:extLst>
          </p:cNvPr>
          <p:cNvSpPr>
            <a:spLocks noGrp="1"/>
          </p:cNvSpPr>
          <p:nvPr>
            <p:ph type="title"/>
          </p:nvPr>
        </p:nvSpPr>
        <p:spPr>
          <a:xfrm>
            <a:off x="1589632" y="796072"/>
            <a:ext cx="10037685" cy="865740"/>
          </a:xfrm>
        </p:spPr>
        <p:txBody>
          <a:bodyPr>
            <a:normAutofit/>
          </a:bodyPr>
          <a:lstStyle/>
          <a:p>
            <a:r>
              <a:rPr lang="en-GB" b="1" dirty="0">
                <a:solidFill>
                  <a:schemeClr val="bg1"/>
                </a:solidFill>
              </a:rPr>
              <a:t>Activity 6.3: Spirograph </a:t>
            </a:r>
          </a:p>
        </p:txBody>
      </p:sp>
      <p:pic>
        <p:nvPicPr>
          <p:cNvPr id="5" name="Picture 4" descr="A picture containing athletic game, basketball, sport&#10;&#10;Description automatically generated">
            <a:extLst>
              <a:ext uri="{FF2B5EF4-FFF2-40B4-BE49-F238E27FC236}">
                <a16:creationId xmlns:a16="http://schemas.microsoft.com/office/drawing/2014/main" id="{E026BB22-2069-44BA-9C69-B4666D11CB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764033" y="2970696"/>
            <a:ext cx="2863284" cy="2805409"/>
          </a:xfrm>
          <a:prstGeom prst="rect">
            <a:avLst/>
          </a:prstGeom>
        </p:spPr>
      </p:pic>
      <p:sp>
        <p:nvSpPr>
          <p:cNvPr id="7" name="Rectangle 6">
            <a:extLst>
              <a:ext uri="{FF2B5EF4-FFF2-40B4-BE49-F238E27FC236}">
                <a16:creationId xmlns:a16="http://schemas.microsoft.com/office/drawing/2014/main" id="{9F1A58C0-E408-E941-BE92-61C8831FB0E9}"/>
              </a:ext>
            </a:extLst>
          </p:cNvPr>
          <p:cNvSpPr/>
          <p:nvPr/>
        </p:nvSpPr>
        <p:spPr>
          <a:xfrm>
            <a:off x="1850705" y="3000032"/>
            <a:ext cx="2835071" cy="369332"/>
          </a:xfrm>
          <a:prstGeom prst="rect">
            <a:avLst/>
          </a:prstGeom>
        </p:spPr>
        <p:txBody>
          <a:bodyPr wrap="none">
            <a:spAutoFit/>
          </a:bodyPr>
          <a:lstStyle/>
          <a:p>
            <a:pPr>
              <a:tabLst>
                <a:tab pos="5727700" algn="r"/>
              </a:tabLst>
            </a:pPr>
            <a:r>
              <a:rPr lang="en-GB" dirty="0">
                <a:latin typeface="Calibri" panose="020F0502020204030204" pitchFamily="34" charset="0"/>
                <a:ea typeface="Calibri" panose="020F0502020204030204" pitchFamily="34" charset="0"/>
              </a:rPr>
              <a:t>Example of finished solution</a:t>
            </a:r>
            <a:endParaRPr lang="en-GB" dirty="0">
              <a:latin typeface="Times New Roman" panose="02020603050405020304" pitchFamily="18" charset="0"/>
              <a:ea typeface="Times New Roman" panose="02020603050405020304" pitchFamily="18" charset="0"/>
            </a:endParaRPr>
          </a:p>
        </p:txBody>
      </p:sp>
      <p:sp>
        <p:nvSpPr>
          <p:cNvPr id="3" name="Rectangle 2">
            <a:extLst>
              <a:ext uri="{FF2B5EF4-FFF2-40B4-BE49-F238E27FC236}">
                <a16:creationId xmlns:a16="http://schemas.microsoft.com/office/drawing/2014/main" id="{C1A5C073-777B-194F-A288-E1B042793CEC}"/>
              </a:ext>
            </a:extLst>
          </p:cNvPr>
          <p:cNvSpPr/>
          <p:nvPr/>
        </p:nvSpPr>
        <p:spPr>
          <a:xfrm>
            <a:off x="5679107" y="3000032"/>
            <a:ext cx="2355325" cy="369332"/>
          </a:xfrm>
          <a:prstGeom prst="rect">
            <a:avLst/>
          </a:prstGeom>
        </p:spPr>
        <p:txBody>
          <a:bodyPr wrap="none">
            <a:spAutoFit/>
          </a:bodyPr>
          <a:lstStyle/>
          <a:p>
            <a:pPr>
              <a:tabLst>
                <a:tab pos="5727700" algn="r"/>
              </a:tabLst>
            </a:pPr>
            <a:r>
              <a:rPr lang="en-GB" dirty="0">
                <a:latin typeface="Calibri" panose="020F0502020204030204" pitchFamily="34" charset="0"/>
                <a:ea typeface="Calibri" panose="020F0502020204030204" pitchFamily="34" charset="0"/>
              </a:rPr>
              <a:t>Example of extension 1</a:t>
            </a:r>
            <a:endParaRPr lang="en-GB" dirty="0">
              <a:latin typeface="Times New Roman" panose="02020603050405020304" pitchFamily="18" charset="0"/>
              <a:ea typeface="Times New Roman" panose="02020603050405020304" pitchFamily="18" charset="0"/>
            </a:endParaRPr>
          </a:p>
        </p:txBody>
      </p:sp>
      <p:pic>
        <p:nvPicPr>
          <p:cNvPr id="9" name="Picture 8" descr="A picture containing graphical user interface&#10;&#10;Description automatically generated">
            <a:extLst>
              <a:ext uri="{FF2B5EF4-FFF2-40B4-BE49-F238E27FC236}">
                <a16:creationId xmlns:a16="http://schemas.microsoft.com/office/drawing/2014/main" id="{C8D413F4-4722-7F4B-B4C3-E28D21ABD8C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18841" y="3369364"/>
            <a:ext cx="3098800" cy="2712515"/>
          </a:xfrm>
          <a:prstGeom prst="rect">
            <a:avLst/>
          </a:prstGeom>
        </p:spPr>
      </p:pic>
      <p:pic>
        <p:nvPicPr>
          <p:cNvPr id="11" name="Picture 10" descr="A picture containing logo&#10;&#10;Description automatically generated">
            <a:extLst>
              <a:ext uri="{FF2B5EF4-FFF2-40B4-BE49-F238E27FC236}">
                <a16:creationId xmlns:a16="http://schemas.microsoft.com/office/drawing/2014/main" id="{F7636F56-4C2F-F042-8A52-3FE857294AF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088835" y="3369365"/>
            <a:ext cx="3409122" cy="2712516"/>
          </a:xfrm>
          <a:prstGeom prst="rect">
            <a:avLst/>
          </a:prstGeom>
        </p:spPr>
      </p:pic>
    </p:spTree>
    <p:extLst>
      <p:ext uri="{BB962C8B-B14F-4D97-AF65-F5344CB8AC3E}">
        <p14:creationId xmlns:p14="http://schemas.microsoft.com/office/powerpoint/2010/main" val="33509284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3"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C0D3D-3B5A-405C-A85C-D55D7E6FEF9A}"/>
              </a:ext>
            </a:extLst>
          </p:cNvPr>
          <p:cNvSpPr>
            <a:spLocks noGrp="1"/>
          </p:cNvSpPr>
          <p:nvPr>
            <p:ph type="title"/>
          </p:nvPr>
        </p:nvSpPr>
        <p:spPr>
          <a:xfrm>
            <a:off x="1608882" y="796072"/>
            <a:ext cx="10037685" cy="865740"/>
          </a:xfrm>
        </p:spPr>
        <p:txBody>
          <a:bodyPr>
            <a:normAutofit/>
          </a:bodyPr>
          <a:lstStyle/>
          <a:p>
            <a:r>
              <a:rPr lang="en-GB" b="1" dirty="0">
                <a:solidFill>
                  <a:schemeClr val="bg1"/>
                </a:solidFill>
              </a:rPr>
              <a:t>Quiz 6</a:t>
            </a:r>
          </a:p>
        </p:txBody>
      </p:sp>
      <p:pic>
        <p:nvPicPr>
          <p:cNvPr id="5" name="Picture 4" descr="A picture containing athletic game, basketball, sport&#10;&#10;Description automatically generated">
            <a:extLst>
              <a:ext uri="{FF2B5EF4-FFF2-40B4-BE49-F238E27FC236}">
                <a16:creationId xmlns:a16="http://schemas.microsoft.com/office/drawing/2014/main" id="{E026BB22-2069-44BA-9C69-B4666D11CB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02216" y="1967027"/>
            <a:ext cx="4587567" cy="4494840"/>
          </a:xfrm>
          <a:prstGeom prst="rect">
            <a:avLst/>
          </a:prstGeom>
        </p:spPr>
      </p:pic>
    </p:spTree>
    <p:extLst>
      <p:ext uri="{BB962C8B-B14F-4D97-AF65-F5344CB8AC3E}">
        <p14:creationId xmlns:p14="http://schemas.microsoft.com/office/powerpoint/2010/main" val="98773596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556</TotalTime>
  <Words>534</Words>
  <Application>Microsoft Office PowerPoint</Application>
  <PresentationFormat>Widescreen</PresentationFormat>
  <Paragraphs>63</Paragraphs>
  <Slides>12</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Arial</vt:lpstr>
      <vt:lpstr>Calibri</vt:lpstr>
      <vt:lpstr>Calibri Light</vt:lpstr>
      <vt:lpstr>Courier</vt:lpstr>
      <vt:lpstr>Courier New</vt:lpstr>
      <vt:lpstr>Times New Roman</vt:lpstr>
      <vt:lpstr>Office Theme</vt:lpstr>
      <vt:lpstr>Programming in Scratch</vt:lpstr>
      <vt:lpstr>Objectives</vt:lpstr>
      <vt:lpstr>Racing car </vt:lpstr>
      <vt:lpstr>Programming constructs  </vt:lpstr>
      <vt:lpstr>Iteration </vt:lpstr>
      <vt:lpstr>Iteration </vt:lpstr>
      <vt:lpstr>Activity 6.1: Octagon </vt:lpstr>
      <vt:lpstr>Activity 6.2: Squares </vt:lpstr>
      <vt:lpstr>Nested iteration and variables </vt:lpstr>
      <vt:lpstr>PowerPoint Presentation</vt:lpstr>
      <vt:lpstr>Activity 6.3: Spirograph </vt:lpstr>
      <vt:lpstr>Quiz 6</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Introducing spreadsheets</dc:title>
  <dc:creator>Lea Albrechtsen</dc:creator>
  <cp:lastModifiedBy>Lea Albrechtsen</cp:lastModifiedBy>
  <cp:revision>71</cp:revision>
  <dcterms:created xsi:type="dcterms:W3CDTF">2020-11-04T15:22:46Z</dcterms:created>
  <dcterms:modified xsi:type="dcterms:W3CDTF">2021-06-03T10:24:56Z</dcterms:modified>
</cp:coreProperties>
</file>