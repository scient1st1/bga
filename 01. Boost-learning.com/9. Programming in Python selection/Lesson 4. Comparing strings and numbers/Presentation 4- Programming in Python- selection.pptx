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6" r:id="rId6"/>
    <p:sldId id="273" r:id="rId7"/>
    <p:sldId id="274" r:id="rId8"/>
    <p:sldId id="277" r:id="rId9"/>
    <p:sldId id="278" r:id="rId10"/>
    <p:sldId id="279" r:id="rId11"/>
    <p:sldId id="27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36" autoAdjust="0"/>
    <p:restoredTop sz="94660"/>
  </p:normalViewPr>
  <p:slideViewPr>
    <p:cSldViewPr snapToGrid="0">
      <p:cViewPr varScale="1">
        <p:scale>
          <a:sx n="73" d="100"/>
          <a:sy n="73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13/07/2021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917" y="2325757"/>
            <a:ext cx="10308126" cy="896454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Programming in python: selection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1658586" y="3438955"/>
            <a:ext cx="55506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>
                <a:solidFill>
                  <a:srgbClr val="F059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4: Comparing strings and numbers </a:t>
            </a:r>
            <a:endParaRPr lang="en-GB" sz="2400" b="1" dirty="0">
              <a:solidFill>
                <a:srgbClr val="F05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3F7F09-E716-C749-818E-A3109354F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169" y="3438955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824948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10139" y="2215485"/>
            <a:ext cx="8368748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use </a:t>
            </a:r>
            <a:r>
              <a:rPr lang="en-GB" sz="2800" dirty="0" smtClean="0">
                <a:latin typeface="Calibri" panose="020F0502020204030204" pitchFamily="34" charset="0"/>
                <a:ea typeface="Times New Roman" panose="02020603050405020304" pitchFamily="18" charset="0"/>
              </a:rPr>
              <a:t>if-else </a:t>
            </a: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statements to compare strings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write a program in Python that involves random number generation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use remainder after whole number division to decide if a number is odd or even.</a:t>
            </a:r>
          </a:p>
          <a:p>
            <a:pPr lvl="0">
              <a:spcAft>
                <a:spcPts val="0"/>
              </a:spcAft>
            </a:pP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815008"/>
            <a:ext cx="9773478" cy="80507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Strings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E169AB-D985-0746-9E71-E1EC4AC32366}"/>
              </a:ext>
            </a:extLst>
          </p:cNvPr>
          <p:cNvSpPr/>
          <p:nvPr/>
        </p:nvSpPr>
        <p:spPr>
          <a:xfrm>
            <a:off x="1610139" y="2203319"/>
            <a:ext cx="7941365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know how to use </a:t>
            </a:r>
            <a:r>
              <a:rPr lang="en-GB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if-else 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statements to compare variables containing numerical values, but variables can also contain strings.</a:t>
            </a:r>
          </a:p>
          <a:p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use the equal to (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Boolean operator to compare two variables containing string values to find out if they are the same.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75253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Arithmetic operators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1825625"/>
            <a:ext cx="8736496" cy="1812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used the following common arithmetic operators in Lesson 3:</a:t>
            </a:r>
          </a:p>
          <a:p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2DF9FA-9C09-5842-9081-69ABE7EC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155858"/>
              </p:ext>
            </p:extLst>
          </p:nvPr>
        </p:nvGraphicFramePr>
        <p:xfrm>
          <a:off x="1714499" y="2660982"/>
          <a:ext cx="6768548" cy="21580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20830">
                  <a:extLst>
                    <a:ext uri="{9D8B030D-6E8A-4147-A177-3AD203B41FA5}">
                      <a16:colId xmlns:a16="http://schemas.microsoft.com/office/drawing/2014/main" val="1567647055"/>
                    </a:ext>
                  </a:extLst>
                </a:gridCol>
                <a:gridCol w="1319836">
                  <a:extLst>
                    <a:ext uri="{9D8B030D-6E8A-4147-A177-3AD203B41FA5}">
                      <a16:colId xmlns:a16="http://schemas.microsoft.com/office/drawing/2014/main" val="3787267333"/>
                    </a:ext>
                  </a:extLst>
                </a:gridCol>
                <a:gridCol w="4427882">
                  <a:extLst>
                    <a:ext uri="{9D8B030D-6E8A-4147-A177-3AD203B41FA5}">
                      <a16:colId xmlns:a16="http://schemas.microsoft.com/office/drawing/2014/main" val="2694817049"/>
                    </a:ext>
                  </a:extLst>
                </a:gridCol>
              </a:tblGrid>
              <a:tr h="411213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Operator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Meaning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</a:rPr>
                        <a:t>Example</a:t>
                      </a:r>
                      <a:endParaRPr lang="en-GB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84520"/>
                  </a:ext>
                </a:extLst>
              </a:tr>
              <a:tr h="291142">
                <a:tc>
                  <a:txBody>
                    <a:bodyPr/>
                    <a:lstStyle/>
                    <a:p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</a:rPr>
                        <a:t>+</a:t>
                      </a:r>
                      <a:endParaRPr lang="en-GB" sz="16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addition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</a:rPr>
                        <a:t>5 + 3 = 8</a:t>
                      </a:r>
                      <a:endParaRPr lang="en-GB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794863"/>
                  </a:ext>
                </a:extLst>
              </a:tr>
              <a:tr h="582284">
                <a:tc>
                  <a:txBody>
                    <a:bodyPr/>
                    <a:lstStyle/>
                    <a:p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en-GB" sz="16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subtraction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</a:rPr>
                        <a:t>5 – 3 = 2</a:t>
                      </a:r>
                      <a:endParaRPr lang="en-GB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502446"/>
                  </a:ext>
                </a:extLst>
              </a:tr>
              <a:tr h="582284">
                <a:tc>
                  <a:txBody>
                    <a:bodyPr/>
                    <a:lstStyle/>
                    <a:p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</a:rPr>
                        <a:t>*</a:t>
                      </a:r>
                      <a:endParaRPr lang="en-GB" sz="16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multiplication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</a:rPr>
                        <a:t>3 * 2 = 6</a:t>
                      </a:r>
                      <a:endParaRPr lang="en-GB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2812252"/>
                  </a:ext>
                </a:extLst>
              </a:tr>
              <a:tr h="291142">
                <a:tc>
                  <a:txBody>
                    <a:bodyPr/>
                    <a:lstStyle/>
                    <a:p>
                      <a:r>
                        <a:rPr lang="en-GB" sz="160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endParaRPr lang="en-GB" sz="16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</a:rPr>
                        <a:t>division</a:t>
                      </a:r>
                      <a:endParaRPr lang="en-GB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</a:rPr>
                        <a:t>6 / 2 = 3</a:t>
                      </a:r>
                      <a:endParaRPr lang="en-GB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8949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303F9C1A-78AD-674A-9E28-ECFCF1F8FF82}"/>
              </a:ext>
            </a:extLst>
          </p:cNvPr>
          <p:cNvSpPr/>
          <p:nvPr/>
        </p:nvSpPr>
        <p:spPr>
          <a:xfrm>
            <a:off x="1620078" y="4904169"/>
            <a:ext cx="66854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There is another useful operator we can use: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3D8CAF7-1840-2842-A0F4-E0582FEF7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412627"/>
              </p:ext>
            </p:extLst>
          </p:nvPr>
        </p:nvGraphicFramePr>
        <p:xfrm>
          <a:off x="1699590" y="5597632"/>
          <a:ext cx="8289236" cy="487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60353">
                  <a:extLst>
                    <a:ext uri="{9D8B030D-6E8A-4147-A177-3AD203B41FA5}">
                      <a16:colId xmlns:a16="http://schemas.microsoft.com/office/drawing/2014/main" val="1664629560"/>
                    </a:ext>
                  </a:extLst>
                </a:gridCol>
                <a:gridCol w="3671985">
                  <a:extLst>
                    <a:ext uri="{9D8B030D-6E8A-4147-A177-3AD203B41FA5}">
                      <a16:colId xmlns:a16="http://schemas.microsoft.com/office/drawing/2014/main" val="769378626"/>
                    </a:ext>
                  </a:extLst>
                </a:gridCol>
                <a:gridCol w="3356898">
                  <a:extLst>
                    <a:ext uri="{9D8B030D-6E8A-4147-A177-3AD203B41FA5}">
                      <a16:colId xmlns:a16="http://schemas.microsoft.com/office/drawing/2014/main" val="22242512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</a:rPr>
                        <a:t>%</a:t>
                      </a:r>
                      <a:endParaRPr lang="en-GB" sz="16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solidFill>
                            <a:schemeClr val="tx1"/>
                          </a:solidFill>
                          <a:effectLst/>
                        </a:rPr>
                        <a:t>remainder after whole number division</a:t>
                      </a:r>
                      <a:endParaRPr lang="en-GB" sz="16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11 % 3  = 2 because 11 divided by 3 is 3 remainder 2</a:t>
                      </a:r>
                      <a:endParaRPr lang="en-GB" sz="16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010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75253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Arithmetic operators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8" y="2233129"/>
            <a:ext cx="8736496" cy="1812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are the results of the following calculations?</a:t>
            </a:r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622119-43E0-F24A-8BAF-06C8D24E6B40}"/>
              </a:ext>
            </a:extLst>
          </p:cNvPr>
          <p:cNvSpPr/>
          <p:nvPr/>
        </p:nvSpPr>
        <p:spPr>
          <a:xfrm>
            <a:off x="5257799" y="3139491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19 % 4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23 % 7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29 % 5</a:t>
            </a:r>
          </a:p>
        </p:txBody>
      </p:sp>
    </p:spTree>
    <p:extLst>
      <p:ext uri="{BB962C8B-B14F-4D97-AF65-F5344CB8AC3E}">
        <p14:creationId xmlns:p14="http://schemas.microsoft.com/office/powerpoint/2010/main" val="67952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10545418" cy="795130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Activity 4.1: Programming in Python: selection, Section 4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AC83F6F-B564-49E3-BF42-3E935EFFE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718" y="1930687"/>
            <a:ext cx="4480563" cy="438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5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9783417" cy="79513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1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5C30E3-161B-5C4B-86FE-66D9C8D78406}"/>
              </a:ext>
            </a:extLst>
          </p:cNvPr>
          <p:cNvSpPr/>
          <p:nvPr/>
        </p:nvSpPr>
        <p:spPr>
          <a:xfrm>
            <a:off x="1570382" y="2090172"/>
            <a:ext cx="7507357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Which of the following lines of code tells the computer to generate a random number between 1 and 10?</a:t>
            </a:r>
          </a:p>
          <a:p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number = random(10)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number = </a:t>
            </a:r>
            <a:r>
              <a:rPr lang="en-GB" sz="28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random.randint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(10)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number = </a:t>
            </a:r>
            <a:r>
              <a:rPr lang="en-GB" sz="28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random.randint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(1, 10)</a:t>
            </a:r>
          </a:p>
        </p:txBody>
      </p:sp>
    </p:spTree>
    <p:extLst>
      <p:ext uri="{BB962C8B-B14F-4D97-AF65-F5344CB8AC3E}">
        <p14:creationId xmlns:p14="http://schemas.microsoft.com/office/powerpoint/2010/main" val="4251826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9783417" cy="79513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2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5C30E3-161B-5C4B-86FE-66D9C8D78406}"/>
              </a:ext>
            </a:extLst>
          </p:cNvPr>
          <p:cNvSpPr/>
          <p:nvPr/>
        </p:nvSpPr>
        <p:spPr>
          <a:xfrm>
            <a:off x="2312502" y="2951946"/>
            <a:ext cx="829917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do you tell a computer to generate a random number between 1 and 20?</a:t>
            </a:r>
          </a:p>
        </p:txBody>
      </p:sp>
    </p:spTree>
    <p:extLst>
      <p:ext uri="{BB962C8B-B14F-4D97-AF65-F5344CB8AC3E}">
        <p14:creationId xmlns:p14="http://schemas.microsoft.com/office/powerpoint/2010/main" val="3163739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9783417" cy="79513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3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5C30E3-161B-5C4B-86FE-66D9C8D78406}"/>
              </a:ext>
            </a:extLst>
          </p:cNvPr>
          <p:cNvSpPr/>
          <p:nvPr/>
        </p:nvSpPr>
        <p:spPr>
          <a:xfrm>
            <a:off x="2312502" y="2951946"/>
            <a:ext cx="829917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do you tell a computer to generate a random number between 20 and 30?</a:t>
            </a:r>
          </a:p>
        </p:txBody>
      </p:sp>
    </p:spTree>
    <p:extLst>
      <p:ext uri="{BB962C8B-B14F-4D97-AF65-F5344CB8AC3E}">
        <p14:creationId xmlns:p14="http://schemas.microsoft.com/office/powerpoint/2010/main" val="1278660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9783417" cy="79513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4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5C30E3-161B-5C4B-86FE-66D9C8D78406}"/>
              </a:ext>
            </a:extLst>
          </p:cNvPr>
          <p:cNvSpPr/>
          <p:nvPr/>
        </p:nvSpPr>
        <p:spPr>
          <a:xfrm>
            <a:off x="1570382" y="2226389"/>
            <a:ext cx="887564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Complete the program by filling in the gaps.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asks the user to enter an integer and decides if a number is divisible by 5 or not.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89C1C2-355C-BD4E-BC5A-D188D83298ED}"/>
              </a:ext>
            </a:extLst>
          </p:cNvPr>
          <p:cNvSpPr/>
          <p:nvPr/>
        </p:nvSpPr>
        <p:spPr>
          <a:xfrm>
            <a:off x="1570382" y="3611384"/>
            <a:ext cx="757361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(input('Enter a number: '))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if </a:t>
            </a:r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  __  __  ____ 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0:</a:t>
            </a: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print('Number is divisible by 5')</a:t>
            </a:r>
          </a:p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</a:t>
            </a:r>
            <a:endParaRPr lang="en-GB" sz="20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   print('</a:t>
            </a:r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______________________________________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')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C638D9-041B-8B41-9DA9-B85EF2A51412}"/>
              </a:ext>
            </a:extLst>
          </p:cNvPr>
          <p:cNvSpPr/>
          <p:nvPr/>
        </p:nvSpPr>
        <p:spPr>
          <a:xfrm>
            <a:off x="2383682" y="3611384"/>
            <a:ext cx="8002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GB" sz="2000" dirty="0">
                <a:latin typeface="Courier" pitchFamily="2" charset="0"/>
              </a:rPr>
              <a:t> </a:t>
            </a:r>
            <a:endParaRPr lang="en-US" sz="2000" dirty="0">
              <a:latin typeface="Courier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88366A-BDFB-0142-A9BD-6BDB2CA0D8E8}"/>
              </a:ext>
            </a:extLst>
          </p:cNvPr>
          <p:cNvSpPr/>
          <p:nvPr/>
        </p:nvSpPr>
        <p:spPr>
          <a:xfrm>
            <a:off x="2233235" y="3923960"/>
            <a:ext cx="6992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 err="1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337D9E-9CA2-C642-9F89-54EB566D84F1}"/>
              </a:ext>
            </a:extLst>
          </p:cNvPr>
          <p:cNvSpPr/>
          <p:nvPr/>
        </p:nvSpPr>
        <p:spPr>
          <a:xfrm>
            <a:off x="3354311" y="3923960"/>
            <a:ext cx="39145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%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A003E-DC55-5E4B-8128-F6D52D3660F5}"/>
              </a:ext>
            </a:extLst>
          </p:cNvPr>
          <p:cNvSpPr/>
          <p:nvPr/>
        </p:nvSpPr>
        <p:spPr>
          <a:xfrm>
            <a:off x="3921389" y="3923960"/>
            <a:ext cx="4924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5 </a:t>
            </a:r>
            <a:endParaRPr lang="en-US" sz="2000" dirty="0">
              <a:latin typeface="Courier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95B890-9B96-D142-A285-7B5968A1E104}"/>
              </a:ext>
            </a:extLst>
          </p:cNvPr>
          <p:cNvSpPr/>
          <p:nvPr/>
        </p:nvSpPr>
        <p:spPr>
          <a:xfrm>
            <a:off x="4618382" y="3940359"/>
            <a:ext cx="5453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GB" dirty="0"/>
              <a:t> 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979BB3-503C-8849-B3EB-653BE1065416}"/>
              </a:ext>
            </a:extLst>
          </p:cNvPr>
          <p:cNvSpPr/>
          <p:nvPr/>
        </p:nvSpPr>
        <p:spPr>
          <a:xfrm>
            <a:off x="1906628" y="4490946"/>
            <a:ext cx="9541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else:</a:t>
            </a:r>
            <a:endParaRPr lang="en-GB" sz="2000" dirty="0"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C22259-42E2-7A43-8399-0A3DE59E6136}"/>
              </a:ext>
            </a:extLst>
          </p:cNvPr>
          <p:cNvSpPr/>
          <p:nvPr/>
        </p:nvSpPr>
        <p:spPr>
          <a:xfrm>
            <a:off x="2860735" y="5094209"/>
            <a:ext cx="464742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Number is not divisible by 5</a:t>
            </a:r>
            <a:r>
              <a:rPr lang="en-GB" sz="2000" dirty="0">
                <a:latin typeface="Courier" pitchFamily="2" charset="0"/>
              </a:rPr>
              <a:t> </a:t>
            </a:r>
            <a:endParaRPr lang="en-US" sz="20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7995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B4D36-2121-417F-8DFB-DF55C238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05070"/>
            <a:ext cx="9763539" cy="824947"/>
          </a:xfrm>
        </p:spPr>
        <p:txBody>
          <a:bodyPr/>
          <a:lstStyle/>
          <a:p>
            <a:r>
              <a:rPr lang="en-GB" b="1">
                <a:solidFill>
                  <a:schemeClr val="bg1"/>
                </a:solidFill>
              </a:rPr>
              <a:t>Quiz 4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CCD11051-1492-4742-9252-4A1AD57BD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718" y="1930687"/>
            <a:ext cx="4480563" cy="438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353</Words>
  <Application>Microsoft Office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</vt:lpstr>
      <vt:lpstr>Symbol</vt:lpstr>
      <vt:lpstr>Times New Roman</vt:lpstr>
      <vt:lpstr>Office Theme</vt:lpstr>
      <vt:lpstr>Programming in python: selection</vt:lpstr>
      <vt:lpstr>Objectives</vt:lpstr>
      <vt:lpstr>Strings </vt:lpstr>
      <vt:lpstr>Arithmetic operators </vt:lpstr>
      <vt:lpstr>Arithmetic operators </vt:lpstr>
      <vt:lpstr>Activity 4.1: Programming in Python: selection, Section 4 </vt:lpstr>
      <vt:lpstr>Question 1 </vt:lpstr>
      <vt:lpstr>Question 2 </vt:lpstr>
      <vt:lpstr>Question 3 </vt:lpstr>
      <vt:lpstr>Question 4 </vt:lpstr>
      <vt:lpstr>Quiz 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Windows User</cp:lastModifiedBy>
  <cp:revision>33</cp:revision>
  <dcterms:created xsi:type="dcterms:W3CDTF">2020-11-04T15:22:46Z</dcterms:created>
  <dcterms:modified xsi:type="dcterms:W3CDTF">2021-07-13T14:12:10Z</dcterms:modified>
</cp:coreProperties>
</file>