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73" r:id="rId6"/>
    <p:sldId id="274" r:id="rId7"/>
    <p:sldId id="275" r:id="rId8"/>
    <p:sldId id="27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17/06/2021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917" y="2325757"/>
            <a:ext cx="10308126" cy="896454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Programming in python: selection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1618830" y="3438971"/>
            <a:ext cx="5575694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>
                <a:solidFill>
                  <a:srgbClr val="F059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2: Decisions based on calculations </a:t>
            </a:r>
          </a:p>
          <a:p>
            <a:endParaRPr lang="en-GB" sz="2400" b="1" dirty="0">
              <a:solidFill>
                <a:srgbClr val="F059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3F7F09-E716-C749-818E-A3109354F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169" y="3438955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824948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10139" y="2215485"/>
            <a:ext cx="836874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how to make a decision based on a calculation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how to write a program in Python that makes a decision based on the outcome of a calculation.</a:t>
            </a:r>
          </a:p>
          <a:p>
            <a:pPr lvl="0">
              <a:spcAft>
                <a:spcPts val="0"/>
              </a:spcAft>
            </a:pP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75253"/>
            <a:ext cx="9733721" cy="82494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if statements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6643" y="2044285"/>
            <a:ext cx="9104244" cy="2587349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3600" dirty="0"/>
              <a:t>The if statement can make a decision about what to do next based on the outcome of a condition.</a:t>
            </a:r>
          </a:p>
          <a:p>
            <a:pPr marL="0" indent="0">
              <a:buNone/>
            </a:pPr>
            <a:r>
              <a:rPr lang="en-GB" sz="3600" dirty="0"/>
              <a:t>The condition must be a question that returns a True or False value.</a:t>
            </a:r>
          </a:p>
          <a:p>
            <a:pPr marL="0" indent="0">
              <a:buNone/>
            </a:pPr>
            <a:r>
              <a:rPr lang="en-GB" sz="3600" dirty="0"/>
              <a:t>It is important to understand the structure of an if statement:</a:t>
            </a:r>
          </a:p>
          <a:p>
            <a:pPr lvl="0"/>
            <a:r>
              <a:rPr lang="en-GB" sz="3600" dirty="0"/>
              <a:t>An if statement must end with a colon.</a:t>
            </a:r>
          </a:p>
          <a:p>
            <a:pPr lvl="0"/>
            <a:r>
              <a:rPr lang="en-GB" sz="3600" dirty="0"/>
              <a:t>The lines of code telling the computer what to do if the condition in the if statement returns True must follow the if statement and be indented.</a:t>
            </a:r>
          </a:p>
          <a:p>
            <a:endParaRPr lang="en-GB" dirty="0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D987C209-3F78-D743-9F30-CBC989B9CB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6860" y="4555433"/>
            <a:ext cx="4863810" cy="174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815008"/>
            <a:ext cx="9773478" cy="80507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Boolean operators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E169AB-D985-0746-9E71-E1EC4AC32366}"/>
              </a:ext>
            </a:extLst>
          </p:cNvPr>
          <p:cNvSpPr/>
          <p:nvPr/>
        </p:nvSpPr>
        <p:spPr>
          <a:xfrm>
            <a:off x="1537252" y="1845789"/>
            <a:ext cx="88855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Here are the Boolean operators we use to create a comparison in an if statement. 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4EA9F8BB-579D-1E4C-86E2-92D4B6CB13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574022"/>
              </p:ext>
            </p:extLst>
          </p:nvPr>
        </p:nvGraphicFramePr>
        <p:xfrm>
          <a:off x="1610139" y="2851609"/>
          <a:ext cx="5029200" cy="24998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757">
                  <a:extLst>
                    <a:ext uri="{9D8B030D-6E8A-4147-A177-3AD203B41FA5}">
                      <a16:colId xmlns:a16="http://schemas.microsoft.com/office/drawing/2014/main" val="3326803712"/>
                    </a:ext>
                  </a:extLst>
                </a:gridCol>
                <a:gridCol w="2703443">
                  <a:extLst>
                    <a:ext uri="{9D8B030D-6E8A-4147-A177-3AD203B41FA5}">
                      <a16:colId xmlns:a16="http://schemas.microsoft.com/office/drawing/2014/main" val="1240910391"/>
                    </a:ext>
                  </a:extLst>
                </a:gridCol>
              </a:tblGrid>
              <a:tr h="361584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Boolean operator</a:t>
                      </a:r>
                      <a:r>
                        <a:rPr lang="en-GB" dirty="0">
                          <a:effectLst/>
                        </a:rPr>
                        <a:t> 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Meaning</a:t>
                      </a:r>
                      <a:r>
                        <a:rPr lang="en-GB" dirty="0">
                          <a:effectLst/>
                        </a:rPr>
                        <a:t> 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765232"/>
                  </a:ext>
                </a:extLst>
              </a:tr>
              <a:tr h="366606"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&gt;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Greater than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41797"/>
                  </a:ext>
                </a:extLst>
              </a:tr>
              <a:tr h="366606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&gt;=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Greater than or equal to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937091"/>
                  </a:ext>
                </a:extLst>
              </a:tr>
              <a:tr h="366606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Less than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150164"/>
                  </a:ext>
                </a:extLst>
              </a:tr>
              <a:tr h="366606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&lt;=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Less than or equal to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338960"/>
                  </a:ext>
                </a:extLst>
              </a:tr>
              <a:tr h="366606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==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Equal to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826698"/>
                  </a:ext>
                </a:extLst>
              </a:tr>
              <a:tr h="301029">
                <a:tc>
                  <a:txBody>
                    <a:bodyPr/>
                    <a:lstStyle/>
                    <a:p>
                      <a:r>
                        <a:rPr lang="en-GB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!=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Not equal to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75673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6253976-AF06-4743-98C5-280AD00AC7A3}"/>
              </a:ext>
            </a:extLst>
          </p:cNvPr>
          <p:cNvSpPr/>
          <p:nvPr/>
        </p:nvSpPr>
        <p:spPr>
          <a:xfrm>
            <a:off x="1537252" y="5581327"/>
            <a:ext cx="906978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ea typeface="Calibri" panose="020F0502020204030204" pitchFamily="34" charset="0"/>
                <a:cs typeface="Times New Roman" panose="02020603050405020304" pitchFamily="18" charset="0"/>
              </a:rPr>
              <a:t>They can be used to compare numeric values to perform calculations.</a:t>
            </a:r>
            <a:r>
              <a:rPr lang="en-GB" sz="2400" dirty="0"/>
              <a:t> </a:t>
            </a:r>
            <a:endParaRPr lang="en-US" sz="2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A4C78-AD9B-C440-9EC4-BACF8852D4A5}"/>
              </a:ext>
            </a:extLst>
          </p:cNvPr>
          <p:cNvSpPr/>
          <p:nvPr/>
        </p:nvSpPr>
        <p:spPr>
          <a:xfrm>
            <a:off x="6897190" y="2851609"/>
            <a:ext cx="448642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returned by the following?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a.  5  &lt;  7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b.  7 == 9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c.  8 != 8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d.  9 &gt;= 9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e.  5 &lt;= 3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1" y="805071"/>
            <a:ext cx="10764079" cy="795130"/>
          </a:xfrm>
        </p:spPr>
        <p:txBody>
          <a:bodyPr>
            <a:noAutofit/>
          </a:bodyPr>
          <a:lstStyle/>
          <a:p>
            <a:r>
              <a:rPr lang="en-GB" sz="4200" b="1" dirty="0">
                <a:solidFill>
                  <a:schemeClr val="bg1"/>
                </a:solidFill>
              </a:rPr>
              <a:t>2.1: Programming in Python: selection, Section 2 </a:t>
            </a:r>
          </a:p>
        </p:txBody>
      </p:sp>
      <p:pic>
        <p:nvPicPr>
          <p:cNvPr id="7" name="Picture 6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6AC83F6F-B564-49E3-BF42-3E935EFFE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718" y="1991647"/>
            <a:ext cx="4480563" cy="438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51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9783417" cy="79513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Questions 1 and 2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BBA44-74BB-8243-AE0A-4713371EB98D}"/>
              </a:ext>
            </a:extLst>
          </p:cNvPr>
          <p:cNvSpPr/>
          <p:nvPr/>
        </p:nvSpPr>
        <p:spPr>
          <a:xfrm>
            <a:off x="1570382" y="2305615"/>
            <a:ext cx="813352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do we tell a program what to do if the condition in the if statement returns True?</a:t>
            </a:r>
          </a:p>
          <a:p>
            <a:pPr marL="457200" indent="-457200">
              <a:buFont typeface="+mj-lt"/>
              <a:buAutoNum type="arabicPeriod"/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 do we tell a program what to do if the condition in the if statement returns False?</a:t>
            </a:r>
          </a:p>
        </p:txBody>
      </p:sp>
    </p:spTree>
    <p:extLst>
      <p:ext uri="{BB962C8B-B14F-4D97-AF65-F5344CB8AC3E}">
        <p14:creationId xmlns:p14="http://schemas.microsoft.com/office/powerpoint/2010/main" val="425182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05071"/>
            <a:ext cx="10621618" cy="795130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Question 3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D9A694-39F4-874F-8A27-66A967FF716E}"/>
              </a:ext>
            </a:extLst>
          </p:cNvPr>
          <p:cNvSpPr/>
          <p:nvPr/>
        </p:nvSpPr>
        <p:spPr>
          <a:xfrm>
            <a:off x="1570382" y="2180847"/>
            <a:ext cx="328121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Look at this program: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AC7DB-B4C8-D041-AAF2-55F1CA3D8BB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599" y="2704067"/>
            <a:ext cx="6404004" cy="160120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3B33A81-4C22-8846-83E3-1BCB17EE0001}"/>
              </a:ext>
            </a:extLst>
          </p:cNvPr>
          <p:cNvSpPr/>
          <p:nvPr/>
        </p:nvSpPr>
        <p:spPr>
          <a:xfrm>
            <a:off x="1656595" y="4305275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a.  What is output if we input 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?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b.  What is output if we input 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?</a:t>
            </a:r>
          </a:p>
          <a:p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c.  What is output if we input </a:t>
            </a:r>
            <a:r>
              <a:rPr lang="en-GB" sz="28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8680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B4D36-2121-417F-8DFB-DF55C2380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05070"/>
            <a:ext cx="9763539" cy="824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2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454BD54-0FDE-412B-967F-9BF42FB70D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5718" y="1991647"/>
            <a:ext cx="4480563" cy="438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4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315</Words>
  <Application>Microsoft Office PowerPoint</Application>
  <PresentationFormat>Widescreen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Courier</vt:lpstr>
      <vt:lpstr>Symbol</vt:lpstr>
      <vt:lpstr>Times New Roman</vt:lpstr>
      <vt:lpstr>Office Theme</vt:lpstr>
      <vt:lpstr>Programming in python: selection</vt:lpstr>
      <vt:lpstr>Objectives</vt:lpstr>
      <vt:lpstr>if statements </vt:lpstr>
      <vt:lpstr>Boolean operators </vt:lpstr>
      <vt:lpstr>2.1: Programming in Python: selection, Section 2 </vt:lpstr>
      <vt:lpstr>Questions 1 and 2 </vt:lpstr>
      <vt:lpstr>Question 3 </vt:lpstr>
      <vt:lpstr>Quiz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34</cp:revision>
  <dcterms:created xsi:type="dcterms:W3CDTF">2020-11-04T15:22:46Z</dcterms:created>
  <dcterms:modified xsi:type="dcterms:W3CDTF">2021-06-17T13:54:39Z</dcterms:modified>
</cp:coreProperties>
</file>