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76" r:id="rId5"/>
    <p:sldId id="259" r:id="rId6"/>
    <p:sldId id="277" r:id="rId7"/>
    <p:sldId id="278" r:id="rId8"/>
    <p:sldId id="279" r:id="rId9"/>
    <p:sldId id="273" r:id="rId10"/>
    <p:sldId id="272" r:id="rId11"/>
  </p:sldIdLst>
  <p:sldSz cx="12192000" cy="6858000"/>
  <p:notesSz cx="6858000" cy="9144000"/>
  <p:custDataLst>
    <p:tags r:id="rId1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059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51" d="100"/>
          <a:sy n="51" d="100"/>
        </p:scale>
        <p:origin x="60" y="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gs" Target="tags/tag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220433-DD7E-416E-B398-FCA2CB72968B}" type="datetimeFigureOut">
              <a:rPr lang="en-GB" smtClean="0"/>
              <a:t>18/06/2021</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92E89D-45B6-47E3-9E6D-0035FBAAE564}" type="slidenum">
              <a:rPr lang="en-GB" smtClean="0"/>
              <a:t>‹#›</a:t>
            </a:fld>
            <a:endParaRPr lang="en-GB"/>
          </a:p>
        </p:txBody>
      </p:sp>
    </p:spTree>
    <p:extLst>
      <p:ext uri="{BB962C8B-B14F-4D97-AF65-F5344CB8AC3E}">
        <p14:creationId xmlns:p14="http://schemas.microsoft.com/office/powerpoint/2010/main" val="3575166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1</a:t>
            </a:fld>
            <a:endParaRPr lang="en-GB"/>
          </a:p>
        </p:txBody>
      </p:sp>
    </p:spTree>
    <p:extLst>
      <p:ext uri="{BB962C8B-B14F-4D97-AF65-F5344CB8AC3E}">
        <p14:creationId xmlns:p14="http://schemas.microsoft.com/office/powerpoint/2010/main" val="2786775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2</a:t>
            </a:fld>
            <a:endParaRPr lang="en-GB"/>
          </a:p>
        </p:txBody>
      </p:sp>
    </p:spTree>
    <p:extLst>
      <p:ext uri="{BB962C8B-B14F-4D97-AF65-F5344CB8AC3E}">
        <p14:creationId xmlns:p14="http://schemas.microsoft.com/office/powerpoint/2010/main" val="1848987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3</a:t>
            </a:fld>
            <a:endParaRPr lang="en-GB"/>
          </a:p>
        </p:txBody>
      </p:sp>
    </p:spTree>
    <p:extLst>
      <p:ext uri="{BB962C8B-B14F-4D97-AF65-F5344CB8AC3E}">
        <p14:creationId xmlns:p14="http://schemas.microsoft.com/office/powerpoint/2010/main" val="1867082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4</a:t>
            </a:fld>
            <a:endParaRPr lang="en-GB"/>
          </a:p>
        </p:txBody>
      </p:sp>
    </p:spTree>
    <p:extLst>
      <p:ext uri="{BB962C8B-B14F-4D97-AF65-F5344CB8AC3E}">
        <p14:creationId xmlns:p14="http://schemas.microsoft.com/office/powerpoint/2010/main" val="600180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5</a:t>
            </a:fld>
            <a:endParaRPr lang="en-GB"/>
          </a:p>
        </p:txBody>
      </p:sp>
    </p:spTree>
    <p:extLst>
      <p:ext uri="{BB962C8B-B14F-4D97-AF65-F5344CB8AC3E}">
        <p14:creationId xmlns:p14="http://schemas.microsoft.com/office/powerpoint/2010/main" val="37758348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6</a:t>
            </a:fld>
            <a:endParaRPr lang="en-GB"/>
          </a:p>
        </p:txBody>
      </p:sp>
    </p:spTree>
    <p:extLst>
      <p:ext uri="{BB962C8B-B14F-4D97-AF65-F5344CB8AC3E}">
        <p14:creationId xmlns:p14="http://schemas.microsoft.com/office/powerpoint/2010/main" val="16178251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7</a:t>
            </a:fld>
            <a:endParaRPr lang="en-GB"/>
          </a:p>
        </p:txBody>
      </p:sp>
    </p:spTree>
    <p:extLst>
      <p:ext uri="{BB962C8B-B14F-4D97-AF65-F5344CB8AC3E}">
        <p14:creationId xmlns:p14="http://schemas.microsoft.com/office/powerpoint/2010/main" val="112546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8</a:t>
            </a:fld>
            <a:endParaRPr lang="en-GB"/>
          </a:p>
        </p:txBody>
      </p:sp>
    </p:spTree>
    <p:extLst>
      <p:ext uri="{BB962C8B-B14F-4D97-AF65-F5344CB8AC3E}">
        <p14:creationId xmlns:p14="http://schemas.microsoft.com/office/powerpoint/2010/main" val="20085518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9</a:t>
            </a:fld>
            <a:endParaRPr lang="en-GB"/>
          </a:p>
        </p:txBody>
      </p:sp>
    </p:spTree>
    <p:extLst>
      <p:ext uri="{BB962C8B-B14F-4D97-AF65-F5344CB8AC3E}">
        <p14:creationId xmlns:p14="http://schemas.microsoft.com/office/powerpoint/2010/main" val="37725473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B92E89D-45B6-47E3-9E6D-0035FBAAE564}" type="slidenum">
              <a:rPr lang="en-GB" smtClean="0"/>
              <a:t>10</a:t>
            </a:fld>
            <a:endParaRPr lang="en-GB"/>
          </a:p>
        </p:txBody>
      </p:sp>
    </p:spTree>
    <p:extLst>
      <p:ext uri="{BB962C8B-B14F-4D97-AF65-F5344CB8AC3E}">
        <p14:creationId xmlns:p14="http://schemas.microsoft.com/office/powerpoint/2010/main" val="28371894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18/06/2021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descr="Shape, rectangle&#10;&#10;Description automatically generated">
            <a:extLst>
              <a:ext uri="{FF2B5EF4-FFF2-40B4-BE49-F238E27FC236}">
                <a16:creationId xmlns:a16="http://schemas.microsoft.com/office/drawing/2014/main" id="{80040EBE-1101-1E45-9013-1637FEE48CC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25758"/>
            <a:ext cx="12192000" cy="1656196"/>
          </a:xfrm>
          <a:prstGeom prst="rect">
            <a:avLst/>
          </a:prstGeom>
        </p:spPr>
      </p:pic>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2B9C3-E44C-4313-895D-D43DD1C92CE3}"/>
              </a:ext>
            </a:extLst>
          </p:cNvPr>
          <p:cNvSpPr>
            <a:spLocks noGrp="1"/>
          </p:cNvSpPr>
          <p:nvPr>
            <p:ph type="ctrTitle"/>
          </p:nvPr>
        </p:nvSpPr>
        <p:spPr>
          <a:xfrm>
            <a:off x="624917" y="2325757"/>
            <a:ext cx="10308126" cy="896454"/>
          </a:xfrm>
        </p:spPr>
        <p:txBody>
          <a:bodyPr>
            <a:normAutofit fontScale="90000"/>
          </a:bodyPr>
          <a:lstStyle/>
          <a:p>
            <a:pPr algn="l"/>
            <a:r>
              <a:rPr lang="en-GB" b="1" dirty="0"/>
              <a:t>Programming in python: selection</a:t>
            </a:r>
          </a:p>
        </p:txBody>
      </p:sp>
      <p:sp>
        <p:nvSpPr>
          <p:cNvPr id="11" name="Rectangle 10">
            <a:extLst>
              <a:ext uri="{FF2B5EF4-FFF2-40B4-BE49-F238E27FC236}">
                <a16:creationId xmlns:a16="http://schemas.microsoft.com/office/drawing/2014/main" id="{5346DB13-257C-4484-9CB0-C755672B55D3}"/>
              </a:ext>
            </a:extLst>
          </p:cNvPr>
          <p:cNvSpPr/>
          <p:nvPr/>
        </p:nvSpPr>
        <p:spPr>
          <a:xfrm>
            <a:off x="3939107" y="3438971"/>
            <a:ext cx="3176062" cy="461665"/>
          </a:xfrm>
          <a:prstGeom prst="rect">
            <a:avLst/>
          </a:prstGeom>
        </p:spPr>
        <p:txBody>
          <a:bodyPr wrap="none">
            <a:spAutoFit/>
          </a:bodyPr>
          <a:lstStyle/>
          <a:p>
            <a:r>
              <a:rPr lang="en-GB" sz="2400" b="1" dirty="0">
                <a:solidFill>
                  <a:srgbClr val="F05900"/>
                </a:solidFill>
                <a:latin typeface="Calibri" panose="020F0502020204030204" pitchFamily="34" charset="0"/>
                <a:ea typeface="Times New Roman" panose="02020603050405020304" pitchFamily="18" charset="0"/>
              </a:rPr>
              <a:t>Lesson 6: Multiple </a:t>
            </a:r>
            <a:r>
              <a:rPr lang="en-GB" sz="2400" b="1" dirty="0" err="1">
                <a:solidFill>
                  <a:srgbClr val="F05900"/>
                </a:solidFill>
                <a:latin typeface="Calibri" panose="020F0502020204030204" pitchFamily="34" charset="0"/>
                <a:ea typeface="Times New Roman" panose="02020603050405020304" pitchFamily="18" charset="0"/>
              </a:rPr>
              <a:t>elifs</a:t>
            </a:r>
            <a:r>
              <a:rPr lang="en-GB" sz="2400" b="1" dirty="0">
                <a:solidFill>
                  <a:srgbClr val="F05900"/>
                </a:solidFill>
                <a:latin typeface="Calibri" panose="020F0502020204030204" pitchFamily="34" charset="0"/>
                <a:ea typeface="Times New Roman" panose="02020603050405020304" pitchFamily="18" charset="0"/>
              </a:rPr>
              <a:t> </a:t>
            </a:r>
            <a:endParaRPr lang="en-GB" sz="2400" b="1" dirty="0">
              <a:solidFill>
                <a:srgbClr val="F05900"/>
              </a:solidFill>
            </a:endParaRPr>
          </a:p>
        </p:txBody>
      </p:sp>
      <p:pic>
        <p:nvPicPr>
          <p:cNvPr id="5" name="Picture 4">
            <a:extLst>
              <a:ext uri="{FF2B5EF4-FFF2-40B4-BE49-F238E27FC236}">
                <a16:creationId xmlns:a16="http://schemas.microsoft.com/office/drawing/2014/main" id="{F53F7F09-E716-C749-818E-A3109354F59A}"/>
              </a:ext>
            </a:extLst>
          </p:cNvPr>
          <p:cNvPicPr>
            <a:picLocks noChangeAspect="1"/>
          </p:cNvPicPr>
          <p:nvPr/>
        </p:nvPicPr>
        <p:blipFill>
          <a:blip r:embed="rId3"/>
          <a:stretch>
            <a:fillRect/>
          </a:stretch>
        </p:blipFill>
        <p:spPr>
          <a:xfrm>
            <a:off x="7115169" y="3438955"/>
            <a:ext cx="2937413" cy="244392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10139" y="824948"/>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10139" y="2215485"/>
            <a:ext cx="8368748" cy="2739211"/>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 how to:</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use multiple elif statements with if else to compare multiple conditions</a:t>
            </a:r>
          </a:p>
          <a:p>
            <a:pPr marL="342900" lvl="0" indent="-342900">
              <a:spcAft>
                <a:spcPts val="0"/>
              </a:spcAft>
              <a:buFont typeface="Symbol" panose="05050102010706020507" pitchFamily="18" charset="2"/>
              <a:buChar char=""/>
            </a:pPr>
            <a:r>
              <a:rPr lang="en-GB" sz="2800" dirty="0">
                <a:latin typeface="Calibri" panose="020F0502020204030204" pitchFamily="34" charset="0"/>
                <a:ea typeface="Times New Roman" panose="02020603050405020304" pitchFamily="18" charset="0"/>
              </a:rPr>
              <a:t>write a program in Python that uses multiple elif statements.</a:t>
            </a:r>
          </a:p>
          <a:p>
            <a:pPr lvl="0">
              <a:spcAft>
                <a:spcPts val="0"/>
              </a:spcAft>
            </a:pPr>
            <a:endParaRPr lang="en-GB" sz="2800" dirty="0">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10139" y="815008"/>
            <a:ext cx="9773478" cy="805070"/>
          </a:xfrm>
        </p:spPr>
        <p:txBody>
          <a:bodyPr/>
          <a:lstStyle/>
          <a:p>
            <a:r>
              <a:rPr lang="en-GB" b="1" dirty="0">
                <a:solidFill>
                  <a:schemeClr val="bg1"/>
                </a:solidFill>
              </a:rPr>
              <a:t>if elif else statements: a reminder </a:t>
            </a:r>
          </a:p>
        </p:txBody>
      </p:sp>
      <p:sp>
        <p:nvSpPr>
          <p:cNvPr id="3" name="Rectangle 2">
            <a:extLst>
              <a:ext uri="{FF2B5EF4-FFF2-40B4-BE49-F238E27FC236}">
                <a16:creationId xmlns:a16="http://schemas.microsoft.com/office/drawing/2014/main" id="{A4E169AB-D985-0746-9E71-E1EC4AC32366}"/>
              </a:ext>
            </a:extLst>
          </p:cNvPr>
          <p:cNvSpPr/>
          <p:nvPr/>
        </p:nvSpPr>
        <p:spPr>
          <a:xfrm>
            <a:off x="1610139" y="2203319"/>
            <a:ext cx="7692887" cy="1569660"/>
          </a:xfrm>
          <a:prstGeom prst="rect">
            <a:avLst/>
          </a:prstGeom>
        </p:spPr>
        <p:txBody>
          <a:bodyPr wrap="square">
            <a:spAutoFit/>
          </a:bodyPr>
          <a:lstStyle/>
          <a:p>
            <a:r>
              <a:rPr lang="en-GB" sz="2400" dirty="0">
                <a:latin typeface="Calibri" panose="020F0502020204030204" pitchFamily="34" charset="0"/>
                <a:ea typeface="Calibri" panose="020F0502020204030204" pitchFamily="34" charset="0"/>
                <a:cs typeface="Times New Roman" panose="02020603050405020304" pitchFamily="18" charset="0"/>
              </a:rPr>
              <a:t>if elif else statements are used to decide what to do if the condition is true, what to do if the first condition is false and the second condition is true and what to do if both conditions are false:</a:t>
            </a:r>
          </a:p>
        </p:txBody>
      </p:sp>
      <p:pic>
        <p:nvPicPr>
          <p:cNvPr id="7" name="Picture 6" descr="Text&#10;&#10;Description automatically generated">
            <a:extLst>
              <a:ext uri="{FF2B5EF4-FFF2-40B4-BE49-F238E27FC236}">
                <a16:creationId xmlns:a16="http://schemas.microsoft.com/office/drawing/2014/main" id="{CD69CBE9-4293-424C-8419-FD58F9C810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76145" y="3954213"/>
            <a:ext cx="5239710" cy="2158448"/>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05071"/>
            <a:ext cx="10621618" cy="795130"/>
          </a:xfrm>
        </p:spPr>
        <p:txBody>
          <a:bodyPr>
            <a:normAutofit/>
          </a:bodyPr>
          <a:lstStyle/>
          <a:p>
            <a:r>
              <a:rPr lang="en-GB" sz="3600" b="1" dirty="0">
                <a:solidFill>
                  <a:schemeClr val="bg1"/>
                </a:solidFill>
              </a:rPr>
              <a:t>Activity 6.1: Programming in Python: selection, Section 6</a:t>
            </a:r>
          </a:p>
        </p:txBody>
      </p:sp>
      <p:pic>
        <p:nvPicPr>
          <p:cNvPr id="4" name="Picture 3" descr="A picture containing athletic game, basketball, sport&#10;&#10;Description automatically generated">
            <a:extLst>
              <a:ext uri="{FF2B5EF4-FFF2-40B4-BE49-F238E27FC236}">
                <a16:creationId xmlns:a16="http://schemas.microsoft.com/office/drawing/2014/main" id="{6AC83F6F-B564-49E3-BF42-3E935EFFE5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55718" y="1930687"/>
            <a:ext cx="4480563" cy="4389999"/>
          </a:xfrm>
          <a:prstGeom prst="rect">
            <a:avLst/>
          </a:prstGeom>
        </p:spPr>
      </p:pic>
    </p:spTree>
    <p:extLst>
      <p:ext uri="{BB962C8B-B14F-4D97-AF65-F5344CB8AC3E}">
        <p14:creationId xmlns:p14="http://schemas.microsoft.com/office/powerpoint/2010/main" val="3757769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75253"/>
            <a:ext cx="9733721" cy="824948"/>
          </a:xfrm>
        </p:spPr>
        <p:txBody>
          <a:bodyPr/>
          <a:lstStyle/>
          <a:p>
            <a:r>
              <a:rPr lang="en-GB" b="1" dirty="0">
                <a:solidFill>
                  <a:schemeClr val="bg1"/>
                </a:solidFill>
              </a:rPr>
              <a:t>Question 1 </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3079543"/>
            <a:ext cx="10118035" cy="698913"/>
          </a:xfrm>
        </p:spPr>
        <p:txBody>
          <a:bodyPr>
            <a:normAutofit/>
          </a:bodyPr>
          <a:lstStyle/>
          <a:p>
            <a:pPr marL="0" indent="0">
              <a:buNone/>
            </a:pPr>
            <a:r>
              <a:rPr lang="en-GB" sz="3200" dirty="0"/>
              <a:t>Which key word do we use to check just one condition?</a:t>
            </a:r>
          </a:p>
          <a:p>
            <a:endParaRPr lang="en-GB" dirty="0"/>
          </a:p>
        </p:txBody>
      </p:sp>
    </p:spTree>
    <p:extLst>
      <p:ext uri="{BB962C8B-B14F-4D97-AF65-F5344CB8AC3E}">
        <p14:creationId xmlns:p14="http://schemas.microsoft.com/office/powerpoint/2010/main" val="3005745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75253"/>
            <a:ext cx="9733721" cy="824948"/>
          </a:xfrm>
        </p:spPr>
        <p:txBody>
          <a:bodyPr/>
          <a:lstStyle/>
          <a:p>
            <a:r>
              <a:rPr lang="en-GB" b="1" dirty="0">
                <a:solidFill>
                  <a:schemeClr val="bg1"/>
                </a:solidFill>
              </a:rPr>
              <a:t>Question 2</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3079543"/>
            <a:ext cx="10118035" cy="698913"/>
          </a:xfrm>
        </p:spPr>
        <p:txBody>
          <a:bodyPr>
            <a:normAutofit/>
          </a:bodyPr>
          <a:lstStyle/>
          <a:p>
            <a:pPr marL="0" indent="0">
              <a:buNone/>
            </a:pPr>
            <a:r>
              <a:rPr lang="en-GB" sz="3200" dirty="0"/>
              <a:t>Which key word do we use to check multiple conditions?</a:t>
            </a:r>
          </a:p>
          <a:p>
            <a:endParaRPr lang="en-GB" dirty="0"/>
          </a:p>
        </p:txBody>
      </p:sp>
    </p:spTree>
    <p:extLst>
      <p:ext uri="{BB962C8B-B14F-4D97-AF65-F5344CB8AC3E}">
        <p14:creationId xmlns:p14="http://schemas.microsoft.com/office/powerpoint/2010/main" val="3638688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75253"/>
            <a:ext cx="9733721" cy="824948"/>
          </a:xfrm>
        </p:spPr>
        <p:txBody>
          <a:bodyPr/>
          <a:lstStyle/>
          <a:p>
            <a:r>
              <a:rPr lang="en-GB" b="1" dirty="0">
                <a:solidFill>
                  <a:schemeClr val="bg1"/>
                </a:solidFill>
              </a:rPr>
              <a:t>Question 3</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3079543"/>
            <a:ext cx="10118035" cy="698913"/>
          </a:xfrm>
        </p:spPr>
        <p:txBody>
          <a:bodyPr>
            <a:normAutofit fontScale="92500"/>
          </a:bodyPr>
          <a:lstStyle/>
          <a:p>
            <a:pPr marL="0" indent="0">
              <a:buNone/>
            </a:pPr>
            <a:r>
              <a:rPr lang="en-GB" sz="3200" dirty="0"/>
              <a:t>Which operator do we use to check if something is not equal?</a:t>
            </a:r>
          </a:p>
          <a:p>
            <a:endParaRPr lang="en-GB" dirty="0"/>
          </a:p>
        </p:txBody>
      </p:sp>
    </p:spTree>
    <p:extLst>
      <p:ext uri="{BB962C8B-B14F-4D97-AF65-F5344CB8AC3E}">
        <p14:creationId xmlns:p14="http://schemas.microsoft.com/office/powerpoint/2010/main" val="127481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3D19-1115-422D-B31A-F4EC856863A4}"/>
              </a:ext>
            </a:extLst>
          </p:cNvPr>
          <p:cNvSpPr>
            <a:spLocks noGrp="1"/>
          </p:cNvSpPr>
          <p:nvPr>
            <p:ph type="title"/>
          </p:nvPr>
        </p:nvSpPr>
        <p:spPr>
          <a:xfrm>
            <a:off x="1620078" y="775253"/>
            <a:ext cx="9733721" cy="824948"/>
          </a:xfrm>
        </p:spPr>
        <p:txBody>
          <a:bodyPr/>
          <a:lstStyle/>
          <a:p>
            <a:r>
              <a:rPr lang="en-GB" b="1" dirty="0">
                <a:solidFill>
                  <a:schemeClr val="bg1"/>
                </a:solidFill>
              </a:rPr>
              <a:t>Question 4</a:t>
            </a:r>
          </a:p>
        </p:txBody>
      </p:sp>
      <p:sp>
        <p:nvSpPr>
          <p:cNvPr id="3" name="Content Placeholder 2">
            <a:extLst>
              <a:ext uri="{FF2B5EF4-FFF2-40B4-BE49-F238E27FC236}">
                <a16:creationId xmlns:a16="http://schemas.microsoft.com/office/drawing/2014/main" id="{603992AB-7463-4849-AFE8-C91C20C45440}"/>
              </a:ext>
            </a:extLst>
          </p:cNvPr>
          <p:cNvSpPr>
            <a:spLocks noGrp="1"/>
          </p:cNvSpPr>
          <p:nvPr>
            <p:ph idx="1"/>
          </p:nvPr>
        </p:nvSpPr>
        <p:spPr>
          <a:xfrm>
            <a:off x="1620078" y="1779104"/>
            <a:ext cx="9660835" cy="5078896"/>
          </a:xfrm>
        </p:spPr>
        <p:txBody>
          <a:bodyPr>
            <a:normAutofit/>
          </a:bodyPr>
          <a:lstStyle/>
          <a:p>
            <a:pPr marL="0" indent="0">
              <a:buNone/>
            </a:pPr>
            <a:r>
              <a:rPr lang="en-GB" sz="1800" dirty="0"/>
              <a:t>Complete the program by filling in the gaps.</a:t>
            </a:r>
          </a:p>
          <a:p>
            <a:pPr lvl="0"/>
            <a:r>
              <a:rPr lang="en-GB" sz="1800" dirty="0"/>
              <a:t>If a person is 15 or over, they are old enough to use the fairground ride.</a:t>
            </a:r>
          </a:p>
          <a:p>
            <a:pPr lvl="0"/>
            <a:r>
              <a:rPr lang="en-GB" sz="1800" dirty="0"/>
              <a:t>If they are not 15 or over but are 1.5 m or taller, they are tall enough to use the fairground ride.</a:t>
            </a:r>
          </a:p>
          <a:p>
            <a:pPr lvl="0"/>
            <a:r>
              <a:rPr lang="en-GB" sz="1800" dirty="0"/>
              <a:t>If they are not 15 or over and not 1.5 m or taller, they are not old enough and not tall enough to use the fairground ride.</a:t>
            </a:r>
          </a:p>
          <a:p>
            <a:pPr marL="0" indent="0">
              <a:buNone/>
            </a:pPr>
            <a:r>
              <a:rPr lang="en-GB" sz="1800" dirty="0">
                <a:latin typeface="Courier" pitchFamily="2" charset="0"/>
              </a:rPr>
              <a:t>age = </a:t>
            </a:r>
            <a:r>
              <a:rPr lang="en-GB" sz="1800" dirty="0">
                <a:solidFill>
                  <a:srgbClr val="FF0000"/>
                </a:solidFill>
                <a:latin typeface="Courier" pitchFamily="2" charset="0"/>
              </a:rPr>
              <a:t>______</a:t>
            </a:r>
            <a:r>
              <a:rPr lang="en-GB" sz="1800" dirty="0">
                <a:latin typeface="Courier" pitchFamily="2" charset="0"/>
              </a:rPr>
              <a:t>(input('Enter age: '))</a:t>
            </a:r>
          </a:p>
          <a:p>
            <a:pPr marL="0" indent="0">
              <a:buNone/>
            </a:pPr>
            <a:r>
              <a:rPr lang="en-GB" sz="1800" dirty="0">
                <a:latin typeface="Courier" pitchFamily="2" charset="0"/>
              </a:rPr>
              <a:t>height = </a:t>
            </a:r>
            <a:r>
              <a:rPr lang="en-GB" sz="1800" dirty="0">
                <a:solidFill>
                  <a:srgbClr val="FF0000"/>
                </a:solidFill>
                <a:latin typeface="Courier" pitchFamily="2" charset="0"/>
              </a:rPr>
              <a:t>__________</a:t>
            </a:r>
            <a:r>
              <a:rPr lang="en-GB" sz="1800" dirty="0">
                <a:latin typeface="Courier" pitchFamily="2" charset="0"/>
              </a:rPr>
              <a:t>(input('Enter height: '))</a:t>
            </a:r>
          </a:p>
          <a:p>
            <a:pPr marL="0" indent="0">
              <a:buNone/>
            </a:pPr>
            <a:r>
              <a:rPr lang="en-GB" sz="1800" dirty="0">
                <a:latin typeface="Courier" pitchFamily="2" charset="0"/>
              </a:rPr>
              <a:t>if age </a:t>
            </a:r>
            <a:r>
              <a:rPr lang="en-GB" sz="1800" dirty="0">
                <a:solidFill>
                  <a:srgbClr val="FF0000"/>
                </a:solidFill>
                <a:latin typeface="Courier" pitchFamily="2" charset="0"/>
              </a:rPr>
              <a:t>____</a:t>
            </a:r>
            <a:r>
              <a:rPr lang="en-GB" sz="1800" dirty="0">
                <a:latin typeface="Courier" pitchFamily="2" charset="0"/>
              </a:rPr>
              <a:t> 15:</a:t>
            </a:r>
          </a:p>
          <a:p>
            <a:pPr marL="0" indent="0">
              <a:buNone/>
            </a:pPr>
            <a:r>
              <a:rPr lang="en-GB" sz="1800" dirty="0">
                <a:latin typeface="Courier" pitchFamily="2" charset="0"/>
              </a:rPr>
              <a:t>    print('Old enough to ride')</a:t>
            </a:r>
          </a:p>
          <a:p>
            <a:pPr marL="0" indent="0">
              <a:buNone/>
            </a:pPr>
            <a:r>
              <a:rPr lang="en-GB" sz="1800" dirty="0">
                <a:solidFill>
                  <a:srgbClr val="FF0000"/>
                </a:solidFill>
                <a:latin typeface="Courier" pitchFamily="2" charset="0"/>
              </a:rPr>
              <a:t>________</a:t>
            </a:r>
            <a:r>
              <a:rPr lang="en-GB" sz="1800" dirty="0">
                <a:latin typeface="Courier" pitchFamily="2" charset="0"/>
              </a:rPr>
              <a:t> height </a:t>
            </a:r>
            <a:r>
              <a:rPr lang="en-GB" sz="1800" dirty="0">
                <a:solidFill>
                  <a:srgbClr val="FF0000"/>
                </a:solidFill>
                <a:latin typeface="Courier" pitchFamily="2" charset="0"/>
              </a:rPr>
              <a:t>________ </a:t>
            </a:r>
            <a:r>
              <a:rPr lang="en-GB" sz="1800" dirty="0">
                <a:latin typeface="Courier" pitchFamily="2" charset="0"/>
              </a:rPr>
              <a:t>:</a:t>
            </a:r>
          </a:p>
          <a:p>
            <a:pPr marL="0" indent="0">
              <a:buNone/>
            </a:pPr>
            <a:r>
              <a:rPr lang="en-GB" sz="1800" dirty="0">
                <a:latin typeface="Courier" pitchFamily="2" charset="0"/>
              </a:rPr>
              <a:t>    print</a:t>
            </a:r>
            <a:r>
              <a:rPr lang="en-GB" sz="1800" dirty="0">
                <a:solidFill>
                  <a:srgbClr val="FF0000"/>
                </a:solidFill>
                <a:latin typeface="Courier" pitchFamily="2" charset="0"/>
              </a:rPr>
              <a:t>(________________________________)</a:t>
            </a:r>
          </a:p>
          <a:p>
            <a:pPr marL="0" indent="0">
              <a:buNone/>
            </a:pPr>
            <a:r>
              <a:rPr lang="en-GB" sz="1800" dirty="0">
                <a:solidFill>
                  <a:srgbClr val="FF0000"/>
                </a:solidFill>
                <a:latin typeface="Courier" pitchFamily="2" charset="0"/>
              </a:rPr>
              <a:t>__________</a:t>
            </a:r>
          </a:p>
          <a:p>
            <a:pPr marL="0" indent="0">
              <a:buNone/>
            </a:pPr>
            <a:r>
              <a:rPr lang="en-GB" sz="1800" dirty="0">
                <a:latin typeface="Courier" pitchFamily="2" charset="0"/>
              </a:rPr>
              <a:t>    print('Sorry not old enough and not tall enough to ride')</a:t>
            </a:r>
          </a:p>
          <a:p>
            <a:pPr marL="0" indent="0">
              <a:buNone/>
            </a:pPr>
            <a:endParaRPr lang="en-GB" dirty="0"/>
          </a:p>
        </p:txBody>
      </p:sp>
      <p:sp>
        <p:nvSpPr>
          <p:cNvPr id="4" name="Rectangle 3">
            <a:extLst>
              <a:ext uri="{FF2B5EF4-FFF2-40B4-BE49-F238E27FC236}">
                <a16:creationId xmlns:a16="http://schemas.microsoft.com/office/drawing/2014/main" id="{B143B13E-604B-804E-931F-ECB9733CD326}"/>
              </a:ext>
            </a:extLst>
          </p:cNvPr>
          <p:cNvSpPr/>
          <p:nvPr/>
        </p:nvSpPr>
        <p:spPr>
          <a:xfrm>
            <a:off x="2562587" y="3429000"/>
            <a:ext cx="736099"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int</a:t>
            </a:r>
            <a:r>
              <a:rPr lang="en-GB" dirty="0">
                <a:latin typeface="Courier" pitchFamily="2" charset="0"/>
              </a:rPr>
              <a:t> </a:t>
            </a:r>
            <a:endParaRPr lang="en-US" dirty="0">
              <a:latin typeface="Courier" pitchFamily="2" charset="0"/>
            </a:endParaRPr>
          </a:p>
        </p:txBody>
      </p:sp>
      <p:sp>
        <p:nvSpPr>
          <p:cNvPr id="5" name="Rectangle 4">
            <a:extLst>
              <a:ext uri="{FF2B5EF4-FFF2-40B4-BE49-F238E27FC236}">
                <a16:creationId xmlns:a16="http://schemas.microsoft.com/office/drawing/2014/main" id="{0558514A-B4F0-1845-9E0C-B42C41FD75E7}"/>
              </a:ext>
            </a:extLst>
          </p:cNvPr>
          <p:cNvSpPr/>
          <p:nvPr/>
        </p:nvSpPr>
        <p:spPr>
          <a:xfrm>
            <a:off x="3108122" y="3798332"/>
            <a:ext cx="1011815"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float</a:t>
            </a:r>
            <a:r>
              <a:rPr lang="en-GB" dirty="0">
                <a:latin typeface="Courier" pitchFamily="2" charset="0"/>
              </a:rPr>
              <a:t> </a:t>
            </a:r>
            <a:endParaRPr lang="en-US" dirty="0">
              <a:latin typeface="Courier" pitchFamily="2" charset="0"/>
            </a:endParaRPr>
          </a:p>
        </p:txBody>
      </p:sp>
      <p:sp>
        <p:nvSpPr>
          <p:cNvPr id="6" name="Rectangle 5">
            <a:extLst>
              <a:ext uri="{FF2B5EF4-FFF2-40B4-BE49-F238E27FC236}">
                <a16:creationId xmlns:a16="http://schemas.microsoft.com/office/drawing/2014/main" id="{48F1879A-2219-6549-AE42-9E0BC239A223}"/>
              </a:ext>
            </a:extLst>
          </p:cNvPr>
          <p:cNvSpPr/>
          <p:nvPr/>
        </p:nvSpPr>
        <p:spPr>
          <a:xfrm>
            <a:off x="2692733" y="4167664"/>
            <a:ext cx="513282"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&gt;=</a:t>
            </a:r>
            <a:r>
              <a:rPr lang="en-GB" dirty="0"/>
              <a:t> </a:t>
            </a:r>
            <a:endParaRPr lang="en-US" dirty="0"/>
          </a:p>
        </p:txBody>
      </p:sp>
      <p:sp>
        <p:nvSpPr>
          <p:cNvPr id="7" name="Rectangle 6">
            <a:extLst>
              <a:ext uri="{FF2B5EF4-FFF2-40B4-BE49-F238E27FC236}">
                <a16:creationId xmlns:a16="http://schemas.microsoft.com/office/drawing/2014/main" id="{0EC7F94C-EDBD-9742-8232-5E5716338A0E}"/>
              </a:ext>
            </a:extLst>
          </p:cNvPr>
          <p:cNvSpPr/>
          <p:nvPr/>
        </p:nvSpPr>
        <p:spPr>
          <a:xfrm>
            <a:off x="1945144" y="4933986"/>
            <a:ext cx="873957"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elif </a:t>
            </a:r>
            <a:endParaRPr lang="en-US" dirty="0">
              <a:latin typeface="Courier" pitchFamily="2" charset="0"/>
            </a:endParaRPr>
          </a:p>
        </p:txBody>
      </p:sp>
      <p:sp>
        <p:nvSpPr>
          <p:cNvPr id="8" name="Rectangle 7">
            <a:extLst>
              <a:ext uri="{FF2B5EF4-FFF2-40B4-BE49-F238E27FC236}">
                <a16:creationId xmlns:a16="http://schemas.microsoft.com/office/drawing/2014/main" id="{915F4720-9C77-DC41-8DE0-1FBF1C2BC8CD}"/>
              </a:ext>
            </a:extLst>
          </p:cNvPr>
          <p:cNvSpPr/>
          <p:nvPr/>
        </p:nvSpPr>
        <p:spPr>
          <a:xfrm>
            <a:off x="3910373" y="4933986"/>
            <a:ext cx="1149674"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&gt;= 1.5</a:t>
            </a:r>
            <a:r>
              <a:rPr lang="en-GB" dirty="0">
                <a:latin typeface="Courier" pitchFamily="2" charset="0"/>
              </a:rPr>
              <a:t> </a:t>
            </a:r>
            <a:endParaRPr lang="en-US" dirty="0">
              <a:latin typeface="Courier" pitchFamily="2" charset="0"/>
            </a:endParaRPr>
          </a:p>
        </p:txBody>
      </p:sp>
      <p:sp>
        <p:nvSpPr>
          <p:cNvPr id="9" name="Rectangle 8">
            <a:extLst>
              <a:ext uri="{FF2B5EF4-FFF2-40B4-BE49-F238E27FC236}">
                <a16:creationId xmlns:a16="http://schemas.microsoft.com/office/drawing/2014/main" id="{5D0A7F75-E1A0-544D-9E04-1901C7B1E95E}"/>
              </a:ext>
            </a:extLst>
          </p:cNvPr>
          <p:cNvSpPr/>
          <p:nvPr/>
        </p:nvSpPr>
        <p:spPr>
          <a:xfrm>
            <a:off x="3819544" y="5303318"/>
            <a:ext cx="3217547"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'Tall enough to ride'</a:t>
            </a:r>
            <a:r>
              <a:rPr lang="en-GB" dirty="0">
                <a:latin typeface="Courier" pitchFamily="2" charset="0"/>
              </a:rPr>
              <a:t> </a:t>
            </a:r>
            <a:endParaRPr lang="en-US" dirty="0">
              <a:latin typeface="Courier" pitchFamily="2" charset="0"/>
            </a:endParaRPr>
          </a:p>
        </p:txBody>
      </p:sp>
      <p:sp>
        <p:nvSpPr>
          <p:cNvPr id="10" name="Rectangle 9">
            <a:extLst>
              <a:ext uri="{FF2B5EF4-FFF2-40B4-BE49-F238E27FC236}">
                <a16:creationId xmlns:a16="http://schemas.microsoft.com/office/drawing/2014/main" id="{BB5EED63-E729-2344-9D69-2D09B1A0D21A}"/>
              </a:ext>
            </a:extLst>
          </p:cNvPr>
          <p:cNvSpPr/>
          <p:nvPr/>
        </p:nvSpPr>
        <p:spPr>
          <a:xfrm>
            <a:off x="1945144" y="5672650"/>
            <a:ext cx="873957" cy="369332"/>
          </a:xfrm>
          <a:prstGeom prst="rect">
            <a:avLst/>
          </a:prstGeom>
        </p:spPr>
        <p:txBody>
          <a:bodyPr wrap="none">
            <a:spAutoFit/>
          </a:bodyPr>
          <a:lstStyle/>
          <a:p>
            <a:r>
              <a:rPr lang="en-GB" dirty="0">
                <a:solidFill>
                  <a:srgbClr val="FF0000"/>
                </a:solidFill>
                <a:latin typeface="Courier" pitchFamily="2" charset="0"/>
                <a:ea typeface="Calibri" panose="020F0502020204030204" pitchFamily="34" charset="0"/>
                <a:cs typeface="Times New Roman" panose="02020603050405020304" pitchFamily="18" charset="0"/>
              </a:rPr>
              <a:t>else:</a:t>
            </a:r>
            <a:endParaRPr lang="en-GB" dirty="0">
              <a:latin typeface="Courier" pitchFamily="2"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4444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xEl>
                                              <p:pRg st="0" end="0"/>
                                            </p:txEl>
                                          </p:spTgt>
                                        </p:tgtEl>
                                        <p:attrNameLst>
                                          <p:attrName>style.visibility</p:attrName>
                                        </p:attrNameLst>
                                      </p:cBhvr>
                                      <p:to>
                                        <p:strVal val="visible"/>
                                      </p:to>
                                    </p:set>
                                    <p:anim calcmode="lin" valueType="num">
                                      <p:cBhvr additive="base">
                                        <p:cTn id="25"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P spid="9" grpId="0"/>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570382" y="805071"/>
            <a:ext cx="9783417" cy="795130"/>
          </a:xfrm>
        </p:spPr>
        <p:txBody>
          <a:bodyPr/>
          <a:lstStyle/>
          <a:p>
            <a:r>
              <a:rPr lang="en-GB" b="1" dirty="0">
                <a:solidFill>
                  <a:schemeClr val="bg1"/>
                </a:solidFill>
              </a:rPr>
              <a:t>Programming constructs </a:t>
            </a:r>
          </a:p>
        </p:txBody>
      </p:sp>
      <p:sp>
        <p:nvSpPr>
          <p:cNvPr id="3" name="Rectangle 2">
            <a:extLst>
              <a:ext uri="{FF2B5EF4-FFF2-40B4-BE49-F238E27FC236}">
                <a16:creationId xmlns:a16="http://schemas.microsoft.com/office/drawing/2014/main" id="{C79E9C7D-9397-184F-BA89-4B13CD25793F}"/>
              </a:ext>
            </a:extLst>
          </p:cNvPr>
          <p:cNvSpPr/>
          <p:nvPr/>
        </p:nvSpPr>
        <p:spPr>
          <a:xfrm>
            <a:off x="1570382" y="1985955"/>
            <a:ext cx="9412357" cy="3539430"/>
          </a:xfrm>
          <a:prstGeom prst="rect">
            <a:avLst/>
          </a:prstGeom>
        </p:spPr>
        <p:txBody>
          <a:bodyPr wrap="square">
            <a:spAutoFit/>
          </a:bodyPr>
          <a:lstStyle/>
          <a:p>
            <a:r>
              <a:rPr lang="en-GB" sz="2800" dirty="0">
                <a:latin typeface="Calibri" panose="020F0502020204030204" pitchFamily="34" charset="0"/>
                <a:ea typeface="Calibri" panose="020F0502020204030204" pitchFamily="34" charset="0"/>
                <a:cs typeface="Calibri" panose="020F0502020204030204" pitchFamily="34" charset="0"/>
              </a:rPr>
              <a:t>There are three fundamental programming constructs:</a:t>
            </a:r>
            <a:endParaRPr lang="en-GB" sz="28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buFont typeface="Symbol" pitchFamily="2" charset="2"/>
              <a:buChar char=""/>
            </a:pPr>
            <a:r>
              <a:rPr lang="en-GB" sz="2800" dirty="0">
                <a:latin typeface="Calibri" panose="020F0502020204030204" pitchFamily="34" charset="0"/>
                <a:ea typeface="Calibri" panose="020F0502020204030204" pitchFamily="34" charset="0"/>
                <a:cs typeface="Calibri" panose="020F0502020204030204" pitchFamily="34" charset="0"/>
              </a:rPr>
              <a:t>Sequence</a:t>
            </a:r>
            <a:endParaRPr lang="en-GB" sz="28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buFont typeface="Symbol" pitchFamily="2" charset="2"/>
              <a:buChar char=""/>
            </a:pPr>
            <a:r>
              <a:rPr lang="en-GB" sz="2800" dirty="0">
                <a:latin typeface="Calibri" panose="020F0502020204030204" pitchFamily="34" charset="0"/>
                <a:ea typeface="Calibri" panose="020F0502020204030204" pitchFamily="34" charset="0"/>
                <a:cs typeface="Calibri" panose="020F0502020204030204" pitchFamily="34" charset="0"/>
              </a:rPr>
              <a:t>Selection</a:t>
            </a:r>
            <a:endParaRPr lang="en-GB" sz="2800" dirty="0">
              <a:latin typeface="Calibri" panose="020F0502020204030204" pitchFamily="34" charset="0"/>
              <a:ea typeface="Calibri" panose="020F0502020204030204" pitchFamily="34" charset="0"/>
              <a:cs typeface="Times New Roman" panose="02020603050405020304" pitchFamily="18" charset="0"/>
            </a:endParaRPr>
          </a:p>
          <a:p>
            <a:pPr marL="342900" lvl="0" indent="-342900">
              <a:buFont typeface="Symbol" pitchFamily="2" charset="2"/>
              <a:buChar char=""/>
            </a:pPr>
            <a:r>
              <a:rPr lang="en-GB" sz="2800" dirty="0">
                <a:latin typeface="Calibri" panose="020F0502020204030204" pitchFamily="34" charset="0"/>
                <a:ea typeface="Calibri" panose="020F0502020204030204" pitchFamily="34" charset="0"/>
                <a:cs typeface="Calibri" panose="020F0502020204030204" pitchFamily="34" charset="0"/>
              </a:rPr>
              <a:t>Iteration</a:t>
            </a:r>
          </a:p>
          <a:p>
            <a:pPr lvl="0"/>
            <a:endParaRPr lang="en-GB" sz="2800" dirty="0">
              <a:latin typeface="Calibri" panose="020F0502020204030204" pitchFamily="34" charset="0"/>
              <a:ea typeface="Calibri" panose="020F0502020204030204" pitchFamily="34" charset="0"/>
              <a:cs typeface="Times New Roman" panose="02020603050405020304" pitchFamily="18" charset="0"/>
            </a:endParaRPr>
          </a:p>
          <a:p>
            <a:r>
              <a:rPr lang="en-GB" sz="2800" dirty="0">
                <a:latin typeface="Calibri" panose="020F0502020204030204" pitchFamily="34" charset="0"/>
                <a:ea typeface="Calibri" panose="020F0502020204030204" pitchFamily="34" charset="0"/>
                <a:cs typeface="Calibri" panose="020F0502020204030204" pitchFamily="34" charset="0"/>
              </a:rPr>
              <a:t>In this module, all the programs you have written involved selection. They all made decisions and did something based on the outcome of those decisions.</a:t>
            </a:r>
            <a:endParaRPr lang="en-GB" sz="2800" dirty="0">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147511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B4D36-2121-417F-8DFB-DF55C238082A}"/>
              </a:ext>
            </a:extLst>
          </p:cNvPr>
          <p:cNvSpPr>
            <a:spLocks noGrp="1"/>
          </p:cNvSpPr>
          <p:nvPr>
            <p:ph type="title"/>
          </p:nvPr>
        </p:nvSpPr>
        <p:spPr>
          <a:xfrm>
            <a:off x="1590260" y="805070"/>
            <a:ext cx="9763539" cy="824947"/>
          </a:xfrm>
        </p:spPr>
        <p:txBody>
          <a:bodyPr/>
          <a:lstStyle/>
          <a:p>
            <a:r>
              <a:rPr lang="en-GB" b="1" dirty="0">
                <a:solidFill>
                  <a:schemeClr val="bg1"/>
                </a:solidFill>
              </a:rPr>
              <a:t>Quiz 6</a:t>
            </a:r>
          </a:p>
        </p:txBody>
      </p:sp>
      <p:pic>
        <p:nvPicPr>
          <p:cNvPr id="4" name="Picture 3" descr="A picture containing athletic game, basketball, sport&#10;&#10;Description automatically generated">
            <a:extLst>
              <a:ext uri="{FF2B5EF4-FFF2-40B4-BE49-F238E27FC236}">
                <a16:creationId xmlns:a16="http://schemas.microsoft.com/office/drawing/2014/main" id="{86C06FE2-289A-4C00-A1BA-CBDA9C78A3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55718" y="1930687"/>
            <a:ext cx="4480563" cy="4389999"/>
          </a:xfrm>
          <a:prstGeom prst="rect">
            <a:avLst/>
          </a:prstGeom>
        </p:spPr>
      </p:pic>
    </p:spTree>
    <p:extLst>
      <p:ext uri="{BB962C8B-B14F-4D97-AF65-F5344CB8AC3E}">
        <p14:creationId xmlns:p14="http://schemas.microsoft.com/office/powerpoint/2010/main" val="19122472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LMS_API_VERSION" val="SCORM 1.2"/>
  <p:tag name="ISPRING_ULTRA_SCORM_COURSE_ID" val="B2F28440-3F38-4AC1-BB86-635335899A93"/>
  <p:tag name="ISPRING_CMI5_LAUNCH_METHOD" val="any window"/>
  <p:tag name="ISPRING_SCORM_ENDPOINT" val="&lt;endpoint&gt;&lt;enable&gt;0&lt;/enable&gt;&lt;lrs&gt;http://&lt;/lrs&gt;&lt;auth&gt;0&lt;/auth&gt;&lt;login&gt;&lt;/login&gt;&lt;password&gt;&lt;/password&gt;&lt;key&gt;&lt;/key&gt;&lt;name&gt;&lt;/name&gt;&lt;email&gt;&lt;/email&gt;&lt;/endpoint&gt;&#10;"/>
  <p:tag name="ISPRINGCLOUDFOLDERID" val="1"/>
  <p:tag name="ISPRINGONLINEFOLDERID" val="1"/>
  <p:tag name="ISPRING_OUTPUT_FOLDER" val="[[&quot;zë\uFFFD{BC11997A-5E99-4319-8E8A-E2B22FF8F5F7}&quot;,&quot;N:\\Vocational Editorial\\Commissioned projects\\ICT\\Progress in Computing\\00 Desk editor\\05b Proofread T&amp;L\\Final files to be renamed\\09 Programming in Python selection\\Lesson 6&quot;]]"/>
  <p:tag name="ISPRING_PUBLISH_SETTINGS" val="{&quot;commonSettings&quot;:{&quot;webSettings&quot;:{&quot;useMobileViewer&quot;:&quot;T_FALSE&quot;},&quot;lmsSettings&quot;:{&quot;useMobileViewer&quot;:&quot;T_FALSE&quot;},&quot;cloudSettings&quot;:{&quot;useMobileViewer&quot;:&quot;T_FALSE&quot;},&quot;ispringLmsSettings&quot;:{&quot;useMobileViewer&quot;:&quot;T_FALSE&quot;},&quot;playerId&quot;:&quot;universal&quot;},&quot;advancedSettings&quot;:{&quot;enableTextAllocation&quot;:&quot;T_TRUE&quot;,&quot;viewingFromLocalDrive&quot;:&quot;T_TRUE&quot;,&quot;contentScale&quot;:75,&quot;contentScaleMode&quot;:&quot;SCALE&quot;},&quot;compressionSettings&quot;:{&quot;imageSettings&quot;:{&quot;jpegQuality&quot;:70,&quot;optimizeImageForResolution&quot;:&quot;T_FALSE&quot;},&quot;audioQuality&quot;:70,&quot;videoQuality&quot;:65},&quot;protectionSettings&quot;:{&quot;watermarkEnabled&quot;:&quot;T_FALSE&quot;,&quot;watermarkPosition&quot;:&quot;MIDDLE_CENTER&quot;,&quot;openWatermarkUrl&quot;:&quot;T_FALSE&quot;,&quot;openWatermarkWebPageInNewWindow&quot;:&quot;T_FALSE&quot;,&quot;displayAfterEnabled&quot;:&quot;T_FALSE&quot;,&quot;displayUntilEnabled&quot;:&quot;T_FALSE&quot;,&quot;domainRestrictionEnabled&quot;:&quot;T_FALSE&quot;,&quot;enablePassword&quot;:&quot;T_FALSE&quot;},&quot;videoSettings&quot;:{&quot;videoCompressionSettings&quot;:{&quot;audioQuality&quot;:70,&quot;videoQuality&quot;:75},&quot;secondsOnEachSlide&quot;:5,&quot;hostingSettings&quot;:{}},&quot;ispringOnlineSettings&quot;:{&quot;onlineDestinationFolderId&quot;:&quot;1&quot;},&quot;cloudSettings&quot;:{&quot;onlineDestinationFolderId&quot;:&quot;1&quot;},&quot;wordSettings&quot;:{&quot;printCopies&quot;:1}}"/>
  <p:tag name="ISPRING_SCORM_RATE_SLIDES" val="0"/>
  <p:tag name="ISPRING_SCORM_RATE_QUIZZES" val="0"/>
  <p:tag name="ISPRING_SCORM_PASSING_SCORE" val="0.000000"/>
  <p:tag name="ISPRING_CURRENT_PLAYER_ID" val="universal"/>
  <p:tag name="ISPRING_PRESENTATION_TITLE" val="PiC_09_presentation6"/>
  <p:tag name="ISPRING_FIRST_PUBLI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TotalTime>
  <Words>345</Words>
  <Application>Microsoft Office PowerPoint</Application>
  <PresentationFormat>Widescreen</PresentationFormat>
  <Paragraphs>53</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Calibri</vt:lpstr>
      <vt:lpstr>Calibri Light</vt:lpstr>
      <vt:lpstr>Courier</vt:lpstr>
      <vt:lpstr>Symbol</vt:lpstr>
      <vt:lpstr>Times New Roman</vt:lpstr>
      <vt:lpstr>Office Theme</vt:lpstr>
      <vt:lpstr>Programming in python: selection</vt:lpstr>
      <vt:lpstr>Objectives</vt:lpstr>
      <vt:lpstr>if elif else statements: a reminder </vt:lpstr>
      <vt:lpstr>Activity 6.1: Programming in Python: selection, Section 6</vt:lpstr>
      <vt:lpstr>Question 1 </vt:lpstr>
      <vt:lpstr>Question 2</vt:lpstr>
      <vt:lpstr>Question 3</vt:lpstr>
      <vt:lpstr>Question 4</vt:lpstr>
      <vt:lpstr>Programming constructs </vt:lpstr>
      <vt:lpstr>Quiz 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PiC_09_presentation6</dc:title>
  <dc:creator>Lea Albrechtsen</dc:creator>
  <cp:lastModifiedBy>Jessica Dunne</cp:lastModifiedBy>
  <cp:revision>34</cp:revision>
  <dcterms:created xsi:type="dcterms:W3CDTF">2020-11-04T15:22:46Z</dcterms:created>
  <dcterms:modified xsi:type="dcterms:W3CDTF">2021-06-18T09:03:18Z</dcterms:modified>
</cp:coreProperties>
</file>