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73" r:id="rId6"/>
    <p:sldId id="274" r:id="rId7"/>
    <p:sldId id="275" r:id="rId8"/>
    <p:sldId id="260" r:id="rId9"/>
    <p:sldId id="27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05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110" d="100"/>
          <a:sy n="110" d="100"/>
        </p:scale>
        <p:origin x="28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descr="Shape, rectangle&#10;&#10;Description automatically generated">
            <a:extLst>
              <a:ext uri="{FF2B5EF4-FFF2-40B4-BE49-F238E27FC236}">
                <a16:creationId xmlns:a16="http://schemas.microsoft.com/office/drawing/2014/main" id="{80040EBE-1101-1E45-9013-1637FEE48CC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25758"/>
            <a:ext cx="12192000" cy="1656196"/>
          </a:xfrm>
          <a:prstGeom prst="rect">
            <a:avLst/>
          </a:prstGeom>
        </p:spPr>
      </p:pic>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624917" y="2325757"/>
            <a:ext cx="10308126" cy="896454"/>
          </a:xfrm>
        </p:spPr>
        <p:txBody>
          <a:bodyPr>
            <a:normAutofit fontScale="90000"/>
          </a:bodyPr>
          <a:lstStyle/>
          <a:p>
            <a:pPr algn="l"/>
            <a:r>
              <a:rPr lang="en-GB" b="1" dirty="0"/>
              <a:t>Programming in python: selection</a:t>
            </a:r>
          </a:p>
        </p:txBody>
      </p:sp>
      <p:sp>
        <p:nvSpPr>
          <p:cNvPr id="11" name="Rectangle 10">
            <a:extLst>
              <a:ext uri="{FF2B5EF4-FFF2-40B4-BE49-F238E27FC236}">
                <a16:creationId xmlns:a16="http://schemas.microsoft.com/office/drawing/2014/main" id="{5346DB13-257C-4484-9CB0-C755672B55D3}"/>
              </a:ext>
            </a:extLst>
          </p:cNvPr>
          <p:cNvSpPr/>
          <p:nvPr/>
        </p:nvSpPr>
        <p:spPr>
          <a:xfrm>
            <a:off x="4222882" y="3438971"/>
            <a:ext cx="2667718" cy="461665"/>
          </a:xfrm>
          <a:prstGeom prst="rect">
            <a:avLst/>
          </a:prstGeom>
        </p:spPr>
        <p:txBody>
          <a:bodyPr wrap="none">
            <a:spAutoFit/>
          </a:bodyPr>
          <a:lstStyle/>
          <a:p>
            <a:r>
              <a:rPr lang="en-GB" sz="2400" b="1" dirty="0">
                <a:solidFill>
                  <a:srgbClr val="F05900"/>
                </a:solidFill>
                <a:latin typeface="Calibri" panose="020F0502020204030204" pitchFamily="34" charset="0"/>
                <a:ea typeface="Times New Roman" panose="02020603050405020304" pitchFamily="18" charset="0"/>
              </a:rPr>
              <a:t>Lesson 1: Selection </a:t>
            </a:r>
            <a:endParaRPr lang="en-GB" sz="2400" b="1" dirty="0">
              <a:solidFill>
                <a:srgbClr val="F05900"/>
              </a:solidFill>
            </a:endParaRPr>
          </a:p>
        </p:txBody>
      </p:sp>
      <p:pic>
        <p:nvPicPr>
          <p:cNvPr id="5" name="Picture 4">
            <a:extLst>
              <a:ext uri="{FF2B5EF4-FFF2-40B4-BE49-F238E27FC236}">
                <a16:creationId xmlns:a16="http://schemas.microsoft.com/office/drawing/2014/main" id="{F53F7F09-E716-C749-818E-A3109354F59A}"/>
              </a:ext>
            </a:extLst>
          </p:cNvPr>
          <p:cNvPicPr>
            <a:picLocks noChangeAspect="1"/>
          </p:cNvPicPr>
          <p:nvPr/>
        </p:nvPicPr>
        <p:blipFill>
          <a:blip r:embed="rId2"/>
          <a:stretch>
            <a:fillRect/>
          </a:stretch>
        </p:blipFill>
        <p:spPr>
          <a:xfrm>
            <a:off x="7115169" y="3438955"/>
            <a:ext cx="2937413" cy="24439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139" y="824948"/>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10139" y="2215485"/>
            <a:ext cx="8368748" cy="3170099"/>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how to use selection to make a decision</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how to write an algorithm for a program that includes a decision</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how to write a program in Python that makes a decision based on the result of a comparison.</a:t>
            </a:r>
          </a:p>
          <a:p>
            <a:pPr lvl="0">
              <a:spcAft>
                <a:spcPts val="0"/>
              </a:spcAft>
            </a:pPr>
            <a:endParaRPr lang="en-GB" sz="2800" dirty="0">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10139" y="815008"/>
            <a:ext cx="9773478" cy="805070"/>
          </a:xfrm>
        </p:spPr>
        <p:txBody>
          <a:bodyPr/>
          <a:lstStyle/>
          <a:p>
            <a:r>
              <a:rPr lang="en-GB" b="1" dirty="0">
                <a:solidFill>
                  <a:schemeClr val="bg1"/>
                </a:solidFill>
              </a:rPr>
              <a:t>Making a decision </a:t>
            </a:r>
          </a:p>
        </p:txBody>
      </p:sp>
      <p:sp>
        <p:nvSpPr>
          <p:cNvPr id="3" name="Rectangle 2">
            <a:extLst>
              <a:ext uri="{FF2B5EF4-FFF2-40B4-BE49-F238E27FC236}">
                <a16:creationId xmlns:a16="http://schemas.microsoft.com/office/drawing/2014/main" id="{A4E169AB-D985-0746-9E71-E1EC4AC32366}"/>
              </a:ext>
            </a:extLst>
          </p:cNvPr>
          <p:cNvSpPr/>
          <p:nvPr/>
        </p:nvSpPr>
        <p:spPr>
          <a:xfrm>
            <a:off x="1610139" y="2203319"/>
            <a:ext cx="5038855" cy="2677656"/>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cs typeface="Times New Roman" panose="02020603050405020304" pitchFamily="18" charset="0"/>
              </a:rPr>
              <a:t>We make </a:t>
            </a:r>
            <a:r>
              <a:rPr lang="en-GB" sz="2400" b="1" dirty="0">
                <a:solidFill>
                  <a:srgbClr val="ED7D31"/>
                </a:solidFill>
                <a:latin typeface="Calibri" panose="020F0502020204030204" pitchFamily="34" charset="0"/>
                <a:ea typeface="Calibri" panose="020F0502020204030204" pitchFamily="34" charset="0"/>
                <a:cs typeface="Times New Roman" panose="02020603050405020304" pitchFamily="18" charset="0"/>
              </a:rPr>
              <a:t>decisions</a:t>
            </a:r>
            <a:r>
              <a:rPr lang="en-GB" sz="2400" dirty="0">
                <a:latin typeface="Calibri" panose="020F0502020204030204" pitchFamily="34" charset="0"/>
                <a:ea typeface="Calibri" panose="020F0502020204030204" pitchFamily="34" charset="0"/>
                <a:cs typeface="Times New Roman" panose="02020603050405020304" pitchFamily="18" charset="0"/>
              </a:rPr>
              <a:t> all the time, by selecting a course of action based on the data we receive.</a:t>
            </a:r>
          </a:p>
          <a:p>
            <a:r>
              <a:rPr lang="en-GB" sz="2400" dirty="0">
                <a:latin typeface="Calibri" panose="020F0502020204030204" pitchFamily="34" charset="0"/>
                <a:ea typeface="Calibri" panose="020F0502020204030204" pitchFamily="34" charset="0"/>
                <a:cs typeface="Times New Roman" panose="02020603050405020304" pitchFamily="18" charset="0"/>
              </a:rPr>
              <a:t>For example, if we look outside and see it is raining, we take an umbrella, but, if we look outside and see it is not raining, we do not take an umbrella.</a:t>
            </a:r>
          </a:p>
        </p:txBody>
      </p:sp>
      <p:pic>
        <p:nvPicPr>
          <p:cNvPr id="6" name="Picture 5" descr="A couple of boys holding an umbrella&#10;&#10;Description automatically generated with low confidence">
            <a:extLst>
              <a:ext uri="{FF2B5EF4-FFF2-40B4-BE49-F238E27FC236}">
                <a16:creationId xmlns:a16="http://schemas.microsoft.com/office/drawing/2014/main" id="{61C0A4E0-2154-7347-8A3A-C5C482D25D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49440" y="2124043"/>
            <a:ext cx="3410352" cy="2878568"/>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75253"/>
            <a:ext cx="9733721" cy="824948"/>
          </a:xfrm>
        </p:spPr>
        <p:txBody>
          <a:bodyPr/>
          <a:lstStyle/>
          <a:p>
            <a:r>
              <a:rPr lang="en-GB" b="1" dirty="0">
                <a:solidFill>
                  <a:schemeClr val="bg1"/>
                </a:solidFill>
              </a:rPr>
              <a:t>Decisions in algorithms </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1825625"/>
            <a:ext cx="8736496" cy="1812724"/>
          </a:xfrm>
        </p:spPr>
        <p:txBody>
          <a:bodyPr>
            <a:normAutofit/>
          </a:bodyPr>
          <a:lstStyle/>
          <a:p>
            <a:pPr marL="0" indent="0">
              <a:buNone/>
            </a:pPr>
            <a:r>
              <a:rPr lang="en-GB" dirty="0"/>
              <a:t>In a flow diagram, we use a diamond to represent a decision.</a:t>
            </a:r>
          </a:p>
          <a:p>
            <a:pPr marL="0" indent="0">
              <a:buNone/>
            </a:pPr>
            <a:r>
              <a:rPr lang="en-GB" dirty="0"/>
              <a:t>The course of action selected depends on the answer to the question inside the diamond.</a:t>
            </a:r>
          </a:p>
          <a:p>
            <a:endParaRPr lang="en-GB" dirty="0"/>
          </a:p>
        </p:txBody>
      </p:sp>
      <p:pic>
        <p:nvPicPr>
          <p:cNvPr id="7" name="Picture 6" descr="A picture containing text, clock&#10;&#10;Description automatically generated">
            <a:extLst>
              <a:ext uri="{FF2B5EF4-FFF2-40B4-BE49-F238E27FC236}">
                <a16:creationId xmlns:a16="http://schemas.microsoft.com/office/drawing/2014/main" id="{8FB39F27-2AAE-794E-A2BB-6605B5F0EA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42236" y="3638349"/>
            <a:ext cx="4707527" cy="2092234"/>
          </a:xfrm>
          <a:prstGeom prst="rect">
            <a:avLst/>
          </a:prstGeom>
        </p:spPr>
      </p:pic>
    </p:spTree>
    <p:extLst>
      <p:ext uri="{BB962C8B-B14F-4D97-AF65-F5344CB8AC3E}">
        <p14:creationId xmlns:p14="http://schemas.microsoft.com/office/powerpoint/2010/main" val="300574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05071"/>
            <a:ext cx="9783417" cy="795130"/>
          </a:xfrm>
        </p:spPr>
        <p:txBody>
          <a:bodyPr/>
          <a:lstStyle/>
          <a:p>
            <a:r>
              <a:rPr lang="en-GB" b="1" dirty="0">
                <a:solidFill>
                  <a:schemeClr val="bg1"/>
                </a:solidFill>
              </a:rPr>
              <a:t>1.1: Half price or full price?</a:t>
            </a:r>
          </a:p>
        </p:txBody>
      </p:sp>
      <p:pic>
        <p:nvPicPr>
          <p:cNvPr id="4" name="Picture 3" descr="A picture containing athletic game, basketball, sport&#10;&#10;Description automatically generated">
            <a:extLst>
              <a:ext uri="{FF2B5EF4-FFF2-40B4-BE49-F238E27FC236}">
                <a16:creationId xmlns:a16="http://schemas.microsoft.com/office/drawing/2014/main" id="{6AC83F6F-B564-49E3-BF42-3E935EFFE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5718" y="1964432"/>
            <a:ext cx="4480563" cy="4389999"/>
          </a:xfrm>
          <a:prstGeom prst="rect">
            <a:avLst/>
          </a:prstGeom>
        </p:spPr>
      </p:pic>
    </p:spTree>
    <p:extLst>
      <p:ext uri="{BB962C8B-B14F-4D97-AF65-F5344CB8AC3E}">
        <p14:creationId xmlns:p14="http://schemas.microsoft.com/office/powerpoint/2010/main" val="214751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05071"/>
            <a:ext cx="9783417" cy="795130"/>
          </a:xfrm>
        </p:spPr>
        <p:txBody>
          <a:bodyPr/>
          <a:lstStyle/>
          <a:p>
            <a:r>
              <a:rPr lang="en-GB" b="1" dirty="0">
                <a:solidFill>
                  <a:schemeClr val="bg1"/>
                </a:solidFill>
              </a:rPr>
              <a:t>Half price or full price?</a:t>
            </a:r>
          </a:p>
        </p:txBody>
      </p:sp>
      <p:pic>
        <p:nvPicPr>
          <p:cNvPr id="6" name="Picture 5" descr="Diagram&#10;&#10;Description automatically generated">
            <a:extLst>
              <a:ext uri="{FF2B5EF4-FFF2-40B4-BE49-F238E27FC236}">
                <a16:creationId xmlns:a16="http://schemas.microsoft.com/office/drawing/2014/main" id="{F820E588-3565-0040-BD4E-CEB9D6B1A2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03637" y="1780177"/>
            <a:ext cx="4784725" cy="4619734"/>
          </a:xfrm>
          <a:prstGeom prst="rect">
            <a:avLst/>
          </a:prstGeom>
        </p:spPr>
      </p:pic>
    </p:spTree>
    <p:extLst>
      <p:ext uri="{BB962C8B-B14F-4D97-AF65-F5344CB8AC3E}">
        <p14:creationId xmlns:p14="http://schemas.microsoft.com/office/powerpoint/2010/main" val="4251826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05071"/>
            <a:ext cx="10621618" cy="795130"/>
          </a:xfrm>
        </p:spPr>
        <p:txBody>
          <a:bodyPr>
            <a:noAutofit/>
          </a:bodyPr>
          <a:lstStyle/>
          <a:p>
            <a:r>
              <a:rPr lang="en-GB" sz="3600" b="1" dirty="0">
                <a:solidFill>
                  <a:schemeClr val="bg1"/>
                </a:solidFill>
              </a:rPr>
              <a:t>Activity 1.2: Programming in Python: selection, Section 1</a:t>
            </a:r>
          </a:p>
        </p:txBody>
      </p:sp>
      <p:pic>
        <p:nvPicPr>
          <p:cNvPr id="4" name="Picture 3" descr="A picture containing athletic game, basketball, sport&#10;&#10;Description automatically generated">
            <a:extLst>
              <a:ext uri="{FF2B5EF4-FFF2-40B4-BE49-F238E27FC236}">
                <a16:creationId xmlns:a16="http://schemas.microsoft.com/office/drawing/2014/main" id="{E11573FF-F6E8-4FDA-B371-AFE56E12A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5718" y="1964432"/>
            <a:ext cx="4480563" cy="4389999"/>
          </a:xfrm>
          <a:prstGeom prst="rect">
            <a:avLst/>
          </a:prstGeom>
        </p:spPr>
      </p:pic>
    </p:spTree>
    <p:extLst>
      <p:ext uri="{BB962C8B-B14F-4D97-AF65-F5344CB8AC3E}">
        <p14:creationId xmlns:p14="http://schemas.microsoft.com/office/powerpoint/2010/main" val="4218680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1" y="785191"/>
            <a:ext cx="9753599" cy="845862"/>
          </a:xfrm>
        </p:spPr>
        <p:txBody>
          <a:bodyPr/>
          <a:lstStyle/>
          <a:p>
            <a:r>
              <a:rPr lang="en-GB" b="1" dirty="0">
                <a:solidFill>
                  <a:schemeClr val="bg1"/>
                </a:solidFill>
              </a:rPr>
              <a:t>Questions  </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1" y="1938837"/>
            <a:ext cx="8488680" cy="4351338"/>
          </a:xfrm>
        </p:spPr>
        <p:txBody>
          <a:bodyPr>
            <a:noAutofit/>
          </a:bodyPr>
          <a:lstStyle/>
          <a:p>
            <a:pPr marL="342900" lvl="0" indent="-342900">
              <a:buFont typeface="+mj-lt"/>
              <a:buAutoNum type="arabicPeriod"/>
            </a:pPr>
            <a:r>
              <a:rPr lang="en-GB" sz="2000" dirty="0">
                <a:latin typeface="Calibri" panose="020F0502020204030204" pitchFamily="34" charset="0"/>
                <a:ea typeface="Calibri" panose="020F0502020204030204" pitchFamily="34" charset="0"/>
                <a:cs typeface="Times New Roman" panose="02020603050405020304" pitchFamily="18" charset="0"/>
              </a:rPr>
              <a:t>What is important about the condition used in an if statement?</a:t>
            </a:r>
          </a:p>
          <a:p>
            <a:pPr marL="342900" lvl="0" indent="-342900">
              <a:buFont typeface="+mj-lt"/>
              <a:buAutoNum type="arabicPeriod"/>
            </a:pPr>
            <a:r>
              <a:rPr lang="en-GB" sz="2000" dirty="0">
                <a:latin typeface="Calibri" panose="020F0502020204030204" pitchFamily="34" charset="0"/>
                <a:ea typeface="Calibri" panose="020F0502020204030204" pitchFamily="34" charset="0"/>
                <a:cs typeface="Times New Roman" panose="02020603050405020304" pitchFamily="18" charset="0"/>
              </a:rPr>
              <a:t>How must an if statement end?</a:t>
            </a:r>
          </a:p>
          <a:p>
            <a:pPr marL="342900" lvl="0" indent="-342900">
              <a:buFont typeface="+mj-lt"/>
              <a:buAutoNum type="arabicPeriod"/>
            </a:pPr>
            <a:r>
              <a:rPr lang="en-GB" sz="2000" dirty="0">
                <a:latin typeface="Calibri" panose="020F0502020204030204" pitchFamily="34" charset="0"/>
                <a:ea typeface="Calibri" panose="020F0502020204030204" pitchFamily="34" charset="0"/>
                <a:cs typeface="Times New Roman" panose="02020603050405020304" pitchFamily="18" charset="0"/>
              </a:rPr>
              <a:t>How can we tell which part of the program runs if the if statement is true?</a:t>
            </a:r>
          </a:p>
          <a:p>
            <a:pPr marL="342900" lvl="0" indent="-342900">
              <a:buFont typeface="+mj-lt"/>
              <a:buAutoNum type="arabicPeriod"/>
            </a:pPr>
            <a:r>
              <a:rPr lang="en-GB" sz="2000" dirty="0">
                <a:latin typeface="Calibri" panose="020F0502020204030204" pitchFamily="34" charset="0"/>
                <a:ea typeface="Calibri" panose="020F0502020204030204" pitchFamily="34" charset="0"/>
                <a:cs typeface="Times New Roman" panose="02020603050405020304" pitchFamily="18" charset="0"/>
              </a:rPr>
              <a:t>What do you use Boolean operators for?</a:t>
            </a:r>
          </a:p>
          <a:p>
            <a:pPr marL="0"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5.   What are the following symbols and what do they each mean?</a:t>
            </a:r>
          </a:p>
          <a:p>
            <a:pPr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	&gt; </a:t>
            </a:r>
          </a:p>
          <a:p>
            <a:pPr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	&gt;=</a:t>
            </a:r>
          </a:p>
          <a:p>
            <a:pPr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	&lt; </a:t>
            </a:r>
          </a:p>
          <a:p>
            <a:pPr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	&lt;=</a:t>
            </a:r>
          </a:p>
          <a:p>
            <a:pPr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	==</a:t>
            </a:r>
          </a:p>
          <a:p>
            <a:pPr indent="0">
              <a:buNone/>
            </a:pPr>
            <a:r>
              <a:rPr lang="en-GB" sz="2000" dirty="0">
                <a:latin typeface="Calibri" panose="020F0502020204030204" pitchFamily="34" charset="0"/>
                <a:ea typeface="Calibri" panose="020F0502020204030204" pitchFamily="34" charset="0"/>
                <a:cs typeface="Times New Roman" panose="02020603050405020304" pitchFamily="18" charset="0"/>
              </a:rPr>
              <a:t>	!=</a:t>
            </a:r>
          </a:p>
        </p:txBody>
      </p:sp>
    </p:spTree>
    <p:extLst>
      <p:ext uri="{BB962C8B-B14F-4D97-AF65-F5344CB8AC3E}">
        <p14:creationId xmlns:p14="http://schemas.microsoft.com/office/powerpoint/2010/main" val="3538170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 calcmode="lin" valueType="num">
                                      <p:cBhvr additive="base">
                                        <p:cTn id="4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B4D36-2121-417F-8DFB-DF55C238082A}"/>
              </a:ext>
            </a:extLst>
          </p:cNvPr>
          <p:cNvSpPr>
            <a:spLocks noGrp="1"/>
          </p:cNvSpPr>
          <p:nvPr>
            <p:ph type="title"/>
          </p:nvPr>
        </p:nvSpPr>
        <p:spPr>
          <a:xfrm>
            <a:off x="1590260" y="805070"/>
            <a:ext cx="9763539" cy="824947"/>
          </a:xfrm>
        </p:spPr>
        <p:txBody>
          <a:bodyPr/>
          <a:lstStyle/>
          <a:p>
            <a:r>
              <a:rPr lang="en-GB" b="1" dirty="0">
                <a:solidFill>
                  <a:schemeClr val="bg1"/>
                </a:solidFill>
              </a:rPr>
              <a:t>Quiz 1</a:t>
            </a:r>
          </a:p>
        </p:txBody>
      </p:sp>
      <p:pic>
        <p:nvPicPr>
          <p:cNvPr id="4" name="Picture 3" descr="A picture containing athletic game, basketball, sport&#10;&#10;Description automatically generated">
            <a:extLst>
              <a:ext uri="{FF2B5EF4-FFF2-40B4-BE49-F238E27FC236}">
                <a16:creationId xmlns:a16="http://schemas.microsoft.com/office/drawing/2014/main" id="{58542671-B61A-4895-9B8A-C1292A2898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5718" y="1964432"/>
            <a:ext cx="4480563" cy="4389999"/>
          </a:xfrm>
          <a:prstGeom prst="rect">
            <a:avLst/>
          </a:prstGeom>
        </p:spPr>
      </p:pic>
    </p:spTree>
    <p:extLst>
      <p:ext uri="{BB962C8B-B14F-4D97-AF65-F5344CB8AC3E}">
        <p14:creationId xmlns:p14="http://schemas.microsoft.com/office/powerpoint/2010/main" val="1912247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337</TotalTime>
  <Words>237</Words>
  <Application>Microsoft Office PowerPoint</Application>
  <PresentationFormat>Widescreen</PresentationFormat>
  <Paragraphs>29</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Calibri Light</vt:lpstr>
      <vt:lpstr>Symbol</vt:lpstr>
      <vt:lpstr>Times New Roman</vt:lpstr>
      <vt:lpstr>Office Theme</vt:lpstr>
      <vt:lpstr>Programming in python: selection</vt:lpstr>
      <vt:lpstr>Objectives</vt:lpstr>
      <vt:lpstr>Making a decision </vt:lpstr>
      <vt:lpstr>Decisions in algorithms </vt:lpstr>
      <vt:lpstr>1.1: Half price or full price?</vt:lpstr>
      <vt:lpstr>Half price or full price?</vt:lpstr>
      <vt:lpstr>Activity 1.2: Programming in Python: selection, Section 1</vt:lpstr>
      <vt:lpstr>Questions  </vt:lpstr>
      <vt:lpstr>Quiz 1</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24</cp:revision>
  <dcterms:created xsi:type="dcterms:W3CDTF">2020-11-04T15:22:46Z</dcterms:created>
  <dcterms:modified xsi:type="dcterms:W3CDTF">2021-06-17T13:49:43Z</dcterms:modified>
</cp:coreProperties>
</file>