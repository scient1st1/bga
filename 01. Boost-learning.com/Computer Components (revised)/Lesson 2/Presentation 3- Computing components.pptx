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36BC21E-73F2-4247-98FF-703D97632735}">
  <a:tblStyle styleId="{036BC21E-73F2-4247-98FF-703D9763273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 name="Google Shape;82;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3" name="Google Shape;83;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 name="Google Shape;9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1" name="Google Shape;9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8" name="Google Shape;9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 name="Google Shape;10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39b24bdc74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339b24bdc74_0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2" name="Google Shape;112;g339b24bdc74_0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GB"/>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9" name="Google Shape;11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6" name="Google Shape;12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3" name="Google Shape;13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0" name="Google Shape;15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7" name="Google Shape;15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 name="Google Shape;163;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 name="Google Shape;170;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1" name="Google Shape;171;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 name="Google Shape;177;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 name="Google Shape;184;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5" name="Google Shape;185;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4" name="Shape 14"/>
        <p:cNvGrpSpPr/>
        <p:nvPr/>
      </p:nvGrpSpPr>
      <p:grpSpPr>
        <a:xfrm>
          <a:off x="0" y="0"/>
          <a:ext cx="0" cy="0"/>
          <a:chOff x="0" y="0"/>
          <a:chExt cx="0" cy="0"/>
        </a:xfrm>
      </p:grpSpPr>
      <p:sp>
        <p:nvSpPr>
          <p:cNvPr id="15" name="Google Shape;15;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 name="Google Shape;16;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 name="Shape 17"/>
        <p:cNvGrpSpPr/>
        <p:nvPr/>
      </p:nvGrpSpPr>
      <p:grpSpPr>
        <a:xfrm>
          <a:off x="0" y="0"/>
          <a:ext cx="0" cy="0"/>
          <a:chOff x="0" y="0"/>
          <a:chExt cx="0" cy="0"/>
        </a:xfrm>
      </p:grpSpPr>
      <p:sp>
        <p:nvSpPr>
          <p:cNvPr id="18" name="Google Shape;18;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 name="Google Shape;20;p3"/>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1" name="Google Shape;21;p3"/>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2" name="Google Shape;22;p3"/>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800" u="none" cap="none" strike="noStrike">
                <a:solidFill>
                  <a:schemeClr val="dk1"/>
                </a:solidFill>
                <a:latin typeface="Calibri"/>
                <a:ea typeface="Calibri"/>
                <a:cs typeface="Calibri"/>
                <a:sym typeface="Calibri"/>
              </a:defRPr>
            </a:lvl1pPr>
            <a:lvl2pPr indent="0" lvl="1" marL="0" marR="0" rtl="0" algn="l">
              <a:spcBef>
                <a:spcPts val="0"/>
              </a:spcBef>
              <a:buNone/>
              <a:defRPr b="0" i="0" sz="1800" u="none" cap="none" strike="noStrike">
                <a:solidFill>
                  <a:schemeClr val="dk1"/>
                </a:solidFill>
                <a:latin typeface="Calibri"/>
                <a:ea typeface="Calibri"/>
                <a:cs typeface="Calibri"/>
                <a:sym typeface="Calibri"/>
              </a:defRPr>
            </a:lvl2pPr>
            <a:lvl3pPr indent="0" lvl="2" marL="0" marR="0" rtl="0" algn="l">
              <a:spcBef>
                <a:spcPts val="0"/>
              </a:spcBef>
              <a:buNone/>
              <a:defRPr b="0" i="0" sz="1800" u="none" cap="none" strike="noStrike">
                <a:solidFill>
                  <a:schemeClr val="dk1"/>
                </a:solidFill>
                <a:latin typeface="Calibri"/>
                <a:ea typeface="Calibri"/>
                <a:cs typeface="Calibri"/>
                <a:sym typeface="Calibri"/>
              </a:defRPr>
            </a:lvl3pPr>
            <a:lvl4pPr indent="0" lvl="3" marL="0" marR="0" rtl="0" algn="l">
              <a:spcBef>
                <a:spcPts val="0"/>
              </a:spcBef>
              <a:buNone/>
              <a:defRPr b="0" i="0" sz="1800" u="none" cap="none" strike="noStrike">
                <a:solidFill>
                  <a:schemeClr val="dk1"/>
                </a:solidFill>
                <a:latin typeface="Calibri"/>
                <a:ea typeface="Calibri"/>
                <a:cs typeface="Calibri"/>
                <a:sym typeface="Calibri"/>
              </a:defRPr>
            </a:lvl4pPr>
            <a:lvl5pPr indent="0" lvl="4" marL="0" marR="0" rtl="0" algn="l">
              <a:spcBef>
                <a:spcPts val="0"/>
              </a:spcBef>
              <a:buNone/>
              <a:defRPr b="0" i="0" sz="1800" u="none" cap="none" strike="noStrike">
                <a:solidFill>
                  <a:schemeClr val="dk1"/>
                </a:solidFill>
                <a:latin typeface="Calibri"/>
                <a:ea typeface="Calibri"/>
                <a:cs typeface="Calibri"/>
                <a:sym typeface="Calibri"/>
              </a:defRPr>
            </a:lvl5pPr>
            <a:lvl6pPr indent="0" lvl="5" marL="0" marR="0" rtl="0" algn="l">
              <a:spcBef>
                <a:spcPts val="0"/>
              </a:spcBef>
              <a:buNone/>
              <a:defRPr b="0" i="0" sz="1800" u="none" cap="none" strike="noStrike">
                <a:solidFill>
                  <a:schemeClr val="dk1"/>
                </a:solidFill>
                <a:latin typeface="Calibri"/>
                <a:ea typeface="Calibri"/>
                <a:cs typeface="Calibri"/>
                <a:sym typeface="Calibri"/>
              </a:defRPr>
            </a:lvl6pPr>
            <a:lvl7pPr indent="0" lvl="6" marL="0" marR="0" rtl="0" algn="l">
              <a:spcBef>
                <a:spcPts val="0"/>
              </a:spcBef>
              <a:buNone/>
              <a:defRPr b="0" i="0" sz="1800" u="none" cap="none" strike="noStrike">
                <a:solidFill>
                  <a:schemeClr val="dk1"/>
                </a:solidFill>
                <a:latin typeface="Calibri"/>
                <a:ea typeface="Calibri"/>
                <a:cs typeface="Calibri"/>
                <a:sym typeface="Calibri"/>
              </a:defRPr>
            </a:lvl7pPr>
            <a:lvl8pPr indent="0" lvl="7" marL="0" marR="0" rtl="0" algn="l">
              <a:spcBef>
                <a:spcPts val="0"/>
              </a:spcBef>
              <a:buNone/>
              <a:defRPr b="0" i="0" sz="1800" u="none" cap="none" strike="noStrike">
                <a:solidFill>
                  <a:schemeClr val="dk1"/>
                </a:solidFill>
                <a:latin typeface="Calibri"/>
                <a:ea typeface="Calibri"/>
                <a:cs typeface="Calibri"/>
                <a:sym typeface="Calibri"/>
              </a:defRPr>
            </a:lvl8pPr>
            <a:lvl9pPr indent="0" lvl="8" marL="0" marR="0" rtl="0" algn="l">
              <a:spcBef>
                <a:spcPts val="0"/>
              </a:spcBef>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3" name="Shape 23"/>
        <p:cNvGrpSpPr/>
        <p:nvPr/>
      </p:nvGrpSpPr>
      <p:grpSpPr>
        <a:xfrm>
          <a:off x="0" y="0"/>
          <a:ext cx="0" cy="0"/>
          <a:chOff x="0" y="0"/>
          <a:chExt cx="0" cy="0"/>
        </a:xfrm>
      </p:grpSpPr>
      <p:sp>
        <p:nvSpPr>
          <p:cNvPr id="24" name="Google Shape;24;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6" name="Google Shape;26;p4"/>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7" name="Google Shape;27;p4"/>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8" name="Google Shape;28;p4"/>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9" name="Shape 29"/>
        <p:cNvGrpSpPr/>
        <p:nvPr/>
      </p:nvGrpSpPr>
      <p:grpSpPr>
        <a:xfrm>
          <a:off x="0" y="0"/>
          <a:ext cx="0" cy="0"/>
          <a:chOff x="0" y="0"/>
          <a:chExt cx="0" cy="0"/>
        </a:xfrm>
      </p:grpSpPr>
      <p:sp>
        <p:nvSpPr>
          <p:cNvPr id="30" name="Google Shape;30;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 name="Google Shape;33;p5"/>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4" name="Google Shape;34;p5"/>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5" name="Google Shape;35;p5"/>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6" name="Shape 36"/>
        <p:cNvGrpSpPr/>
        <p:nvPr/>
      </p:nvGrpSpPr>
      <p:grpSpPr>
        <a:xfrm>
          <a:off x="0" y="0"/>
          <a:ext cx="0" cy="0"/>
          <a:chOff x="0" y="0"/>
          <a:chExt cx="0" cy="0"/>
        </a:xfrm>
      </p:grpSpPr>
      <p:sp>
        <p:nvSpPr>
          <p:cNvPr id="37" name="Google Shape;37;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9" name="Google Shape;39;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1" name="Google Shape;41;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6"/>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3" name="Google Shape;43;p6"/>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4" name="Google Shape;44;p6"/>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8" name="Google Shape;48;p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9" name="Google Shape;49;p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2" name="Google Shape;52;p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3" name="Google Shape;53;p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7" name="Google Shape;57;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8" name="Google Shape;58;p9"/>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9" name="Google Shape;59;p9"/>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0" name="Google Shape;60;p9"/>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5183188" y="987425"/>
            <a:ext cx="6172200" cy="4873625"/>
          </a:xfrm>
          <a:prstGeom prst="rect">
            <a:avLst/>
          </a:prstGeom>
          <a:noFill/>
          <a:ln>
            <a:noFill/>
          </a:ln>
        </p:spPr>
      </p:sp>
      <p:sp>
        <p:nvSpPr>
          <p:cNvPr id="64" name="Google Shape;64;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5" name="Google Shape;65;p10"/>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6" name="Google Shape;66;p10"/>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7" name="Google Shape;67;p10"/>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1" name="Google Shape;71;p11"/>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2" name="Google Shape;72;p11"/>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3" name="Google Shape;73;p11"/>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7" name="Google Shape;77;p12"/>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8" name="Google Shape;78;p12"/>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9" name="Google Shape;79;p12"/>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1.xml"/><Relationship Id="rId12" Type="http://schemas.openxmlformats.org/officeDocument/2006/relationships/slideLayout" Target="../slideLayouts/slideLayout11.xml"/><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1"/>
          <p:cNvSpPr txBox="1"/>
          <p:nvPr/>
        </p:nvSpPr>
        <p:spPr>
          <a:xfrm>
            <a:off x="7547114" y="6380197"/>
            <a:ext cx="4114800" cy="365125"/>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0" i="0" lang="en-GB" sz="1200" u="none" cap="none" strike="noStrike">
                <a:solidFill>
                  <a:schemeClr val="dk1"/>
                </a:solidFill>
                <a:latin typeface="Calibri"/>
                <a:ea typeface="Calibri"/>
                <a:cs typeface="Calibri"/>
                <a:sym typeface="Calibri"/>
              </a:rPr>
              <a:t>© Hodder &amp; Stoughton Limited 2021</a:t>
            </a:r>
            <a:endParaRPr/>
          </a:p>
        </p:txBody>
      </p:sp>
      <p:pic>
        <p:nvPicPr>
          <p:cNvPr descr="Shape, rectangle&#10;&#10;Description automatically generated" id="13" name="Google Shape;13;p1"/>
          <p:cNvPicPr preferRelativeResize="0"/>
          <p:nvPr/>
        </p:nvPicPr>
        <p:blipFill rotWithShape="1">
          <a:blip r:embed="rId1">
            <a:alphaModFix/>
          </a:blip>
          <a:srcRect b="0" l="0" r="0" t="0"/>
          <a:stretch/>
        </p:blipFill>
        <p:spPr>
          <a:xfrm>
            <a:off x="0" y="0"/>
            <a:ext cx="12238036" cy="1647814"/>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txBox="1"/>
          <p:nvPr>
            <p:ph type="ctrTitle"/>
          </p:nvPr>
        </p:nvSpPr>
        <p:spPr>
          <a:xfrm>
            <a:off x="1079541" y="3250362"/>
            <a:ext cx="6226128" cy="852692"/>
          </a:xfrm>
          <a:prstGeom prst="rect">
            <a:avLst/>
          </a:prstGeom>
          <a:noFill/>
          <a:ln>
            <a:noFill/>
          </a:ln>
        </p:spPr>
        <p:txBody>
          <a:bodyPr anchorCtr="0" anchor="b" bIns="45700" lIns="91425" spcFirstLastPara="1" rIns="91425" wrap="square" tIns="45700">
            <a:normAutofit/>
          </a:bodyPr>
          <a:lstStyle/>
          <a:p>
            <a:pPr indent="0" lvl="0" marL="0" rtl="0" algn="r">
              <a:lnSpc>
                <a:spcPct val="90000"/>
              </a:lnSpc>
              <a:spcBef>
                <a:spcPts val="0"/>
              </a:spcBef>
              <a:spcAft>
                <a:spcPts val="0"/>
              </a:spcAft>
              <a:buClr>
                <a:schemeClr val="dk1"/>
              </a:buClr>
              <a:buSzPts val="4800"/>
              <a:buFont typeface="Calibri"/>
              <a:buNone/>
            </a:pPr>
            <a:r>
              <a:rPr b="1" lang="en-GB" sz="4800"/>
              <a:t>Computing components</a:t>
            </a:r>
            <a:endParaRPr/>
          </a:p>
        </p:txBody>
      </p:sp>
      <p:sp>
        <p:nvSpPr>
          <p:cNvPr id="86" name="Google Shape;86;p13"/>
          <p:cNvSpPr/>
          <p:nvPr/>
        </p:nvSpPr>
        <p:spPr>
          <a:xfrm>
            <a:off x="3596961" y="4103054"/>
            <a:ext cx="3708708" cy="40011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1" i="0" lang="en-GB" sz="2000" u="none" cap="none" strike="noStrike">
                <a:solidFill>
                  <a:srgbClr val="0089A7"/>
                </a:solidFill>
                <a:latin typeface="Calibri"/>
                <a:ea typeface="Calibri"/>
                <a:cs typeface="Calibri"/>
                <a:sym typeface="Calibri"/>
              </a:rPr>
              <a:t>Lesson 3: Storage devices/media </a:t>
            </a:r>
            <a:endParaRPr b="1" i="0" sz="2000" u="none" cap="none" strike="noStrike">
              <a:solidFill>
                <a:srgbClr val="0089A7"/>
              </a:solidFill>
              <a:latin typeface="Calibri"/>
              <a:ea typeface="Calibri"/>
              <a:cs typeface="Calibri"/>
              <a:sym typeface="Calibri"/>
            </a:endParaRPr>
          </a:p>
        </p:txBody>
      </p:sp>
      <p:pic>
        <p:nvPicPr>
          <p:cNvPr id="87" name="Google Shape;87;p13"/>
          <p:cNvPicPr preferRelativeResize="0"/>
          <p:nvPr/>
        </p:nvPicPr>
        <p:blipFill rotWithShape="1">
          <a:blip r:embed="rId3">
            <a:alphaModFix/>
          </a:blip>
          <a:srcRect b="0" l="0" r="0" t="0"/>
          <a:stretch/>
        </p:blipFill>
        <p:spPr>
          <a:xfrm>
            <a:off x="7305669" y="2885133"/>
            <a:ext cx="3115069" cy="2435843"/>
          </a:xfrm>
          <a:prstGeom prst="rect">
            <a:avLst/>
          </a:prstGeom>
          <a:noFill/>
          <a:ln>
            <a:noFill/>
          </a:ln>
          <a:effectLst>
            <a:outerShdw blurRad="50800" rotWithShape="0" algn="tl" dir="2700000" dist="38100">
              <a:srgbClr val="000000">
                <a:alpha val="4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4"/>
          <p:cNvSpPr txBox="1"/>
          <p:nvPr>
            <p:ph type="title"/>
          </p:nvPr>
        </p:nvSpPr>
        <p:spPr>
          <a:xfrm>
            <a:off x="1593636" y="840449"/>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Objectives</a:t>
            </a:r>
            <a:endParaRPr/>
          </a:p>
        </p:txBody>
      </p:sp>
      <p:sp>
        <p:nvSpPr>
          <p:cNvPr id="94" name="Google Shape;94;p14"/>
          <p:cNvSpPr/>
          <p:nvPr/>
        </p:nvSpPr>
        <p:spPr>
          <a:xfrm>
            <a:off x="1593636" y="2321940"/>
            <a:ext cx="7013651" cy="353943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3200">
                <a:solidFill>
                  <a:schemeClr val="dk1"/>
                </a:solidFill>
                <a:latin typeface="Calibri"/>
                <a:ea typeface="Calibri"/>
                <a:cs typeface="Calibri"/>
                <a:sym typeface="Calibri"/>
              </a:rPr>
              <a:t>In this lesson, you will learn how to:</a:t>
            </a:r>
            <a:endParaRPr sz="5400">
              <a:solidFill>
                <a:schemeClr val="dk1"/>
              </a:solidFill>
              <a:latin typeface="Times New Roman"/>
              <a:ea typeface="Times New Roman"/>
              <a:cs typeface="Times New Roman"/>
              <a:sym typeface="Times New Roman"/>
            </a:endParaRPr>
          </a:p>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explain the difference between storage devices and storage media</a:t>
            </a:r>
            <a:endParaRPr/>
          </a:p>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explain the difference between primary and secondary storage</a:t>
            </a:r>
            <a:endParaRPr/>
          </a:p>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identify the different types of storage devices/media</a:t>
            </a:r>
            <a:endParaRPr/>
          </a:p>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justify the most appropriate storage device/storage medium for a given scenario.</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5"/>
          <p:cNvSpPr txBox="1"/>
          <p:nvPr>
            <p:ph type="title"/>
          </p:nvPr>
        </p:nvSpPr>
        <p:spPr>
          <a:xfrm>
            <a:off x="1588711" y="844826"/>
            <a:ext cx="9773478"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Storage devices and storage media</a:t>
            </a:r>
            <a:endParaRPr/>
          </a:p>
        </p:txBody>
      </p:sp>
      <p:sp>
        <p:nvSpPr>
          <p:cNvPr id="101" name="Google Shape;101;p15"/>
          <p:cNvSpPr/>
          <p:nvPr/>
        </p:nvSpPr>
        <p:spPr>
          <a:xfrm>
            <a:off x="1588710" y="2111881"/>
            <a:ext cx="9465370" cy="415498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A </a:t>
            </a:r>
            <a:r>
              <a:rPr b="1" lang="en-GB" sz="2400">
                <a:solidFill>
                  <a:srgbClr val="0089A7"/>
                </a:solidFill>
                <a:latin typeface="Calibri"/>
                <a:ea typeface="Calibri"/>
                <a:cs typeface="Calibri"/>
                <a:sym typeface="Calibri"/>
              </a:rPr>
              <a:t>storage device</a:t>
            </a:r>
            <a:r>
              <a:rPr lang="en-GB" sz="2400">
                <a:solidFill>
                  <a:srgbClr val="0089A7"/>
                </a:solidFill>
                <a:latin typeface="Calibri"/>
                <a:ea typeface="Calibri"/>
                <a:cs typeface="Calibri"/>
                <a:sym typeface="Calibri"/>
              </a:rPr>
              <a:t> </a:t>
            </a:r>
            <a:r>
              <a:rPr lang="en-GB" sz="2400">
                <a:solidFill>
                  <a:schemeClr val="dk1"/>
                </a:solidFill>
                <a:latin typeface="Calibri"/>
                <a:ea typeface="Calibri"/>
                <a:cs typeface="Calibri"/>
                <a:sym typeface="Calibri"/>
              </a:rPr>
              <a:t>is the hardware or computer peripheral that stores data or saves data to a storage medium.</a:t>
            </a:r>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Magnetic hard drives, memory sticks and Solid State drives store data, while CD drives, DVD drives, Blu-ray Disc drives and tape drives save data to a storage medium.</a:t>
            </a:r>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A </a:t>
            </a:r>
            <a:r>
              <a:rPr b="1" lang="en-GB" sz="2400">
                <a:solidFill>
                  <a:srgbClr val="0089A7"/>
                </a:solidFill>
                <a:latin typeface="Calibri"/>
                <a:ea typeface="Calibri"/>
                <a:cs typeface="Calibri"/>
                <a:sym typeface="Calibri"/>
              </a:rPr>
              <a:t>storage medium</a:t>
            </a:r>
            <a:r>
              <a:rPr lang="en-GB" sz="2400">
                <a:solidFill>
                  <a:srgbClr val="0089A7"/>
                </a:solidFill>
                <a:latin typeface="Calibri"/>
                <a:ea typeface="Calibri"/>
                <a:cs typeface="Calibri"/>
                <a:sym typeface="Calibri"/>
              </a:rPr>
              <a:t> </a:t>
            </a:r>
            <a:r>
              <a:rPr lang="en-GB" sz="2400">
                <a:solidFill>
                  <a:schemeClr val="dk1"/>
                </a:solidFill>
                <a:latin typeface="Calibri"/>
                <a:ea typeface="Calibri"/>
                <a:cs typeface="Calibri"/>
                <a:sym typeface="Calibri"/>
              </a:rPr>
              <a:t>is the thing that stores the data for a storage device that cannot store it itself.</a:t>
            </a:r>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Examples of storage media include CDs, DVDs and Blu-ray Disc.</a:t>
            </a:r>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Note that the plural of ‘medium’ is ‘media’, so one CD is an example of a storage medium and five CDs are an example of storage media.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6"/>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4.1: Capacity of storage devices</a:t>
            </a:r>
            <a:endParaRPr/>
          </a:p>
        </p:txBody>
      </p:sp>
      <p:graphicFrame>
        <p:nvGraphicFramePr>
          <p:cNvPr id="108" name="Google Shape;108;p16"/>
          <p:cNvGraphicFramePr/>
          <p:nvPr/>
        </p:nvGraphicFramePr>
        <p:xfrm>
          <a:off x="1338147" y="1862252"/>
          <a:ext cx="3000000" cy="3000000"/>
        </p:xfrm>
        <a:graphic>
          <a:graphicData uri="http://schemas.openxmlformats.org/drawingml/2006/table">
            <a:tbl>
              <a:tblPr>
                <a:noFill/>
                <a:tableStyleId>{036BC21E-73F2-4247-98FF-703D97632735}</a:tableStyleId>
              </a:tblPr>
              <a:tblGrid>
                <a:gridCol w="4496175"/>
                <a:gridCol w="2462200"/>
                <a:gridCol w="2141025"/>
              </a:tblGrid>
              <a:tr h="959000">
                <a:tc>
                  <a:txBody>
                    <a:bodyPr/>
                    <a:lstStyle/>
                    <a:p>
                      <a:pPr indent="0" lvl="0" marL="0" marR="0" rtl="0" algn="ctr">
                        <a:spcBef>
                          <a:spcPts val="0"/>
                        </a:spcBef>
                        <a:spcAft>
                          <a:spcPts val="0"/>
                        </a:spcAft>
                        <a:buNone/>
                      </a:pPr>
                      <a:r>
                        <a:rPr b="1" i="0" lang="en-GB" sz="2800" u="none" cap="none" strike="noStrike">
                          <a:solidFill>
                            <a:srgbClr val="000000"/>
                          </a:solidFill>
                          <a:latin typeface="Calibri"/>
                          <a:ea typeface="Calibri"/>
                          <a:cs typeface="Calibri"/>
                          <a:sym typeface="Calibri"/>
                        </a:rPr>
                        <a:t>Storage device/storage medium</a:t>
                      </a:r>
                      <a:endParaRPr/>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DAF1F3"/>
                    </a:solidFill>
                  </a:tcPr>
                </a:tc>
                <a:tc>
                  <a:txBody>
                    <a:bodyPr/>
                    <a:lstStyle/>
                    <a:p>
                      <a:pPr indent="0" lvl="0" marL="0" marR="0" rtl="0" algn="ctr">
                        <a:spcBef>
                          <a:spcPts val="0"/>
                        </a:spcBef>
                        <a:spcAft>
                          <a:spcPts val="0"/>
                        </a:spcAft>
                        <a:buNone/>
                      </a:pPr>
                      <a:r>
                        <a:rPr b="1" i="0" lang="en-GB" sz="2800" u="none" cap="none" strike="noStrike">
                          <a:solidFill>
                            <a:srgbClr val="000000"/>
                          </a:solidFill>
                          <a:latin typeface="Calibri"/>
                          <a:ea typeface="Calibri"/>
                          <a:cs typeface="Calibri"/>
                          <a:sym typeface="Calibri"/>
                        </a:rPr>
                        <a:t>Storage capacity</a:t>
                      </a:r>
                      <a:endParaRPr/>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DAF1F3"/>
                    </a:solidFill>
                  </a:tcPr>
                </a:tc>
                <a:tc>
                  <a:txBody>
                    <a:bodyPr/>
                    <a:lstStyle/>
                    <a:p>
                      <a:pPr indent="0" lvl="0" marL="0" marR="0" rtl="0" algn="ctr">
                        <a:spcBef>
                          <a:spcPts val="0"/>
                        </a:spcBef>
                        <a:spcAft>
                          <a:spcPts val="0"/>
                        </a:spcAft>
                        <a:buNone/>
                      </a:pPr>
                      <a:r>
                        <a:rPr b="1" i="0" lang="en-GB" sz="2800" u="none" cap="none" strike="noStrike">
                          <a:solidFill>
                            <a:srgbClr val="000000"/>
                          </a:solidFill>
                          <a:latin typeface="Calibri"/>
                          <a:ea typeface="Calibri"/>
                          <a:cs typeface="Calibri"/>
                          <a:sym typeface="Calibri"/>
                        </a:rPr>
                        <a:t>Storage capacity (MB)</a:t>
                      </a:r>
                      <a:endParaRPr/>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DAF1F3"/>
                    </a:solidFill>
                  </a:tcPr>
                </a:tc>
              </a:tr>
              <a:tr h="479500">
                <a:tc>
                  <a:txBody>
                    <a:bodyPr/>
                    <a:lstStyle/>
                    <a:p>
                      <a:pPr indent="0" lvl="0" marL="0" marR="0" rtl="0" algn="l">
                        <a:spcBef>
                          <a:spcPts val="0"/>
                        </a:spcBef>
                        <a:spcAft>
                          <a:spcPts val="0"/>
                        </a:spcAft>
                        <a:buNone/>
                      </a:pPr>
                      <a:r>
                        <a:rPr b="0" i="0" lang="en-GB" sz="2800" u="none" cap="none" strike="noStrike">
                          <a:solidFill>
                            <a:srgbClr val="000000"/>
                          </a:solidFill>
                          <a:latin typeface="Calibri"/>
                          <a:ea typeface="Calibri"/>
                          <a:cs typeface="Calibri"/>
                          <a:sym typeface="Calibri"/>
                        </a:rPr>
                        <a:t>CD drive/CD</a:t>
                      </a:r>
                      <a:endParaRPr/>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i="0" lang="en-GB" sz="2800" u="none" cap="none" strike="noStrike">
                          <a:solidFill>
                            <a:srgbClr val="000000"/>
                          </a:solidFill>
                          <a:latin typeface="Calibri"/>
                          <a:ea typeface="Calibri"/>
                          <a:cs typeface="Calibri"/>
                          <a:sym typeface="Calibri"/>
                        </a:rPr>
                        <a:t>0.7 GB</a:t>
                      </a:r>
                      <a:endParaRPr/>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i="0" lang="en-GB" sz="2800" u="none" cap="none" strike="noStrike">
                          <a:solidFill>
                            <a:srgbClr val="000000"/>
                          </a:solidFill>
                          <a:latin typeface="Calibri"/>
                          <a:ea typeface="Calibri"/>
                          <a:cs typeface="Calibri"/>
                          <a:sym typeface="Calibri"/>
                        </a:rPr>
                        <a:t>700</a:t>
                      </a:r>
                      <a:endParaRPr/>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79500">
                <a:tc>
                  <a:txBody>
                    <a:bodyPr/>
                    <a:lstStyle/>
                    <a:p>
                      <a:pPr indent="0" lvl="0" marL="0" marR="0" rtl="0" algn="l">
                        <a:spcBef>
                          <a:spcPts val="0"/>
                        </a:spcBef>
                        <a:spcAft>
                          <a:spcPts val="0"/>
                        </a:spcAft>
                        <a:buNone/>
                      </a:pPr>
                      <a:r>
                        <a:rPr b="0" i="0" lang="en-GB" sz="2800" u="none" cap="none" strike="noStrike">
                          <a:solidFill>
                            <a:srgbClr val="000000"/>
                          </a:solidFill>
                          <a:latin typeface="Calibri"/>
                          <a:ea typeface="Calibri"/>
                          <a:cs typeface="Calibri"/>
                          <a:sym typeface="Calibri"/>
                        </a:rPr>
                        <a:t>DVD drive/DVD</a:t>
                      </a:r>
                      <a:endParaRPr/>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i="0" lang="en-GB" sz="2800" u="none" cap="none" strike="noStrike">
                          <a:solidFill>
                            <a:srgbClr val="000000"/>
                          </a:solidFill>
                          <a:latin typeface="Calibri"/>
                          <a:ea typeface="Calibri"/>
                          <a:cs typeface="Calibri"/>
                          <a:sym typeface="Calibri"/>
                        </a:rPr>
                        <a:t>4.7 GB</a:t>
                      </a:r>
                      <a:endParaRPr/>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i="0" lang="en-GB" sz="2800" u="none" cap="none" strike="noStrike">
                          <a:solidFill>
                            <a:srgbClr val="000000"/>
                          </a:solidFill>
                          <a:latin typeface="Calibri"/>
                          <a:ea typeface="Calibri"/>
                          <a:cs typeface="Calibri"/>
                          <a:sym typeface="Calibri"/>
                        </a:rPr>
                        <a:t> </a:t>
                      </a:r>
                      <a:endParaRPr/>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79500">
                <a:tc>
                  <a:txBody>
                    <a:bodyPr/>
                    <a:lstStyle/>
                    <a:p>
                      <a:pPr indent="0" lvl="0" marL="0" marR="0" rtl="0" algn="l">
                        <a:spcBef>
                          <a:spcPts val="0"/>
                        </a:spcBef>
                        <a:spcAft>
                          <a:spcPts val="0"/>
                        </a:spcAft>
                        <a:buNone/>
                      </a:pPr>
                      <a:r>
                        <a:rPr b="0" i="0" lang="en-GB" sz="2800" u="none" cap="none" strike="noStrike">
                          <a:solidFill>
                            <a:srgbClr val="000000"/>
                          </a:solidFill>
                          <a:latin typeface="Calibri"/>
                          <a:ea typeface="Calibri"/>
                          <a:cs typeface="Calibri"/>
                          <a:sym typeface="Calibri"/>
                        </a:rPr>
                        <a:t>Blu-ray Disc drive/Blu-ray Disc</a:t>
                      </a:r>
                      <a:endParaRPr/>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i="0" lang="en-GB" sz="2800" u="none" cap="none" strike="noStrike">
                          <a:solidFill>
                            <a:srgbClr val="000000"/>
                          </a:solidFill>
                          <a:latin typeface="Calibri"/>
                          <a:ea typeface="Calibri"/>
                          <a:cs typeface="Calibri"/>
                          <a:sym typeface="Calibri"/>
                        </a:rPr>
                        <a:t>25 GB</a:t>
                      </a:r>
                      <a:endParaRPr/>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i="0" lang="en-GB" sz="2800" u="none" cap="none" strike="noStrike">
                          <a:solidFill>
                            <a:srgbClr val="000000"/>
                          </a:solidFill>
                          <a:latin typeface="Calibri"/>
                          <a:ea typeface="Calibri"/>
                          <a:cs typeface="Calibri"/>
                          <a:sym typeface="Calibri"/>
                        </a:rPr>
                        <a:t> </a:t>
                      </a:r>
                      <a:endParaRPr/>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79500">
                <a:tc>
                  <a:txBody>
                    <a:bodyPr/>
                    <a:lstStyle/>
                    <a:p>
                      <a:pPr indent="0" lvl="0" marL="0" marR="0" rtl="0" algn="l">
                        <a:spcBef>
                          <a:spcPts val="0"/>
                        </a:spcBef>
                        <a:spcAft>
                          <a:spcPts val="0"/>
                        </a:spcAft>
                        <a:buNone/>
                      </a:pPr>
                      <a:r>
                        <a:rPr b="0" i="0" lang="en-GB" sz="2800" u="none" cap="none" strike="noStrike">
                          <a:solidFill>
                            <a:srgbClr val="000000"/>
                          </a:solidFill>
                          <a:latin typeface="Calibri"/>
                          <a:ea typeface="Calibri"/>
                          <a:cs typeface="Calibri"/>
                          <a:sym typeface="Calibri"/>
                        </a:rPr>
                        <a:t>Magnetic hard drive</a:t>
                      </a:r>
                      <a:endParaRPr/>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i="0" lang="en-GB" sz="2800" u="none" cap="none" strike="noStrike">
                          <a:solidFill>
                            <a:srgbClr val="000000"/>
                          </a:solidFill>
                          <a:latin typeface="Calibri"/>
                          <a:ea typeface="Calibri"/>
                          <a:cs typeface="Calibri"/>
                          <a:sym typeface="Calibri"/>
                        </a:rPr>
                        <a:t>2 TB</a:t>
                      </a:r>
                      <a:endParaRPr/>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i="0" lang="en-GB" sz="2800" u="none" cap="none" strike="noStrike">
                          <a:solidFill>
                            <a:srgbClr val="000000"/>
                          </a:solidFill>
                          <a:latin typeface="Calibri"/>
                          <a:ea typeface="Calibri"/>
                          <a:cs typeface="Calibri"/>
                          <a:sym typeface="Calibri"/>
                        </a:rPr>
                        <a:t> </a:t>
                      </a:r>
                      <a:endParaRPr/>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79500">
                <a:tc>
                  <a:txBody>
                    <a:bodyPr/>
                    <a:lstStyle/>
                    <a:p>
                      <a:pPr indent="0" lvl="0" marL="0" marR="0" rtl="0" algn="l">
                        <a:spcBef>
                          <a:spcPts val="0"/>
                        </a:spcBef>
                        <a:spcAft>
                          <a:spcPts val="0"/>
                        </a:spcAft>
                        <a:buNone/>
                      </a:pPr>
                      <a:r>
                        <a:rPr b="0" i="0" lang="en-GB" sz="2800" u="none" cap="none" strike="noStrike">
                          <a:solidFill>
                            <a:srgbClr val="000000"/>
                          </a:solidFill>
                          <a:latin typeface="Calibri"/>
                          <a:ea typeface="Calibri"/>
                          <a:cs typeface="Calibri"/>
                          <a:sym typeface="Calibri"/>
                        </a:rPr>
                        <a:t>Memory stick</a:t>
                      </a:r>
                      <a:endParaRPr/>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i="0" lang="en-GB" sz="2800" u="none" cap="none" strike="noStrike">
                          <a:solidFill>
                            <a:srgbClr val="000000"/>
                          </a:solidFill>
                          <a:latin typeface="Calibri"/>
                          <a:ea typeface="Calibri"/>
                          <a:cs typeface="Calibri"/>
                          <a:sym typeface="Calibri"/>
                        </a:rPr>
                        <a:t>32 GB</a:t>
                      </a:r>
                      <a:endParaRPr/>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i="0" lang="en-GB" sz="2800" u="none" cap="none" strike="noStrike">
                          <a:solidFill>
                            <a:srgbClr val="000000"/>
                          </a:solidFill>
                          <a:latin typeface="Calibri"/>
                          <a:ea typeface="Calibri"/>
                          <a:cs typeface="Calibri"/>
                          <a:sym typeface="Calibri"/>
                        </a:rPr>
                        <a:t> </a:t>
                      </a:r>
                      <a:endParaRPr/>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79500">
                <a:tc>
                  <a:txBody>
                    <a:bodyPr/>
                    <a:lstStyle/>
                    <a:p>
                      <a:pPr indent="0" lvl="0" marL="0" marR="0" rtl="0" algn="l">
                        <a:spcBef>
                          <a:spcPts val="0"/>
                        </a:spcBef>
                        <a:spcAft>
                          <a:spcPts val="0"/>
                        </a:spcAft>
                        <a:buNone/>
                      </a:pPr>
                      <a:r>
                        <a:rPr b="0" i="0" lang="en-GB" sz="2800" u="none" cap="none" strike="noStrike">
                          <a:solidFill>
                            <a:srgbClr val="000000"/>
                          </a:solidFill>
                          <a:latin typeface="Calibri"/>
                          <a:ea typeface="Calibri"/>
                          <a:cs typeface="Calibri"/>
                          <a:sym typeface="Calibri"/>
                        </a:rPr>
                        <a:t>Solid State Drive</a:t>
                      </a:r>
                      <a:endParaRPr/>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i="0" lang="en-GB" sz="2800" u="none" cap="none" strike="noStrike">
                          <a:solidFill>
                            <a:srgbClr val="000000"/>
                          </a:solidFill>
                          <a:latin typeface="Calibri"/>
                          <a:ea typeface="Calibri"/>
                          <a:cs typeface="Calibri"/>
                          <a:sym typeface="Calibri"/>
                        </a:rPr>
                        <a:t>256 GB</a:t>
                      </a:r>
                      <a:endParaRPr/>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i="0" lang="en-GB" sz="2800" u="none" cap="none" strike="noStrike">
                          <a:solidFill>
                            <a:srgbClr val="000000"/>
                          </a:solidFill>
                          <a:latin typeface="Calibri"/>
                          <a:ea typeface="Calibri"/>
                          <a:cs typeface="Calibri"/>
                          <a:sym typeface="Calibri"/>
                        </a:rPr>
                        <a:t> </a:t>
                      </a:r>
                      <a:endParaRPr/>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79500">
                <a:tc>
                  <a:txBody>
                    <a:bodyPr/>
                    <a:lstStyle/>
                    <a:p>
                      <a:pPr indent="0" lvl="0" marL="0" marR="0" rtl="0" algn="l">
                        <a:spcBef>
                          <a:spcPts val="0"/>
                        </a:spcBef>
                        <a:spcAft>
                          <a:spcPts val="0"/>
                        </a:spcAft>
                        <a:buNone/>
                      </a:pPr>
                      <a:r>
                        <a:rPr b="0" i="0" lang="en-GB" sz="2800" u="none" cap="none" strike="noStrike">
                          <a:solidFill>
                            <a:srgbClr val="000000"/>
                          </a:solidFill>
                          <a:latin typeface="Calibri"/>
                          <a:ea typeface="Calibri"/>
                          <a:cs typeface="Calibri"/>
                          <a:sym typeface="Calibri"/>
                        </a:rPr>
                        <a:t>Tape drive/data tape</a:t>
                      </a:r>
                      <a:endParaRPr/>
                    </a:p>
                  </a:txBody>
                  <a:tcPr marT="6350" marB="0" marR="6350" marL="6350" anchor="b">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r">
                        <a:spcBef>
                          <a:spcPts val="0"/>
                        </a:spcBef>
                        <a:spcAft>
                          <a:spcPts val="0"/>
                        </a:spcAft>
                        <a:buNone/>
                      </a:pPr>
                      <a:r>
                        <a:rPr b="0" i="0" lang="en-GB" sz="2800" u="none" cap="none" strike="noStrike">
                          <a:solidFill>
                            <a:srgbClr val="000000"/>
                          </a:solidFill>
                          <a:latin typeface="Calibri"/>
                          <a:ea typeface="Calibri"/>
                          <a:cs typeface="Calibri"/>
                          <a:sym typeface="Calibri"/>
                        </a:rPr>
                        <a:t>1 TB</a:t>
                      </a:r>
                      <a:endParaRPr/>
                    </a:p>
                  </a:txBody>
                  <a:tcPr marT="6350" marB="0" marR="6350" marL="6350"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r">
                        <a:spcBef>
                          <a:spcPts val="0"/>
                        </a:spcBef>
                        <a:spcAft>
                          <a:spcPts val="0"/>
                        </a:spcAft>
                        <a:buNone/>
                      </a:pPr>
                      <a:r>
                        <a:rPr b="0" i="0" lang="en-GB" sz="2800" u="none" cap="none" strike="noStrike">
                          <a:solidFill>
                            <a:srgbClr val="000000"/>
                          </a:solidFill>
                          <a:latin typeface="Calibri"/>
                          <a:ea typeface="Calibri"/>
                          <a:cs typeface="Calibri"/>
                          <a:sym typeface="Calibri"/>
                        </a:rPr>
                        <a:t> </a:t>
                      </a:r>
                      <a:endParaRPr/>
                    </a:p>
                  </a:txBody>
                  <a:tcPr marT="6350" marB="0" marR="6350" marL="6350" anchor="b">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pic>
        <p:nvPicPr>
          <p:cNvPr id="114" name="Google Shape;114;p17"/>
          <p:cNvPicPr preferRelativeResize="0"/>
          <p:nvPr/>
        </p:nvPicPr>
        <p:blipFill>
          <a:blip r:embed="rId3">
            <a:alphaModFix/>
          </a:blip>
          <a:stretch>
            <a:fillRect/>
          </a:stretch>
        </p:blipFill>
        <p:spPr>
          <a:xfrm>
            <a:off x="644657" y="2500657"/>
            <a:ext cx="10902674" cy="4159650"/>
          </a:xfrm>
          <a:prstGeom prst="rect">
            <a:avLst/>
          </a:prstGeom>
          <a:noFill/>
          <a:ln>
            <a:noFill/>
          </a:ln>
        </p:spPr>
      </p:pic>
      <p:sp>
        <p:nvSpPr>
          <p:cNvPr id="115" name="Google Shape;115;p17"/>
          <p:cNvSpPr txBox="1"/>
          <p:nvPr/>
        </p:nvSpPr>
        <p:spPr>
          <a:xfrm>
            <a:off x="644649" y="1823550"/>
            <a:ext cx="113571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600"/>
              <a:t>To convert the given storage capacities into MB, we use: 1 GB = 1024 MB</a:t>
            </a:r>
            <a:endParaRPr sz="1600"/>
          </a:p>
          <a:p>
            <a:pPr indent="0" lvl="0" marL="0" rtl="0" algn="l">
              <a:spcBef>
                <a:spcPts val="0"/>
              </a:spcBef>
              <a:spcAft>
                <a:spcPts val="0"/>
              </a:spcAft>
              <a:buNone/>
            </a:pPr>
            <a:r>
              <a:rPr lang="en-GB" sz="1600"/>
              <a:t>1 TB = 1024 GB = 1,048,576 MB</a:t>
            </a:r>
            <a:endParaRPr sz="16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8"/>
          <p:cNvSpPr txBox="1"/>
          <p:nvPr>
            <p:ph type="title"/>
          </p:nvPr>
        </p:nvSpPr>
        <p:spPr>
          <a:xfrm>
            <a:off x="1594910" y="837987"/>
            <a:ext cx="10597089" cy="835923"/>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Primary and secondary storage</a:t>
            </a:r>
            <a:endParaRPr/>
          </a:p>
        </p:txBody>
      </p:sp>
      <p:sp>
        <p:nvSpPr>
          <p:cNvPr id="122" name="Google Shape;122;p18"/>
          <p:cNvSpPr/>
          <p:nvPr/>
        </p:nvSpPr>
        <p:spPr>
          <a:xfrm>
            <a:off x="1594910" y="2061091"/>
            <a:ext cx="7807506" cy="378565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Computers use two types of storage.</a:t>
            </a:r>
            <a:endParaRPr/>
          </a:p>
          <a:p>
            <a:pPr indent="0" lvl="0" marL="0" marR="0" rtl="0" algn="l">
              <a:spcBef>
                <a:spcPts val="0"/>
              </a:spcBef>
              <a:spcAft>
                <a:spcPts val="0"/>
              </a:spcAft>
              <a:buNone/>
            </a:pPr>
            <a:r>
              <a:t/>
            </a:r>
            <a:endParaRPr b="1" sz="2400">
              <a:solidFill>
                <a:schemeClr val="dk1"/>
              </a:solidFill>
              <a:latin typeface="Calibri"/>
              <a:ea typeface="Calibri"/>
              <a:cs typeface="Calibri"/>
              <a:sym typeface="Calibri"/>
            </a:endParaRPr>
          </a:p>
          <a:p>
            <a:pPr indent="-457200" lvl="0" marL="457200" marR="0" rtl="0" algn="l">
              <a:spcBef>
                <a:spcPts val="0"/>
              </a:spcBef>
              <a:spcAft>
                <a:spcPts val="0"/>
              </a:spcAft>
              <a:buClr>
                <a:schemeClr val="dk1"/>
              </a:buClr>
              <a:buSzPts val="2400"/>
              <a:buFont typeface="Calibri"/>
              <a:buAutoNum type="arabicPeriod"/>
            </a:pPr>
            <a:r>
              <a:rPr b="1" lang="en-GB" sz="2400">
                <a:solidFill>
                  <a:srgbClr val="0089A7"/>
                </a:solidFill>
                <a:latin typeface="Calibri"/>
                <a:ea typeface="Calibri"/>
                <a:cs typeface="Calibri"/>
                <a:sym typeface="Calibri"/>
              </a:rPr>
              <a:t>Primary storage</a:t>
            </a:r>
            <a:r>
              <a:rPr lang="en-GB" sz="2400">
                <a:solidFill>
                  <a:srgbClr val="0089A7"/>
                </a:solidFill>
                <a:latin typeface="Calibri"/>
                <a:ea typeface="Calibri"/>
                <a:cs typeface="Calibri"/>
                <a:sym typeface="Calibri"/>
              </a:rPr>
              <a:t> </a:t>
            </a:r>
            <a:r>
              <a:rPr lang="en-GB" sz="2400">
                <a:solidFill>
                  <a:schemeClr val="dk1"/>
                </a:solidFill>
                <a:latin typeface="Calibri"/>
                <a:ea typeface="Calibri"/>
                <a:cs typeface="Calibri"/>
                <a:sym typeface="Calibri"/>
              </a:rPr>
              <a:t>is accessed directly by the CPU and is normally the fastest memory in a computer. RAM is an example. Most of the time, primary storage will lose all the data it contains when the power is switched off.</a:t>
            </a:r>
            <a:endParaRPr/>
          </a:p>
          <a:p>
            <a:pPr indent="-457200" lvl="0" marL="457200" marR="0" rtl="0" algn="l">
              <a:spcBef>
                <a:spcPts val="0"/>
              </a:spcBef>
              <a:spcAft>
                <a:spcPts val="0"/>
              </a:spcAft>
              <a:buClr>
                <a:schemeClr val="dk1"/>
              </a:buClr>
              <a:buSzPts val="2400"/>
              <a:buFont typeface="Calibri"/>
              <a:buAutoNum type="arabicPeriod"/>
            </a:pPr>
            <a:r>
              <a:rPr b="1" lang="en-GB" sz="2400">
                <a:solidFill>
                  <a:srgbClr val="0089A7"/>
                </a:solidFill>
                <a:latin typeface="Calibri"/>
                <a:ea typeface="Calibri"/>
                <a:cs typeface="Calibri"/>
                <a:sym typeface="Calibri"/>
              </a:rPr>
              <a:t>Secondary storage</a:t>
            </a:r>
            <a:r>
              <a:rPr lang="en-GB" sz="2400">
                <a:solidFill>
                  <a:srgbClr val="0089A7"/>
                </a:solidFill>
                <a:latin typeface="Calibri"/>
                <a:ea typeface="Calibri"/>
                <a:cs typeface="Calibri"/>
                <a:sym typeface="Calibri"/>
              </a:rPr>
              <a:t> </a:t>
            </a:r>
            <a:r>
              <a:rPr lang="en-GB" sz="2400">
                <a:solidFill>
                  <a:schemeClr val="dk1"/>
                </a:solidFill>
                <a:latin typeface="Calibri"/>
                <a:ea typeface="Calibri"/>
                <a:cs typeface="Calibri"/>
                <a:sym typeface="Calibri"/>
              </a:rPr>
              <a:t>is not accessed constantly by the computer. It includes a computer’s hard disc and external storage. Secondary storage will not lost lose all the data it contains when the device is switched off.</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19"/>
          <p:cNvSpPr txBox="1"/>
          <p:nvPr>
            <p:ph type="title"/>
          </p:nvPr>
        </p:nvSpPr>
        <p:spPr>
          <a:xfrm>
            <a:off x="1594911" y="837987"/>
            <a:ext cx="10451680" cy="835923"/>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Types of secondary storage</a:t>
            </a:r>
            <a:endParaRPr/>
          </a:p>
        </p:txBody>
      </p:sp>
      <p:sp>
        <p:nvSpPr>
          <p:cNvPr id="129" name="Google Shape;129;p19"/>
          <p:cNvSpPr/>
          <p:nvPr/>
        </p:nvSpPr>
        <p:spPr>
          <a:xfrm>
            <a:off x="1594911" y="2223227"/>
            <a:ext cx="8688198" cy="304698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There are three types of secondary storage.</a:t>
            </a:r>
            <a:endParaRPr/>
          </a:p>
          <a:p>
            <a:pPr indent="0" lvl="0" marL="0" marR="0" rtl="0" algn="l">
              <a:spcBef>
                <a:spcPts val="0"/>
              </a:spcBef>
              <a:spcAft>
                <a:spcPts val="0"/>
              </a:spcAft>
              <a:buNone/>
            </a:pPr>
            <a:r>
              <a:t/>
            </a:r>
            <a:endParaRPr sz="2400">
              <a:solidFill>
                <a:schemeClr val="dk1"/>
              </a:solidFill>
              <a:latin typeface="Times New Roman"/>
              <a:ea typeface="Times New Roman"/>
              <a:cs typeface="Times New Roman"/>
              <a:sym typeface="Times New Roman"/>
            </a:endParaRPr>
          </a:p>
          <a:p>
            <a:pPr indent="-457200" lvl="0" marL="457200" marR="0" rtl="0" algn="l">
              <a:spcBef>
                <a:spcPts val="0"/>
              </a:spcBef>
              <a:spcAft>
                <a:spcPts val="0"/>
              </a:spcAft>
              <a:buClr>
                <a:schemeClr val="dk1"/>
              </a:buClr>
              <a:buSzPts val="2400"/>
              <a:buFont typeface="Calibri"/>
              <a:buAutoNum type="arabicPeriod"/>
            </a:pPr>
            <a:r>
              <a:rPr b="1" lang="en-GB" sz="2400">
                <a:solidFill>
                  <a:srgbClr val="0089A7"/>
                </a:solidFill>
                <a:latin typeface="Calibri"/>
                <a:ea typeface="Calibri"/>
                <a:cs typeface="Calibri"/>
                <a:sym typeface="Calibri"/>
              </a:rPr>
              <a:t>Optical storage </a:t>
            </a:r>
            <a:r>
              <a:rPr lang="en-GB" sz="2400">
                <a:solidFill>
                  <a:schemeClr val="dk1"/>
                </a:solidFill>
                <a:latin typeface="Calibri"/>
                <a:ea typeface="Calibri"/>
                <a:cs typeface="Calibri"/>
                <a:sym typeface="Calibri"/>
              </a:rPr>
              <a:t>uses a laser to write data to and read data from a disc.</a:t>
            </a:r>
            <a:endParaRPr sz="2400">
              <a:solidFill>
                <a:schemeClr val="dk1"/>
              </a:solidFill>
              <a:latin typeface="Calibri"/>
              <a:ea typeface="Calibri"/>
              <a:cs typeface="Calibri"/>
              <a:sym typeface="Calibri"/>
            </a:endParaRPr>
          </a:p>
          <a:p>
            <a:pPr indent="-457200" lvl="0" marL="457200" marR="0" rtl="0" algn="l">
              <a:spcBef>
                <a:spcPts val="0"/>
              </a:spcBef>
              <a:spcAft>
                <a:spcPts val="0"/>
              </a:spcAft>
              <a:buClr>
                <a:schemeClr val="dk1"/>
              </a:buClr>
              <a:buSzPts val="2400"/>
              <a:buFont typeface="Calibri"/>
              <a:buAutoNum type="arabicPeriod"/>
            </a:pPr>
            <a:r>
              <a:rPr b="1" lang="en-GB" sz="2400">
                <a:solidFill>
                  <a:srgbClr val="0089A7"/>
                </a:solidFill>
                <a:latin typeface="Calibri"/>
                <a:ea typeface="Calibri"/>
                <a:cs typeface="Calibri"/>
                <a:sym typeface="Calibri"/>
              </a:rPr>
              <a:t>Magnetic storage </a:t>
            </a:r>
            <a:r>
              <a:rPr lang="en-GB" sz="2400">
                <a:solidFill>
                  <a:schemeClr val="dk1"/>
                </a:solidFill>
                <a:latin typeface="Calibri"/>
                <a:ea typeface="Calibri"/>
                <a:cs typeface="Calibri"/>
                <a:sym typeface="Calibri"/>
              </a:rPr>
              <a:t>uses magnetic platters and a write/read head to writes to and read from the disc.</a:t>
            </a:r>
            <a:endParaRPr sz="2400">
              <a:solidFill>
                <a:schemeClr val="dk1"/>
              </a:solidFill>
              <a:latin typeface="Calibri"/>
              <a:ea typeface="Calibri"/>
              <a:cs typeface="Calibri"/>
              <a:sym typeface="Calibri"/>
            </a:endParaRPr>
          </a:p>
          <a:p>
            <a:pPr indent="-457200" lvl="0" marL="457200" marR="0" rtl="0" algn="l">
              <a:spcBef>
                <a:spcPts val="0"/>
              </a:spcBef>
              <a:spcAft>
                <a:spcPts val="0"/>
              </a:spcAft>
              <a:buClr>
                <a:schemeClr val="dk1"/>
              </a:buClr>
              <a:buSzPts val="2400"/>
              <a:buFont typeface="Calibri"/>
              <a:buAutoNum type="arabicPeriod"/>
            </a:pPr>
            <a:r>
              <a:rPr b="1" lang="en-GB" sz="2400">
                <a:solidFill>
                  <a:srgbClr val="0089A7"/>
                </a:solidFill>
                <a:latin typeface="Calibri"/>
                <a:ea typeface="Calibri"/>
                <a:cs typeface="Calibri"/>
                <a:sym typeface="Calibri"/>
              </a:rPr>
              <a:t>Solid State storage </a:t>
            </a:r>
            <a:r>
              <a:rPr lang="en-GB" sz="2400">
                <a:solidFill>
                  <a:schemeClr val="dk1"/>
                </a:solidFill>
                <a:latin typeface="Calibri"/>
                <a:ea typeface="Calibri"/>
                <a:cs typeface="Calibri"/>
                <a:sym typeface="Calibri"/>
              </a:rPr>
              <a:t>has no moving parts and provides very fast access to data.</a:t>
            </a:r>
            <a:endParaRPr sz="24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0"/>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3200"/>
              <a:buFont typeface="Calibri"/>
              <a:buNone/>
            </a:pPr>
            <a:r>
              <a:rPr b="1" lang="en-GB" sz="3200">
                <a:solidFill>
                  <a:schemeClr val="lt1"/>
                </a:solidFill>
              </a:rPr>
              <a:t>Activity 4.2: Types of secondary storage device/medium</a:t>
            </a:r>
            <a:endParaRPr/>
          </a:p>
        </p:txBody>
      </p:sp>
      <p:pic>
        <p:nvPicPr>
          <p:cNvPr id="136" name="Google Shape;136;p20"/>
          <p:cNvPicPr preferRelativeResize="0"/>
          <p:nvPr/>
        </p:nvPicPr>
        <p:blipFill rotWithShape="1">
          <a:blip r:embed="rId3">
            <a:alphaModFix/>
          </a:blip>
          <a:srcRect b="0" l="0" r="0" t="0"/>
          <a:stretch/>
        </p:blipFill>
        <p:spPr>
          <a:xfrm>
            <a:off x="1589632" y="3543825"/>
            <a:ext cx="8983329" cy="2896004"/>
          </a:xfrm>
          <a:prstGeom prst="rect">
            <a:avLst/>
          </a:prstGeom>
          <a:noFill/>
          <a:ln>
            <a:noFill/>
          </a:ln>
        </p:spPr>
      </p:pic>
      <p:pic>
        <p:nvPicPr>
          <p:cNvPr id="137" name="Google Shape;137;p20"/>
          <p:cNvPicPr preferRelativeResize="0"/>
          <p:nvPr/>
        </p:nvPicPr>
        <p:blipFill rotWithShape="1">
          <a:blip r:embed="rId4">
            <a:alphaModFix/>
          </a:blip>
          <a:srcRect b="0" l="0" r="0" t="0"/>
          <a:stretch/>
        </p:blipFill>
        <p:spPr>
          <a:xfrm>
            <a:off x="1589632" y="1908384"/>
            <a:ext cx="1133633" cy="552527"/>
          </a:xfrm>
          <a:prstGeom prst="rect">
            <a:avLst/>
          </a:prstGeom>
          <a:noFill/>
          <a:ln>
            <a:noFill/>
          </a:ln>
        </p:spPr>
      </p:pic>
      <p:pic>
        <p:nvPicPr>
          <p:cNvPr id="138" name="Google Shape;138;p20"/>
          <p:cNvPicPr preferRelativeResize="0"/>
          <p:nvPr/>
        </p:nvPicPr>
        <p:blipFill rotWithShape="1">
          <a:blip r:embed="rId5">
            <a:alphaModFix/>
          </a:blip>
          <a:srcRect b="0" l="0" r="0" t="0"/>
          <a:stretch/>
        </p:blipFill>
        <p:spPr>
          <a:xfrm>
            <a:off x="5768680" y="1908384"/>
            <a:ext cx="1457528" cy="428685"/>
          </a:xfrm>
          <a:prstGeom prst="rect">
            <a:avLst/>
          </a:prstGeom>
          <a:noFill/>
          <a:ln>
            <a:noFill/>
          </a:ln>
        </p:spPr>
      </p:pic>
      <p:pic>
        <p:nvPicPr>
          <p:cNvPr id="139" name="Google Shape;139;p20"/>
          <p:cNvPicPr preferRelativeResize="0"/>
          <p:nvPr/>
        </p:nvPicPr>
        <p:blipFill rotWithShape="1">
          <a:blip r:embed="rId6">
            <a:alphaModFix/>
          </a:blip>
          <a:srcRect b="0" l="0" r="0" t="0"/>
          <a:stretch/>
        </p:blipFill>
        <p:spPr>
          <a:xfrm>
            <a:off x="9404088" y="1908384"/>
            <a:ext cx="1524213" cy="485843"/>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1"/>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3200"/>
              <a:buFont typeface="Calibri"/>
              <a:buNone/>
            </a:pPr>
            <a:r>
              <a:rPr b="1" lang="en-GB" sz="3200">
                <a:solidFill>
                  <a:schemeClr val="lt1"/>
                </a:solidFill>
              </a:rPr>
              <a:t>Activity 4.2: Types of secondary storage device/medium</a:t>
            </a:r>
            <a:endParaRPr/>
          </a:p>
        </p:txBody>
      </p:sp>
      <p:pic>
        <p:nvPicPr>
          <p:cNvPr id="146" name="Google Shape;146;p21"/>
          <p:cNvPicPr preferRelativeResize="0"/>
          <p:nvPr/>
        </p:nvPicPr>
        <p:blipFill rotWithShape="1">
          <a:blip r:embed="rId3">
            <a:alphaModFix/>
          </a:blip>
          <a:srcRect b="0" l="0" r="0" t="0"/>
          <a:stretch/>
        </p:blipFill>
        <p:spPr>
          <a:xfrm>
            <a:off x="1589631" y="1756812"/>
            <a:ext cx="9282807" cy="5101188"/>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2"/>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 1</a:t>
            </a:r>
            <a:endParaRPr/>
          </a:p>
        </p:txBody>
      </p:sp>
      <p:sp>
        <p:nvSpPr>
          <p:cNvPr id="153" name="Google Shape;153;p22"/>
          <p:cNvSpPr/>
          <p:nvPr/>
        </p:nvSpPr>
        <p:spPr>
          <a:xfrm>
            <a:off x="1589632" y="2413338"/>
            <a:ext cx="7007716" cy="353943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800">
                <a:solidFill>
                  <a:schemeClr val="dk1"/>
                </a:solidFill>
                <a:latin typeface="Calibri"/>
                <a:ea typeface="Calibri"/>
                <a:cs typeface="Calibri"/>
                <a:sym typeface="Calibri"/>
              </a:rPr>
              <a:t>Is each of the following magnetic, optical or Solid State storage?</a:t>
            </a:r>
            <a:endParaRPr/>
          </a:p>
          <a:p>
            <a:pPr indent="0" lvl="0" marL="0" marR="0" rtl="0" algn="l">
              <a:spcBef>
                <a:spcPts val="0"/>
              </a:spcBef>
              <a:spcAft>
                <a:spcPts val="0"/>
              </a:spcAft>
              <a:buNone/>
            </a:pPr>
            <a:r>
              <a:t/>
            </a:r>
            <a:endParaRPr sz="2800">
              <a:solidFill>
                <a:schemeClr val="dk1"/>
              </a:solidFill>
              <a:latin typeface="Calibri"/>
              <a:ea typeface="Calibri"/>
              <a:cs typeface="Calibri"/>
              <a:sym typeface="Calibri"/>
            </a:endParaRPr>
          </a:p>
          <a:p>
            <a:pPr indent="-514350" lvl="0" marL="514350" marR="0" rtl="0" algn="l">
              <a:spcBef>
                <a:spcPts val="0"/>
              </a:spcBef>
              <a:spcAft>
                <a:spcPts val="0"/>
              </a:spcAft>
              <a:buClr>
                <a:schemeClr val="dk1"/>
              </a:buClr>
              <a:buSzPts val="2800"/>
              <a:buFont typeface="Calibri"/>
              <a:buAutoNum type="arabicPeriod"/>
            </a:pPr>
            <a:r>
              <a:rPr lang="en-GB" sz="2800">
                <a:solidFill>
                  <a:schemeClr val="dk1"/>
                </a:solidFill>
                <a:latin typeface="Calibri"/>
                <a:ea typeface="Calibri"/>
                <a:cs typeface="Calibri"/>
                <a:sym typeface="Calibri"/>
              </a:rPr>
              <a:t>Tape drive/data tape</a:t>
            </a:r>
            <a:endParaRPr/>
          </a:p>
          <a:p>
            <a:pPr indent="-514350" lvl="0" marL="514350" marR="0" rtl="0" algn="l">
              <a:spcBef>
                <a:spcPts val="0"/>
              </a:spcBef>
              <a:spcAft>
                <a:spcPts val="0"/>
              </a:spcAft>
              <a:buClr>
                <a:schemeClr val="dk1"/>
              </a:buClr>
              <a:buSzPts val="2800"/>
              <a:buFont typeface="Calibri"/>
              <a:buAutoNum type="arabicPeriod"/>
            </a:pPr>
            <a:r>
              <a:rPr lang="en-GB" sz="2800">
                <a:solidFill>
                  <a:schemeClr val="dk1"/>
                </a:solidFill>
                <a:latin typeface="Calibri"/>
                <a:ea typeface="Calibri"/>
                <a:cs typeface="Calibri"/>
                <a:sym typeface="Calibri"/>
              </a:rPr>
              <a:t>DVD drive/DVD</a:t>
            </a:r>
            <a:endParaRPr/>
          </a:p>
          <a:p>
            <a:pPr indent="-514350" lvl="0" marL="514350" marR="0" rtl="0" algn="l">
              <a:spcBef>
                <a:spcPts val="0"/>
              </a:spcBef>
              <a:spcAft>
                <a:spcPts val="0"/>
              </a:spcAft>
              <a:buClr>
                <a:schemeClr val="dk1"/>
              </a:buClr>
              <a:buSzPts val="2800"/>
              <a:buFont typeface="Calibri"/>
              <a:buAutoNum type="arabicPeriod"/>
            </a:pPr>
            <a:r>
              <a:rPr lang="en-GB" sz="2800">
                <a:solidFill>
                  <a:schemeClr val="dk1"/>
                </a:solidFill>
                <a:latin typeface="Calibri"/>
                <a:ea typeface="Calibri"/>
                <a:cs typeface="Calibri"/>
                <a:sym typeface="Calibri"/>
              </a:rPr>
              <a:t>Memory stick</a:t>
            </a:r>
            <a:endParaRPr/>
          </a:p>
          <a:p>
            <a:pPr indent="-514350" lvl="0" marL="514350" marR="0" rtl="0" algn="l">
              <a:spcBef>
                <a:spcPts val="0"/>
              </a:spcBef>
              <a:spcAft>
                <a:spcPts val="0"/>
              </a:spcAft>
              <a:buClr>
                <a:schemeClr val="dk1"/>
              </a:buClr>
              <a:buSzPts val="2800"/>
              <a:buFont typeface="Calibri"/>
              <a:buAutoNum type="arabicPeriod"/>
            </a:pPr>
            <a:r>
              <a:rPr lang="en-GB" sz="2800">
                <a:solidFill>
                  <a:schemeClr val="dk1"/>
                </a:solidFill>
                <a:latin typeface="Calibri"/>
                <a:ea typeface="Calibri"/>
                <a:cs typeface="Calibri"/>
                <a:sym typeface="Calibri"/>
              </a:rPr>
              <a:t>Hard drive</a:t>
            </a:r>
            <a:endParaRPr/>
          </a:p>
          <a:p>
            <a:pPr indent="-514350" lvl="0" marL="514350" marR="0" rtl="0" algn="l">
              <a:spcBef>
                <a:spcPts val="0"/>
              </a:spcBef>
              <a:spcAft>
                <a:spcPts val="0"/>
              </a:spcAft>
              <a:buClr>
                <a:schemeClr val="dk1"/>
              </a:buClr>
              <a:buSzPts val="2800"/>
              <a:buFont typeface="Calibri"/>
              <a:buAutoNum type="arabicPeriod"/>
            </a:pPr>
            <a:r>
              <a:rPr lang="en-GB" sz="2800">
                <a:solidFill>
                  <a:schemeClr val="dk1"/>
                </a:solidFill>
                <a:latin typeface="Calibri"/>
                <a:ea typeface="Calibri"/>
                <a:cs typeface="Calibri"/>
                <a:sym typeface="Calibri"/>
              </a:rPr>
              <a:t>CD drive/CD</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3"/>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 2</a:t>
            </a:r>
            <a:endParaRPr/>
          </a:p>
        </p:txBody>
      </p:sp>
      <p:sp>
        <p:nvSpPr>
          <p:cNvPr id="160" name="Google Shape;160;p23"/>
          <p:cNvSpPr/>
          <p:nvPr/>
        </p:nvSpPr>
        <p:spPr>
          <a:xfrm>
            <a:off x="1589631" y="2065469"/>
            <a:ext cx="8667551" cy="409342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600">
                <a:solidFill>
                  <a:schemeClr val="dk1"/>
                </a:solidFill>
                <a:latin typeface="Calibri"/>
                <a:ea typeface="Calibri"/>
                <a:cs typeface="Calibri"/>
                <a:sym typeface="Calibri"/>
              </a:rPr>
              <a:t>James works in an office. He has prepared a presentation to show the company director at the next board meeting. He is unsure of the best way to transfer the presentation from his PC to the presentation laptop. Which storage device/medium would be best?</a:t>
            </a:r>
            <a:endParaRPr/>
          </a:p>
          <a:p>
            <a:pPr indent="0" lvl="0" marL="0" marR="0" rtl="0" algn="l">
              <a:spcBef>
                <a:spcPts val="0"/>
              </a:spcBef>
              <a:spcAft>
                <a:spcPts val="0"/>
              </a:spcAft>
              <a:buNone/>
            </a:pPr>
            <a:r>
              <a:t/>
            </a:r>
            <a:endParaRPr sz="2600">
              <a:solidFill>
                <a:schemeClr val="dk1"/>
              </a:solidFill>
              <a:latin typeface="Calibri"/>
              <a:ea typeface="Calibri"/>
              <a:cs typeface="Calibri"/>
              <a:sym typeface="Calibri"/>
            </a:endParaRPr>
          </a:p>
          <a:p>
            <a:pPr indent="-514350" lvl="0" marL="514350" marR="0" rtl="0" algn="l">
              <a:spcBef>
                <a:spcPts val="0"/>
              </a:spcBef>
              <a:spcAft>
                <a:spcPts val="0"/>
              </a:spcAft>
              <a:buClr>
                <a:schemeClr val="dk1"/>
              </a:buClr>
              <a:buSzPts val="2600"/>
              <a:buFont typeface="Calibri"/>
              <a:buAutoNum type="arabicPeriod"/>
            </a:pPr>
            <a:r>
              <a:rPr lang="en-GB" sz="2600">
                <a:solidFill>
                  <a:schemeClr val="dk1"/>
                </a:solidFill>
                <a:latin typeface="Calibri"/>
                <a:ea typeface="Calibri"/>
                <a:cs typeface="Calibri"/>
                <a:sym typeface="Calibri"/>
              </a:rPr>
              <a:t>Magnetic hard drive</a:t>
            </a:r>
            <a:endParaRPr/>
          </a:p>
          <a:p>
            <a:pPr indent="-514350" lvl="0" marL="514350" marR="0" rtl="0" algn="l">
              <a:spcBef>
                <a:spcPts val="0"/>
              </a:spcBef>
              <a:spcAft>
                <a:spcPts val="0"/>
              </a:spcAft>
              <a:buClr>
                <a:schemeClr val="dk1"/>
              </a:buClr>
              <a:buSzPts val="2600"/>
              <a:buFont typeface="Calibri"/>
              <a:buAutoNum type="arabicPeriod"/>
            </a:pPr>
            <a:r>
              <a:rPr lang="en-GB" sz="2600">
                <a:solidFill>
                  <a:schemeClr val="dk1"/>
                </a:solidFill>
                <a:latin typeface="Calibri"/>
                <a:ea typeface="Calibri"/>
                <a:cs typeface="Calibri"/>
                <a:sym typeface="Calibri"/>
              </a:rPr>
              <a:t>CD drive/CD</a:t>
            </a:r>
            <a:endParaRPr/>
          </a:p>
          <a:p>
            <a:pPr indent="-514350" lvl="0" marL="514350" marR="0" rtl="0" algn="l">
              <a:spcBef>
                <a:spcPts val="0"/>
              </a:spcBef>
              <a:spcAft>
                <a:spcPts val="0"/>
              </a:spcAft>
              <a:buClr>
                <a:schemeClr val="dk1"/>
              </a:buClr>
              <a:buSzPts val="2600"/>
              <a:buFont typeface="Calibri"/>
              <a:buAutoNum type="arabicPeriod"/>
            </a:pPr>
            <a:r>
              <a:rPr lang="en-GB" sz="2600">
                <a:solidFill>
                  <a:schemeClr val="dk1"/>
                </a:solidFill>
                <a:latin typeface="Calibri"/>
                <a:ea typeface="Calibri"/>
                <a:cs typeface="Calibri"/>
                <a:sym typeface="Calibri"/>
              </a:rPr>
              <a:t>Memory stick</a:t>
            </a:r>
            <a:endParaRPr/>
          </a:p>
          <a:p>
            <a:pPr indent="-514350" lvl="0" marL="514350" marR="0" rtl="0" algn="l">
              <a:spcBef>
                <a:spcPts val="0"/>
              </a:spcBef>
              <a:spcAft>
                <a:spcPts val="0"/>
              </a:spcAft>
              <a:buClr>
                <a:schemeClr val="dk1"/>
              </a:buClr>
              <a:buSzPts val="2600"/>
              <a:buFont typeface="Calibri"/>
              <a:buAutoNum type="arabicPeriod"/>
            </a:pPr>
            <a:r>
              <a:rPr lang="en-GB" sz="2600">
                <a:solidFill>
                  <a:schemeClr val="dk1"/>
                </a:solidFill>
                <a:latin typeface="Calibri"/>
                <a:ea typeface="Calibri"/>
                <a:cs typeface="Calibri"/>
                <a:sym typeface="Calibri"/>
              </a:rPr>
              <a:t>Solid State Drive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4"/>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 3</a:t>
            </a:r>
            <a:endParaRPr/>
          </a:p>
        </p:txBody>
      </p:sp>
      <p:sp>
        <p:nvSpPr>
          <p:cNvPr id="167" name="Google Shape;167;p24"/>
          <p:cNvSpPr/>
          <p:nvPr/>
        </p:nvSpPr>
        <p:spPr>
          <a:xfrm>
            <a:off x="1589631" y="2065469"/>
            <a:ext cx="8667551" cy="409342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600">
                <a:solidFill>
                  <a:schemeClr val="dk1"/>
                </a:solidFill>
                <a:latin typeface="Calibri"/>
                <a:ea typeface="Calibri"/>
                <a:cs typeface="Calibri"/>
                <a:sym typeface="Calibri"/>
              </a:rPr>
              <a:t>Jennifer has got back from a holiday with her family and wants to send the photographs she took while she was away to her grandparents in Scotland. They do not have access to the internet, but they do have a PC. Which storage device/medium would be best?</a:t>
            </a:r>
            <a:endParaRPr sz="26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2600">
              <a:solidFill>
                <a:schemeClr val="dk1"/>
              </a:solidFill>
              <a:latin typeface="Calibri"/>
              <a:ea typeface="Calibri"/>
              <a:cs typeface="Calibri"/>
              <a:sym typeface="Calibri"/>
            </a:endParaRPr>
          </a:p>
          <a:p>
            <a:pPr indent="-514350" lvl="0" marL="514350" marR="0" rtl="0" algn="l">
              <a:spcBef>
                <a:spcPts val="0"/>
              </a:spcBef>
              <a:spcAft>
                <a:spcPts val="0"/>
              </a:spcAft>
              <a:buClr>
                <a:schemeClr val="dk1"/>
              </a:buClr>
              <a:buSzPts val="2600"/>
              <a:buFont typeface="Calibri"/>
              <a:buAutoNum type="arabicPeriod"/>
            </a:pPr>
            <a:r>
              <a:rPr lang="en-GB" sz="2600">
                <a:solidFill>
                  <a:schemeClr val="dk1"/>
                </a:solidFill>
                <a:latin typeface="Calibri"/>
                <a:ea typeface="Calibri"/>
                <a:cs typeface="Calibri"/>
                <a:sym typeface="Calibri"/>
              </a:rPr>
              <a:t>Memory card</a:t>
            </a:r>
            <a:endParaRPr sz="2600">
              <a:solidFill>
                <a:schemeClr val="dk1"/>
              </a:solidFill>
              <a:latin typeface="Calibri"/>
              <a:ea typeface="Calibri"/>
              <a:cs typeface="Calibri"/>
              <a:sym typeface="Calibri"/>
            </a:endParaRPr>
          </a:p>
          <a:p>
            <a:pPr indent="-514350" lvl="0" marL="514350" marR="0" rtl="0" algn="l">
              <a:spcBef>
                <a:spcPts val="0"/>
              </a:spcBef>
              <a:spcAft>
                <a:spcPts val="0"/>
              </a:spcAft>
              <a:buClr>
                <a:schemeClr val="dk1"/>
              </a:buClr>
              <a:buSzPts val="2600"/>
              <a:buFont typeface="Calibri"/>
              <a:buAutoNum type="arabicPeriod"/>
            </a:pPr>
            <a:r>
              <a:rPr lang="en-GB" sz="2600">
                <a:solidFill>
                  <a:schemeClr val="dk1"/>
                </a:solidFill>
                <a:latin typeface="Calibri"/>
                <a:ea typeface="Calibri"/>
                <a:cs typeface="Calibri"/>
                <a:sym typeface="Calibri"/>
              </a:rPr>
              <a:t>Memory stick</a:t>
            </a:r>
            <a:endParaRPr sz="2600">
              <a:solidFill>
                <a:schemeClr val="dk1"/>
              </a:solidFill>
              <a:latin typeface="Calibri"/>
              <a:ea typeface="Calibri"/>
              <a:cs typeface="Calibri"/>
              <a:sym typeface="Calibri"/>
            </a:endParaRPr>
          </a:p>
          <a:p>
            <a:pPr indent="-514350" lvl="0" marL="514350" marR="0" rtl="0" algn="l">
              <a:spcBef>
                <a:spcPts val="0"/>
              </a:spcBef>
              <a:spcAft>
                <a:spcPts val="0"/>
              </a:spcAft>
              <a:buClr>
                <a:schemeClr val="dk1"/>
              </a:buClr>
              <a:buSzPts val="2600"/>
              <a:buFont typeface="Calibri"/>
              <a:buAutoNum type="arabicPeriod"/>
            </a:pPr>
            <a:r>
              <a:rPr lang="en-GB" sz="2600">
                <a:solidFill>
                  <a:schemeClr val="dk1"/>
                </a:solidFill>
                <a:latin typeface="Calibri"/>
                <a:ea typeface="Calibri"/>
                <a:cs typeface="Calibri"/>
                <a:sym typeface="Calibri"/>
              </a:rPr>
              <a:t>Tape drive/data tape</a:t>
            </a:r>
            <a:endParaRPr sz="2600">
              <a:solidFill>
                <a:schemeClr val="dk1"/>
              </a:solidFill>
              <a:latin typeface="Calibri"/>
              <a:ea typeface="Calibri"/>
              <a:cs typeface="Calibri"/>
              <a:sym typeface="Calibri"/>
            </a:endParaRPr>
          </a:p>
          <a:p>
            <a:pPr indent="-514350" lvl="0" marL="514350" marR="0" rtl="0" algn="l">
              <a:spcBef>
                <a:spcPts val="0"/>
              </a:spcBef>
              <a:spcAft>
                <a:spcPts val="0"/>
              </a:spcAft>
              <a:buClr>
                <a:schemeClr val="dk1"/>
              </a:buClr>
              <a:buSzPts val="2600"/>
              <a:buFont typeface="Calibri"/>
              <a:buAutoNum type="arabicPeriod"/>
            </a:pPr>
            <a:r>
              <a:rPr lang="en-GB" sz="2600">
                <a:solidFill>
                  <a:schemeClr val="dk1"/>
                </a:solidFill>
                <a:latin typeface="Calibri"/>
                <a:ea typeface="Calibri"/>
                <a:cs typeface="Calibri"/>
                <a:sym typeface="Calibri"/>
              </a:rPr>
              <a:t>CD drive/CD</a:t>
            </a:r>
            <a:endParaRPr sz="26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5"/>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 4</a:t>
            </a:r>
            <a:endParaRPr/>
          </a:p>
        </p:txBody>
      </p:sp>
      <p:sp>
        <p:nvSpPr>
          <p:cNvPr id="174" name="Google Shape;174;p25"/>
          <p:cNvSpPr/>
          <p:nvPr/>
        </p:nvSpPr>
        <p:spPr>
          <a:xfrm>
            <a:off x="1589631" y="2065469"/>
            <a:ext cx="8667551" cy="369331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600">
                <a:solidFill>
                  <a:schemeClr val="dk1"/>
                </a:solidFill>
                <a:latin typeface="Calibri"/>
                <a:ea typeface="Calibri"/>
                <a:cs typeface="Calibri"/>
                <a:sym typeface="Calibri"/>
              </a:rPr>
              <a:t>Kalib works for HodderVids, a new company that makes videos for clients. The high-definition files can be quite large (2–4 GB each). What is the best storage device/medium for transferring the files to clients?</a:t>
            </a:r>
            <a:endParaRPr/>
          </a:p>
          <a:p>
            <a:pPr indent="0" lvl="0" marL="0" marR="0" rtl="0" algn="l">
              <a:spcBef>
                <a:spcPts val="0"/>
              </a:spcBef>
              <a:spcAft>
                <a:spcPts val="0"/>
              </a:spcAft>
              <a:buNone/>
            </a:pPr>
            <a:r>
              <a:t/>
            </a:r>
            <a:endParaRPr sz="2600">
              <a:solidFill>
                <a:schemeClr val="dk1"/>
              </a:solidFill>
              <a:latin typeface="Calibri"/>
              <a:ea typeface="Calibri"/>
              <a:cs typeface="Calibri"/>
              <a:sym typeface="Calibri"/>
            </a:endParaRPr>
          </a:p>
          <a:p>
            <a:pPr indent="-514350" lvl="0" marL="514350" marR="0" rtl="0" algn="l">
              <a:spcBef>
                <a:spcPts val="0"/>
              </a:spcBef>
              <a:spcAft>
                <a:spcPts val="0"/>
              </a:spcAft>
              <a:buClr>
                <a:schemeClr val="dk1"/>
              </a:buClr>
              <a:buSzPts val="2600"/>
              <a:buFont typeface="Calibri"/>
              <a:buAutoNum type="arabicPeriod"/>
            </a:pPr>
            <a:r>
              <a:rPr lang="en-GB" sz="2600">
                <a:solidFill>
                  <a:schemeClr val="dk1"/>
                </a:solidFill>
                <a:latin typeface="Calibri"/>
                <a:ea typeface="Calibri"/>
                <a:cs typeface="Calibri"/>
                <a:sym typeface="Calibri"/>
              </a:rPr>
              <a:t>Memory stick</a:t>
            </a:r>
            <a:endParaRPr/>
          </a:p>
          <a:p>
            <a:pPr indent="-514350" lvl="0" marL="514350" marR="0" rtl="0" algn="l">
              <a:spcBef>
                <a:spcPts val="0"/>
              </a:spcBef>
              <a:spcAft>
                <a:spcPts val="0"/>
              </a:spcAft>
              <a:buClr>
                <a:schemeClr val="dk1"/>
              </a:buClr>
              <a:buSzPts val="2600"/>
              <a:buFont typeface="Calibri"/>
              <a:buAutoNum type="arabicPeriod"/>
            </a:pPr>
            <a:r>
              <a:rPr lang="en-GB" sz="2600">
                <a:solidFill>
                  <a:schemeClr val="dk1"/>
                </a:solidFill>
                <a:latin typeface="Calibri"/>
                <a:ea typeface="Calibri"/>
                <a:cs typeface="Calibri"/>
                <a:sym typeface="Calibri"/>
              </a:rPr>
              <a:t>DVD drive/DVD</a:t>
            </a:r>
            <a:endParaRPr/>
          </a:p>
          <a:p>
            <a:pPr indent="-514350" lvl="0" marL="514350" marR="0" rtl="0" algn="l">
              <a:spcBef>
                <a:spcPts val="0"/>
              </a:spcBef>
              <a:spcAft>
                <a:spcPts val="0"/>
              </a:spcAft>
              <a:buClr>
                <a:schemeClr val="dk1"/>
              </a:buClr>
              <a:buSzPts val="2600"/>
              <a:buFont typeface="Calibri"/>
              <a:buAutoNum type="arabicPeriod"/>
            </a:pPr>
            <a:r>
              <a:rPr lang="en-GB" sz="2600">
                <a:solidFill>
                  <a:schemeClr val="dk1"/>
                </a:solidFill>
                <a:latin typeface="Calibri"/>
                <a:ea typeface="Calibri"/>
                <a:cs typeface="Calibri"/>
                <a:sym typeface="Calibri"/>
              </a:rPr>
              <a:t>Solid State Drive</a:t>
            </a:r>
            <a:endParaRPr/>
          </a:p>
          <a:p>
            <a:pPr indent="-514350" lvl="0" marL="514350" marR="0" rtl="0" algn="l">
              <a:spcBef>
                <a:spcPts val="0"/>
              </a:spcBef>
              <a:spcAft>
                <a:spcPts val="0"/>
              </a:spcAft>
              <a:buClr>
                <a:schemeClr val="dk1"/>
              </a:buClr>
              <a:buSzPts val="2600"/>
              <a:buFont typeface="Calibri"/>
              <a:buAutoNum type="arabicPeriod"/>
            </a:pPr>
            <a:r>
              <a:rPr lang="en-GB" sz="2600">
                <a:solidFill>
                  <a:schemeClr val="dk1"/>
                </a:solidFill>
                <a:latin typeface="Calibri"/>
                <a:ea typeface="Calibri"/>
                <a:cs typeface="Calibri"/>
                <a:sym typeface="Calibri"/>
              </a:rPr>
              <a:t>Blu-ray Disc drive/Blu-ray Disc</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6"/>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Quiz</a:t>
            </a:r>
            <a:endParaRPr b="1">
              <a:solidFill>
                <a:schemeClr val="lt1"/>
              </a:solidFill>
            </a:endParaRPr>
          </a:p>
        </p:txBody>
      </p:sp>
      <p:pic>
        <p:nvPicPr>
          <p:cNvPr id="181" name="Google Shape;181;p26"/>
          <p:cNvPicPr preferRelativeResize="0"/>
          <p:nvPr/>
        </p:nvPicPr>
        <p:blipFill rotWithShape="1">
          <a:blip r:embed="rId3">
            <a:alphaModFix/>
          </a:blip>
          <a:srcRect b="0" l="0" r="0" t="0"/>
          <a:stretch/>
        </p:blipFill>
        <p:spPr>
          <a:xfrm>
            <a:off x="3983974" y="1737995"/>
            <a:ext cx="5249008" cy="504895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7"/>
          <p:cNvSpPr txBox="1"/>
          <p:nvPr>
            <p:ph type="title"/>
          </p:nvPr>
        </p:nvSpPr>
        <p:spPr>
          <a:xfrm>
            <a:off x="204400" y="2747525"/>
            <a:ext cx="11208900" cy="8658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197AC"/>
              </a:buClr>
              <a:buSzPts val="3200"/>
              <a:buFont typeface="Calibri"/>
              <a:buNone/>
            </a:pPr>
            <a:r>
              <a:rPr b="1" lang="en-GB" sz="3200">
                <a:solidFill>
                  <a:srgbClr val="2197AC"/>
                </a:solidFill>
              </a:rPr>
              <a:t>Activity 3.3: Comparing secondary storage devices/media</a:t>
            </a:r>
            <a:endParaRPr sz="3200"/>
          </a:p>
        </p:txBody>
      </p:sp>
      <p:sp>
        <p:nvSpPr>
          <p:cNvPr id="188" name="Google Shape;188;p27"/>
          <p:cNvSpPr txBox="1"/>
          <p:nvPr/>
        </p:nvSpPr>
        <p:spPr>
          <a:xfrm>
            <a:off x="204400" y="1710475"/>
            <a:ext cx="11752800" cy="8658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3600"/>
              <a:buFont typeface="Calibri"/>
              <a:buNone/>
            </a:pPr>
            <a:r>
              <a:rPr b="1" lang="en-GB" sz="3200">
                <a:solidFill>
                  <a:srgbClr val="0089A7"/>
                </a:solidFill>
                <a:latin typeface="Calibri"/>
                <a:ea typeface="Calibri"/>
                <a:cs typeface="Calibri"/>
                <a:sym typeface="Calibri"/>
              </a:rPr>
              <a:t>Activity 3.4: Choosing secondary storage devices/media </a:t>
            </a:r>
            <a:endParaRPr b="1" sz="3200">
              <a:solidFill>
                <a:srgbClr val="0089A7"/>
              </a:solidFill>
              <a:latin typeface="Calibri"/>
              <a:ea typeface="Calibri"/>
              <a:cs typeface="Calibri"/>
              <a:sym typeface="Calibri"/>
            </a:endParaRPr>
          </a:p>
        </p:txBody>
      </p:sp>
      <p:pic>
        <p:nvPicPr>
          <p:cNvPr descr="A picture containing athletic game, basketball, sport&#10;&#10;Description automatically generated" id="189" name="Google Shape;189;p27"/>
          <p:cNvPicPr preferRelativeResize="0"/>
          <p:nvPr/>
        </p:nvPicPr>
        <p:blipFill rotWithShape="1">
          <a:blip r:embed="rId3">
            <a:alphaModFix/>
          </a:blip>
          <a:srcRect b="0" l="0" r="0" t="0"/>
          <a:stretch/>
        </p:blipFill>
        <p:spPr>
          <a:xfrm>
            <a:off x="4641139" y="3613329"/>
            <a:ext cx="3044218" cy="298268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