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3" r:id="rId2"/>
    <p:sldId id="257" r:id="rId3"/>
    <p:sldId id="258" r:id="rId4"/>
    <p:sldId id="274" r:id="rId5"/>
    <p:sldId id="278" r:id="rId6"/>
    <p:sldId id="259" r:id="rId7"/>
    <p:sldId id="279" r:id="rId8"/>
    <p:sldId id="27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a Albrechtsen" initials="LA" lastIdx="2" clrIdx="0">
    <p:extLst>
      <p:ext uri="{19B8F6BF-5375-455C-9EA6-DF929625EA0E}">
        <p15:presenceInfo xmlns:p15="http://schemas.microsoft.com/office/powerpoint/2012/main" userId="S::Lea.Albrechtsen@hoddereducation.co.uk::4df490f3-5904-4e82-a5b6-23281874b6f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9B4"/>
    <a:srgbClr val="6759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624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22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F7712-1F3B-4253-AEF1-0FE171523E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C14F2F-A2B8-4861-8B33-2CF08A1C25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7814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60902-80CF-4DD3-B59F-8E58611CF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56315-CBCB-4124-93B3-3DEF3C56BD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FA47B5-60C4-46E0-B317-50F50E6D85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08/06/2021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049A0D-7474-4882-A51A-CF35E154F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F5A12C-5BED-457E-A6CE-2E58C8D0D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3353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C2461-8DBB-43F0-A3AC-126E64397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96A727-278D-4E57-850B-78E0D727C7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41C733-75AA-40FE-8179-B58FA4EA5EE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08/06/2021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8C4D2E-FA87-41DA-961F-7D250DD08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20F2E-2A86-4F16-B83F-E86E73199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1104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5B458-3AE6-4C21-BEBE-F7B760619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2FF206-47D4-451B-80B7-578E10A3E6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D2DF79-B13E-46C5-AAA1-F49C3BABAB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199702-3758-423C-8C91-550D5C885D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08/06/2021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55CC31-BF31-4EB1-8B54-2DD0D6BE7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3EFAF2-4586-4670-8EF7-78067B187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6154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05FA2-A60C-405C-A307-880C049CB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970388-4034-4A46-8B98-D37491E014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C39A8B-6B00-4329-AC44-AD6EBE236E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5DFF08-1C59-4E60-A964-4D4A369007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548497-A585-4527-B8A6-BB01B9FBC4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C2D4B-BCC3-48CF-B358-D817886727C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08/06/2021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93C415-FAAE-444A-BBA1-9059E1C45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C512DB-E555-4910-92DC-7AB19F87F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741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D8A33-5CA5-4826-9B83-0B2F6A50C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7C1E61-1B5E-44DC-BC0F-2F956B04C0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08/06/2021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A212BA-9EF0-4463-A9C0-997D55720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50D64F-9F3A-43FB-A563-07763EE16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9599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739767-A677-43FB-A13E-C6E76D21E15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08/06/2021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A103BA-C2DE-41DE-842B-306DECB78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8320D2-03FC-47A8-B437-7B7CEBDD6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7179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B20E6-8664-4FD7-A9B2-0B5C17E86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75017E-7CE6-4AFE-8756-092A858401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5C17A6-B2E1-42BB-9629-032C80545F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1DC4D7-18F9-4992-BB61-15FA97A529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08/06/2021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B52144-EB56-46FB-8C3D-7A8702354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142B02-C27D-4AC0-9DE7-A653F338F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5581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FD8A0-DA8A-463F-AC82-9A3D896B8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B553CB-6BB8-4D69-8270-E69093C148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0E0B06-F972-42E3-B94A-6BA4824458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FCFE24-5759-425E-A7E5-6EAACD13BA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08/06/2021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458F3E-34B5-48AA-B148-66ED69F30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133722-4E46-4BF0-841D-DC92DCB48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3194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A43C2-4F61-40F8-A06C-596F42B7D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12D4A7-8F4B-484D-90BE-4A6A303F65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BE0C66-2DCD-4454-98BE-EE8ADD1D79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08/06/2021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C655C5-A5ED-4766-97E4-846A80536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ADFEEA-B282-4D56-A557-4193031EB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1290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1B7A8B-8DD3-4239-8EA1-8739462541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621B91-126F-434B-86F2-89E6778E91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BFCCA6-FBA0-4A4B-97BC-8B2465C018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08/06/2021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17EED6-4B0F-4C58-A54B-C4F0F72D7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249905-D4AB-4930-9B2A-6E8E550A0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8111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B9995C-D844-455E-9E19-BF66C81EF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204189-41E9-4E09-B418-B033E7F147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4D739203-7E29-BA40-9D51-8F9968799BF3}"/>
              </a:ext>
            </a:extLst>
          </p:cNvPr>
          <p:cNvSpPr txBox="1">
            <a:spLocks/>
          </p:cNvSpPr>
          <p:nvPr userDrawn="1"/>
        </p:nvSpPr>
        <p:spPr>
          <a:xfrm>
            <a:off x="7547114" y="6380197"/>
            <a:ext cx="411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GB" sz="1200" dirty="0"/>
              <a:t>© Hodder &amp; Stoughton Limited 2021</a:t>
            </a:r>
          </a:p>
        </p:txBody>
      </p:sp>
      <p:pic>
        <p:nvPicPr>
          <p:cNvPr id="8" name="Picture 7" descr="Shape, rectangle&#10;&#10;Description automatically generated">
            <a:extLst>
              <a:ext uri="{FF2B5EF4-FFF2-40B4-BE49-F238E27FC236}">
                <a16:creationId xmlns:a16="http://schemas.microsoft.com/office/drawing/2014/main" id="{FEDAC554-0635-7742-969A-A6C2C4C2DD42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794"/>
            <a:ext cx="12217999" cy="1622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774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2B9C3-E44C-4313-895D-D43DD1C92C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009" y="3010438"/>
            <a:ext cx="6971250" cy="1716029"/>
          </a:xfrm>
        </p:spPr>
        <p:txBody>
          <a:bodyPr>
            <a:normAutofit fontScale="90000"/>
          </a:bodyPr>
          <a:lstStyle/>
          <a:p>
            <a:pPr algn="r"/>
            <a:r>
              <a:rPr lang="en-GB" b="1" dirty="0"/>
              <a:t>Programming in Python: sequence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346DB13-257C-4484-9CB0-C755672B55D3}"/>
              </a:ext>
            </a:extLst>
          </p:cNvPr>
          <p:cNvSpPr/>
          <p:nvPr/>
        </p:nvSpPr>
        <p:spPr>
          <a:xfrm>
            <a:off x="4115295" y="4726467"/>
            <a:ext cx="347396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000" b="1" dirty="0">
                <a:solidFill>
                  <a:srgbClr val="6759A2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Lesson 6: Working with strings </a:t>
            </a:r>
            <a:endParaRPr lang="en-GB" sz="2000" b="1" dirty="0">
              <a:solidFill>
                <a:srgbClr val="6759A2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48A8F7-F4F7-4C80-8C79-3C4E877DA5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0430" y="3010438"/>
            <a:ext cx="2937413" cy="244392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283539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C4667-2A3C-4536-9386-00402F3C6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0413" y="857227"/>
            <a:ext cx="9634330" cy="766349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Objectives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5EF8F5-02C7-4AEC-8461-879795B2CFF4}"/>
              </a:ext>
            </a:extLst>
          </p:cNvPr>
          <p:cNvSpPr/>
          <p:nvPr/>
        </p:nvSpPr>
        <p:spPr>
          <a:xfrm>
            <a:off x="1610413" y="2582614"/>
            <a:ext cx="9352448" cy="27392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GB" sz="3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this lesson, you will learn how to:</a:t>
            </a:r>
          </a:p>
          <a:p>
            <a:pPr marL="342900" lvl="0" indent="-342900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GB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 index values to identify individual characters in a string</a:t>
            </a:r>
          </a:p>
          <a:p>
            <a:pPr marL="342900" lvl="0" indent="-342900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GB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slice a string to select a section of it</a:t>
            </a:r>
          </a:p>
          <a:p>
            <a:pPr marL="342900" lvl="0" indent="-342900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GB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join strings together using concatenation</a:t>
            </a:r>
          </a:p>
          <a:p>
            <a:pPr marL="342900" lvl="0" indent="-342900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GB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change the case of a string to upper or lower case</a:t>
            </a:r>
          </a:p>
          <a:p>
            <a:pPr marL="342900" lvl="0" indent="-342900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GB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calculate the length of a string.</a:t>
            </a:r>
          </a:p>
        </p:txBody>
      </p:sp>
    </p:spTree>
    <p:extLst>
      <p:ext uri="{BB962C8B-B14F-4D97-AF65-F5344CB8AC3E}">
        <p14:creationId xmlns:p14="http://schemas.microsoft.com/office/powerpoint/2010/main" val="1699810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7905C-00CB-4FC9-83B7-66A2E3C07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3878" y="853215"/>
            <a:ext cx="9773478" cy="845862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What is a string?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B64043-BB80-4A35-926B-392099ADD828}"/>
              </a:ext>
            </a:extLst>
          </p:cNvPr>
          <p:cNvSpPr/>
          <p:nvPr/>
        </p:nvSpPr>
        <p:spPr>
          <a:xfrm>
            <a:off x="1613877" y="1979802"/>
            <a:ext cx="9241477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3200" dirty="0"/>
              <a:t>A string is an ordered list of characters.</a:t>
            </a:r>
          </a:p>
          <a:p>
            <a:endParaRPr lang="en-GB" sz="3200" dirty="0"/>
          </a:p>
          <a:p>
            <a:r>
              <a:rPr lang="en-GB" sz="3200" dirty="0"/>
              <a:t>'Hello', '%^$&amp;*' and '12345' are all strings.</a:t>
            </a:r>
          </a:p>
        </p:txBody>
      </p:sp>
    </p:spTree>
    <p:extLst>
      <p:ext uri="{BB962C8B-B14F-4D97-AF65-F5344CB8AC3E}">
        <p14:creationId xmlns:p14="http://schemas.microsoft.com/office/powerpoint/2010/main" val="1166166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C0D3D-3B5A-405C-A85C-D55D7E6FE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9632" y="796071"/>
            <a:ext cx="9452741" cy="1301085"/>
          </a:xfrm>
        </p:spPr>
        <p:txBody>
          <a:bodyPr>
            <a:noAutofit/>
          </a:bodyPr>
          <a:lstStyle/>
          <a:p>
            <a:r>
              <a:rPr lang="en-GB" sz="2800" b="1" dirty="0">
                <a:solidFill>
                  <a:schemeClr val="bg1"/>
                </a:solidFill>
              </a:rPr>
              <a:t>How do we know a bit of code is a string and not, for example, the name of a variable?</a:t>
            </a:r>
            <a:br>
              <a:rPr lang="en-GB" sz="2800" b="1" dirty="0">
                <a:solidFill>
                  <a:schemeClr val="bg1"/>
                </a:solidFill>
              </a:rPr>
            </a:br>
            <a:endParaRPr lang="en-GB" sz="2800" b="1" dirty="0">
              <a:solidFill>
                <a:schemeClr val="bg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F7DFADC-C2BA-064B-8722-7817EF665852}"/>
              </a:ext>
            </a:extLst>
          </p:cNvPr>
          <p:cNvSpPr/>
          <p:nvPr/>
        </p:nvSpPr>
        <p:spPr>
          <a:xfrm>
            <a:off x="1589633" y="2097156"/>
            <a:ext cx="713692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>
                <a:ea typeface="Calibri" panose="020F0502020204030204" pitchFamily="34" charset="0"/>
                <a:cs typeface="Calibri" panose="020F0502020204030204" pitchFamily="34" charset="0"/>
              </a:rPr>
              <a:t>A string must be inside quotation marks:</a:t>
            </a:r>
            <a:endParaRPr lang="en-GB" sz="24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GB" sz="24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dirty="0"/>
              <a:t>If we don’t use quotation marks, Python thinks the string is a variable:</a:t>
            </a:r>
          </a:p>
          <a:p>
            <a:r>
              <a:rPr lang="en-GB" dirty="0">
                <a:latin typeface="Courier" pitchFamily="2" charset="0"/>
              </a:rPr>
              <a:t>1 print(Hello)</a:t>
            </a:r>
          </a:p>
          <a:p>
            <a:r>
              <a:rPr lang="en-GB" dirty="0">
                <a:latin typeface="Courier" pitchFamily="2" charset="0"/>
              </a:rPr>
              <a:t>Output</a:t>
            </a:r>
          </a:p>
          <a:p>
            <a:r>
              <a:rPr lang="en-GB" dirty="0"/>
              <a:t>Runtime Error at line 1: </a:t>
            </a:r>
            <a:r>
              <a:rPr lang="en-GB" dirty="0" err="1"/>
              <a:t>NameError</a:t>
            </a:r>
            <a:r>
              <a:rPr lang="en-GB" dirty="0"/>
              <a:t>: name 'Hello' is not defined</a:t>
            </a:r>
          </a:p>
          <a:p>
            <a:endParaRPr lang="en-GB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8A378B6-BC86-D34A-AA4D-7B03E170B716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9207" y="2578602"/>
            <a:ext cx="2819400" cy="355600"/>
          </a:xfrm>
          <a:prstGeom prst="rect">
            <a:avLst/>
          </a:prstGeom>
        </p:spPr>
      </p:pic>
      <p:pic>
        <p:nvPicPr>
          <p:cNvPr id="11" name="Picture 10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E4BDCE62-DF0E-5B40-A69C-F93BD80FE9A1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7563" y="4016594"/>
            <a:ext cx="5894532" cy="2045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13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C0D3D-3B5A-405C-A85C-D55D7E6FE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4799" y="846406"/>
            <a:ext cx="10037685" cy="865740"/>
          </a:xfrm>
        </p:spPr>
        <p:txBody>
          <a:bodyPr>
            <a:noAutofit/>
          </a:bodyPr>
          <a:lstStyle/>
          <a:p>
            <a:r>
              <a:rPr lang="en-GB" sz="3300" b="1" dirty="0">
                <a:solidFill>
                  <a:schemeClr val="bg1"/>
                </a:solidFill>
              </a:rPr>
              <a:t>Activity 6.1: Programming in Python: sequence, Section 6 </a:t>
            </a:r>
          </a:p>
        </p:txBody>
      </p:sp>
      <p:pic>
        <p:nvPicPr>
          <p:cNvPr id="5" name="Picture 4" descr="A picture containing athletic game, basketball, sport&#10;&#10;Description automatically generated">
            <a:extLst>
              <a:ext uri="{FF2B5EF4-FFF2-40B4-BE49-F238E27FC236}">
                <a16:creationId xmlns:a16="http://schemas.microsoft.com/office/drawing/2014/main" id="{E026BB22-2069-44BA-9C69-B4666D11C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2216" y="1967027"/>
            <a:ext cx="4587567" cy="4494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9768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C3D19-1115-422D-B31A-F4EC85686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078" y="854765"/>
            <a:ext cx="9733721" cy="835923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Questions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C830B7A-F9CA-1D41-9A30-7F2D4D263094}"/>
              </a:ext>
            </a:extLst>
          </p:cNvPr>
          <p:cNvSpPr/>
          <p:nvPr/>
        </p:nvSpPr>
        <p:spPr>
          <a:xfrm>
            <a:off x="1620077" y="1995492"/>
            <a:ext cx="833893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 have been learning about strings. Look at this code:</a:t>
            </a:r>
            <a:endParaRPr lang="en-GB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B33BF80-DCFB-054A-997C-B08A07BD862B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7549" y="2626706"/>
            <a:ext cx="4634120" cy="60351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292ADF5-FCA4-6F44-A537-4BD91BC9A495}"/>
              </a:ext>
            </a:extLst>
          </p:cNvPr>
          <p:cNvSpPr/>
          <p:nvPr/>
        </p:nvSpPr>
        <p:spPr>
          <a:xfrm>
            <a:off x="1620076" y="3721116"/>
            <a:ext cx="8458202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would be the output if the following line of code was added to the program and the program was run?</a:t>
            </a:r>
            <a:endParaRPr lang="en-GB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2200" dirty="0">
                <a:latin typeface="Courier" pitchFamily="2" charset="0"/>
                <a:ea typeface="Calibri" panose="020F0502020204030204" pitchFamily="34" charset="0"/>
                <a:cs typeface="Calibri" panose="020F0502020204030204" pitchFamily="34" charset="0"/>
              </a:rPr>
              <a:t>print(</a:t>
            </a:r>
            <a:r>
              <a:rPr lang="en-GB" sz="2200" dirty="0" err="1">
                <a:latin typeface="Courier" pitchFamily="2" charset="0"/>
                <a:ea typeface="Calibri" panose="020F0502020204030204" pitchFamily="34" charset="0"/>
                <a:cs typeface="Calibri" panose="020F0502020204030204" pitchFamily="34" charset="0"/>
              </a:rPr>
              <a:t>len</a:t>
            </a:r>
            <a:r>
              <a:rPr lang="en-GB" sz="2200" dirty="0">
                <a:latin typeface="Courier" pitchFamily="2" charset="0"/>
                <a:ea typeface="Calibri" panose="020F0502020204030204" pitchFamily="34" charset="0"/>
                <a:cs typeface="Calibri" panose="020F0502020204030204" pitchFamily="34" charset="0"/>
              </a:rPr>
              <a:t>(text))</a:t>
            </a:r>
            <a:endParaRPr lang="en-GB" sz="2200" dirty="0">
              <a:latin typeface="Courier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2200" dirty="0">
                <a:latin typeface="Courier" pitchFamily="2" charset="0"/>
                <a:ea typeface="Calibri" panose="020F0502020204030204" pitchFamily="34" charset="0"/>
                <a:cs typeface="Calibri" panose="020F0502020204030204" pitchFamily="34" charset="0"/>
              </a:rPr>
              <a:t>print(</a:t>
            </a:r>
            <a:r>
              <a:rPr lang="en-GB" sz="2200" dirty="0" err="1">
                <a:latin typeface="Courier" pitchFamily="2" charset="0"/>
                <a:ea typeface="Calibri" panose="020F0502020204030204" pitchFamily="34" charset="0"/>
                <a:cs typeface="Calibri" panose="020F0502020204030204" pitchFamily="34" charset="0"/>
              </a:rPr>
              <a:t>text.upper</a:t>
            </a:r>
            <a:r>
              <a:rPr lang="en-GB" sz="2200" dirty="0">
                <a:latin typeface="Courier" pitchFamily="2" charset="0"/>
                <a:ea typeface="Calibri" panose="020F0502020204030204" pitchFamily="34" charset="0"/>
                <a:cs typeface="Calibri" panose="020F0502020204030204" pitchFamily="34" charset="0"/>
              </a:rPr>
              <a:t>())</a:t>
            </a:r>
            <a:endParaRPr lang="en-GB" sz="2200" dirty="0">
              <a:latin typeface="Courier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2200" dirty="0">
                <a:latin typeface="Courier" pitchFamily="2" charset="0"/>
                <a:ea typeface="Calibri" panose="020F0502020204030204" pitchFamily="34" charset="0"/>
                <a:cs typeface="Calibri" panose="020F0502020204030204" pitchFamily="34" charset="0"/>
              </a:rPr>
              <a:t>print(text[7] + text[4] + text[3])</a:t>
            </a:r>
            <a:endParaRPr lang="en-GB" sz="2200" dirty="0">
              <a:latin typeface="Courier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2200" dirty="0">
                <a:latin typeface="Courier" pitchFamily="2" charset="0"/>
                <a:ea typeface="Calibri" panose="020F0502020204030204" pitchFamily="34" charset="0"/>
                <a:cs typeface="Calibri" panose="020F0502020204030204" pitchFamily="34" charset="0"/>
              </a:rPr>
              <a:t>print(text[1:4])</a:t>
            </a:r>
            <a:endParaRPr lang="en-GB" sz="2200" dirty="0">
              <a:latin typeface="Courier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574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C3D19-1115-422D-B31A-F4EC85686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078" y="854765"/>
            <a:ext cx="9733721" cy="835923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Programming constructs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79E3A3-C5AE-974F-9A29-6FB2DC7E1BE1}"/>
              </a:ext>
            </a:extLst>
          </p:cNvPr>
          <p:cNvSpPr/>
          <p:nvPr/>
        </p:nvSpPr>
        <p:spPr>
          <a:xfrm>
            <a:off x="1620078" y="2136339"/>
            <a:ext cx="7523922" cy="36009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There are three fundamental programming constructs.</a:t>
            </a:r>
            <a:endParaRPr lang="en-GB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Symbol" pitchFamily="2" charset="2"/>
              <a:buChar char=""/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Sequence</a:t>
            </a:r>
            <a:endParaRPr lang="en-GB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Symbol" pitchFamily="2" charset="2"/>
              <a:buChar char=""/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Selection</a:t>
            </a:r>
            <a:endParaRPr lang="en-GB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Symbol" pitchFamily="2" charset="2"/>
              <a:buChar char=""/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Iteration</a:t>
            </a:r>
          </a:p>
          <a:p>
            <a:pPr lvl="0"/>
            <a:endParaRPr lang="en-GB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this module, all the programs you have written were sequential. The instructions were carried out in order, from top to bottom.</a:t>
            </a:r>
            <a:endParaRPr lang="en-GB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94744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C0D3D-3B5A-405C-A85C-D55D7E6FE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4799" y="846406"/>
            <a:ext cx="10037685" cy="793551"/>
          </a:xfrm>
        </p:spPr>
        <p:txBody>
          <a:bodyPr>
            <a:noAutofit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Quiz 6</a:t>
            </a:r>
          </a:p>
        </p:txBody>
      </p:sp>
      <p:pic>
        <p:nvPicPr>
          <p:cNvPr id="5" name="Picture 4" descr="A picture containing athletic game, basketball, sport&#10;&#10;Description automatically generated">
            <a:extLst>
              <a:ext uri="{FF2B5EF4-FFF2-40B4-BE49-F238E27FC236}">
                <a16:creationId xmlns:a16="http://schemas.microsoft.com/office/drawing/2014/main" id="{E026BB22-2069-44BA-9C69-B4666D11C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2216" y="1967027"/>
            <a:ext cx="4587567" cy="4494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7474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353</TotalTime>
  <Words>276</Words>
  <Application>Microsoft Macintosh PowerPoint</Application>
  <PresentationFormat>Widescreen</PresentationFormat>
  <Paragraphs>37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Courier</vt:lpstr>
      <vt:lpstr>Symbol</vt:lpstr>
      <vt:lpstr>Office Theme</vt:lpstr>
      <vt:lpstr>Programming in Python: sequence</vt:lpstr>
      <vt:lpstr>Objectives</vt:lpstr>
      <vt:lpstr>What is a string?</vt:lpstr>
      <vt:lpstr>How do we know a bit of code is a string and not, for example, the name of a variable? </vt:lpstr>
      <vt:lpstr>Activity 6.1: Programming in Python: sequence, Section 6 </vt:lpstr>
      <vt:lpstr>Questions </vt:lpstr>
      <vt:lpstr>Programming constructs </vt:lpstr>
      <vt:lpstr>Quiz 6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Introducing spreadsheets</dc:title>
  <dc:creator>Lea Albrechtsen</dc:creator>
  <cp:lastModifiedBy>James Bullivant</cp:lastModifiedBy>
  <cp:revision>32</cp:revision>
  <dcterms:created xsi:type="dcterms:W3CDTF">2020-11-04T15:22:46Z</dcterms:created>
  <dcterms:modified xsi:type="dcterms:W3CDTF">2021-06-08T14:28:32Z</dcterms:modified>
</cp:coreProperties>
</file>