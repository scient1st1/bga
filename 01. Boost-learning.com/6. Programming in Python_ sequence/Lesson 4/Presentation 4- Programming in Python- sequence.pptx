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57" r:id="rId3"/>
    <p:sldId id="258" r:id="rId4"/>
    <p:sldId id="274" r:id="rId5"/>
    <p:sldId id="278" r:id="rId6"/>
    <p:sldId id="259" r:id="rId7"/>
    <p:sldId id="279" r:id="rId8"/>
    <p:sldId id="280" r:id="rId9"/>
    <p:sldId id="27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  <p:cmAuthor id="2" name="Jane Fairnie" initials="JF" lastIdx="3" clrIdx="1">
    <p:extLst>
      <p:ext uri="{19B8F6BF-5375-455C-9EA6-DF929625EA0E}">
        <p15:presenceInfo xmlns:p15="http://schemas.microsoft.com/office/powerpoint/2012/main" userId="Jane Fairni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9B4"/>
    <a:srgbClr val="6759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 autoAdjust="0"/>
    <p:restoredTop sz="94660"/>
  </p:normalViewPr>
  <p:slideViewPr>
    <p:cSldViewPr snapToGrid="0">
      <p:cViewPr varScale="1">
        <p:scale>
          <a:sx n="93" d="100"/>
          <a:sy n="93" d="100"/>
        </p:scale>
        <p:origin x="72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10/06/2021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8" name="Picture 7" descr="Shape, rectangle&#10;&#10;Description automatically generated">
            <a:extLst>
              <a:ext uri="{FF2B5EF4-FFF2-40B4-BE49-F238E27FC236}">
                <a16:creationId xmlns:a16="http://schemas.microsoft.com/office/drawing/2014/main" id="{FEDAC554-0635-7742-969A-A6C2C4C2DD42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4"/>
            <a:ext cx="12217999" cy="162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9" y="3010438"/>
            <a:ext cx="6971250" cy="1716029"/>
          </a:xfrm>
        </p:spPr>
        <p:txBody>
          <a:bodyPr>
            <a:normAutofit fontScale="90000"/>
          </a:bodyPr>
          <a:lstStyle/>
          <a:p>
            <a:pPr algn="r"/>
            <a:r>
              <a:rPr lang="en-GB" b="1" dirty="0"/>
              <a:t>Programming in Python: sequence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4103634" y="4726467"/>
            <a:ext cx="357059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6759A2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4: Placeholders and lists </a:t>
            </a:r>
            <a:endParaRPr lang="en-GB" sz="2000" b="1" dirty="0">
              <a:solidFill>
                <a:srgbClr val="6759A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48A8F7-F4F7-4C80-8C79-3C4E877DA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0430" y="3010438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28353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413" y="857227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5EF8F5-02C7-4AEC-8461-879795B2CFF4}"/>
              </a:ext>
            </a:extLst>
          </p:cNvPr>
          <p:cNvSpPr/>
          <p:nvPr/>
        </p:nvSpPr>
        <p:spPr>
          <a:xfrm>
            <a:off x="1610413" y="2582614"/>
            <a:ext cx="878354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this lesson, you will learn: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to format output using placeholders 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to format input prompts using placeholders 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that a list is a container for a set of variables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to put data into a list.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3878" y="853215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Data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B64043-BB80-4A35-926B-392099ADD828}"/>
              </a:ext>
            </a:extLst>
          </p:cNvPr>
          <p:cNvSpPr/>
          <p:nvPr/>
        </p:nvSpPr>
        <p:spPr>
          <a:xfrm>
            <a:off x="1475261" y="2615906"/>
            <a:ext cx="9241477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dirty="0"/>
              <a:t>The output from a program is:</a:t>
            </a:r>
          </a:p>
          <a:p>
            <a:pPr algn="ctr"/>
            <a:endParaRPr lang="en-GB" sz="3200" dirty="0"/>
          </a:p>
          <a:p>
            <a:pPr algn="ctr"/>
            <a:r>
              <a:rPr lang="en-GB" sz="3200" dirty="0">
                <a:latin typeface="Courier" pitchFamily="2" charset="0"/>
              </a:rPr>
              <a:t>May, 23, 7, 24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Data and information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729E0-9502-2C47-AEB4-AACEDB4254B3}"/>
              </a:ext>
            </a:extLst>
          </p:cNvPr>
          <p:cNvSpPr/>
          <p:nvPr/>
        </p:nvSpPr>
        <p:spPr>
          <a:xfrm>
            <a:off x="1589631" y="1893261"/>
            <a:ext cx="8015923" cy="4185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Data is often quite meaningless by itself. </a:t>
            </a:r>
          </a:p>
          <a:p>
            <a:r>
              <a:rPr lang="en-GB" sz="2400" dirty="0"/>
              <a:t>It needs context to give it meaning.</a:t>
            </a:r>
          </a:p>
          <a:p>
            <a:r>
              <a:rPr lang="en-GB" sz="2400" dirty="0"/>
              <a:t>	</a:t>
            </a:r>
          </a:p>
          <a:p>
            <a:r>
              <a:rPr lang="en-GB" sz="2400" dirty="0"/>
              <a:t>	data + context = information</a:t>
            </a:r>
          </a:p>
          <a:p>
            <a:endParaRPr lang="en-GB" sz="2400" dirty="0"/>
          </a:p>
          <a:p>
            <a:r>
              <a:rPr lang="en-GB" sz="2400" dirty="0"/>
              <a:t>If the output from the program is formatted to give it context, it has meaning:</a:t>
            </a:r>
          </a:p>
          <a:p>
            <a:endParaRPr lang="en-GB" sz="2600" dirty="0"/>
          </a:p>
          <a:p>
            <a:r>
              <a:rPr lang="en-GB" sz="2400" dirty="0">
                <a:latin typeface="Courier" pitchFamily="2" charset="0"/>
              </a:rPr>
              <a:t>The average weather for May in Birmingham is a temperature of 23 degrees, 7 hours of sunshine and 24 cm of rain.</a:t>
            </a:r>
          </a:p>
        </p:txBody>
      </p:sp>
    </p:spTree>
    <p:extLst>
      <p:ext uri="{BB962C8B-B14F-4D97-AF65-F5344CB8AC3E}">
        <p14:creationId xmlns:p14="http://schemas.microsoft.com/office/powerpoint/2010/main" val="27671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225" y="866284"/>
            <a:ext cx="10037685" cy="865740"/>
          </a:xfrm>
        </p:spPr>
        <p:txBody>
          <a:bodyPr>
            <a:noAutofit/>
          </a:bodyPr>
          <a:lstStyle/>
          <a:p>
            <a:r>
              <a:rPr lang="en-GB" sz="3300" b="1" dirty="0">
                <a:solidFill>
                  <a:schemeClr val="bg1"/>
                </a:solidFill>
              </a:rPr>
              <a:t>Activity 4.1: Programming in Python: sequence, Section 4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976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1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327EE0-A199-4129-93C1-0EAF70DA937B}"/>
              </a:ext>
            </a:extLst>
          </p:cNvPr>
          <p:cNvSpPr/>
          <p:nvPr/>
        </p:nvSpPr>
        <p:spPr>
          <a:xfrm>
            <a:off x="1620078" y="2139193"/>
            <a:ext cx="1018493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You have been learning about lists. </a:t>
            </a:r>
          </a:p>
          <a:p>
            <a:r>
              <a:rPr lang="en-GB" sz="2400" dirty="0"/>
              <a:t>Look at this list:</a:t>
            </a:r>
          </a:p>
          <a:p>
            <a:r>
              <a:rPr lang="en-GB" sz="2000" dirty="0">
                <a:latin typeface="Courier" pitchFamily="2" charset="0"/>
              </a:rPr>
              <a:t>veg=['</a:t>
            </a:r>
            <a:r>
              <a:rPr lang="en-GB" sz="2000" dirty="0" err="1">
                <a:latin typeface="Courier" pitchFamily="2" charset="0"/>
              </a:rPr>
              <a:t>carrot','onion','cabbage','potato','leek','parsnip','kale</a:t>
            </a:r>
            <a:r>
              <a:rPr lang="en-GB" sz="2000" dirty="0">
                <a:latin typeface="Courier" pitchFamily="2" charset="0"/>
              </a:rPr>
              <a:t>’]</a:t>
            </a:r>
          </a:p>
          <a:p>
            <a:endParaRPr lang="en-GB" sz="2400" dirty="0">
              <a:latin typeface="Courier" pitchFamily="2" charset="0"/>
            </a:endParaRPr>
          </a:p>
          <a:p>
            <a:r>
              <a:rPr lang="en-GB" sz="2400" dirty="0"/>
              <a:t>Which vegetable would be retrieved with the following code?</a:t>
            </a:r>
          </a:p>
          <a:p>
            <a:r>
              <a:rPr lang="en-GB" sz="2400" dirty="0"/>
              <a:t>veg[1]</a:t>
            </a:r>
          </a:p>
          <a:p>
            <a:r>
              <a:rPr lang="en-GB" sz="2400" dirty="0"/>
              <a:t>	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onion</a:t>
            </a:r>
          </a:p>
          <a:p>
            <a:r>
              <a:rPr lang="en-GB" sz="2400" dirty="0"/>
              <a:t>veg[0]</a:t>
            </a:r>
          </a:p>
          <a:p>
            <a:r>
              <a:rPr lang="en-GB" sz="2400" dirty="0"/>
              <a:t>	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carrot</a:t>
            </a:r>
          </a:p>
          <a:p>
            <a:r>
              <a:rPr lang="en-GB" sz="2400" dirty="0"/>
              <a:t>veg[5]</a:t>
            </a:r>
          </a:p>
          <a:p>
            <a:r>
              <a:rPr lang="en-GB" sz="2400" dirty="0"/>
              <a:t>	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parsnip</a:t>
            </a:r>
          </a:p>
        </p:txBody>
      </p:sp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2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327EE0-A199-4129-93C1-0EAF70DA937B}"/>
              </a:ext>
            </a:extLst>
          </p:cNvPr>
          <p:cNvSpPr/>
          <p:nvPr/>
        </p:nvSpPr>
        <p:spPr>
          <a:xfrm>
            <a:off x="1620078" y="2124720"/>
            <a:ext cx="10123285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Courier" pitchFamily="2" charset="0"/>
              </a:rPr>
              <a:t>veg=['</a:t>
            </a:r>
            <a:r>
              <a:rPr lang="en-GB" sz="2000" dirty="0" err="1">
                <a:latin typeface="Courier" pitchFamily="2" charset="0"/>
              </a:rPr>
              <a:t>carrot','onion','cabbage','potato','leek','parsnip','kale</a:t>
            </a:r>
            <a:r>
              <a:rPr lang="en-GB" sz="2000" dirty="0">
                <a:latin typeface="Courier" pitchFamily="2" charset="0"/>
              </a:rPr>
              <a:t>’]</a:t>
            </a:r>
          </a:p>
          <a:p>
            <a:endParaRPr lang="en-GB" sz="2800" dirty="0"/>
          </a:p>
          <a:p>
            <a:r>
              <a:rPr lang="en-GB" sz="2800" dirty="0"/>
              <a:t>How would you retrieve the element from the list that contains the following word?</a:t>
            </a:r>
          </a:p>
          <a:p>
            <a:endParaRPr lang="en-GB" sz="2800" dirty="0"/>
          </a:p>
          <a:p>
            <a:r>
              <a:rPr lang="en-GB" sz="2800" dirty="0">
                <a:latin typeface="Courier" pitchFamily="2" charset="0"/>
              </a:rPr>
              <a:t>kale</a:t>
            </a:r>
          </a:p>
          <a:p>
            <a:r>
              <a:rPr lang="en-GB" sz="2800" dirty="0">
                <a:latin typeface="Courier" pitchFamily="2" charset="0"/>
              </a:rPr>
              <a:t>cabbage</a:t>
            </a:r>
          </a:p>
        </p:txBody>
      </p:sp>
    </p:spTree>
    <p:extLst>
      <p:ext uri="{BB962C8B-B14F-4D97-AF65-F5344CB8AC3E}">
        <p14:creationId xmlns:p14="http://schemas.microsoft.com/office/powerpoint/2010/main" val="1349474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 3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0F3ABF-0FCD-BA43-82FF-96DB9C296647}"/>
              </a:ext>
            </a:extLst>
          </p:cNvPr>
          <p:cNvSpPr/>
          <p:nvPr/>
        </p:nvSpPr>
        <p:spPr>
          <a:xfrm>
            <a:off x="1620078" y="3895747"/>
            <a:ext cx="779105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Times New Roman" panose="02020603050405020304" pitchFamily="18" charset="0"/>
              </a:rPr>
              <a:t>What command would you use to add </a:t>
            </a: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celery</a:t>
            </a:r>
            <a:r>
              <a:rPr lang="en-GB" sz="2800" dirty="0">
                <a:ea typeface="Calibri" panose="020F0502020204030204" pitchFamily="34" charset="0"/>
                <a:cs typeface="Times New Roman" panose="02020603050405020304" pitchFamily="18" charset="0"/>
              </a:rPr>
              <a:t> to the end of the list?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395EA5-CA73-4C88-9BBB-1762AD1C5D8B}"/>
              </a:ext>
            </a:extLst>
          </p:cNvPr>
          <p:cNvSpPr/>
          <p:nvPr/>
        </p:nvSpPr>
        <p:spPr>
          <a:xfrm>
            <a:off x="1620078" y="2537717"/>
            <a:ext cx="1014383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Courier" pitchFamily="2" charset="0"/>
              </a:rPr>
              <a:t>veg=['</a:t>
            </a:r>
            <a:r>
              <a:rPr lang="en-GB" sz="2000" dirty="0" err="1">
                <a:latin typeface="Courier" pitchFamily="2" charset="0"/>
              </a:rPr>
              <a:t>carrot','onion','cabbage','potato','leek','parsnip','kale</a:t>
            </a:r>
            <a:r>
              <a:rPr lang="en-GB" sz="2000" dirty="0">
                <a:latin typeface="Courier" pitchFamily="2" charset="0"/>
              </a:rPr>
              <a:t>’]</a:t>
            </a:r>
          </a:p>
        </p:txBody>
      </p:sp>
    </p:spTree>
    <p:extLst>
      <p:ext uri="{BB962C8B-B14F-4D97-AF65-F5344CB8AC3E}">
        <p14:creationId xmlns:p14="http://schemas.microsoft.com/office/powerpoint/2010/main" val="41138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4799" y="846406"/>
            <a:ext cx="10037685" cy="786451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Quiz 4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747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</TotalTime>
  <Words>211</Words>
  <Application>Microsoft Office PowerPoint</Application>
  <PresentationFormat>Widescreen</PresentationFormat>
  <Paragraphs>45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Calibri Light</vt:lpstr>
      <vt:lpstr>Courier</vt:lpstr>
      <vt:lpstr>Courier New</vt:lpstr>
      <vt:lpstr>Symbol</vt:lpstr>
      <vt:lpstr>Office Theme</vt:lpstr>
      <vt:lpstr>Programming in Python: sequence</vt:lpstr>
      <vt:lpstr>Objectives</vt:lpstr>
      <vt:lpstr>Data </vt:lpstr>
      <vt:lpstr>Data and information </vt:lpstr>
      <vt:lpstr>Activity 4.1: Programming in Python: sequence, Section 4</vt:lpstr>
      <vt:lpstr>Question 1 </vt:lpstr>
      <vt:lpstr>Question 2 </vt:lpstr>
      <vt:lpstr>Question 3 </vt:lpstr>
      <vt:lpstr>Quiz 4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36</cp:revision>
  <dcterms:created xsi:type="dcterms:W3CDTF">2020-11-04T15:22:46Z</dcterms:created>
  <dcterms:modified xsi:type="dcterms:W3CDTF">2021-06-10T15:52:43Z</dcterms:modified>
</cp:coreProperties>
</file>