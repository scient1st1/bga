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57" r:id="rId3"/>
    <p:sldId id="258" r:id="rId4"/>
    <p:sldId id="282" r:id="rId5"/>
    <p:sldId id="278" r:id="rId6"/>
    <p:sldId id="259" r:id="rId7"/>
    <p:sldId id="27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a Albrechtsen" initials="LA" lastIdx="2" clrIdx="0">
    <p:extLst>
      <p:ext uri="{19B8F6BF-5375-455C-9EA6-DF929625EA0E}">
        <p15:presenceInfo xmlns:p15="http://schemas.microsoft.com/office/powerpoint/2012/main" userId="S::Lea.Albrechtsen@hoddereducation.co.uk::4df490f3-5904-4e82-a5b6-23281874b6f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759A2"/>
    <a:srgbClr val="0069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48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30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F7712-1F3B-4253-AEF1-0FE171523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14F2F-A2B8-4861-8B33-2CF08A1C25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81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60902-80CF-4DD3-B59F-8E58611CF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56315-CBCB-4124-93B3-3DEF3C56B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A47B5-60C4-46E0-B317-50F50E6D85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49A0D-7474-4882-A51A-CF35E154F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5A12C-5BED-457E-A6CE-2E58C8D0D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3353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2461-8DBB-43F0-A3AC-126E64397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6A727-278D-4E57-850B-78E0D727C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1C733-75AA-40FE-8179-B58FA4EA5E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C4D2E-FA87-41DA-961F-7D250DD08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20F2E-2A86-4F16-B83F-E86E73199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104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5B458-3AE6-4C21-BEBE-F7B760619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FF206-47D4-451B-80B7-578E10A3E6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2DF79-B13E-46C5-AAA1-F49C3BABA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99702-3758-423C-8C91-550D5C885D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17/06/2021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55CC31-BF31-4EB1-8B54-2DD0D6BE7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EFAF2-4586-4670-8EF7-78067B187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6154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05FA2-A60C-405C-A307-880C049CB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70388-4034-4A46-8B98-D37491E01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C39A8B-6B00-4329-AC44-AD6EBE236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5DFF08-1C59-4E60-A964-4D4A369007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548497-A585-4527-B8A6-BB01B9FBC4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C2D4B-BCC3-48CF-B358-D817886727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17/06/2021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93C415-FAAE-444A-BBA1-9059E1C45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C512DB-E555-4910-92DC-7AB19F87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74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D8A33-5CA5-4826-9B83-0B2F6A50C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7C1E61-1B5E-44DC-BC0F-2F956B04C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17/06/2021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A212BA-9EF0-4463-A9C0-997D55720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50D64F-9F3A-43FB-A563-07763EE16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9599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739767-A677-43FB-A13E-C6E76D21E1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17/06/2021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A103BA-C2DE-41DE-842B-306DECB78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320D2-03FC-47A8-B437-7B7CEBDD6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7179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B20E6-8664-4FD7-A9B2-0B5C17E86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5017E-7CE6-4AFE-8756-092A85840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5C17A6-B2E1-42BB-9629-032C80545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1DC4D7-18F9-4992-BB61-15FA97A529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17/06/2021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B52144-EB56-46FB-8C3D-7A8702354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142B02-C27D-4AC0-9DE7-A653F338F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5581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FD8A0-DA8A-463F-AC82-9A3D896B8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B553CB-6BB8-4D69-8270-E69093C148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0E0B06-F972-42E3-B94A-6BA4824458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FCFE24-5759-425E-A7E5-6EAACD13BA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17/06/2021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58F3E-34B5-48AA-B148-66ED69F30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33722-4E46-4BF0-841D-DC92DCB48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3194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A43C2-4F61-40F8-A06C-596F42B7D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12D4A7-8F4B-484D-90BE-4A6A303F6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E0C66-2DCD-4454-98BE-EE8ADD1D79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655C5-A5ED-4766-97E4-846A80536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DFEEA-B282-4D56-A557-4193031EB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1290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1B7A8B-8DD3-4239-8EA1-8739462541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21B91-126F-434B-86F2-89E6778E9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FCCA6-FBA0-4A4B-97BC-8B2465C018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7EED6-4B0F-4C58-A54B-C4F0F72D7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49905-D4AB-4930-9B2A-6E8E550A0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111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B9995C-D844-455E-9E19-BF66C81EF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204189-41E9-4E09-B418-B033E7F14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D739203-7E29-BA40-9D51-8F9968799BF3}"/>
              </a:ext>
            </a:extLst>
          </p:cNvPr>
          <p:cNvSpPr txBox="1">
            <a:spLocks/>
          </p:cNvSpPr>
          <p:nvPr userDrawn="1"/>
        </p:nvSpPr>
        <p:spPr>
          <a:xfrm>
            <a:off x="7547114" y="6380197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200" dirty="0"/>
              <a:t>© Hodder &amp; Stoughton Limited 2021</a:t>
            </a:r>
          </a:p>
        </p:txBody>
      </p:sp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FEDAC554-0635-7742-969A-A6C2C4C2DD4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794"/>
            <a:ext cx="12217999" cy="162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774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2B9C3-E44C-4313-895D-D43DD1C92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9" y="3010438"/>
            <a:ext cx="6971250" cy="1716029"/>
          </a:xfrm>
        </p:spPr>
        <p:txBody>
          <a:bodyPr>
            <a:normAutofit fontScale="90000"/>
          </a:bodyPr>
          <a:lstStyle/>
          <a:p>
            <a:pPr algn="r"/>
            <a:r>
              <a:rPr lang="en-GB" b="1" dirty="0"/>
              <a:t>Programming in Python: sequence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46DB13-257C-4484-9CB0-C755672B55D3}"/>
              </a:ext>
            </a:extLst>
          </p:cNvPr>
          <p:cNvSpPr/>
          <p:nvPr/>
        </p:nvSpPr>
        <p:spPr>
          <a:xfrm>
            <a:off x="4403835" y="4726467"/>
            <a:ext cx="318542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b="1" dirty="0">
                <a:solidFill>
                  <a:srgbClr val="6759A2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Lesson 5: Working with lists </a:t>
            </a:r>
            <a:endParaRPr lang="en-GB" sz="2000" b="1" dirty="0">
              <a:solidFill>
                <a:srgbClr val="6759A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48A8F7-F4F7-4C80-8C79-3C4E877DA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0430" y="3010438"/>
            <a:ext cx="2937413" cy="24439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28353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C4667-2A3C-4536-9386-00402F3C6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0413" y="857227"/>
            <a:ext cx="9634330" cy="766349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5EF8F5-02C7-4AEC-8461-879795B2CFF4}"/>
              </a:ext>
            </a:extLst>
          </p:cNvPr>
          <p:cNvSpPr/>
          <p:nvPr/>
        </p:nvSpPr>
        <p:spPr>
          <a:xfrm>
            <a:off x="1610413" y="2582614"/>
            <a:ext cx="878354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GB" sz="3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this lesson, you will learn how to: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get input from a user to select an item from a list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output a list and the length of a list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 an item to the end of a list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 an item to a specific location in a list.</a:t>
            </a:r>
          </a:p>
        </p:txBody>
      </p:sp>
    </p:spTree>
    <p:extLst>
      <p:ext uri="{BB962C8B-B14F-4D97-AF65-F5344CB8AC3E}">
        <p14:creationId xmlns:p14="http://schemas.microsoft.com/office/powerpoint/2010/main" val="1699810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905C-00CB-4FC9-83B7-66A2E3C0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3878" y="853215"/>
            <a:ext cx="9773478" cy="84586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What do you already know about lists?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BF179-9B26-C64A-9AAE-6E5B87134342}"/>
              </a:ext>
            </a:extLst>
          </p:cNvPr>
          <p:cNvSpPr/>
          <p:nvPr/>
        </p:nvSpPr>
        <p:spPr>
          <a:xfrm>
            <a:off x="1613878" y="1898194"/>
            <a:ext cx="54031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learnt about lists in Lesson 3. What do you remember?</a:t>
            </a: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Look at this list:</a:t>
            </a: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0A7DC51-92DB-D646-9566-3E728433F2A9}"/>
              </a:ext>
            </a:extLst>
          </p:cNvPr>
          <p:cNvSpPr/>
          <p:nvPr/>
        </p:nvSpPr>
        <p:spPr>
          <a:xfrm>
            <a:off x="1613878" y="3153225"/>
            <a:ext cx="94564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en-GB" dirty="0" err="1"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carmakes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GB" dirty="0"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['Ford', 'Fiat', 'Audi', 'Vauxhall', 'Renault', 'Tesla']</a:t>
            </a:r>
            <a:endParaRPr lang="en-GB" dirty="0">
              <a:latin typeface="Courier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CCF783-5E3A-FC44-9F20-5197264C95B9}"/>
              </a:ext>
            </a:extLst>
          </p:cNvPr>
          <p:cNvSpPr/>
          <p:nvPr/>
        </p:nvSpPr>
        <p:spPr>
          <a:xfrm>
            <a:off x="1613878" y="3631960"/>
            <a:ext cx="80852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make of car would be retrieved with the following code?</a:t>
            </a: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43AF56-43DA-894B-AF92-986757CAC79C}"/>
              </a:ext>
            </a:extLst>
          </p:cNvPr>
          <p:cNvSpPr/>
          <p:nvPr/>
        </p:nvSpPr>
        <p:spPr>
          <a:xfrm>
            <a:off x="1613878" y="4203028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2400" dirty="0" err="1"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carmakes</a:t>
            </a:r>
            <a:r>
              <a:rPr lang="en-GB" sz="2400" dirty="0"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[1]</a:t>
            </a:r>
          </a:p>
          <a:p>
            <a:endParaRPr lang="en-GB" sz="2400" dirty="0">
              <a:latin typeface="Courier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2400" dirty="0" err="1"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carmakes</a:t>
            </a:r>
            <a:r>
              <a:rPr lang="en-GB" sz="2400" dirty="0"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[0]</a:t>
            </a:r>
          </a:p>
          <a:p>
            <a:endParaRPr lang="en-GB" sz="2400" dirty="0">
              <a:latin typeface="Courier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2400" dirty="0" err="1"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carmakes</a:t>
            </a:r>
            <a:r>
              <a:rPr lang="en-GB" sz="2400" dirty="0"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[2]</a:t>
            </a:r>
            <a:endParaRPr lang="en-GB" sz="2400" dirty="0">
              <a:latin typeface="Courier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166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905C-00CB-4FC9-83B7-66A2E3C0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3878" y="853215"/>
            <a:ext cx="9773478" cy="84586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What do you already know about lists?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BF179-9B26-C64A-9AAE-6E5B87134342}"/>
              </a:ext>
            </a:extLst>
          </p:cNvPr>
          <p:cNvSpPr/>
          <p:nvPr/>
        </p:nvSpPr>
        <p:spPr>
          <a:xfrm>
            <a:off x="1613878" y="2092423"/>
            <a:ext cx="80270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learnt about lists in Lesson 3. What do you remember?</a:t>
            </a: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Look at this list:</a:t>
            </a: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0A7DC51-92DB-D646-9566-3E728433F2A9}"/>
              </a:ext>
            </a:extLst>
          </p:cNvPr>
          <p:cNvSpPr/>
          <p:nvPr/>
        </p:nvSpPr>
        <p:spPr>
          <a:xfrm>
            <a:off x="1613878" y="3059668"/>
            <a:ext cx="94564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en-GB" dirty="0" err="1"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carmakes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GB" dirty="0"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['Ford', 'Fiat', 'Audi', 'Vauxhall', 'Renault', 'Tesla']</a:t>
            </a:r>
            <a:endParaRPr lang="en-GB" dirty="0">
              <a:latin typeface="Courier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CCF783-5E3A-FC44-9F20-5197264C95B9}"/>
              </a:ext>
            </a:extLst>
          </p:cNvPr>
          <p:cNvSpPr/>
          <p:nvPr/>
        </p:nvSpPr>
        <p:spPr>
          <a:xfrm>
            <a:off x="1613878" y="3577259"/>
            <a:ext cx="982031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would you retrieve the element from the list that contains the following word? </a:t>
            </a:r>
            <a:endParaRPr lang="en-GB" sz="2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43AF56-43DA-894B-AF92-986757CAC79C}"/>
              </a:ext>
            </a:extLst>
          </p:cNvPr>
          <p:cNvSpPr/>
          <p:nvPr/>
        </p:nvSpPr>
        <p:spPr>
          <a:xfrm>
            <a:off x="1613878" y="4203028"/>
            <a:ext cx="8722818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200" dirty="0"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Vauxhall </a:t>
            </a:r>
            <a:endParaRPr lang="en-GB" sz="2200" dirty="0">
              <a:latin typeface="Courier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2200" dirty="0"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Tesla</a:t>
            </a:r>
          </a:p>
          <a:p>
            <a:endParaRPr lang="en-GB" sz="2200" dirty="0">
              <a:latin typeface="Courier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2200" dirty="0">
                <a:ea typeface="Calibri" panose="020F0502020204030204" pitchFamily="34" charset="0"/>
                <a:cs typeface="Calibri" panose="020F0502020204030204" pitchFamily="34" charset="0"/>
              </a:rPr>
              <a:t>What line of code would you type to change </a:t>
            </a:r>
            <a:r>
              <a:rPr lang="en-GB" sz="2200" dirty="0"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Audi</a:t>
            </a:r>
            <a:r>
              <a:rPr lang="en-GB" sz="2200" dirty="0">
                <a:ea typeface="Calibri" panose="020F0502020204030204" pitchFamily="34" charset="0"/>
                <a:cs typeface="Calibri" panose="020F0502020204030204" pitchFamily="34" charset="0"/>
              </a:rPr>
              <a:t> to</a:t>
            </a:r>
            <a:r>
              <a:rPr lang="en-GB" sz="2200" dirty="0"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 Mercedes</a:t>
            </a:r>
            <a:r>
              <a:rPr lang="en-GB" sz="2200" dirty="0"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883367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C0D3D-3B5A-405C-A85C-D55D7E6FE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4799" y="846406"/>
            <a:ext cx="10037685" cy="865740"/>
          </a:xfrm>
        </p:spPr>
        <p:txBody>
          <a:bodyPr>
            <a:noAutofit/>
          </a:bodyPr>
          <a:lstStyle/>
          <a:p>
            <a:r>
              <a:rPr lang="en-GB" sz="3300" b="1" dirty="0">
                <a:solidFill>
                  <a:schemeClr val="bg1"/>
                </a:solidFill>
              </a:rPr>
              <a:t>Activity 5.1: Programming in Python: sequence, Section 5 </a:t>
            </a:r>
          </a:p>
        </p:txBody>
      </p:sp>
      <p:pic>
        <p:nvPicPr>
          <p:cNvPr id="5" name="Picture 4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E026BB22-2069-44BA-9C69-B4666D11C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216" y="1967027"/>
            <a:ext cx="4587567" cy="449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976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C3D19-1115-422D-B31A-F4EC85686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8" y="854765"/>
            <a:ext cx="9733721" cy="835923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Questions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6CBF42-E99E-2C44-9743-45CE48DFDFB1}"/>
              </a:ext>
            </a:extLst>
          </p:cNvPr>
          <p:cNvSpPr/>
          <p:nvPr/>
        </p:nvSpPr>
        <p:spPr>
          <a:xfrm>
            <a:off x="1620078" y="1810608"/>
            <a:ext cx="7017026" cy="3236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Look at this list and write down what happens when each of the following instructions are applied one after the other.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GB" sz="1600" dirty="0">
                <a:solidFill>
                  <a:srgbClr val="7B7B7B"/>
                </a:solidFill>
                <a:latin typeface="Courier" pitchFamily="2" charset="0"/>
                <a:ea typeface="Times New Roman" panose="02020603050405020304" pitchFamily="18" charset="0"/>
              </a:rPr>
              <a:t>clothing = ['</a:t>
            </a:r>
            <a:r>
              <a:rPr lang="en-GB" sz="1600" dirty="0" err="1">
                <a:solidFill>
                  <a:srgbClr val="7B7B7B"/>
                </a:solidFill>
                <a:latin typeface="Courier" pitchFamily="2" charset="0"/>
                <a:ea typeface="Times New Roman" panose="02020603050405020304" pitchFamily="18" charset="0"/>
              </a:rPr>
              <a:t>hat','coat','shoes','gloves</a:t>
            </a:r>
            <a:r>
              <a:rPr lang="en-GB" sz="1600" dirty="0">
                <a:solidFill>
                  <a:srgbClr val="7B7B7B"/>
                </a:solidFill>
                <a:latin typeface="Courier" pitchFamily="2" charset="0"/>
                <a:ea typeface="Times New Roman" panose="02020603050405020304" pitchFamily="18" charset="0"/>
              </a:rPr>
              <a:t>']</a:t>
            </a:r>
            <a:endParaRPr lang="en-GB" sz="1600" dirty="0">
              <a:latin typeface="Courier" pitchFamily="2" charset="0"/>
              <a:ea typeface="Times New Roman" panose="02020603050405020304" pitchFamily="18" charset="0"/>
            </a:endParaRPr>
          </a:p>
          <a:p>
            <a:r>
              <a:rPr lang="en-GB" dirty="0"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print(clothing[1])</a:t>
            </a:r>
            <a:endParaRPr lang="en-GB" dirty="0">
              <a:latin typeface="Courier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dirty="0" err="1"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clothing.append</a:t>
            </a:r>
            <a:r>
              <a:rPr lang="en-GB" dirty="0"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('socks')</a:t>
            </a:r>
            <a:endParaRPr lang="en-GB" dirty="0">
              <a:latin typeface="Courier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dirty="0" err="1"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clothing.insert</a:t>
            </a:r>
            <a:r>
              <a:rPr lang="en-GB" dirty="0"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(2, 'scarf')</a:t>
            </a:r>
            <a:endParaRPr lang="en-GB" dirty="0">
              <a:latin typeface="Courier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print(</a:t>
            </a:r>
            <a:r>
              <a:rPr lang="en-GB" dirty="0" err="1"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len</a:t>
            </a:r>
            <a:r>
              <a:rPr lang="en-GB" dirty="0"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(clothing))</a:t>
            </a:r>
            <a:endParaRPr lang="en-GB" dirty="0">
              <a:latin typeface="Courier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dirty="0" err="1"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newvalue</a:t>
            </a:r>
            <a:r>
              <a:rPr lang="en-GB" dirty="0"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 = input('Enter a new value: ')</a:t>
            </a:r>
            <a:endParaRPr lang="en-GB" dirty="0">
              <a:latin typeface="Courier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dirty="0" err="1"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clothing.insert</a:t>
            </a:r>
            <a:r>
              <a:rPr lang="en-GB" dirty="0"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(3, </a:t>
            </a:r>
            <a:r>
              <a:rPr lang="en-GB" dirty="0" err="1"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newvalue</a:t>
            </a:r>
            <a:r>
              <a:rPr lang="en-GB" dirty="0"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GB" dirty="0">
              <a:latin typeface="Courier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dirty="0">
              <a:latin typeface="Courier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dirty="0">
                <a:ea typeface="Calibri" panose="020F0502020204030204" pitchFamily="34" charset="0"/>
                <a:cs typeface="Calibri" panose="020F0502020204030204" pitchFamily="34" charset="0"/>
              </a:rPr>
              <a:t>And the user enters </a:t>
            </a:r>
            <a:r>
              <a:rPr lang="en-GB" dirty="0"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tie</a:t>
            </a:r>
            <a:endParaRPr lang="en-GB" dirty="0">
              <a:latin typeface="Courier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574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C0D3D-3B5A-405C-A85C-D55D7E6FE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4799" y="846406"/>
            <a:ext cx="10037685" cy="793551"/>
          </a:xfrm>
        </p:spPr>
        <p:txBody>
          <a:bodyPr>
            <a:noAutofit/>
          </a:bodyPr>
          <a:lstStyle/>
          <a:p>
            <a:r>
              <a:rPr lang="en-GB" b="1">
                <a:solidFill>
                  <a:schemeClr val="bg1"/>
                </a:solidFill>
              </a:rPr>
              <a:t>Quiz 5</a:t>
            </a:r>
            <a:endParaRPr lang="en-GB" b="1" dirty="0">
              <a:solidFill>
                <a:schemeClr val="bg1"/>
              </a:solidFill>
            </a:endParaRPr>
          </a:p>
        </p:txBody>
      </p:sp>
      <p:pic>
        <p:nvPicPr>
          <p:cNvPr id="5" name="Picture 4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E026BB22-2069-44BA-9C69-B4666D11C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216" y="1967027"/>
            <a:ext cx="4587567" cy="449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747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</TotalTime>
  <Words>299</Words>
  <Application>Microsoft Office PowerPoint</Application>
  <PresentationFormat>Widescreen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Courier</vt:lpstr>
      <vt:lpstr>Symbol</vt:lpstr>
      <vt:lpstr>Office Theme</vt:lpstr>
      <vt:lpstr>Programming in Python: sequence</vt:lpstr>
      <vt:lpstr>Objectives</vt:lpstr>
      <vt:lpstr>What do you already know about lists? </vt:lpstr>
      <vt:lpstr>What do you already know about lists? </vt:lpstr>
      <vt:lpstr>Activity 5.1: Programming in Python: sequence, Section 5 </vt:lpstr>
      <vt:lpstr>Questions </vt:lpstr>
      <vt:lpstr>Quiz 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Introducing spreadsheets</dc:title>
  <dc:creator>Lea Albrechtsen</dc:creator>
  <cp:lastModifiedBy>Lea Albrechtsen</cp:lastModifiedBy>
  <cp:revision>34</cp:revision>
  <dcterms:created xsi:type="dcterms:W3CDTF">2020-11-04T15:22:46Z</dcterms:created>
  <dcterms:modified xsi:type="dcterms:W3CDTF">2021-06-17T13:40:10Z</dcterms:modified>
</cp:coreProperties>
</file>