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257" r:id="rId3"/>
    <p:sldId id="258" r:id="rId4"/>
    <p:sldId id="274" r:id="rId5"/>
    <p:sldId id="259" r:id="rId6"/>
    <p:sldId id="260" r:id="rId7"/>
    <p:sldId id="275" r:id="rId8"/>
    <p:sldId id="261" r:id="rId9"/>
    <p:sldId id="276" r:id="rId10"/>
    <p:sldId id="27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759A2"/>
    <a:srgbClr val="0069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827" autoAdjust="0"/>
    <p:restoredTop sz="94660"/>
  </p:normalViewPr>
  <p:slideViewPr>
    <p:cSldViewPr snapToGrid="0">
      <p:cViewPr varScale="1">
        <p:scale>
          <a:sx n="65" d="100"/>
          <a:sy n="65" d="100"/>
        </p:scale>
        <p:origin x="57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28/04/2025</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8" name="Picture 7" descr="Shape, rectangle&#10;&#10;Description automatically generated">
            <a:extLst>
              <a:ext uri="{FF2B5EF4-FFF2-40B4-BE49-F238E27FC236}">
                <a16:creationId xmlns:a16="http://schemas.microsoft.com/office/drawing/2014/main" id="{FEDAC554-0635-7742-969A-A6C2C4C2DD42}"/>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794"/>
            <a:ext cx="12217999" cy="1622390"/>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www.techrepublic.co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618009" y="3010438"/>
            <a:ext cx="6971250" cy="1716029"/>
          </a:xfrm>
        </p:spPr>
        <p:txBody>
          <a:bodyPr>
            <a:normAutofit fontScale="90000"/>
          </a:bodyPr>
          <a:lstStyle/>
          <a:p>
            <a:pPr algn="r"/>
            <a:r>
              <a:rPr lang="en-GB" b="1" dirty="0"/>
              <a:t>Programming in Python: sequence</a:t>
            </a:r>
          </a:p>
        </p:txBody>
      </p:sp>
      <p:sp>
        <p:nvSpPr>
          <p:cNvPr id="11" name="Rectangle 10">
            <a:extLst>
              <a:ext uri="{FF2B5EF4-FFF2-40B4-BE49-F238E27FC236}">
                <a16:creationId xmlns:a16="http://schemas.microsoft.com/office/drawing/2014/main" id="{5346DB13-257C-4484-9CB0-C755672B55D3}"/>
              </a:ext>
            </a:extLst>
          </p:cNvPr>
          <p:cNvSpPr/>
          <p:nvPr/>
        </p:nvSpPr>
        <p:spPr>
          <a:xfrm>
            <a:off x="3691111" y="4711969"/>
            <a:ext cx="3351495" cy="400110"/>
          </a:xfrm>
          <a:prstGeom prst="rect">
            <a:avLst/>
          </a:prstGeom>
        </p:spPr>
        <p:txBody>
          <a:bodyPr wrap="none">
            <a:spAutoFit/>
          </a:bodyPr>
          <a:lstStyle/>
          <a:p>
            <a:r>
              <a:rPr lang="en-GB" sz="2000" b="1" dirty="0">
                <a:solidFill>
                  <a:srgbClr val="6759A2"/>
                </a:solidFill>
                <a:latin typeface="Calibri" panose="020F0502020204030204" pitchFamily="34" charset="0"/>
                <a:ea typeface="Times New Roman" panose="02020603050405020304" pitchFamily="18" charset="0"/>
              </a:rPr>
              <a:t>Lesson 1: Computer programs</a:t>
            </a:r>
            <a:endParaRPr lang="en-GB" sz="2000" b="1" dirty="0">
              <a:solidFill>
                <a:srgbClr val="6759A2"/>
              </a:solidFill>
            </a:endParaRPr>
          </a:p>
        </p:txBody>
      </p:sp>
      <p:pic>
        <p:nvPicPr>
          <p:cNvPr id="5" name="Picture 4">
            <a:extLst>
              <a:ext uri="{FF2B5EF4-FFF2-40B4-BE49-F238E27FC236}">
                <a16:creationId xmlns:a16="http://schemas.microsoft.com/office/drawing/2014/main" id="{7948A8F7-F4F7-4C80-8C79-3C4E877DA596}"/>
              </a:ext>
            </a:extLst>
          </p:cNvPr>
          <p:cNvPicPr>
            <a:picLocks noChangeAspect="1"/>
          </p:cNvPicPr>
          <p:nvPr/>
        </p:nvPicPr>
        <p:blipFill>
          <a:blip r:embed="rId2"/>
          <a:stretch>
            <a:fillRect/>
          </a:stretch>
        </p:blipFill>
        <p:spPr>
          <a:xfrm>
            <a:off x="7930430" y="3010438"/>
            <a:ext cx="2937413" cy="24439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828353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413" y="857227"/>
            <a:ext cx="9634330" cy="766349"/>
          </a:xfrm>
        </p:spPr>
        <p:txBody>
          <a:bodyPr/>
          <a:lstStyle/>
          <a:p>
            <a:r>
              <a:rPr lang="en-GB" b="1" dirty="0">
                <a:solidFill>
                  <a:schemeClr val="bg1"/>
                </a:solidFill>
              </a:rPr>
              <a:t>Objectives</a:t>
            </a:r>
          </a:p>
        </p:txBody>
      </p:sp>
      <p:sp>
        <p:nvSpPr>
          <p:cNvPr id="4" name="Rectangle 3">
            <a:extLst>
              <a:ext uri="{FF2B5EF4-FFF2-40B4-BE49-F238E27FC236}">
                <a16:creationId xmlns:a16="http://schemas.microsoft.com/office/drawing/2014/main" id="{7C5EF8F5-02C7-4AEC-8461-879795B2CFF4}"/>
              </a:ext>
            </a:extLst>
          </p:cNvPr>
          <p:cNvSpPr/>
          <p:nvPr/>
        </p:nvSpPr>
        <p:spPr>
          <a:xfrm>
            <a:off x="1610413" y="2582614"/>
            <a:ext cx="8239265" cy="2308324"/>
          </a:xfrm>
          <a:prstGeom prst="rect">
            <a:avLst/>
          </a:prstGeom>
        </p:spPr>
        <p:txBody>
          <a:bodyPr wrap="square">
            <a:spAutoFit/>
          </a:bodyPr>
          <a:lstStyle/>
          <a:p>
            <a:pPr>
              <a:spcAft>
                <a:spcPts val="0"/>
              </a:spcAft>
            </a:pPr>
            <a:r>
              <a:rPr lang="en-GB" sz="3200" dirty="0">
                <a:latin typeface="Calibri" panose="020F0502020204030204" pitchFamily="34" charset="0"/>
                <a:ea typeface="Calibri" panose="020F0502020204030204" pitchFamily="34" charset="0"/>
                <a:cs typeface="Times New Roman" panose="02020603050405020304" pitchFamily="18" charset="0"/>
              </a:rPr>
              <a:t>In this lesson you will learn:</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Calibri" panose="020F0502020204030204" pitchFamily="34" charset="0"/>
                <a:cs typeface="Times New Roman" panose="02020603050405020304" pitchFamily="18" charset="0"/>
              </a:rPr>
              <a:t>about the widespread use of computer programming</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Calibri" panose="020F0502020204030204" pitchFamily="34" charset="0"/>
                <a:cs typeface="Times New Roman" panose="02020603050405020304" pitchFamily="18" charset="0"/>
              </a:rPr>
              <a:t>how to write a simple program in Python</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Calibri" panose="020F0502020204030204" pitchFamily="34" charset="0"/>
                <a:cs typeface="Times New Roman" panose="02020603050405020304" pitchFamily="18" charset="0"/>
              </a:rPr>
              <a:t>about variables and how they are used to store data in a program.</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4BD17DA-2073-2B47-A14C-EF741C2491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39140" y="4083498"/>
            <a:ext cx="3111025" cy="2302966"/>
          </a:xfrm>
          <a:prstGeom prst="rect">
            <a:avLst/>
          </a:prstGeom>
        </p:spPr>
      </p:pic>
      <p:pic>
        <p:nvPicPr>
          <p:cNvPr id="4" name="Picture 3" descr="Graphical user interface&#10;&#10;Description automatically generated">
            <a:extLst>
              <a:ext uri="{FF2B5EF4-FFF2-40B4-BE49-F238E27FC236}">
                <a16:creationId xmlns:a16="http://schemas.microsoft.com/office/drawing/2014/main" id="{E0231B16-4D57-034D-8F96-1F2BEC085A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3475" y="4162550"/>
            <a:ext cx="3088446" cy="2315673"/>
          </a:xfrm>
          <a:prstGeom prst="rect">
            <a:avLst/>
          </a:prstGeom>
        </p:spPr>
      </p:pic>
      <p:pic>
        <p:nvPicPr>
          <p:cNvPr id="9" name="Picture 8" descr="A picture containing text, monitor, microwave, indoor&#10;&#10;Description automatically generated">
            <a:extLst>
              <a:ext uri="{FF2B5EF4-FFF2-40B4-BE49-F238E27FC236}">
                <a16:creationId xmlns:a16="http://schemas.microsoft.com/office/drawing/2014/main" id="{B9CA7D4C-8978-9247-BCB5-FE2A0C7EFD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90264" y="2085434"/>
            <a:ext cx="2825291" cy="1875878"/>
          </a:xfrm>
          <a:prstGeom prst="rect">
            <a:avLst/>
          </a:prstGeom>
        </p:spPr>
      </p:pic>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13878" y="853215"/>
            <a:ext cx="9773478" cy="845862"/>
          </a:xfrm>
        </p:spPr>
        <p:txBody>
          <a:bodyPr/>
          <a:lstStyle/>
          <a:p>
            <a:r>
              <a:rPr lang="en-GB" b="1" dirty="0">
                <a:solidFill>
                  <a:schemeClr val="bg1"/>
                </a:solidFill>
              </a:rPr>
              <a:t>Computer programs are everywhere</a:t>
            </a:r>
          </a:p>
        </p:txBody>
      </p:sp>
      <p:sp>
        <p:nvSpPr>
          <p:cNvPr id="5" name="Rectangle 4">
            <a:extLst>
              <a:ext uri="{FF2B5EF4-FFF2-40B4-BE49-F238E27FC236}">
                <a16:creationId xmlns:a16="http://schemas.microsoft.com/office/drawing/2014/main" id="{EBB64043-BB80-4A35-926B-392099ADD828}"/>
              </a:ext>
            </a:extLst>
          </p:cNvPr>
          <p:cNvSpPr/>
          <p:nvPr/>
        </p:nvSpPr>
        <p:spPr>
          <a:xfrm>
            <a:off x="1613877" y="1979802"/>
            <a:ext cx="9241477" cy="2246769"/>
          </a:xfrm>
          <a:prstGeom prst="rect">
            <a:avLst/>
          </a:prstGeom>
        </p:spPr>
        <p:txBody>
          <a:bodyPr wrap="square">
            <a:spAutoFit/>
          </a:bodyPr>
          <a:lstStyle/>
          <a:p>
            <a:pPr>
              <a:spcAft>
                <a:spcPts val="0"/>
              </a:spcAft>
            </a:pPr>
            <a:r>
              <a:rPr lang="en-GB" sz="2000" dirty="0">
                <a:latin typeface="Calibri" panose="020F0502020204030204" pitchFamily="34" charset="0"/>
                <a:ea typeface="Calibri" panose="020F0502020204030204" pitchFamily="34" charset="0"/>
                <a:cs typeface="Times New Roman" panose="02020603050405020304" pitchFamily="18" charset="0"/>
              </a:rPr>
              <a:t>We are surrounded by devices that require </a:t>
            </a:r>
            <a:r>
              <a:rPr lang="en-GB" sz="2000" b="1" dirty="0">
                <a:solidFill>
                  <a:srgbClr val="6759A2"/>
                </a:solidFill>
                <a:latin typeface="Calibri" panose="020F0502020204030204" pitchFamily="34" charset="0"/>
                <a:ea typeface="Calibri" panose="020F0502020204030204" pitchFamily="34" charset="0"/>
                <a:cs typeface="Times New Roman" panose="02020603050405020304" pitchFamily="18" charset="0"/>
              </a:rPr>
              <a:t>computer programs</a:t>
            </a:r>
            <a:r>
              <a:rPr lang="en-GB" sz="2000" dirty="0">
                <a:solidFill>
                  <a:srgbClr val="6759A2"/>
                </a:solidFill>
                <a:latin typeface="Calibri" panose="020F0502020204030204" pitchFamily="34" charset="0"/>
                <a:ea typeface="Calibri" panose="020F0502020204030204" pitchFamily="34" charset="0"/>
                <a:cs typeface="Times New Roman" panose="02020603050405020304" pitchFamily="18" charset="0"/>
              </a:rPr>
              <a:t> </a:t>
            </a:r>
            <a:r>
              <a:rPr lang="en-GB" sz="2000" dirty="0">
                <a:latin typeface="Calibri" panose="020F0502020204030204" pitchFamily="34" charset="0"/>
                <a:ea typeface="Calibri" panose="020F0502020204030204" pitchFamily="34" charset="0"/>
                <a:cs typeface="Times New Roman" panose="02020603050405020304" pitchFamily="18" charset="0"/>
              </a:rPr>
              <a:t>to work.</a:t>
            </a:r>
          </a:p>
          <a:p>
            <a:pPr>
              <a:spcAft>
                <a:spcPts val="0"/>
              </a:spcAft>
            </a:pPr>
            <a:r>
              <a:rPr lang="en-GB" sz="2000" dirty="0">
                <a:latin typeface="Calibri" panose="020F0502020204030204" pitchFamily="34" charset="0"/>
                <a:ea typeface="Calibri" panose="020F0502020204030204" pitchFamily="34" charset="0"/>
                <a:cs typeface="Times New Roman" panose="02020603050405020304" pitchFamily="18" charset="0"/>
              </a:rPr>
              <a:t>We rely on computer programs to:</a:t>
            </a:r>
          </a:p>
          <a:p>
            <a:pPr marL="342900" lvl="0" indent="-342900">
              <a:spcAft>
                <a:spcPts val="0"/>
              </a:spcAft>
              <a:buFont typeface="Symbol" panose="05050102010706020507" pitchFamily="18" charset="2"/>
              <a:buChar char=""/>
            </a:pPr>
            <a:r>
              <a:rPr lang="en-GB" sz="2000" dirty="0">
                <a:latin typeface="Calibri" panose="020F0502020204030204" pitchFamily="34" charset="0"/>
                <a:ea typeface="Calibri" panose="020F0502020204030204" pitchFamily="34" charset="0"/>
                <a:cs typeface="Times New Roman" panose="02020603050405020304" pitchFamily="18" charset="0"/>
              </a:rPr>
              <a:t>bring us entertainment</a:t>
            </a:r>
          </a:p>
          <a:p>
            <a:pPr marL="342900" lvl="0" indent="-342900">
              <a:spcAft>
                <a:spcPts val="0"/>
              </a:spcAft>
              <a:buFont typeface="Symbol" panose="05050102010706020507" pitchFamily="18" charset="2"/>
              <a:buChar char=""/>
            </a:pPr>
            <a:r>
              <a:rPr lang="en-GB" sz="2000" dirty="0">
                <a:latin typeface="Calibri" panose="020F0502020204030204" pitchFamily="34" charset="0"/>
                <a:ea typeface="Calibri" panose="020F0502020204030204" pitchFamily="34" charset="0"/>
                <a:cs typeface="Times New Roman" panose="02020603050405020304" pitchFamily="18" charset="0"/>
              </a:rPr>
              <a:t>access our bank accounts online</a:t>
            </a:r>
          </a:p>
          <a:p>
            <a:pPr marL="342900" lvl="0" indent="-342900">
              <a:spcAft>
                <a:spcPts val="0"/>
              </a:spcAft>
              <a:buFont typeface="Symbol" panose="05050102010706020507" pitchFamily="18" charset="2"/>
              <a:buChar char=""/>
            </a:pPr>
            <a:r>
              <a:rPr lang="en-GB" sz="2000" dirty="0">
                <a:latin typeface="Calibri" panose="020F0502020204030204" pitchFamily="34" charset="0"/>
                <a:ea typeface="Calibri" panose="020F0502020204030204" pitchFamily="34" charset="0"/>
                <a:cs typeface="Times New Roman" panose="02020603050405020304" pitchFamily="18" charset="0"/>
              </a:rPr>
              <a:t>shop online</a:t>
            </a:r>
          </a:p>
          <a:p>
            <a:pPr marL="342900" lvl="0" indent="-342900">
              <a:spcAft>
                <a:spcPts val="0"/>
              </a:spcAft>
              <a:buFont typeface="Symbol" panose="05050102010706020507" pitchFamily="18" charset="2"/>
              <a:buChar char=""/>
            </a:pPr>
            <a:r>
              <a:rPr lang="en-GB" sz="2000" dirty="0">
                <a:latin typeface="Calibri" panose="020F0502020204030204" pitchFamily="34" charset="0"/>
                <a:ea typeface="Calibri" panose="020F0502020204030204" pitchFamily="34" charset="0"/>
                <a:cs typeface="Times New Roman" panose="02020603050405020304" pitchFamily="18" charset="0"/>
              </a:rPr>
              <a:t>cook our food</a:t>
            </a:r>
          </a:p>
          <a:p>
            <a:pPr marL="342900" lvl="0" indent="-342900">
              <a:spcAft>
                <a:spcPts val="0"/>
              </a:spcAft>
              <a:buFont typeface="Symbol" panose="05050102010706020507" pitchFamily="18" charset="2"/>
              <a:buChar char=""/>
            </a:pPr>
            <a:r>
              <a:rPr lang="en-GB" sz="2000" dirty="0">
                <a:latin typeface="Calibri" panose="020F0502020204030204" pitchFamily="34" charset="0"/>
                <a:ea typeface="Calibri" panose="020F0502020204030204" pitchFamily="34" charset="0"/>
                <a:cs typeface="Times New Roman" panose="02020603050405020304" pitchFamily="18" charset="0"/>
              </a:rPr>
              <a:t>move from one place to another.</a:t>
            </a:r>
          </a:p>
        </p:txBody>
      </p:sp>
      <p:pic>
        <p:nvPicPr>
          <p:cNvPr id="7" name="Picture 6" descr="A picture containing text, computer, computer, electronics&#10;&#10;Description automatically generated">
            <a:extLst>
              <a:ext uri="{FF2B5EF4-FFF2-40B4-BE49-F238E27FC236}">
                <a16:creationId xmlns:a16="http://schemas.microsoft.com/office/drawing/2014/main" id="{6DF226FF-3607-2746-B18F-F28B27DB71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86651" y="4101674"/>
            <a:ext cx="2989105" cy="1991204"/>
          </a:xfrm>
          <a:prstGeom prst="rect">
            <a:avLst/>
          </a:prstGeom>
        </p:spPr>
      </p:pic>
    </p:spTree>
    <p:extLst>
      <p:ext uri="{BB962C8B-B14F-4D97-AF65-F5344CB8AC3E}">
        <p14:creationId xmlns:p14="http://schemas.microsoft.com/office/powerpoint/2010/main" val="116616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sz="4000" b="1" dirty="0">
                <a:solidFill>
                  <a:schemeClr val="bg1"/>
                </a:solidFill>
              </a:rPr>
              <a:t>Activity 1.1: Smart devices and programming</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24591" y="4054360"/>
            <a:ext cx="2441267" cy="2391922"/>
          </a:xfrm>
          <a:prstGeom prst="rect">
            <a:avLst/>
          </a:prstGeom>
        </p:spPr>
      </p:pic>
      <p:sp>
        <p:nvSpPr>
          <p:cNvPr id="3" name="Rectangle 2">
            <a:extLst>
              <a:ext uri="{FF2B5EF4-FFF2-40B4-BE49-F238E27FC236}">
                <a16:creationId xmlns:a16="http://schemas.microsoft.com/office/drawing/2014/main" id="{285A996D-0EDB-475D-A822-7372643A8982}"/>
              </a:ext>
            </a:extLst>
          </p:cNvPr>
          <p:cNvSpPr/>
          <p:nvPr/>
        </p:nvSpPr>
        <p:spPr>
          <a:xfrm>
            <a:off x="894734" y="1813790"/>
            <a:ext cx="8868697" cy="4093428"/>
          </a:xfrm>
          <a:prstGeom prst="rect">
            <a:avLst/>
          </a:prstGeom>
        </p:spPr>
        <p:txBody>
          <a:bodyPr wrap="square">
            <a:spAutoFit/>
          </a:bodyPr>
          <a:lstStyle/>
          <a:p>
            <a:r>
              <a:rPr lang="en-US" dirty="0"/>
              <a:t>1.	</a:t>
            </a:r>
            <a:r>
              <a:rPr lang="en-US" sz="2000" dirty="0"/>
              <a:t>There are up to 50 computers in a car.</a:t>
            </a:r>
          </a:p>
          <a:p>
            <a:r>
              <a:rPr lang="en-US" sz="2000" dirty="0"/>
              <a:t>2.	C or C++ is used to program a car computer.</a:t>
            </a:r>
          </a:p>
          <a:p>
            <a:r>
              <a:rPr lang="en-US" sz="2000" dirty="0"/>
              <a:t>3.	An internet-connected refrigerator senses what is inside it and keeps track of stock using the barcodes on products. It can suggest items for a shopping lists or recipes based on the contents of the fridge.</a:t>
            </a:r>
          </a:p>
          <a:p>
            <a:r>
              <a:rPr lang="en-US" sz="2000" dirty="0"/>
              <a:t>4.	A smart doorbell provides the householder with a video and audio link to anyone outside the house who uses the bell. It can also be activated by motion sensors so the householder can see who is outside the door even if they do not ring the bell.</a:t>
            </a:r>
          </a:p>
          <a:p>
            <a:r>
              <a:rPr lang="en-US" sz="2000" dirty="0"/>
              <a:t>5.	Assembly language, a low-level programming language, is used to program microprocessors and microcontrollers for </a:t>
            </a:r>
            <a:r>
              <a:rPr lang="en-US" sz="2000" dirty="0" err="1"/>
              <a:t>computerised</a:t>
            </a:r>
            <a:r>
              <a:rPr lang="en-US" sz="2000" dirty="0"/>
              <a:t> products such as washing machines.</a:t>
            </a:r>
          </a:p>
          <a:p>
            <a:r>
              <a:rPr lang="en-US" sz="2000" dirty="0"/>
              <a:t>6.	Amazon Echo (Alexa) uses Java, JavaScript, Python, C# or Go.</a:t>
            </a:r>
          </a:p>
        </p:txBody>
      </p:sp>
    </p:spTree>
    <p:extLst>
      <p:ext uri="{BB962C8B-B14F-4D97-AF65-F5344CB8AC3E}">
        <p14:creationId xmlns:p14="http://schemas.microsoft.com/office/powerpoint/2010/main" val="2767135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854765"/>
            <a:ext cx="9733721" cy="835923"/>
          </a:xfrm>
        </p:spPr>
        <p:txBody>
          <a:bodyPr/>
          <a:lstStyle/>
          <a:p>
            <a:r>
              <a:rPr lang="en-GB" b="1" dirty="0">
                <a:solidFill>
                  <a:schemeClr val="bg1"/>
                </a:solidFill>
              </a:rPr>
              <a:t>Programming languages</a:t>
            </a:r>
          </a:p>
        </p:txBody>
      </p:sp>
      <p:sp>
        <p:nvSpPr>
          <p:cNvPr id="7" name="Rectangle 6">
            <a:extLst>
              <a:ext uri="{FF2B5EF4-FFF2-40B4-BE49-F238E27FC236}">
                <a16:creationId xmlns:a16="http://schemas.microsoft.com/office/drawing/2014/main" id="{9F327EE0-A199-4129-93C1-0EAF70DA937B}"/>
              </a:ext>
            </a:extLst>
          </p:cNvPr>
          <p:cNvSpPr/>
          <p:nvPr/>
        </p:nvSpPr>
        <p:spPr>
          <a:xfrm>
            <a:off x="1620078" y="2139193"/>
            <a:ext cx="8857772" cy="3970318"/>
          </a:xfrm>
          <a:prstGeom prst="rect">
            <a:avLst/>
          </a:prstGeom>
        </p:spPr>
        <p:txBody>
          <a:bodyPr wrap="square">
            <a:spAutoFit/>
          </a:bodyPr>
          <a:lstStyle/>
          <a:p>
            <a:pPr>
              <a:spcAft>
                <a:spcPts val="0"/>
              </a:spcAft>
            </a:pPr>
            <a:r>
              <a:rPr lang="en-GB" dirty="0">
                <a:latin typeface="Calibri" panose="020F0502020204030204" pitchFamily="34" charset="0"/>
                <a:ea typeface="Calibri" panose="020F0502020204030204" pitchFamily="34" charset="0"/>
                <a:cs typeface="Times New Roman" panose="02020603050405020304" pitchFamily="18" charset="0"/>
              </a:rPr>
              <a:t>Programmers use many different programming languages to write computer programs, and each programming language was designed for a specific purpose. For example:</a:t>
            </a:r>
          </a:p>
          <a:p>
            <a:pPr marL="342900" lvl="0" indent="-342900">
              <a:spcAft>
                <a:spcPts val="0"/>
              </a:spcAft>
              <a:buFont typeface="Symbol" panose="05050102010706020507" pitchFamily="18" charset="2"/>
              <a:buChar char=""/>
            </a:pPr>
            <a:r>
              <a:rPr lang="en-GB" b="1" dirty="0">
                <a:latin typeface="Calibri" panose="020F0502020204030204" pitchFamily="34" charset="0"/>
                <a:ea typeface="Calibri" panose="020F0502020204030204" pitchFamily="34" charset="0"/>
                <a:cs typeface="Times New Roman" panose="02020603050405020304" pitchFamily="18" charset="0"/>
              </a:rPr>
              <a:t>Java</a:t>
            </a:r>
            <a:r>
              <a:rPr lang="en-GB" dirty="0">
                <a:latin typeface="Calibri" panose="020F0502020204030204" pitchFamily="34" charset="0"/>
                <a:ea typeface="Calibri" panose="020F0502020204030204" pitchFamily="34" charset="0"/>
                <a:cs typeface="Times New Roman" panose="02020603050405020304" pitchFamily="18" charset="0"/>
              </a:rPr>
              <a:t> is used to code video games, mobile apps, as well as Google Docs.</a:t>
            </a:r>
          </a:p>
          <a:p>
            <a:pPr marL="342900" lvl="0" indent="-342900">
              <a:spcAft>
                <a:spcPts val="0"/>
              </a:spcAft>
              <a:buFont typeface="Symbol" panose="05050102010706020507" pitchFamily="18" charset="2"/>
              <a:buChar char=""/>
            </a:pPr>
            <a:r>
              <a:rPr lang="en-GB" b="1" dirty="0">
                <a:latin typeface="Calibri" panose="020F0502020204030204" pitchFamily="34" charset="0"/>
                <a:ea typeface="Calibri" panose="020F0502020204030204" pitchFamily="34" charset="0"/>
                <a:cs typeface="Times New Roman" panose="02020603050405020304" pitchFamily="18" charset="0"/>
              </a:rPr>
              <a:t>Ruby</a:t>
            </a:r>
            <a:r>
              <a:rPr lang="en-GB" dirty="0">
                <a:latin typeface="Calibri" panose="020F0502020204030204" pitchFamily="34" charset="0"/>
                <a:ea typeface="Calibri" panose="020F0502020204030204" pitchFamily="34" charset="0"/>
                <a:cs typeface="Times New Roman" panose="02020603050405020304" pitchFamily="18" charset="0"/>
              </a:rPr>
              <a:t> is used to code web apps.</a:t>
            </a:r>
          </a:p>
          <a:p>
            <a:pPr marL="342900" lvl="0" indent="-342900">
              <a:spcAft>
                <a:spcPts val="0"/>
              </a:spcAft>
              <a:buFont typeface="Symbol" panose="05050102010706020507" pitchFamily="18" charset="2"/>
              <a:buChar char=""/>
            </a:pPr>
            <a:r>
              <a:rPr lang="en-GB" b="1" dirty="0">
                <a:latin typeface="Calibri" panose="020F0502020204030204" pitchFamily="34" charset="0"/>
                <a:ea typeface="Calibri" panose="020F0502020204030204" pitchFamily="34" charset="0"/>
                <a:cs typeface="Times New Roman" panose="02020603050405020304" pitchFamily="18" charset="0"/>
              </a:rPr>
              <a:t>JavaScript</a:t>
            </a:r>
            <a:r>
              <a:rPr lang="en-GB" dirty="0">
                <a:latin typeface="Calibri" panose="020F0502020204030204" pitchFamily="34" charset="0"/>
                <a:ea typeface="Calibri" panose="020F0502020204030204" pitchFamily="34" charset="0"/>
                <a:cs typeface="Times New Roman" panose="02020603050405020304" pitchFamily="18" charset="0"/>
              </a:rPr>
              <a:t> is used to add interactive elements to websites.</a:t>
            </a:r>
          </a:p>
          <a:p>
            <a:pPr marL="342900" lvl="0" indent="-342900">
              <a:spcAft>
                <a:spcPts val="0"/>
              </a:spcAft>
              <a:buFont typeface="Symbol" panose="05050102010706020507" pitchFamily="18" charset="2"/>
              <a:buChar char=""/>
            </a:pPr>
            <a:r>
              <a:rPr lang="en-GB" b="1" dirty="0">
                <a:latin typeface="Calibri" panose="020F0502020204030204" pitchFamily="34" charset="0"/>
                <a:ea typeface="Calibri" panose="020F0502020204030204" pitchFamily="34" charset="0"/>
                <a:cs typeface="Times New Roman" panose="02020603050405020304" pitchFamily="18" charset="0"/>
              </a:rPr>
              <a:t>SQL </a:t>
            </a:r>
            <a:r>
              <a:rPr lang="en-GB" dirty="0">
                <a:latin typeface="Calibri" panose="020F0502020204030204" pitchFamily="34" charset="0"/>
                <a:ea typeface="Calibri" panose="020F0502020204030204" pitchFamily="34" charset="0"/>
                <a:cs typeface="Times New Roman" panose="02020603050405020304" pitchFamily="18" charset="0"/>
              </a:rPr>
              <a:t>is used to access data in a database.</a:t>
            </a:r>
          </a:p>
          <a:p>
            <a:pPr marL="342900" lvl="0" indent="-342900">
              <a:spcAft>
                <a:spcPts val="0"/>
              </a:spcAft>
              <a:buFont typeface="Symbol" panose="05050102010706020507" pitchFamily="18" charset="2"/>
              <a:buChar char=""/>
            </a:pPr>
            <a:r>
              <a:rPr lang="en-GB" b="1" dirty="0">
                <a:latin typeface="Calibri" panose="020F0502020204030204" pitchFamily="34" charset="0"/>
                <a:ea typeface="Calibri" panose="020F0502020204030204" pitchFamily="34" charset="0"/>
                <a:cs typeface="Times New Roman" panose="02020603050405020304" pitchFamily="18" charset="0"/>
              </a:rPr>
              <a:t>Low-level and assembly languages </a:t>
            </a:r>
            <a:r>
              <a:rPr lang="en-GB" dirty="0">
                <a:latin typeface="Calibri" panose="020F0502020204030204" pitchFamily="34" charset="0"/>
                <a:ea typeface="Calibri" panose="020F0502020204030204" pitchFamily="34" charset="0"/>
                <a:cs typeface="Times New Roman" panose="02020603050405020304" pitchFamily="18" charset="0"/>
              </a:rPr>
              <a:t>are used to create programs that directly control hardware, such as printers and washing machines.</a:t>
            </a:r>
          </a:p>
          <a:p>
            <a:pPr marL="342900" lvl="0" indent="-342900">
              <a:spcAft>
                <a:spcPts val="0"/>
              </a:spcAft>
              <a:buFont typeface="Symbol" panose="05050102010706020507" pitchFamily="18" charset="2"/>
              <a:buChar char=""/>
            </a:pPr>
            <a:r>
              <a:rPr lang="en-GB" b="1" dirty="0">
                <a:latin typeface="Calibri" panose="020F0502020204030204" pitchFamily="34" charset="0"/>
                <a:ea typeface="Calibri" panose="020F0502020204030204" pitchFamily="34" charset="0"/>
                <a:cs typeface="Times New Roman" panose="02020603050405020304" pitchFamily="18" charset="0"/>
              </a:rPr>
              <a:t>Python</a:t>
            </a:r>
            <a:r>
              <a:rPr lang="en-GB" dirty="0">
                <a:latin typeface="Calibri" panose="020F0502020204030204" pitchFamily="34" charset="0"/>
                <a:ea typeface="Calibri" panose="020F0502020204030204" pitchFamily="34" charset="0"/>
                <a:cs typeface="Times New Roman" panose="02020603050405020304" pitchFamily="18" charset="0"/>
              </a:rPr>
              <a:t> is one of the most popular programming languages in the world. It is used to code web apps and in game development, artificial intelligence and a lot more.</a:t>
            </a:r>
          </a:p>
          <a:p>
            <a:pPr lvl="0">
              <a:spcAft>
                <a:spcPts val="0"/>
              </a:spcAft>
            </a:pPr>
            <a:endParaRPr lang="en-GB" dirty="0">
              <a:latin typeface="Calibri" panose="020F0502020204030204" pitchFamily="34" charset="0"/>
              <a:ea typeface="Calibri" panose="020F0502020204030204" pitchFamily="34" charset="0"/>
              <a:cs typeface="Times New Roman" panose="02020603050405020304" pitchFamily="18" charset="0"/>
            </a:endParaRPr>
          </a:p>
          <a:p>
            <a:pPr lvl="0">
              <a:spcAft>
                <a:spcPts val="0"/>
              </a:spcAft>
            </a:pPr>
            <a:r>
              <a:rPr lang="en-GB" dirty="0">
                <a:latin typeface="Calibri" panose="020F0502020204030204" pitchFamily="34" charset="0"/>
                <a:ea typeface="Calibri" panose="020F0502020204030204" pitchFamily="34" charset="0"/>
                <a:cs typeface="Times New Roman" panose="02020603050405020304" pitchFamily="18" charset="0"/>
              </a:rPr>
              <a:t>With simple syntax and English-like commands, Python is easy to read and one of the easiest languages to learn. According to </a:t>
            </a:r>
            <a:r>
              <a:rPr lang="en-GB" dirty="0">
                <a:latin typeface="Calibri" panose="020F0502020204030204" pitchFamily="34" charset="0"/>
                <a:ea typeface="Calibri" panose="020F0502020204030204" pitchFamily="34" charset="0"/>
                <a:cs typeface="Times New Roman" panose="02020603050405020304" pitchFamily="18" charset="0"/>
                <a:hlinkClick r:id="rId2"/>
              </a:rPr>
              <a:t>www.techrepublic.com</a:t>
            </a:r>
            <a:r>
              <a:rPr lang="en-GB" dirty="0">
                <a:latin typeface="Calibri" panose="020F0502020204030204" pitchFamily="34" charset="0"/>
                <a:ea typeface="Calibri" panose="020F0502020204030204" pitchFamily="34" charset="0"/>
                <a:cs typeface="Times New Roman" panose="02020603050405020304" pitchFamily="18" charset="0"/>
              </a:rPr>
              <a:t>, ‘Python developer’ was one of the top 10 in-demand tech jobs in 2019.</a:t>
            </a:r>
          </a:p>
        </p:txBody>
      </p:sp>
    </p:spTree>
    <p:extLst>
      <p:ext uri="{BB962C8B-B14F-4D97-AF65-F5344CB8AC3E}">
        <p14:creationId xmlns:p14="http://schemas.microsoft.com/office/powerpoint/2010/main" val="300574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9753599" cy="845862"/>
          </a:xfrm>
        </p:spPr>
        <p:txBody>
          <a:bodyPr/>
          <a:lstStyle/>
          <a:p>
            <a:r>
              <a:rPr lang="en-GB" b="1" dirty="0">
                <a:solidFill>
                  <a:schemeClr val="bg1"/>
                </a:solidFill>
              </a:rPr>
              <a:t>What is a computer program?</a:t>
            </a:r>
          </a:p>
        </p:txBody>
      </p:sp>
      <p:sp>
        <p:nvSpPr>
          <p:cNvPr id="7" name="Rectangle 6">
            <a:extLst>
              <a:ext uri="{FF2B5EF4-FFF2-40B4-BE49-F238E27FC236}">
                <a16:creationId xmlns:a16="http://schemas.microsoft.com/office/drawing/2014/main" id="{E90AC0A7-7CDA-4567-AD11-EB954EDFD4B6}"/>
              </a:ext>
            </a:extLst>
          </p:cNvPr>
          <p:cNvSpPr/>
          <p:nvPr/>
        </p:nvSpPr>
        <p:spPr>
          <a:xfrm>
            <a:off x="1600200" y="2172749"/>
            <a:ext cx="8055528" cy="3539430"/>
          </a:xfrm>
          <a:prstGeom prst="rect">
            <a:avLst/>
          </a:prstGeom>
        </p:spPr>
        <p:txBody>
          <a:bodyPr wrap="square">
            <a:spAutoFit/>
          </a:bodyPr>
          <a:lstStyle/>
          <a:p>
            <a:pPr>
              <a:spcAft>
                <a:spcPts val="0"/>
              </a:spcAft>
            </a:pPr>
            <a:r>
              <a:rPr lang="en-GB" sz="2800" dirty="0">
                <a:latin typeface="Calibri" panose="020F0502020204030204" pitchFamily="34" charset="0"/>
                <a:ea typeface="Calibri" panose="020F0502020204030204" pitchFamily="34" charset="0"/>
                <a:cs typeface="Times New Roman" panose="02020603050405020304" pitchFamily="18" charset="0"/>
              </a:rPr>
              <a:t>A computer program is a set of instructions that a computer follows </a:t>
            </a:r>
            <a:r>
              <a:rPr lang="en-GB" sz="2800" b="1" dirty="0">
                <a:solidFill>
                  <a:srgbClr val="6759A2"/>
                </a:solidFill>
                <a:latin typeface="Calibri" panose="020F0502020204030204" pitchFamily="34" charset="0"/>
                <a:ea typeface="Calibri" panose="020F0502020204030204" pitchFamily="34" charset="0"/>
                <a:cs typeface="Times New Roman" panose="02020603050405020304" pitchFamily="18" charset="0"/>
              </a:rPr>
              <a:t>precisely</a:t>
            </a:r>
            <a:r>
              <a:rPr lang="en-GB" sz="2800" dirty="0">
                <a:latin typeface="Calibri" panose="020F0502020204030204" pitchFamily="34" charset="0"/>
                <a:ea typeface="Calibri" panose="020F0502020204030204" pitchFamily="34" charset="0"/>
                <a:cs typeface="Times New Roman" panose="02020603050405020304" pitchFamily="18" charset="0"/>
              </a:rPr>
              <a:t>.</a:t>
            </a:r>
          </a:p>
          <a:p>
            <a:pPr>
              <a:spcAft>
                <a:spcPts val="0"/>
              </a:spcAft>
            </a:pPr>
            <a:r>
              <a:rPr lang="en-GB" sz="2800" dirty="0">
                <a:latin typeface="Calibri" panose="020F0502020204030204" pitchFamily="34" charset="0"/>
                <a:ea typeface="Calibri" panose="020F0502020204030204" pitchFamily="34" charset="0"/>
                <a:cs typeface="Times New Roman" panose="02020603050405020304" pitchFamily="18" charset="0"/>
              </a:rPr>
              <a:t>This means that a computer program must </a:t>
            </a:r>
            <a:r>
              <a:rPr lang="en-GB" sz="2800" b="1" dirty="0">
                <a:solidFill>
                  <a:srgbClr val="6759A2"/>
                </a:solidFill>
                <a:latin typeface="Calibri" panose="020F0502020204030204" pitchFamily="34" charset="0"/>
                <a:ea typeface="Calibri" panose="020F0502020204030204" pitchFamily="34" charset="0"/>
                <a:cs typeface="Times New Roman" panose="02020603050405020304" pitchFamily="18" charset="0"/>
              </a:rPr>
              <a:t>accurately</a:t>
            </a:r>
            <a:r>
              <a:rPr lang="en-GB" sz="2800" dirty="0">
                <a:latin typeface="Calibri" panose="020F0502020204030204" pitchFamily="34" charset="0"/>
                <a:ea typeface="Calibri" panose="020F0502020204030204" pitchFamily="34" charset="0"/>
                <a:cs typeface="Times New Roman" panose="02020603050405020304" pitchFamily="18" charset="0"/>
              </a:rPr>
              <a:t> describe what the computer has to do if it is to work as we expect it to.</a:t>
            </a:r>
          </a:p>
          <a:p>
            <a:pPr>
              <a:spcAft>
                <a:spcPts val="0"/>
              </a:spcAft>
            </a:pPr>
            <a:r>
              <a:rPr lang="en-GB" sz="2800" dirty="0">
                <a:latin typeface="Calibri" panose="020F0502020204030204" pitchFamily="34" charset="0"/>
                <a:ea typeface="Calibri" panose="020F0502020204030204" pitchFamily="34" charset="0"/>
                <a:cs typeface="Times New Roman" panose="02020603050405020304" pitchFamily="18" charset="0"/>
              </a:rPr>
              <a:t>The instructions must also be correctly </a:t>
            </a:r>
            <a:r>
              <a:rPr lang="en-GB" sz="2800" b="1" dirty="0">
                <a:solidFill>
                  <a:srgbClr val="6759A2"/>
                </a:solidFill>
                <a:latin typeface="Calibri" panose="020F0502020204030204" pitchFamily="34" charset="0"/>
                <a:ea typeface="Calibri" panose="020F0502020204030204" pitchFamily="34" charset="0"/>
                <a:cs typeface="Times New Roman" panose="02020603050405020304" pitchFamily="18" charset="0"/>
              </a:rPr>
              <a:t>sequenced</a:t>
            </a:r>
            <a:r>
              <a:rPr lang="en-GB" sz="2800" b="1" dirty="0">
                <a:latin typeface="Calibri" panose="020F0502020204030204" pitchFamily="34" charset="0"/>
                <a:ea typeface="Calibri" panose="020F0502020204030204" pitchFamily="34" charset="0"/>
                <a:cs typeface="Times New Roman" panose="02020603050405020304" pitchFamily="18" charset="0"/>
              </a:rPr>
              <a:t> </a:t>
            </a:r>
            <a:r>
              <a:rPr lang="en-GB" sz="2800" dirty="0">
                <a:latin typeface="Calibri" panose="020F0502020204030204" pitchFamily="34" charset="0"/>
                <a:ea typeface="Calibri" panose="020F0502020204030204" pitchFamily="34" charset="0"/>
                <a:cs typeface="Times New Roman" panose="02020603050405020304" pitchFamily="18" charset="0"/>
              </a:rPr>
              <a:t>because the computer will carry out each instruction in turn.</a:t>
            </a:r>
          </a:p>
        </p:txBody>
      </p:sp>
    </p:spTree>
    <p:extLst>
      <p:ext uri="{BB962C8B-B14F-4D97-AF65-F5344CB8AC3E}">
        <p14:creationId xmlns:p14="http://schemas.microsoft.com/office/powerpoint/2010/main" val="3538170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14799" y="846406"/>
            <a:ext cx="10037685" cy="865740"/>
          </a:xfrm>
        </p:spPr>
        <p:txBody>
          <a:bodyPr>
            <a:normAutofit/>
          </a:bodyPr>
          <a:lstStyle/>
          <a:p>
            <a:r>
              <a:rPr lang="en-GB" b="1" dirty="0">
                <a:solidFill>
                  <a:schemeClr val="bg1"/>
                </a:solidFill>
              </a:rPr>
              <a:t>Activity 1.2: Finding the way to the exit</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2216" y="1967027"/>
            <a:ext cx="4587567" cy="4494840"/>
          </a:xfrm>
          <a:prstGeom prst="rect">
            <a:avLst/>
          </a:prstGeom>
        </p:spPr>
      </p:pic>
    </p:spTree>
    <p:extLst>
      <p:ext uri="{BB962C8B-B14F-4D97-AF65-F5344CB8AC3E}">
        <p14:creationId xmlns:p14="http://schemas.microsoft.com/office/powerpoint/2010/main" val="1104268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A3C1ADA-8CF5-4DA4-9C24-E12473BDD6A7}"/>
              </a:ext>
            </a:extLst>
          </p:cNvPr>
          <p:cNvSpPr>
            <a:spLocks noGrp="1"/>
          </p:cNvSpPr>
          <p:nvPr>
            <p:ph type="title"/>
          </p:nvPr>
        </p:nvSpPr>
        <p:spPr>
          <a:xfrm>
            <a:off x="1614799" y="846406"/>
            <a:ext cx="10037685" cy="865740"/>
          </a:xfrm>
        </p:spPr>
        <p:txBody>
          <a:bodyPr>
            <a:normAutofit/>
          </a:bodyPr>
          <a:lstStyle/>
          <a:p>
            <a:r>
              <a:rPr lang="en-GB" b="1" dirty="0">
                <a:solidFill>
                  <a:schemeClr val="bg1"/>
                </a:solidFill>
              </a:rPr>
              <a:t>More than one solution</a:t>
            </a:r>
          </a:p>
        </p:txBody>
      </p:sp>
      <p:sp>
        <p:nvSpPr>
          <p:cNvPr id="9" name="Rectangle 8">
            <a:extLst>
              <a:ext uri="{FF2B5EF4-FFF2-40B4-BE49-F238E27FC236}">
                <a16:creationId xmlns:a16="http://schemas.microsoft.com/office/drawing/2014/main" id="{E7605A98-2293-4D05-8AB4-3C167BDB8F93}"/>
              </a:ext>
            </a:extLst>
          </p:cNvPr>
          <p:cNvSpPr/>
          <p:nvPr/>
        </p:nvSpPr>
        <p:spPr>
          <a:xfrm>
            <a:off x="4617687" y="1889437"/>
            <a:ext cx="6640927" cy="4247317"/>
          </a:xfrm>
          <a:prstGeom prst="rect">
            <a:avLst/>
          </a:prstGeom>
        </p:spPr>
        <p:txBody>
          <a:bodyPr wrap="square">
            <a:spAutoFit/>
          </a:bodyPr>
          <a:lstStyle/>
          <a:p>
            <a:pPr>
              <a:spcAft>
                <a:spcPts val="0"/>
              </a:spcAft>
            </a:pPr>
            <a:r>
              <a:rPr lang="en-GB" sz="2400" dirty="0">
                <a:latin typeface="Calibri" panose="020F0502020204030204" pitchFamily="34" charset="0"/>
                <a:ea typeface="Calibri" panose="020F0502020204030204" pitchFamily="34" charset="0"/>
                <a:cs typeface="Times New Roman" panose="02020603050405020304" pitchFamily="18" charset="0"/>
              </a:rPr>
              <a:t>There is more than one way to program the robot to find the exit. Here is one solution:</a:t>
            </a:r>
          </a:p>
          <a:p>
            <a:pPr lvl="6"/>
            <a:r>
              <a:rPr lang="da-DK" dirty="0">
                <a:latin typeface="Courier New" panose="02070309020205020404" pitchFamily="49" charset="0"/>
                <a:ea typeface="Calibri" panose="020F0502020204030204" pitchFamily="34" charset="0"/>
                <a:cs typeface="Courier New" panose="02070309020205020404" pitchFamily="49" charset="0"/>
              </a:rPr>
              <a:t>fd 8</a:t>
            </a:r>
            <a:endParaRPr lang="en-GB" dirty="0">
              <a:latin typeface="Courier New" panose="02070309020205020404" pitchFamily="49" charset="0"/>
              <a:ea typeface="Calibri" panose="020F0502020204030204" pitchFamily="34" charset="0"/>
              <a:cs typeface="Courier New" panose="02070309020205020404" pitchFamily="49" charset="0"/>
            </a:endParaRPr>
          </a:p>
          <a:p>
            <a:pPr lvl="6"/>
            <a:r>
              <a:rPr lang="da-DK" dirty="0">
                <a:latin typeface="Courier New" panose="02070309020205020404" pitchFamily="49" charset="0"/>
                <a:ea typeface="Calibri" panose="020F0502020204030204" pitchFamily="34" charset="0"/>
                <a:cs typeface="Courier New" panose="02070309020205020404" pitchFamily="49" charset="0"/>
              </a:rPr>
              <a:t>rt 90</a:t>
            </a:r>
            <a:endParaRPr lang="en-GB" dirty="0">
              <a:latin typeface="Courier New" panose="02070309020205020404" pitchFamily="49" charset="0"/>
              <a:ea typeface="Calibri" panose="020F0502020204030204" pitchFamily="34" charset="0"/>
              <a:cs typeface="Courier New" panose="02070309020205020404" pitchFamily="49" charset="0"/>
            </a:endParaRPr>
          </a:p>
          <a:p>
            <a:pPr lvl="6"/>
            <a:r>
              <a:rPr lang="da-DK" dirty="0">
                <a:latin typeface="Courier New" panose="02070309020205020404" pitchFamily="49" charset="0"/>
                <a:ea typeface="Calibri" panose="020F0502020204030204" pitchFamily="34" charset="0"/>
                <a:cs typeface="Courier New" panose="02070309020205020404" pitchFamily="49" charset="0"/>
              </a:rPr>
              <a:t>fd 5</a:t>
            </a:r>
            <a:endParaRPr lang="en-GB" dirty="0">
              <a:latin typeface="Courier New" panose="02070309020205020404" pitchFamily="49" charset="0"/>
              <a:ea typeface="Calibri" panose="020F0502020204030204" pitchFamily="34" charset="0"/>
              <a:cs typeface="Courier New" panose="02070309020205020404" pitchFamily="49" charset="0"/>
            </a:endParaRPr>
          </a:p>
          <a:p>
            <a:pPr lvl="6"/>
            <a:r>
              <a:rPr lang="da-DK" dirty="0">
                <a:latin typeface="Courier New" panose="02070309020205020404" pitchFamily="49" charset="0"/>
                <a:ea typeface="Calibri" panose="020F0502020204030204" pitchFamily="34" charset="0"/>
                <a:cs typeface="Courier New" panose="02070309020205020404" pitchFamily="49" charset="0"/>
              </a:rPr>
              <a:t>rt 90</a:t>
            </a:r>
            <a:endParaRPr lang="en-GB" dirty="0">
              <a:latin typeface="Courier New" panose="02070309020205020404" pitchFamily="49" charset="0"/>
              <a:ea typeface="Calibri" panose="020F0502020204030204" pitchFamily="34" charset="0"/>
              <a:cs typeface="Courier New" panose="02070309020205020404" pitchFamily="49" charset="0"/>
            </a:endParaRPr>
          </a:p>
          <a:p>
            <a:pPr lvl="6"/>
            <a:r>
              <a:rPr lang="en-GB" dirty="0" err="1">
                <a:latin typeface="Courier New" panose="02070309020205020404" pitchFamily="49" charset="0"/>
                <a:ea typeface="Calibri" panose="020F0502020204030204" pitchFamily="34" charset="0"/>
                <a:cs typeface="Courier New" panose="02070309020205020404" pitchFamily="49" charset="0"/>
              </a:rPr>
              <a:t>fd</a:t>
            </a:r>
            <a:r>
              <a:rPr lang="en-GB" dirty="0">
                <a:latin typeface="Courier New" panose="02070309020205020404" pitchFamily="49" charset="0"/>
                <a:ea typeface="Calibri" panose="020F0502020204030204" pitchFamily="34" charset="0"/>
                <a:cs typeface="Courier New" panose="02070309020205020404" pitchFamily="49" charset="0"/>
              </a:rPr>
              <a:t> 4</a:t>
            </a:r>
          </a:p>
          <a:p>
            <a:pPr lvl="6"/>
            <a:r>
              <a:rPr lang="en-GB" dirty="0" err="1">
                <a:latin typeface="Courier New" panose="02070309020205020404" pitchFamily="49" charset="0"/>
                <a:ea typeface="Calibri" panose="020F0502020204030204" pitchFamily="34" charset="0"/>
                <a:cs typeface="Courier New" panose="02070309020205020404" pitchFamily="49" charset="0"/>
              </a:rPr>
              <a:t>lt</a:t>
            </a:r>
            <a:r>
              <a:rPr lang="en-GB" dirty="0">
                <a:latin typeface="Courier New" panose="02070309020205020404" pitchFamily="49" charset="0"/>
                <a:ea typeface="Calibri" panose="020F0502020204030204" pitchFamily="34" charset="0"/>
                <a:cs typeface="Courier New" panose="02070309020205020404" pitchFamily="49" charset="0"/>
              </a:rPr>
              <a:t> 90</a:t>
            </a:r>
          </a:p>
          <a:p>
            <a:pPr lvl="6"/>
            <a:r>
              <a:rPr lang="en-GB" dirty="0" err="1">
                <a:latin typeface="Courier New" panose="02070309020205020404" pitchFamily="49" charset="0"/>
                <a:ea typeface="Calibri" panose="020F0502020204030204" pitchFamily="34" charset="0"/>
                <a:cs typeface="Courier New" panose="02070309020205020404" pitchFamily="49" charset="0"/>
              </a:rPr>
              <a:t>fd</a:t>
            </a:r>
            <a:r>
              <a:rPr lang="en-GB" dirty="0">
                <a:latin typeface="Courier New" panose="02070309020205020404" pitchFamily="49" charset="0"/>
                <a:ea typeface="Calibri" panose="020F0502020204030204" pitchFamily="34" charset="0"/>
                <a:cs typeface="Courier New" panose="02070309020205020404" pitchFamily="49" charset="0"/>
              </a:rPr>
              <a:t> 3</a:t>
            </a:r>
          </a:p>
          <a:p>
            <a:pPr>
              <a:spcAft>
                <a:spcPts val="0"/>
              </a:spcAft>
            </a:pPr>
            <a:endParaRPr lang="en-GB" sz="2400" dirty="0">
              <a:latin typeface="Calibri" panose="020F0502020204030204" pitchFamily="34" charset="0"/>
              <a:ea typeface="Calibri" panose="020F0502020204030204" pitchFamily="34" charset="0"/>
              <a:cs typeface="Times New Roman" panose="02020603050405020304" pitchFamily="18" charset="0"/>
            </a:endParaRPr>
          </a:p>
          <a:p>
            <a:r>
              <a:rPr lang="en-GB" sz="2400" dirty="0">
                <a:latin typeface="Calibri" panose="020F0502020204030204" pitchFamily="34" charset="0"/>
                <a:ea typeface="Calibri" panose="020F0502020204030204" pitchFamily="34" charset="0"/>
                <a:cs typeface="Times New Roman" panose="02020603050405020304" pitchFamily="18" charset="0"/>
              </a:rPr>
              <a:t>Just as there is more than one way to program the robot to find the exit, there is often more than one way to write most computer programs.</a:t>
            </a:r>
          </a:p>
        </p:txBody>
      </p:sp>
      <p:pic>
        <p:nvPicPr>
          <p:cNvPr id="3" name="Picture 2" descr="Chart, bar chart&#10;&#10;Description automatically generated">
            <a:extLst>
              <a:ext uri="{FF2B5EF4-FFF2-40B4-BE49-F238E27FC236}">
                <a16:creationId xmlns:a16="http://schemas.microsoft.com/office/drawing/2014/main" id="{F6D99BB3-CF5F-485B-B097-F291EC037A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2392" y="2494571"/>
            <a:ext cx="2703576" cy="2913888"/>
          </a:xfrm>
          <a:prstGeom prst="rect">
            <a:avLst/>
          </a:prstGeom>
        </p:spPr>
      </p:pic>
      <p:sp>
        <p:nvSpPr>
          <p:cNvPr id="2" name="TextBox 1">
            <a:extLst>
              <a:ext uri="{FF2B5EF4-FFF2-40B4-BE49-F238E27FC236}">
                <a16:creationId xmlns:a16="http://schemas.microsoft.com/office/drawing/2014/main" id="{0208BC69-E755-409A-8BD1-3DCB887146A0}"/>
              </a:ext>
            </a:extLst>
          </p:cNvPr>
          <p:cNvSpPr txBox="1"/>
          <p:nvPr/>
        </p:nvSpPr>
        <p:spPr>
          <a:xfrm>
            <a:off x="9989573" y="2236837"/>
            <a:ext cx="1553497" cy="2585323"/>
          </a:xfrm>
          <a:prstGeom prst="rect">
            <a:avLst/>
          </a:prstGeom>
          <a:noFill/>
        </p:spPr>
        <p:txBody>
          <a:bodyPr wrap="square" rtlCol="0">
            <a:spAutoFit/>
          </a:bodyPr>
          <a:lstStyle/>
          <a:p>
            <a:r>
              <a:rPr lang="en-US" dirty="0"/>
              <a:t>cs</a:t>
            </a:r>
          </a:p>
          <a:p>
            <a:r>
              <a:rPr lang="en-US" dirty="0"/>
              <a:t>rt -90</a:t>
            </a:r>
          </a:p>
          <a:p>
            <a:r>
              <a:rPr lang="en-US" dirty="0" err="1"/>
              <a:t>fd</a:t>
            </a:r>
            <a:r>
              <a:rPr lang="en-US" dirty="0"/>
              <a:t> 100</a:t>
            </a:r>
          </a:p>
          <a:p>
            <a:r>
              <a:rPr lang="en-US" dirty="0"/>
              <a:t>rt 90</a:t>
            </a:r>
          </a:p>
          <a:p>
            <a:r>
              <a:rPr lang="en-US" dirty="0" err="1"/>
              <a:t>fd</a:t>
            </a:r>
            <a:r>
              <a:rPr lang="en-US" dirty="0"/>
              <a:t> 100</a:t>
            </a:r>
          </a:p>
          <a:p>
            <a:r>
              <a:rPr lang="en-US" dirty="0"/>
              <a:t>rt 90</a:t>
            </a:r>
          </a:p>
          <a:p>
            <a:r>
              <a:rPr lang="en-US" dirty="0" err="1"/>
              <a:t>fd</a:t>
            </a:r>
            <a:r>
              <a:rPr lang="en-US" dirty="0"/>
              <a:t> 50</a:t>
            </a:r>
          </a:p>
          <a:p>
            <a:r>
              <a:rPr lang="en-US" dirty="0"/>
              <a:t>rt -90</a:t>
            </a:r>
          </a:p>
          <a:p>
            <a:r>
              <a:rPr lang="en-US" dirty="0" err="1"/>
              <a:t>fd</a:t>
            </a:r>
            <a:r>
              <a:rPr lang="en-US" dirty="0"/>
              <a:t> 50</a:t>
            </a:r>
          </a:p>
        </p:txBody>
      </p:sp>
    </p:spTree>
    <p:extLst>
      <p:ext uri="{BB962C8B-B14F-4D97-AF65-F5344CB8AC3E}">
        <p14:creationId xmlns:p14="http://schemas.microsoft.com/office/powerpoint/2010/main" val="3615003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4860" y="854765"/>
            <a:ext cx="10037685" cy="775252"/>
          </a:xfrm>
        </p:spPr>
        <p:txBody>
          <a:bodyPr>
            <a:noAutofit/>
          </a:bodyPr>
          <a:lstStyle/>
          <a:p>
            <a:r>
              <a:rPr lang="en-GB" sz="3200" b="1" dirty="0">
                <a:solidFill>
                  <a:schemeClr val="bg1"/>
                </a:solidFill>
              </a:rPr>
              <a:t>Activity 1.3: Programming in Python: sequence, Section 1</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2217" y="3915807"/>
            <a:ext cx="2598584" cy="2546060"/>
          </a:xfrm>
          <a:prstGeom prst="rect">
            <a:avLst/>
          </a:prstGeom>
        </p:spPr>
      </p:pic>
      <p:sp>
        <p:nvSpPr>
          <p:cNvPr id="3" name="Rectangle 2">
            <a:extLst>
              <a:ext uri="{FF2B5EF4-FFF2-40B4-BE49-F238E27FC236}">
                <a16:creationId xmlns:a16="http://schemas.microsoft.com/office/drawing/2014/main" id="{3464DF68-5CF9-48D1-9D64-23915175DBF3}"/>
              </a:ext>
            </a:extLst>
          </p:cNvPr>
          <p:cNvSpPr/>
          <p:nvPr/>
        </p:nvSpPr>
        <p:spPr>
          <a:xfrm>
            <a:off x="2004870" y="2900205"/>
            <a:ext cx="7556941" cy="461665"/>
          </a:xfrm>
          <a:prstGeom prst="rect">
            <a:avLst/>
          </a:prstGeom>
        </p:spPr>
        <p:txBody>
          <a:bodyPr wrap="none">
            <a:spAutoFit/>
          </a:bodyPr>
          <a:lstStyle/>
          <a:p>
            <a:r>
              <a:rPr lang="en-US" sz="2400" dirty="0"/>
              <a:t>https://www.w3schools.com/python/python_variables.asp</a:t>
            </a:r>
          </a:p>
        </p:txBody>
      </p:sp>
    </p:spTree>
    <p:extLst>
      <p:ext uri="{BB962C8B-B14F-4D97-AF65-F5344CB8AC3E}">
        <p14:creationId xmlns:p14="http://schemas.microsoft.com/office/powerpoint/2010/main" val="3087291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14799" y="846406"/>
            <a:ext cx="10037685" cy="743855"/>
          </a:xfrm>
        </p:spPr>
        <p:txBody>
          <a:bodyPr>
            <a:noAutofit/>
          </a:bodyPr>
          <a:lstStyle/>
          <a:p>
            <a:r>
              <a:rPr lang="en-GB" b="1" dirty="0">
                <a:solidFill>
                  <a:schemeClr val="bg1"/>
                </a:solidFill>
              </a:rPr>
              <a:t>Quiz 1</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2216" y="1967027"/>
            <a:ext cx="4587567" cy="4494840"/>
          </a:xfrm>
          <a:prstGeom prst="rect">
            <a:avLst/>
          </a:prstGeom>
        </p:spPr>
      </p:pic>
    </p:spTree>
    <p:extLst>
      <p:ext uri="{BB962C8B-B14F-4D97-AF65-F5344CB8AC3E}">
        <p14:creationId xmlns:p14="http://schemas.microsoft.com/office/powerpoint/2010/main" val="30947474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402</TotalTime>
  <Words>457</Words>
  <Application>Microsoft Office PowerPoint</Application>
  <PresentationFormat>Widescreen</PresentationFormat>
  <Paragraphs>60</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Courier New</vt:lpstr>
      <vt:lpstr>Symbol</vt:lpstr>
      <vt:lpstr>Office Theme</vt:lpstr>
      <vt:lpstr>Programming in Python: sequence</vt:lpstr>
      <vt:lpstr>Objectives</vt:lpstr>
      <vt:lpstr>Computer programs are everywhere</vt:lpstr>
      <vt:lpstr>Activity 1.1: Smart devices and programming</vt:lpstr>
      <vt:lpstr>Programming languages</vt:lpstr>
      <vt:lpstr>What is a computer program?</vt:lpstr>
      <vt:lpstr>Activity 1.2: Finding the way to the exit</vt:lpstr>
      <vt:lpstr>More than one solution</vt:lpstr>
      <vt:lpstr>Activity 1.3: Programming in Python: sequence, Section 1</vt:lpstr>
      <vt:lpstr>Quiz 1</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Tamar Zedginidze</cp:lastModifiedBy>
  <cp:revision>27</cp:revision>
  <dcterms:created xsi:type="dcterms:W3CDTF">2020-11-04T15:22:46Z</dcterms:created>
  <dcterms:modified xsi:type="dcterms:W3CDTF">2025-04-28T19:41:41Z</dcterms:modified>
</cp:coreProperties>
</file>