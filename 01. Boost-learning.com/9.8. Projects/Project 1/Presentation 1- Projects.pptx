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73" r:id="rId5"/>
    <p:sldId id="274" r:id="rId6"/>
    <p:sldId id="275" r:id="rId7"/>
    <p:sldId id="276" r:id="rId8"/>
    <p:sldId id="277" r:id="rId9"/>
    <p:sldId id="278" r:id="rId10"/>
    <p:sldId id="279" r:id="rId11"/>
    <p:sldId id="266" r:id="rId12"/>
    <p:sldId id="28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 Albrechtsen" initials="LA" lastIdx="2" clrIdx="0">
    <p:extLst>
      <p:ext uri="{19B8F6BF-5375-455C-9EA6-DF929625EA0E}">
        <p15:presenceInfo xmlns:p15="http://schemas.microsoft.com/office/powerpoint/2012/main" userId="S::Lea.Albrechtsen@hoddereducation.co.uk::4df490f3-5904-4e82-a5b6-23281874b6f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8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636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28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F7712-1F3B-4253-AEF1-0FE171523E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C14F2F-A2B8-4861-8B33-2CF08A1C2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81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0902-80CF-4DD3-B59F-8E58611CF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56315-CBCB-4124-93B3-3DEF3C56B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A47B5-60C4-46E0-B317-50F50E6D85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49A0D-7474-4882-A51A-CF35E154F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5A12C-5BED-457E-A6CE-2E58C8D0D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353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2461-8DBB-43F0-A3AC-126E64397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96A727-278D-4E57-850B-78E0D727C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1C733-75AA-40FE-8179-B58FA4EA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C4D2E-FA87-41DA-961F-7D250DD08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20F2E-2A86-4F16-B83F-E86E73199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1104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5B458-3AE6-4C21-BEBE-F7B760619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FF206-47D4-451B-80B7-578E10A3E6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2DF79-B13E-46C5-AAA1-F49C3BABAB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199702-3758-423C-8C91-550D5C885D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5CC31-BF31-4EB1-8B54-2DD0D6BE7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EFAF2-4586-4670-8EF7-78067B187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6154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05FA2-A60C-405C-A307-880C049C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70388-4034-4A46-8B98-D37491E01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39A8B-6B00-4329-AC44-AD6EBE236E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5DFF08-1C59-4E60-A964-4D4A369007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548497-A585-4527-B8A6-BB01B9FBC4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C2D4B-BCC3-48CF-B358-D817886727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93C415-FAAE-444A-BBA1-9059E1C45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C512DB-E555-4910-92DC-7AB19F87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741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D8A33-5CA5-4826-9B83-0B2F6A50C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7C1E61-1B5E-44DC-BC0F-2F956B04C0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212BA-9EF0-4463-A9C0-997D55720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0D64F-9F3A-43FB-A563-07763EE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599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739767-A677-43FB-A13E-C6E76D21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A103BA-C2DE-41DE-842B-306DECB78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320D2-03FC-47A8-B437-7B7CEBDD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717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B20E6-8664-4FD7-A9B2-0B5C17E86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5017E-7CE6-4AFE-8756-092A85840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5C17A6-B2E1-42BB-9629-032C80545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1DC4D7-18F9-4992-BB61-15FA97A529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52144-EB56-46FB-8C3D-7A8702354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142B02-C27D-4AC0-9DE7-A653F338F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5581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FD8A0-DA8A-463F-AC82-9A3D896B8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B553CB-6BB8-4D69-8270-E69093C14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0E0B06-F972-42E3-B94A-6BA4824458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FCFE24-5759-425E-A7E5-6EAACD13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458F3E-34B5-48AA-B148-66ED69F30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33722-4E46-4BF0-841D-DC92DCB4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3194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A43C2-4F61-40F8-A06C-596F42B7D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12D4A7-8F4B-484D-90BE-4A6A303F6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E0C66-2DCD-4454-98BE-EE8ADD1D79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655C5-A5ED-4766-97E4-846A80536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DFEEA-B282-4D56-A557-4193031EB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290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1B7A8B-8DD3-4239-8EA1-8739462541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21B91-126F-434B-86F2-89E6778E91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FCCA6-FBA0-4A4B-97BC-8B2465C018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7EED6-4B0F-4C58-A54B-C4F0F72D7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49905-D4AB-4930-9B2A-6E8E550A0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1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hape, rectangle&#10;&#10;Description automatically generated">
            <a:extLst>
              <a:ext uri="{FF2B5EF4-FFF2-40B4-BE49-F238E27FC236}">
                <a16:creationId xmlns:a16="http://schemas.microsoft.com/office/drawing/2014/main" id="{80040EBE-1101-1E45-9013-1637FEE48CCC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5758"/>
            <a:ext cx="12192000" cy="1656196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9995C-D844-455E-9E19-BF66C81EF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04189-41E9-4E09-B418-B033E7F147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D739203-7E29-BA40-9D51-8F9968799BF3}"/>
              </a:ext>
            </a:extLst>
          </p:cNvPr>
          <p:cNvSpPr txBox="1">
            <a:spLocks/>
          </p:cNvSpPr>
          <p:nvPr userDrawn="1"/>
        </p:nvSpPr>
        <p:spPr>
          <a:xfrm>
            <a:off x="7547114" y="6380197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GB" sz="1200" dirty="0"/>
              <a:t>© Hodder &amp; Stoughton Limited 2021</a:t>
            </a:r>
          </a:p>
        </p:txBody>
      </p:sp>
    </p:spTree>
    <p:extLst>
      <p:ext uri="{BB962C8B-B14F-4D97-AF65-F5344CB8AC3E}">
        <p14:creationId xmlns:p14="http://schemas.microsoft.com/office/powerpoint/2010/main" val="2658774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2B9C3-E44C-4313-895D-D43DD1C92C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13647" y="2922494"/>
            <a:ext cx="4470140" cy="1794419"/>
          </a:xfrm>
        </p:spPr>
        <p:txBody>
          <a:bodyPr>
            <a:noAutofit/>
          </a:bodyPr>
          <a:lstStyle/>
          <a:p>
            <a:pPr algn="r"/>
            <a:r>
              <a:rPr lang="en-GB" b="1" dirty="0"/>
              <a:t>End of KS3 assessments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346DB13-257C-4484-9CB0-C755672B55D3}"/>
              </a:ext>
            </a:extLst>
          </p:cNvPr>
          <p:cNvSpPr/>
          <p:nvPr/>
        </p:nvSpPr>
        <p:spPr>
          <a:xfrm>
            <a:off x="3973786" y="4718391"/>
            <a:ext cx="211000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GB" sz="2000" b="1" dirty="0">
                <a:solidFill>
                  <a:srgbClr val="ED810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Projects: Project 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BF88C5-7C5F-AA48-BA5B-E6F15C907D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284" y="3117591"/>
            <a:ext cx="2808191" cy="1999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316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0" y="815009"/>
            <a:ext cx="9753600" cy="795131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30BE0A-41D5-4110-A78D-A6ACD33DE78B}"/>
              </a:ext>
            </a:extLst>
          </p:cNvPr>
          <p:cNvSpPr/>
          <p:nvPr/>
        </p:nvSpPr>
        <p:spPr>
          <a:xfrm>
            <a:off x="1600200" y="2582614"/>
            <a:ext cx="9753601" cy="16927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GB" sz="3200" dirty="0">
                <a:ea typeface="Times New Roman" panose="02020603050405020304" pitchFamily="18" charset="0"/>
              </a:rPr>
              <a:t>In this lesson, you will demonstrate: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ea typeface="Times New Roman" panose="02020603050405020304" pitchFamily="18" charset="0"/>
              </a:rPr>
              <a:t>your ability to write a program in Python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ea typeface="Times New Roman" panose="02020603050405020304" pitchFamily="18" charset="0"/>
              </a:rPr>
              <a:t>your understanding of testing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ea typeface="Times New Roman" panose="02020603050405020304" pitchFamily="18" charset="0"/>
              </a:rPr>
              <a:t>the importance of versioning.</a:t>
            </a:r>
          </a:p>
        </p:txBody>
      </p:sp>
    </p:spTree>
    <p:extLst>
      <p:ext uri="{BB962C8B-B14F-4D97-AF65-F5344CB8AC3E}">
        <p14:creationId xmlns:p14="http://schemas.microsoft.com/office/powerpoint/2010/main" val="1699810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0261" y="717663"/>
            <a:ext cx="9773478" cy="912354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The project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1B0AC4C-A95C-854F-964D-A6CA2264A4E0}"/>
              </a:ext>
            </a:extLst>
          </p:cNvPr>
          <p:cNvSpPr/>
          <p:nvPr/>
        </p:nvSpPr>
        <p:spPr>
          <a:xfrm>
            <a:off x="1590261" y="2274838"/>
            <a:ext cx="8060635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You will be using the Python programming skills you have learnt to develop two computer programs over the next six weeks.</a:t>
            </a:r>
          </a:p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First you will spend three lessons coding an arithmetic quiz. Then you will spend three lessons coding a password strength program.</a:t>
            </a:r>
          </a:p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You will code a section of each program and then debug and test it before moving on to the next section. This is the </a:t>
            </a:r>
            <a:r>
              <a:rPr lang="en-GB" sz="2400" b="1" dirty="0">
                <a:solidFill>
                  <a:srgbClr val="ED7D3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iterative approach to project development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66166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0261" y="717663"/>
            <a:ext cx="9773478" cy="912354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Debugging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1B0AC4C-A95C-854F-964D-A6CA2264A4E0}"/>
              </a:ext>
            </a:extLst>
          </p:cNvPr>
          <p:cNvSpPr/>
          <p:nvPr/>
        </p:nvSpPr>
        <p:spPr>
          <a:xfrm>
            <a:off x="1590262" y="2274838"/>
            <a:ext cx="7971182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When you run each section of your program for the first time, it will probably contain errors. These errors are known as </a:t>
            </a:r>
            <a:r>
              <a:rPr lang="en-GB" sz="2400" b="1" dirty="0">
                <a:solidFill>
                  <a:srgbClr val="ED7D3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bugs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bugs occur because Python cannot understand the program or because it is unable to carry out the instructions.</a:t>
            </a:r>
          </a:p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You will usually be given a clue about the cause of the bug and you will need to read through the code carefully to work out how to fix or </a:t>
            </a:r>
            <a:r>
              <a:rPr lang="en-GB" sz="2400" b="1" dirty="0">
                <a:solidFill>
                  <a:srgbClr val="ED7D3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debug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it.</a:t>
            </a:r>
          </a:p>
        </p:txBody>
      </p:sp>
    </p:spTree>
    <p:extLst>
      <p:ext uri="{BB962C8B-B14F-4D97-AF65-F5344CB8AC3E}">
        <p14:creationId xmlns:p14="http://schemas.microsoft.com/office/powerpoint/2010/main" val="10420574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0261" y="717663"/>
            <a:ext cx="9773478" cy="912354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Testing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1B0AC4C-A95C-854F-964D-A6CA2264A4E0}"/>
              </a:ext>
            </a:extLst>
          </p:cNvPr>
          <p:cNvSpPr/>
          <p:nvPr/>
        </p:nvSpPr>
        <p:spPr>
          <a:xfrm>
            <a:off x="1590262" y="2274838"/>
            <a:ext cx="797118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When each section of your program is working without bugs, you need to </a:t>
            </a:r>
            <a:r>
              <a:rPr lang="en-GB" sz="2400" b="1" dirty="0">
                <a:solidFill>
                  <a:srgbClr val="ED7D3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test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it to make sure it works as it should.</a:t>
            </a:r>
          </a:p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do this, you need to test the program with:</a:t>
            </a:r>
          </a:p>
          <a:p>
            <a:pPr marL="457200" indent="-457200">
              <a:buClr>
                <a:schemeClr val="tx1"/>
              </a:buClr>
              <a:buFont typeface="+mj-lt"/>
              <a:buAutoNum type="arabicPeriod"/>
            </a:pPr>
            <a:r>
              <a:rPr lang="en-GB" sz="2400" b="1" dirty="0">
                <a:solidFill>
                  <a:srgbClr val="ED7D3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normal data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indent="-457200">
              <a:buClr>
                <a:schemeClr val="tx1"/>
              </a:buClr>
              <a:buFont typeface="+mj-lt"/>
              <a:buAutoNum type="arabicPeriod"/>
            </a:pPr>
            <a:r>
              <a:rPr lang="en-GB" sz="2400" b="1" dirty="0">
                <a:solidFill>
                  <a:srgbClr val="ED7D3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abnormal data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indent="-457200">
              <a:buClr>
                <a:schemeClr val="tx1"/>
              </a:buClr>
              <a:buFont typeface="+mj-lt"/>
              <a:buAutoNum type="arabicPeriod"/>
            </a:pPr>
            <a:r>
              <a:rPr lang="en-GB" sz="2400" b="1" dirty="0">
                <a:solidFill>
                  <a:srgbClr val="ED7D3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boundary data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092898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0261" y="717663"/>
            <a:ext cx="9773478" cy="912354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Testing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1B0AC4C-A95C-854F-964D-A6CA2264A4E0}"/>
              </a:ext>
            </a:extLst>
          </p:cNvPr>
          <p:cNvSpPr/>
          <p:nvPr/>
        </p:nvSpPr>
        <p:spPr>
          <a:xfrm>
            <a:off x="1573696" y="2095934"/>
            <a:ext cx="9015928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Normal data is data you would expect to see if the program was being used normally.</a:t>
            </a:r>
          </a:p>
          <a:p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For example: </a:t>
            </a:r>
            <a:r>
              <a:rPr lang="en-GB" sz="22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8</a:t>
            </a: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is entered in response to the question </a:t>
            </a:r>
            <a:r>
              <a:rPr lang="en-GB" sz="22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What is 3 + 5?</a:t>
            </a:r>
            <a:endParaRPr lang="en-GB" sz="2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Abnormal data is data you would not expect to see if the program was being used normally.</a:t>
            </a:r>
          </a:p>
          <a:p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For example: </a:t>
            </a:r>
            <a:r>
              <a:rPr lang="en-GB" sz="22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Do not know</a:t>
            </a: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is entered in response to the question </a:t>
            </a:r>
            <a:r>
              <a:rPr lang="en-GB" sz="22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What is 3 + 5?</a:t>
            </a:r>
            <a:endParaRPr lang="en-GB" sz="2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Boundary data is data that checks that answers just within a range are accepted and those just outside a range are not.</a:t>
            </a:r>
          </a:p>
          <a:p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For example: if we wanted to check to see if someone was 10 or older, we would use </a:t>
            </a:r>
            <a:r>
              <a:rPr lang="en-GB" sz="22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9</a:t>
            </a: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(just outside the range) and </a:t>
            </a:r>
            <a:r>
              <a:rPr lang="en-GB" sz="22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10</a:t>
            </a: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(just inside the range) as the test values.</a:t>
            </a:r>
          </a:p>
        </p:txBody>
      </p:sp>
    </p:spTree>
    <p:extLst>
      <p:ext uri="{BB962C8B-B14F-4D97-AF65-F5344CB8AC3E}">
        <p14:creationId xmlns:p14="http://schemas.microsoft.com/office/powerpoint/2010/main" val="6830013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0261" y="717663"/>
            <a:ext cx="9773478" cy="912354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Test tables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1B0AC4C-A95C-854F-964D-A6CA2264A4E0}"/>
              </a:ext>
            </a:extLst>
          </p:cNvPr>
          <p:cNvSpPr/>
          <p:nvPr/>
        </p:nvSpPr>
        <p:spPr>
          <a:xfrm>
            <a:off x="1573695" y="1994479"/>
            <a:ext cx="9044609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/>
              <a:t>When testing a program, you must record what you do in a test table and provide accompanying evidence.</a:t>
            </a:r>
          </a:p>
          <a:p>
            <a:r>
              <a:rPr lang="en-GB" dirty="0"/>
              <a:t>You will focus on testing your programs with normal data so your test tables and evidence will look something like this: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CECEBBF-C931-B04E-8911-A14FC44B13CE}"/>
              </a:ext>
            </a:extLst>
          </p:cNvPr>
          <p:cNvSpPr/>
          <p:nvPr/>
        </p:nvSpPr>
        <p:spPr>
          <a:xfrm>
            <a:off x="8587409" y="3397960"/>
            <a:ext cx="277633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Evidence:</a:t>
            </a:r>
          </a:p>
          <a:p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What is 9 + 1 ?</a:t>
            </a:r>
          </a:p>
          <a:p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Enter the answer: </a:t>
            </a:r>
            <a:r>
              <a:rPr lang="en-GB" dirty="0">
                <a:solidFill>
                  <a:srgbClr val="2E74B5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10</a:t>
            </a:r>
            <a:endParaRPr lang="en-GB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Well done.</a:t>
            </a:r>
          </a:p>
          <a:p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What is 5 + 5 ?</a:t>
            </a:r>
          </a:p>
          <a:p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Enter the answer: </a:t>
            </a:r>
            <a:r>
              <a:rPr lang="en-GB" dirty="0">
                <a:solidFill>
                  <a:srgbClr val="2E74B5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7</a:t>
            </a:r>
            <a:endParaRPr lang="en-GB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That is not right.</a:t>
            </a:r>
          </a:p>
          <a:p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What is 10 + 1 ?</a:t>
            </a:r>
          </a:p>
          <a:p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Enter the answer: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4CDE115-1BED-E142-BC9D-B8D94D27EC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3774568"/>
              </p:ext>
            </p:extLst>
          </p:nvPr>
        </p:nvGraphicFramePr>
        <p:xfrm>
          <a:off x="1590261" y="3559270"/>
          <a:ext cx="6442349" cy="2381968"/>
        </p:xfrm>
        <a:graphic>
          <a:graphicData uri="http://schemas.openxmlformats.org/drawingml/2006/table">
            <a:tbl>
              <a:tblPr/>
              <a:tblGrid>
                <a:gridCol w="1045401">
                  <a:extLst>
                    <a:ext uri="{9D8B030D-6E8A-4147-A177-3AD203B41FA5}">
                      <a16:colId xmlns:a16="http://schemas.microsoft.com/office/drawing/2014/main" val="2716829660"/>
                    </a:ext>
                  </a:extLst>
                </a:gridCol>
                <a:gridCol w="1421296">
                  <a:extLst>
                    <a:ext uri="{9D8B030D-6E8A-4147-A177-3AD203B41FA5}">
                      <a16:colId xmlns:a16="http://schemas.microsoft.com/office/drawing/2014/main" val="2427814243"/>
                    </a:ext>
                  </a:extLst>
                </a:gridCol>
                <a:gridCol w="1272208">
                  <a:extLst>
                    <a:ext uri="{9D8B030D-6E8A-4147-A177-3AD203B41FA5}">
                      <a16:colId xmlns:a16="http://schemas.microsoft.com/office/drawing/2014/main" val="3588077258"/>
                    </a:ext>
                  </a:extLst>
                </a:gridCol>
                <a:gridCol w="1253093">
                  <a:extLst>
                    <a:ext uri="{9D8B030D-6E8A-4147-A177-3AD203B41FA5}">
                      <a16:colId xmlns:a16="http://schemas.microsoft.com/office/drawing/2014/main" val="2804506719"/>
                    </a:ext>
                  </a:extLst>
                </a:gridCol>
                <a:gridCol w="1450351">
                  <a:extLst>
                    <a:ext uri="{9D8B030D-6E8A-4147-A177-3AD203B41FA5}">
                      <a16:colId xmlns:a16="http://schemas.microsoft.com/office/drawing/2014/main" val="797766857"/>
                    </a:ext>
                  </a:extLst>
                </a:gridCol>
              </a:tblGrid>
              <a:tr h="569964">
                <a:tc>
                  <a:txBody>
                    <a:bodyPr/>
                    <a:lstStyle/>
                    <a:p>
                      <a:pPr algn="ctr"/>
                      <a:r>
                        <a:rPr lang="en-GB" sz="1200" b="1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Test data</a:t>
                      </a:r>
                      <a:endParaRPr lang="en-GB" sz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E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1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Reason</a:t>
                      </a:r>
                      <a:endParaRPr lang="en-GB" sz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E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1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Expected outcome</a:t>
                      </a:r>
                      <a:endParaRPr lang="en-GB" sz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E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Actual outcome</a:t>
                      </a:r>
                      <a:endParaRPr lang="en-GB" sz="12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E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1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Actions</a:t>
                      </a:r>
                      <a:endParaRPr lang="en-GB" sz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E0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425602"/>
                  </a:ext>
                </a:extLst>
              </a:tr>
              <a:tr h="1037786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What is 9 + 1?</a:t>
                      </a:r>
                    </a:p>
                    <a:p>
                      <a:pPr algn="ctr"/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10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Will I get the expected response to the correct answer?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Well done.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Well done.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None required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4975669"/>
                  </a:ext>
                </a:extLst>
              </a:tr>
              <a:tr h="774218">
                <a:tc>
                  <a:txBody>
                    <a:bodyPr/>
                    <a:lstStyle/>
                    <a:p>
                      <a:pPr algn="ctr"/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What is 5 + 5?</a:t>
                      </a:r>
                    </a:p>
                    <a:p>
                      <a:pPr algn="ctr"/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Will I get the expected response to an incorrect answer?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That is not right.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That is not right.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None required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4E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0735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78191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0261" y="717663"/>
            <a:ext cx="9773478" cy="912354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Keeping versions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1B0AC4C-A95C-854F-964D-A6CA2264A4E0}"/>
              </a:ext>
            </a:extLst>
          </p:cNvPr>
          <p:cNvSpPr/>
          <p:nvPr/>
        </p:nvSpPr>
        <p:spPr>
          <a:xfrm>
            <a:off x="1590261" y="2274838"/>
            <a:ext cx="806726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It is important to save a </a:t>
            </a:r>
            <a:r>
              <a:rPr lang="en-GB" sz="2400" b="1" dirty="0">
                <a:solidFill>
                  <a:srgbClr val="ED7D3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version 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of a program before you test and debug it.</a:t>
            </a:r>
          </a:p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Saving multiple versions of a program means you can return to a working version if something goes wrong.</a:t>
            </a:r>
          </a:p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Remember to use logical file names, so that you know which version of the program is which.</a:t>
            </a:r>
          </a:p>
        </p:txBody>
      </p:sp>
    </p:spTree>
    <p:extLst>
      <p:ext uri="{BB962C8B-B14F-4D97-AF65-F5344CB8AC3E}">
        <p14:creationId xmlns:p14="http://schemas.microsoft.com/office/powerpoint/2010/main" val="10623446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0261" y="717663"/>
            <a:ext cx="9773478" cy="912354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IDLE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1B0AC4C-A95C-854F-964D-A6CA2264A4E0}"/>
              </a:ext>
            </a:extLst>
          </p:cNvPr>
          <p:cNvSpPr/>
          <p:nvPr/>
        </p:nvSpPr>
        <p:spPr>
          <a:xfrm>
            <a:off x="1590261" y="2145630"/>
            <a:ext cx="806726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IDLE is Python’s standard development environment.</a:t>
            </a:r>
          </a:p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When IDLE is loaded, it opens the Python shell. This is where the output from a program appears.</a:t>
            </a:r>
          </a:p>
        </p:txBody>
      </p:sp>
      <p:pic>
        <p:nvPicPr>
          <p:cNvPr id="7" name="Picture 6" descr="Graphical user interface, text, application, email&#10;&#10;Description automatically generated">
            <a:extLst>
              <a:ext uri="{FF2B5EF4-FFF2-40B4-BE49-F238E27FC236}">
                <a16:creationId xmlns:a16="http://schemas.microsoft.com/office/drawing/2014/main" id="{5385EBFD-E9FD-4C09-A064-E40715EAD0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1106" y="3398770"/>
            <a:ext cx="8209788" cy="2597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13785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0261" y="717663"/>
            <a:ext cx="9773478" cy="912354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IDLE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1B0AC4C-A95C-854F-964D-A6CA2264A4E0}"/>
              </a:ext>
            </a:extLst>
          </p:cNvPr>
          <p:cNvSpPr/>
          <p:nvPr/>
        </p:nvSpPr>
        <p:spPr>
          <a:xfrm>
            <a:off x="1590261" y="2145630"/>
            <a:ext cx="806726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start coding a new program, click on ‘File’ and ‘New File’. This will open a new window where you can type your code.</a:t>
            </a:r>
          </a:p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save a program, click on ‘File’ and ‘Save As…’, give the file a .</a:t>
            </a:r>
            <a:r>
              <a:rPr lang="en-GB" sz="2400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py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extension and then click ‘Save’.</a:t>
            </a:r>
          </a:p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When you want to run your code, click on ‘Run’ and ‘Run Module’.</a:t>
            </a:r>
          </a:p>
        </p:txBody>
      </p:sp>
      <p:pic>
        <p:nvPicPr>
          <p:cNvPr id="8" name="Picture 7" descr="Graphical user interface, application, Word&#10;&#10;Description automatically generated">
            <a:extLst>
              <a:ext uri="{FF2B5EF4-FFF2-40B4-BE49-F238E27FC236}">
                <a16:creationId xmlns:a16="http://schemas.microsoft.com/office/drawing/2014/main" id="{66831E32-2CC3-4321-9876-51C44E178E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1705" y="4453954"/>
            <a:ext cx="6228589" cy="224845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A58820D-3ECA-5940-B2A8-350312E36383}"/>
              </a:ext>
            </a:extLst>
          </p:cNvPr>
          <p:cNvSpPr/>
          <p:nvPr/>
        </p:nvSpPr>
        <p:spPr>
          <a:xfrm>
            <a:off x="8212265" y="5440881"/>
            <a:ext cx="266040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ea typeface="Calibri" panose="020F0502020204030204" pitchFamily="34" charset="0"/>
                <a:cs typeface="Times New Roman" panose="02020603050405020304" pitchFamily="18" charset="0"/>
              </a:rPr>
              <a:t>Watch Video 1.1</a:t>
            </a:r>
            <a:r>
              <a:rPr lang="en-GB" sz="2800" dirty="0"/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49841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725557"/>
            <a:ext cx="9783417" cy="884583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Project 1.1: Arithmetic quiz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101E16-B35C-4E61-8128-F90CA8A801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9261" y="1903472"/>
            <a:ext cx="4393477" cy="4304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878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725557"/>
            <a:ext cx="9783417" cy="884583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Project 1.2: Password strength program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A2A73C-F821-49D0-ACDB-FA21B811C9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9261" y="1903472"/>
            <a:ext cx="4393477" cy="4304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5629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337</TotalTime>
  <Words>699</Words>
  <Application>Microsoft Office PowerPoint</Application>
  <PresentationFormat>Widescreen</PresentationFormat>
  <Paragraphs>71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Light</vt:lpstr>
      <vt:lpstr>Courier</vt:lpstr>
      <vt:lpstr>Symbol</vt:lpstr>
      <vt:lpstr>Office Theme</vt:lpstr>
      <vt:lpstr>End of KS3 assessments</vt:lpstr>
      <vt:lpstr>Objectives</vt:lpstr>
      <vt:lpstr>The project</vt:lpstr>
      <vt:lpstr>Debugging</vt:lpstr>
      <vt:lpstr>Testing</vt:lpstr>
      <vt:lpstr>Testing</vt:lpstr>
      <vt:lpstr>Test tables </vt:lpstr>
      <vt:lpstr>Keeping versions </vt:lpstr>
      <vt:lpstr>IDLE </vt:lpstr>
      <vt:lpstr>IDLE </vt:lpstr>
      <vt:lpstr>Project 1.1: Arithmetic quiz </vt:lpstr>
      <vt:lpstr>Project 1.2: Password strength program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spreadsheets</dc:title>
  <dc:creator>Lea Albrechtsen</dc:creator>
  <cp:lastModifiedBy>Lea Albrechtsen</cp:lastModifiedBy>
  <cp:revision>25</cp:revision>
  <dcterms:created xsi:type="dcterms:W3CDTF">2020-11-04T15:22:46Z</dcterms:created>
  <dcterms:modified xsi:type="dcterms:W3CDTF">2021-05-25T16:49:55Z</dcterms:modified>
</cp:coreProperties>
</file>