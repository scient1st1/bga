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4" r:id="rId6"/>
    <p:sldId id="275" r:id="rId7"/>
    <p:sldId id="281" r:id="rId8"/>
    <p:sldId id="282" r:id="rId9"/>
    <p:sldId id="283" r:id="rId10"/>
    <p:sldId id="284" r:id="rId11"/>
    <p:sldId id="28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8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>
        <p:scale>
          <a:sx n="100" d="100"/>
          <a:sy n="100" d="100"/>
        </p:scale>
        <p:origin x="64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25/05/2021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80040EBE-1101-1E45-9013-1637FEE48CC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758"/>
            <a:ext cx="12192000" cy="165619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C1E893-93C2-4A8F-93D2-4D8C195AB518}"/>
              </a:ext>
            </a:extLst>
          </p:cNvPr>
          <p:cNvSpPr txBox="1">
            <a:spLocks/>
          </p:cNvSpPr>
          <p:nvPr/>
        </p:nvSpPr>
        <p:spPr>
          <a:xfrm>
            <a:off x="1613647" y="2922494"/>
            <a:ext cx="4470140" cy="17944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/>
              <a:t>End of KS3 assessments</a:t>
            </a:r>
            <a:endParaRPr lang="en-GB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E099C5-3365-439E-91C8-20771D3AE8C4}"/>
              </a:ext>
            </a:extLst>
          </p:cNvPr>
          <p:cNvSpPr/>
          <p:nvPr/>
        </p:nvSpPr>
        <p:spPr>
          <a:xfrm>
            <a:off x="3973786" y="4718391"/>
            <a:ext cx="2110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2000" b="1" dirty="0">
                <a:solidFill>
                  <a:srgbClr val="ED81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Projects: Project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63DD81-CBFE-4621-ADED-AB536F178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284" y="3117591"/>
            <a:ext cx="2808191" cy="199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815009"/>
            <a:ext cx="9753600" cy="795131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600200" y="2397948"/>
            <a:ext cx="829917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demonstrate: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ea typeface="Times New Roman" panose="02020603050405020304" pitchFamily="18" charset="0"/>
              </a:rPr>
              <a:t>your ability to use spreadsheet functions to build a finance system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ea typeface="Times New Roman" panose="02020603050405020304" pitchFamily="18" charset="0"/>
              </a:rPr>
              <a:t>an iterative approach to development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ea typeface="Times New Roman" panose="02020603050405020304" pitchFamily="18" charset="0"/>
              </a:rPr>
              <a:t>the importance of versioning.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1" y="717663"/>
            <a:ext cx="9773478" cy="912354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B0AC4C-A95C-854F-964D-A6CA2264A4E0}"/>
              </a:ext>
            </a:extLst>
          </p:cNvPr>
          <p:cNvSpPr/>
          <p:nvPr/>
        </p:nvSpPr>
        <p:spPr>
          <a:xfrm>
            <a:off x="1590261" y="2274838"/>
            <a:ext cx="806063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 the next six weeks, you will be using your spreadsheet skills to develop a finance system for a small hotel.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finance system contains a number of different features and you should use an</a:t>
            </a:r>
            <a:r>
              <a:rPr lang="en-GB" sz="2400" b="1" dirty="0">
                <a:solidFill>
                  <a:srgbClr val="ED7D3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iterative approach to project development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build and test each feature to make sure it is working as it should before moving on to add the next feature.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Save a new version of the spreadsheet each time you begin to add a new feature, so you can return to a working version if something goes wrong.</a:t>
            </a:r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1" y="717663"/>
            <a:ext cx="9773478" cy="912354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finance system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B0AC4C-A95C-854F-964D-A6CA2264A4E0}"/>
              </a:ext>
            </a:extLst>
          </p:cNvPr>
          <p:cNvSpPr/>
          <p:nvPr/>
        </p:nvSpPr>
        <p:spPr>
          <a:xfrm>
            <a:off x="1590262" y="2274838"/>
            <a:ext cx="797118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a starting point, you will be provided with a workbook containing two spreadsheets (also known as ‘tabs’).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tab contains data about guests and one tab contains data about services and how much they cost.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Among the tasks you will need to complete to build the finance system, you will need to create an invoice and a summary of the hotel’s accounts.</a:t>
            </a:r>
          </a:p>
        </p:txBody>
      </p:sp>
    </p:spTree>
    <p:extLst>
      <p:ext uri="{BB962C8B-B14F-4D97-AF65-F5344CB8AC3E}">
        <p14:creationId xmlns:p14="http://schemas.microsoft.com/office/powerpoint/2010/main" val="1042057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9C102E28-651C-4DD5-8D0D-0C8E7F3AE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725" y="2212179"/>
            <a:ext cx="3527013" cy="400295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B0AC4C-A95C-854F-964D-A6CA2264A4E0}"/>
              </a:ext>
            </a:extLst>
          </p:cNvPr>
          <p:cNvSpPr/>
          <p:nvPr/>
        </p:nvSpPr>
        <p:spPr>
          <a:xfrm>
            <a:off x="1590261" y="1787820"/>
            <a:ext cx="484035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a guest checks out of the hotel, they must be given an invoice. This sets out the goods and services they purchased and tells them how much they need to pay.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invoice must be easy to read and understand and it must contain: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name of the hotel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guest reference number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name and address of the guest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number of nights the guest stayed at the hotel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goods and services purchased by the guest and how much they each cost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total cost of the stay.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1" y="717663"/>
            <a:ext cx="9773478" cy="912354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invoice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F5541D-6D83-594D-BF1C-3A26C7748036}"/>
              </a:ext>
            </a:extLst>
          </p:cNvPr>
          <p:cNvCxnSpPr>
            <a:cxnSpLocks/>
          </p:cNvCxnSpPr>
          <p:nvPr/>
        </p:nvCxnSpPr>
        <p:spPr>
          <a:xfrm flipV="1">
            <a:off x="6247906" y="4848191"/>
            <a:ext cx="774569" cy="22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D9A4B4-10D4-F741-AFEF-766412D26B04}"/>
              </a:ext>
            </a:extLst>
          </p:cNvPr>
          <p:cNvCxnSpPr>
            <a:cxnSpLocks/>
          </p:cNvCxnSpPr>
          <p:nvPr/>
        </p:nvCxnSpPr>
        <p:spPr>
          <a:xfrm flipV="1">
            <a:off x="6234843" y="5103995"/>
            <a:ext cx="774569" cy="26603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B06637-783A-6141-BAD7-03C20CFB0CD2}"/>
              </a:ext>
            </a:extLst>
          </p:cNvPr>
          <p:cNvCxnSpPr>
            <a:cxnSpLocks/>
          </p:cNvCxnSpPr>
          <p:nvPr/>
        </p:nvCxnSpPr>
        <p:spPr>
          <a:xfrm flipV="1">
            <a:off x="4728754" y="2970187"/>
            <a:ext cx="2345971" cy="116988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65B9AE-732C-0440-B039-25395AC3BA46}"/>
              </a:ext>
            </a:extLst>
          </p:cNvPr>
          <p:cNvCxnSpPr>
            <a:cxnSpLocks/>
          </p:cNvCxnSpPr>
          <p:nvPr/>
        </p:nvCxnSpPr>
        <p:spPr>
          <a:xfrm flipV="1">
            <a:off x="4650377" y="5572308"/>
            <a:ext cx="2372098" cy="39188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79FB73-DE33-0440-AD15-11BD7BA488C7}"/>
              </a:ext>
            </a:extLst>
          </p:cNvPr>
          <p:cNvCxnSpPr>
            <a:cxnSpLocks/>
          </p:cNvCxnSpPr>
          <p:nvPr/>
        </p:nvCxnSpPr>
        <p:spPr>
          <a:xfrm flipV="1">
            <a:off x="5634446" y="3910893"/>
            <a:ext cx="1374966" cy="49981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E7A9D49-125A-4E22-BE2D-F773C2CA0479}"/>
              </a:ext>
            </a:extLst>
          </p:cNvPr>
          <p:cNvCxnSpPr>
            <a:cxnSpLocks/>
          </p:cNvCxnSpPr>
          <p:nvPr/>
        </p:nvCxnSpPr>
        <p:spPr>
          <a:xfrm flipV="1">
            <a:off x="4362450" y="2388025"/>
            <a:ext cx="2712275" cy="1402100"/>
          </a:xfrm>
          <a:prstGeom prst="straightConnector1">
            <a:avLst/>
          </a:prstGeom>
          <a:ln>
            <a:solidFill>
              <a:srgbClr val="ED81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89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1" y="717663"/>
            <a:ext cx="9773478" cy="912354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accounts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B0AC4C-A95C-854F-964D-A6CA2264A4E0}"/>
              </a:ext>
            </a:extLst>
          </p:cNvPr>
          <p:cNvSpPr/>
          <p:nvPr/>
        </p:nvSpPr>
        <p:spPr>
          <a:xfrm>
            <a:off x="1590261" y="2261689"/>
            <a:ext cx="468363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All businesses need to keep accounts. These are a record of:</a:t>
            </a:r>
          </a:p>
          <a:p>
            <a:pPr lvl="0"/>
            <a:r>
              <a:rPr lang="en-GB" sz="2400" dirty="0"/>
              <a:t>income: the money received from guests</a:t>
            </a:r>
          </a:p>
          <a:p>
            <a:pPr lvl="0"/>
            <a:r>
              <a:rPr lang="en-GB" sz="2400" dirty="0"/>
              <a:t>costs: the money spent on paying staff and other fixed costs</a:t>
            </a:r>
          </a:p>
          <a:p>
            <a:pPr lvl="0"/>
            <a:r>
              <a:rPr lang="en-GB" sz="2400" dirty="0"/>
              <a:t>profit/loss: the money left over when costs have been paid; this can be a positive sum (profit) or a negative sum (loss).</a:t>
            </a:r>
          </a:p>
        </p:txBody>
      </p:sp>
      <p:pic>
        <p:nvPicPr>
          <p:cNvPr id="7" name="Picture 6" descr="A picture containing text, receipt, screenshot, document&#10;&#10;Description automatically generated">
            <a:extLst>
              <a:ext uri="{FF2B5EF4-FFF2-40B4-BE49-F238E27FC236}">
                <a16:creationId xmlns:a16="http://schemas.microsoft.com/office/drawing/2014/main" id="{C5127050-5032-4E30-B11B-4F699FC52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66" y="2168693"/>
            <a:ext cx="4683633" cy="397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01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1" y="717663"/>
            <a:ext cx="9773478" cy="912354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Working with multiple spreadsheets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B0AC4C-A95C-854F-964D-A6CA2264A4E0}"/>
              </a:ext>
            </a:extLst>
          </p:cNvPr>
          <p:cNvSpPr/>
          <p:nvPr/>
        </p:nvSpPr>
        <p:spPr>
          <a:xfrm>
            <a:off x="1573695" y="2095934"/>
            <a:ext cx="95978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The finance system you will be building requires you to work with multiple spreadsheets in a workbook.</a:t>
            </a:r>
          </a:p>
          <a:p>
            <a:r>
              <a:rPr lang="en-GB" sz="2400" dirty="0"/>
              <a:t>The spreadsheets can be accessed by clicking on the tabs at the bottom: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add a new spreadsheet, click on the plus sign. Right click on a tab and select ‘Rename’ to give the new tab an appropriate name.</a:t>
            </a:r>
          </a:p>
        </p:txBody>
      </p:sp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C25B9301-1CA3-401D-B860-BD530F885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06" y="3632788"/>
            <a:ext cx="5761987" cy="147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494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1" y="717663"/>
            <a:ext cx="9773478" cy="912354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Linking spreadsheets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B0AC4C-A95C-854F-964D-A6CA2264A4E0}"/>
              </a:ext>
            </a:extLst>
          </p:cNvPr>
          <p:cNvSpPr/>
          <p:nvPr/>
        </p:nvSpPr>
        <p:spPr>
          <a:xfrm>
            <a:off x="1590261" y="2038784"/>
            <a:ext cx="87704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You can link to data on another spreadsheet in the same workbook.</a:t>
            </a:r>
          </a:p>
          <a:p>
            <a:r>
              <a:rPr lang="en-GB" sz="2400" dirty="0"/>
              <a:t>Select the target cell (the cell in which you would like the data to appear) and type </a:t>
            </a:r>
            <a:r>
              <a:rPr lang="en-GB" sz="2400" dirty="0">
                <a:latin typeface="Courier"/>
              </a:rPr>
              <a:t>=</a:t>
            </a:r>
            <a:r>
              <a:rPr lang="en-GB" sz="2400" dirty="0"/>
              <a:t>.</a:t>
            </a:r>
          </a:p>
          <a:p>
            <a:r>
              <a:rPr lang="en-GB" sz="2400" dirty="0"/>
              <a:t>Then select the spreadsheet containing the source data, select the relevant cell and press ‘Enter’.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14D28A75-2CCF-4E81-8129-C7249EA33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192" y="4163656"/>
            <a:ext cx="4963615" cy="229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73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717663"/>
            <a:ext cx="10601739" cy="912354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Using the </a:t>
            </a:r>
            <a:r>
              <a:rPr lang="en-GB" sz="3600" b="1" dirty="0">
                <a:solidFill>
                  <a:schemeClr val="bg1"/>
                </a:solidFill>
                <a:latin typeface="Courier" pitchFamily="2" charset="0"/>
              </a:rPr>
              <a:t>VLOOKUP</a:t>
            </a:r>
            <a:r>
              <a:rPr lang="en-GB" sz="3600" b="1" dirty="0">
                <a:solidFill>
                  <a:schemeClr val="bg1"/>
                </a:solidFill>
              </a:rPr>
              <a:t> function with two spreadsheets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B0AC4C-A95C-854F-964D-A6CA2264A4E0}"/>
              </a:ext>
            </a:extLst>
          </p:cNvPr>
          <p:cNvSpPr/>
          <p:nvPr/>
        </p:nvSpPr>
        <p:spPr>
          <a:xfrm>
            <a:off x="1590260" y="1911268"/>
            <a:ext cx="924919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700" dirty="0"/>
              <a:t>You can use a </a:t>
            </a:r>
            <a:r>
              <a:rPr lang="en-GB" sz="1700" dirty="0">
                <a:latin typeface="Courier" pitchFamily="2" charset="0"/>
              </a:rPr>
              <a:t>VLOOKUP</a:t>
            </a:r>
            <a:r>
              <a:rPr lang="en-GB" sz="1700" dirty="0"/>
              <a:t> function to look up values on another spreadsheet in the same workbook.</a:t>
            </a:r>
          </a:p>
          <a:p>
            <a:r>
              <a:rPr lang="en-GB" sz="1700" dirty="0"/>
              <a:t>Select the target cell, type </a:t>
            </a:r>
            <a:r>
              <a:rPr lang="en-GB" sz="1700" dirty="0">
                <a:latin typeface="Courier" pitchFamily="2" charset="0"/>
              </a:rPr>
              <a:t>=VLOOKUP</a:t>
            </a:r>
            <a:r>
              <a:rPr lang="en-GB" sz="1700" dirty="0">
                <a:latin typeface="Courier"/>
              </a:rPr>
              <a:t>(</a:t>
            </a:r>
            <a:r>
              <a:rPr lang="en-GB" sz="1700" dirty="0"/>
              <a:t> and select the cell containing the look up value. In this example, it is </a:t>
            </a:r>
            <a:r>
              <a:rPr lang="en-GB" sz="1700" dirty="0">
                <a:latin typeface="Courier" pitchFamily="2" charset="0"/>
              </a:rPr>
              <a:t>Calculator</a:t>
            </a:r>
            <a:r>
              <a:rPr lang="en-GB" sz="1700" dirty="0"/>
              <a:t> in cell A7. Type a comma.</a:t>
            </a:r>
          </a:p>
          <a:p>
            <a:r>
              <a:rPr lang="en-GB" sz="1700" dirty="0"/>
              <a:t>Then select the spreadsheet containing the table of values and select the area that contains the data to enter the range. In this example, the range is </a:t>
            </a:r>
            <a:r>
              <a:rPr lang="en-GB" sz="1700" dirty="0">
                <a:latin typeface="Courier" pitchFamily="2" charset="0"/>
              </a:rPr>
              <a:t>A2:D5</a:t>
            </a:r>
            <a:r>
              <a:rPr lang="en-GB" sz="1700" dirty="0"/>
              <a:t> on the ‘Stock sold’ spreadsheet. Type a comma.</a:t>
            </a:r>
          </a:p>
          <a:p>
            <a:r>
              <a:rPr lang="en-GB" sz="1700" dirty="0"/>
              <a:t>In this example, we want to return the value in the fourth column so we type </a:t>
            </a:r>
            <a:r>
              <a:rPr lang="en-GB" sz="1700" dirty="0">
                <a:latin typeface="Courier" pitchFamily="2" charset="0"/>
              </a:rPr>
              <a:t>4</a:t>
            </a:r>
            <a:r>
              <a:rPr lang="en-GB" sz="1700" dirty="0"/>
              <a:t>, close the parentheses and press ‘Enter’.</a:t>
            </a:r>
          </a:p>
          <a:p>
            <a:r>
              <a:rPr lang="en-GB" sz="1700" dirty="0"/>
              <a:t>Remember to use absolute cell references for the range if you want to replicate the function.</a:t>
            </a:r>
          </a:p>
        </p:txBody>
      </p:sp>
      <p:pic>
        <p:nvPicPr>
          <p:cNvPr id="8" name="Picture 7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7B324492-5646-493E-A970-B94D42E47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190344"/>
            <a:ext cx="2914650" cy="2427732"/>
          </a:xfrm>
          <a:prstGeom prst="rect">
            <a:avLst/>
          </a:prstGeom>
        </p:spPr>
      </p:pic>
      <p:pic>
        <p:nvPicPr>
          <p:cNvPr id="11" name="Picture 10" descr="Table, Excel&#10;&#10;Description automatically generated">
            <a:extLst>
              <a:ext uri="{FF2B5EF4-FFF2-40B4-BE49-F238E27FC236}">
                <a16:creationId xmlns:a16="http://schemas.microsoft.com/office/drawing/2014/main" id="{90CD1D3F-E2E6-46CA-AEF5-425D39EAF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931" y="4190344"/>
            <a:ext cx="5009769" cy="212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739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717663"/>
            <a:ext cx="10601739" cy="91235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The </a:t>
            </a:r>
            <a:r>
              <a:rPr lang="en-GB" b="1" dirty="0">
                <a:solidFill>
                  <a:schemeClr val="bg1"/>
                </a:solidFill>
                <a:latin typeface="Courier" pitchFamily="2" charset="0"/>
              </a:rPr>
              <a:t>CONCATENATE</a:t>
            </a:r>
            <a:r>
              <a:rPr lang="en-GB" b="1" dirty="0">
                <a:solidFill>
                  <a:schemeClr val="bg1"/>
                </a:solidFill>
              </a:rPr>
              <a:t> function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B0AC4C-A95C-854F-964D-A6CA2264A4E0}"/>
              </a:ext>
            </a:extLst>
          </p:cNvPr>
          <p:cNvSpPr/>
          <p:nvPr/>
        </p:nvSpPr>
        <p:spPr>
          <a:xfrm>
            <a:off x="1590260" y="1911268"/>
            <a:ext cx="951165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400" b="1" dirty="0">
                <a:solidFill>
                  <a:srgbClr val="ED7D31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CONCATENATE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joins together strings in multiple cells to form one longer string.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example, we are joining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cell B2, a space,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Calculator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cell A2 and an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form the string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3 calculators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D092A6BB-BC19-4524-9058-AAF9CE2D5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015" y="3865349"/>
            <a:ext cx="7379970" cy="213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88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717663"/>
            <a:ext cx="10601739" cy="91235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The </a:t>
            </a:r>
            <a:r>
              <a:rPr lang="en-GB" b="1" dirty="0">
                <a:solidFill>
                  <a:schemeClr val="bg1"/>
                </a:solidFill>
                <a:latin typeface="Courier" pitchFamily="2" charset="0"/>
              </a:rPr>
              <a:t>ROUNDUP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functio</a:t>
            </a:r>
            <a:r>
              <a:rPr lang="en-GB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B0AC4C-A95C-854F-964D-A6CA2264A4E0}"/>
              </a:ext>
            </a:extLst>
          </p:cNvPr>
          <p:cNvSpPr/>
          <p:nvPr/>
        </p:nvSpPr>
        <p:spPr>
          <a:xfrm>
            <a:off x="1590260" y="1911268"/>
            <a:ext cx="95116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GB" sz="2400" b="1" dirty="0">
                <a:solidFill>
                  <a:srgbClr val="ED7D31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ROUNDUP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is used to round a value up.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example, we are rounding the result of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B2*C2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decimal places.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DA559-9EF7-9B42-B8EB-E16FD94D1D67}"/>
              </a:ext>
            </a:extLst>
          </p:cNvPr>
          <p:cNvSpPr/>
          <p:nvPr/>
        </p:nvSpPr>
        <p:spPr>
          <a:xfrm>
            <a:off x="1590260" y="5299302"/>
            <a:ext cx="58143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ea typeface="Calibri" panose="020F0502020204030204" pitchFamily="34" charset="0"/>
                <a:cs typeface="Times New Roman" panose="02020603050405020304" pitchFamily="18" charset="0"/>
              </a:rPr>
              <a:t>You may need to adjust the cell formatting to ensure that no trailing zeros are displayed. Use the ‘Decrease Decimal’ button to do this.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8736D-99A4-AE44-91FD-A70CFFEA823C}"/>
              </a:ext>
            </a:extLst>
          </p:cNvPr>
          <p:cNvSpPr/>
          <p:nvPr/>
        </p:nvSpPr>
        <p:spPr>
          <a:xfrm>
            <a:off x="8606463" y="5376246"/>
            <a:ext cx="25786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Watch Video 2.1</a:t>
            </a:r>
          </a:p>
        </p:txBody>
      </p:sp>
      <p:pic>
        <p:nvPicPr>
          <p:cNvPr id="9" name="Picture 8" descr="Graphical user interface, table, Excel&#10;&#10;Description automatically generated">
            <a:extLst>
              <a:ext uri="{FF2B5EF4-FFF2-40B4-BE49-F238E27FC236}">
                <a16:creationId xmlns:a16="http://schemas.microsoft.com/office/drawing/2014/main" id="{023334CC-955A-47EC-8574-24A596115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172" y="3072077"/>
            <a:ext cx="5629656" cy="201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6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725557"/>
            <a:ext cx="9783417" cy="88458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Project 2: Finance system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CB110-9319-46B9-A448-18BB22548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7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753</Words>
  <Application>Microsoft Office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</vt:lpstr>
      <vt:lpstr>Symbol</vt:lpstr>
      <vt:lpstr>Office Theme</vt:lpstr>
      <vt:lpstr>PowerPoint Presentation</vt:lpstr>
      <vt:lpstr>Objectives</vt:lpstr>
      <vt:lpstr>The project</vt:lpstr>
      <vt:lpstr>The finance system </vt:lpstr>
      <vt:lpstr>The invoice </vt:lpstr>
      <vt:lpstr>The accounts </vt:lpstr>
      <vt:lpstr>Working with multiple spreadsheets </vt:lpstr>
      <vt:lpstr>Linking spreadsheets </vt:lpstr>
      <vt:lpstr>Using the VLOOKUP function with two spreadsheets </vt:lpstr>
      <vt:lpstr>The CONCATENATE function </vt:lpstr>
      <vt:lpstr>The ROUNDUP functio </vt:lpstr>
      <vt:lpstr>Project 2: Finance system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34</cp:revision>
  <dcterms:created xsi:type="dcterms:W3CDTF">2020-11-04T15:22:46Z</dcterms:created>
  <dcterms:modified xsi:type="dcterms:W3CDTF">2021-05-25T17:37:47Z</dcterms:modified>
</cp:coreProperties>
</file>