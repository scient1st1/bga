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4" r:id="rId8"/>
    <p:sldId id="262" r:id="rId9"/>
    <p:sldId id="275" r:id="rId10"/>
    <p:sldId id="282" r:id="rId11"/>
    <p:sldId id="276" r:id="rId12"/>
    <p:sldId id="277" r:id="rId13"/>
    <p:sldId id="283" r:id="rId14"/>
    <p:sldId id="28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9B4"/>
    <a:srgbClr val="769B5E"/>
    <a:srgbClr val="B612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812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2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  <p:pic>
        <p:nvPicPr>
          <p:cNvPr id="10" name="Picture 9" descr="A picture containing text, tool&#10;&#10;Description automatically generated">
            <a:extLst>
              <a:ext uri="{FF2B5EF4-FFF2-40B4-BE49-F238E27FC236}">
                <a16:creationId xmlns:a16="http://schemas.microsoft.com/office/drawing/2014/main" id="{D732EF40-B59C-F244-AAD1-54CD7DE5EBD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2928"/>
            <a:ext cx="12192000" cy="165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B9C3-E44C-4313-895D-D43DD1C92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" y="2971075"/>
            <a:ext cx="7311068" cy="915850"/>
          </a:xfrm>
        </p:spPr>
        <p:txBody>
          <a:bodyPr>
            <a:normAutofit/>
          </a:bodyPr>
          <a:lstStyle/>
          <a:p>
            <a:pPr algn="r"/>
            <a:r>
              <a:rPr lang="en-GB" sz="5400" b="1" dirty="0"/>
              <a:t>Advanced spreadsheets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5396063" y="3887650"/>
            <a:ext cx="252825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GB" sz="2000" b="1" dirty="0">
                <a:solidFill>
                  <a:srgbClr val="B612AD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Check boxes</a:t>
            </a:r>
          </a:p>
          <a:p>
            <a:pPr algn="r"/>
            <a:endParaRPr lang="en-GB" sz="2000" b="1" dirty="0">
              <a:solidFill>
                <a:srgbClr val="B612AD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B55173-0D29-3247-9DF7-129430C106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9924" y="2865016"/>
            <a:ext cx="2937413" cy="244392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6857" y="806893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1D8374-34AC-4627-BA7F-2261014679DD}"/>
              </a:ext>
            </a:extLst>
          </p:cNvPr>
          <p:cNvSpPr/>
          <p:nvPr/>
        </p:nvSpPr>
        <p:spPr>
          <a:xfrm>
            <a:off x="1576857" y="2274838"/>
            <a:ext cx="828020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 this lesson, you will learn how to: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 to insert check boxes into a spreadsheet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 to link their Boolean value to another cell and use these values in functions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develop a spreadsheet for a specific purpose.</a:t>
            </a: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3544" y="813732"/>
            <a:ext cx="9773478" cy="80534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Questionnaire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8EA588-39F5-DB41-A271-F42AD1CFE293}"/>
              </a:ext>
            </a:extLst>
          </p:cNvPr>
          <p:cNvSpPr/>
          <p:nvPr/>
        </p:nvSpPr>
        <p:spPr>
          <a:xfrm>
            <a:off x="1563544" y="2413338"/>
            <a:ext cx="7580456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Which factors are important to you when buying new clothes?</a:t>
            </a:r>
          </a:p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	</a:t>
            </a:r>
            <a:r>
              <a:rPr lang="en-GB" sz="3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Price</a:t>
            </a:r>
          </a:p>
          <a:p>
            <a:r>
              <a:rPr lang="en-GB" sz="3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Colour</a:t>
            </a:r>
          </a:p>
          <a:p>
            <a:r>
              <a:rPr lang="en-GB" sz="3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Fabric</a:t>
            </a:r>
          </a:p>
          <a:p>
            <a:r>
              <a:rPr lang="en-GB" sz="3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Ethically resourced</a:t>
            </a:r>
          </a:p>
          <a:p>
            <a:r>
              <a:rPr lang="en-GB" sz="3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Fashionable</a:t>
            </a:r>
          </a:p>
        </p:txBody>
      </p:sp>
      <p:pic>
        <p:nvPicPr>
          <p:cNvPr id="8" name="Graphic 7" descr="Checkbox Ticked with solid fill">
            <a:extLst>
              <a:ext uri="{FF2B5EF4-FFF2-40B4-BE49-F238E27FC236}">
                <a16:creationId xmlns:a16="http://schemas.microsoft.com/office/drawing/2014/main" id="{F73A6BB4-D1A5-CB48-9688-C527D75E93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1521" y="3176942"/>
            <a:ext cx="717121" cy="717121"/>
          </a:xfrm>
          <a:prstGeom prst="rect">
            <a:avLst/>
          </a:prstGeom>
        </p:spPr>
      </p:pic>
      <p:sp>
        <p:nvSpPr>
          <p:cNvPr id="9" name="Frame 8">
            <a:extLst>
              <a:ext uri="{FF2B5EF4-FFF2-40B4-BE49-F238E27FC236}">
                <a16:creationId xmlns:a16="http://schemas.microsoft.com/office/drawing/2014/main" id="{004CFD76-F365-B541-BC09-6177D44C5CBB}"/>
              </a:ext>
            </a:extLst>
          </p:cNvPr>
          <p:cNvSpPr/>
          <p:nvPr/>
        </p:nvSpPr>
        <p:spPr>
          <a:xfrm>
            <a:off x="1834686" y="4364609"/>
            <a:ext cx="398809" cy="407946"/>
          </a:xfrm>
          <a:prstGeom prst="frame">
            <a:avLst>
              <a:gd name="adj1" fmla="val 9797"/>
            </a:avLst>
          </a:prstGeom>
          <a:ln w="3175"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0" name="Graphic 9" descr="Checkbox Ticked with solid fill">
            <a:extLst>
              <a:ext uri="{FF2B5EF4-FFF2-40B4-BE49-F238E27FC236}">
                <a16:creationId xmlns:a16="http://schemas.microsoft.com/office/drawing/2014/main" id="{67A26FB4-9C18-1645-961C-26CCE055FA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2617" y="3678081"/>
            <a:ext cx="726025" cy="717121"/>
          </a:xfrm>
          <a:prstGeom prst="rect">
            <a:avLst/>
          </a:prstGeom>
        </p:spPr>
      </p:pic>
      <p:pic>
        <p:nvPicPr>
          <p:cNvPr id="11" name="Graphic 10" descr="Checkbox Ticked with solid fill">
            <a:extLst>
              <a:ext uri="{FF2B5EF4-FFF2-40B4-BE49-F238E27FC236}">
                <a16:creationId xmlns:a16="http://schemas.microsoft.com/office/drawing/2014/main" id="{89D97872-C94C-2C49-8FE5-8A1D5878A2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1521" y="4704417"/>
            <a:ext cx="739278" cy="717121"/>
          </a:xfrm>
          <a:prstGeom prst="rect">
            <a:avLst/>
          </a:prstGeom>
        </p:spPr>
      </p:pic>
      <p:sp>
        <p:nvSpPr>
          <p:cNvPr id="12" name="Frame 11">
            <a:extLst>
              <a:ext uri="{FF2B5EF4-FFF2-40B4-BE49-F238E27FC236}">
                <a16:creationId xmlns:a16="http://schemas.microsoft.com/office/drawing/2014/main" id="{92D5A07F-831B-814B-88BB-8E10F2DC70FB}"/>
              </a:ext>
            </a:extLst>
          </p:cNvPr>
          <p:cNvSpPr/>
          <p:nvPr/>
        </p:nvSpPr>
        <p:spPr>
          <a:xfrm>
            <a:off x="1851755" y="5365701"/>
            <a:ext cx="398809" cy="402234"/>
          </a:xfrm>
          <a:prstGeom prst="frame">
            <a:avLst>
              <a:gd name="adj1" fmla="val 9775"/>
            </a:avLst>
          </a:prstGeom>
          <a:ln w="3175"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8133" y="804431"/>
            <a:ext cx="9733721" cy="83592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Check boxes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1C6ADC-3182-4FBE-8FB1-B26B460A8B3F}"/>
              </a:ext>
            </a:extLst>
          </p:cNvPr>
          <p:cNvSpPr/>
          <p:nvPr/>
        </p:nvSpPr>
        <p:spPr>
          <a:xfrm>
            <a:off x="1578133" y="2249455"/>
            <a:ext cx="9293999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2400" b="1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Check boxes 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(or </a:t>
            </a:r>
            <a:r>
              <a:rPr lang="en-GB" sz="2400" b="1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tick boxes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allow the user to select one or more choices from a range of options.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9D51F9-7B98-EC4F-9623-255B148EAC31}"/>
              </a:ext>
            </a:extLst>
          </p:cNvPr>
          <p:cNvSpPr/>
          <p:nvPr/>
        </p:nvSpPr>
        <p:spPr>
          <a:xfrm>
            <a:off x="4219693" y="3080452"/>
            <a:ext cx="6394174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For example, you could allow the user to select the countries they have visited from a range of countries.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Check boxes are a type of </a:t>
            </a:r>
            <a:r>
              <a:rPr lang="en-GB" sz="2400" b="1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form control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Form controls are objects that can be placed onto a spreadsheet to help the user interact with the data and select items from lists.</a:t>
            </a:r>
          </a:p>
        </p:txBody>
      </p:sp>
      <p:pic>
        <p:nvPicPr>
          <p:cNvPr id="6" name="Picture 5" descr="Graphical user interface, application, table, Excel&#10;&#10;Description automatically generated">
            <a:extLst>
              <a:ext uri="{FF2B5EF4-FFF2-40B4-BE49-F238E27FC236}">
                <a16:creationId xmlns:a16="http://schemas.microsoft.com/office/drawing/2014/main" id="{2105FC1F-55AB-4F8C-95CC-19989A0C820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87"/>
          <a:stretch/>
        </p:blipFill>
        <p:spPr>
          <a:xfrm>
            <a:off x="1578133" y="3080452"/>
            <a:ext cx="2586317" cy="2560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74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644" y="802881"/>
            <a:ext cx="9753599" cy="845862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Inserting check boxes into a spreadsheet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A8A392-9E62-4A02-96D1-C9C0FB661E79}"/>
              </a:ext>
            </a:extLst>
          </p:cNvPr>
          <p:cNvSpPr/>
          <p:nvPr/>
        </p:nvSpPr>
        <p:spPr>
          <a:xfrm>
            <a:off x="1566644" y="2005019"/>
            <a:ext cx="9626493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In order to add check boxes in Excel, the 'Developer' tab must be visible.</a:t>
            </a:r>
          </a:p>
          <a:p>
            <a:r>
              <a:rPr lang="en-GB" sz="2400" dirty="0"/>
              <a:t>Once you have added a check box to a spreadsheet, you can link it to a cell where you would like its current state to be stored.</a:t>
            </a:r>
          </a:p>
          <a:p>
            <a:r>
              <a:rPr lang="en-GB" sz="2400" dirty="0"/>
              <a:t>When a check box is ticked, the </a:t>
            </a:r>
            <a:r>
              <a:rPr lang="en-GB" sz="2400" b="1" dirty="0">
                <a:solidFill>
                  <a:srgbClr val="0069B4"/>
                </a:solidFill>
              </a:rPr>
              <a:t>linked cell</a:t>
            </a:r>
            <a:r>
              <a:rPr lang="en-GB" sz="2400" dirty="0">
                <a:solidFill>
                  <a:srgbClr val="0069B4"/>
                </a:solidFill>
              </a:rPr>
              <a:t> </a:t>
            </a:r>
            <a:r>
              <a:rPr lang="en-GB" sz="2400" dirty="0"/>
              <a:t>returns </a:t>
            </a:r>
            <a:r>
              <a:rPr lang="en-GB" sz="2400" dirty="0">
                <a:latin typeface="Courier" pitchFamily="2" charset="0"/>
              </a:rPr>
              <a:t>TRUE</a:t>
            </a:r>
            <a:r>
              <a:rPr lang="en-GB" sz="2400" dirty="0"/>
              <a:t> and when it is not selected it returns </a:t>
            </a:r>
            <a:r>
              <a:rPr lang="en-GB" sz="2400" dirty="0">
                <a:latin typeface="Courier" pitchFamily="2" charset="0"/>
              </a:rPr>
              <a:t>FALSE</a:t>
            </a:r>
            <a:r>
              <a:rPr lang="en-GB" sz="2400" dirty="0"/>
              <a:t>.</a:t>
            </a:r>
          </a:p>
          <a:p>
            <a:r>
              <a:rPr lang="en-GB" sz="2400" dirty="0">
                <a:latin typeface="Courier" pitchFamily="2" charset="0"/>
              </a:rPr>
              <a:t>TRUE</a:t>
            </a:r>
            <a:r>
              <a:rPr lang="en-GB" sz="2400" dirty="0"/>
              <a:t> and </a:t>
            </a:r>
            <a:r>
              <a:rPr lang="en-GB" sz="2400" dirty="0">
                <a:latin typeface="Courier" pitchFamily="2" charset="0"/>
              </a:rPr>
              <a:t>FALSE</a:t>
            </a:r>
            <a:r>
              <a:rPr lang="en-GB" sz="2400" dirty="0"/>
              <a:t> are </a:t>
            </a:r>
            <a:r>
              <a:rPr lang="en-GB" sz="2400" b="1" dirty="0">
                <a:solidFill>
                  <a:srgbClr val="0069B4"/>
                </a:solidFill>
              </a:rPr>
              <a:t>Boolean</a:t>
            </a:r>
            <a:r>
              <a:rPr lang="en-GB" sz="2400" dirty="0"/>
              <a:t> values.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2916FE-9270-FC46-811A-5D03551F9EFF}"/>
              </a:ext>
            </a:extLst>
          </p:cNvPr>
          <p:cNvSpPr/>
          <p:nvPr/>
        </p:nvSpPr>
        <p:spPr>
          <a:xfrm>
            <a:off x="7841600" y="4333511"/>
            <a:ext cx="291374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Now watch </a:t>
            </a:r>
          </a:p>
          <a:p>
            <a:pPr algn="ctr"/>
            <a:r>
              <a:rPr lang="en-GB" sz="32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Video 2.1 (Excel)</a:t>
            </a:r>
          </a:p>
        </p:txBody>
      </p:sp>
      <p:pic>
        <p:nvPicPr>
          <p:cNvPr id="5" name="Picture 4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8688F6D9-056A-4B6E-B168-D51B7CC468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6644" y="4542230"/>
            <a:ext cx="4926059" cy="1487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70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4BA82-FE7D-4DE6-BC00-A388E38B6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9898" y="805703"/>
            <a:ext cx="9793357" cy="855801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Inserting check boxes into a spreadsheet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2AA1CA-0662-49BE-BE38-901A9CE49405}"/>
              </a:ext>
            </a:extLst>
          </p:cNvPr>
          <p:cNvSpPr/>
          <p:nvPr/>
        </p:nvSpPr>
        <p:spPr>
          <a:xfrm>
            <a:off x="1579898" y="1919562"/>
            <a:ext cx="9793357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Check boxes can be added very easily to a Google Sheet.</a:t>
            </a:r>
          </a:p>
          <a:p>
            <a:r>
              <a:rPr lang="en-GB" sz="2400" dirty="0"/>
              <a:t>Click on the cell where you would like the tick box to be placed. Then go to the 'Insert' tab and select 'Checkbox'.</a:t>
            </a:r>
          </a:p>
          <a:p>
            <a:r>
              <a:rPr lang="en-GB" sz="2400" dirty="0"/>
              <a:t>The box will immediately appear in the cell, and the cell will have a value of </a:t>
            </a:r>
            <a:r>
              <a:rPr lang="en-GB" sz="2400" dirty="0">
                <a:latin typeface="Courier" pitchFamily="2" charset="0"/>
              </a:rPr>
              <a:t>TRUE </a:t>
            </a:r>
            <a:r>
              <a:rPr lang="en-GB" sz="2400" dirty="0"/>
              <a:t>when the box is ticked and </a:t>
            </a:r>
            <a:r>
              <a:rPr lang="en-GB" sz="2400" dirty="0">
                <a:latin typeface="Courier" pitchFamily="2" charset="0"/>
              </a:rPr>
              <a:t>FALSE</a:t>
            </a:r>
            <a:r>
              <a:rPr lang="en-GB" sz="2400" dirty="0"/>
              <a:t> when it is not ticked.</a:t>
            </a:r>
          </a:p>
          <a:p>
            <a:r>
              <a:rPr lang="en-GB" sz="2400" dirty="0">
                <a:latin typeface="Courier" pitchFamily="2" charset="0"/>
              </a:rPr>
              <a:t>TRUE</a:t>
            </a:r>
            <a:r>
              <a:rPr lang="en-GB" sz="2400" dirty="0"/>
              <a:t> and </a:t>
            </a:r>
            <a:r>
              <a:rPr lang="en-GB" sz="2400" dirty="0">
                <a:latin typeface="Courier" pitchFamily="2" charset="0"/>
              </a:rPr>
              <a:t>FALSE</a:t>
            </a:r>
            <a:r>
              <a:rPr lang="en-GB" sz="2400" dirty="0"/>
              <a:t> are </a:t>
            </a:r>
            <a:r>
              <a:rPr lang="en-GB" sz="2400" b="1" dirty="0"/>
              <a:t>Boolean</a:t>
            </a:r>
            <a:r>
              <a:rPr lang="en-GB" sz="2400" dirty="0"/>
              <a:t> values.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142E12-89D6-472A-87F0-6A2228E60912}"/>
              </a:ext>
            </a:extLst>
          </p:cNvPr>
          <p:cNvSpPr/>
          <p:nvPr/>
        </p:nvSpPr>
        <p:spPr>
          <a:xfrm>
            <a:off x="2777205" y="5951435"/>
            <a:ext cx="6637587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Now watch Video 2.1 (Google Sheets)</a:t>
            </a:r>
          </a:p>
        </p:txBody>
      </p:sp>
      <p:pic>
        <p:nvPicPr>
          <p:cNvPr id="6" name="Picture 5" descr="Graphical user interface, application, table&#10;&#10;Description automatically generated">
            <a:extLst>
              <a:ext uri="{FF2B5EF4-FFF2-40B4-BE49-F238E27FC236}">
                <a16:creationId xmlns:a16="http://schemas.microsoft.com/office/drawing/2014/main" id="{50B6849F-3AD5-40CC-96AF-6842CA32EF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5563" y="4227886"/>
            <a:ext cx="4420873" cy="1398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003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24949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2.1 Pizza ordering system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216" y="1847757"/>
            <a:ext cx="4587567" cy="449484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17073F1-28DB-7F43-8A90-05D14E94B84C}"/>
              </a:ext>
            </a:extLst>
          </p:cNvPr>
          <p:cNvSpPr/>
          <p:nvPr/>
        </p:nvSpPr>
        <p:spPr>
          <a:xfrm>
            <a:off x="1589632" y="2274838"/>
            <a:ext cx="5260584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are going to be creating a system to help customers select and calculate the cost of a pizza order.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Your system will include: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range of toppings to choose from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range of pizza sizes to choose from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option to choose between collection or delivery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formulae and functions to calculate the total cost for the chosen options.</a:t>
            </a:r>
          </a:p>
        </p:txBody>
      </p:sp>
    </p:spTree>
    <p:extLst>
      <p:ext uri="{BB962C8B-B14F-4D97-AF65-F5344CB8AC3E}">
        <p14:creationId xmlns:p14="http://schemas.microsoft.com/office/powerpoint/2010/main" val="17728742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B468A-662A-4290-A763-CBC919D3C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644" y="815010"/>
            <a:ext cx="9753600" cy="820844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Activity 2.1: Pizza orders (Part 1)</a:t>
            </a:r>
          </a:p>
        </p:txBody>
      </p:sp>
      <p:pic>
        <p:nvPicPr>
          <p:cNvPr id="7" name="Picture 6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C5825A4D-74CC-374E-BBE6-E90153552B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363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B468A-662A-4290-A763-CBC919D3C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5033" y="815010"/>
            <a:ext cx="9753600" cy="820844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Using the Boolean value of a check box in functions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65D2E59-63D8-4E44-B092-DE80482231D9}"/>
              </a:ext>
            </a:extLst>
          </p:cNvPr>
          <p:cNvSpPr/>
          <p:nvPr/>
        </p:nvSpPr>
        <p:spPr>
          <a:xfrm>
            <a:off x="8875643" y="3674722"/>
            <a:ext cx="2817676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sz="28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Now watch</a:t>
            </a:r>
          </a:p>
          <a:p>
            <a:pPr algn="ctr">
              <a:spcAft>
                <a:spcPts val="0"/>
              </a:spcAft>
            </a:pPr>
            <a:r>
              <a:rPr lang="en-GB" sz="28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Video 2.2 (Excel)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29958D-5BFD-5B4B-BB60-0B0504AD80D6}"/>
              </a:ext>
            </a:extLst>
          </p:cNvPr>
          <p:cNvSpPr/>
          <p:nvPr/>
        </p:nvSpPr>
        <p:spPr>
          <a:xfrm>
            <a:off x="1775791" y="1819548"/>
            <a:ext cx="955284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It is possible to refer to the Boolean value in the linked cell in functions in Excel. For example, the spreadsheet below contains the options 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France</a:t>
            </a:r>
            <a:r>
              <a:rPr lang="en-GB" sz="2400" dirty="0">
                <a:ea typeface="Calibri" panose="020F0502020204030204" pitchFamily="34" charset="0"/>
                <a:cs typeface="Times New Roman" panose="02020603050405020304" pitchFamily="18" charset="0"/>
              </a:rPr>
              <a:t> and 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Spain</a:t>
            </a:r>
            <a:r>
              <a:rPr lang="en-GB" sz="2400" dirty="0"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which are linked to cells D1 and D2, respectively.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F55864-C480-6C44-B9BD-5EE0FF1F79B5}"/>
              </a:ext>
            </a:extLst>
          </p:cNvPr>
          <p:cNvSpPr/>
          <p:nvPr/>
        </p:nvSpPr>
        <p:spPr>
          <a:xfrm>
            <a:off x="1775791" y="4940962"/>
            <a:ext cx="9552842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ea typeface="Calibri" panose="020F0502020204030204" pitchFamily="34" charset="0"/>
                <a:cs typeface="Times New Roman" panose="02020603050405020304" pitchFamily="18" charset="0"/>
              </a:rPr>
              <a:t>An 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en-GB" sz="2400" dirty="0">
                <a:ea typeface="Calibri" panose="020F0502020204030204" pitchFamily="34" charset="0"/>
                <a:cs typeface="Times New Roman" panose="02020603050405020304" pitchFamily="18" charset="0"/>
              </a:rPr>
              <a:t> function in cell E1 is linked to the value in D1: 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IF( D1=TRUE, "Has been to France", "Has not been to France" )</a:t>
            </a:r>
          </a:p>
          <a:p>
            <a:r>
              <a:rPr lang="en-GB" sz="2400" dirty="0">
                <a:ea typeface="Calibri" panose="020F0502020204030204" pitchFamily="34" charset="0"/>
                <a:cs typeface="Times New Roman" panose="02020603050405020304" pitchFamily="18" charset="0"/>
              </a:rPr>
              <a:t>It says 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Has been to France</a:t>
            </a:r>
            <a:r>
              <a:rPr lang="en-GB" sz="2400" dirty="0">
                <a:ea typeface="Calibri" panose="020F0502020204030204" pitchFamily="34" charset="0"/>
                <a:cs typeface="Times New Roman" panose="02020603050405020304" pitchFamily="18" charset="0"/>
              </a:rPr>
              <a:t> if the value in D1 is 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TRUE</a:t>
            </a:r>
            <a:r>
              <a:rPr lang="en-GB" sz="2400" dirty="0">
                <a:ea typeface="Calibri" panose="020F0502020204030204" pitchFamily="34" charset="0"/>
                <a:cs typeface="Times New Roman" panose="02020603050405020304" pitchFamily="18" charset="0"/>
              </a:rPr>
              <a:t> and 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Has not been to France</a:t>
            </a:r>
            <a:r>
              <a:rPr lang="en-GB" sz="2400" dirty="0">
                <a:ea typeface="Calibri" panose="020F0502020204030204" pitchFamily="34" charset="0"/>
                <a:cs typeface="Times New Roman" panose="02020603050405020304" pitchFamily="18" charset="0"/>
              </a:rPr>
              <a:t> if the value in D1 is 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FALSE.</a:t>
            </a:r>
          </a:p>
        </p:txBody>
      </p:sp>
      <p:pic>
        <p:nvPicPr>
          <p:cNvPr id="9" name="Picture 8" descr="Table&#10;&#10;Description automatically generated">
            <a:extLst>
              <a:ext uri="{FF2B5EF4-FFF2-40B4-BE49-F238E27FC236}">
                <a16:creationId xmlns:a16="http://schemas.microsoft.com/office/drawing/2014/main" id="{625AEE03-483F-4E0A-8D8E-29F4880412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791" y="3305390"/>
            <a:ext cx="6900401" cy="1323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6343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B468A-662A-4290-A763-CBC919D3C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5033" y="815010"/>
            <a:ext cx="9753600" cy="820844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Using the Boolean value of a check box in functions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65D2E59-63D8-4E44-B092-DE80482231D9}"/>
              </a:ext>
            </a:extLst>
          </p:cNvPr>
          <p:cNvSpPr/>
          <p:nvPr/>
        </p:nvSpPr>
        <p:spPr>
          <a:xfrm>
            <a:off x="8100391" y="3718520"/>
            <a:ext cx="3404085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sz="28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Now watch Video 2.2 (Google Sheets)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29958D-5BFD-5B4B-BB60-0B0504AD80D6}"/>
              </a:ext>
            </a:extLst>
          </p:cNvPr>
          <p:cNvSpPr/>
          <p:nvPr/>
        </p:nvSpPr>
        <p:spPr>
          <a:xfrm>
            <a:off x="1575033" y="1861228"/>
            <a:ext cx="9109923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It is possible to refer to the Boolean value of a tick box in a function in Google Sheets. For example, in the spreadsheet below, an 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function in cell D1 is linked to the value in cell A1: 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=IF( A1=TRUE, "Has been to France", "Has not been to France" 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F55864-C480-6C44-B9BD-5EE0FF1F79B5}"/>
              </a:ext>
            </a:extLst>
          </p:cNvPr>
          <p:cNvSpPr/>
          <p:nvPr/>
        </p:nvSpPr>
        <p:spPr>
          <a:xfrm>
            <a:off x="1575034" y="4970883"/>
            <a:ext cx="910992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It says </a:t>
            </a:r>
            <a:r>
              <a:rPr lang="en-GB" sz="2400" dirty="0">
                <a:latin typeface="Courier" pitchFamily="2" charset="0"/>
              </a:rPr>
              <a:t>Has been to France</a:t>
            </a:r>
            <a:r>
              <a:rPr lang="en-GB" sz="2400" dirty="0"/>
              <a:t> if the value in cell A1 is </a:t>
            </a:r>
            <a:r>
              <a:rPr lang="en-GB" sz="2400" dirty="0">
                <a:latin typeface="Courier" pitchFamily="2" charset="0"/>
              </a:rPr>
              <a:t>TRUE</a:t>
            </a:r>
            <a:r>
              <a:rPr lang="en-GB" sz="2400" dirty="0"/>
              <a:t> and </a:t>
            </a:r>
            <a:r>
              <a:rPr lang="en-GB" sz="2400" dirty="0">
                <a:latin typeface="Courier" pitchFamily="2" charset="0"/>
              </a:rPr>
              <a:t>Has not been to France</a:t>
            </a:r>
            <a:r>
              <a:rPr lang="en-GB" sz="2400" dirty="0"/>
              <a:t> if the value in cell A1 is </a:t>
            </a:r>
            <a:r>
              <a:rPr lang="en-GB" sz="2400" dirty="0">
                <a:latin typeface="Courier" pitchFamily="2" charset="0"/>
              </a:rPr>
              <a:t>FALSE</a:t>
            </a:r>
            <a:r>
              <a:rPr lang="en-GB" sz="2400" dirty="0"/>
              <a:t>.</a:t>
            </a:r>
          </a:p>
        </p:txBody>
      </p:sp>
      <p:pic>
        <p:nvPicPr>
          <p:cNvPr id="6" name="Picture 5" descr="Table&#10;&#10;Description automatically generated">
            <a:extLst>
              <a:ext uri="{FF2B5EF4-FFF2-40B4-BE49-F238E27FC236}">
                <a16:creationId xmlns:a16="http://schemas.microsoft.com/office/drawing/2014/main" id="{428E7CC4-C93D-4D2E-BE66-6FC34EFEFC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5033" y="3643579"/>
            <a:ext cx="6081483" cy="1114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0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2854" y="808171"/>
            <a:ext cx="10037685" cy="810904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2.2: Pizza orders (Part 2)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9922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13F26CB-BB00-1343-8C2D-D8C080F9ACE0}"/>
              </a:ext>
            </a:extLst>
          </p:cNvPr>
          <p:cNvSpPr/>
          <p:nvPr/>
        </p:nvSpPr>
        <p:spPr>
          <a:xfrm>
            <a:off x="1137225" y="1909512"/>
            <a:ext cx="990893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Here is an example of what your pizza ordering system could look like in Excel:</a:t>
            </a:r>
          </a:p>
        </p:txBody>
      </p:sp>
      <p:pic>
        <p:nvPicPr>
          <p:cNvPr id="4" name="Picture 3" descr="Table&#10;&#10;Description automatically generated">
            <a:extLst>
              <a:ext uri="{FF2B5EF4-FFF2-40B4-BE49-F238E27FC236}">
                <a16:creationId xmlns:a16="http://schemas.microsoft.com/office/drawing/2014/main" id="{82CFC086-F212-450E-A38B-744098F64E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9624" y="2440846"/>
            <a:ext cx="9324136" cy="3850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45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13F26CB-BB00-1343-8C2D-D8C080F9ACE0}"/>
              </a:ext>
            </a:extLst>
          </p:cNvPr>
          <p:cNvSpPr/>
          <p:nvPr/>
        </p:nvSpPr>
        <p:spPr>
          <a:xfrm>
            <a:off x="1028562" y="1874514"/>
            <a:ext cx="101348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Here is an example of what your pizza ordering system could look like in Google:</a:t>
            </a:r>
          </a:p>
        </p:txBody>
      </p:sp>
      <p:pic>
        <p:nvPicPr>
          <p:cNvPr id="8" name="Picture 7" descr="Table&#10;&#10;Description automatically generated">
            <a:extLst>
              <a:ext uri="{FF2B5EF4-FFF2-40B4-BE49-F238E27FC236}">
                <a16:creationId xmlns:a16="http://schemas.microsoft.com/office/drawing/2014/main" id="{E2174C1F-CC3B-4D8C-9CB8-5217FC39B3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8240" y="2440846"/>
            <a:ext cx="9247177" cy="3883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04230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2854" y="808171"/>
            <a:ext cx="10037685" cy="810904"/>
          </a:xfrm>
        </p:spPr>
        <p:txBody>
          <a:bodyPr>
            <a:normAutofit/>
          </a:bodyPr>
          <a:lstStyle/>
          <a:p>
            <a:r>
              <a:rPr lang="en-GB" b="1">
                <a:solidFill>
                  <a:schemeClr val="bg1"/>
                </a:solidFill>
              </a:rPr>
              <a:t>Quiz 2</a:t>
            </a:r>
            <a:endParaRPr lang="en-GB" b="1" dirty="0">
              <a:solidFill>
                <a:schemeClr val="bg1"/>
              </a:solidFill>
            </a:endParaRP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5464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511</TotalTime>
  <Words>668</Words>
  <Application>Microsoft Office PowerPoint</Application>
  <PresentationFormat>Widescreen</PresentationFormat>
  <Paragraphs>54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Courier</vt:lpstr>
      <vt:lpstr>Symbol</vt:lpstr>
      <vt:lpstr>Office Theme</vt:lpstr>
      <vt:lpstr>Advanced spreadsheets</vt:lpstr>
      <vt:lpstr>Objectives</vt:lpstr>
      <vt:lpstr>Questionnaire </vt:lpstr>
      <vt:lpstr>Check boxes</vt:lpstr>
      <vt:lpstr>Inserting check boxes into a spreadsheet</vt:lpstr>
      <vt:lpstr>Inserting check boxes into a spreadsheet</vt:lpstr>
      <vt:lpstr>Activity 2.1 Pizza ordering system</vt:lpstr>
      <vt:lpstr>Activity 2.1: Pizza orders (Part 1)</vt:lpstr>
      <vt:lpstr>Using the Boolean value of a check box in functions </vt:lpstr>
      <vt:lpstr>Using the Boolean value of a check box in functions</vt:lpstr>
      <vt:lpstr>Activity 2.2: Pizza orders (Part 2)</vt:lpstr>
      <vt:lpstr>PowerPoint Presentation</vt:lpstr>
      <vt:lpstr>PowerPoint Presentation</vt:lpstr>
      <vt:lpstr>Quiz 2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41</cp:revision>
  <dcterms:created xsi:type="dcterms:W3CDTF">2020-11-04T15:22:46Z</dcterms:created>
  <dcterms:modified xsi:type="dcterms:W3CDTF">2021-06-14T15:10:31Z</dcterms:modified>
</cp:coreProperties>
</file>