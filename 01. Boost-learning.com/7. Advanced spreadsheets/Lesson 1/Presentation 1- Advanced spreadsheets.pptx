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74" r:id="rId8"/>
    <p:sldId id="262" r:id="rId9"/>
    <p:sldId id="275" r:id="rId10"/>
    <p:sldId id="276" r:id="rId11"/>
    <p:sldId id="277" r:id="rId12"/>
    <p:sldId id="278" r:id="rId13"/>
    <p:sldId id="279" r:id="rId14"/>
    <p:sldId id="280" r:id="rId15"/>
    <p:sldId id="28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a Albrechtsen" initials="LA" lastIdx="2" clrIdx="0">
    <p:extLst>
      <p:ext uri="{19B8F6BF-5375-455C-9EA6-DF929625EA0E}">
        <p15:presenceInfo xmlns:p15="http://schemas.microsoft.com/office/powerpoint/2012/main" userId="S::Lea.Albrechtsen@hoddereducation.co.uk::4df490f3-5904-4e82-a5b6-23281874b6f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9B4"/>
    <a:srgbClr val="769B5E"/>
    <a:srgbClr val="B612A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812" autoAdjust="0"/>
    <p:restoredTop sz="94660"/>
  </p:normalViewPr>
  <p:slideViewPr>
    <p:cSldViewPr snapToGrid="0">
      <p:cViewPr varScale="1">
        <p:scale>
          <a:sx n="73" d="100"/>
          <a:sy n="73" d="100"/>
        </p:scale>
        <p:origin x="18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F7712-1F3B-4253-AEF1-0FE171523E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DC14F2F-A2B8-4861-8B33-2CF08A1C25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31378146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60902-80CF-4DD3-B59F-8E58611CF13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B756315-CBCB-4124-93B3-3DEF3C56BD7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DFA47B5-60C4-46E0-B317-50F50E6D8572}"/>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09/07/2021</a:t>
            </a:fld>
            <a:endParaRPr lang="en-GB"/>
          </a:p>
        </p:txBody>
      </p:sp>
      <p:sp>
        <p:nvSpPr>
          <p:cNvPr id="5" name="Footer Placeholder 4">
            <a:extLst>
              <a:ext uri="{FF2B5EF4-FFF2-40B4-BE49-F238E27FC236}">
                <a16:creationId xmlns:a16="http://schemas.microsoft.com/office/drawing/2014/main" id="{5F049A0D-7474-4882-A51A-CF35E154FD23}"/>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99F5A12C-5BED-457E-A6CE-2E58C8D0DEDC}"/>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33233533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C2461-8DBB-43F0-A3AC-126E643979E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596A727-278D-4E57-850B-78E0D727C72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41C733-75AA-40FE-8179-B58FA4EA5EED}"/>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09/07/2021</a:t>
            </a:fld>
            <a:endParaRPr lang="en-GB"/>
          </a:p>
        </p:txBody>
      </p:sp>
      <p:sp>
        <p:nvSpPr>
          <p:cNvPr id="5" name="Footer Placeholder 4">
            <a:extLst>
              <a:ext uri="{FF2B5EF4-FFF2-40B4-BE49-F238E27FC236}">
                <a16:creationId xmlns:a16="http://schemas.microsoft.com/office/drawing/2014/main" id="{FB8C4D2E-FA87-41DA-961F-7D250DD08DA8}"/>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BF020F2E-2A86-4F16-B83F-E86E7319950C}"/>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13611048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5B458-3AE6-4C21-BEBE-F7B76061980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32FF206-47D4-451B-80B7-578E10A3E6E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1D2DF79-B13E-46C5-AAA1-F49C3BABAB6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F199702-3758-423C-8C91-550D5C885DF9}"/>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09/07/2021</a:t>
            </a:fld>
            <a:endParaRPr lang="en-GB"/>
          </a:p>
        </p:txBody>
      </p:sp>
      <p:sp>
        <p:nvSpPr>
          <p:cNvPr id="6" name="Footer Placeholder 5">
            <a:extLst>
              <a:ext uri="{FF2B5EF4-FFF2-40B4-BE49-F238E27FC236}">
                <a16:creationId xmlns:a16="http://schemas.microsoft.com/office/drawing/2014/main" id="{4355CC31-BF31-4EB1-8B54-2DD0D6BE79BC}"/>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303EFAF2-4586-4670-8EF7-78067B1872A1}"/>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41161545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05FA2-A60C-405C-A307-880C049CB034}"/>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A970388-4034-4A46-8B98-D37491E014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EC39A8B-6B00-4329-AC44-AD6EBE236EC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E55DFF08-1C59-4E60-A964-4D4A3690072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6548497-A585-4527-B8A6-BB01B9FBC43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77C2D4B-BCC3-48CF-B358-D817886727C0}"/>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09/07/2021</a:t>
            </a:fld>
            <a:endParaRPr lang="en-GB"/>
          </a:p>
        </p:txBody>
      </p:sp>
      <p:sp>
        <p:nvSpPr>
          <p:cNvPr id="8" name="Footer Placeholder 7">
            <a:extLst>
              <a:ext uri="{FF2B5EF4-FFF2-40B4-BE49-F238E27FC236}">
                <a16:creationId xmlns:a16="http://schemas.microsoft.com/office/drawing/2014/main" id="{B393C415-FAAE-444A-BBA1-9059E1C450A3}"/>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9" name="Slide Number Placeholder 8">
            <a:extLst>
              <a:ext uri="{FF2B5EF4-FFF2-40B4-BE49-F238E27FC236}">
                <a16:creationId xmlns:a16="http://schemas.microsoft.com/office/drawing/2014/main" id="{16C512DB-E555-4910-92DC-7AB19F87F8E8}"/>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147741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D8A33-5CA5-4826-9B83-0B2F6A50C2BE}"/>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A17C1E61-1B5E-44DC-BC0F-2F956B04C019}"/>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09/07/2021</a:t>
            </a:fld>
            <a:endParaRPr lang="en-GB"/>
          </a:p>
        </p:txBody>
      </p:sp>
      <p:sp>
        <p:nvSpPr>
          <p:cNvPr id="4" name="Footer Placeholder 3">
            <a:extLst>
              <a:ext uri="{FF2B5EF4-FFF2-40B4-BE49-F238E27FC236}">
                <a16:creationId xmlns:a16="http://schemas.microsoft.com/office/drawing/2014/main" id="{DBA212BA-9EF0-4463-A9C0-997D5572049B}"/>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5" name="Slide Number Placeholder 4">
            <a:extLst>
              <a:ext uri="{FF2B5EF4-FFF2-40B4-BE49-F238E27FC236}">
                <a16:creationId xmlns:a16="http://schemas.microsoft.com/office/drawing/2014/main" id="{E350D64F-9F3A-43FB-A563-07763EE16E28}"/>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32795999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739767-A677-43FB-A13E-C6E76D21E158}"/>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09/07/2021</a:t>
            </a:fld>
            <a:endParaRPr lang="en-GB"/>
          </a:p>
        </p:txBody>
      </p:sp>
      <p:sp>
        <p:nvSpPr>
          <p:cNvPr id="3" name="Footer Placeholder 2">
            <a:extLst>
              <a:ext uri="{FF2B5EF4-FFF2-40B4-BE49-F238E27FC236}">
                <a16:creationId xmlns:a16="http://schemas.microsoft.com/office/drawing/2014/main" id="{BFA103BA-C2DE-41DE-842B-306DECB788D5}"/>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4" name="Slide Number Placeholder 3">
            <a:extLst>
              <a:ext uri="{FF2B5EF4-FFF2-40B4-BE49-F238E27FC236}">
                <a16:creationId xmlns:a16="http://schemas.microsoft.com/office/drawing/2014/main" id="{5B8320D2-03FC-47A8-B437-7B7CEBDD6176}"/>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37471799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B20E6-8664-4FD7-A9B2-0B5C17E861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2D75017E-7CE6-4AFE-8756-092A858401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885C17A6-B2E1-42BB-9629-032C80545F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1DC4D7-18F9-4992-BB61-15FA97A52992}"/>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09/07/2021</a:t>
            </a:fld>
            <a:endParaRPr lang="en-GB"/>
          </a:p>
        </p:txBody>
      </p:sp>
      <p:sp>
        <p:nvSpPr>
          <p:cNvPr id="6" name="Footer Placeholder 5">
            <a:extLst>
              <a:ext uri="{FF2B5EF4-FFF2-40B4-BE49-F238E27FC236}">
                <a16:creationId xmlns:a16="http://schemas.microsoft.com/office/drawing/2014/main" id="{4FB52144-EB56-46FB-8C3D-7A8702354378}"/>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E7142B02-C27D-4AC0-9DE7-A653F338FB98}"/>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18955819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FD8A0-DA8A-463F-AC82-9A3D896B80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E3B553CB-6BB8-4D69-8270-E69093C148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D00E0B06-F972-42E3-B94A-6BA4824458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FCFE24-5759-425E-A7E5-6EAACD13BAAD}"/>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09/07/2021</a:t>
            </a:fld>
            <a:endParaRPr lang="en-GB"/>
          </a:p>
        </p:txBody>
      </p:sp>
      <p:sp>
        <p:nvSpPr>
          <p:cNvPr id="6" name="Footer Placeholder 5">
            <a:extLst>
              <a:ext uri="{FF2B5EF4-FFF2-40B4-BE49-F238E27FC236}">
                <a16:creationId xmlns:a16="http://schemas.microsoft.com/office/drawing/2014/main" id="{EC458F3E-34B5-48AA-B148-66ED69F30671}"/>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AB133722-4E46-4BF0-841D-DC92DCB48251}"/>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21531943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A43C2-4F61-40F8-A06C-596F42B7D0AD}"/>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012D4A7-8F4B-484D-90BE-4A6A303F659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BBE0C66-2DCD-4454-98BE-EE8ADD1D7982}"/>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09/07/2021</a:t>
            </a:fld>
            <a:endParaRPr lang="en-GB"/>
          </a:p>
        </p:txBody>
      </p:sp>
      <p:sp>
        <p:nvSpPr>
          <p:cNvPr id="5" name="Footer Placeholder 4">
            <a:extLst>
              <a:ext uri="{FF2B5EF4-FFF2-40B4-BE49-F238E27FC236}">
                <a16:creationId xmlns:a16="http://schemas.microsoft.com/office/drawing/2014/main" id="{B6C655C5-A5ED-4766-97E4-846A805367DD}"/>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17ADFEEA-B282-4D56-A557-4193031EB4A7}"/>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19012902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31B7A8B-8DD3-4239-8EA1-87394625413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5621B91-126F-434B-86F2-89E6778E91C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7BFCCA6-FBA0-4A4B-97BC-8B2465C0186D}"/>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09/07/2021</a:t>
            </a:fld>
            <a:endParaRPr lang="en-GB"/>
          </a:p>
        </p:txBody>
      </p:sp>
      <p:sp>
        <p:nvSpPr>
          <p:cNvPr id="5" name="Footer Placeholder 4">
            <a:extLst>
              <a:ext uri="{FF2B5EF4-FFF2-40B4-BE49-F238E27FC236}">
                <a16:creationId xmlns:a16="http://schemas.microsoft.com/office/drawing/2014/main" id="{5A17EED6-4B0F-4C58-A54B-C4F0F72D7BAA}"/>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51249905-D4AB-4930-9B2A-6E8E550A0D1E}"/>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13081115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3B9995C-D844-455E-9E19-BF66C81EFD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D204189-41E9-4E09-B418-B033E7F147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Footer Placeholder 4">
            <a:extLst>
              <a:ext uri="{FF2B5EF4-FFF2-40B4-BE49-F238E27FC236}">
                <a16:creationId xmlns:a16="http://schemas.microsoft.com/office/drawing/2014/main" id="{4D739203-7E29-BA40-9D51-8F9968799BF3}"/>
              </a:ext>
            </a:extLst>
          </p:cNvPr>
          <p:cNvSpPr txBox="1">
            <a:spLocks/>
          </p:cNvSpPr>
          <p:nvPr userDrawn="1"/>
        </p:nvSpPr>
        <p:spPr>
          <a:xfrm>
            <a:off x="7547114" y="6380197"/>
            <a:ext cx="41148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GB" sz="1200" dirty="0"/>
              <a:t>© Hodder &amp; Stoughton Limited 2021</a:t>
            </a:r>
          </a:p>
        </p:txBody>
      </p:sp>
      <p:pic>
        <p:nvPicPr>
          <p:cNvPr id="10" name="Picture 9" descr="A picture containing text, tool&#10;&#10;Description automatically generated">
            <a:extLst>
              <a:ext uri="{FF2B5EF4-FFF2-40B4-BE49-F238E27FC236}">
                <a16:creationId xmlns:a16="http://schemas.microsoft.com/office/drawing/2014/main" id="{D732EF40-B59C-F244-AAD1-54CD7DE5EBD6}"/>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22928"/>
            <a:ext cx="12192000" cy="1658912"/>
          </a:xfrm>
          <a:prstGeom prst="rect">
            <a:avLst/>
          </a:prstGeom>
        </p:spPr>
      </p:pic>
    </p:spTree>
    <p:extLst>
      <p:ext uri="{BB962C8B-B14F-4D97-AF65-F5344CB8AC3E}">
        <p14:creationId xmlns:p14="http://schemas.microsoft.com/office/powerpoint/2010/main" val="26587743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2B9C3-E44C-4313-895D-D43DD1C92CE3}"/>
              </a:ext>
            </a:extLst>
          </p:cNvPr>
          <p:cNvSpPr>
            <a:spLocks noGrp="1"/>
          </p:cNvSpPr>
          <p:nvPr>
            <p:ph type="ctrTitle"/>
          </p:nvPr>
        </p:nvSpPr>
        <p:spPr>
          <a:xfrm>
            <a:off x="613251" y="2971075"/>
            <a:ext cx="7311068" cy="915850"/>
          </a:xfrm>
        </p:spPr>
        <p:txBody>
          <a:bodyPr>
            <a:normAutofit/>
          </a:bodyPr>
          <a:lstStyle/>
          <a:p>
            <a:pPr algn="r"/>
            <a:r>
              <a:rPr lang="en-GB" sz="5400" b="1" dirty="0"/>
              <a:t>Advanced spreadsheets</a:t>
            </a:r>
          </a:p>
        </p:txBody>
      </p:sp>
      <p:sp>
        <p:nvSpPr>
          <p:cNvPr id="11" name="Rectangle 10">
            <a:extLst>
              <a:ext uri="{FF2B5EF4-FFF2-40B4-BE49-F238E27FC236}">
                <a16:creationId xmlns:a16="http://schemas.microsoft.com/office/drawing/2014/main" id="{5346DB13-257C-4484-9CB0-C755672B55D3}"/>
              </a:ext>
            </a:extLst>
          </p:cNvPr>
          <p:cNvSpPr/>
          <p:nvPr/>
        </p:nvSpPr>
        <p:spPr>
          <a:xfrm>
            <a:off x="2063356" y="3886925"/>
            <a:ext cx="5860963" cy="400110"/>
          </a:xfrm>
          <a:prstGeom prst="rect">
            <a:avLst/>
          </a:prstGeom>
        </p:spPr>
        <p:txBody>
          <a:bodyPr wrap="none">
            <a:spAutoFit/>
          </a:bodyPr>
          <a:lstStyle/>
          <a:p>
            <a:pPr algn="r"/>
            <a:r>
              <a:rPr lang="en-GB" sz="2000" b="1" dirty="0">
                <a:solidFill>
                  <a:srgbClr val="B612AD"/>
                </a:solidFill>
                <a:latin typeface="Calibri" panose="020F0502020204030204" pitchFamily="34" charset="0"/>
                <a:ea typeface="Times New Roman" panose="02020603050405020304" pitchFamily="18" charset="0"/>
              </a:rPr>
              <a:t>Lesson 1: Drop-down lists, </a:t>
            </a:r>
            <a:r>
              <a:rPr lang="en-GB" sz="2000" b="1" dirty="0">
                <a:solidFill>
                  <a:srgbClr val="B612AD"/>
                </a:solidFill>
                <a:latin typeface="Courier New" panose="02070309020205020404" pitchFamily="49" charset="0"/>
                <a:ea typeface="Times New Roman" panose="02020603050405020304" pitchFamily="18" charset="0"/>
                <a:cs typeface="Courier New" panose="02070309020205020404" pitchFamily="49" charset="0"/>
              </a:rPr>
              <a:t>VLOOKUP</a:t>
            </a:r>
            <a:r>
              <a:rPr lang="en-GB" sz="2000" b="1" dirty="0">
                <a:solidFill>
                  <a:srgbClr val="B612AD"/>
                </a:solidFill>
                <a:latin typeface="Calibri" panose="020F0502020204030204" pitchFamily="34" charset="0"/>
                <a:ea typeface="Times New Roman" panose="02020603050405020304" pitchFamily="18" charset="0"/>
              </a:rPr>
              <a:t> and sorting data</a:t>
            </a:r>
            <a:endParaRPr lang="en-GB" sz="2000" b="1" dirty="0">
              <a:solidFill>
                <a:srgbClr val="B612AD"/>
              </a:solidFill>
            </a:endParaRPr>
          </a:p>
        </p:txBody>
      </p:sp>
      <p:pic>
        <p:nvPicPr>
          <p:cNvPr id="5" name="Picture 4">
            <a:extLst>
              <a:ext uri="{FF2B5EF4-FFF2-40B4-BE49-F238E27FC236}">
                <a16:creationId xmlns:a16="http://schemas.microsoft.com/office/drawing/2014/main" id="{A6B55173-0D29-3247-9DF7-129430C1068A}"/>
              </a:ext>
            </a:extLst>
          </p:cNvPr>
          <p:cNvPicPr>
            <a:picLocks noChangeAspect="1"/>
          </p:cNvPicPr>
          <p:nvPr/>
        </p:nvPicPr>
        <p:blipFill>
          <a:blip r:embed="rId2"/>
          <a:stretch>
            <a:fillRect/>
          </a:stretch>
        </p:blipFill>
        <p:spPr>
          <a:xfrm>
            <a:off x="8219924" y="2865016"/>
            <a:ext cx="2937413" cy="2443928"/>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0543161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C4667-2A3C-4536-9386-00402F3C6EE6}"/>
              </a:ext>
            </a:extLst>
          </p:cNvPr>
          <p:cNvSpPr>
            <a:spLocks noGrp="1"/>
          </p:cNvSpPr>
          <p:nvPr>
            <p:ph type="title"/>
          </p:nvPr>
        </p:nvSpPr>
        <p:spPr>
          <a:xfrm>
            <a:off x="1576857" y="806893"/>
            <a:ext cx="9634330" cy="766349"/>
          </a:xfrm>
        </p:spPr>
        <p:txBody>
          <a:bodyPr/>
          <a:lstStyle/>
          <a:p>
            <a:r>
              <a:rPr lang="en-GB" b="1" dirty="0">
                <a:solidFill>
                  <a:schemeClr val="bg1"/>
                </a:solidFill>
              </a:rPr>
              <a:t>Objectives</a:t>
            </a:r>
          </a:p>
        </p:txBody>
      </p:sp>
      <p:sp>
        <p:nvSpPr>
          <p:cNvPr id="4" name="Rectangle 3">
            <a:extLst>
              <a:ext uri="{FF2B5EF4-FFF2-40B4-BE49-F238E27FC236}">
                <a16:creationId xmlns:a16="http://schemas.microsoft.com/office/drawing/2014/main" id="{531D8374-34AC-4627-BA7F-2261014679DD}"/>
              </a:ext>
            </a:extLst>
          </p:cNvPr>
          <p:cNvSpPr/>
          <p:nvPr/>
        </p:nvSpPr>
        <p:spPr>
          <a:xfrm>
            <a:off x="1576857" y="2274838"/>
            <a:ext cx="8280208" cy="2308324"/>
          </a:xfrm>
          <a:prstGeom prst="rect">
            <a:avLst/>
          </a:prstGeom>
        </p:spPr>
        <p:txBody>
          <a:bodyPr wrap="square">
            <a:spAutoFit/>
          </a:bodyPr>
          <a:lstStyle/>
          <a:p>
            <a:pPr>
              <a:spcAft>
                <a:spcPts val="0"/>
              </a:spcAft>
            </a:pPr>
            <a:r>
              <a:rPr lang="en-GB" sz="3200" dirty="0">
                <a:latin typeface="Calibri" panose="020F0502020204030204" pitchFamily="34" charset="0"/>
                <a:ea typeface="Calibri" panose="020F0502020204030204" pitchFamily="34" charset="0"/>
                <a:cs typeface="Times New Roman" panose="02020603050405020304" pitchFamily="18" charset="0"/>
              </a:rPr>
              <a:t>In this lesson, you will learn how to:</a:t>
            </a:r>
          </a:p>
          <a:p>
            <a:pPr marL="342900" lvl="0" indent="-342900">
              <a:spcAft>
                <a:spcPts val="0"/>
              </a:spcAft>
              <a:buFont typeface="Symbol" panose="05050102010706020507" pitchFamily="18" charset="2"/>
              <a:buChar char=""/>
            </a:pPr>
            <a:r>
              <a:rPr lang="en-GB" sz="2800" dirty="0">
                <a:latin typeface="Calibri" panose="020F0502020204030204" pitchFamily="34" charset="0"/>
                <a:ea typeface="Calibri" panose="020F0502020204030204" pitchFamily="34" charset="0"/>
                <a:cs typeface="Times New Roman" panose="02020603050405020304" pitchFamily="18" charset="0"/>
              </a:rPr>
              <a:t>create drop-down lists to validate data entry</a:t>
            </a:r>
          </a:p>
          <a:p>
            <a:pPr marL="342900" lvl="0" indent="-342900">
              <a:spcAft>
                <a:spcPts val="0"/>
              </a:spcAft>
              <a:buFont typeface="Symbol" panose="05050102010706020507" pitchFamily="18" charset="2"/>
              <a:buChar char=""/>
            </a:pPr>
            <a:r>
              <a:rPr lang="en-GB" sz="2800" dirty="0">
                <a:latin typeface="Calibri" panose="020F0502020204030204" pitchFamily="34" charset="0"/>
                <a:ea typeface="Calibri" panose="020F0502020204030204" pitchFamily="34" charset="0"/>
                <a:cs typeface="Times New Roman" panose="02020603050405020304" pitchFamily="18" charset="0"/>
              </a:rPr>
              <a:t>use the </a:t>
            </a:r>
            <a:r>
              <a:rPr lang="en-GB" sz="2800" dirty="0">
                <a:latin typeface="Courier New" panose="02070309020205020404" pitchFamily="49" charset="0"/>
                <a:ea typeface="Calibri" panose="020F0502020204030204" pitchFamily="34" charset="0"/>
                <a:cs typeface="Courier New" panose="02070309020205020404" pitchFamily="49" charset="0"/>
              </a:rPr>
              <a:t>VLOOKUP</a:t>
            </a:r>
            <a:r>
              <a:rPr lang="en-GB" sz="2800" dirty="0"/>
              <a:t> </a:t>
            </a:r>
            <a:r>
              <a:rPr lang="en-GB" sz="2800" dirty="0">
                <a:latin typeface="Calibri" panose="020F0502020204030204" pitchFamily="34" charset="0"/>
                <a:ea typeface="Calibri" panose="020F0502020204030204" pitchFamily="34" charset="0"/>
                <a:cs typeface="Times New Roman" panose="02020603050405020304" pitchFamily="18" charset="0"/>
              </a:rPr>
              <a:t>function to find data in a table and return related information</a:t>
            </a:r>
          </a:p>
          <a:p>
            <a:pPr marL="342900" lvl="0" indent="-342900">
              <a:spcAft>
                <a:spcPts val="0"/>
              </a:spcAft>
              <a:buFont typeface="Symbol" panose="05050102010706020507" pitchFamily="18" charset="2"/>
              <a:buChar char=""/>
            </a:pPr>
            <a:r>
              <a:rPr lang="en-GB" sz="2800" dirty="0">
                <a:latin typeface="Calibri" panose="020F0502020204030204" pitchFamily="34" charset="0"/>
                <a:ea typeface="Calibri" panose="020F0502020204030204" pitchFamily="34" charset="0"/>
                <a:cs typeface="Times New Roman" panose="02020603050405020304" pitchFamily="18" charset="0"/>
              </a:rPr>
              <a:t>sort data in a spreadsheet.</a:t>
            </a:r>
          </a:p>
        </p:txBody>
      </p:sp>
    </p:spTree>
    <p:extLst>
      <p:ext uri="{BB962C8B-B14F-4D97-AF65-F5344CB8AC3E}">
        <p14:creationId xmlns:p14="http://schemas.microsoft.com/office/powerpoint/2010/main" val="16998104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7905C-00CB-4FC9-83B7-66A2E3C077C8}"/>
              </a:ext>
            </a:extLst>
          </p:cNvPr>
          <p:cNvSpPr>
            <a:spLocks noGrp="1"/>
          </p:cNvSpPr>
          <p:nvPr>
            <p:ph type="title"/>
          </p:nvPr>
        </p:nvSpPr>
        <p:spPr>
          <a:xfrm>
            <a:off x="1563544" y="813732"/>
            <a:ext cx="9773478" cy="805343"/>
          </a:xfrm>
        </p:spPr>
        <p:txBody>
          <a:bodyPr/>
          <a:lstStyle/>
          <a:p>
            <a:r>
              <a:rPr lang="en-GB" b="1" dirty="0">
                <a:solidFill>
                  <a:schemeClr val="bg1"/>
                </a:solidFill>
              </a:rPr>
              <a:t>A spreadsheet</a:t>
            </a:r>
          </a:p>
        </p:txBody>
      </p:sp>
      <p:pic>
        <p:nvPicPr>
          <p:cNvPr id="5" name="Picture 4">
            <a:extLst>
              <a:ext uri="{FF2B5EF4-FFF2-40B4-BE49-F238E27FC236}">
                <a16:creationId xmlns:a16="http://schemas.microsoft.com/office/drawing/2014/main" id="{F9A808B2-9967-48D4-A13E-71EABCE42D6D}"/>
              </a:ext>
            </a:extLst>
          </p:cNvPr>
          <p:cNvPicPr/>
          <p:nvPr/>
        </p:nvPicPr>
        <p:blipFill>
          <a:blip r:embed="rId2">
            <a:extLst>
              <a:ext uri="{28A0092B-C50C-407E-A947-70E740481C1C}">
                <a14:useLocalDpi xmlns:a14="http://schemas.microsoft.com/office/drawing/2010/main" val="0"/>
              </a:ext>
            </a:extLst>
          </a:blip>
          <a:stretch>
            <a:fillRect/>
          </a:stretch>
        </p:blipFill>
        <p:spPr>
          <a:xfrm>
            <a:off x="3191611" y="2154258"/>
            <a:ext cx="4986655" cy="3890010"/>
          </a:xfrm>
          <a:prstGeom prst="rect">
            <a:avLst/>
          </a:prstGeom>
        </p:spPr>
      </p:pic>
    </p:spTree>
    <p:extLst>
      <p:ext uri="{BB962C8B-B14F-4D97-AF65-F5344CB8AC3E}">
        <p14:creationId xmlns:p14="http://schemas.microsoft.com/office/powerpoint/2010/main" val="11661668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C3D19-1115-422D-B31A-F4EC856863A4}"/>
              </a:ext>
            </a:extLst>
          </p:cNvPr>
          <p:cNvSpPr>
            <a:spLocks noGrp="1"/>
          </p:cNvSpPr>
          <p:nvPr>
            <p:ph type="title"/>
          </p:nvPr>
        </p:nvSpPr>
        <p:spPr>
          <a:xfrm>
            <a:off x="1578133" y="804431"/>
            <a:ext cx="9733721" cy="835923"/>
          </a:xfrm>
        </p:spPr>
        <p:txBody>
          <a:bodyPr/>
          <a:lstStyle/>
          <a:p>
            <a:r>
              <a:rPr lang="en-GB" b="1" dirty="0">
                <a:solidFill>
                  <a:schemeClr val="bg1"/>
                </a:solidFill>
              </a:rPr>
              <a:t>Customising spreadsheets</a:t>
            </a:r>
          </a:p>
        </p:txBody>
      </p:sp>
      <p:sp>
        <p:nvSpPr>
          <p:cNvPr id="7" name="Rectangle 6">
            <a:extLst>
              <a:ext uri="{FF2B5EF4-FFF2-40B4-BE49-F238E27FC236}">
                <a16:creationId xmlns:a16="http://schemas.microsoft.com/office/drawing/2014/main" id="{EB1C6ADC-3182-4FBE-8FB1-B26B460A8B3F}"/>
              </a:ext>
            </a:extLst>
          </p:cNvPr>
          <p:cNvSpPr/>
          <p:nvPr/>
        </p:nvSpPr>
        <p:spPr>
          <a:xfrm>
            <a:off x="1578133" y="2249455"/>
            <a:ext cx="9293999" cy="3046988"/>
          </a:xfrm>
          <a:prstGeom prst="rect">
            <a:avLst/>
          </a:prstGeom>
        </p:spPr>
        <p:txBody>
          <a:bodyPr wrap="square">
            <a:spAutoFit/>
          </a:bodyPr>
          <a:lstStyle/>
          <a:p>
            <a:pPr>
              <a:spcAft>
                <a:spcPts val="0"/>
              </a:spcAft>
            </a:pPr>
            <a:r>
              <a:rPr lang="en-GB" sz="2400" dirty="0">
                <a:latin typeface="Calibri" panose="020F0502020204030204" pitchFamily="34" charset="0"/>
                <a:ea typeface="Calibri" panose="020F0502020204030204" pitchFamily="34" charset="0"/>
                <a:cs typeface="Times New Roman" panose="02020603050405020304" pitchFamily="18" charset="0"/>
              </a:rPr>
              <a:t>You should already be familiar with a range of features in spreadsheets, including:</a:t>
            </a:r>
          </a:p>
          <a:p>
            <a:pPr marL="342900" lvl="0" indent="-342900">
              <a:spcAft>
                <a:spcPts val="0"/>
              </a:spcAft>
              <a:buFont typeface="Symbol" panose="05050102010706020507" pitchFamily="18" charset="2"/>
              <a:buChar char=""/>
            </a:pPr>
            <a:r>
              <a:rPr lang="en-GB" sz="2400" dirty="0">
                <a:latin typeface="Calibri" panose="020F0502020204030204" pitchFamily="34" charset="0"/>
                <a:ea typeface="Calibri" panose="020F0502020204030204" pitchFamily="34" charset="0"/>
                <a:cs typeface="Times New Roman" panose="02020603050405020304" pitchFamily="18" charset="0"/>
              </a:rPr>
              <a:t>simple formulae</a:t>
            </a:r>
          </a:p>
          <a:p>
            <a:pPr marL="342900" lvl="0" indent="-342900">
              <a:spcAft>
                <a:spcPts val="0"/>
              </a:spcAft>
              <a:buFont typeface="Symbol" panose="05050102010706020507" pitchFamily="18" charset="2"/>
              <a:buChar char=""/>
            </a:pPr>
            <a:r>
              <a:rPr lang="en-GB" sz="2400" dirty="0">
                <a:latin typeface="Calibri" panose="020F0502020204030204" pitchFamily="34" charset="0"/>
                <a:ea typeface="Calibri" panose="020F0502020204030204" pitchFamily="34" charset="0"/>
                <a:cs typeface="Times New Roman" panose="02020603050405020304" pitchFamily="18" charset="0"/>
              </a:rPr>
              <a:t>relative and absolute cell references</a:t>
            </a:r>
          </a:p>
          <a:p>
            <a:pPr marL="342900" lvl="0" indent="-342900">
              <a:spcAft>
                <a:spcPts val="0"/>
              </a:spcAft>
              <a:buFont typeface="Symbol" panose="05050102010706020507" pitchFamily="18" charset="2"/>
              <a:buChar char=""/>
            </a:pPr>
            <a:r>
              <a:rPr lang="en-GB" sz="2400" dirty="0">
                <a:latin typeface="Calibri" panose="020F0502020204030204" pitchFamily="34" charset="0"/>
                <a:ea typeface="Calibri" panose="020F0502020204030204" pitchFamily="34" charset="0"/>
                <a:cs typeface="Times New Roman" panose="02020603050405020304" pitchFamily="18" charset="0"/>
              </a:rPr>
              <a:t>functions such as </a:t>
            </a:r>
            <a:r>
              <a:rPr lang="en-GB" sz="2400" dirty="0">
                <a:latin typeface="Courier New" panose="02070309020205020404" pitchFamily="49" charset="0"/>
                <a:ea typeface="Calibri" panose="020F0502020204030204" pitchFamily="34" charset="0"/>
                <a:cs typeface="Courier New" panose="02070309020205020404" pitchFamily="49" charset="0"/>
              </a:rPr>
              <a:t>SUM</a:t>
            </a:r>
            <a:r>
              <a:rPr lang="en-GB" sz="2400" dirty="0">
                <a:ea typeface="Calibri" panose="020F0502020204030204" pitchFamily="34" charset="0"/>
                <a:cs typeface="Courier New" panose="02070309020205020404" pitchFamily="49" charset="0"/>
              </a:rPr>
              <a:t>, </a:t>
            </a:r>
            <a:r>
              <a:rPr lang="en-GB" sz="2400" dirty="0">
                <a:latin typeface="Courier New" panose="02070309020205020404" pitchFamily="49" charset="0"/>
                <a:ea typeface="Calibri" panose="020F0502020204030204" pitchFamily="34" charset="0"/>
                <a:cs typeface="Courier New" panose="02070309020205020404" pitchFamily="49" charset="0"/>
              </a:rPr>
              <a:t>AVERAGE</a:t>
            </a:r>
            <a:r>
              <a:rPr lang="en-GB" sz="2400" dirty="0">
                <a:ea typeface="Calibri" panose="020F0502020204030204" pitchFamily="34" charset="0"/>
                <a:cs typeface="Courier New" panose="02070309020205020404" pitchFamily="49" charset="0"/>
              </a:rPr>
              <a:t> </a:t>
            </a:r>
            <a:r>
              <a:rPr lang="en-GB" sz="2400" dirty="0">
                <a:latin typeface="Calibri" panose="020F0502020204030204" pitchFamily="34" charset="0"/>
                <a:ea typeface="Calibri" panose="020F0502020204030204" pitchFamily="34" charset="0"/>
                <a:cs typeface="Times New Roman" panose="02020603050405020304" pitchFamily="18" charset="0"/>
              </a:rPr>
              <a:t>and </a:t>
            </a:r>
            <a:r>
              <a:rPr lang="en-GB" sz="2400" dirty="0">
                <a:latin typeface="Courier New" panose="02070309020205020404" pitchFamily="49" charset="0"/>
                <a:ea typeface="Calibri" panose="020F0502020204030204" pitchFamily="34" charset="0"/>
                <a:cs typeface="Courier New" panose="02070309020205020404" pitchFamily="49" charset="0"/>
              </a:rPr>
              <a:t>IF</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spcAft>
                <a:spcPts val="0"/>
              </a:spcAft>
              <a:buFont typeface="Symbol" panose="05050102010706020507" pitchFamily="18" charset="2"/>
              <a:buChar char=""/>
            </a:pPr>
            <a:r>
              <a:rPr lang="en-GB" sz="2400" dirty="0">
                <a:latin typeface="Calibri" panose="020F0502020204030204" pitchFamily="34" charset="0"/>
                <a:ea typeface="Calibri" panose="020F0502020204030204" pitchFamily="34" charset="0"/>
                <a:cs typeface="Times New Roman" panose="02020603050405020304" pitchFamily="18" charset="0"/>
              </a:rPr>
              <a:t>conditional formatting.</a:t>
            </a:r>
          </a:p>
          <a:p>
            <a:pPr>
              <a:spcAft>
                <a:spcPts val="0"/>
              </a:spcAft>
            </a:pPr>
            <a:r>
              <a:rPr lang="en-GB" sz="2400" dirty="0">
                <a:latin typeface="Calibri" panose="020F0502020204030204" pitchFamily="34" charset="0"/>
                <a:ea typeface="Calibri" panose="020F0502020204030204" pitchFamily="34" charset="0"/>
                <a:cs typeface="Times New Roman" panose="02020603050405020304" pitchFamily="18" charset="0"/>
              </a:rPr>
              <a:t>We are now going to look at extra features to help us customise spreadsheets and make them more versatile and user-friendly.</a:t>
            </a:r>
          </a:p>
        </p:txBody>
      </p:sp>
    </p:spTree>
    <p:extLst>
      <p:ext uri="{BB962C8B-B14F-4D97-AF65-F5344CB8AC3E}">
        <p14:creationId xmlns:p14="http://schemas.microsoft.com/office/powerpoint/2010/main" val="3005745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5B0F3-7F56-4F5C-81F1-A743D46BDBD9}"/>
              </a:ext>
            </a:extLst>
          </p:cNvPr>
          <p:cNvSpPr>
            <a:spLocks noGrp="1"/>
          </p:cNvSpPr>
          <p:nvPr>
            <p:ph type="title"/>
          </p:nvPr>
        </p:nvSpPr>
        <p:spPr>
          <a:xfrm>
            <a:off x="1566644" y="802881"/>
            <a:ext cx="9753599" cy="845862"/>
          </a:xfrm>
        </p:spPr>
        <p:txBody>
          <a:bodyPr/>
          <a:lstStyle/>
          <a:p>
            <a:r>
              <a:rPr lang="en-GB" b="1" dirty="0">
                <a:solidFill>
                  <a:schemeClr val="bg1"/>
                </a:solidFill>
              </a:rPr>
              <a:t>Drop-down lists</a:t>
            </a:r>
          </a:p>
        </p:txBody>
      </p:sp>
      <p:sp>
        <p:nvSpPr>
          <p:cNvPr id="7" name="Rectangle 6">
            <a:extLst>
              <a:ext uri="{FF2B5EF4-FFF2-40B4-BE49-F238E27FC236}">
                <a16:creationId xmlns:a16="http://schemas.microsoft.com/office/drawing/2014/main" id="{96A8A392-9E62-4A02-96D1-C9C0FB661E79}"/>
              </a:ext>
            </a:extLst>
          </p:cNvPr>
          <p:cNvSpPr/>
          <p:nvPr/>
        </p:nvSpPr>
        <p:spPr>
          <a:xfrm>
            <a:off x="1566644" y="2560388"/>
            <a:ext cx="6302229" cy="2677656"/>
          </a:xfrm>
          <a:prstGeom prst="rect">
            <a:avLst/>
          </a:prstGeom>
        </p:spPr>
        <p:txBody>
          <a:bodyPr wrap="square">
            <a:spAutoFit/>
          </a:bodyPr>
          <a:lstStyle/>
          <a:p>
            <a:pPr>
              <a:spcAft>
                <a:spcPts val="0"/>
              </a:spcAft>
            </a:pPr>
            <a:r>
              <a:rPr lang="en-GB" sz="2800" dirty="0">
                <a:latin typeface="Calibri" panose="020F0502020204030204" pitchFamily="34" charset="0"/>
                <a:ea typeface="Calibri" panose="020F0502020204030204" pitchFamily="34" charset="0"/>
                <a:cs typeface="Times New Roman" panose="02020603050405020304" pitchFamily="18" charset="0"/>
              </a:rPr>
              <a:t>A </a:t>
            </a:r>
            <a:r>
              <a:rPr lang="en-GB" sz="2800" b="1" dirty="0">
                <a:solidFill>
                  <a:srgbClr val="0069B4"/>
                </a:solidFill>
                <a:latin typeface="Calibri" panose="020F0502020204030204" pitchFamily="34" charset="0"/>
                <a:ea typeface="Calibri" panose="020F0502020204030204" pitchFamily="34" charset="0"/>
                <a:cs typeface="Times New Roman" panose="02020603050405020304" pitchFamily="18" charset="0"/>
              </a:rPr>
              <a:t>drop-down list</a:t>
            </a:r>
            <a:r>
              <a:rPr lang="en-GB" sz="2800" dirty="0">
                <a:solidFill>
                  <a:srgbClr val="0069B4"/>
                </a:solidFill>
                <a:latin typeface="Calibri" panose="020F0502020204030204" pitchFamily="34" charset="0"/>
                <a:ea typeface="Calibri" panose="020F0502020204030204" pitchFamily="34" charset="0"/>
                <a:cs typeface="Times New Roman" panose="02020603050405020304" pitchFamily="18" charset="0"/>
              </a:rPr>
              <a:t> </a:t>
            </a:r>
            <a:r>
              <a:rPr lang="en-GB" sz="2800" dirty="0">
                <a:latin typeface="Calibri" panose="020F0502020204030204" pitchFamily="34" charset="0"/>
                <a:ea typeface="Calibri" panose="020F0502020204030204" pitchFamily="34" charset="0"/>
                <a:cs typeface="Times New Roman" panose="02020603050405020304" pitchFamily="18" charset="0"/>
              </a:rPr>
              <a:t>is a type of </a:t>
            </a:r>
            <a:r>
              <a:rPr lang="en-GB" sz="2800" b="1" dirty="0">
                <a:solidFill>
                  <a:srgbClr val="0069B4"/>
                </a:solidFill>
                <a:latin typeface="Calibri" panose="020F0502020204030204" pitchFamily="34" charset="0"/>
                <a:ea typeface="Calibri" panose="020F0502020204030204" pitchFamily="34" charset="0"/>
                <a:cs typeface="Times New Roman" panose="02020603050405020304" pitchFamily="18" charset="0"/>
              </a:rPr>
              <a:t>validation</a:t>
            </a:r>
            <a:r>
              <a:rPr lang="en-GB" sz="2800" dirty="0">
                <a:latin typeface="Calibri" panose="020F0502020204030204" pitchFamily="34" charset="0"/>
                <a:ea typeface="Calibri" panose="020F0502020204030204" pitchFamily="34" charset="0"/>
                <a:cs typeface="Times New Roman" panose="02020603050405020304" pitchFamily="18" charset="0"/>
              </a:rPr>
              <a:t>.</a:t>
            </a:r>
          </a:p>
          <a:p>
            <a:pPr>
              <a:spcAft>
                <a:spcPts val="0"/>
              </a:spcAft>
            </a:pPr>
            <a:r>
              <a:rPr lang="en-GB" sz="2800" dirty="0">
                <a:latin typeface="Calibri" panose="020F0502020204030204" pitchFamily="34" charset="0"/>
                <a:ea typeface="Calibri" panose="020F0502020204030204" pitchFamily="34" charset="0"/>
                <a:cs typeface="Times New Roman" panose="02020603050405020304" pitchFamily="18" charset="0"/>
              </a:rPr>
              <a:t>It limits the values that can be entered into a cell. This helps keep the data in the spreadsheet consistent and accurate</a:t>
            </a:r>
            <a:r>
              <a:rPr lang="en-GB" sz="2800" dirty="0">
                <a:latin typeface="Calibri" panose="020F0502020204030204" pitchFamily="34" charset="0"/>
                <a:ea typeface="Calibri" panose="020F0502020204030204" pitchFamily="34" charset="0"/>
                <a:cs typeface="Calibri" panose="020F0502020204030204" pitchFamily="34" charset="0"/>
              </a:rPr>
              <a:t>, reducing errors and making the spreadsheet more useful.</a:t>
            </a:r>
            <a:endParaRPr lang="en-GB" sz="280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8" name="Picture 7">
            <a:extLst>
              <a:ext uri="{FF2B5EF4-FFF2-40B4-BE49-F238E27FC236}">
                <a16:creationId xmlns:a16="http://schemas.microsoft.com/office/drawing/2014/main" id="{6949D6AE-32A0-4AD9-AFFD-32517FC9E6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06732" y="2560388"/>
            <a:ext cx="1765680" cy="2680430"/>
          </a:xfrm>
          <a:prstGeom prst="rect">
            <a:avLst/>
          </a:prstGeom>
        </p:spPr>
      </p:pic>
    </p:spTree>
    <p:extLst>
      <p:ext uri="{BB962C8B-B14F-4D97-AF65-F5344CB8AC3E}">
        <p14:creationId xmlns:p14="http://schemas.microsoft.com/office/powerpoint/2010/main" val="35381703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4BA82-FE7D-4DE6-BC00-A388E38B624C}"/>
              </a:ext>
            </a:extLst>
          </p:cNvPr>
          <p:cNvSpPr>
            <a:spLocks noGrp="1"/>
          </p:cNvSpPr>
          <p:nvPr>
            <p:ph type="title"/>
          </p:nvPr>
        </p:nvSpPr>
        <p:spPr>
          <a:xfrm>
            <a:off x="1579898" y="805703"/>
            <a:ext cx="9793357" cy="855801"/>
          </a:xfrm>
        </p:spPr>
        <p:txBody>
          <a:bodyPr/>
          <a:lstStyle/>
          <a:p>
            <a:r>
              <a:rPr lang="en-GB" b="1" dirty="0">
                <a:solidFill>
                  <a:schemeClr val="bg1"/>
                </a:solidFill>
              </a:rPr>
              <a:t>Creating drop-down lists</a:t>
            </a:r>
          </a:p>
        </p:txBody>
      </p:sp>
      <p:sp>
        <p:nvSpPr>
          <p:cNvPr id="7" name="Rectangle 6">
            <a:extLst>
              <a:ext uri="{FF2B5EF4-FFF2-40B4-BE49-F238E27FC236}">
                <a16:creationId xmlns:a16="http://schemas.microsoft.com/office/drawing/2014/main" id="{E82AA1CA-0662-49BE-BE38-901A9CE49405}"/>
              </a:ext>
            </a:extLst>
          </p:cNvPr>
          <p:cNvSpPr/>
          <p:nvPr/>
        </p:nvSpPr>
        <p:spPr>
          <a:xfrm>
            <a:off x="1579898" y="2225685"/>
            <a:ext cx="8839229" cy="2677656"/>
          </a:xfrm>
          <a:prstGeom prst="rect">
            <a:avLst/>
          </a:prstGeom>
        </p:spPr>
        <p:txBody>
          <a:bodyPr wrap="square">
            <a:spAutoFit/>
          </a:bodyPr>
          <a:lstStyle/>
          <a:p>
            <a:pPr>
              <a:spcAft>
                <a:spcPts val="0"/>
              </a:spcAft>
            </a:pPr>
            <a:r>
              <a:rPr lang="en-GB" sz="2400" dirty="0">
                <a:latin typeface="Calibri" panose="020F0502020204030204" pitchFamily="34" charset="0"/>
                <a:ea typeface="Calibri" panose="020F0502020204030204" pitchFamily="34" charset="0"/>
                <a:cs typeface="Times New Roman" panose="02020603050405020304" pitchFamily="18" charset="0"/>
              </a:rPr>
              <a:t>Type the words you want to use in your drop-down list into a column. It is best practice to type the words alphabetically.</a:t>
            </a:r>
          </a:p>
          <a:p>
            <a:pPr>
              <a:spcAft>
                <a:spcPts val="0"/>
              </a:spcAft>
            </a:pPr>
            <a:r>
              <a:rPr lang="en-GB" sz="2400" dirty="0">
                <a:latin typeface="Calibri" panose="020F0502020204030204" pitchFamily="34" charset="0"/>
                <a:ea typeface="Calibri" panose="020F0502020204030204" pitchFamily="34" charset="0"/>
                <a:cs typeface="Times New Roman" panose="02020603050405020304" pitchFamily="18" charset="0"/>
              </a:rPr>
              <a:t>Use an area of the spreadsheet that will not normally be seen, but which can still be accessed easily.</a:t>
            </a:r>
          </a:p>
          <a:p>
            <a:pPr>
              <a:spcAft>
                <a:spcPts val="0"/>
              </a:spcAft>
            </a:pPr>
            <a:r>
              <a:rPr lang="en-GB" sz="2400" dirty="0">
                <a:latin typeface="Calibri" panose="020F0502020204030204" pitchFamily="34" charset="0"/>
                <a:ea typeface="Calibri" panose="020F0502020204030204" pitchFamily="34" charset="0"/>
                <a:cs typeface="Times New Roman" panose="02020603050405020304" pitchFamily="18" charset="0"/>
              </a:rPr>
              <a:t>Click on the cell in which you want the drop-down list to appear. Then select ‘Data’ and ‘Data Validation’, choose Allow ‘List’ and select the cells containing the data you want to appear in the drop-down list.</a:t>
            </a:r>
          </a:p>
        </p:txBody>
      </p:sp>
      <p:sp>
        <p:nvSpPr>
          <p:cNvPr id="8" name="Rectangle 7">
            <a:extLst>
              <a:ext uri="{FF2B5EF4-FFF2-40B4-BE49-F238E27FC236}">
                <a16:creationId xmlns:a16="http://schemas.microsoft.com/office/drawing/2014/main" id="{2C142E12-89D6-472A-87F0-6A2228E60912}"/>
              </a:ext>
            </a:extLst>
          </p:cNvPr>
          <p:cNvSpPr/>
          <p:nvPr/>
        </p:nvSpPr>
        <p:spPr>
          <a:xfrm>
            <a:off x="4233439" y="5467522"/>
            <a:ext cx="3725122" cy="584775"/>
          </a:xfrm>
          <a:prstGeom prst="rect">
            <a:avLst/>
          </a:prstGeom>
        </p:spPr>
        <p:txBody>
          <a:bodyPr wrap="none">
            <a:spAutoFit/>
          </a:bodyPr>
          <a:lstStyle/>
          <a:p>
            <a:pPr algn="ctr">
              <a:spcAft>
                <a:spcPts val="0"/>
              </a:spcAft>
            </a:pPr>
            <a:r>
              <a:rPr lang="en-GB" sz="3200" i="1" dirty="0">
                <a:latin typeface="Calibri" panose="020F0502020204030204" pitchFamily="34" charset="0"/>
                <a:ea typeface="Calibri" panose="020F0502020204030204" pitchFamily="34" charset="0"/>
                <a:cs typeface="Times New Roman" panose="02020603050405020304" pitchFamily="18" charset="0"/>
              </a:rPr>
              <a:t>Now watch Video 1.1</a:t>
            </a:r>
          </a:p>
        </p:txBody>
      </p:sp>
    </p:spTree>
    <p:extLst>
      <p:ext uri="{BB962C8B-B14F-4D97-AF65-F5344CB8AC3E}">
        <p14:creationId xmlns:p14="http://schemas.microsoft.com/office/powerpoint/2010/main" val="3615003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C0D3D-3B5A-405C-A85C-D55D7E6FEF9A}"/>
              </a:ext>
            </a:extLst>
          </p:cNvPr>
          <p:cNvSpPr>
            <a:spLocks noGrp="1"/>
          </p:cNvSpPr>
          <p:nvPr>
            <p:ph type="title"/>
          </p:nvPr>
        </p:nvSpPr>
        <p:spPr>
          <a:xfrm>
            <a:off x="1589632" y="824949"/>
            <a:ext cx="10037685" cy="865740"/>
          </a:xfrm>
        </p:spPr>
        <p:txBody>
          <a:bodyPr>
            <a:normAutofit/>
          </a:bodyPr>
          <a:lstStyle/>
          <a:p>
            <a:r>
              <a:rPr lang="en-GB" b="1" dirty="0">
                <a:solidFill>
                  <a:schemeClr val="bg1"/>
                </a:solidFill>
              </a:rPr>
              <a:t>Activity 1.1: </a:t>
            </a:r>
            <a:r>
              <a:rPr lang="en-GB" b="1" dirty="0" smtClean="0">
                <a:solidFill>
                  <a:schemeClr val="bg1"/>
                </a:solidFill>
              </a:rPr>
              <a:t>Stationery </a:t>
            </a:r>
            <a:r>
              <a:rPr lang="en-GB" b="1" dirty="0">
                <a:solidFill>
                  <a:schemeClr val="bg1"/>
                </a:solidFill>
              </a:rPr>
              <a:t>shop (part 1)</a:t>
            </a:r>
          </a:p>
        </p:txBody>
      </p:sp>
      <p:pic>
        <p:nvPicPr>
          <p:cNvPr id="5" name="Picture 4" descr="A picture containing athletic game, basketball, sport&#10;&#10;Description automatically generated">
            <a:extLst>
              <a:ext uri="{FF2B5EF4-FFF2-40B4-BE49-F238E27FC236}">
                <a16:creationId xmlns:a16="http://schemas.microsoft.com/office/drawing/2014/main" id="{E026BB22-2069-44BA-9C69-B4666D11CB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02216" y="1967027"/>
            <a:ext cx="4587567" cy="4494840"/>
          </a:xfrm>
          <a:prstGeom prst="rect">
            <a:avLst/>
          </a:prstGeom>
        </p:spPr>
      </p:pic>
    </p:spTree>
    <p:extLst>
      <p:ext uri="{BB962C8B-B14F-4D97-AF65-F5344CB8AC3E}">
        <p14:creationId xmlns:p14="http://schemas.microsoft.com/office/powerpoint/2010/main" val="17728742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B468A-662A-4290-A763-CBC919D3C24C}"/>
              </a:ext>
            </a:extLst>
          </p:cNvPr>
          <p:cNvSpPr>
            <a:spLocks noGrp="1"/>
          </p:cNvSpPr>
          <p:nvPr>
            <p:ph type="title"/>
          </p:nvPr>
        </p:nvSpPr>
        <p:spPr>
          <a:xfrm>
            <a:off x="1566644" y="815010"/>
            <a:ext cx="9753600" cy="820844"/>
          </a:xfrm>
        </p:spPr>
        <p:txBody>
          <a:bodyPr/>
          <a:lstStyle/>
          <a:p>
            <a:r>
              <a:rPr lang="en-GB" b="1" dirty="0">
                <a:solidFill>
                  <a:schemeClr val="bg1"/>
                </a:solidFill>
              </a:rPr>
              <a:t>The </a:t>
            </a:r>
            <a:r>
              <a:rPr lang="en-GB" b="1" dirty="0">
                <a:solidFill>
                  <a:schemeClr val="bg1"/>
                </a:solidFill>
                <a:latin typeface="Courier New" panose="02070309020205020404" pitchFamily="49" charset="0"/>
                <a:cs typeface="Courier New" panose="02070309020205020404" pitchFamily="49" charset="0"/>
              </a:rPr>
              <a:t>VLOOKUP</a:t>
            </a:r>
            <a:r>
              <a:rPr lang="en-GB" b="1" dirty="0">
                <a:solidFill>
                  <a:schemeClr val="bg1"/>
                </a:solidFill>
              </a:rPr>
              <a:t> function</a:t>
            </a:r>
          </a:p>
        </p:txBody>
      </p:sp>
      <p:sp>
        <p:nvSpPr>
          <p:cNvPr id="9" name="Rectangle 2">
            <a:extLst>
              <a:ext uri="{FF2B5EF4-FFF2-40B4-BE49-F238E27FC236}">
                <a16:creationId xmlns:a16="http://schemas.microsoft.com/office/drawing/2014/main" id="{27D15874-06B9-4F78-B63B-CAB621DD21B4}"/>
              </a:ext>
            </a:extLst>
          </p:cNvPr>
          <p:cNvSpPr>
            <a:spLocks noChangeArrowheads="1"/>
          </p:cNvSpPr>
          <p:nvPr/>
        </p:nvSpPr>
        <p:spPr bwMode="auto">
          <a:xfrm>
            <a:off x="1600201" y="2148250"/>
            <a:ext cx="8894428"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2000" b="0"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The </a:t>
            </a:r>
            <a:r>
              <a:rPr kumimoji="0" lang="en-GB" altLang="en-US" sz="2000" b="1" i="0" u="none" strike="noStrike" cap="none" normalizeH="0" baseline="0" dirty="0">
                <a:ln>
                  <a:noFill/>
                </a:ln>
                <a:solidFill>
                  <a:srgbClr val="0069B4"/>
                </a:solidFill>
                <a:effectLst/>
                <a:latin typeface="Courier New" panose="02070309020205020404" pitchFamily="49" charset="0"/>
                <a:ea typeface="Calibri" panose="020F0502020204030204" pitchFamily="34" charset="0"/>
                <a:cs typeface="Courier New" panose="02070309020205020404" pitchFamily="49" charset="0"/>
              </a:rPr>
              <a:t>VLOOKUP</a:t>
            </a:r>
            <a:r>
              <a:rPr kumimoji="0" lang="en-GB" altLang="en-US" sz="2000" b="1" i="0" u="none" strike="noStrike" cap="none" normalizeH="0" baseline="0" dirty="0">
                <a:ln>
                  <a:noFill/>
                </a:ln>
                <a:solidFill>
                  <a:srgbClr val="0069B4"/>
                </a:solidFill>
                <a:effectLst/>
                <a:ea typeface="Calibri" panose="020F0502020204030204" pitchFamily="34" charset="0"/>
                <a:cs typeface="Times New Roman" panose="02020603050405020304" pitchFamily="18" charset="0"/>
              </a:rPr>
              <a:t> function</a:t>
            </a:r>
            <a:r>
              <a:rPr kumimoji="0" lang="en-GB" altLang="en-US" sz="2000" b="0" i="0" u="none" strike="noStrike" cap="none" normalizeH="0" baseline="0" dirty="0">
                <a:ln>
                  <a:noFill/>
                </a:ln>
                <a:solidFill>
                  <a:srgbClr val="0069B4"/>
                </a:solidFill>
                <a:effectLst/>
                <a:ea typeface="Calibri" panose="020F0502020204030204" pitchFamily="34" charset="0"/>
                <a:cs typeface="Times New Roman" panose="02020603050405020304" pitchFamily="18" charset="0"/>
              </a:rPr>
              <a:t> </a:t>
            </a:r>
            <a:r>
              <a:rPr kumimoji="0" lang="en-GB" altLang="en-US" sz="2000" b="0"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takes the value in a cell, searches for it in a table of data elsewhere on the spreadsheet and returns the value in an adjacent cell.</a:t>
            </a:r>
            <a:endParaRPr kumimoji="0" lang="en-GB"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2000" b="0"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In this example, the </a:t>
            </a:r>
            <a:r>
              <a:rPr kumimoji="0" lang="en-GB" altLang="en-US" sz="2000" b="0" i="0" u="none" strike="noStrike" cap="none" normalizeH="0" baseline="0" dirty="0">
                <a:ln>
                  <a:noFill/>
                </a:ln>
                <a:solidFill>
                  <a:schemeClr val="tx1"/>
                </a:solidFill>
                <a:effectLst/>
                <a:latin typeface="Courier New" panose="02070309020205020404" pitchFamily="49" charset="0"/>
                <a:ea typeface="Calibri" panose="020F0502020204030204" pitchFamily="34" charset="0"/>
                <a:cs typeface="Courier New" panose="02070309020205020404" pitchFamily="49" charset="0"/>
              </a:rPr>
              <a:t>VLOOKUP</a:t>
            </a:r>
            <a:r>
              <a:rPr kumimoji="0" lang="en-GB" altLang="en-US" sz="2000" b="0"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 function is comparing Ali’s mark in cell </a:t>
            </a:r>
            <a:r>
              <a:rPr kumimoji="0" lang="en-GB" altLang="en-US" sz="2000" b="0" i="0" u="none" strike="noStrike" cap="none" normalizeH="0" baseline="0" dirty="0" err="1">
                <a:ln>
                  <a:noFill/>
                </a:ln>
                <a:solidFill>
                  <a:schemeClr val="tx1"/>
                </a:solidFill>
                <a:effectLst/>
                <a:ea typeface="Calibri" panose="020F0502020204030204" pitchFamily="34" charset="0"/>
                <a:cs typeface="Times New Roman" panose="02020603050405020304" pitchFamily="18" charset="0"/>
              </a:rPr>
              <a:t>B2</a:t>
            </a:r>
            <a:r>
              <a:rPr kumimoji="0" lang="en-GB" altLang="en-US" sz="2000" b="0"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 to the scores in column F to find out his grade. A score of 68 is a grade C and so </a:t>
            </a:r>
            <a:r>
              <a:rPr kumimoji="0" lang="en-GB" altLang="en-US" sz="2000" b="0" i="0" u="none" strike="noStrike" cap="none" normalizeH="0" baseline="0" dirty="0">
                <a:ln>
                  <a:noFill/>
                </a:ln>
                <a:solidFill>
                  <a:schemeClr val="tx1"/>
                </a:solidFill>
                <a:effectLst/>
                <a:latin typeface="Courier New" panose="02070309020205020404" pitchFamily="49" charset="0"/>
                <a:ea typeface="Calibri" panose="020F0502020204030204" pitchFamily="34" charset="0"/>
                <a:cs typeface="Courier New" panose="02070309020205020404" pitchFamily="49" charset="0"/>
              </a:rPr>
              <a:t>C</a:t>
            </a:r>
            <a:r>
              <a:rPr kumimoji="0" lang="en-GB" altLang="en-US" sz="2000" b="0"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 is returned to cell </a:t>
            </a:r>
            <a:r>
              <a:rPr kumimoji="0" lang="en-GB" altLang="en-US" sz="2000" b="0" i="0" u="none" strike="noStrike" cap="none" normalizeH="0" baseline="0" dirty="0" err="1">
                <a:ln>
                  <a:noFill/>
                </a:ln>
                <a:solidFill>
                  <a:schemeClr val="tx1"/>
                </a:solidFill>
                <a:effectLst/>
                <a:ea typeface="Calibri" panose="020F0502020204030204" pitchFamily="34" charset="0"/>
                <a:cs typeface="Times New Roman" panose="02020603050405020304" pitchFamily="18" charset="0"/>
              </a:rPr>
              <a:t>C2</a:t>
            </a:r>
            <a:r>
              <a:rPr kumimoji="0" lang="en-GB" altLang="en-US" sz="2000" b="0"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a:t>
            </a:r>
            <a:endParaRPr kumimoji="0" lang="en-GB" altLang="en-US" sz="2000" b="0" i="0" u="none" strike="noStrike" cap="none" normalizeH="0" baseline="0" dirty="0">
              <a:ln>
                <a:noFill/>
              </a:ln>
              <a:solidFill>
                <a:schemeClr val="tx1"/>
              </a:solidFill>
              <a:effectLst/>
            </a:endParaRPr>
          </a:p>
        </p:txBody>
      </p:sp>
      <p:pic>
        <p:nvPicPr>
          <p:cNvPr id="1025" name="Picture 2">
            <a:extLst>
              <a:ext uri="{FF2B5EF4-FFF2-40B4-BE49-F238E27FC236}">
                <a16:creationId xmlns:a16="http://schemas.microsoft.com/office/drawing/2014/main" id="{79DFD1D8-3CFB-44F8-A896-135A704DFF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41384" y="3865473"/>
            <a:ext cx="7309231" cy="22643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89363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B468A-662A-4290-A763-CBC919D3C24C}"/>
              </a:ext>
            </a:extLst>
          </p:cNvPr>
          <p:cNvSpPr>
            <a:spLocks noGrp="1"/>
          </p:cNvSpPr>
          <p:nvPr>
            <p:ph type="title"/>
          </p:nvPr>
        </p:nvSpPr>
        <p:spPr>
          <a:xfrm>
            <a:off x="1575033" y="815010"/>
            <a:ext cx="9753600" cy="820844"/>
          </a:xfrm>
        </p:spPr>
        <p:txBody>
          <a:bodyPr/>
          <a:lstStyle/>
          <a:p>
            <a:r>
              <a:rPr lang="en-GB" b="1" dirty="0">
                <a:solidFill>
                  <a:schemeClr val="bg1"/>
                </a:solidFill>
              </a:rPr>
              <a:t>Using the </a:t>
            </a:r>
            <a:r>
              <a:rPr lang="en-GB" b="1" dirty="0">
                <a:solidFill>
                  <a:schemeClr val="bg1"/>
                </a:solidFill>
                <a:latin typeface="Courier New" panose="02070309020205020404" pitchFamily="49" charset="0"/>
                <a:cs typeface="Courier New" panose="02070309020205020404" pitchFamily="49" charset="0"/>
              </a:rPr>
              <a:t>VLOOKUP</a:t>
            </a:r>
            <a:r>
              <a:rPr lang="en-GB" b="1" dirty="0">
                <a:solidFill>
                  <a:schemeClr val="bg1"/>
                </a:solidFill>
              </a:rPr>
              <a:t> function</a:t>
            </a:r>
          </a:p>
        </p:txBody>
      </p:sp>
      <p:sp>
        <p:nvSpPr>
          <p:cNvPr id="10" name="Rectangle 9">
            <a:extLst>
              <a:ext uri="{FF2B5EF4-FFF2-40B4-BE49-F238E27FC236}">
                <a16:creationId xmlns:a16="http://schemas.microsoft.com/office/drawing/2014/main" id="{29B41EC6-CED1-4763-A36F-1D43CD3F7BD7}"/>
              </a:ext>
            </a:extLst>
          </p:cNvPr>
          <p:cNvSpPr/>
          <p:nvPr/>
        </p:nvSpPr>
        <p:spPr>
          <a:xfrm>
            <a:off x="5344030" y="4720797"/>
            <a:ext cx="1503938" cy="369332"/>
          </a:xfrm>
          <a:prstGeom prst="rect">
            <a:avLst/>
          </a:prstGeom>
        </p:spPr>
        <p:txBody>
          <a:bodyPr wrap="none">
            <a:spAutoFit/>
          </a:bodyPr>
          <a:lstStyle/>
          <a:p>
            <a:pPr lvl="0" eaLnBrk="0" fontAlgn="base" hangingPunct="0">
              <a:spcBef>
                <a:spcPct val="0"/>
              </a:spcBef>
              <a:spcAft>
                <a:spcPct val="0"/>
              </a:spcAft>
            </a:pPr>
            <a:r>
              <a:rPr lang="en-GB" altLang="en-US" dirty="0">
                <a:solidFill>
                  <a:srgbClr val="FF0000"/>
                </a:solidFill>
                <a:latin typeface="Calibri" panose="020F0502020204030204" pitchFamily="34" charset="0"/>
                <a:ea typeface="Calibri" panose="020F0502020204030204" pitchFamily="34" charset="0"/>
                <a:cs typeface="Times New Roman" panose="02020603050405020304" pitchFamily="18" charset="0"/>
              </a:rPr>
              <a:t>[Insert 07_04]</a:t>
            </a:r>
            <a:endParaRPr lang="en-GB" altLang="en-US" sz="1050" dirty="0">
              <a:solidFill>
                <a:srgbClr val="FF0000"/>
              </a:solidFill>
            </a:endParaRPr>
          </a:p>
        </p:txBody>
      </p:sp>
      <p:sp>
        <p:nvSpPr>
          <p:cNvPr id="4" name="Rectangle 3">
            <a:extLst>
              <a:ext uri="{FF2B5EF4-FFF2-40B4-BE49-F238E27FC236}">
                <a16:creationId xmlns:a16="http://schemas.microsoft.com/office/drawing/2014/main" id="{385BF95A-E67A-4E80-BCAC-C42C78764133}"/>
              </a:ext>
            </a:extLst>
          </p:cNvPr>
          <p:cNvSpPr/>
          <p:nvPr/>
        </p:nvSpPr>
        <p:spPr>
          <a:xfrm>
            <a:off x="1575033" y="2161530"/>
            <a:ext cx="9590715" cy="830997"/>
          </a:xfrm>
          <a:prstGeom prst="rect">
            <a:avLst/>
          </a:prstGeom>
        </p:spPr>
        <p:txBody>
          <a:bodyPr wrap="square">
            <a:spAutoFit/>
          </a:bodyPr>
          <a:lstStyle/>
          <a:p>
            <a:pPr>
              <a:spcAft>
                <a:spcPts val="0"/>
              </a:spcAft>
            </a:pPr>
            <a:r>
              <a:rPr lang="en-GB" sz="2400" dirty="0">
                <a:latin typeface="Calibri" panose="020F0502020204030204" pitchFamily="34" charset="0"/>
                <a:ea typeface="Calibri" panose="020F0502020204030204" pitchFamily="34" charset="0"/>
                <a:cs typeface="Times New Roman" panose="02020603050405020304" pitchFamily="18" charset="0"/>
              </a:rPr>
              <a:t>The </a:t>
            </a:r>
            <a:r>
              <a:rPr lang="en-GB" sz="2400" dirty="0">
                <a:latin typeface="Courier New" panose="02070309020205020404" pitchFamily="49" charset="0"/>
                <a:ea typeface="Calibri" panose="020F0502020204030204" pitchFamily="34" charset="0"/>
                <a:cs typeface="Courier New" panose="02070309020205020404" pitchFamily="49" charset="0"/>
              </a:rPr>
              <a:t>VLOOKUP</a:t>
            </a:r>
            <a:r>
              <a:rPr lang="en-GB" sz="2400" dirty="0">
                <a:latin typeface="Calibri" panose="020F0502020204030204" pitchFamily="34" charset="0"/>
                <a:ea typeface="Calibri" panose="020F0502020204030204" pitchFamily="34" charset="0"/>
                <a:cs typeface="Times New Roman" panose="02020603050405020304" pitchFamily="18" charset="0"/>
              </a:rPr>
              <a:t> function has the following structure:</a:t>
            </a:r>
          </a:p>
          <a:p>
            <a:pPr>
              <a:spcAft>
                <a:spcPts val="0"/>
              </a:spcAft>
            </a:pPr>
            <a:r>
              <a:rPr lang="en-GB" sz="2400" dirty="0">
                <a:latin typeface="Calibri" panose="020F0502020204030204" pitchFamily="34" charset="0"/>
                <a:ea typeface="Calibri" panose="020F0502020204030204" pitchFamily="34" charset="0"/>
                <a:cs typeface="Times New Roman" panose="02020603050405020304" pitchFamily="18" charset="0"/>
              </a:rPr>
              <a:t>	</a:t>
            </a:r>
            <a:r>
              <a:rPr lang="en-GB" sz="2400" dirty="0">
                <a:latin typeface="Courier New" panose="02070309020205020404" pitchFamily="49" charset="0"/>
                <a:ea typeface="Calibri" panose="020F0502020204030204" pitchFamily="34" charset="0"/>
                <a:cs typeface="Courier New" panose="02070309020205020404" pitchFamily="49" charset="0"/>
              </a:rPr>
              <a:t>=VLOOKUP( </a:t>
            </a:r>
            <a:r>
              <a:rPr lang="en-GB" sz="2400" dirty="0">
                <a:solidFill>
                  <a:srgbClr val="4472C4"/>
                </a:solidFill>
                <a:latin typeface="Courier New" panose="02070309020205020404" pitchFamily="49" charset="0"/>
                <a:ea typeface="Calibri" panose="020F0502020204030204" pitchFamily="34" charset="0"/>
                <a:cs typeface="Courier New" panose="02070309020205020404" pitchFamily="49" charset="0"/>
              </a:rPr>
              <a:t>lookup value</a:t>
            </a:r>
            <a:r>
              <a:rPr lang="en-GB" sz="2400" dirty="0">
                <a:latin typeface="Courier New" panose="02070309020205020404" pitchFamily="49" charset="0"/>
                <a:ea typeface="Calibri" panose="020F0502020204030204" pitchFamily="34" charset="0"/>
                <a:cs typeface="Courier New" panose="02070309020205020404" pitchFamily="49" charset="0"/>
              </a:rPr>
              <a:t>, </a:t>
            </a:r>
            <a:r>
              <a:rPr lang="en-GB" sz="2400" dirty="0">
                <a:solidFill>
                  <a:srgbClr val="FF0000"/>
                </a:solidFill>
                <a:latin typeface="Courier New" panose="02070309020205020404" pitchFamily="49" charset="0"/>
                <a:ea typeface="Calibri" panose="020F0502020204030204" pitchFamily="34" charset="0"/>
                <a:cs typeface="Courier New" panose="02070309020205020404" pitchFamily="49" charset="0"/>
              </a:rPr>
              <a:t>range</a:t>
            </a:r>
            <a:r>
              <a:rPr lang="en-GB" sz="2400" dirty="0">
                <a:latin typeface="Courier New" panose="02070309020205020404" pitchFamily="49" charset="0"/>
                <a:ea typeface="Calibri" panose="020F0502020204030204" pitchFamily="34" charset="0"/>
                <a:cs typeface="Courier New" panose="02070309020205020404" pitchFamily="49" charset="0"/>
              </a:rPr>
              <a:t>, </a:t>
            </a:r>
            <a:r>
              <a:rPr lang="en-GB" sz="2400" dirty="0">
                <a:solidFill>
                  <a:srgbClr val="538135"/>
                </a:solidFill>
                <a:latin typeface="Courier New" panose="02070309020205020404" pitchFamily="49" charset="0"/>
                <a:ea typeface="Calibri" panose="020F0502020204030204" pitchFamily="34" charset="0"/>
                <a:cs typeface="Courier New" panose="02070309020205020404" pitchFamily="49" charset="0"/>
              </a:rPr>
              <a:t>column number </a:t>
            </a:r>
            <a:r>
              <a:rPr lang="en-GB" sz="2400" dirty="0">
                <a:latin typeface="Courier New" panose="02070309020205020404" pitchFamily="49" charset="0"/>
                <a:ea typeface="Calibri" panose="020F0502020204030204" pitchFamily="34" charset="0"/>
                <a:cs typeface="Courier New" panose="02070309020205020404" pitchFamily="49" charset="0"/>
              </a:rPr>
              <a:t>)</a:t>
            </a:r>
            <a:endParaRPr lang="en-GB" sz="240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11" name="Picture 10">
            <a:extLst>
              <a:ext uri="{FF2B5EF4-FFF2-40B4-BE49-F238E27FC236}">
                <a16:creationId xmlns:a16="http://schemas.microsoft.com/office/drawing/2014/main" id="{6E037625-7DB4-4479-AD8D-A3FA609D780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24695" y="3025817"/>
            <a:ext cx="7649995" cy="2044455"/>
          </a:xfrm>
          <a:prstGeom prst="rect">
            <a:avLst/>
          </a:prstGeom>
        </p:spPr>
      </p:pic>
      <p:sp>
        <p:nvSpPr>
          <p:cNvPr id="6" name="Rectangle 5">
            <a:extLst>
              <a:ext uri="{FF2B5EF4-FFF2-40B4-BE49-F238E27FC236}">
                <a16:creationId xmlns:a16="http://schemas.microsoft.com/office/drawing/2014/main" id="{21E34502-0742-4811-A5E7-8DBC7CA02252}"/>
              </a:ext>
            </a:extLst>
          </p:cNvPr>
          <p:cNvSpPr/>
          <p:nvPr/>
        </p:nvSpPr>
        <p:spPr>
          <a:xfrm>
            <a:off x="786161" y="5306598"/>
            <a:ext cx="4335610" cy="369332"/>
          </a:xfrm>
          <a:prstGeom prst="rect">
            <a:avLst/>
          </a:prstGeom>
        </p:spPr>
        <p:txBody>
          <a:bodyPr wrap="none">
            <a:spAutoFit/>
          </a:bodyPr>
          <a:lstStyle/>
          <a:p>
            <a:pPr>
              <a:spcAft>
                <a:spcPts val="0"/>
              </a:spcAft>
            </a:pPr>
            <a:r>
              <a:rPr lang="en-GB" dirty="0">
                <a:latin typeface="Calibri" panose="020F0502020204030204" pitchFamily="34" charset="0"/>
                <a:ea typeface="Calibri" panose="020F0502020204030204" pitchFamily="34" charset="0"/>
                <a:cs typeface="Times New Roman" panose="02020603050405020304" pitchFamily="18" charset="0"/>
              </a:rPr>
              <a:t>The </a:t>
            </a:r>
            <a:r>
              <a:rPr lang="en-GB" dirty="0">
                <a:solidFill>
                  <a:srgbClr val="4472C4"/>
                </a:solidFill>
                <a:latin typeface="Calibri" panose="020F0502020204030204" pitchFamily="34" charset="0"/>
                <a:ea typeface="Calibri" panose="020F0502020204030204" pitchFamily="34" charset="0"/>
                <a:cs typeface="Times New Roman" panose="02020603050405020304" pitchFamily="18" charset="0"/>
              </a:rPr>
              <a:t>lookup value</a:t>
            </a:r>
            <a:r>
              <a:rPr lang="en-GB" dirty="0">
                <a:solidFill>
                  <a:srgbClr val="000000"/>
                </a:solidFill>
                <a:latin typeface="Calibri" panose="020F0502020204030204" pitchFamily="34" charset="0"/>
                <a:ea typeface="Calibri" panose="020F0502020204030204" pitchFamily="34" charset="0"/>
                <a:cs typeface="Times New Roman" panose="02020603050405020304" pitchFamily="18" charset="0"/>
              </a:rPr>
              <a:t> that you wish to search for</a:t>
            </a:r>
            <a:endParaRPr lang="en-GB" dirty="0">
              <a:latin typeface="Calibri" panose="020F0502020204030204" pitchFamily="34" charset="0"/>
              <a:ea typeface="Calibri" panose="020F0502020204030204" pitchFamily="34" charset="0"/>
              <a:cs typeface="Times New Roman" panose="02020603050405020304" pitchFamily="18" charset="0"/>
            </a:endParaRPr>
          </a:p>
        </p:txBody>
      </p:sp>
      <p:cxnSp>
        <p:nvCxnSpPr>
          <p:cNvPr id="12" name="Straight Arrow Connector 11">
            <a:extLst>
              <a:ext uri="{FF2B5EF4-FFF2-40B4-BE49-F238E27FC236}">
                <a16:creationId xmlns:a16="http://schemas.microsoft.com/office/drawing/2014/main" id="{CD34B918-C023-4A84-BE26-700C804AB2AF}"/>
              </a:ext>
            </a:extLst>
          </p:cNvPr>
          <p:cNvCxnSpPr>
            <a:cxnSpLocks/>
          </p:cNvCxnSpPr>
          <p:nvPr/>
        </p:nvCxnSpPr>
        <p:spPr>
          <a:xfrm flipV="1">
            <a:off x="1838528" y="3949430"/>
            <a:ext cx="1186774" cy="14494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16C90409-18F7-4955-908D-8097DF447F14}"/>
              </a:ext>
            </a:extLst>
          </p:cNvPr>
          <p:cNvSpPr/>
          <p:nvPr/>
        </p:nvSpPr>
        <p:spPr>
          <a:xfrm>
            <a:off x="2824566" y="5685069"/>
            <a:ext cx="5038928" cy="923330"/>
          </a:xfrm>
          <a:prstGeom prst="rect">
            <a:avLst/>
          </a:prstGeom>
        </p:spPr>
        <p:txBody>
          <a:bodyPr wrap="square">
            <a:spAutoFit/>
          </a:bodyPr>
          <a:lstStyle/>
          <a:p>
            <a:pPr algn="r">
              <a:spcAft>
                <a:spcPts val="0"/>
              </a:spcAft>
            </a:pPr>
            <a:r>
              <a:rPr lang="en-GB" dirty="0">
                <a:latin typeface="Calibri" panose="020F0502020204030204" pitchFamily="34" charset="0"/>
                <a:ea typeface="Calibri" panose="020F0502020204030204" pitchFamily="34" charset="0"/>
                <a:cs typeface="Times New Roman" panose="02020603050405020304" pitchFamily="18" charset="0"/>
              </a:rPr>
              <a:t>The </a:t>
            </a:r>
            <a:r>
              <a:rPr lang="en-GB" dirty="0">
                <a:solidFill>
                  <a:srgbClr val="FF0000"/>
                </a:solidFill>
                <a:latin typeface="Calibri" panose="020F0502020204030204" pitchFamily="34" charset="0"/>
                <a:ea typeface="Calibri" panose="020F0502020204030204" pitchFamily="34" charset="0"/>
                <a:cs typeface="Times New Roman" panose="02020603050405020304" pitchFamily="18" charset="0"/>
              </a:rPr>
              <a:t>range</a:t>
            </a:r>
            <a:r>
              <a:rPr lang="en-GB" dirty="0">
                <a:solidFill>
                  <a:srgbClr val="000000"/>
                </a:solidFill>
                <a:latin typeface="Calibri" panose="020F0502020204030204" pitchFamily="34" charset="0"/>
                <a:ea typeface="Calibri" panose="020F0502020204030204" pitchFamily="34" charset="0"/>
                <a:cs typeface="Times New Roman" panose="02020603050405020304" pitchFamily="18" charset="0"/>
              </a:rPr>
              <a:t> of cells containing the lookup value</a:t>
            </a:r>
            <a:endParaRPr lang="en-GB" dirty="0">
              <a:latin typeface="Calibri" panose="020F0502020204030204" pitchFamily="34" charset="0"/>
              <a:ea typeface="Calibri" panose="020F0502020204030204" pitchFamily="34" charset="0"/>
              <a:cs typeface="Times New Roman" panose="02020603050405020304" pitchFamily="18" charset="0"/>
            </a:endParaRPr>
          </a:p>
          <a:p>
            <a:pPr algn="r">
              <a:spcAft>
                <a:spcPts val="0"/>
              </a:spcAft>
            </a:pPr>
            <a:r>
              <a:rPr lang="en-GB" dirty="0">
                <a:solidFill>
                  <a:srgbClr val="000000"/>
                </a:solidFill>
                <a:latin typeface="Calibri" panose="020F0502020204030204" pitchFamily="34" charset="0"/>
                <a:ea typeface="Calibri" panose="020F0502020204030204" pitchFamily="34" charset="0"/>
                <a:cs typeface="Times New Roman" panose="02020603050405020304" pitchFamily="18" charset="0"/>
              </a:rPr>
              <a:t>These should be absolute cell references if the function is going to be replicated</a:t>
            </a:r>
            <a:endParaRPr lang="en-GB" dirty="0">
              <a:latin typeface="Calibri" panose="020F0502020204030204" pitchFamily="34" charset="0"/>
              <a:ea typeface="Calibri" panose="020F0502020204030204" pitchFamily="34" charset="0"/>
              <a:cs typeface="Times New Roman" panose="02020603050405020304" pitchFamily="18" charset="0"/>
            </a:endParaRPr>
          </a:p>
        </p:txBody>
      </p:sp>
      <p:cxnSp>
        <p:nvCxnSpPr>
          <p:cNvPr id="16" name="Straight Arrow Connector 15">
            <a:extLst>
              <a:ext uri="{FF2B5EF4-FFF2-40B4-BE49-F238E27FC236}">
                <a16:creationId xmlns:a16="http://schemas.microsoft.com/office/drawing/2014/main" id="{52CFF07B-25D5-4F21-9902-470502E39784}"/>
              </a:ext>
            </a:extLst>
          </p:cNvPr>
          <p:cNvCxnSpPr>
            <a:cxnSpLocks/>
          </p:cNvCxnSpPr>
          <p:nvPr/>
        </p:nvCxnSpPr>
        <p:spPr>
          <a:xfrm flipV="1">
            <a:off x="4270443" y="5007015"/>
            <a:ext cx="2735251" cy="79067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B2F1D09F-C037-43AB-BE6E-118E8E36E022}"/>
              </a:ext>
            </a:extLst>
          </p:cNvPr>
          <p:cNvSpPr/>
          <p:nvPr/>
        </p:nvSpPr>
        <p:spPr>
          <a:xfrm>
            <a:off x="8085937" y="5398851"/>
            <a:ext cx="3079811" cy="923330"/>
          </a:xfrm>
          <a:prstGeom prst="rect">
            <a:avLst/>
          </a:prstGeom>
        </p:spPr>
        <p:txBody>
          <a:bodyPr wrap="square">
            <a:spAutoFit/>
          </a:bodyPr>
          <a:lstStyle/>
          <a:p>
            <a:pPr>
              <a:spcAft>
                <a:spcPts val="0"/>
              </a:spcAft>
            </a:pPr>
            <a:r>
              <a:rPr lang="en-GB" dirty="0">
                <a:latin typeface="Calibri" panose="020F0502020204030204" pitchFamily="34" charset="0"/>
                <a:ea typeface="Calibri" panose="020F0502020204030204" pitchFamily="34" charset="0"/>
                <a:cs typeface="Times New Roman" panose="02020603050405020304" pitchFamily="18" charset="0"/>
              </a:rPr>
              <a:t>The </a:t>
            </a:r>
            <a:r>
              <a:rPr lang="en-GB" dirty="0">
                <a:solidFill>
                  <a:srgbClr val="538135"/>
                </a:solidFill>
                <a:latin typeface="Calibri" panose="020F0502020204030204" pitchFamily="34" charset="0"/>
                <a:ea typeface="Calibri" panose="020F0502020204030204" pitchFamily="34" charset="0"/>
                <a:cs typeface="Times New Roman" panose="02020603050405020304" pitchFamily="18" charset="0"/>
              </a:rPr>
              <a:t>column number </a:t>
            </a:r>
            <a:r>
              <a:rPr lang="en-GB" dirty="0">
                <a:latin typeface="Calibri" panose="020F0502020204030204" pitchFamily="34" charset="0"/>
                <a:ea typeface="Calibri" panose="020F0502020204030204" pitchFamily="34" charset="0"/>
                <a:cs typeface="Times New Roman" panose="02020603050405020304" pitchFamily="18" charset="0"/>
              </a:rPr>
              <a:t>of the range that contains the value to be returned</a:t>
            </a:r>
          </a:p>
        </p:txBody>
      </p:sp>
      <p:cxnSp>
        <p:nvCxnSpPr>
          <p:cNvPr id="25" name="Straight Arrow Connector 24">
            <a:extLst>
              <a:ext uri="{FF2B5EF4-FFF2-40B4-BE49-F238E27FC236}">
                <a16:creationId xmlns:a16="http://schemas.microsoft.com/office/drawing/2014/main" id="{8990C08F-2547-4FA7-89C3-739AF1BE6E4F}"/>
              </a:ext>
            </a:extLst>
          </p:cNvPr>
          <p:cNvCxnSpPr>
            <a:cxnSpLocks/>
          </p:cNvCxnSpPr>
          <p:nvPr/>
        </p:nvCxnSpPr>
        <p:spPr>
          <a:xfrm flipH="1" flipV="1">
            <a:off x="8606054" y="5070272"/>
            <a:ext cx="202386" cy="420992"/>
          </a:xfrm>
          <a:prstGeom prst="straightConnector1">
            <a:avLst/>
          </a:prstGeom>
          <a:ln>
            <a:solidFill>
              <a:srgbClr val="769B5E"/>
            </a:solidFill>
            <a:tailEnd type="triangle"/>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965D2E59-63D8-4E44-B092-DE80482231D9}"/>
              </a:ext>
            </a:extLst>
          </p:cNvPr>
          <p:cNvSpPr/>
          <p:nvPr/>
        </p:nvSpPr>
        <p:spPr>
          <a:xfrm>
            <a:off x="9202468" y="3643579"/>
            <a:ext cx="2302008" cy="1077218"/>
          </a:xfrm>
          <a:prstGeom prst="rect">
            <a:avLst/>
          </a:prstGeom>
        </p:spPr>
        <p:txBody>
          <a:bodyPr wrap="square">
            <a:spAutoFit/>
          </a:bodyPr>
          <a:lstStyle/>
          <a:p>
            <a:pPr algn="r">
              <a:spcAft>
                <a:spcPts val="0"/>
              </a:spcAft>
            </a:pPr>
            <a:r>
              <a:rPr lang="en-GB" sz="3200" i="1" dirty="0">
                <a:latin typeface="Calibri" panose="020F0502020204030204" pitchFamily="34" charset="0"/>
                <a:ea typeface="Calibri" panose="020F0502020204030204" pitchFamily="34" charset="0"/>
                <a:cs typeface="Times New Roman" panose="02020603050405020304" pitchFamily="18" charset="0"/>
              </a:rPr>
              <a:t>Now watch Video 1.2</a:t>
            </a:r>
          </a:p>
        </p:txBody>
      </p:sp>
    </p:spTree>
    <p:extLst>
      <p:ext uri="{BB962C8B-B14F-4D97-AF65-F5344CB8AC3E}">
        <p14:creationId xmlns:p14="http://schemas.microsoft.com/office/powerpoint/2010/main" val="4046343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1000" fill="hold"/>
                                        <p:tgtEl>
                                          <p:spTgt spid="31"/>
                                        </p:tgtEl>
                                        <p:attrNameLst>
                                          <p:attrName>ppt_w</p:attrName>
                                        </p:attrNameLst>
                                      </p:cBhvr>
                                      <p:tavLst>
                                        <p:tav tm="0">
                                          <p:val>
                                            <p:fltVal val="0"/>
                                          </p:val>
                                        </p:tav>
                                        <p:tav tm="100000">
                                          <p:val>
                                            <p:strVal val="#ppt_w"/>
                                          </p:val>
                                        </p:tav>
                                      </p:tavLst>
                                    </p:anim>
                                    <p:anim calcmode="lin" valueType="num">
                                      <p:cBhvr>
                                        <p:cTn id="8" dur="1000" fill="hold"/>
                                        <p:tgtEl>
                                          <p:spTgt spid="31"/>
                                        </p:tgtEl>
                                        <p:attrNameLst>
                                          <p:attrName>ppt_h</p:attrName>
                                        </p:attrNameLst>
                                      </p:cBhvr>
                                      <p:tavLst>
                                        <p:tav tm="0">
                                          <p:val>
                                            <p:fltVal val="0"/>
                                          </p:val>
                                        </p:tav>
                                        <p:tav tm="100000">
                                          <p:val>
                                            <p:strVal val="#ppt_h"/>
                                          </p:val>
                                        </p:tav>
                                      </p:tavLst>
                                    </p:anim>
                                    <p:anim calcmode="lin" valueType="num">
                                      <p:cBhvr>
                                        <p:cTn id="9" dur="1000" fill="hold"/>
                                        <p:tgtEl>
                                          <p:spTgt spid="31"/>
                                        </p:tgtEl>
                                        <p:attrNameLst>
                                          <p:attrName>style.rotation</p:attrName>
                                        </p:attrNameLst>
                                      </p:cBhvr>
                                      <p:tavLst>
                                        <p:tav tm="0">
                                          <p:val>
                                            <p:fltVal val="90"/>
                                          </p:val>
                                        </p:tav>
                                        <p:tav tm="100000">
                                          <p:val>
                                            <p:fltVal val="0"/>
                                          </p:val>
                                        </p:tav>
                                      </p:tavLst>
                                    </p:anim>
                                    <p:animEffect transition="in" filter="fade">
                                      <p:cBhvr>
                                        <p:cTn id="10" dur="10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C0D3D-3B5A-405C-A85C-D55D7E6FEF9A}"/>
              </a:ext>
            </a:extLst>
          </p:cNvPr>
          <p:cNvSpPr>
            <a:spLocks noGrp="1"/>
          </p:cNvSpPr>
          <p:nvPr>
            <p:ph type="title"/>
          </p:nvPr>
        </p:nvSpPr>
        <p:spPr>
          <a:xfrm>
            <a:off x="1572854" y="808171"/>
            <a:ext cx="10037685" cy="810904"/>
          </a:xfrm>
        </p:spPr>
        <p:txBody>
          <a:bodyPr>
            <a:normAutofit/>
          </a:bodyPr>
          <a:lstStyle/>
          <a:p>
            <a:r>
              <a:rPr lang="en-GB" b="1" dirty="0">
                <a:solidFill>
                  <a:schemeClr val="bg1"/>
                </a:solidFill>
              </a:rPr>
              <a:t>Activity 1.1: </a:t>
            </a:r>
            <a:r>
              <a:rPr lang="en-GB" b="1" dirty="0" smtClean="0">
                <a:solidFill>
                  <a:schemeClr val="bg1"/>
                </a:solidFill>
              </a:rPr>
              <a:t>Stationery </a:t>
            </a:r>
            <a:r>
              <a:rPr lang="en-GB" b="1" dirty="0">
                <a:solidFill>
                  <a:schemeClr val="bg1"/>
                </a:solidFill>
              </a:rPr>
              <a:t>shop (part 2)</a:t>
            </a:r>
          </a:p>
        </p:txBody>
      </p:sp>
      <p:pic>
        <p:nvPicPr>
          <p:cNvPr id="5" name="Picture 4" descr="A picture containing athletic game, basketball, sport&#10;&#10;Description automatically generated">
            <a:extLst>
              <a:ext uri="{FF2B5EF4-FFF2-40B4-BE49-F238E27FC236}">
                <a16:creationId xmlns:a16="http://schemas.microsoft.com/office/drawing/2014/main" id="{E026BB22-2069-44BA-9C69-B4666D11CB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02216" y="1967027"/>
            <a:ext cx="4587567" cy="4494840"/>
          </a:xfrm>
          <a:prstGeom prst="rect">
            <a:avLst/>
          </a:prstGeom>
        </p:spPr>
      </p:pic>
    </p:spTree>
    <p:extLst>
      <p:ext uri="{BB962C8B-B14F-4D97-AF65-F5344CB8AC3E}">
        <p14:creationId xmlns:p14="http://schemas.microsoft.com/office/powerpoint/2010/main" val="4299922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C0D3D-3B5A-405C-A85C-D55D7E6FEF9A}"/>
              </a:ext>
            </a:extLst>
          </p:cNvPr>
          <p:cNvSpPr>
            <a:spLocks noGrp="1"/>
          </p:cNvSpPr>
          <p:nvPr>
            <p:ph type="title"/>
          </p:nvPr>
        </p:nvSpPr>
        <p:spPr>
          <a:xfrm>
            <a:off x="1572854" y="808171"/>
            <a:ext cx="10037685" cy="810904"/>
          </a:xfrm>
        </p:spPr>
        <p:txBody>
          <a:bodyPr>
            <a:normAutofit/>
          </a:bodyPr>
          <a:lstStyle/>
          <a:p>
            <a:r>
              <a:rPr lang="en-GB" b="1" dirty="0">
                <a:solidFill>
                  <a:schemeClr val="bg1"/>
                </a:solidFill>
              </a:rPr>
              <a:t>Activity 1.2: Exam grades</a:t>
            </a:r>
          </a:p>
        </p:txBody>
      </p:sp>
      <p:pic>
        <p:nvPicPr>
          <p:cNvPr id="5" name="Picture 4" descr="A picture containing athletic game, basketball, sport&#10;&#10;Description automatically generated">
            <a:extLst>
              <a:ext uri="{FF2B5EF4-FFF2-40B4-BE49-F238E27FC236}">
                <a16:creationId xmlns:a16="http://schemas.microsoft.com/office/drawing/2014/main" id="{E026BB22-2069-44BA-9C69-B4666D11CB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02216" y="1967027"/>
            <a:ext cx="4587567" cy="4494840"/>
          </a:xfrm>
          <a:prstGeom prst="rect">
            <a:avLst/>
          </a:prstGeom>
        </p:spPr>
      </p:pic>
    </p:spTree>
    <p:extLst>
      <p:ext uri="{BB962C8B-B14F-4D97-AF65-F5344CB8AC3E}">
        <p14:creationId xmlns:p14="http://schemas.microsoft.com/office/powerpoint/2010/main" val="795454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B468A-662A-4290-A763-CBC919D3C24C}"/>
              </a:ext>
            </a:extLst>
          </p:cNvPr>
          <p:cNvSpPr>
            <a:spLocks noGrp="1"/>
          </p:cNvSpPr>
          <p:nvPr>
            <p:ph type="title"/>
          </p:nvPr>
        </p:nvSpPr>
        <p:spPr>
          <a:xfrm>
            <a:off x="1566644" y="815010"/>
            <a:ext cx="9753600" cy="820844"/>
          </a:xfrm>
        </p:spPr>
        <p:txBody>
          <a:bodyPr/>
          <a:lstStyle/>
          <a:p>
            <a:r>
              <a:rPr lang="en-GB" b="1" dirty="0">
                <a:solidFill>
                  <a:schemeClr val="bg1"/>
                </a:solidFill>
              </a:rPr>
              <a:t>Sorting data</a:t>
            </a:r>
          </a:p>
        </p:txBody>
      </p:sp>
      <p:sp>
        <p:nvSpPr>
          <p:cNvPr id="4" name="Rectangle 3">
            <a:extLst>
              <a:ext uri="{FF2B5EF4-FFF2-40B4-BE49-F238E27FC236}">
                <a16:creationId xmlns:a16="http://schemas.microsoft.com/office/drawing/2014/main" id="{19F0A12F-5829-4990-82C1-137523BECB7D}"/>
              </a:ext>
            </a:extLst>
          </p:cNvPr>
          <p:cNvSpPr/>
          <p:nvPr/>
        </p:nvSpPr>
        <p:spPr>
          <a:xfrm>
            <a:off x="1566644" y="2146650"/>
            <a:ext cx="9196431" cy="2800767"/>
          </a:xfrm>
          <a:prstGeom prst="rect">
            <a:avLst/>
          </a:prstGeom>
        </p:spPr>
        <p:txBody>
          <a:bodyPr wrap="square">
            <a:spAutoFit/>
          </a:bodyPr>
          <a:lstStyle/>
          <a:p>
            <a:pPr>
              <a:spcAft>
                <a:spcPts val="0"/>
              </a:spcAft>
            </a:pPr>
            <a:r>
              <a:rPr lang="en-GB" sz="2200" dirty="0">
                <a:latin typeface="Calibri" panose="020F0502020204030204" pitchFamily="34" charset="0"/>
                <a:ea typeface="Calibri" panose="020F0502020204030204" pitchFamily="34" charset="0"/>
                <a:cs typeface="Times New Roman" panose="02020603050405020304" pitchFamily="18" charset="0"/>
              </a:rPr>
              <a:t>As you know, the data in the first column of the table used in a </a:t>
            </a:r>
            <a:r>
              <a:rPr lang="en-GB" sz="2200" dirty="0">
                <a:latin typeface="Courier New" panose="02070309020205020404" pitchFamily="49" charset="0"/>
                <a:ea typeface="Calibri" panose="020F0502020204030204" pitchFamily="34" charset="0"/>
                <a:cs typeface="Courier New" panose="02070309020205020404" pitchFamily="49" charset="0"/>
              </a:rPr>
              <a:t>VLOOKUP</a:t>
            </a:r>
            <a:r>
              <a:rPr lang="en-GB" sz="2200" dirty="0">
                <a:latin typeface="Calibri" panose="020F0502020204030204" pitchFamily="34" charset="0"/>
                <a:ea typeface="Calibri" panose="020F0502020204030204" pitchFamily="34" charset="0"/>
                <a:cs typeface="Times New Roman" panose="02020603050405020304" pitchFamily="18" charset="0"/>
              </a:rPr>
              <a:t> needs to be in alphabetical (A–Z) or numerical (0–100) order.</a:t>
            </a:r>
          </a:p>
          <a:p>
            <a:pPr>
              <a:spcAft>
                <a:spcPts val="0"/>
              </a:spcAft>
            </a:pPr>
            <a:r>
              <a:rPr lang="en-GB" sz="2200" dirty="0">
                <a:latin typeface="Calibri" panose="020F0502020204030204" pitchFamily="34" charset="0"/>
                <a:ea typeface="Calibri" panose="020F0502020204030204" pitchFamily="34" charset="0"/>
                <a:cs typeface="Times New Roman" panose="02020603050405020304" pitchFamily="18" charset="0"/>
              </a:rPr>
              <a:t>It is easy to </a:t>
            </a:r>
            <a:r>
              <a:rPr lang="en-GB" sz="2200" b="1" dirty="0">
                <a:solidFill>
                  <a:srgbClr val="0069B4"/>
                </a:solidFill>
                <a:latin typeface="Calibri" panose="020F0502020204030204" pitchFamily="34" charset="0"/>
                <a:ea typeface="Calibri" panose="020F0502020204030204" pitchFamily="34" charset="0"/>
                <a:cs typeface="Times New Roman" panose="02020603050405020304" pitchFamily="18" charset="0"/>
              </a:rPr>
              <a:t>sort</a:t>
            </a:r>
            <a:r>
              <a:rPr lang="en-GB" sz="2200" dirty="0">
                <a:latin typeface="Calibri" panose="020F0502020204030204" pitchFamily="34" charset="0"/>
                <a:ea typeface="Calibri" panose="020F0502020204030204" pitchFamily="34" charset="0"/>
                <a:cs typeface="Times New Roman" panose="02020603050405020304" pitchFamily="18" charset="0"/>
              </a:rPr>
              <a:t> the data into order using the sort facility.</a:t>
            </a:r>
          </a:p>
          <a:p>
            <a:pPr>
              <a:spcAft>
                <a:spcPts val="0"/>
              </a:spcAft>
            </a:pPr>
            <a:r>
              <a:rPr lang="en-GB" sz="2200" dirty="0">
                <a:latin typeface="Calibri" panose="020F0502020204030204" pitchFamily="34" charset="0"/>
                <a:ea typeface="Calibri" panose="020F0502020204030204" pitchFamily="34" charset="0"/>
                <a:cs typeface="Times New Roman" panose="02020603050405020304" pitchFamily="18" charset="0"/>
              </a:rPr>
              <a:t>It is possible to sort the whole worksheet, or just a selected range of cells.</a:t>
            </a:r>
          </a:p>
          <a:p>
            <a:pPr>
              <a:spcAft>
                <a:spcPts val="0"/>
              </a:spcAft>
            </a:pPr>
            <a:r>
              <a:rPr lang="en-GB" sz="2200" dirty="0">
                <a:latin typeface="Calibri" panose="020F0502020204030204" pitchFamily="34" charset="0"/>
                <a:ea typeface="Calibri" panose="020F0502020204030204" pitchFamily="34" charset="0"/>
                <a:cs typeface="Times New Roman" panose="02020603050405020304" pitchFamily="18" charset="0"/>
              </a:rPr>
              <a:t>You select the range of cells that you need to sort, then choose ‘Sort’ from the ‘Data’ tab. You can then specify which columns to sort the data by and whether you want it in </a:t>
            </a:r>
            <a:r>
              <a:rPr lang="en-GB" sz="2200" b="1" dirty="0">
                <a:latin typeface="Calibri" panose="020F0502020204030204" pitchFamily="34" charset="0"/>
                <a:ea typeface="Calibri" panose="020F0502020204030204" pitchFamily="34" charset="0"/>
                <a:cs typeface="Times New Roman" panose="02020603050405020304" pitchFamily="18" charset="0"/>
              </a:rPr>
              <a:t>ascending</a:t>
            </a:r>
            <a:r>
              <a:rPr lang="en-GB" sz="2200" dirty="0">
                <a:latin typeface="Calibri" panose="020F0502020204030204" pitchFamily="34" charset="0"/>
                <a:ea typeface="Calibri" panose="020F0502020204030204" pitchFamily="34" charset="0"/>
                <a:cs typeface="Times New Roman" panose="02020603050405020304" pitchFamily="18" charset="0"/>
              </a:rPr>
              <a:t> (A</a:t>
            </a:r>
            <a:r>
              <a:rPr lang="en-GB" sz="2200" dirty="0">
                <a:latin typeface="Calibri" panose="020F0502020204030204" pitchFamily="34" charset="0"/>
                <a:ea typeface="Calibri" panose="020F0502020204030204" pitchFamily="34" charset="0"/>
                <a:cs typeface="Calibri" panose="020F0502020204030204" pitchFamily="34" charset="0"/>
              </a:rPr>
              <a:t>–</a:t>
            </a:r>
            <a:r>
              <a:rPr lang="en-GB" sz="2200" dirty="0">
                <a:latin typeface="Calibri" panose="020F0502020204030204" pitchFamily="34" charset="0"/>
                <a:ea typeface="Calibri" panose="020F0502020204030204" pitchFamily="34" charset="0"/>
                <a:cs typeface="Times New Roman" panose="02020603050405020304" pitchFamily="18" charset="0"/>
              </a:rPr>
              <a:t>Z, smallest to largest) or </a:t>
            </a:r>
            <a:r>
              <a:rPr lang="en-GB" sz="2200" b="1" dirty="0">
                <a:latin typeface="Calibri" panose="020F0502020204030204" pitchFamily="34" charset="0"/>
                <a:ea typeface="Calibri" panose="020F0502020204030204" pitchFamily="34" charset="0"/>
                <a:cs typeface="Times New Roman" panose="02020603050405020304" pitchFamily="18" charset="0"/>
              </a:rPr>
              <a:t>descending</a:t>
            </a:r>
            <a:r>
              <a:rPr lang="en-GB" sz="2200" dirty="0">
                <a:latin typeface="Calibri" panose="020F0502020204030204" pitchFamily="34" charset="0"/>
                <a:ea typeface="Calibri" panose="020F0502020204030204" pitchFamily="34" charset="0"/>
                <a:cs typeface="Times New Roman" panose="02020603050405020304" pitchFamily="18" charset="0"/>
              </a:rPr>
              <a:t> (Z</a:t>
            </a:r>
            <a:r>
              <a:rPr lang="en-GB" sz="2200" dirty="0">
                <a:latin typeface="Calibri" panose="020F0502020204030204" pitchFamily="34" charset="0"/>
                <a:ea typeface="Calibri" panose="020F0502020204030204" pitchFamily="34" charset="0"/>
                <a:cs typeface="Calibri" panose="020F0502020204030204" pitchFamily="34" charset="0"/>
              </a:rPr>
              <a:t>–</a:t>
            </a:r>
            <a:r>
              <a:rPr lang="en-GB" sz="2200" dirty="0">
                <a:latin typeface="Calibri" panose="020F0502020204030204" pitchFamily="34" charset="0"/>
                <a:ea typeface="Calibri" panose="020F0502020204030204" pitchFamily="34" charset="0"/>
                <a:cs typeface="Times New Roman" panose="02020603050405020304" pitchFamily="18" charset="0"/>
              </a:rPr>
              <a:t>A, largest to smallest) order.</a:t>
            </a:r>
          </a:p>
        </p:txBody>
      </p:sp>
      <p:sp>
        <p:nvSpPr>
          <p:cNvPr id="11" name="Rectangle 10">
            <a:extLst>
              <a:ext uri="{FF2B5EF4-FFF2-40B4-BE49-F238E27FC236}">
                <a16:creationId xmlns:a16="http://schemas.microsoft.com/office/drawing/2014/main" id="{443EE264-4B9C-496D-B2EF-18C61205E2D7}"/>
              </a:ext>
            </a:extLst>
          </p:cNvPr>
          <p:cNvSpPr/>
          <p:nvPr/>
        </p:nvSpPr>
        <p:spPr>
          <a:xfrm>
            <a:off x="3876984" y="5458213"/>
            <a:ext cx="4438031" cy="584775"/>
          </a:xfrm>
          <a:prstGeom prst="rect">
            <a:avLst/>
          </a:prstGeom>
        </p:spPr>
        <p:txBody>
          <a:bodyPr wrap="square">
            <a:spAutoFit/>
          </a:bodyPr>
          <a:lstStyle/>
          <a:p>
            <a:pPr algn="ctr">
              <a:spcAft>
                <a:spcPts val="0"/>
              </a:spcAft>
            </a:pPr>
            <a:r>
              <a:rPr lang="en-GB" sz="3200" i="1" dirty="0">
                <a:latin typeface="Calibri" panose="020F0502020204030204" pitchFamily="34" charset="0"/>
                <a:ea typeface="Calibri" panose="020F0502020204030204" pitchFamily="34" charset="0"/>
                <a:cs typeface="Times New Roman" panose="02020603050405020304" pitchFamily="18" charset="0"/>
              </a:rPr>
              <a:t>Now watch Video 1.3</a:t>
            </a:r>
          </a:p>
        </p:txBody>
      </p:sp>
    </p:spTree>
    <p:extLst>
      <p:ext uri="{BB962C8B-B14F-4D97-AF65-F5344CB8AC3E}">
        <p14:creationId xmlns:p14="http://schemas.microsoft.com/office/powerpoint/2010/main" val="3659010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C0D3D-3B5A-405C-A85C-D55D7E6FEF9A}"/>
              </a:ext>
            </a:extLst>
          </p:cNvPr>
          <p:cNvSpPr>
            <a:spLocks noGrp="1"/>
          </p:cNvSpPr>
          <p:nvPr>
            <p:ph type="title"/>
          </p:nvPr>
        </p:nvSpPr>
        <p:spPr>
          <a:xfrm>
            <a:off x="1572854" y="808171"/>
            <a:ext cx="10037685" cy="810904"/>
          </a:xfrm>
        </p:spPr>
        <p:txBody>
          <a:bodyPr>
            <a:normAutofit/>
          </a:bodyPr>
          <a:lstStyle/>
          <a:p>
            <a:r>
              <a:rPr lang="en-GB" b="1" dirty="0">
                <a:solidFill>
                  <a:schemeClr val="bg1"/>
                </a:solidFill>
              </a:rPr>
              <a:t>Activity 1.3: Countries and capital cities</a:t>
            </a:r>
          </a:p>
        </p:txBody>
      </p:sp>
      <p:pic>
        <p:nvPicPr>
          <p:cNvPr id="5" name="Picture 4" descr="A picture containing athletic game, basketball, sport&#10;&#10;Description automatically generated">
            <a:extLst>
              <a:ext uri="{FF2B5EF4-FFF2-40B4-BE49-F238E27FC236}">
                <a16:creationId xmlns:a16="http://schemas.microsoft.com/office/drawing/2014/main" id="{E026BB22-2069-44BA-9C69-B4666D11CB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02216" y="1967027"/>
            <a:ext cx="4587567" cy="4494840"/>
          </a:xfrm>
          <a:prstGeom prst="rect">
            <a:avLst/>
          </a:prstGeom>
        </p:spPr>
      </p:pic>
    </p:spTree>
    <p:extLst>
      <p:ext uri="{BB962C8B-B14F-4D97-AF65-F5344CB8AC3E}">
        <p14:creationId xmlns:p14="http://schemas.microsoft.com/office/powerpoint/2010/main" val="26885606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C0D3D-3B5A-405C-A85C-D55D7E6FEF9A}"/>
              </a:ext>
            </a:extLst>
          </p:cNvPr>
          <p:cNvSpPr>
            <a:spLocks noGrp="1"/>
          </p:cNvSpPr>
          <p:nvPr>
            <p:ph type="title"/>
          </p:nvPr>
        </p:nvSpPr>
        <p:spPr>
          <a:xfrm>
            <a:off x="1572854" y="808171"/>
            <a:ext cx="10037685" cy="810904"/>
          </a:xfrm>
        </p:spPr>
        <p:txBody>
          <a:bodyPr>
            <a:normAutofit/>
          </a:bodyPr>
          <a:lstStyle/>
          <a:p>
            <a:r>
              <a:rPr lang="en-GB" b="1" dirty="0">
                <a:solidFill>
                  <a:schemeClr val="bg1"/>
                </a:solidFill>
              </a:rPr>
              <a:t>Activity 1.4: Cars</a:t>
            </a:r>
          </a:p>
        </p:txBody>
      </p:sp>
      <p:pic>
        <p:nvPicPr>
          <p:cNvPr id="5" name="Picture 4" descr="A picture containing athletic game, basketball, sport&#10;&#10;Description automatically generated">
            <a:extLst>
              <a:ext uri="{FF2B5EF4-FFF2-40B4-BE49-F238E27FC236}">
                <a16:creationId xmlns:a16="http://schemas.microsoft.com/office/drawing/2014/main" id="{E026BB22-2069-44BA-9C69-B4666D11CB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02216" y="1967027"/>
            <a:ext cx="4587567" cy="4494840"/>
          </a:xfrm>
          <a:prstGeom prst="rect">
            <a:avLst/>
          </a:prstGeom>
        </p:spPr>
      </p:pic>
    </p:spTree>
    <p:extLst>
      <p:ext uri="{BB962C8B-B14F-4D97-AF65-F5344CB8AC3E}">
        <p14:creationId xmlns:p14="http://schemas.microsoft.com/office/powerpoint/2010/main" val="9732555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C0D3D-3B5A-405C-A85C-D55D7E6FEF9A}"/>
              </a:ext>
            </a:extLst>
          </p:cNvPr>
          <p:cNvSpPr>
            <a:spLocks noGrp="1"/>
          </p:cNvSpPr>
          <p:nvPr>
            <p:ph type="title"/>
          </p:nvPr>
        </p:nvSpPr>
        <p:spPr>
          <a:xfrm>
            <a:off x="1572854" y="808171"/>
            <a:ext cx="10037685" cy="810904"/>
          </a:xfrm>
        </p:spPr>
        <p:txBody>
          <a:bodyPr>
            <a:normAutofit/>
          </a:bodyPr>
          <a:lstStyle/>
          <a:p>
            <a:r>
              <a:rPr lang="en-GB" b="1" dirty="0">
                <a:solidFill>
                  <a:schemeClr val="bg1"/>
                </a:solidFill>
              </a:rPr>
              <a:t>Quiz 1</a:t>
            </a:r>
          </a:p>
        </p:txBody>
      </p:sp>
      <p:pic>
        <p:nvPicPr>
          <p:cNvPr id="5" name="Picture 4" descr="A picture containing athletic game, basketball, sport&#10;&#10;Description automatically generated">
            <a:extLst>
              <a:ext uri="{FF2B5EF4-FFF2-40B4-BE49-F238E27FC236}">
                <a16:creationId xmlns:a16="http://schemas.microsoft.com/office/drawing/2014/main" id="{E026BB22-2069-44BA-9C69-B4666D11CB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02216" y="1967027"/>
            <a:ext cx="4587567" cy="4494840"/>
          </a:xfrm>
          <a:prstGeom prst="rect">
            <a:avLst/>
          </a:prstGeom>
        </p:spPr>
      </p:pic>
    </p:spTree>
    <p:extLst>
      <p:ext uri="{BB962C8B-B14F-4D97-AF65-F5344CB8AC3E}">
        <p14:creationId xmlns:p14="http://schemas.microsoft.com/office/powerpoint/2010/main" val="7415464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448</TotalTime>
  <Words>569</Words>
  <Application>Microsoft Office PowerPoint</Application>
  <PresentationFormat>Widescreen</PresentationFormat>
  <Paragraphs>47</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Calibri Light</vt:lpstr>
      <vt:lpstr>Courier New</vt:lpstr>
      <vt:lpstr>Symbol</vt:lpstr>
      <vt:lpstr>Times New Roman</vt:lpstr>
      <vt:lpstr>Office Theme</vt:lpstr>
      <vt:lpstr>Advanced spreadsheets</vt:lpstr>
      <vt:lpstr>Objectives</vt:lpstr>
      <vt:lpstr>A spreadsheet</vt:lpstr>
      <vt:lpstr>Customising spreadsheets</vt:lpstr>
      <vt:lpstr>Drop-down lists</vt:lpstr>
      <vt:lpstr>Creating drop-down lists</vt:lpstr>
      <vt:lpstr>Activity 1.1: Stationery shop (part 1)</vt:lpstr>
      <vt:lpstr>The VLOOKUP function</vt:lpstr>
      <vt:lpstr>Using the VLOOKUP function</vt:lpstr>
      <vt:lpstr>Activity 1.1: Stationery shop (part 2)</vt:lpstr>
      <vt:lpstr>Activity 1.2: Exam grades</vt:lpstr>
      <vt:lpstr>Sorting data</vt:lpstr>
      <vt:lpstr>Activity 1.3: Countries and capital cities</vt:lpstr>
      <vt:lpstr>Activity 1.4: Cars</vt:lpstr>
      <vt:lpstr>Quiz 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Introducing spreadsheets</dc:title>
  <dc:creator>Lea Albrechtsen</dc:creator>
  <cp:lastModifiedBy>Windows User</cp:lastModifiedBy>
  <cp:revision>27</cp:revision>
  <dcterms:created xsi:type="dcterms:W3CDTF">2020-11-04T15:22:46Z</dcterms:created>
  <dcterms:modified xsi:type="dcterms:W3CDTF">2021-07-09T09:54:46Z</dcterms:modified>
</cp:coreProperties>
</file>