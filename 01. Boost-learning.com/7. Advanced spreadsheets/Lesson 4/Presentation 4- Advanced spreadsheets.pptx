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4" r:id="rId6"/>
    <p:sldId id="282" r:id="rId7"/>
    <p:sldId id="262" r:id="rId8"/>
    <p:sldId id="276" r:id="rId9"/>
    <p:sldId id="277" r:id="rId10"/>
    <p:sldId id="278" r:id="rId11"/>
    <p:sldId id="279" r:id="rId12"/>
    <p:sldId id="28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a Albrechtsen" initials="LA" lastIdx="2" clrIdx="0">
    <p:extLst>
      <p:ext uri="{19B8F6BF-5375-455C-9EA6-DF929625EA0E}">
        <p15:presenceInfo xmlns:p15="http://schemas.microsoft.com/office/powerpoint/2012/main" userId="S::Lea.Albrechtsen@hoddereducation.co.uk::4df490f3-5904-4e82-a5b6-23281874b6f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9B4"/>
    <a:srgbClr val="769B5E"/>
    <a:srgbClr val="B612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279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2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F7712-1F3B-4253-AEF1-0FE171523E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C14F2F-A2B8-4861-8B33-2CF08A1C25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814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60902-80CF-4DD3-B59F-8E58611CF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56315-CBCB-4124-93B3-3DEF3C56B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A47B5-60C4-46E0-B317-50F50E6D85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11/06/2021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49A0D-7474-4882-A51A-CF35E154F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5A12C-5BED-457E-A6CE-2E58C8D0D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3353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2461-8DBB-43F0-A3AC-126E64397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6A727-278D-4E57-850B-78E0D727C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1C733-75AA-40FE-8179-B58FA4EA5E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11/06/2021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C4D2E-FA87-41DA-961F-7D250DD08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20F2E-2A86-4F16-B83F-E86E73199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104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5B458-3AE6-4C21-BEBE-F7B760619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FF206-47D4-451B-80B7-578E10A3E6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2DF79-B13E-46C5-AAA1-F49C3BABAB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99702-3758-423C-8C91-550D5C885D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11/06/2021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55CC31-BF31-4EB1-8B54-2DD0D6BE7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EFAF2-4586-4670-8EF7-78067B187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6154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05FA2-A60C-405C-A307-880C049CB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70388-4034-4A46-8B98-D37491E01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C39A8B-6B00-4329-AC44-AD6EBE236E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5DFF08-1C59-4E60-A964-4D4A369007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548497-A585-4527-B8A6-BB01B9FBC4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C2D4B-BCC3-48CF-B358-D817886727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11/06/2021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93C415-FAAE-444A-BBA1-9059E1C45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C512DB-E555-4910-92DC-7AB19F87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741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D8A33-5CA5-4826-9B83-0B2F6A50C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7C1E61-1B5E-44DC-BC0F-2F956B04C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11/06/2021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A212BA-9EF0-4463-A9C0-997D55720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50D64F-9F3A-43FB-A563-07763EE16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9599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739767-A677-43FB-A13E-C6E76D21E1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11/06/2021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A103BA-C2DE-41DE-842B-306DECB78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320D2-03FC-47A8-B437-7B7CEBDD6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7179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B20E6-8664-4FD7-A9B2-0B5C17E86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5017E-7CE6-4AFE-8756-092A85840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5C17A6-B2E1-42BB-9629-032C80545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1DC4D7-18F9-4992-BB61-15FA97A529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11/06/2021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B52144-EB56-46FB-8C3D-7A8702354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142B02-C27D-4AC0-9DE7-A653F338F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5581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FD8A0-DA8A-463F-AC82-9A3D896B8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B553CB-6BB8-4D69-8270-E69093C148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0E0B06-F972-42E3-B94A-6BA4824458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FCFE24-5759-425E-A7E5-6EAACD13BA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11/06/2021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458F3E-34B5-48AA-B148-66ED69F30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33722-4E46-4BF0-841D-DC92DCB48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3194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A43C2-4F61-40F8-A06C-596F42B7D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12D4A7-8F4B-484D-90BE-4A6A303F65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E0C66-2DCD-4454-98BE-EE8ADD1D79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11/06/2021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655C5-A5ED-4766-97E4-846A80536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DFEEA-B282-4D56-A557-4193031EB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1290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1B7A8B-8DD3-4239-8EA1-8739462541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21B91-126F-434B-86F2-89E6778E91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FCCA6-FBA0-4A4B-97BC-8B2465C018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11/06/2021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7EED6-4B0F-4C58-A54B-C4F0F72D7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49905-D4AB-4930-9B2A-6E8E550A0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111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B9995C-D844-455E-9E19-BF66C81EF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204189-41E9-4E09-B418-B033E7F14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D739203-7E29-BA40-9D51-8F9968799BF3}"/>
              </a:ext>
            </a:extLst>
          </p:cNvPr>
          <p:cNvSpPr txBox="1">
            <a:spLocks/>
          </p:cNvSpPr>
          <p:nvPr userDrawn="1"/>
        </p:nvSpPr>
        <p:spPr>
          <a:xfrm>
            <a:off x="7547114" y="6380197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1200" dirty="0"/>
              <a:t>© Hodder &amp; Stoughton Limited 2021</a:t>
            </a:r>
          </a:p>
        </p:txBody>
      </p:sp>
      <p:pic>
        <p:nvPicPr>
          <p:cNvPr id="10" name="Picture 9" descr="A picture containing text, tool&#10;&#10;Description automatically generated">
            <a:extLst>
              <a:ext uri="{FF2B5EF4-FFF2-40B4-BE49-F238E27FC236}">
                <a16:creationId xmlns:a16="http://schemas.microsoft.com/office/drawing/2014/main" id="{D732EF40-B59C-F244-AAD1-54CD7DE5EBD6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2928"/>
            <a:ext cx="12192000" cy="165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774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2B9C3-E44C-4313-895D-D43DD1C92C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3251" y="2971075"/>
            <a:ext cx="7311068" cy="915850"/>
          </a:xfrm>
        </p:spPr>
        <p:txBody>
          <a:bodyPr>
            <a:normAutofit/>
          </a:bodyPr>
          <a:lstStyle/>
          <a:p>
            <a:pPr algn="r"/>
            <a:r>
              <a:rPr lang="en-GB" sz="5400" b="1" dirty="0"/>
              <a:t>Advanced spreadsheets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46DB13-257C-4484-9CB0-C755672B55D3}"/>
              </a:ext>
            </a:extLst>
          </p:cNvPr>
          <p:cNvSpPr/>
          <p:nvPr/>
        </p:nvSpPr>
        <p:spPr>
          <a:xfrm>
            <a:off x="2292521" y="3886925"/>
            <a:ext cx="563179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GB" sz="2000" b="1" dirty="0">
                <a:solidFill>
                  <a:srgbClr val="B612AD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Lesson 4: Logical operators and the </a:t>
            </a:r>
            <a:r>
              <a:rPr lang="en-GB" sz="2000" b="1" dirty="0">
                <a:solidFill>
                  <a:srgbClr val="B612AD"/>
                </a:solidFill>
                <a:latin typeface="Courier" pitchFamily="2" charset="0"/>
                <a:ea typeface="Times New Roman" panose="02020603050405020304" pitchFamily="18" charset="0"/>
              </a:rPr>
              <a:t>REPT</a:t>
            </a:r>
            <a:r>
              <a:rPr lang="en-GB" sz="2000" b="1" dirty="0">
                <a:solidFill>
                  <a:srgbClr val="B612AD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function </a:t>
            </a:r>
            <a:endParaRPr lang="en-GB" sz="2000" b="1" dirty="0">
              <a:solidFill>
                <a:srgbClr val="B612AD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B55173-0D29-3247-9DF7-129430C10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9924" y="2865016"/>
            <a:ext cx="2937413" cy="24439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54316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C4667-2A3C-4536-9386-00402F3C6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6857" y="806893"/>
            <a:ext cx="9634330" cy="766349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1D8374-34AC-4627-BA7F-2261014679DD}"/>
              </a:ext>
            </a:extLst>
          </p:cNvPr>
          <p:cNvSpPr/>
          <p:nvPr/>
        </p:nvSpPr>
        <p:spPr>
          <a:xfrm>
            <a:off x="1576857" y="2274838"/>
            <a:ext cx="8280208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GB" sz="3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this lesson, you will learn how to:</a:t>
            </a: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the logical operators </a:t>
            </a:r>
            <a:r>
              <a:rPr lang="en-GB" sz="2800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GB" sz="2800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OR </a:t>
            </a: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writing </a:t>
            </a:r>
            <a:r>
              <a:rPr lang="en-GB" sz="2800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IF</a:t>
            </a: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functions</a:t>
            </a: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the </a:t>
            </a:r>
            <a:r>
              <a:rPr lang="en-GB" sz="2800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REPT</a:t>
            </a: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function to repeat characters in a cell.</a:t>
            </a:r>
          </a:p>
        </p:txBody>
      </p:sp>
    </p:spTree>
    <p:extLst>
      <p:ext uri="{BB962C8B-B14F-4D97-AF65-F5344CB8AC3E}">
        <p14:creationId xmlns:p14="http://schemas.microsoft.com/office/powerpoint/2010/main" val="1699810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905C-00CB-4FC9-83B7-66A2E3C07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3544" y="813732"/>
            <a:ext cx="9773478" cy="805343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  <a:latin typeface="Courier" pitchFamily="2" charset="0"/>
              </a:rPr>
              <a:t>IF</a:t>
            </a:r>
            <a:r>
              <a:rPr lang="en-GB" b="1" dirty="0">
                <a:solidFill>
                  <a:schemeClr val="bg1"/>
                </a:solidFill>
              </a:rPr>
              <a:t> functions: a reminder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13D624-7C51-F84E-A8A1-6DE0DB12BE69}"/>
              </a:ext>
            </a:extLst>
          </p:cNvPr>
          <p:cNvSpPr/>
          <p:nvPr/>
        </p:nvSpPr>
        <p:spPr>
          <a:xfrm>
            <a:off x="1563544" y="2274838"/>
            <a:ext cx="737721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 far, we have used </a:t>
            </a:r>
            <a:r>
              <a:rPr lang="en-GB" sz="2400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IF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functions to check if a single condition has been met.</a:t>
            </a:r>
          </a:p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example: </a:t>
            </a:r>
            <a:r>
              <a:rPr lang="en-GB" sz="2400" dirty="0">
                <a:latin typeface="Courier" pitchFamily="2" charset="0"/>
                <a:ea typeface="Calibri" panose="020F0502020204030204" pitchFamily="34" charset="0"/>
                <a:cs typeface="Calibri" panose="020F0502020204030204" pitchFamily="34" charset="0"/>
              </a:rPr>
              <a:t>=IF( B2&gt;60, "Pass", "Fail" )</a:t>
            </a:r>
            <a:endParaRPr lang="en-GB" sz="2400" dirty="0">
              <a:latin typeface="Courier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4E0DA5-8E7F-824E-9A16-C304DB59B99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3544" y="3936832"/>
            <a:ext cx="4230969" cy="203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166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12C60E-7C29-9541-B5BC-124CB256AC5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4042" y="2937676"/>
            <a:ext cx="5198110" cy="27533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54C3D19-1115-422D-B31A-F4EC85686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8133" y="804431"/>
            <a:ext cx="9733721" cy="835923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Using </a:t>
            </a:r>
            <a:r>
              <a:rPr lang="en-GB" b="1" dirty="0">
                <a:solidFill>
                  <a:schemeClr val="bg1"/>
                </a:solidFill>
                <a:latin typeface="Courier" pitchFamily="2" charset="0"/>
              </a:rPr>
              <a:t>AND</a:t>
            </a:r>
            <a:r>
              <a:rPr lang="en-GB" b="1" dirty="0">
                <a:solidFill>
                  <a:schemeClr val="bg1"/>
                </a:solidFill>
              </a:rPr>
              <a:t> in an </a:t>
            </a:r>
            <a:r>
              <a:rPr lang="en-GB" b="1" dirty="0">
                <a:solidFill>
                  <a:schemeClr val="bg1"/>
                </a:solidFill>
                <a:latin typeface="Courier" pitchFamily="2" charset="0"/>
              </a:rPr>
              <a:t>IF</a:t>
            </a:r>
            <a:r>
              <a:rPr lang="en-GB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en-GB" b="1" dirty="0">
                <a:solidFill>
                  <a:schemeClr val="bg1"/>
                </a:solidFill>
              </a:rPr>
              <a:t>function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1C6ADC-3182-4FBE-8FB1-B26B460A8B3F}"/>
              </a:ext>
            </a:extLst>
          </p:cNvPr>
          <p:cNvSpPr/>
          <p:nvPr/>
        </p:nvSpPr>
        <p:spPr>
          <a:xfrm>
            <a:off x="1578133" y="1840720"/>
            <a:ext cx="929399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We can include the</a:t>
            </a:r>
            <a:r>
              <a:rPr lang="en-GB" b="1" dirty="0"/>
              <a:t> </a:t>
            </a:r>
            <a:r>
              <a:rPr lang="en-GB" b="1" dirty="0">
                <a:solidFill>
                  <a:srgbClr val="0069B4"/>
                </a:solidFill>
              </a:rPr>
              <a:t>logical operator </a:t>
            </a:r>
            <a:r>
              <a:rPr lang="en-GB" b="1" dirty="0">
                <a:solidFill>
                  <a:srgbClr val="0069B4"/>
                </a:solidFill>
                <a:latin typeface="Courier" pitchFamily="2" charset="0"/>
              </a:rPr>
              <a:t>AND</a:t>
            </a:r>
            <a:r>
              <a:rPr lang="en-GB" dirty="0"/>
              <a:t> in an </a:t>
            </a:r>
            <a:r>
              <a:rPr lang="en-GB" dirty="0">
                <a:latin typeface="Courier" pitchFamily="2" charset="0"/>
              </a:rPr>
              <a:t>IF</a:t>
            </a:r>
            <a:r>
              <a:rPr lang="en-GB" dirty="0"/>
              <a:t> function to check that more than one condition is True.</a:t>
            </a:r>
          </a:p>
          <a:p>
            <a:r>
              <a:rPr lang="en-GB" dirty="0"/>
              <a:t>For example: </a:t>
            </a:r>
            <a:r>
              <a:rPr lang="en-GB" dirty="0">
                <a:latin typeface="Courier" pitchFamily="2" charset="0"/>
              </a:rPr>
              <a:t>=IF( AND( B2&gt;60, C2&gt;60 ), "Pass", "Fail" 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F7EF35-504D-4D46-90A0-383073637240}"/>
              </a:ext>
            </a:extLst>
          </p:cNvPr>
          <p:cNvSpPr/>
          <p:nvPr/>
        </p:nvSpPr>
        <p:spPr>
          <a:xfrm>
            <a:off x="8028904" y="5203777"/>
            <a:ext cx="328295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Now watch Video 4.1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1A34C0-4E38-2145-BF50-544C02E4834E}"/>
              </a:ext>
            </a:extLst>
          </p:cNvPr>
          <p:cNvSpPr/>
          <p:nvPr/>
        </p:nvSpPr>
        <p:spPr>
          <a:xfrm>
            <a:off x="1578133" y="5691036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</a:t>
            </a:r>
            <a:r>
              <a:rPr lang="en-GB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IF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function requires both the value in cell B2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the value in cell C2 to be greater than 60 for the student to achieve a pass.</a:t>
            </a:r>
          </a:p>
        </p:txBody>
      </p:sp>
    </p:spTree>
    <p:extLst>
      <p:ext uri="{BB962C8B-B14F-4D97-AF65-F5344CB8AC3E}">
        <p14:creationId xmlns:p14="http://schemas.microsoft.com/office/powerpoint/2010/main" val="300574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C0D3D-3B5A-405C-A85C-D55D7E6FE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9632" y="824949"/>
            <a:ext cx="10037685" cy="86574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Activity 4.1: Competition</a:t>
            </a:r>
          </a:p>
        </p:txBody>
      </p:sp>
      <p:pic>
        <p:nvPicPr>
          <p:cNvPr id="5" name="Picture 4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E026BB22-2069-44BA-9C69-B4666D11C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216" y="1967027"/>
            <a:ext cx="4587567" cy="449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874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C0D3D-3B5A-405C-A85C-D55D7E6FE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9632" y="824949"/>
            <a:ext cx="10037685" cy="86574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Activity 4.2: Maths sets</a:t>
            </a:r>
          </a:p>
        </p:txBody>
      </p:sp>
      <p:pic>
        <p:nvPicPr>
          <p:cNvPr id="5" name="Picture 4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E026BB22-2069-44BA-9C69-B4666D11C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216" y="1967027"/>
            <a:ext cx="4587567" cy="449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500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B468A-662A-4290-A763-CBC919D3C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1" y="800353"/>
            <a:ext cx="9753600" cy="820844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Using </a:t>
            </a:r>
            <a:r>
              <a:rPr lang="en-GB" b="1" dirty="0">
                <a:solidFill>
                  <a:schemeClr val="bg1"/>
                </a:solidFill>
                <a:latin typeface="Courier" pitchFamily="2" charset="0"/>
              </a:rPr>
              <a:t>OR</a:t>
            </a:r>
            <a:r>
              <a:rPr lang="en-GB" b="1" dirty="0">
                <a:solidFill>
                  <a:schemeClr val="bg1"/>
                </a:solidFill>
              </a:rPr>
              <a:t> in an </a:t>
            </a:r>
            <a:r>
              <a:rPr lang="en-GB" b="1" dirty="0">
                <a:solidFill>
                  <a:schemeClr val="bg1"/>
                </a:solidFill>
                <a:latin typeface="Courier" pitchFamily="2" charset="0"/>
              </a:rPr>
              <a:t>IF</a:t>
            </a:r>
            <a:r>
              <a:rPr lang="en-GB" b="1" dirty="0">
                <a:solidFill>
                  <a:schemeClr val="bg1"/>
                </a:solidFill>
              </a:rPr>
              <a:t> function </a:t>
            </a:r>
            <a:endParaRPr lang="en-GB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27D15874-06B9-4F78-B63B-CAB621DD21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1" y="2091378"/>
            <a:ext cx="889442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GB" dirty="0"/>
              <a:t>If we want one or more conditions to be met, we can use the </a:t>
            </a:r>
            <a:r>
              <a:rPr lang="en-GB" b="1" dirty="0">
                <a:solidFill>
                  <a:srgbClr val="0069B4"/>
                </a:solidFill>
                <a:latin typeface="Courier" pitchFamily="2" charset="0"/>
              </a:rPr>
              <a:t>OR</a:t>
            </a:r>
            <a:r>
              <a:rPr lang="en-GB" dirty="0"/>
              <a:t> operator in an </a:t>
            </a:r>
            <a:r>
              <a:rPr lang="en-GB" dirty="0">
                <a:latin typeface="Courier" pitchFamily="2" charset="0"/>
              </a:rPr>
              <a:t>IF</a:t>
            </a:r>
            <a:r>
              <a:rPr lang="en-GB" dirty="0"/>
              <a:t> function.</a:t>
            </a:r>
          </a:p>
          <a:p>
            <a:r>
              <a:rPr lang="en-GB" dirty="0"/>
              <a:t>For example: </a:t>
            </a:r>
            <a:r>
              <a:rPr lang="en-GB" dirty="0">
                <a:latin typeface="Courier" pitchFamily="2" charset="0"/>
              </a:rPr>
              <a:t>=IF( OR( B2&gt;60, C2&gt;60 ), "Pass", "Fail" 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E25383-0B3E-2A41-944C-F969409F286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7371" y="3245541"/>
            <a:ext cx="5560695" cy="25971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223240B-677A-104C-A27C-D858DA3F0066}"/>
              </a:ext>
            </a:extLst>
          </p:cNvPr>
          <p:cNvSpPr/>
          <p:nvPr/>
        </p:nvSpPr>
        <p:spPr>
          <a:xfrm>
            <a:off x="1697371" y="584269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</a:t>
            </a:r>
            <a:r>
              <a:rPr lang="en-GB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IF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function requires the value in cell B2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the value in cell C2 to be greater than 60 for the student to achieve a pass.</a:t>
            </a:r>
          </a:p>
        </p:txBody>
      </p:sp>
    </p:spTree>
    <p:extLst>
      <p:ext uri="{BB962C8B-B14F-4D97-AF65-F5344CB8AC3E}">
        <p14:creationId xmlns:p14="http://schemas.microsoft.com/office/powerpoint/2010/main" val="1548936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C0D3D-3B5A-405C-A85C-D55D7E6FE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2854" y="808171"/>
            <a:ext cx="10037685" cy="810904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Activity 4.3: Competition 2</a:t>
            </a:r>
          </a:p>
        </p:txBody>
      </p:sp>
      <p:pic>
        <p:nvPicPr>
          <p:cNvPr id="5" name="Picture 4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E026BB22-2069-44BA-9C69-B4666D11C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216" y="1967027"/>
            <a:ext cx="4587567" cy="449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9922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C0D3D-3B5A-405C-A85C-D55D7E6FE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2854" y="808171"/>
            <a:ext cx="10037685" cy="810904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Activity 4.4: Stock levels</a:t>
            </a:r>
          </a:p>
        </p:txBody>
      </p:sp>
      <p:pic>
        <p:nvPicPr>
          <p:cNvPr id="5" name="Picture 4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E026BB22-2069-44BA-9C69-B4666D11C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216" y="1967027"/>
            <a:ext cx="4587567" cy="449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45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B468A-662A-4290-A763-CBC919D3C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6644" y="815010"/>
            <a:ext cx="9753600" cy="820844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The </a:t>
            </a:r>
            <a:r>
              <a:rPr lang="en-GB" b="1" dirty="0">
                <a:solidFill>
                  <a:schemeClr val="bg1"/>
                </a:solidFill>
                <a:latin typeface="Courier" pitchFamily="2" charset="0"/>
              </a:rPr>
              <a:t>REPT</a:t>
            </a:r>
            <a:r>
              <a:rPr lang="en-GB" b="1" dirty="0">
                <a:solidFill>
                  <a:schemeClr val="bg1"/>
                </a:solidFill>
              </a:rPr>
              <a:t> function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F0A12F-5829-4990-82C1-137523BECB7D}"/>
              </a:ext>
            </a:extLst>
          </p:cNvPr>
          <p:cNvSpPr/>
          <p:nvPr/>
        </p:nvSpPr>
        <p:spPr>
          <a:xfrm>
            <a:off x="1566644" y="2146650"/>
            <a:ext cx="919643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The </a:t>
            </a:r>
            <a:r>
              <a:rPr lang="en-GB" b="1" dirty="0">
                <a:solidFill>
                  <a:srgbClr val="0069B4"/>
                </a:solidFill>
                <a:latin typeface="Courier" pitchFamily="2" charset="0"/>
              </a:rPr>
              <a:t>REPT</a:t>
            </a:r>
            <a:r>
              <a:rPr lang="en-GB" b="1" dirty="0">
                <a:solidFill>
                  <a:srgbClr val="0069B4"/>
                </a:solidFill>
              </a:rPr>
              <a:t> </a:t>
            </a:r>
            <a:r>
              <a:rPr lang="en-GB" dirty="0"/>
              <a:t>function is used to </a:t>
            </a:r>
            <a:r>
              <a:rPr lang="en-GB" b="1" dirty="0"/>
              <a:t>repeat</a:t>
            </a:r>
            <a:r>
              <a:rPr lang="en-GB" dirty="0"/>
              <a:t> a string of characters a given number of times:</a:t>
            </a:r>
          </a:p>
          <a:p>
            <a:r>
              <a:rPr lang="en-GB" dirty="0">
                <a:latin typeface="Courier" pitchFamily="2" charset="0"/>
              </a:rPr>
              <a:t>=REPT( text, number of times ) </a:t>
            </a:r>
          </a:p>
          <a:p>
            <a:r>
              <a:rPr lang="en-GB" dirty="0"/>
              <a:t>In this example, the text in cell A2 is repeated the number of times specified in cell B2.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D4B574-479B-EA4B-A93B-B4949C5513F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069" y="3092690"/>
            <a:ext cx="4778375" cy="14795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46AAAA3-D2E2-3347-87C7-B3097C59E8A1}"/>
              </a:ext>
            </a:extLst>
          </p:cNvPr>
          <p:cNvSpPr/>
          <p:nvPr/>
        </p:nvSpPr>
        <p:spPr>
          <a:xfrm>
            <a:off x="1566644" y="4691604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You can also use the </a:t>
            </a:r>
            <a:r>
              <a:rPr lang="en-GB" dirty="0">
                <a:latin typeface="Courier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REPT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function without cell references:</a:t>
            </a:r>
            <a:endParaRPr lang="en-GB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92D545C-10AD-FC4F-A534-828693BE6527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0364" y="5337935"/>
            <a:ext cx="2802306" cy="109408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D24D86F-2B3A-044F-8C4A-546BA54E5F91}"/>
              </a:ext>
            </a:extLst>
          </p:cNvPr>
          <p:cNvSpPr/>
          <p:nvPr/>
        </p:nvSpPr>
        <p:spPr>
          <a:xfrm>
            <a:off x="7895061" y="5045547"/>
            <a:ext cx="372512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2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Now watch Video 4.2</a:t>
            </a:r>
          </a:p>
        </p:txBody>
      </p:sp>
    </p:spTree>
    <p:extLst>
      <p:ext uri="{BB962C8B-B14F-4D97-AF65-F5344CB8AC3E}">
        <p14:creationId xmlns:p14="http://schemas.microsoft.com/office/powerpoint/2010/main" val="3659010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C0D3D-3B5A-405C-A85C-D55D7E6FE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2854" y="808171"/>
            <a:ext cx="10037685" cy="810904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Activity 4.5: Homework</a:t>
            </a:r>
          </a:p>
        </p:txBody>
      </p:sp>
      <p:pic>
        <p:nvPicPr>
          <p:cNvPr id="5" name="Picture 4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E026BB22-2069-44BA-9C69-B4666D11C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216" y="1967027"/>
            <a:ext cx="4587567" cy="449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560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C0D3D-3B5A-405C-A85C-D55D7E6FE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2854" y="808171"/>
            <a:ext cx="10037685" cy="810904"/>
          </a:xfrm>
        </p:spPr>
        <p:txBody>
          <a:bodyPr>
            <a:normAutofit/>
          </a:bodyPr>
          <a:lstStyle/>
          <a:p>
            <a:r>
              <a:rPr lang="en-GB" b="1">
                <a:solidFill>
                  <a:schemeClr val="bg1"/>
                </a:solidFill>
              </a:rPr>
              <a:t>Quiz 4</a:t>
            </a:r>
            <a:endParaRPr lang="en-GB" b="1" dirty="0">
              <a:solidFill>
                <a:schemeClr val="bg1"/>
              </a:solidFill>
            </a:endParaRPr>
          </a:p>
        </p:txBody>
      </p:sp>
      <p:pic>
        <p:nvPicPr>
          <p:cNvPr id="5" name="Picture 4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E026BB22-2069-44BA-9C69-B4666D11C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216" y="1967027"/>
            <a:ext cx="4587567" cy="449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546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</TotalTime>
  <Words>325</Words>
  <Application>Microsoft Macintosh PowerPoint</Application>
  <PresentationFormat>Widescreen</PresentationFormat>
  <Paragraphs>30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Courier</vt:lpstr>
      <vt:lpstr>Symbol</vt:lpstr>
      <vt:lpstr>Office Theme</vt:lpstr>
      <vt:lpstr>Advanced spreadsheets</vt:lpstr>
      <vt:lpstr>Objectives</vt:lpstr>
      <vt:lpstr>IF functions: a reminder </vt:lpstr>
      <vt:lpstr>Using AND in an IF function </vt:lpstr>
      <vt:lpstr>Activity 4.1: Competition</vt:lpstr>
      <vt:lpstr>Activity 4.2: Maths sets</vt:lpstr>
      <vt:lpstr>Using OR in an IF function </vt:lpstr>
      <vt:lpstr>Activity 4.3: Competition 2</vt:lpstr>
      <vt:lpstr>Activity 4.4: Stock levels</vt:lpstr>
      <vt:lpstr>The REPT function</vt:lpstr>
      <vt:lpstr>Activity 4.5: Homework</vt:lpstr>
      <vt:lpstr>Quiz 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Introducing spreadsheets</dc:title>
  <dc:creator>Lea Albrechtsen</dc:creator>
  <cp:lastModifiedBy>James Bullivant</cp:lastModifiedBy>
  <cp:revision>34</cp:revision>
  <dcterms:created xsi:type="dcterms:W3CDTF">2020-11-04T15:22:46Z</dcterms:created>
  <dcterms:modified xsi:type="dcterms:W3CDTF">2021-06-11T14:40:27Z</dcterms:modified>
</cp:coreProperties>
</file>