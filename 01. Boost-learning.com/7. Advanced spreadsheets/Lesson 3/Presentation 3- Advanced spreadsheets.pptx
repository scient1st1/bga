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82" r:id="rId6"/>
    <p:sldId id="283" r:id="rId7"/>
    <p:sldId id="284" r:id="rId8"/>
    <p:sldId id="285" r:id="rId9"/>
    <p:sldId id="286" r:id="rId10"/>
    <p:sldId id="274" r:id="rId11"/>
    <p:sldId id="287" r:id="rId12"/>
    <p:sldId id="288" r:id="rId13"/>
    <p:sldId id="289" r:id="rId14"/>
    <p:sldId id="291" r:id="rId15"/>
    <p:sldId id="292" r:id="rId16"/>
    <p:sldId id="293" r:id="rId17"/>
    <p:sldId id="294" r:id="rId18"/>
    <p:sldId id="276" r:id="rId19"/>
    <p:sldId id="28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9B4"/>
    <a:srgbClr val="769B5E"/>
    <a:srgbClr val="B612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812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2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  <p:pic>
        <p:nvPicPr>
          <p:cNvPr id="10" name="Picture 9" descr="A picture containing text, tool&#10;&#10;Description automatically generated">
            <a:extLst>
              <a:ext uri="{FF2B5EF4-FFF2-40B4-BE49-F238E27FC236}">
                <a16:creationId xmlns:a16="http://schemas.microsoft.com/office/drawing/2014/main" id="{D732EF40-B59C-F244-AAD1-54CD7DE5EBD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2928"/>
            <a:ext cx="12192000" cy="165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B9C3-E44C-4313-895D-D43DD1C92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" y="2971075"/>
            <a:ext cx="7311068" cy="915850"/>
          </a:xfrm>
        </p:spPr>
        <p:txBody>
          <a:bodyPr>
            <a:normAutofit/>
          </a:bodyPr>
          <a:lstStyle/>
          <a:p>
            <a:pPr algn="r"/>
            <a:r>
              <a:rPr lang="en-GB" sz="5400" b="1" dirty="0"/>
              <a:t>Advanced spreadsheets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5973017" y="3886925"/>
            <a:ext cx="2007408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GB" sz="2000" b="1" dirty="0">
                <a:solidFill>
                  <a:srgbClr val="B612AD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3: Macros</a:t>
            </a:r>
          </a:p>
          <a:p>
            <a:pPr algn="r"/>
            <a:endParaRPr lang="en-GB" sz="2000" b="1" dirty="0">
              <a:solidFill>
                <a:srgbClr val="B612AD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B55173-0D29-3247-9DF7-129430C106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9924" y="2865016"/>
            <a:ext cx="2937413" cy="244392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6857" y="806893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1D8374-34AC-4627-BA7F-2261014679DD}"/>
              </a:ext>
            </a:extLst>
          </p:cNvPr>
          <p:cNvSpPr/>
          <p:nvPr/>
        </p:nvSpPr>
        <p:spPr>
          <a:xfrm>
            <a:off x="1576857" y="2274838"/>
            <a:ext cx="8280208" cy="18774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 this lesson, you will learn how to: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record macros to automate aspects of a spreadsheet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assign macros to a button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view the code recorded by a macro.</a:t>
            </a: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3544" y="813732"/>
            <a:ext cx="9773478" cy="80534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Robots </a:t>
            </a:r>
          </a:p>
        </p:txBody>
      </p:sp>
      <p:pic>
        <p:nvPicPr>
          <p:cNvPr id="4" name="Picture 3" descr="A picture containing automaton, toy&#10;&#10;Description automatically generated">
            <a:extLst>
              <a:ext uri="{FF2B5EF4-FFF2-40B4-BE49-F238E27FC236}">
                <a16:creationId xmlns:a16="http://schemas.microsoft.com/office/drawing/2014/main" id="{CFFA8078-F8C9-4B5C-BFA7-C2546AC573E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01" r="396" b="2332"/>
          <a:stretch/>
        </p:blipFill>
        <p:spPr>
          <a:xfrm>
            <a:off x="3029292" y="1788040"/>
            <a:ext cx="6133415" cy="4751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644" y="802881"/>
            <a:ext cx="9753599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Macros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580E0B-8FA6-CB4C-96B7-977463B19DF3}"/>
              </a:ext>
            </a:extLst>
          </p:cNvPr>
          <p:cNvSpPr/>
          <p:nvPr/>
        </p:nvSpPr>
        <p:spPr>
          <a:xfrm>
            <a:off x="4697043" y="2898410"/>
            <a:ext cx="66232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0069B4"/>
                </a:solidFill>
                <a:ea typeface="Times New Roman" panose="02020603050405020304" pitchFamily="18" charset="0"/>
              </a:rPr>
              <a:t>Macros</a:t>
            </a:r>
            <a:r>
              <a:rPr lang="en-GB" sz="2400" dirty="0">
                <a:solidFill>
                  <a:srgbClr val="C45911"/>
                </a:solidFill>
                <a:ea typeface="Times New Roman" panose="02020603050405020304" pitchFamily="18" charset="0"/>
              </a:rPr>
              <a:t> </a:t>
            </a:r>
            <a:r>
              <a:rPr lang="en-GB" sz="2400" dirty="0">
                <a:ea typeface="Times New Roman" panose="02020603050405020304" pitchFamily="18" charset="0"/>
              </a:rPr>
              <a:t>are small programs that record your mouse clicks and key strokes as you complete a task.</a:t>
            </a:r>
          </a:p>
          <a:p>
            <a:r>
              <a:rPr lang="en-GB" sz="2400" dirty="0">
                <a:ea typeface="Times New Roman" panose="02020603050405020304" pitchFamily="18" charset="0"/>
              </a:rPr>
              <a:t>In Excel, the actions are saved as </a:t>
            </a:r>
            <a:r>
              <a:rPr lang="en-GB" sz="2400" b="1" dirty="0">
                <a:solidFill>
                  <a:srgbClr val="0069B4"/>
                </a:solidFill>
                <a:ea typeface="Times New Roman" panose="02020603050405020304" pitchFamily="18" charset="0"/>
              </a:rPr>
              <a:t>Visual Basic</a:t>
            </a:r>
            <a:r>
              <a:rPr lang="en-GB" sz="2400" dirty="0">
                <a:solidFill>
                  <a:srgbClr val="0069B4"/>
                </a:solidFill>
                <a:ea typeface="Times New Roman" panose="02020603050405020304" pitchFamily="18" charset="0"/>
              </a:rPr>
              <a:t> </a:t>
            </a:r>
            <a:r>
              <a:rPr lang="en-GB" sz="2400" dirty="0">
                <a:ea typeface="Times New Roman" panose="02020603050405020304" pitchFamily="18" charset="0"/>
              </a:rPr>
              <a:t>code, that can be viewed and edited if necessary.</a:t>
            </a:r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0AD990CC-BD8E-4ABE-8CBE-3447294A30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6644" y="1774998"/>
            <a:ext cx="2637608" cy="4830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703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BBEFD2C2-BE96-45D6-8D63-BD0C9FDC31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1913" y="2729978"/>
            <a:ext cx="8345260" cy="36729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644" y="802881"/>
            <a:ext cx="9753599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Macros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580E0B-8FA6-CB4C-96B7-977463B19DF3}"/>
              </a:ext>
            </a:extLst>
          </p:cNvPr>
          <p:cNvSpPr/>
          <p:nvPr/>
        </p:nvSpPr>
        <p:spPr>
          <a:xfrm>
            <a:off x="1491913" y="1898981"/>
            <a:ext cx="9959859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0069B4"/>
                </a:solidFill>
              </a:rPr>
              <a:t>Macros</a:t>
            </a:r>
            <a:r>
              <a:rPr lang="en-GB" sz="2400" dirty="0"/>
              <a:t> are small programs that record your mouse clicks and key strokes as you complete a task.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FE6D7A-19E8-4ADB-8F86-B1B00B1BDDD7}"/>
              </a:ext>
            </a:extLst>
          </p:cNvPr>
          <p:cNvSpPr/>
          <p:nvPr/>
        </p:nvSpPr>
        <p:spPr>
          <a:xfrm>
            <a:off x="7158445" y="2776145"/>
            <a:ext cx="3849189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In Google Sheets, the actions are saved as </a:t>
            </a:r>
            <a:r>
              <a:rPr lang="en-GB" sz="2400" b="1" dirty="0">
                <a:solidFill>
                  <a:srgbClr val="0069B4"/>
                </a:solidFill>
              </a:rPr>
              <a:t>JavaScript</a:t>
            </a:r>
            <a:r>
              <a:rPr lang="en-GB" sz="2400" dirty="0"/>
              <a:t> code, that can be viewed and edited if necessary.</a:t>
            </a:r>
          </a:p>
        </p:txBody>
      </p:sp>
    </p:spTree>
    <p:extLst>
      <p:ext uri="{BB962C8B-B14F-4D97-AF65-F5344CB8AC3E}">
        <p14:creationId xmlns:p14="http://schemas.microsoft.com/office/powerpoint/2010/main" val="3955803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644" y="802881"/>
            <a:ext cx="9753599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Recording macros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580E0B-8FA6-CB4C-96B7-977463B19DF3}"/>
              </a:ext>
            </a:extLst>
          </p:cNvPr>
          <p:cNvSpPr/>
          <p:nvPr/>
        </p:nvSpPr>
        <p:spPr>
          <a:xfrm>
            <a:off x="1566643" y="1932715"/>
            <a:ext cx="905871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Before recording a macro in Excel, you should re-save your spreadsheet as a </a:t>
            </a:r>
            <a:r>
              <a:rPr lang="en-GB" sz="2400" b="1" dirty="0">
                <a:solidFill>
                  <a:srgbClr val="0069B4"/>
                </a:solidFill>
              </a:rPr>
              <a:t>macro-enabled spreadsheet</a:t>
            </a:r>
            <a:r>
              <a:rPr lang="en-GB" sz="2400" dirty="0"/>
              <a:t>.</a:t>
            </a:r>
          </a:p>
          <a:p>
            <a:r>
              <a:rPr lang="en-GB" sz="2400" dirty="0"/>
              <a:t>You will need to give your macro a name before the recording begins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F6820E-4DC3-8546-9D0B-6BEE101CABD6}"/>
              </a:ext>
            </a:extLst>
          </p:cNvPr>
          <p:cNvSpPr/>
          <p:nvPr/>
        </p:nvSpPr>
        <p:spPr>
          <a:xfrm>
            <a:off x="7167154" y="3263292"/>
            <a:ext cx="3458203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When you have finished recording your macro, it will automatically save to the spreadsheet.</a:t>
            </a:r>
            <a:endParaRPr lang="en-GB" sz="24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4EC900-8B8A-3F41-B827-D01B4DCFA6F2}"/>
              </a:ext>
            </a:extLst>
          </p:cNvPr>
          <p:cNvSpPr/>
          <p:nvPr/>
        </p:nvSpPr>
        <p:spPr>
          <a:xfrm>
            <a:off x="7167154" y="5178603"/>
            <a:ext cx="429444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i="1" dirty="0">
                <a:latin typeface="Calibri" panose="020F0502020204030204" pitchFamily="34" charset="0"/>
                <a:ea typeface="Times New Roman" panose="02020603050405020304" pitchFamily="18" charset="0"/>
              </a:rPr>
              <a:t>Now watch Video 3.1 (Excel)</a:t>
            </a:r>
            <a:endParaRPr lang="en-GB" sz="2800" i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12" name="Picture 11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58B98F2A-13F3-4B75-B6BD-9553C1E633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6643" y="3263292"/>
            <a:ext cx="5193624" cy="3006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23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644" y="802881"/>
            <a:ext cx="9753599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Recording macros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580E0B-8FA6-CB4C-96B7-977463B19DF3}"/>
              </a:ext>
            </a:extLst>
          </p:cNvPr>
          <p:cNvSpPr/>
          <p:nvPr/>
        </p:nvSpPr>
        <p:spPr>
          <a:xfrm>
            <a:off x="1566644" y="2274838"/>
            <a:ext cx="573984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To record a macro in Google Sheets, select ‘Tools’, ‘Macros’ and ‘Record macro’. The recording will begin immediately.</a:t>
            </a:r>
          </a:p>
          <a:p>
            <a:r>
              <a:rPr lang="en-GB" sz="2400" dirty="0"/>
              <a:t>When you have finished recording your macro, give it a name and it will automatically save to the spreadsheet.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4EC900-8B8A-3F41-B827-D01B4DCFA6F2}"/>
              </a:ext>
            </a:extLst>
          </p:cNvPr>
          <p:cNvSpPr/>
          <p:nvPr/>
        </p:nvSpPr>
        <p:spPr>
          <a:xfrm>
            <a:off x="3209798" y="5379686"/>
            <a:ext cx="563359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i="1" dirty="0">
                <a:latin typeface="Calibri" panose="020F0502020204030204" pitchFamily="34" charset="0"/>
                <a:ea typeface="Times New Roman" panose="02020603050405020304" pitchFamily="18" charset="0"/>
              </a:rPr>
              <a:t>Now watch Video 3.1 (Google Sheets)</a:t>
            </a:r>
            <a:endParaRPr lang="en-GB" sz="2800" i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7" name="Picture 6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41EDEADE-0205-43B3-88C0-384DDEA7135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9"/>
          <a:stretch/>
        </p:blipFill>
        <p:spPr>
          <a:xfrm>
            <a:off x="7498080" y="2063931"/>
            <a:ext cx="3565686" cy="332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881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644" y="802881"/>
            <a:ext cx="9753599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Assigning macros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580E0B-8FA6-CB4C-96B7-977463B19DF3}"/>
              </a:ext>
            </a:extLst>
          </p:cNvPr>
          <p:cNvSpPr/>
          <p:nvPr/>
        </p:nvSpPr>
        <p:spPr>
          <a:xfrm>
            <a:off x="1566643" y="2212403"/>
            <a:ext cx="4755779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Once a macro has been recorded it can be </a:t>
            </a:r>
            <a:r>
              <a:rPr lang="en-GB" sz="2400" b="1" dirty="0"/>
              <a:t>assigned</a:t>
            </a:r>
            <a:r>
              <a:rPr lang="en-GB" sz="2400" dirty="0"/>
              <a:t> to a </a:t>
            </a:r>
            <a:r>
              <a:rPr lang="en-GB" sz="2400" b="1" dirty="0">
                <a:solidFill>
                  <a:srgbClr val="0069B4"/>
                </a:solidFill>
              </a:rPr>
              <a:t>button</a:t>
            </a:r>
            <a:r>
              <a:rPr lang="en-GB" sz="2400" dirty="0"/>
              <a:t>.</a:t>
            </a:r>
          </a:p>
          <a:p>
            <a:r>
              <a:rPr lang="en-GB" sz="2400" dirty="0"/>
              <a:t>A button is inserted from the ‘Form Control’ menu.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4EC900-8B8A-3F41-B827-D01B4DCFA6F2}"/>
              </a:ext>
            </a:extLst>
          </p:cNvPr>
          <p:cNvSpPr/>
          <p:nvPr/>
        </p:nvSpPr>
        <p:spPr>
          <a:xfrm>
            <a:off x="3466397" y="5981312"/>
            <a:ext cx="525920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3200" i="1" dirty="0">
                <a:latin typeface="Calibri" panose="020F0502020204030204" pitchFamily="34" charset="0"/>
                <a:ea typeface="Times New Roman" panose="02020603050405020304" pitchFamily="18" charset="0"/>
              </a:rPr>
              <a:t>Now watch Video 3.2 (Excel)</a:t>
            </a:r>
            <a:endParaRPr lang="en-GB" sz="3200" i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7C2017-3712-254A-B563-4C95808B881D}"/>
              </a:ext>
            </a:extLst>
          </p:cNvPr>
          <p:cNvSpPr/>
          <p:nvPr/>
        </p:nvSpPr>
        <p:spPr>
          <a:xfrm>
            <a:off x="1566644" y="4236280"/>
            <a:ext cx="8874933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ea typeface="Times New Roman" panose="02020603050405020304" pitchFamily="18" charset="0"/>
              </a:rPr>
              <a:t>The macro is assigned by right-clicking on the button, choosing ‘Assign macro’ and selecting the macro required.</a:t>
            </a:r>
          </a:p>
          <a:p>
            <a:r>
              <a:rPr lang="en-GB" sz="2400" dirty="0">
                <a:ea typeface="Times New Roman" panose="02020603050405020304" pitchFamily="18" charset="0"/>
              </a:rPr>
              <a:t>When the macro is run it will repeat the mouse clicks and key strokes you recorded.</a:t>
            </a:r>
          </a:p>
        </p:txBody>
      </p:sp>
      <p:pic>
        <p:nvPicPr>
          <p:cNvPr id="9" name="Picture 8" descr="Graphical user interface, application, table, Excel&#10;&#10;Description automatically generated">
            <a:extLst>
              <a:ext uri="{FF2B5EF4-FFF2-40B4-BE49-F238E27FC236}">
                <a16:creationId xmlns:a16="http://schemas.microsoft.com/office/drawing/2014/main" id="{D61CB95F-C5FF-406F-A102-89AF61F4DB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1445" y="2103280"/>
            <a:ext cx="4823863" cy="213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766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644" y="802881"/>
            <a:ext cx="9753599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Assigning macros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580E0B-8FA6-CB4C-96B7-977463B19DF3}"/>
              </a:ext>
            </a:extLst>
          </p:cNvPr>
          <p:cNvSpPr/>
          <p:nvPr/>
        </p:nvSpPr>
        <p:spPr>
          <a:xfrm>
            <a:off x="1566643" y="1796338"/>
            <a:ext cx="9911254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Once a macro has been recorded, it can be </a:t>
            </a:r>
            <a:r>
              <a:rPr lang="en-GB" sz="2400" b="1" dirty="0"/>
              <a:t>assigned </a:t>
            </a:r>
            <a:r>
              <a:rPr lang="en-GB" sz="2400" dirty="0"/>
              <a:t>to a </a:t>
            </a:r>
            <a:r>
              <a:rPr lang="en-GB" sz="2400" b="1" dirty="0">
                <a:solidFill>
                  <a:srgbClr val="0069B4"/>
                </a:solidFill>
              </a:rPr>
              <a:t>button</a:t>
            </a:r>
            <a:r>
              <a:rPr lang="en-GB" sz="2400" dirty="0"/>
              <a:t>.</a:t>
            </a:r>
          </a:p>
          <a:p>
            <a:r>
              <a:rPr lang="en-GB" sz="2400" dirty="0"/>
              <a:t>Go to ‘Insert’ and select ‘Drawing’ and create a suitable shape for your button. Click on ‘Save and close’ to add it to your spreadsheet and reposition it by selecting and dragging it.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4EC900-8B8A-3F41-B827-D01B4DCFA6F2}"/>
              </a:ext>
            </a:extLst>
          </p:cNvPr>
          <p:cNvSpPr/>
          <p:nvPr/>
        </p:nvSpPr>
        <p:spPr>
          <a:xfrm>
            <a:off x="8747636" y="4839540"/>
            <a:ext cx="2843094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800" i="1" dirty="0">
                <a:latin typeface="Calibri" panose="020F0502020204030204" pitchFamily="34" charset="0"/>
                <a:ea typeface="Times New Roman" panose="02020603050405020304" pitchFamily="18" charset="0"/>
              </a:rPr>
              <a:t>Now watch </a:t>
            </a:r>
          </a:p>
          <a:p>
            <a:pPr algn="ctr"/>
            <a:r>
              <a:rPr lang="en-GB" sz="2800" i="1" dirty="0">
                <a:latin typeface="Calibri" panose="020F0502020204030204" pitchFamily="34" charset="0"/>
                <a:ea typeface="Times New Roman" panose="02020603050405020304" pitchFamily="18" charset="0"/>
              </a:rPr>
              <a:t>Video 3.2 (Google Sheets</a:t>
            </a: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)</a:t>
            </a:r>
            <a:endParaRPr lang="en-GB" sz="24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7C2017-3712-254A-B563-4C95808B881D}"/>
              </a:ext>
            </a:extLst>
          </p:cNvPr>
          <p:cNvSpPr/>
          <p:nvPr/>
        </p:nvSpPr>
        <p:spPr>
          <a:xfrm>
            <a:off x="1566644" y="3546879"/>
            <a:ext cx="6776168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Assign a macro to the button by selecting the button, clicking on the three dots, choosing ‘Assign a script’, typing in the macro name and pressing ‘OK’.</a:t>
            </a:r>
          </a:p>
          <a:p>
            <a:r>
              <a:rPr lang="en-GB" sz="2400" dirty="0"/>
              <a:t>When the macro is run it will repeat the mouse clicks and key strokes you recorded. The first time you try to run a macro you will be asked for authorisation to run the script.</a:t>
            </a:r>
          </a:p>
        </p:txBody>
      </p:sp>
      <p:pic>
        <p:nvPicPr>
          <p:cNvPr id="8" name="Picture 7" descr="Graphical user interface, application, table, Excel&#10;&#10;Description automatically generated">
            <a:extLst>
              <a:ext uri="{FF2B5EF4-FFF2-40B4-BE49-F238E27FC236}">
                <a16:creationId xmlns:a16="http://schemas.microsoft.com/office/drawing/2014/main" id="{DBB4CB42-453A-484E-A281-9C2148FD42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6808" y="3026491"/>
            <a:ext cx="3041089" cy="1813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081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24949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3.1: Pizza orders (Part 3, Excel)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2304322"/>
            <a:ext cx="3397717" cy="332904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101430-74C2-5040-84E6-10C35A4A523D}"/>
              </a:ext>
            </a:extLst>
          </p:cNvPr>
          <p:cNvSpPr/>
          <p:nvPr/>
        </p:nvSpPr>
        <p:spPr>
          <a:xfrm>
            <a:off x="1589631" y="1960675"/>
            <a:ext cx="6242403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Calibri" panose="020F0502020204030204" pitchFamily="34" charset="0"/>
                <a:ea typeface="Times New Roman" panose="02020603050405020304" pitchFamily="18" charset="0"/>
              </a:rPr>
              <a:t>You have created a spreadsheet to calculate the cost of a pizza order, but the values entered need to be cleared before the next order can be input. It is possible to automate this process using a macro.</a:t>
            </a:r>
          </a:p>
          <a:p>
            <a:endParaRPr lang="en-GB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GB" dirty="0">
                <a:latin typeface="Calibri" panose="020F0502020204030204" pitchFamily="34" charset="0"/>
                <a:ea typeface="Times New Roman" panose="02020603050405020304" pitchFamily="18" charset="0"/>
              </a:rPr>
              <a:t>Record a macro to reset the spreadsheet ready for the next order. You will need to clear the contents of the cells in column M linked to the check boxes, and also clear the contents of the two cells in column B containing values selected from drop-down lists.</a:t>
            </a:r>
          </a:p>
          <a:p>
            <a:endParaRPr lang="en-GB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GB" dirty="0">
                <a:latin typeface="Calibri" panose="020F0502020204030204" pitchFamily="34" charset="0"/>
                <a:ea typeface="Times New Roman" panose="02020603050405020304" pitchFamily="18" charset="0"/>
              </a:rPr>
              <a:t>To clear these values, you simply need to right click on each relevant cell and select ‘Clear contents’.</a:t>
            </a:r>
            <a:endParaRPr lang="en-GB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00000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Insert a button and give it a suitable name.</a:t>
            </a:r>
            <a:endParaRPr lang="en-GB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GB" dirty="0">
                <a:latin typeface="Calibri" panose="020F0502020204030204" pitchFamily="34" charset="0"/>
                <a:ea typeface="Times New Roman" panose="02020603050405020304" pitchFamily="18" charset="0"/>
              </a:rPr>
              <a:t>Assign your macro to the button and test it to check that it resets the spreadsheet correctly.</a:t>
            </a:r>
            <a:endParaRPr lang="en-GB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28742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24949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3.1: Pizza orders (Part 3, Google)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2304322"/>
            <a:ext cx="3397717" cy="332904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101430-74C2-5040-84E6-10C35A4A523D}"/>
              </a:ext>
            </a:extLst>
          </p:cNvPr>
          <p:cNvSpPr/>
          <p:nvPr/>
        </p:nvSpPr>
        <p:spPr>
          <a:xfrm>
            <a:off x="1589631" y="1960675"/>
            <a:ext cx="6242403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/>
              <a:t>You have created a spreadsheet to calculate the cost of a pizza order, but the values entered need to be cleared before the next order can be input. It is possible to automate this process using a macro.</a:t>
            </a:r>
          </a:p>
          <a:p>
            <a:endParaRPr lang="en-GB" dirty="0"/>
          </a:p>
          <a:p>
            <a:r>
              <a:rPr lang="en-GB" dirty="0"/>
              <a:t>Record a macro to reset the spreadsheet ready for the next order. You will need to unselect the check boxes and clear the contents of the two cells in column B containing values selected from drop-down lists.</a:t>
            </a:r>
          </a:p>
          <a:p>
            <a:endParaRPr lang="en-GB" dirty="0"/>
          </a:p>
          <a:p>
            <a:r>
              <a:rPr lang="en-GB" dirty="0"/>
              <a:t>Draw a button, give it a suitable name and insert it into the spreadsheet.</a:t>
            </a:r>
          </a:p>
          <a:p>
            <a:endParaRPr lang="en-GB" dirty="0"/>
          </a:p>
          <a:p>
            <a:r>
              <a:rPr lang="en-GB" dirty="0"/>
              <a:t>Assign your macro to the button and test it to check that it resets the spreadsheet correctly.</a:t>
            </a:r>
          </a:p>
        </p:txBody>
      </p:sp>
    </p:spTree>
    <p:extLst>
      <p:ext uri="{BB962C8B-B14F-4D97-AF65-F5344CB8AC3E}">
        <p14:creationId xmlns:p14="http://schemas.microsoft.com/office/powerpoint/2010/main" val="26304613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24949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Editing a macro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101430-74C2-5040-84E6-10C35A4A523D}"/>
              </a:ext>
            </a:extLst>
          </p:cNvPr>
          <p:cNvSpPr/>
          <p:nvPr/>
        </p:nvSpPr>
        <p:spPr>
          <a:xfrm>
            <a:off x="1589631" y="1960675"/>
            <a:ext cx="906966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Once a macro has been recorded, you can edit the Visual Basic code to correct errors or to add extra functionality.</a:t>
            </a:r>
          </a:p>
          <a:p>
            <a:r>
              <a:rPr lang="en-GB" sz="2400" dirty="0"/>
              <a:t>Click on ‘View Macros’ and select ‘Edit’ to see the code.</a:t>
            </a:r>
          </a:p>
          <a:p>
            <a:r>
              <a:rPr lang="en-GB" sz="2400" dirty="0"/>
              <a:t>The code can be edited by typing directly into the code window.</a:t>
            </a:r>
          </a:p>
        </p:txBody>
      </p:sp>
      <p:pic>
        <p:nvPicPr>
          <p:cNvPr id="8" name="Picture 7" descr="Graphical user interface, application, Word&#10;&#10;Description automatically generated">
            <a:extLst>
              <a:ext uri="{FF2B5EF4-FFF2-40B4-BE49-F238E27FC236}">
                <a16:creationId xmlns:a16="http://schemas.microsoft.com/office/drawing/2014/main" id="{129F5921-72EB-4854-A23E-27B0E369AE1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972"/>
          <a:stretch/>
        </p:blipFill>
        <p:spPr>
          <a:xfrm>
            <a:off x="1885733" y="3660964"/>
            <a:ext cx="8420533" cy="2677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5640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24949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Changing the text colour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101430-74C2-5040-84E6-10C35A4A523D}"/>
              </a:ext>
            </a:extLst>
          </p:cNvPr>
          <p:cNvSpPr/>
          <p:nvPr/>
        </p:nvSpPr>
        <p:spPr>
          <a:xfrm>
            <a:off x="1589632" y="2107474"/>
            <a:ext cx="5142095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It is possible to change the text colour of a specific cell in Excel by selecting it and then setting the colour.</a:t>
            </a:r>
          </a:p>
          <a:p>
            <a:r>
              <a:rPr lang="en-GB" sz="2400" dirty="0">
                <a:latin typeface="Courier" pitchFamily="2" charset="0"/>
              </a:rPr>
              <a:t>Range("A1").</a:t>
            </a:r>
            <a:r>
              <a:rPr lang="en-GB" sz="2400" dirty="0" err="1">
                <a:latin typeface="Courier" pitchFamily="2" charset="0"/>
              </a:rPr>
              <a:t>Font.Color</a:t>
            </a:r>
            <a:r>
              <a:rPr lang="en-GB" sz="2400" dirty="0">
                <a:latin typeface="Courier" pitchFamily="2" charset="0"/>
              </a:rPr>
              <a:t> = </a:t>
            </a:r>
            <a:r>
              <a:rPr lang="en-GB" sz="2400" dirty="0" err="1">
                <a:latin typeface="Courier" pitchFamily="2" charset="0"/>
              </a:rPr>
              <a:t>vbGreen</a:t>
            </a:r>
            <a:r>
              <a:rPr lang="en-GB" sz="2400" dirty="0">
                <a:latin typeface="Courier" pitchFamily="2" charset="0"/>
              </a:rPr>
              <a:t> </a:t>
            </a:r>
          </a:p>
          <a:p>
            <a:r>
              <a:rPr lang="en-GB" sz="2400" dirty="0"/>
              <a:t>Here, the cell A1 has been selected and the font colour has been changed to green using </a:t>
            </a:r>
            <a:r>
              <a:rPr lang="en-GB" sz="2400" dirty="0" err="1">
                <a:latin typeface="Courier" pitchFamily="2" charset="0"/>
              </a:rPr>
              <a:t>vbGreen</a:t>
            </a:r>
            <a:r>
              <a:rPr lang="en-GB" sz="2400" dirty="0"/>
              <a:t>.</a:t>
            </a:r>
          </a:p>
          <a:p>
            <a:r>
              <a:rPr lang="en-GB" sz="2400" dirty="0"/>
              <a:t>This is the easiest way to change the text colour, but the options are limited:</a:t>
            </a:r>
          </a:p>
        </p:txBody>
      </p:sp>
      <p:pic>
        <p:nvPicPr>
          <p:cNvPr id="6" name="Picture 5" descr="A picture containing chart&#10;&#10;Description automatically generated">
            <a:extLst>
              <a:ext uri="{FF2B5EF4-FFF2-40B4-BE49-F238E27FC236}">
                <a16:creationId xmlns:a16="http://schemas.microsoft.com/office/drawing/2014/main" id="{5B6664B7-FFAE-4D51-865D-28CEA3C56E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5274" y="2107474"/>
            <a:ext cx="3913789" cy="3925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508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24949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Other </a:t>
            </a:r>
            <a:r>
              <a:rPr lang="en-GB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vb</a:t>
            </a:r>
            <a:r>
              <a:rPr lang="en-GB" b="1" dirty="0">
                <a:solidFill>
                  <a:schemeClr val="bg1"/>
                </a:solidFill>
              </a:rPr>
              <a:t> formatting commands</a:t>
            </a:r>
            <a:r>
              <a:rPr lang="en-GB" dirty="0">
                <a:solidFill>
                  <a:schemeClr val="bg1"/>
                </a:solidFill>
              </a:rPr>
              <a:t> 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101430-74C2-5040-84E6-10C35A4A523D}"/>
              </a:ext>
            </a:extLst>
          </p:cNvPr>
          <p:cNvSpPr/>
          <p:nvPr/>
        </p:nvSpPr>
        <p:spPr>
          <a:xfrm>
            <a:off x="1589631" y="1960675"/>
            <a:ext cx="879098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Here are some examples of other </a:t>
            </a:r>
            <a:r>
              <a:rPr lang="en-GB" sz="2400" dirty="0" err="1">
                <a:latin typeface="Courier" pitchFamily="2" charset="0"/>
              </a:rPr>
              <a:t>vb</a:t>
            </a:r>
            <a:r>
              <a:rPr lang="en-GB" sz="2400" dirty="0"/>
              <a:t> formatting commands in Excel.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Set the cell background colour to yellow:</a:t>
            </a:r>
          </a:p>
          <a:p>
            <a:r>
              <a:rPr lang="en-GB" sz="2400" dirty="0">
                <a:latin typeface="Courier" pitchFamily="2" charset="0"/>
              </a:rPr>
              <a:t>Range("A1").</a:t>
            </a:r>
            <a:r>
              <a:rPr lang="en-GB" sz="2400" dirty="0" err="1">
                <a:latin typeface="Courier" pitchFamily="2" charset="0"/>
              </a:rPr>
              <a:t>Interior.Color</a:t>
            </a:r>
            <a:r>
              <a:rPr lang="en-GB" sz="2400" dirty="0">
                <a:latin typeface="Courier" pitchFamily="2" charset="0"/>
              </a:rPr>
              <a:t> = </a:t>
            </a:r>
            <a:r>
              <a:rPr lang="en-GB" sz="2400" dirty="0" err="1">
                <a:latin typeface="Courier" pitchFamily="2" charset="0"/>
              </a:rPr>
              <a:t>vbYellow</a:t>
            </a:r>
            <a:endParaRPr lang="en-GB" sz="2400" dirty="0">
              <a:latin typeface="Courier" pitchFamily="2" charset="0"/>
            </a:endParaRPr>
          </a:p>
          <a:p>
            <a:endParaRPr lang="en-GB" sz="2400" dirty="0">
              <a:latin typeface="Courier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Change the font to Courier:</a:t>
            </a:r>
          </a:p>
          <a:p>
            <a:r>
              <a:rPr lang="en-GB" sz="2400" dirty="0">
                <a:latin typeface="Courier" pitchFamily="2" charset="0"/>
              </a:rPr>
              <a:t>Range("A1").</a:t>
            </a:r>
            <a:r>
              <a:rPr lang="en-GB" sz="2400" dirty="0" err="1">
                <a:latin typeface="Courier" pitchFamily="2" charset="0"/>
              </a:rPr>
              <a:t>Font.Name</a:t>
            </a:r>
            <a:r>
              <a:rPr lang="en-GB" sz="2400" dirty="0">
                <a:latin typeface="Courier" pitchFamily="2" charset="0"/>
              </a:rPr>
              <a:t> = "Courier”</a:t>
            </a:r>
          </a:p>
          <a:p>
            <a:endParaRPr lang="en-GB" sz="2400" dirty="0">
              <a:latin typeface="Courier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Change the font size to 16 point:</a:t>
            </a:r>
          </a:p>
          <a:p>
            <a:r>
              <a:rPr lang="en-GB" sz="2400" dirty="0">
                <a:latin typeface="Courier" pitchFamily="2" charset="0"/>
              </a:rPr>
              <a:t>Range("A1").</a:t>
            </a:r>
            <a:r>
              <a:rPr lang="en-GB" sz="2400" dirty="0" err="1">
                <a:latin typeface="Courier" pitchFamily="2" charset="0"/>
              </a:rPr>
              <a:t>Font.Size</a:t>
            </a:r>
            <a:r>
              <a:rPr lang="en-GB" sz="2400" dirty="0">
                <a:latin typeface="Courier" pitchFamily="2" charset="0"/>
              </a:rPr>
              <a:t> = 16</a:t>
            </a:r>
          </a:p>
          <a:p>
            <a:endParaRPr lang="en-GB" sz="2400" dirty="0">
              <a:latin typeface="Courier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Set the font to bold using a Boolean value of True:</a:t>
            </a:r>
          </a:p>
          <a:p>
            <a:r>
              <a:rPr lang="en-GB" sz="2400" dirty="0">
                <a:latin typeface="Courier" pitchFamily="2" charset="0"/>
              </a:rPr>
              <a:t>Range("A1").</a:t>
            </a:r>
            <a:r>
              <a:rPr lang="en-GB" sz="2400" dirty="0" err="1">
                <a:latin typeface="Courier" pitchFamily="2" charset="0"/>
              </a:rPr>
              <a:t>Font.Bold</a:t>
            </a:r>
            <a:r>
              <a:rPr lang="en-GB" sz="2400" dirty="0">
                <a:latin typeface="Courier" pitchFamily="2" charset="0"/>
              </a:rPr>
              <a:t> = True</a:t>
            </a:r>
            <a:endParaRPr lang="en-GB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53A00C-915A-F14A-A1AB-33E80D8F6C94}"/>
              </a:ext>
            </a:extLst>
          </p:cNvPr>
          <p:cNvSpPr/>
          <p:nvPr/>
        </p:nvSpPr>
        <p:spPr>
          <a:xfrm>
            <a:off x="8377645" y="3684223"/>
            <a:ext cx="311408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3200" i="1" dirty="0"/>
              <a:t>Now watch</a:t>
            </a:r>
          </a:p>
          <a:p>
            <a:pPr algn="ctr"/>
            <a:r>
              <a:rPr lang="en-GB" sz="3200" i="1" dirty="0"/>
              <a:t>Video 3.3 (Excel)</a:t>
            </a:r>
          </a:p>
        </p:txBody>
      </p:sp>
    </p:spTree>
    <p:extLst>
      <p:ext uri="{BB962C8B-B14F-4D97-AF65-F5344CB8AC3E}">
        <p14:creationId xmlns:p14="http://schemas.microsoft.com/office/powerpoint/2010/main" val="509372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9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5994A31A-95F1-4289-BA6E-6A05D610E3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9631" y="3845129"/>
            <a:ext cx="5979852" cy="23205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24949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Editing a macro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101430-74C2-5040-84E6-10C35A4A523D}"/>
              </a:ext>
            </a:extLst>
          </p:cNvPr>
          <p:cNvSpPr/>
          <p:nvPr/>
        </p:nvSpPr>
        <p:spPr>
          <a:xfrm>
            <a:off x="1589631" y="1906137"/>
            <a:ext cx="7487964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Once a macro has been recorded, you can edit the JavaScript code to correct errors or add extra functionality.</a:t>
            </a:r>
          </a:p>
          <a:p>
            <a:r>
              <a:rPr lang="en-GB" sz="2400" dirty="0"/>
              <a:t>Click on ‘Tools’ and select ‘Script editor’ to see the code.</a:t>
            </a:r>
          </a:p>
          <a:p>
            <a:r>
              <a:rPr lang="en-GB" sz="2400" dirty="0"/>
              <a:t>The code will open up in a separate browser window and can be edited by typing directly into the code window.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6286D5-0264-764C-8538-DCB85C38D37C}"/>
              </a:ext>
            </a:extLst>
          </p:cNvPr>
          <p:cNvSpPr/>
          <p:nvPr/>
        </p:nvSpPr>
        <p:spPr>
          <a:xfrm>
            <a:off x="7455835" y="4583792"/>
            <a:ext cx="396069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Remember to save the code when you have finished editing it.</a:t>
            </a:r>
            <a:endParaRPr lang="en-GB" sz="24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46418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24949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Changing the text colour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101430-74C2-5040-84E6-10C35A4A523D}"/>
              </a:ext>
            </a:extLst>
          </p:cNvPr>
          <p:cNvSpPr/>
          <p:nvPr/>
        </p:nvSpPr>
        <p:spPr>
          <a:xfrm>
            <a:off x="1589632" y="2028057"/>
            <a:ext cx="9113203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/>
              <a:t>It is possible to change the text colour of a specific cell in Google Sheets by selecting it and then setting the colour.</a:t>
            </a:r>
          </a:p>
          <a:p>
            <a:r>
              <a:rPr lang="en-GB" sz="2400" dirty="0" err="1">
                <a:latin typeface="Courier" pitchFamily="2" charset="0"/>
              </a:rPr>
              <a:t>spreadsheet.getRange</a:t>
            </a:r>
            <a:r>
              <a:rPr lang="en-GB" sz="2400" dirty="0">
                <a:latin typeface="Courier" pitchFamily="2" charset="0"/>
              </a:rPr>
              <a:t>(‘A1’).activate();</a:t>
            </a:r>
          </a:p>
          <a:p>
            <a:r>
              <a:rPr lang="en-GB" sz="2400" dirty="0" err="1">
                <a:latin typeface="Courier" pitchFamily="2" charset="0"/>
              </a:rPr>
              <a:t>spreadsheet.getActiveRangeList</a:t>
            </a:r>
            <a:r>
              <a:rPr lang="en-GB" sz="2400" dirty="0">
                <a:latin typeface="Courier" pitchFamily="2" charset="0"/>
              </a:rPr>
              <a:t>().</a:t>
            </a:r>
            <a:r>
              <a:rPr lang="en-GB" sz="2400" dirty="0" err="1">
                <a:latin typeface="Courier" pitchFamily="2" charset="0"/>
              </a:rPr>
              <a:t>setFontColor</a:t>
            </a:r>
            <a:r>
              <a:rPr lang="en-GB" sz="2400" dirty="0">
                <a:latin typeface="Courier" pitchFamily="2" charset="0"/>
              </a:rPr>
              <a:t> (‘green’);</a:t>
            </a:r>
          </a:p>
          <a:p>
            <a:endParaRPr lang="en-GB" sz="2400" dirty="0">
              <a:latin typeface="Courier" pitchFamily="2" charset="0"/>
            </a:endParaRPr>
          </a:p>
          <a:p>
            <a:r>
              <a:rPr lang="en-GB" sz="2400" dirty="0"/>
              <a:t>Here, the cell, A1, has been selected and the font colour has been changed to green using the colour name.</a:t>
            </a:r>
          </a:p>
          <a:p>
            <a:r>
              <a:rPr lang="en-GB" sz="2400" dirty="0"/>
              <a:t>Using a predefined colour name is the easiest way to change the colour. A full list of colour names can be found online.</a:t>
            </a:r>
          </a:p>
        </p:txBody>
      </p:sp>
    </p:spTree>
    <p:extLst>
      <p:ext uri="{BB962C8B-B14F-4D97-AF65-F5344CB8AC3E}">
        <p14:creationId xmlns:p14="http://schemas.microsoft.com/office/powerpoint/2010/main" val="3975551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24949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Other JavaScript formatting commands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101430-74C2-5040-84E6-10C35A4A523D}"/>
              </a:ext>
            </a:extLst>
          </p:cNvPr>
          <p:cNvSpPr/>
          <p:nvPr/>
        </p:nvSpPr>
        <p:spPr>
          <a:xfrm>
            <a:off x="1573067" y="1985650"/>
            <a:ext cx="8345996" cy="42165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2400" dirty="0"/>
              <a:t>Here are some other examples of other 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en-GB" sz="2400" dirty="0"/>
              <a:t> formatting commands in Google Sheets.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Set the text colour to blue:</a:t>
            </a:r>
          </a:p>
          <a:p>
            <a:r>
              <a:rPr lang="en-GB" dirty="0" err="1">
                <a:latin typeface="Courier" pitchFamily="2" charset="0"/>
              </a:rPr>
              <a:t>spreadsheet.getActiveRangeList</a:t>
            </a:r>
            <a:r>
              <a:rPr lang="en-GB" dirty="0">
                <a:latin typeface="Courier" pitchFamily="2" charset="0"/>
              </a:rPr>
              <a:t>().</a:t>
            </a:r>
            <a:r>
              <a:rPr lang="en-GB" dirty="0" err="1">
                <a:latin typeface="Courier" pitchFamily="2" charset="0"/>
              </a:rPr>
              <a:t>setFontColor</a:t>
            </a:r>
            <a:r>
              <a:rPr lang="en-GB" dirty="0">
                <a:latin typeface="Courier" pitchFamily="2" charset="0"/>
              </a:rPr>
              <a:t>(‘blue’);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Set the cell background colour to yellow:</a:t>
            </a:r>
          </a:p>
          <a:p>
            <a:r>
              <a:rPr lang="en-GB" dirty="0" err="1">
                <a:latin typeface="Courier" pitchFamily="2" charset="0"/>
              </a:rPr>
              <a:t>spreadsheet.getActiveRangeList</a:t>
            </a:r>
            <a:r>
              <a:rPr lang="en-GB" dirty="0">
                <a:latin typeface="Courier" pitchFamily="2" charset="0"/>
              </a:rPr>
              <a:t>().</a:t>
            </a:r>
            <a:r>
              <a:rPr lang="en-GB" dirty="0" err="1">
                <a:latin typeface="Courier" pitchFamily="2" charset="0"/>
              </a:rPr>
              <a:t>setBackground</a:t>
            </a:r>
            <a:r>
              <a:rPr lang="en-GB" dirty="0">
                <a:latin typeface="Courier" pitchFamily="2" charset="0"/>
              </a:rPr>
              <a:t>(‘yellow’);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Change the font to Courier:</a:t>
            </a:r>
          </a:p>
          <a:p>
            <a:r>
              <a:rPr lang="en-GB" dirty="0" err="1">
                <a:latin typeface="Courier" pitchFamily="2" charset="0"/>
              </a:rPr>
              <a:t>spreadsheet.getActiveRangeList</a:t>
            </a:r>
            <a:r>
              <a:rPr lang="en-GB" dirty="0">
                <a:latin typeface="Courier" pitchFamily="2" charset="0"/>
              </a:rPr>
              <a:t>().</a:t>
            </a:r>
            <a:r>
              <a:rPr lang="en-GB" dirty="0" err="1">
                <a:latin typeface="Courier" pitchFamily="2" charset="0"/>
              </a:rPr>
              <a:t>setFontFamily</a:t>
            </a:r>
            <a:r>
              <a:rPr lang="en-GB" dirty="0">
                <a:latin typeface="Courier" pitchFamily="2" charset="0"/>
              </a:rPr>
              <a:t>(‘Courier’);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Change the font size to 16 point:</a:t>
            </a:r>
          </a:p>
          <a:p>
            <a:r>
              <a:rPr lang="en-GB" dirty="0" err="1">
                <a:latin typeface="Courier" pitchFamily="2" charset="0"/>
              </a:rPr>
              <a:t>spreadsheet.getActiveRangeList</a:t>
            </a:r>
            <a:r>
              <a:rPr lang="en-GB" dirty="0">
                <a:latin typeface="Courier" pitchFamily="2" charset="0"/>
              </a:rPr>
              <a:t>().</a:t>
            </a:r>
            <a:r>
              <a:rPr lang="en-GB" dirty="0" err="1">
                <a:latin typeface="Courier" pitchFamily="2" charset="0"/>
              </a:rPr>
              <a:t>setFontSize</a:t>
            </a:r>
            <a:r>
              <a:rPr lang="en-GB" dirty="0">
                <a:latin typeface="Courier" pitchFamily="2" charset="0"/>
              </a:rPr>
              <a:t>(16);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Set the font to bold:</a:t>
            </a:r>
          </a:p>
          <a:p>
            <a:r>
              <a:rPr lang="en-GB" dirty="0" err="1">
                <a:latin typeface="Courier" pitchFamily="2" charset="0"/>
              </a:rPr>
              <a:t>spreadsheet.getActiveRangeList</a:t>
            </a:r>
            <a:r>
              <a:rPr lang="en-GB" dirty="0">
                <a:latin typeface="Courier" pitchFamily="2" charset="0"/>
              </a:rPr>
              <a:t>().</a:t>
            </a:r>
            <a:r>
              <a:rPr lang="en-GB" dirty="0" err="1">
                <a:latin typeface="Courier" pitchFamily="2" charset="0"/>
              </a:rPr>
              <a:t>setFontWeight</a:t>
            </a:r>
            <a:r>
              <a:rPr lang="en-GB" dirty="0">
                <a:latin typeface="Courier" pitchFamily="2" charset="0"/>
              </a:rPr>
              <a:t>(‘bold’);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E0D849-5CC9-3C49-AB0F-B2346165C8FB}"/>
              </a:ext>
            </a:extLst>
          </p:cNvPr>
          <p:cNvSpPr/>
          <p:nvPr/>
        </p:nvSpPr>
        <p:spPr>
          <a:xfrm>
            <a:off x="9691788" y="3355255"/>
            <a:ext cx="234970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400" i="1" dirty="0">
                <a:latin typeface="Calibri" panose="020F0502020204030204" pitchFamily="34" charset="0"/>
                <a:ea typeface="Times New Roman" panose="02020603050405020304" pitchFamily="18" charset="0"/>
              </a:rPr>
              <a:t>Now watch Video 3.3 (Google Sheets)</a:t>
            </a:r>
            <a:endParaRPr lang="en-GB" sz="2400" i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3422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2854" y="808171"/>
            <a:ext cx="10037685" cy="810904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3.2: Editing macros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9922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2854" y="808171"/>
            <a:ext cx="10037685" cy="810904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Quiz 3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5464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</TotalTime>
  <Words>1215</Words>
  <Application>Microsoft Office PowerPoint</Application>
  <PresentationFormat>Widescreen</PresentationFormat>
  <Paragraphs>103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Arial</vt:lpstr>
      <vt:lpstr>Calibri</vt:lpstr>
      <vt:lpstr>Calibri Light</vt:lpstr>
      <vt:lpstr>Courier</vt:lpstr>
      <vt:lpstr>Courier New</vt:lpstr>
      <vt:lpstr>Symbol</vt:lpstr>
      <vt:lpstr>Times New Roman</vt:lpstr>
      <vt:lpstr>Office Theme</vt:lpstr>
      <vt:lpstr>Advanced spreadsheets</vt:lpstr>
      <vt:lpstr>Objectives</vt:lpstr>
      <vt:lpstr>Robots </vt:lpstr>
      <vt:lpstr>Macros </vt:lpstr>
      <vt:lpstr>Macros </vt:lpstr>
      <vt:lpstr>Recording macros </vt:lpstr>
      <vt:lpstr>Recording macros </vt:lpstr>
      <vt:lpstr>Assigning macros </vt:lpstr>
      <vt:lpstr>Assigning macros </vt:lpstr>
      <vt:lpstr>Activity 3.1: Pizza orders (Part 3, Excel)</vt:lpstr>
      <vt:lpstr>Activity 3.1: Pizza orders (Part 3, Google)</vt:lpstr>
      <vt:lpstr>Editing a macro </vt:lpstr>
      <vt:lpstr>Changing the text colour </vt:lpstr>
      <vt:lpstr>Other vb formatting commands </vt:lpstr>
      <vt:lpstr>Editing a macro </vt:lpstr>
      <vt:lpstr>Changing the text colour </vt:lpstr>
      <vt:lpstr>Other JavaScript formatting commands </vt:lpstr>
      <vt:lpstr>Activity 3.2: Editing macros</vt:lpstr>
      <vt:lpstr>Quiz 3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42</cp:revision>
  <dcterms:created xsi:type="dcterms:W3CDTF">2020-11-04T15:22:46Z</dcterms:created>
  <dcterms:modified xsi:type="dcterms:W3CDTF">2021-06-14T15:40:44Z</dcterms:modified>
</cp:coreProperties>
</file>