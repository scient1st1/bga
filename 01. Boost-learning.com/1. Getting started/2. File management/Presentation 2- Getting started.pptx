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3" r:id="rId5"/>
    <p:sldId id="274" r:id="rId6"/>
    <p:sldId id="275" r:id="rId7"/>
    <p:sldId id="276" r:id="rId8"/>
    <p:sldId id="263" r:id="rId9"/>
    <p:sldId id="277" r:id="rId10"/>
    <p:sldId id="278" r:id="rId11"/>
    <p:sldId id="279" r:id="rId12"/>
    <p:sldId id="280" r:id="rId13"/>
    <p:sldId id="281" r:id="rId14"/>
    <p:sldId id="282" r:id="rId15"/>
    <p:sldId id="284" r:id="rId16"/>
    <p:sldId id="28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9B4"/>
    <a:srgbClr val="E84E0E"/>
    <a:srgbClr val="ED8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329" autoAdjust="0"/>
    <p:restoredTop sz="94660"/>
  </p:normalViewPr>
  <p:slideViewPr>
    <p:cSldViewPr snapToGrid="0">
      <p:cViewPr varScale="1">
        <p:scale>
          <a:sx n="70" d="100"/>
          <a:sy n="70" d="100"/>
        </p:scale>
        <p:origin x="84" y="14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05/07/2021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rectangle&#10;&#10;Description automatically generated">
            <a:extLst>
              <a:ext uri="{FF2B5EF4-FFF2-40B4-BE49-F238E27FC236}">
                <a16:creationId xmlns:a16="http://schemas.microsoft.com/office/drawing/2014/main" id="{80040EBE-1101-1E45-9013-1637FEE48CC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5758"/>
            <a:ext cx="12192000" cy="1656196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8896" y="3010438"/>
            <a:ext cx="4717104" cy="915850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Getting started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378896" y="3926287"/>
            <a:ext cx="5976316" cy="42550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</a:pPr>
            <a:r>
              <a:rPr lang="en-GB" sz="2000" b="1" kern="0" dirty="0">
                <a:solidFill>
                  <a:srgbClr val="E84E0E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Lesson 2: File management, cloud computing and VLEs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A8442B-4615-1E43-9F2B-C716E6599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531599"/>
            <a:ext cx="3507435" cy="278937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2903594" cy="766349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268699-9BC3-46AB-BCF2-8098607757C4}"/>
              </a:ext>
            </a:extLst>
          </p:cNvPr>
          <p:cNvSpPr/>
          <p:nvPr/>
        </p:nvSpPr>
        <p:spPr>
          <a:xfrm>
            <a:off x="1584000" y="2582614"/>
            <a:ext cx="8859411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save and organise files effectively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about cloud computing 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to access material and submit work via the school’s VLE.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BFF062-4D94-4475-A473-3DEB8FDEA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190" y="1933687"/>
            <a:ext cx="4541620" cy="424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7598501" cy="76634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Files and folders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9C780D-330F-4641-A1B6-7FED14A815DD}"/>
              </a:ext>
            </a:extLst>
          </p:cNvPr>
          <p:cNvSpPr/>
          <p:nvPr/>
        </p:nvSpPr>
        <p:spPr>
          <a:xfrm>
            <a:off x="1584000" y="2284463"/>
            <a:ext cx="79931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data stored on a computer is saved to a </a:t>
            </a:r>
            <a:r>
              <a:rPr lang="en-GB" sz="26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</a:t>
            </a: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file that contains text is often referred to as a </a:t>
            </a:r>
            <a:r>
              <a:rPr lang="en-GB" sz="26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</a:t>
            </a: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This is because it is like a piece of paper that has been written on.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selection of files can be stored in a</a:t>
            </a:r>
            <a:r>
              <a:rPr lang="en-GB" sz="2600" b="1" dirty="0">
                <a:solidFill>
                  <a:srgbClr val="C4591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6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folder</a:t>
            </a: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26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folder can also contain other folders, which are technically then called sub-folders.</a:t>
            </a:r>
          </a:p>
        </p:txBody>
      </p:sp>
    </p:spTree>
    <p:extLst>
      <p:ext uri="{BB962C8B-B14F-4D97-AF65-F5344CB8AC3E}">
        <p14:creationId xmlns:p14="http://schemas.microsoft.com/office/powerpoint/2010/main" val="1378247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4990055" cy="766349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Organising files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A76B4AD-B88B-41E1-B150-327110B5FEFA}"/>
              </a:ext>
            </a:extLst>
          </p:cNvPr>
          <p:cNvSpPr/>
          <p:nvPr/>
        </p:nvSpPr>
        <p:spPr>
          <a:xfrm>
            <a:off x="1584000" y="2233061"/>
            <a:ext cx="32412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 help us find our files quickly, it is good practice to use: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relevant file names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relevant folder names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sensible folder and sub-folder structure.</a:t>
            </a: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FC7FF7E-E9AD-4DC8-9E88-9BB503887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973" y="1959033"/>
            <a:ext cx="5294152" cy="432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6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066" y="791999"/>
            <a:ext cx="7714746" cy="766349"/>
          </a:xfrm>
        </p:spPr>
        <p:txBody>
          <a:bodyPr>
            <a:normAutofit fontScale="90000"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2.1: School file management </a:t>
            </a:r>
          </a:p>
        </p:txBody>
      </p:sp>
      <p:pic>
        <p:nvPicPr>
          <p:cNvPr id="6" name="Picture 5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D5494213-A67F-294D-936E-E4904A2D4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3494" y="1937210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168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4990055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File extensions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E7B8EC-FC08-4EA5-8B8E-FE02FF11DBE6}"/>
              </a:ext>
            </a:extLst>
          </p:cNvPr>
          <p:cNvSpPr/>
          <p:nvPr/>
        </p:nvSpPr>
        <p:spPr>
          <a:xfrm>
            <a:off x="1584000" y="2358189"/>
            <a:ext cx="8695781" cy="24365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When we save a file, we give it a name; for example, ‘</a:t>
            </a:r>
            <a:r>
              <a:rPr lang="en-GB" sz="3200" dirty="0" err="1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History_Project</a:t>
            </a:r>
            <a:r>
              <a:rPr lang="en-GB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’.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software then adds a </a:t>
            </a:r>
            <a:r>
              <a:rPr lang="en-GB" sz="32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extension</a:t>
            </a:r>
            <a:r>
              <a:rPr lang="en-GB" sz="3200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32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that tells the computer what type of file it is. The file extension is usually three or four characters long.</a:t>
            </a:r>
          </a:p>
        </p:txBody>
      </p:sp>
    </p:spTree>
    <p:extLst>
      <p:ext uri="{BB962C8B-B14F-4D97-AF65-F5344CB8AC3E}">
        <p14:creationId xmlns:p14="http://schemas.microsoft.com/office/powerpoint/2010/main" val="3659595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File extensions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9F486F-8703-8C44-80BF-3F39812FB710}"/>
              </a:ext>
            </a:extLst>
          </p:cNvPr>
          <p:cNvSpPr/>
          <p:nvPr/>
        </p:nvSpPr>
        <p:spPr>
          <a:xfrm>
            <a:off x="1589632" y="2034513"/>
            <a:ext cx="51925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sz="28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common file extensions are: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DC9CF4-2A73-424E-962C-38EF69CCD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034442"/>
              </p:ext>
            </p:extLst>
          </p:nvPr>
        </p:nvGraphicFramePr>
        <p:xfrm>
          <a:off x="2481943" y="2950029"/>
          <a:ext cx="6567054" cy="2833256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3230088">
                  <a:extLst>
                    <a:ext uri="{9D8B030D-6E8A-4147-A177-3AD203B41FA5}">
                      <a16:colId xmlns:a16="http://schemas.microsoft.com/office/drawing/2014/main" val="1147885048"/>
                    </a:ext>
                  </a:extLst>
                </a:gridCol>
                <a:gridCol w="3336966">
                  <a:extLst>
                    <a:ext uri="{9D8B030D-6E8A-4147-A177-3AD203B41FA5}">
                      <a16:colId xmlns:a16="http://schemas.microsoft.com/office/drawing/2014/main" val="794131907"/>
                    </a:ext>
                  </a:extLst>
                </a:gridCol>
              </a:tblGrid>
              <a:tr h="454066">
                <a:tc>
                  <a:txBody>
                    <a:bodyPr/>
                    <a:lstStyle/>
                    <a:p>
                      <a:pPr algn="l"/>
                      <a:r>
                        <a:rPr lang="en-GB" sz="2400" b="1" dirty="0">
                          <a:effectLst/>
                        </a:rPr>
                        <a:t>Extension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b="1" dirty="0">
                          <a:effectLst/>
                        </a:rPr>
                        <a:t>File type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111691"/>
                  </a:ext>
                </a:extLst>
              </a:tr>
              <a:tr h="475838"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.doc / .docx / .pdf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>
                          <a:effectLst/>
                        </a:rPr>
                        <a:t>Document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650507"/>
                  </a:ext>
                </a:extLst>
              </a:tr>
              <a:tr h="475838"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.</a:t>
                      </a:r>
                      <a:r>
                        <a:rPr lang="en-GB" sz="2400" dirty="0" err="1">
                          <a:effectLst/>
                        </a:rPr>
                        <a:t>xls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Spreadsheet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60023"/>
                  </a:ext>
                </a:extLst>
              </a:tr>
              <a:tr h="475838">
                <a:tc>
                  <a:txBody>
                    <a:bodyPr/>
                    <a:lstStyle/>
                    <a:p>
                      <a:pPr algn="l"/>
                      <a:r>
                        <a:rPr lang="en-GB" sz="2400">
                          <a:effectLst/>
                        </a:rPr>
                        <a:t>.png / .jpg </a:t>
                      </a:r>
                      <a:endParaRPr lang="en-GB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Image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116497"/>
                  </a:ext>
                </a:extLst>
              </a:tr>
              <a:tr h="475838"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.mp3 / .wav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Audio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7938061"/>
                  </a:ext>
                </a:extLst>
              </a:tr>
              <a:tr h="475838"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.mp4 / .mov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2400" dirty="0">
                          <a:effectLst/>
                        </a:rPr>
                        <a:t>Video</a:t>
                      </a:r>
                      <a:endParaRPr lang="en-GB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119254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9437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A03D0F-4114-EB45-A33A-F9CD049A03FD}"/>
              </a:ext>
            </a:extLst>
          </p:cNvPr>
          <p:cNvSpPr txBox="1"/>
          <p:nvPr/>
        </p:nvSpPr>
        <p:spPr>
          <a:xfrm>
            <a:off x="1617785" y="759656"/>
            <a:ext cx="3640933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GB" sz="4400" b="1" dirty="0">
                <a:solidFill>
                  <a:prstClr val="white"/>
                </a:solidFill>
                <a:latin typeface="Calibri Light" panose="020F0302020204030204"/>
              </a:rPr>
              <a:t>File extensions </a:t>
            </a:r>
            <a:endParaRPr lang="en-US" sz="4400" dirty="0">
              <a:solidFill>
                <a:prstClr val="black"/>
              </a:solidFill>
            </a:endParaRPr>
          </a:p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4A889-DD19-6D4B-B629-9AE71599563A}"/>
              </a:ext>
            </a:extLst>
          </p:cNvPr>
          <p:cNvSpPr/>
          <p:nvPr/>
        </p:nvSpPr>
        <p:spPr>
          <a:xfrm>
            <a:off x="1617785" y="2197966"/>
            <a:ext cx="536894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file extension enables the computer to use the correct software when you double click on a file to </a:t>
            </a:r>
          </a:p>
          <a:p>
            <a:pPr lvl="0"/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 it.</a:t>
            </a:r>
          </a:p>
          <a:p>
            <a:pPr lvl="0"/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File extensions can also be used to search for files of a particular type if they have not been saved correctly.</a:t>
            </a: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7938C115-9B09-4A6B-B74F-614C884A53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827" b="12048"/>
          <a:stretch/>
        </p:blipFill>
        <p:spPr>
          <a:xfrm>
            <a:off x="7408025" y="2055924"/>
            <a:ext cx="3166190" cy="411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prstClr val="white"/>
                </a:solidFill>
              </a:rPr>
              <a:t>Saving work</a:t>
            </a:r>
            <a:r>
              <a:rPr lang="en-GB" sz="4000" b="1" dirty="0">
                <a:solidFill>
                  <a:prstClr val="white"/>
                </a:solidFill>
              </a:rPr>
              <a:t> </a:t>
            </a:r>
            <a:endParaRPr lang="en-GB" b="1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673F43-FF02-8E4C-9987-063CF31DBB53}"/>
              </a:ext>
            </a:extLst>
          </p:cNvPr>
          <p:cNvSpPr/>
          <p:nvPr/>
        </p:nvSpPr>
        <p:spPr>
          <a:xfrm>
            <a:off x="1589631" y="1859340"/>
            <a:ext cx="804673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GB" sz="24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The first time you save a piece of work, make sure you give it a suitable name and save it to the correct folder.</a:t>
            </a:r>
          </a:p>
          <a:p>
            <a:pPr lvl="0"/>
            <a:endParaRPr lang="en-GB" sz="24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24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You can then save changes to the original file quickly and easily using shortcut keys: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CTRL+S</a:t>
            </a:r>
            <a:r>
              <a:rPr lang="en-GB" sz="24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in Windows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b="1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CMD+S</a:t>
            </a:r>
            <a:r>
              <a:rPr lang="en-GB" sz="24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 in macOS</a:t>
            </a:r>
          </a:p>
          <a:p>
            <a:pPr lvl="0"/>
            <a:endParaRPr lang="en-GB" sz="2400" dirty="0">
              <a:solidFill>
                <a:prstClr val="black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r>
              <a:rPr lang="en-GB" sz="2400" dirty="0">
                <a:solidFill>
                  <a:prstClr val="black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If you do not want to overwrite the original file, choose ‘Save As’ from the ‘File’ menu to save a copy of your work. Give the new file a suitable name and save it to the correct folder.</a:t>
            </a:r>
          </a:p>
        </p:txBody>
      </p:sp>
    </p:spTree>
    <p:extLst>
      <p:ext uri="{BB962C8B-B14F-4D97-AF65-F5344CB8AC3E}">
        <p14:creationId xmlns:p14="http://schemas.microsoft.com/office/powerpoint/2010/main" val="1109557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hape, arrow&#10;&#10;Description automatically generated">
            <a:extLst>
              <a:ext uri="{FF2B5EF4-FFF2-40B4-BE49-F238E27FC236}">
                <a16:creationId xmlns:a16="http://schemas.microsoft.com/office/drawing/2014/main" id="{50EFBD7A-1F6E-4E89-8CD1-EC85C8D3A83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3224" y="1886041"/>
            <a:ext cx="5585552" cy="463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27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4000" y="792000"/>
            <a:ext cx="813884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Cloud computing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E7FC76-CF35-4574-84C9-240AF321C068}"/>
              </a:ext>
            </a:extLst>
          </p:cNvPr>
          <p:cNvSpPr/>
          <p:nvPr/>
        </p:nvSpPr>
        <p:spPr>
          <a:xfrm>
            <a:off x="1577769" y="2081630"/>
            <a:ext cx="805450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 computing</a:t>
            </a:r>
            <a:r>
              <a:rPr lang="en-GB" sz="2400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 where data is stored online and software is used via an internet browser, rather than being stored locally on a computer’s hard drive.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data and software files are saved on a </a:t>
            </a:r>
            <a:r>
              <a:rPr lang="en-GB" sz="2400" b="1" dirty="0">
                <a:solidFill>
                  <a:srgbClr val="0069B4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</a:t>
            </a:r>
            <a:r>
              <a:rPr lang="en-GB" sz="2400" dirty="0"/>
              <a:t>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Server farms are located all around the world so you do not know where your data is physically being saved when you store it in the cloud.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cloud storage are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Drive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OneDrive®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400" b="1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Dropbox</a:t>
            </a:r>
            <a:r>
              <a:rPr lang="en-GB" sz="2400" b="1" baseline="300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TM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Examples of internet-based software are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Microsoft 365®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Google Docs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0"/>
              </a:spcAft>
            </a:pPr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972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Advantages of cloud computing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5BE9F1-BE11-6B4D-A3C1-6D5A38AD8A65}"/>
              </a:ext>
            </a:extLst>
          </p:cNvPr>
          <p:cNvSpPr/>
          <p:nvPr/>
        </p:nvSpPr>
        <p:spPr>
          <a:xfrm>
            <a:off x="1589632" y="2274838"/>
            <a:ext cx="77981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is backed up automatically.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Documents and files can be used on any computer with an internet connection.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software is updated online so you are always using the latest version.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Documents and files can be shared easily with other users.</a:t>
            </a:r>
          </a:p>
        </p:txBody>
      </p:sp>
    </p:spTree>
    <p:extLst>
      <p:ext uri="{BB962C8B-B14F-4D97-AF65-F5344CB8AC3E}">
        <p14:creationId xmlns:p14="http://schemas.microsoft.com/office/powerpoint/2010/main" val="1681738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Disadvantages of cloud computing</a:t>
            </a:r>
            <a:r>
              <a:rPr lang="en-GB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4A694-D564-C84F-B911-8A4C99C0A0AF}"/>
              </a:ext>
            </a:extLst>
          </p:cNvPr>
          <p:cNvSpPr/>
          <p:nvPr/>
        </p:nvSpPr>
        <p:spPr>
          <a:xfrm>
            <a:off x="1589632" y="2237536"/>
            <a:ext cx="836223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data and software can only be accessed if you have an internet connection.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Cloud-based software does not usually have as many functions as downloadable software.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Free storage is limited.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Ongoing subscriptions can become costly over time.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Users can lose legal rights to their material if it is stored online.</a:t>
            </a:r>
          </a:p>
          <a:p>
            <a:pPr marL="342900" lvl="0" indent="-342900">
              <a:buFont typeface="Symbol" pitchFamily="2" charset="2"/>
              <a:buChar char=""/>
            </a:pPr>
            <a:r>
              <a:rPr lang="en-GB" sz="2400" dirty="0">
                <a:solidFill>
                  <a:prstClr val="black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 may be more vulnerable to being stolen if it is stored online.</a:t>
            </a:r>
          </a:p>
        </p:txBody>
      </p:sp>
    </p:spTree>
    <p:extLst>
      <p:ext uri="{BB962C8B-B14F-4D97-AF65-F5344CB8AC3E}">
        <p14:creationId xmlns:p14="http://schemas.microsoft.com/office/powerpoint/2010/main" val="2978861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F948E-A6D2-F143-A722-C61704F0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649019"/>
            <a:ext cx="10515600" cy="1176606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2.2: File types and extensions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38B77-456A-4647-A1B6-E85155ED9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588" y="3452458"/>
            <a:ext cx="4151050" cy="864309"/>
          </a:xfrm>
        </p:spPr>
        <p:txBody>
          <a:bodyPr/>
          <a:lstStyle/>
          <a:p>
            <a:pPr marL="0" lvl="0" indent="0">
              <a:buNone/>
            </a:pPr>
            <a:r>
              <a:rPr lang="en-GB" dirty="0">
                <a:solidFill>
                  <a:prstClr val="black"/>
                </a:solidFill>
              </a:rPr>
              <a:t>Log into your VLE to access </a:t>
            </a:r>
            <a:r>
              <a:rPr lang="en-GB" dirty="0" smtClean="0">
                <a:solidFill>
                  <a:prstClr val="black"/>
                </a:solidFill>
              </a:rPr>
              <a:t>the </a:t>
            </a:r>
            <a:r>
              <a:rPr lang="en-GB" dirty="0">
                <a:solidFill>
                  <a:prstClr val="black"/>
                </a:solidFill>
              </a:rPr>
              <a:t>activity.</a:t>
            </a:r>
          </a:p>
          <a:p>
            <a:endParaRPr lang="en-US" dirty="0"/>
          </a:p>
        </p:txBody>
      </p:sp>
      <p:pic>
        <p:nvPicPr>
          <p:cNvPr id="4" name="Picture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B85F79A5-39FB-5047-BC3A-312CAE677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57643"/>
            <a:ext cx="444110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907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17E3F-6113-284B-87E4-59D3B2D0D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500062"/>
            <a:ext cx="10515600" cy="132556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Quiz 2 </a:t>
            </a:r>
            <a:endParaRPr lang="en-US" dirty="0"/>
          </a:p>
        </p:txBody>
      </p:sp>
      <p:pic>
        <p:nvPicPr>
          <p:cNvPr id="4" name="Content Placeholder 3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466373F4-C8E2-0940-BBF2-F24088DDE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8223" y="2234739"/>
            <a:ext cx="4295554" cy="421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852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615</Words>
  <Application>Microsoft Office PowerPoint</Application>
  <PresentationFormat>Widescreen</PresentationFormat>
  <Paragraphs>68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Office Theme</vt:lpstr>
      <vt:lpstr>Getting started</vt:lpstr>
      <vt:lpstr>Objectives</vt:lpstr>
      <vt:lpstr>PowerPoint Presentation</vt:lpstr>
      <vt:lpstr>Files and folders</vt:lpstr>
      <vt:lpstr>Organising files</vt:lpstr>
      <vt:lpstr>Activity 2.1: School file management </vt:lpstr>
      <vt:lpstr>File extensions </vt:lpstr>
      <vt:lpstr>File extensions </vt:lpstr>
      <vt:lpstr>PowerPoint Presentation</vt:lpstr>
      <vt:lpstr>Saving work </vt:lpstr>
      <vt:lpstr>PowerPoint Presentation</vt:lpstr>
      <vt:lpstr>Cloud computing </vt:lpstr>
      <vt:lpstr>Advantages of cloud computing </vt:lpstr>
      <vt:lpstr>Disadvantages of cloud computing </vt:lpstr>
      <vt:lpstr>Activity 2.2: File types and extensions </vt:lpstr>
      <vt:lpstr>Quiz 2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Windows User</cp:lastModifiedBy>
  <cp:revision>27</cp:revision>
  <dcterms:created xsi:type="dcterms:W3CDTF">2020-11-04T15:22:46Z</dcterms:created>
  <dcterms:modified xsi:type="dcterms:W3CDTF">2021-07-05T15:55:58Z</dcterms:modified>
</cp:coreProperties>
</file>