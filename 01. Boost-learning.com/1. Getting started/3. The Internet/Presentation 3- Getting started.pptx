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3" r:id="rId5"/>
    <p:sldId id="274" r:id="rId6"/>
    <p:sldId id="275" r:id="rId7"/>
    <p:sldId id="276" r:id="rId8"/>
    <p:sldId id="263" r:id="rId9"/>
    <p:sldId id="277" r:id="rId10"/>
    <p:sldId id="278" r:id="rId11"/>
    <p:sldId id="279" r:id="rId12"/>
    <p:sldId id="280" r:id="rId13"/>
    <p:sldId id="281" r:id="rId14"/>
    <p:sldId id="282" r:id="rId15"/>
    <p:sldId id="284" r:id="rId16"/>
    <p:sldId id="28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9B4"/>
    <a:srgbClr val="E84E0E"/>
    <a:srgbClr val="ED8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345" autoAdjust="0"/>
    <p:restoredTop sz="94660"/>
  </p:normalViewPr>
  <p:slideViewPr>
    <p:cSldViewPr snapToGrid="0">
      <p:cViewPr varScale="1">
        <p:scale>
          <a:sx n="70" d="100"/>
          <a:sy n="70" d="100"/>
        </p:scale>
        <p:origin x="84" y="1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05/07/2021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80040EBE-1101-1E45-9013-1637FEE48CC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758"/>
            <a:ext cx="12192000" cy="16561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8896" y="3010438"/>
            <a:ext cx="4717104" cy="915850"/>
          </a:xfrm>
        </p:spPr>
        <p:txBody>
          <a:bodyPr>
            <a:normAutofit/>
          </a:bodyPr>
          <a:lstStyle/>
          <a:p>
            <a:pPr algn="l"/>
            <a:r>
              <a:rPr lang="en-GB" b="1" dirty="0"/>
              <a:t>Getting started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1378896" y="3926287"/>
            <a:ext cx="4868640" cy="4255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b="1" kern="0" dirty="0">
                <a:solidFill>
                  <a:srgbClr val="E84E0E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Lesson 3: The internet and digital wellbeing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A8442B-4615-1E43-9F2B-C716E6599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669" y="2531599"/>
            <a:ext cx="3507435" cy="27893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2903594" cy="766349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268699-9BC3-46AB-BCF2-8098607757C4}"/>
              </a:ext>
            </a:extLst>
          </p:cNvPr>
          <p:cNvSpPr/>
          <p:nvPr/>
        </p:nvSpPr>
        <p:spPr>
          <a:xfrm>
            <a:off x="1584000" y="2517503"/>
            <a:ext cx="8859411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learn: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appropriate use of digital resources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using the internet for research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digital wellbeing.</a:t>
            </a:r>
          </a:p>
          <a:p>
            <a:pPr lvl="0"/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279A7070-4E5C-4BD1-A297-FDE0E043736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511" y="2003195"/>
            <a:ext cx="7954978" cy="428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835504"/>
            <a:ext cx="7598501" cy="766349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The 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9C780D-330F-4641-A1B6-7FED14A815DD}"/>
              </a:ext>
            </a:extLst>
          </p:cNvPr>
          <p:cNvSpPr/>
          <p:nvPr/>
        </p:nvSpPr>
        <p:spPr>
          <a:xfrm>
            <a:off x="1584000" y="1906901"/>
            <a:ext cx="8369297" cy="43140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internet</a:t>
            </a: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a global network that connects computers across the world so that they can communicate with one another.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These computers include servers hosting software, music and video that you can access via the internet.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internet is somewhere to: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find out information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watch videos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play games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connect with friends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137824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9969713" cy="766349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What should you use the internet for at school?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76B4AD-B88B-41E1-B150-327110B5FEFA}"/>
              </a:ext>
            </a:extLst>
          </p:cNvPr>
          <p:cNvSpPr/>
          <p:nvPr/>
        </p:nvSpPr>
        <p:spPr>
          <a:xfrm>
            <a:off x="1584000" y="2521059"/>
            <a:ext cx="4953435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Accessing and handing in work via the VLE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Emailing teachers</a:t>
            </a:r>
          </a:p>
        </p:txBody>
      </p:sp>
      <p:pic>
        <p:nvPicPr>
          <p:cNvPr id="7" name="Picture 6" descr="A picture containing bubble chart&#10;&#10;Description automatically generated">
            <a:extLst>
              <a:ext uri="{FF2B5EF4-FFF2-40B4-BE49-F238E27FC236}">
                <a16:creationId xmlns:a16="http://schemas.microsoft.com/office/drawing/2014/main" id="{28311558-6354-4D44-8C42-198CE4F04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856" y="2253848"/>
            <a:ext cx="3580665" cy="367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2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308" y="824272"/>
            <a:ext cx="8298969" cy="766349"/>
          </a:xfrm>
        </p:spPr>
        <p:txBody>
          <a:bodyPr>
            <a:noAutofit/>
          </a:bodyPr>
          <a:lstStyle/>
          <a:p>
            <a:r>
              <a:rPr lang="en-GB" sz="3500" b="1" dirty="0">
                <a:solidFill>
                  <a:schemeClr val="bg1"/>
                </a:solidFill>
              </a:rPr>
              <a:t>What should you </a:t>
            </a:r>
            <a:r>
              <a:rPr lang="en-GB" sz="3500" b="1" u="sng" dirty="0">
                <a:solidFill>
                  <a:schemeClr val="bg1"/>
                </a:solidFill>
              </a:rPr>
              <a:t>not </a:t>
            </a:r>
            <a:r>
              <a:rPr lang="en-GB" sz="3500" b="1" dirty="0">
                <a:solidFill>
                  <a:schemeClr val="bg1"/>
                </a:solidFill>
              </a:rPr>
              <a:t>use the internet</a:t>
            </a:r>
            <a:br>
              <a:rPr lang="en-GB" sz="3500" b="1" dirty="0">
                <a:solidFill>
                  <a:schemeClr val="bg1"/>
                </a:solidFill>
              </a:rPr>
            </a:br>
            <a:r>
              <a:rPr lang="en-GB" sz="3500" b="1" dirty="0">
                <a:solidFill>
                  <a:schemeClr val="bg1"/>
                </a:solidFill>
              </a:rPr>
              <a:t> for at school?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A19110-0AF2-184E-96D2-C64696A012C6}"/>
              </a:ext>
            </a:extLst>
          </p:cNvPr>
          <p:cNvSpPr/>
          <p:nvPr/>
        </p:nvSpPr>
        <p:spPr>
          <a:xfrm>
            <a:off x="1587308" y="2273970"/>
            <a:ext cx="4792471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Playing games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Watching videos or listening to music*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Messaging friends</a:t>
            </a:r>
          </a:p>
          <a:p>
            <a:endParaRPr lang="en-GB" sz="2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*Unless this is something you have been asked to do as part of a lesson.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03EC900B-658D-4921-A3DF-D08F3857EC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8856" y="2273970"/>
            <a:ext cx="3580665" cy="368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168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6936056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Information on the 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E7B8EC-FC08-4EA5-8B8E-FE02FF11DBE6}"/>
              </a:ext>
            </a:extLst>
          </p:cNvPr>
          <p:cNvSpPr/>
          <p:nvPr/>
        </p:nvSpPr>
        <p:spPr>
          <a:xfrm>
            <a:off x="1584000" y="2358189"/>
            <a:ext cx="8695781" cy="37179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GB" sz="2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There is a great deal of fantastic stuff on the internet and it is a really useful place to gather information about all sorts of subjects.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GB" sz="2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However, alongside all the accurate information there is a lot of unreliable and even incorrect and misleading information.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GB" sz="2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Some websites are written by non-specialists who present their own thoughts and ideas on a subject as facts.</a:t>
            </a:r>
          </a:p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en-GB" sz="2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Other websites are written by very knowledgeable people but are biased because they present just one side of the story.</a:t>
            </a:r>
          </a:p>
        </p:txBody>
      </p:sp>
    </p:spTree>
    <p:extLst>
      <p:ext uri="{BB962C8B-B14F-4D97-AF65-F5344CB8AC3E}">
        <p14:creationId xmlns:p14="http://schemas.microsoft.com/office/powerpoint/2010/main" val="3659595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Autofit/>
          </a:bodyPr>
          <a:lstStyle/>
          <a:p>
            <a:r>
              <a:rPr lang="en-GB" sz="3400" b="1" dirty="0">
                <a:solidFill>
                  <a:schemeClr val="bg1"/>
                </a:solidFill>
              </a:rPr>
              <a:t>How can we work out if information on </a:t>
            </a:r>
            <a:br>
              <a:rPr lang="en-GB" sz="3400" b="1" dirty="0">
                <a:solidFill>
                  <a:schemeClr val="bg1"/>
                </a:solidFill>
              </a:rPr>
            </a:br>
            <a:r>
              <a:rPr lang="en-GB" sz="3400" b="1" dirty="0">
                <a:solidFill>
                  <a:schemeClr val="bg1"/>
                </a:solidFill>
              </a:rPr>
              <a:t>the internet is trustworthy?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9F486F-8703-8C44-80BF-3F39812FB710}"/>
              </a:ext>
            </a:extLst>
          </p:cNvPr>
          <p:cNvSpPr/>
          <p:nvPr/>
        </p:nvSpPr>
        <p:spPr>
          <a:xfrm>
            <a:off x="1589632" y="2034513"/>
            <a:ext cx="205101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GB" sz="28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Look out for: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0FD6E6-75CB-174C-AB78-2CE82D7A78DB}"/>
              </a:ext>
            </a:extLst>
          </p:cNvPr>
          <p:cNvSpPr/>
          <p:nvPr/>
        </p:nvSpPr>
        <p:spPr>
          <a:xfrm>
            <a:off x="1589631" y="2557733"/>
            <a:ext cx="8511799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Accuracy: Are there facts and figures to back up opinions?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Currency: When was the article written? Has it been updated recently?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Author: Is the author named? Are they qualified to comment on the subject they are writing about?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Hosting website: Is the organisation hosting the website well known and generally considered to be trustworthy?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Balanced presentation: Are both sides of an argument covered in equal measure?</a:t>
            </a:r>
          </a:p>
          <a:p>
            <a:pPr marL="342900" lvl="0" indent="-342900">
              <a:buFont typeface="Symbol" pitchFamily="2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Professional tone: Is the article well written? It should avoid street language, textspeak and inappropriately emotional language.</a:t>
            </a:r>
          </a:p>
        </p:txBody>
      </p:sp>
    </p:spTree>
    <p:extLst>
      <p:ext uri="{BB962C8B-B14F-4D97-AF65-F5344CB8AC3E}">
        <p14:creationId xmlns:p14="http://schemas.microsoft.com/office/powerpoint/2010/main" val="2669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A03D0F-4114-EB45-A33A-F9CD049A03FD}"/>
              </a:ext>
            </a:extLst>
          </p:cNvPr>
          <p:cNvSpPr txBox="1"/>
          <p:nvPr/>
        </p:nvSpPr>
        <p:spPr>
          <a:xfrm>
            <a:off x="1617785" y="759656"/>
            <a:ext cx="106079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GB" sz="4400" b="1" dirty="0">
                <a:solidFill>
                  <a:prstClr val="white"/>
                </a:solidFill>
                <a:latin typeface="Calibri Light" panose="020F0302020204030204"/>
              </a:rPr>
              <a:t>Top tips for using the internet for research (1)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54A889-DD19-6D4B-B629-9AE71599563A}"/>
              </a:ext>
            </a:extLst>
          </p:cNvPr>
          <p:cNvSpPr/>
          <p:nvPr/>
        </p:nvSpPr>
        <p:spPr>
          <a:xfrm>
            <a:off x="1617785" y="2197967"/>
            <a:ext cx="848364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You will usually begin your research by typing search terms into a search engine.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Use keywords rather than long phrases; for example, type ‘computers history’ to find out how computers have developed over time.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Choose words that are likely to be used on the sites you want to visit.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Don’t worry about small spelling mistakes or capitalisation because the spell checker that is built into a search engine will automatically use the most common spelling.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Use the category options, such as images, videos or news, to limit your search.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Remember that you can type ‘define’ and then a word to find out the word’s dictionary definition.</a:t>
            </a:r>
          </a:p>
        </p:txBody>
      </p:sp>
    </p:spTree>
    <p:extLst>
      <p:ext uri="{BB962C8B-B14F-4D97-AF65-F5344CB8AC3E}">
        <p14:creationId xmlns:p14="http://schemas.microsoft.com/office/powerpoint/2010/main" val="6589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699248"/>
            <a:ext cx="10037685" cy="925158"/>
          </a:xfrm>
        </p:spPr>
        <p:txBody>
          <a:bodyPr>
            <a:normAutofit/>
          </a:bodyPr>
          <a:lstStyle/>
          <a:p>
            <a:r>
              <a:rPr lang="en-GB" sz="4200" b="1" dirty="0">
                <a:solidFill>
                  <a:prstClr val="white"/>
                </a:solidFill>
              </a:rPr>
              <a:t>Top tips for using the internet for research (2) </a:t>
            </a:r>
            <a:endParaRPr lang="en-GB" sz="4200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673F43-FF02-8E4C-9987-063CF31DBB53}"/>
              </a:ext>
            </a:extLst>
          </p:cNvPr>
          <p:cNvSpPr/>
          <p:nvPr/>
        </p:nvSpPr>
        <p:spPr>
          <a:xfrm>
            <a:off x="1589632" y="2090172"/>
            <a:ext cx="8046737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600" dirty="0"/>
              <a:t>Get your information from more than one unrelated source.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600" dirty="0"/>
              <a:t>Make sure all your sources </a:t>
            </a:r>
            <a:r>
              <a:rPr lang="en-GB" sz="2600"/>
              <a:t>are </a:t>
            </a:r>
            <a:r>
              <a:rPr lang="en-GB" sz="2600" smtClean="0"/>
              <a:t>trustworthy.</a:t>
            </a:r>
            <a:endParaRPr lang="en-GB" sz="2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600" dirty="0"/>
              <a:t>See what issues the sources agree on to identify the most accurate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600" dirty="0"/>
              <a:t>Always rewrite the information in your own words, unless you are quoting something.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600" dirty="0"/>
              <a:t>Include a list of the URLs of the sources you have used.</a:t>
            </a:r>
          </a:p>
        </p:txBody>
      </p:sp>
    </p:spTree>
    <p:extLst>
      <p:ext uri="{BB962C8B-B14F-4D97-AF65-F5344CB8AC3E}">
        <p14:creationId xmlns:p14="http://schemas.microsoft.com/office/powerpoint/2010/main" val="1109557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B7430E-7F65-0D43-ABD1-6615CFFC5253}"/>
              </a:ext>
            </a:extLst>
          </p:cNvPr>
          <p:cNvSpPr txBox="1"/>
          <p:nvPr/>
        </p:nvSpPr>
        <p:spPr>
          <a:xfrm>
            <a:off x="1570616" y="801055"/>
            <a:ext cx="10488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Google is the most popular search engine in the world</a:t>
            </a:r>
          </a:p>
        </p:txBody>
      </p:sp>
      <p:pic>
        <p:nvPicPr>
          <p:cNvPr id="5" name="Picture 4" descr="Graphical user interface&#10;&#10;Description automatically generated">
            <a:extLst>
              <a:ext uri="{FF2B5EF4-FFF2-40B4-BE49-F238E27FC236}">
                <a16:creationId xmlns:a16="http://schemas.microsoft.com/office/drawing/2014/main" id="{01BB0A57-51CE-495C-886E-D69E267E4D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6" b="31217"/>
          <a:stretch/>
        </p:blipFill>
        <p:spPr>
          <a:xfrm>
            <a:off x="3541986" y="1754858"/>
            <a:ext cx="5108028" cy="4688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927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3999" y="813020"/>
            <a:ext cx="9903807" cy="766349"/>
          </a:xfrm>
        </p:spPr>
        <p:txBody>
          <a:bodyPr>
            <a:noAutofit/>
          </a:bodyPr>
          <a:lstStyle/>
          <a:p>
            <a:r>
              <a:rPr lang="en-GB" sz="3200" b="1" dirty="0">
                <a:solidFill>
                  <a:schemeClr val="bg1"/>
                </a:solidFill>
              </a:rPr>
              <a:t>Activity 3.1:</a:t>
            </a:r>
            <a:br>
              <a:rPr lang="en-GB" sz="3200" b="1" dirty="0">
                <a:solidFill>
                  <a:schemeClr val="bg1"/>
                </a:solidFill>
              </a:rPr>
            </a:br>
            <a:r>
              <a:rPr lang="en-GB" sz="3200" b="1" dirty="0">
                <a:solidFill>
                  <a:schemeClr val="bg1"/>
                </a:solidFill>
              </a:rPr>
              <a:t>Researching how to use the internet safely and responsibly </a:t>
            </a:r>
          </a:p>
        </p:txBody>
      </p:sp>
      <p:pic>
        <p:nvPicPr>
          <p:cNvPr id="6" name="Picture 5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CE18A05-F22C-D548-90C7-8B345FBFE1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5447" y="1972368"/>
            <a:ext cx="444110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972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Digital wellbeing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5BE9F1-BE11-6B4D-A3C1-6D5A38AD8A65}"/>
              </a:ext>
            </a:extLst>
          </p:cNvPr>
          <p:cNvSpPr/>
          <p:nvPr/>
        </p:nvSpPr>
        <p:spPr>
          <a:xfrm>
            <a:off x="1589632" y="2129806"/>
            <a:ext cx="9092712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GB" sz="28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Digital wellbeing </a:t>
            </a:r>
            <a:r>
              <a:rPr lang="en-GB" sz="28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about having a healthy relationship with technology.</a:t>
            </a:r>
          </a:p>
          <a:p>
            <a:pPr lvl="0"/>
            <a:r>
              <a:rPr lang="en-GB" sz="28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Research suggests that 11-year-olds spend up to 6 hours online every day.</a:t>
            </a:r>
          </a:p>
          <a:p>
            <a:pPr lvl="0"/>
            <a:r>
              <a:rPr lang="en-GB" sz="28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Whether or not this is too much depends on the quality of the content you are looking at and activities you are doing online.</a:t>
            </a:r>
          </a:p>
          <a:p>
            <a:pPr lvl="0"/>
            <a:r>
              <a:rPr lang="en-GB" sz="28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However, too much time spent online can affect your friendships, your health and your performance at school.</a:t>
            </a:r>
          </a:p>
        </p:txBody>
      </p:sp>
    </p:spTree>
    <p:extLst>
      <p:ext uri="{BB962C8B-B14F-4D97-AF65-F5344CB8AC3E}">
        <p14:creationId xmlns:p14="http://schemas.microsoft.com/office/powerpoint/2010/main" val="1681738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Digital wellbeing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A4A694-D564-C84F-B911-8A4C99C0A0AF}"/>
              </a:ext>
            </a:extLst>
          </p:cNvPr>
          <p:cNvSpPr/>
          <p:nvPr/>
        </p:nvSpPr>
        <p:spPr>
          <a:xfrm>
            <a:off x="2098284" y="2828835"/>
            <a:ext cx="799543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GB" sz="36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do you think the effects of spending too much time online might be?</a:t>
            </a:r>
          </a:p>
        </p:txBody>
      </p:sp>
    </p:spTree>
    <p:extLst>
      <p:ext uri="{BB962C8B-B14F-4D97-AF65-F5344CB8AC3E}">
        <p14:creationId xmlns:p14="http://schemas.microsoft.com/office/powerpoint/2010/main" val="2978861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F948E-A6D2-F143-A722-C61704F0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9720" y="649019"/>
            <a:ext cx="10515600" cy="1176606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3.2: Digital wellbeing </a:t>
            </a:r>
            <a:endParaRPr lang="en-US" dirty="0"/>
          </a:p>
        </p:txBody>
      </p:sp>
      <p:pic>
        <p:nvPicPr>
          <p:cNvPr id="4" name="Picture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B85F79A5-39FB-5047-BC3A-312CAE6770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2905" y="1940096"/>
            <a:ext cx="4583648" cy="44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907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17E3F-6113-284B-87E4-59D3B2D0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9720" y="500062"/>
            <a:ext cx="10515600" cy="1325563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Quiz 3 </a:t>
            </a:r>
            <a:endParaRPr lang="en-US" dirty="0"/>
          </a:p>
        </p:txBody>
      </p:sp>
      <p:pic>
        <p:nvPicPr>
          <p:cNvPr id="6" name="Picture 5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D05EF50F-2974-49C6-952B-0785225834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2905" y="1940096"/>
            <a:ext cx="4583648" cy="44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852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</TotalTime>
  <Words>683</Words>
  <Application>Microsoft Office PowerPoint</Application>
  <PresentationFormat>Widescreen</PresentationFormat>
  <Paragraphs>63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Symbol</vt:lpstr>
      <vt:lpstr>Times New Roman</vt:lpstr>
      <vt:lpstr>Office Theme</vt:lpstr>
      <vt:lpstr>Getting started</vt:lpstr>
      <vt:lpstr>Objectives</vt:lpstr>
      <vt:lpstr>PowerPoint Presentation</vt:lpstr>
      <vt:lpstr>The internet</vt:lpstr>
      <vt:lpstr>What should you use the internet for at school?</vt:lpstr>
      <vt:lpstr>What should you not use the internet  for at school? </vt:lpstr>
      <vt:lpstr>Information on the internet</vt:lpstr>
      <vt:lpstr>How can we work out if information on  the internet is trustworthy?</vt:lpstr>
      <vt:lpstr>PowerPoint Presentation</vt:lpstr>
      <vt:lpstr>Top tips for using the internet for research (2) </vt:lpstr>
      <vt:lpstr>PowerPoint Presentation</vt:lpstr>
      <vt:lpstr>Activity 3.1: Researching how to use the internet safely and responsibly </vt:lpstr>
      <vt:lpstr>Digital wellbeing </vt:lpstr>
      <vt:lpstr>Digital wellbeing </vt:lpstr>
      <vt:lpstr>Activity 3.2: Digital wellbeing </vt:lpstr>
      <vt:lpstr>Quiz 3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Windows User</cp:lastModifiedBy>
  <cp:revision>42</cp:revision>
  <dcterms:created xsi:type="dcterms:W3CDTF">2020-11-04T15:22:46Z</dcterms:created>
  <dcterms:modified xsi:type="dcterms:W3CDTF">2021-07-05T15:56:43Z</dcterms:modified>
</cp:coreProperties>
</file>