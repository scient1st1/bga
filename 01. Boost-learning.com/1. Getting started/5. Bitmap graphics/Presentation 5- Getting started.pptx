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3" r:id="rId5"/>
    <p:sldId id="274" r:id="rId6"/>
    <p:sldId id="275" r:id="rId7"/>
    <p:sldId id="276" r:id="rId8"/>
    <p:sldId id="263" r:id="rId9"/>
    <p:sldId id="277" r:id="rId10"/>
    <p:sldId id="278" r:id="rId11"/>
    <p:sldId id="279" r:id="rId12"/>
    <p:sldId id="28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a Albrechtsen" initials="LA" lastIdx="2" clrIdx="0">
    <p:extLst>
      <p:ext uri="{19B8F6BF-5375-455C-9EA6-DF929625EA0E}">
        <p15:presenceInfo xmlns:p15="http://schemas.microsoft.com/office/powerpoint/2012/main" userId="S::Lea.Albrechtsen@hoddereducation.co.uk::4df490f3-5904-4e82-a5b6-23281874b6f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69B4"/>
    <a:srgbClr val="E84E0E"/>
    <a:srgbClr val="ED81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361" autoAdjust="0"/>
    <p:restoredTop sz="94660"/>
  </p:normalViewPr>
  <p:slideViewPr>
    <p:cSldViewPr snapToGrid="0">
      <p:cViewPr varScale="1">
        <p:scale>
          <a:sx n="108" d="100"/>
          <a:sy n="108" d="100"/>
        </p:scale>
        <p:origin x="120" y="23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F7712-1F3B-4253-AEF1-0FE171523E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DC14F2F-A2B8-4861-8B33-2CF08A1C25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3137814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60902-80CF-4DD3-B59F-8E58611CF13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B756315-CBCB-4124-93B3-3DEF3C56BD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DFA47B5-60C4-46E0-B317-50F50E6D857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14/05/2021</a:t>
            </a:fld>
            <a:endParaRPr lang="en-GB"/>
          </a:p>
        </p:txBody>
      </p:sp>
      <p:sp>
        <p:nvSpPr>
          <p:cNvPr id="5" name="Footer Placeholder 4">
            <a:extLst>
              <a:ext uri="{FF2B5EF4-FFF2-40B4-BE49-F238E27FC236}">
                <a16:creationId xmlns:a16="http://schemas.microsoft.com/office/drawing/2014/main" id="{5F049A0D-7474-4882-A51A-CF35E154FD2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99F5A12C-5BED-457E-A6CE-2E58C8D0DEDC}"/>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323353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C2461-8DBB-43F0-A3AC-126E643979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596A727-278D-4E57-850B-78E0D727C7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41C733-75AA-40FE-8179-B58FA4EA5EE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14/05/2021</a:t>
            </a:fld>
            <a:endParaRPr lang="en-GB"/>
          </a:p>
        </p:txBody>
      </p:sp>
      <p:sp>
        <p:nvSpPr>
          <p:cNvPr id="5" name="Footer Placeholder 4">
            <a:extLst>
              <a:ext uri="{FF2B5EF4-FFF2-40B4-BE49-F238E27FC236}">
                <a16:creationId xmlns:a16="http://schemas.microsoft.com/office/drawing/2014/main" id="{FB8C4D2E-FA87-41DA-961F-7D250DD08DA8}"/>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BF020F2E-2A86-4F16-B83F-E86E7319950C}"/>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361104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5B458-3AE6-4C21-BEBE-F7B76061980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32FF206-47D4-451B-80B7-578E10A3E6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1D2DF79-B13E-46C5-AAA1-F49C3BABAB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F199702-3758-423C-8C91-550D5C885DF9}"/>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14/05/2021</a:t>
            </a:fld>
            <a:endParaRPr lang="en-GB"/>
          </a:p>
        </p:txBody>
      </p:sp>
      <p:sp>
        <p:nvSpPr>
          <p:cNvPr id="6" name="Footer Placeholder 5">
            <a:extLst>
              <a:ext uri="{FF2B5EF4-FFF2-40B4-BE49-F238E27FC236}">
                <a16:creationId xmlns:a16="http://schemas.microsoft.com/office/drawing/2014/main" id="{4355CC31-BF31-4EB1-8B54-2DD0D6BE79BC}"/>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303EFAF2-4586-4670-8EF7-78067B1872A1}"/>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4116154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05FA2-A60C-405C-A307-880C049CB03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A970388-4034-4A46-8B98-D37491E014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C39A8B-6B00-4329-AC44-AD6EBE236E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55DFF08-1C59-4E60-A964-4D4A369007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548497-A585-4527-B8A6-BB01B9FBC4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77C2D4B-BCC3-48CF-B358-D817886727C0}"/>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14/05/2021</a:t>
            </a:fld>
            <a:endParaRPr lang="en-GB"/>
          </a:p>
        </p:txBody>
      </p:sp>
      <p:sp>
        <p:nvSpPr>
          <p:cNvPr id="8" name="Footer Placeholder 7">
            <a:extLst>
              <a:ext uri="{FF2B5EF4-FFF2-40B4-BE49-F238E27FC236}">
                <a16:creationId xmlns:a16="http://schemas.microsoft.com/office/drawing/2014/main" id="{B393C415-FAAE-444A-BBA1-9059E1C450A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9" name="Slide Number Placeholder 8">
            <a:extLst>
              <a:ext uri="{FF2B5EF4-FFF2-40B4-BE49-F238E27FC236}">
                <a16:creationId xmlns:a16="http://schemas.microsoft.com/office/drawing/2014/main" id="{16C512DB-E555-4910-92DC-7AB19F87F8E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47741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D8A33-5CA5-4826-9B83-0B2F6A50C2B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17C1E61-1B5E-44DC-BC0F-2F956B04C019}"/>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14/05/2021</a:t>
            </a:fld>
            <a:endParaRPr lang="en-GB"/>
          </a:p>
        </p:txBody>
      </p:sp>
      <p:sp>
        <p:nvSpPr>
          <p:cNvPr id="4" name="Footer Placeholder 3">
            <a:extLst>
              <a:ext uri="{FF2B5EF4-FFF2-40B4-BE49-F238E27FC236}">
                <a16:creationId xmlns:a16="http://schemas.microsoft.com/office/drawing/2014/main" id="{DBA212BA-9EF0-4463-A9C0-997D5572049B}"/>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5" name="Slide Number Placeholder 4">
            <a:extLst>
              <a:ext uri="{FF2B5EF4-FFF2-40B4-BE49-F238E27FC236}">
                <a16:creationId xmlns:a16="http://schemas.microsoft.com/office/drawing/2014/main" id="{E350D64F-9F3A-43FB-A563-07763EE16E2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279599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739767-A677-43FB-A13E-C6E76D21E158}"/>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14/05/2021</a:t>
            </a:fld>
            <a:endParaRPr lang="en-GB"/>
          </a:p>
        </p:txBody>
      </p:sp>
      <p:sp>
        <p:nvSpPr>
          <p:cNvPr id="3" name="Footer Placeholder 2">
            <a:extLst>
              <a:ext uri="{FF2B5EF4-FFF2-40B4-BE49-F238E27FC236}">
                <a16:creationId xmlns:a16="http://schemas.microsoft.com/office/drawing/2014/main" id="{BFA103BA-C2DE-41DE-842B-306DECB788D5}"/>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4" name="Slide Number Placeholder 3">
            <a:extLst>
              <a:ext uri="{FF2B5EF4-FFF2-40B4-BE49-F238E27FC236}">
                <a16:creationId xmlns:a16="http://schemas.microsoft.com/office/drawing/2014/main" id="{5B8320D2-03FC-47A8-B437-7B7CEBDD6176}"/>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747179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B20E6-8664-4FD7-A9B2-0B5C17E861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D75017E-7CE6-4AFE-8756-092A858401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85C17A6-B2E1-42BB-9629-032C80545F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1DC4D7-18F9-4992-BB61-15FA97A5299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14/05/2021</a:t>
            </a:fld>
            <a:endParaRPr lang="en-GB"/>
          </a:p>
        </p:txBody>
      </p:sp>
      <p:sp>
        <p:nvSpPr>
          <p:cNvPr id="6" name="Footer Placeholder 5">
            <a:extLst>
              <a:ext uri="{FF2B5EF4-FFF2-40B4-BE49-F238E27FC236}">
                <a16:creationId xmlns:a16="http://schemas.microsoft.com/office/drawing/2014/main" id="{4FB52144-EB56-46FB-8C3D-7A8702354378}"/>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E7142B02-C27D-4AC0-9DE7-A653F338FB9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895581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FD8A0-DA8A-463F-AC82-9A3D896B80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3B553CB-6BB8-4D69-8270-E69093C148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00E0B06-F972-42E3-B94A-6BA4824458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FCFE24-5759-425E-A7E5-6EAACD13BAA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14/05/2021</a:t>
            </a:fld>
            <a:endParaRPr lang="en-GB"/>
          </a:p>
        </p:txBody>
      </p:sp>
      <p:sp>
        <p:nvSpPr>
          <p:cNvPr id="6" name="Footer Placeholder 5">
            <a:extLst>
              <a:ext uri="{FF2B5EF4-FFF2-40B4-BE49-F238E27FC236}">
                <a16:creationId xmlns:a16="http://schemas.microsoft.com/office/drawing/2014/main" id="{EC458F3E-34B5-48AA-B148-66ED69F30671}"/>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AB133722-4E46-4BF0-841D-DC92DCB48251}"/>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2153194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A43C2-4F61-40F8-A06C-596F42B7D0A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012D4A7-8F4B-484D-90BE-4A6A303F65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BBE0C66-2DCD-4454-98BE-EE8ADD1D798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14/05/2021</a:t>
            </a:fld>
            <a:endParaRPr lang="en-GB"/>
          </a:p>
        </p:txBody>
      </p:sp>
      <p:sp>
        <p:nvSpPr>
          <p:cNvPr id="5" name="Footer Placeholder 4">
            <a:extLst>
              <a:ext uri="{FF2B5EF4-FFF2-40B4-BE49-F238E27FC236}">
                <a16:creationId xmlns:a16="http://schemas.microsoft.com/office/drawing/2014/main" id="{B6C655C5-A5ED-4766-97E4-846A805367DD}"/>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17ADFEEA-B282-4D56-A557-4193031EB4A7}"/>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901290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1B7A8B-8DD3-4239-8EA1-87394625413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5621B91-126F-434B-86F2-89E6778E91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7BFCCA6-FBA0-4A4B-97BC-8B2465C0186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14/05/2021</a:t>
            </a:fld>
            <a:endParaRPr lang="en-GB"/>
          </a:p>
        </p:txBody>
      </p:sp>
      <p:sp>
        <p:nvSpPr>
          <p:cNvPr id="5" name="Footer Placeholder 4">
            <a:extLst>
              <a:ext uri="{FF2B5EF4-FFF2-40B4-BE49-F238E27FC236}">
                <a16:creationId xmlns:a16="http://schemas.microsoft.com/office/drawing/2014/main" id="{5A17EED6-4B0F-4C58-A54B-C4F0F72D7BAA}"/>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51249905-D4AB-4930-9B2A-6E8E550A0D1E}"/>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308111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descr="Shape, rectangle&#10;&#10;Description automatically generated">
            <a:extLst>
              <a:ext uri="{FF2B5EF4-FFF2-40B4-BE49-F238E27FC236}">
                <a16:creationId xmlns:a16="http://schemas.microsoft.com/office/drawing/2014/main" id="{80040EBE-1101-1E45-9013-1637FEE48CCC}"/>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25758"/>
            <a:ext cx="12192000" cy="1656196"/>
          </a:xfrm>
          <a:prstGeom prst="rect">
            <a:avLst/>
          </a:prstGeom>
        </p:spPr>
      </p:pic>
      <p:sp>
        <p:nvSpPr>
          <p:cNvPr id="2" name="Title Placeholder 1">
            <a:extLst>
              <a:ext uri="{FF2B5EF4-FFF2-40B4-BE49-F238E27FC236}">
                <a16:creationId xmlns:a16="http://schemas.microsoft.com/office/drawing/2014/main" id="{83B9995C-D844-455E-9E19-BF66C81EFD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D204189-41E9-4E09-B418-B033E7F147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ooter Placeholder 4">
            <a:extLst>
              <a:ext uri="{FF2B5EF4-FFF2-40B4-BE49-F238E27FC236}">
                <a16:creationId xmlns:a16="http://schemas.microsoft.com/office/drawing/2014/main" id="{4D739203-7E29-BA40-9D51-8F9968799BF3}"/>
              </a:ext>
            </a:extLst>
          </p:cNvPr>
          <p:cNvSpPr txBox="1">
            <a:spLocks/>
          </p:cNvSpPr>
          <p:nvPr userDrawn="1"/>
        </p:nvSpPr>
        <p:spPr>
          <a:xfrm>
            <a:off x="7547114" y="6380197"/>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GB" sz="1200" dirty="0"/>
              <a:t>© Hodder &amp; Stoughton Limited 2021</a:t>
            </a:r>
          </a:p>
        </p:txBody>
      </p:sp>
    </p:spTree>
    <p:extLst>
      <p:ext uri="{BB962C8B-B14F-4D97-AF65-F5344CB8AC3E}">
        <p14:creationId xmlns:p14="http://schemas.microsoft.com/office/powerpoint/2010/main" val="26587743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2B9C3-E44C-4313-895D-D43DD1C92CE3}"/>
              </a:ext>
            </a:extLst>
          </p:cNvPr>
          <p:cNvSpPr>
            <a:spLocks noGrp="1"/>
          </p:cNvSpPr>
          <p:nvPr>
            <p:ph type="ctrTitle"/>
          </p:nvPr>
        </p:nvSpPr>
        <p:spPr>
          <a:xfrm>
            <a:off x="1378896" y="3010438"/>
            <a:ext cx="4717104" cy="915850"/>
          </a:xfrm>
        </p:spPr>
        <p:txBody>
          <a:bodyPr>
            <a:normAutofit/>
          </a:bodyPr>
          <a:lstStyle/>
          <a:p>
            <a:pPr algn="l"/>
            <a:r>
              <a:rPr lang="en-GB" b="1" dirty="0"/>
              <a:t>Getting started</a:t>
            </a:r>
          </a:p>
        </p:txBody>
      </p:sp>
      <p:sp>
        <p:nvSpPr>
          <p:cNvPr id="11" name="Rectangle 10">
            <a:extLst>
              <a:ext uri="{FF2B5EF4-FFF2-40B4-BE49-F238E27FC236}">
                <a16:creationId xmlns:a16="http://schemas.microsoft.com/office/drawing/2014/main" id="{5346DB13-257C-4484-9CB0-C755672B55D3}"/>
              </a:ext>
            </a:extLst>
          </p:cNvPr>
          <p:cNvSpPr/>
          <p:nvPr/>
        </p:nvSpPr>
        <p:spPr>
          <a:xfrm>
            <a:off x="1378896" y="3926287"/>
            <a:ext cx="2991525" cy="425501"/>
          </a:xfrm>
          <a:prstGeom prst="rect">
            <a:avLst/>
          </a:prstGeom>
        </p:spPr>
        <p:txBody>
          <a:bodyPr wrap="none">
            <a:spAutoFit/>
          </a:bodyPr>
          <a:lstStyle/>
          <a:p>
            <a:pPr>
              <a:lnSpc>
                <a:spcPct val="115000"/>
              </a:lnSpc>
              <a:spcBef>
                <a:spcPts val="600"/>
              </a:spcBef>
              <a:spcAft>
                <a:spcPts val="600"/>
              </a:spcAft>
            </a:pPr>
            <a:r>
              <a:rPr lang="en-GB" sz="2000" b="1" kern="0" dirty="0">
                <a:solidFill>
                  <a:srgbClr val="E84E0E"/>
                </a:solidFill>
                <a:latin typeface="Calibri" panose="020F0502020204030204" pitchFamily="34" charset="0"/>
                <a:cs typeface="Times New Roman" panose="02020603050405020304" pitchFamily="18" charset="0"/>
              </a:rPr>
              <a:t>Lesson 5: Bitmap graphics </a:t>
            </a:r>
          </a:p>
        </p:txBody>
      </p:sp>
      <p:pic>
        <p:nvPicPr>
          <p:cNvPr id="4" name="Picture 3">
            <a:extLst>
              <a:ext uri="{FF2B5EF4-FFF2-40B4-BE49-F238E27FC236}">
                <a16:creationId xmlns:a16="http://schemas.microsoft.com/office/drawing/2014/main" id="{C6A8442B-4615-1E43-9F2B-C716E659984E}"/>
              </a:ext>
            </a:extLst>
          </p:cNvPr>
          <p:cNvPicPr>
            <a:picLocks noChangeAspect="1"/>
          </p:cNvPicPr>
          <p:nvPr/>
        </p:nvPicPr>
        <p:blipFill>
          <a:blip r:embed="rId2"/>
          <a:stretch>
            <a:fillRect/>
          </a:stretch>
        </p:blipFill>
        <p:spPr>
          <a:xfrm>
            <a:off x="7305669" y="2531599"/>
            <a:ext cx="3507435" cy="2789377"/>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0543161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C4667-2A3C-4536-9386-00402F3C6EE6}"/>
              </a:ext>
            </a:extLst>
          </p:cNvPr>
          <p:cNvSpPr>
            <a:spLocks noGrp="1"/>
          </p:cNvSpPr>
          <p:nvPr>
            <p:ph type="title"/>
          </p:nvPr>
        </p:nvSpPr>
        <p:spPr>
          <a:xfrm>
            <a:off x="1584000" y="792000"/>
            <a:ext cx="2903594" cy="766349"/>
          </a:xfrm>
        </p:spPr>
        <p:txBody>
          <a:bodyPr>
            <a:noAutofit/>
          </a:bodyPr>
          <a:lstStyle/>
          <a:p>
            <a:r>
              <a:rPr lang="en-GB" b="1" dirty="0">
                <a:solidFill>
                  <a:schemeClr val="bg1"/>
                </a:solidFill>
              </a:rPr>
              <a:t>Objectives</a:t>
            </a:r>
          </a:p>
        </p:txBody>
      </p:sp>
      <p:sp>
        <p:nvSpPr>
          <p:cNvPr id="4" name="Rectangle 3">
            <a:extLst>
              <a:ext uri="{FF2B5EF4-FFF2-40B4-BE49-F238E27FC236}">
                <a16:creationId xmlns:a16="http://schemas.microsoft.com/office/drawing/2014/main" id="{A3268699-9BC3-46AB-BCF2-8098607757C4}"/>
              </a:ext>
            </a:extLst>
          </p:cNvPr>
          <p:cNvSpPr/>
          <p:nvPr/>
        </p:nvSpPr>
        <p:spPr>
          <a:xfrm>
            <a:off x="1584000" y="2028616"/>
            <a:ext cx="8859411" cy="1692771"/>
          </a:xfrm>
          <a:prstGeom prst="rect">
            <a:avLst/>
          </a:prstGeom>
        </p:spPr>
        <p:txBody>
          <a:bodyPr wrap="square">
            <a:spAutoFit/>
          </a:bodyPr>
          <a:lstStyle/>
          <a:p>
            <a:pPr>
              <a:spcAft>
                <a:spcPts val="0"/>
              </a:spcAft>
            </a:pPr>
            <a:r>
              <a:rPr lang="en-GB" sz="3200" dirty="0">
                <a:ea typeface="Times New Roman" panose="02020603050405020304" pitchFamily="18" charset="0"/>
              </a:rPr>
              <a:t>In this lesson, you will learn:</a:t>
            </a:r>
          </a:p>
          <a:p>
            <a:pPr marL="342900" lvl="0" indent="-342900">
              <a:buFont typeface="Symbol" pitchFamily="2" charset="2"/>
              <a:buChar char=""/>
            </a:pPr>
            <a:r>
              <a:rPr lang="en-GB" sz="2400" dirty="0">
                <a:latin typeface="Calibri" panose="020F0502020204030204" pitchFamily="34" charset="0"/>
                <a:ea typeface="Calibri" panose="020F0502020204030204" pitchFamily="34" charset="0"/>
                <a:cs typeface="Times New Roman" panose="02020603050405020304" pitchFamily="18" charset="0"/>
              </a:rPr>
              <a:t>the features of bitmap graphics</a:t>
            </a:r>
          </a:p>
          <a:p>
            <a:pPr marL="342900" lvl="0" indent="-342900">
              <a:buFont typeface="Symbol" pitchFamily="2" charset="2"/>
              <a:buChar char=""/>
            </a:pPr>
            <a:r>
              <a:rPr lang="en-GB" sz="2400" dirty="0">
                <a:latin typeface="Calibri" panose="020F0502020204030204" pitchFamily="34" charset="0"/>
                <a:ea typeface="Calibri" panose="020F0502020204030204" pitchFamily="34" charset="0"/>
                <a:cs typeface="Times New Roman" panose="02020603050405020304" pitchFamily="18" charset="0"/>
              </a:rPr>
              <a:t>bitmap graphic file types</a:t>
            </a:r>
          </a:p>
          <a:p>
            <a:pPr marL="342900" lvl="0" indent="-342900">
              <a:buFont typeface="Symbol" pitchFamily="2" charset="2"/>
              <a:buChar char=""/>
            </a:pPr>
            <a:r>
              <a:rPr lang="en-GB" sz="2400" dirty="0">
                <a:latin typeface="Calibri" panose="020F0502020204030204" pitchFamily="34" charset="0"/>
                <a:ea typeface="Calibri" panose="020F0502020204030204" pitchFamily="34" charset="0"/>
                <a:cs typeface="Times New Roman" panose="02020603050405020304" pitchFamily="18" charset="0"/>
              </a:rPr>
              <a:t>how to edit bitmap graphics using image editing software.</a:t>
            </a:r>
          </a:p>
        </p:txBody>
      </p:sp>
    </p:spTree>
    <p:extLst>
      <p:ext uri="{BB962C8B-B14F-4D97-AF65-F5344CB8AC3E}">
        <p14:creationId xmlns:p14="http://schemas.microsoft.com/office/powerpoint/2010/main" val="1699810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text, night sky&#10;&#10;Description automatically generated">
            <a:extLst>
              <a:ext uri="{FF2B5EF4-FFF2-40B4-BE49-F238E27FC236}">
                <a16:creationId xmlns:a16="http://schemas.microsoft.com/office/drawing/2014/main" id="{4F804FB4-EE7C-4BCE-962D-5EA979573B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2580" y="1870155"/>
            <a:ext cx="6745910" cy="4469391"/>
          </a:xfrm>
          <a:prstGeom prst="rect">
            <a:avLst/>
          </a:prstGeom>
        </p:spPr>
      </p:pic>
    </p:spTree>
    <p:extLst>
      <p:ext uri="{BB962C8B-B14F-4D97-AF65-F5344CB8AC3E}">
        <p14:creationId xmlns:p14="http://schemas.microsoft.com/office/powerpoint/2010/main" val="1166166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C4667-2A3C-4536-9386-00402F3C6EE6}"/>
              </a:ext>
            </a:extLst>
          </p:cNvPr>
          <p:cNvSpPr>
            <a:spLocks noGrp="1"/>
          </p:cNvSpPr>
          <p:nvPr>
            <p:ph type="title"/>
          </p:nvPr>
        </p:nvSpPr>
        <p:spPr>
          <a:xfrm>
            <a:off x="1584000" y="792000"/>
            <a:ext cx="7598501" cy="766349"/>
          </a:xfrm>
        </p:spPr>
        <p:txBody>
          <a:bodyPr>
            <a:normAutofit/>
          </a:bodyPr>
          <a:lstStyle/>
          <a:p>
            <a:r>
              <a:rPr lang="en-GB" b="1" dirty="0">
                <a:solidFill>
                  <a:schemeClr val="bg1"/>
                </a:solidFill>
              </a:rPr>
              <a:t>Bitmap graphics </a:t>
            </a:r>
          </a:p>
        </p:txBody>
      </p:sp>
      <p:sp>
        <p:nvSpPr>
          <p:cNvPr id="5" name="Rectangle 4">
            <a:extLst>
              <a:ext uri="{FF2B5EF4-FFF2-40B4-BE49-F238E27FC236}">
                <a16:creationId xmlns:a16="http://schemas.microsoft.com/office/drawing/2014/main" id="{C19C780D-330F-4641-A1B6-7FED14A815DD}"/>
              </a:ext>
            </a:extLst>
          </p:cNvPr>
          <p:cNvSpPr/>
          <p:nvPr/>
        </p:nvSpPr>
        <p:spPr>
          <a:xfrm>
            <a:off x="1584000" y="2284463"/>
            <a:ext cx="9625468" cy="3662541"/>
          </a:xfrm>
          <a:prstGeom prst="rect">
            <a:avLst/>
          </a:prstGeom>
        </p:spPr>
        <p:txBody>
          <a:bodyPr wrap="square">
            <a:spAutoFit/>
          </a:bodyPr>
          <a:lstStyle/>
          <a:p>
            <a:r>
              <a:rPr lang="en-GB" sz="2800" b="1" dirty="0">
                <a:solidFill>
                  <a:srgbClr val="0069B4"/>
                </a:solidFill>
              </a:rPr>
              <a:t>Bitmap graphics</a:t>
            </a:r>
            <a:r>
              <a:rPr lang="en-GB" sz="2800" dirty="0"/>
              <a:t>, also called </a:t>
            </a:r>
            <a:r>
              <a:rPr lang="en-GB" sz="2800" b="1" dirty="0">
                <a:solidFill>
                  <a:srgbClr val="0069B4"/>
                </a:solidFill>
              </a:rPr>
              <a:t>raster graphics</a:t>
            </a:r>
            <a:r>
              <a:rPr lang="en-GB" sz="2800" dirty="0"/>
              <a:t>,</a:t>
            </a:r>
            <a:r>
              <a:rPr lang="en-GB" sz="2800" b="1" dirty="0"/>
              <a:t> </a:t>
            </a:r>
            <a:r>
              <a:rPr lang="en-GB" sz="2800" dirty="0"/>
              <a:t>store an image as a matrix of dots.</a:t>
            </a:r>
          </a:p>
          <a:p>
            <a:endParaRPr lang="en-GB" sz="1200" dirty="0"/>
          </a:p>
          <a:p>
            <a:r>
              <a:rPr lang="en-GB" sz="2800" dirty="0"/>
              <a:t>Each dot is called a </a:t>
            </a:r>
            <a:r>
              <a:rPr lang="en-GB" sz="2800" b="1" dirty="0">
                <a:solidFill>
                  <a:srgbClr val="0069B4"/>
                </a:solidFill>
              </a:rPr>
              <a:t>pixel</a:t>
            </a:r>
            <a:r>
              <a:rPr lang="en-GB" sz="2800" dirty="0"/>
              <a:t>, short for ‘picture element’.</a:t>
            </a:r>
          </a:p>
          <a:p>
            <a:endParaRPr lang="en-GB" sz="1200" dirty="0"/>
          </a:p>
          <a:p>
            <a:r>
              <a:rPr lang="en-GB" sz="2800" dirty="0"/>
              <a:t>The colour of every pixel is stored, and every different colour in the picture has its own unique binary code.</a:t>
            </a:r>
          </a:p>
          <a:p>
            <a:endParaRPr lang="en-GB" sz="1200" dirty="0"/>
          </a:p>
          <a:p>
            <a:r>
              <a:rPr lang="en-GB" sz="2800" dirty="0"/>
              <a:t>It is possible to edit the colour of each individual pixel separately to manipulate an image.</a:t>
            </a:r>
          </a:p>
        </p:txBody>
      </p:sp>
    </p:spTree>
    <p:extLst>
      <p:ext uri="{BB962C8B-B14F-4D97-AF65-F5344CB8AC3E}">
        <p14:creationId xmlns:p14="http://schemas.microsoft.com/office/powerpoint/2010/main" val="1378247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C4667-2A3C-4536-9386-00402F3C6EE6}"/>
              </a:ext>
            </a:extLst>
          </p:cNvPr>
          <p:cNvSpPr>
            <a:spLocks noGrp="1"/>
          </p:cNvSpPr>
          <p:nvPr>
            <p:ph type="title"/>
          </p:nvPr>
        </p:nvSpPr>
        <p:spPr>
          <a:xfrm>
            <a:off x="1584000" y="792000"/>
            <a:ext cx="4990055" cy="766349"/>
          </a:xfrm>
        </p:spPr>
        <p:txBody>
          <a:bodyPr>
            <a:normAutofit/>
          </a:bodyPr>
          <a:lstStyle/>
          <a:p>
            <a:r>
              <a:rPr lang="en-GB" b="1" dirty="0">
                <a:solidFill>
                  <a:schemeClr val="bg1"/>
                </a:solidFill>
              </a:rPr>
              <a:t>Bitmap graphics </a:t>
            </a:r>
          </a:p>
        </p:txBody>
      </p:sp>
      <p:sp>
        <p:nvSpPr>
          <p:cNvPr id="4" name="Rectangle 3">
            <a:extLst>
              <a:ext uri="{FF2B5EF4-FFF2-40B4-BE49-F238E27FC236}">
                <a16:creationId xmlns:a16="http://schemas.microsoft.com/office/drawing/2014/main" id="{AA76B4AD-B88B-41E1-B150-327110B5FEFA}"/>
              </a:ext>
            </a:extLst>
          </p:cNvPr>
          <p:cNvSpPr/>
          <p:nvPr/>
        </p:nvSpPr>
        <p:spPr>
          <a:xfrm>
            <a:off x="1583998" y="2247326"/>
            <a:ext cx="4033947" cy="3985706"/>
          </a:xfrm>
          <a:prstGeom prst="rect">
            <a:avLst/>
          </a:prstGeom>
        </p:spPr>
        <p:txBody>
          <a:bodyPr wrap="square">
            <a:spAutoFit/>
          </a:bodyPr>
          <a:lstStyle/>
          <a:p>
            <a:r>
              <a:rPr lang="en-GB" sz="2300" dirty="0"/>
              <a:t>There are two colours in this picture. White is represented by 0 and black is represented by 1.</a:t>
            </a:r>
          </a:p>
          <a:p>
            <a:endParaRPr lang="en-GB" sz="2300" dirty="0"/>
          </a:p>
          <a:p>
            <a:r>
              <a:rPr lang="en-GB" sz="2300" dirty="0"/>
              <a:t>The image has 64 pixels and the computer stores the colour of each pixel, as well as information about the width and height of the image so that it can be recreated by a computer.</a:t>
            </a:r>
          </a:p>
        </p:txBody>
      </p:sp>
      <p:pic>
        <p:nvPicPr>
          <p:cNvPr id="7" name="Picture 6" descr="A picture containing text, crossword puzzle&#10;&#10;Description automatically generated">
            <a:extLst>
              <a:ext uri="{FF2B5EF4-FFF2-40B4-BE49-F238E27FC236}">
                <a16:creationId xmlns:a16="http://schemas.microsoft.com/office/drawing/2014/main" id="{2A49C904-5C52-442A-93A4-C99A921BF1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2950006"/>
            <a:ext cx="4933784" cy="2074756"/>
          </a:xfrm>
          <a:prstGeom prst="rect">
            <a:avLst/>
          </a:prstGeom>
        </p:spPr>
      </p:pic>
    </p:spTree>
    <p:extLst>
      <p:ext uri="{BB962C8B-B14F-4D97-AF65-F5344CB8AC3E}">
        <p14:creationId xmlns:p14="http://schemas.microsoft.com/office/powerpoint/2010/main" val="153826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C4667-2A3C-4536-9386-00402F3C6EE6}"/>
              </a:ext>
            </a:extLst>
          </p:cNvPr>
          <p:cNvSpPr>
            <a:spLocks noGrp="1"/>
          </p:cNvSpPr>
          <p:nvPr>
            <p:ph type="title"/>
          </p:nvPr>
        </p:nvSpPr>
        <p:spPr>
          <a:xfrm>
            <a:off x="1598066" y="791999"/>
            <a:ext cx="7714746" cy="766349"/>
          </a:xfrm>
        </p:spPr>
        <p:txBody>
          <a:bodyPr>
            <a:normAutofit/>
          </a:bodyPr>
          <a:lstStyle/>
          <a:p>
            <a:r>
              <a:rPr lang="en-GB" b="1" dirty="0">
                <a:solidFill>
                  <a:schemeClr val="bg1"/>
                </a:solidFill>
              </a:rPr>
              <a:t>Bitmap graphics and quality </a:t>
            </a:r>
          </a:p>
        </p:txBody>
      </p:sp>
      <p:sp>
        <p:nvSpPr>
          <p:cNvPr id="3" name="Rectangle 2">
            <a:extLst>
              <a:ext uri="{FF2B5EF4-FFF2-40B4-BE49-F238E27FC236}">
                <a16:creationId xmlns:a16="http://schemas.microsoft.com/office/drawing/2014/main" id="{9EC9ACD9-640D-A341-BA18-243EFDFF5D74}"/>
              </a:ext>
            </a:extLst>
          </p:cNvPr>
          <p:cNvSpPr/>
          <p:nvPr/>
        </p:nvSpPr>
        <p:spPr>
          <a:xfrm>
            <a:off x="1598065" y="2136338"/>
            <a:ext cx="8761549" cy="3416320"/>
          </a:xfrm>
          <a:prstGeom prst="rect">
            <a:avLst/>
          </a:prstGeom>
        </p:spPr>
        <p:txBody>
          <a:bodyPr wrap="square">
            <a:spAutoFit/>
          </a:bodyPr>
          <a:lstStyle/>
          <a:p>
            <a:pPr marL="342900" indent="-342900">
              <a:buFont typeface="Arial" panose="020B0604020202020204" pitchFamily="34" charset="0"/>
              <a:buChar char="•"/>
            </a:pPr>
            <a:r>
              <a:rPr lang="en-GB" sz="2400" dirty="0">
                <a:latin typeface="Calibri" panose="020F0502020204030204" pitchFamily="34" charset="0"/>
                <a:ea typeface="Calibri" panose="020F0502020204030204" pitchFamily="34" charset="0"/>
                <a:cs typeface="Times New Roman" panose="02020603050405020304" pitchFamily="18" charset="0"/>
              </a:rPr>
              <a:t>The quality of a bitmap image depends on its </a:t>
            </a:r>
            <a:r>
              <a:rPr lang="en-GB" sz="2400" b="1" dirty="0">
                <a:solidFill>
                  <a:srgbClr val="0069B4"/>
                </a:solidFill>
                <a:latin typeface="Calibri" panose="020F0502020204030204" pitchFamily="34" charset="0"/>
                <a:ea typeface="Calibri" panose="020F0502020204030204" pitchFamily="34" charset="0"/>
                <a:cs typeface="Times New Roman" panose="02020603050405020304" pitchFamily="18" charset="0"/>
              </a:rPr>
              <a:t>resolution</a:t>
            </a:r>
            <a:r>
              <a:rPr lang="en-GB" sz="2400" dirty="0">
                <a:latin typeface="Calibri" panose="020F0502020204030204" pitchFamily="34" charset="0"/>
                <a:ea typeface="Calibri" panose="020F0502020204030204" pitchFamily="34" charset="0"/>
                <a:cs typeface="Times New Roman" panose="02020603050405020304" pitchFamily="18" charset="0"/>
              </a:rPr>
              <a:t>. This is the number of pixels in the image.</a:t>
            </a:r>
          </a:p>
          <a:p>
            <a:pPr marL="342900" indent="-342900">
              <a:buFont typeface="Arial" panose="020B0604020202020204" pitchFamily="34" charset="0"/>
              <a:buChar char="•"/>
            </a:pPr>
            <a:r>
              <a:rPr lang="en-GB" sz="2400" dirty="0">
                <a:latin typeface="Calibri" panose="020F0502020204030204" pitchFamily="34" charset="0"/>
                <a:ea typeface="Calibri" panose="020F0502020204030204" pitchFamily="34" charset="0"/>
                <a:cs typeface="Times New Roman" panose="02020603050405020304" pitchFamily="18" charset="0"/>
              </a:rPr>
              <a:t>The higher the resolution, the better quality and more realistic the image. A resolution of 300 dpi (dots per inch) is likely to produce a good quality image.</a:t>
            </a:r>
          </a:p>
          <a:p>
            <a:pPr marL="342900" indent="-342900">
              <a:buFont typeface="Arial" panose="020B0604020202020204" pitchFamily="34" charset="0"/>
              <a:buChar char="•"/>
            </a:pPr>
            <a:r>
              <a:rPr lang="en-GB" sz="2400" dirty="0">
                <a:latin typeface="Calibri" panose="020F0502020204030204" pitchFamily="34" charset="0"/>
                <a:ea typeface="Calibri" panose="020F0502020204030204" pitchFamily="34" charset="0"/>
                <a:cs typeface="Times New Roman" panose="02020603050405020304" pitchFamily="18" charset="0"/>
              </a:rPr>
              <a:t>However, the data for each individual pixel has to be stored, which means that bitmap graphic files are often </a:t>
            </a:r>
            <a:r>
              <a:rPr lang="en-GB" sz="2400" b="1" dirty="0">
                <a:solidFill>
                  <a:srgbClr val="0069B4"/>
                </a:solidFill>
                <a:latin typeface="Calibri" panose="020F0502020204030204" pitchFamily="34" charset="0"/>
                <a:ea typeface="Calibri" panose="020F0502020204030204" pitchFamily="34" charset="0"/>
                <a:cs typeface="Times New Roman" panose="02020603050405020304" pitchFamily="18" charset="0"/>
              </a:rPr>
              <a:t>large</a:t>
            </a:r>
            <a:r>
              <a:rPr lang="en-GB" sz="2400" dirty="0">
                <a:latin typeface="Calibri" panose="020F0502020204030204" pitchFamily="34" charset="0"/>
                <a:ea typeface="Calibri" panose="020F0502020204030204" pitchFamily="34" charset="0"/>
                <a:cs typeface="Times New Roman" panose="02020603050405020304" pitchFamily="18" charset="0"/>
              </a:rPr>
              <a:t>.</a:t>
            </a:r>
          </a:p>
          <a:p>
            <a:pPr marL="342900" indent="-342900">
              <a:buFont typeface="Arial" panose="020B0604020202020204" pitchFamily="34" charset="0"/>
              <a:buChar char="•"/>
            </a:pPr>
            <a:r>
              <a:rPr lang="en-GB" sz="2400" dirty="0">
                <a:latin typeface="Calibri" panose="020F0502020204030204" pitchFamily="34" charset="0"/>
                <a:ea typeface="Calibri" panose="020F0502020204030204" pitchFamily="34" charset="0"/>
                <a:cs typeface="Times New Roman" panose="02020603050405020304" pitchFamily="18" charset="0"/>
              </a:rPr>
              <a:t>When a bitmap graphic is enlarged it loses quality and it is sometimes possible to see the individual pixels.</a:t>
            </a:r>
          </a:p>
        </p:txBody>
      </p:sp>
    </p:spTree>
    <p:extLst>
      <p:ext uri="{BB962C8B-B14F-4D97-AF65-F5344CB8AC3E}">
        <p14:creationId xmlns:p14="http://schemas.microsoft.com/office/powerpoint/2010/main" val="15731687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C4667-2A3C-4536-9386-00402F3C6EE6}"/>
              </a:ext>
            </a:extLst>
          </p:cNvPr>
          <p:cNvSpPr>
            <a:spLocks noGrp="1"/>
          </p:cNvSpPr>
          <p:nvPr>
            <p:ph type="title"/>
          </p:nvPr>
        </p:nvSpPr>
        <p:spPr>
          <a:xfrm>
            <a:off x="1584000" y="792000"/>
            <a:ext cx="6269082" cy="766349"/>
          </a:xfrm>
        </p:spPr>
        <p:txBody>
          <a:bodyPr>
            <a:normAutofit fontScale="90000"/>
          </a:bodyPr>
          <a:lstStyle/>
          <a:p>
            <a:r>
              <a:rPr lang="en-GB" b="1" dirty="0">
                <a:solidFill>
                  <a:schemeClr val="bg1"/>
                </a:solidFill>
              </a:rPr>
              <a:t>Bitmap graphics and file size </a:t>
            </a:r>
          </a:p>
        </p:txBody>
      </p:sp>
      <p:sp>
        <p:nvSpPr>
          <p:cNvPr id="5" name="Rectangle 4">
            <a:extLst>
              <a:ext uri="{FF2B5EF4-FFF2-40B4-BE49-F238E27FC236}">
                <a16:creationId xmlns:a16="http://schemas.microsoft.com/office/drawing/2014/main" id="{BDE7B8EC-FC08-4EA5-8B8E-FE02FF11DBE6}"/>
              </a:ext>
            </a:extLst>
          </p:cNvPr>
          <p:cNvSpPr/>
          <p:nvPr/>
        </p:nvSpPr>
        <p:spPr>
          <a:xfrm>
            <a:off x="1584000" y="2358189"/>
            <a:ext cx="8829402" cy="3293209"/>
          </a:xfrm>
          <a:prstGeom prst="rect">
            <a:avLst/>
          </a:prstGeom>
        </p:spPr>
        <p:txBody>
          <a:bodyPr wrap="square">
            <a:spAutoFit/>
          </a:bodyPr>
          <a:lstStyle/>
          <a:p>
            <a:pPr marL="457200" indent="-457200">
              <a:buFont typeface="Arial" panose="020B0604020202020204" pitchFamily="34" charset="0"/>
              <a:buChar char="•"/>
            </a:pPr>
            <a:r>
              <a:rPr lang="en-GB" sz="2600" dirty="0"/>
              <a:t>The size of a bitmap graphic file depends on the resolution of the image, and also the size of the image and how many unique colours it contains.</a:t>
            </a:r>
          </a:p>
          <a:p>
            <a:pPr marL="457200" indent="-457200">
              <a:buFont typeface="Arial" panose="020B0604020202020204" pitchFamily="34" charset="0"/>
              <a:buChar char="•"/>
            </a:pPr>
            <a:r>
              <a:rPr lang="en-GB" sz="2600" dirty="0"/>
              <a:t>Bigger images contain more pixels and unusual colours have longer numbers, so there is more data to store.</a:t>
            </a:r>
          </a:p>
          <a:p>
            <a:pPr marL="457200" indent="-457200">
              <a:buFont typeface="Arial" panose="020B0604020202020204" pitchFamily="34" charset="0"/>
              <a:buChar char="•"/>
            </a:pPr>
            <a:r>
              <a:rPr lang="en-GB" sz="2600" dirty="0"/>
              <a:t>Bitmap graphic files are generally much larger than vector graphic files because of the amount of information the computer needs to store to recreate the image.</a:t>
            </a:r>
          </a:p>
        </p:txBody>
      </p:sp>
    </p:spTree>
    <p:extLst>
      <p:ext uri="{BB962C8B-B14F-4D97-AF65-F5344CB8AC3E}">
        <p14:creationId xmlns:p14="http://schemas.microsoft.com/office/powerpoint/2010/main" val="36595958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0D3D-3B5A-405C-A85C-D55D7E6FEF9A}"/>
              </a:ext>
            </a:extLst>
          </p:cNvPr>
          <p:cNvSpPr>
            <a:spLocks noGrp="1"/>
          </p:cNvSpPr>
          <p:nvPr>
            <p:ph type="title"/>
          </p:nvPr>
        </p:nvSpPr>
        <p:spPr>
          <a:xfrm>
            <a:off x="1589632" y="796072"/>
            <a:ext cx="10037685" cy="865740"/>
          </a:xfrm>
        </p:spPr>
        <p:txBody>
          <a:bodyPr>
            <a:normAutofit/>
          </a:bodyPr>
          <a:lstStyle/>
          <a:p>
            <a:r>
              <a:rPr lang="en-GB" b="1" dirty="0">
                <a:solidFill>
                  <a:schemeClr val="bg1"/>
                </a:solidFill>
              </a:rPr>
              <a:t>Bitmap graphics and file types</a:t>
            </a:r>
          </a:p>
        </p:txBody>
      </p:sp>
      <p:sp>
        <p:nvSpPr>
          <p:cNvPr id="3" name="Rectangle 2">
            <a:extLst>
              <a:ext uri="{FF2B5EF4-FFF2-40B4-BE49-F238E27FC236}">
                <a16:creationId xmlns:a16="http://schemas.microsoft.com/office/drawing/2014/main" id="{2A9F486F-8703-8C44-80BF-3F39812FB710}"/>
              </a:ext>
            </a:extLst>
          </p:cNvPr>
          <p:cNvSpPr/>
          <p:nvPr/>
        </p:nvSpPr>
        <p:spPr>
          <a:xfrm>
            <a:off x="1589632" y="2034513"/>
            <a:ext cx="9436956" cy="4093428"/>
          </a:xfrm>
          <a:prstGeom prst="rect">
            <a:avLst/>
          </a:prstGeom>
        </p:spPr>
        <p:txBody>
          <a:bodyPr wrap="square">
            <a:spAutoFit/>
          </a:bodyPr>
          <a:lstStyle/>
          <a:p>
            <a:r>
              <a:rPr lang="en-GB" sz="2600" dirty="0"/>
              <a:t>Common bitmap graphic formats are:</a:t>
            </a:r>
          </a:p>
          <a:p>
            <a:pPr lvl="0"/>
            <a:r>
              <a:rPr lang="en-GB" sz="2600" b="1" dirty="0"/>
              <a:t>.</a:t>
            </a:r>
            <a:r>
              <a:rPr lang="en-GB" sz="2600" b="1" dirty="0" err="1"/>
              <a:t>tif</a:t>
            </a:r>
            <a:r>
              <a:rPr lang="en-GB" sz="2600" dirty="0"/>
              <a:t>: Tagged Image File Format (very high quality but large file size)</a:t>
            </a:r>
          </a:p>
          <a:p>
            <a:pPr lvl="0"/>
            <a:r>
              <a:rPr lang="en-GB" sz="2600" b="1" dirty="0"/>
              <a:t>.bmp</a:t>
            </a:r>
            <a:r>
              <a:rPr lang="en-GB" sz="2600" dirty="0"/>
              <a:t>: Bitmap Image File (very high quality but large file size; developed for Microsoft® Windows)</a:t>
            </a:r>
          </a:p>
          <a:p>
            <a:pPr lvl="0"/>
            <a:r>
              <a:rPr lang="en-GB" sz="2600" b="1" dirty="0"/>
              <a:t>.jpg</a:t>
            </a:r>
            <a:r>
              <a:rPr lang="en-GB" sz="2600" dirty="0"/>
              <a:t>: Joint Photographic Experts Groups (good for email and presentations)</a:t>
            </a:r>
          </a:p>
          <a:p>
            <a:pPr lvl="0"/>
            <a:r>
              <a:rPr lang="en-GB" sz="2600" b="1" dirty="0"/>
              <a:t>.gif</a:t>
            </a:r>
            <a:r>
              <a:rPr lang="en-GB" sz="2600" dirty="0"/>
              <a:t>: Graphics Interchange Format (good for web images with up to 256 colours)</a:t>
            </a:r>
          </a:p>
          <a:p>
            <a:pPr lvl="0"/>
            <a:r>
              <a:rPr lang="en-GB" sz="2600" b="1" dirty="0"/>
              <a:t>.</a:t>
            </a:r>
            <a:r>
              <a:rPr lang="en-GB" sz="2600" b="1" dirty="0" err="1"/>
              <a:t>png</a:t>
            </a:r>
            <a:r>
              <a:rPr lang="en-GB" sz="2600" dirty="0"/>
              <a:t>: Portable Network Graphics (good for web images with up to 16 million colours)</a:t>
            </a:r>
          </a:p>
        </p:txBody>
      </p:sp>
    </p:spTree>
    <p:extLst>
      <p:ext uri="{BB962C8B-B14F-4D97-AF65-F5344CB8AC3E}">
        <p14:creationId xmlns:p14="http://schemas.microsoft.com/office/powerpoint/2010/main" val="2669437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A03D0F-4114-EB45-A33A-F9CD049A03FD}"/>
              </a:ext>
            </a:extLst>
          </p:cNvPr>
          <p:cNvSpPr txBox="1"/>
          <p:nvPr/>
        </p:nvSpPr>
        <p:spPr>
          <a:xfrm>
            <a:off x="1617785" y="759656"/>
            <a:ext cx="5836085" cy="769441"/>
          </a:xfrm>
          <a:prstGeom prst="rect">
            <a:avLst/>
          </a:prstGeom>
          <a:noFill/>
        </p:spPr>
        <p:txBody>
          <a:bodyPr wrap="none" rtlCol="0">
            <a:spAutoFit/>
          </a:bodyPr>
          <a:lstStyle/>
          <a:p>
            <a:pPr lvl="0"/>
            <a:r>
              <a:rPr lang="en-GB" sz="4400" b="1" dirty="0">
                <a:solidFill>
                  <a:prstClr val="white"/>
                </a:solidFill>
                <a:latin typeface="Calibri Light" panose="020F0302020204030204"/>
              </a:rPr>
              <a:t>Creating bitmap graphics</a:t>
            </a:r>
            <a:endParaRPr lang="en-US" dirty="0"/>
          </a:p>
        </p:txBody>
      </p:sp>
      <p:sp>
        <p:nvSpPr>
          <p:cNvPr id="3" name="Rectangle 2">
            <a:extLst>
              <a:ext uri="{FF2B5EF4-FFF2-40B4-BE49-F238E27FC236}">
                <a16:creationId xmlns:a16="http://schemas.microsoft.com/office/drawing/2014/main" id="{4E54A889-DD19-6D4B-B629-9AE71599563A}"/>
              </a:ext>
            </a:extLst>
          </p:cNvPr>
          <p:cNvSpPr/>
          <p:nvPr/>
        </p:nvSpPr>
        <p:spPr>
          <a:xfrm>
            <a:off x="1617785" y="2197967"/>
            <a:ext cx="8946224" cy="3970318"/>
          </a:xfrm>
          <a:prstGeom prst="rect">
            <a:avLst/>
          </a:prstGeom>
        </p:spPr>
        <p:txBody>
          <a:bodyPr wrap="square">
            <a:spAutoFit/>
          </a:bodyPr>
          <a:lstStyle/>
          <a:p>
            <a:pPr marL="457200" indent="-457200">
              <a:buFont typeface="Arial" panose="020B0604020202020204" pitchFamily="34" charset="0"/>
              <a:buChar char="•"/>
            </a:pPr>
            <a:r>
              <a:rPr lang="en-GB" sz="2800" dirty="0"/>
              <a:t>It is not practical to draw images by defining each pixel separately. At a resolution of 300 dpi, an A4 image will contain 8,640,000 pixels.</a:t>
            </a:r>
          </a:p>
          <a:p>
            <a:pPr marL="457200" indent="-457200">
              <a:buFont typeface="Arial" panose="020B0604020202020204" pitchFamily="34" charset="0"/>
              <a:buChar char="•"/>
            </a:pPr>
            <a:r>
              <a:rPr lang="en-GB" sz="2800" dirty="0"/>
              <a:t>However, it is possible to save any image in a bitmap file format. </a:t>
            </a:r>
          </a:p>
          <a:p>
            <a:pPr marL="457200" indent="-457200">
              <a:buFont typeface="Arial" panose="020B0604020202020204" pitchFamily="34" charset="0"/>
              <a:buChar char="•"/>
            </a:pPr>
            <a:r>
              <a:rPr lang="en-GB" sz="2800" dirty="0"/>
              <a:t>For example, digital cameras and smartphones usually save photos in the .jpg format.</a:t>
            </a:r>
          </a:p>
          <a:p>
            <a:pPr marL="457200" indent="-457200">
              <a:buFont typeface="Arial" panose="020B0604020202020204" pitchFamily="34" charset="0"/>
              <a:buChar char="•"/>
            </a:pPr>
            <a:r>
              <a:rPr lang="en-GB" sz="2800" dirty="0"/>
              <a:t>These images can then be edited using image editing software.</a:t>
            </a:r>
          </a:p>
        </p:txBody>
      </p:sp>
    </p:spTree>
    <p:extLst>
      <p:ext uri="{BB962C8B-B14F-4D97-AF65-F5344CB8AC3E}">
        <p14:creationId xmlns:p14="http://schemas.microsoft.com/office/powerpoint/2010/main" val="65894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0D3D-3B5A-405C-A85C-D55D7E6FEF9A}"/>
              </a:ext>
            </a:extLst>
          </p:cNvPr>
          <p:cNvSpPr>
            <a:spLocks noGrp="1"/>
          </p:cNvSpPr>
          <p:nvPr>
            <p:ph type="title"/>
          </p:nvPr>
        </p:nvSpPr>
        <p:spPr>
          <a:xfrm>
            <a:off x="1589632" y="796072"/>
            <a:ext cx="10037685" cy="865740"/>
          </a:xfrm>
        </p:spPr>
        <p:txBody>
          <a:bodyPr>
            <a:normAutofit/>
          </a:bodyPr>
          <a:lstStyle/>
          <a:p>
            <a:r>
              <a:rPr lang="en-GB" b="1" dirty="0">
                <a:solidFill>
                  <a:prstClr val="white"/>
                </a:solidFill>
              </a:rPr>
              <a:t>GIMP (GNU Image Manipulation Program) </a:t>
            </a:r>
            <a:endParaRPr lang="en-GB" b="1" dirty="0">
              <a:solidFill>
                <a:schemeClr val="bg1"/>
              </a:solidFill>
            </a:endParaRPr>
          </a:p>
        </p:txBody>
      </p:sp>
      <p:sp>
        <p:nvSpPr>
          <p:cNvPr id="3" name="Rectangle 2">
            <a:extLst>
              <a:ext uri="{FF2B5EF4-FFF2-40B4-BE49-F238E27FC236}">
                <a16:creationId xmlns:a16="http://schemas.microsoft.com/office/drawing/2014/main" id="{10673F43-FF02-8E4C-9987-063CF31DBB53}"/>
              </a:ext>
            </a:extLst>
          </p:cNvPr>
          <p:cNvSpPr/>
          <p:nvPr/>
        </p:nvSpPr>
        <p:spPr>
          <a:xfrm>
            <a:off x="1589631" y="1859340"/>
            <a:ext cx="8046737" cy="461665"/>
          </a:xfrm>
          <a:prstGeom prst="rect">
            <a:avLst/>
          </a:prstGeom>
        </p:spPr>
        <p:txBody>
          <a:bodyPr wrap="square">
            <a:spAutoFit/>
          </a:bodyPr>
          <a:lstStyle/>
          <a:p>
            <a:pPr lvl="0"/>
            <a:r>
              <a:rPr lang="en-GB" sz="2400" dirty="0">
                <a:solidFill>
                  <a:prstClr val="black"/>
                </a:solidFill>
                <a:ea typeface="Calibri" panose="020F0502020204030204" pitchFamily="34" charset="0"/>
                <a:cs typeface="Times New Roman" panose="02020603050405020304" pitchFamily="18" charset="0"/>
              </a:rPr>
              <a:t>GIMP is free and Open Source </a:t>
            </a:r>
            <a:r>
              <a:rPr lang="en-GB" sz="2400" b="1" dirty="0">
                <a:solidFill>
                  <a:srgbClr val="0069B4"/>
                </a:solidFill>
                <a:ea typeface="Calibri" panose="020F0502020204030204" pitchFamily="34" charset="0"/>
                <a:cs typeface="Times New Roman" panose="02020603050405020304" pitchFamily="18" charset="0"/>
              </a:rPr>
              <a:t>image editing software</a:t>
            </a:r>
            <a:r>
              <a:rPr lang="en-GB" sz="2400" dirty="0">
                <a:solidFill>
                  <a:prstClr val="black"/>
                </a:solidFill>
                <a:ea typeface="Calibri" panose="020F0502020204030204" pitchFamily="34" charset="0"/>
                <a:cs typeface="Times New Roman" panose="02020603050405020304" pitchFamily="18" charset="0"/>
              </a:rPr>
              <a:t>.</a:t>
            </a:r>
          </a:p>
        </p:txBody>
      </p:sp>
      <p:sp>
        <p:nvSpPr>
          <p:cNvPr id="7" name="Rectangle 6">
            <a:extLst>
              <a:ext uri="{FF2B5EF4-FFF2-40B4-BE49-F238E27FC236}">
                <a16:creationId xmlns:a16="http://schemas.microsoft.com/office/drawing/2014/main" id="{81CA3989-3CFF-E74C-BD52-26F1054B4661}"/>
              </a:ext>
            </a:extLst>
          </p:cNvPr>
          <p:cNvSpPr/>
          <p:nvPr/>
        </p:nvSpPr>
        <p:spPr>
          <a:xfrm>
            <a:off x="1649506" y="2541292"/>
            <a:ext cx="6096000" cy="3046988"/>
          </a:xfrm>
          <a:prstGeom prst="rect">
            <a:avLst/>
          </a:prstGeom>
        </p:spPr>
        <p:txBody>
          <a:bodyPr>
            <a:spAutoFit/>
          </a:bodyPr>
          <a:lstStyle/>
          <a:p>
            <a:r>
              <a:rPr lang="en-GB" sz="2400" dirty="0">
                <a:ea typeface="Calibri" panose="020F0502020204030204" pitchFamily="34" charset="0"/>
                <a:cs typeface="Times New Roman" panose="02020603050405020304" pitchFamily="18" charset="0"/>
              </a:rPr>
              <a:t>The </a:t>
            </a:r>
            <a:r>
              <a:rPr lang="en-GB" sz="2400" b="1" dirty="0">
                <a:ea typeface="Calibri" panose="020F0502020204030204" pitchFamily="34" charset="0"/>
                <a:cs typeface="Times New Roman" panose="02020603050405020304" pitchFamily="18" charset="0"/>
              </a:rPr>
              <a:t>‘Fuzzy Select Tool’</a:t>
            </a:r>
            <a:r>
              <a:rPr lang="en-GB" sz="2400" dirty="0">
                <a:ea typeface="Calibri" panose="020F0502020204030204" pitchFamily="34" charset="0"/>
                <a:cs typeface="Times New Roman" panose="02020603050405020304" pitchFamily="18" charset="0"/>
              </a:rPr>
              <a:t> can be used to select and remove areas of the image that have similar colour hues.</a:t>
            </a:r>
          </a:p>
          <a:p>
            <a:r>
              <a:rPr lang="en-GB" sz="2400" dirty="0">
                <a:ea typeface="Calibri" panose="020F0502020204030204" pitchFamily="34" charset="0"/>
                <a:cs typeface="Times New Roman" panose="02020603050405020304" pitchFamily="18" charset="0"/>
              </a:rPr>
              <a:t>The </a:t>
            </a:r>
            <a:r>
              <a:rPr lang="en-GB" sz="2400" b="1" dirty="0">
                <a:ea typeface="Calibri" panose="020F0502020204030204" pitchFamily="34" charset="0"/>
                <a:cs typeface="Times New Roman" panose="02020603050405020304" pitchFamily="18" charset="0"/>
              </a:rPr>
              <a:t>‘Free Select Tool’</a:t>
            </a:r>
            <a:r>
              <a:rPr lang="en-GB" sz="2400" dirty="0">
                <a:ea typeface="Calibri" panose="020F0502020204030204" pitchFamily="34" charset="0"/>
                <a:cs typeface="Times New Roman" panose="02020603050405020304" pitchFamily="18" charset="0"/>
              </a:rPr>
              <a:t> can be used to hand draw around areas of the image, which can then be removed.</a:t>
            </a:r>
          </a:p>
          <a:p>
            <a:r>
              <a:rPr lang="en-GB" sz="2400" dirty="0">
                <a:ea typeface="Calibri" panose="020F0502020204030204" pitchFamily="34" charset="0"/>
                <a:cs typeface="Times New Roman" panose="02020603050405020304" pitchFamily="18" charset="0"/>
              </a:rPr>
              <a:t>Using a </a:t>
            </a:r>
            <a:r>
              <a:rPr lang="en-GB" sz="2400" b="1" dirty="0">
                <a:ea typeface="Calibri" panose="020F0502020204030204" pitchFamily="34" charset="0"/>
                <a:cs typeface="Times New Roman" panose="02020603050405020304" pitchFamily="18" charset="0"/>
              </a:rPr>
              <a:t>transparent background</a:t>
            </a:r>
            <a:r>
              <a:rPr lang="en-GB" sz="2400" dirty="0">
                <a:ea typeface="Calibri" panose="020F0502020204030204" pitchFamily="34" charset="0"/>
                <a:cs typeface="Times New Roman" panose="02020603050405020304" pitchFamily="18" charset="0"/>
              </a:rPr>
              <a:t>, it is possible to isolate part of an existing image and save it.</a:t>
            </a:r>
          </a:p>
        </p:txBody>
      </p:sp>
      <p:pic>
        <p:nvPicPr>
          <p:cNvPr id="10" name="Picture 9">
            <a:extLst>
              <a:ext uri="{FF2B5EF4-FFF2-40B4-BE49-F238E27FC236}">
                <a16:creationId xmlns:a16="http://schemas.microsoft.com/office/drawing/2014/main" id="{48E3A3E9-D63A-4DAA-B613-34FE9DD506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4413" y="2015931"/>
            <a:ext cx="5785956" cy="4339467"/>
          </a:xfrm>
          <a:prstGeom prst="rect">
            <a:avLst/>
          </a:prstGeom>
        </p:spPr>
      </p:pic>
      <p:sp>
        <p:nvSpPr>
          <p:cNvPr id="11" name="Rectangle 10">
            <a:extLst>
              <a:ext uri="{FF2B5EF4-FFF2-40B4-BE49-F238E27FC236}">
                <a16:creationId xmlns:a16="http://schemas.microsoft.com/office/drawing/2014/main" id="{651D226C-06EE-405B-8DFF-EE6DB4D198E2}"/>
              </a:ext>
            </a:extLst>
          </p:cNvPr>
          <p:cNvSpPr/>
          <p:nvPr/>
        </p:nvSpPr>
        <p:spPr>
          <a:xfrm>
            <a:off x="4373624" y="5988769"/>
            <a:ext cx="3444751" cy="523220"/>
          </a:xfrm>
          <a:prstGeom prst="rect">
            <a:avLst/>
          </a:prstGeom>
        </p:spPr>
        <p:txBody>
          <a:bodyPr wrap="square">
            <a:spAutoFit/>
          </a:bodyPr>
          <a:lstStyle/>
          <a:p>
            <a:r>
              <a:rPr lang="en-GB" sz="2800" dirty="0"/>
              <a:t>Now watch Video 5.1</a:t>
            </a:r>
          </a:p>
        </p:txBody>
      </p:sp>
    </p:spTree>
    <p:extLst>
      <p:ext uri="{BB962C8B-B14F-4D97-AF65-F5344CB8AC3E}">
        <p14:creationId xmlns:p14="http://schemas.microsoft.com/office/powerpoint/2010/main" val="1109557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fltVal val="0"/>
                                          </p:val>
                                        </p:tav>
                                        <p:tav tm="100000">
                                          <p:val>
                                            <p:strVal val="#ppt_w"/>
                                          </p:val>
                                        </p:tav>
                                      </p:tavLst>
                                    </p:anim>
                                    <p:anim calcmode="lin" valueType="num">
                                      <p:cBhvr>
                                        <p:cTn id="8" dur="1000" fill="hold"/>
                                        <p:tgtEl>
                                          <p:spTgt spid="11"/>
                                        </p:tgtEl>
                                        <p:attrNameLst>
                                          <p:attrName>ppt_h</p:attrName>
                                        </p:attrNameLst>
                                      </p:cBhvr>
                                      <p:tavLst>
                                        <p:tav tm="0">
                                          <p:val>
                                            <p:fltVal val="0"/>
                                          </p:val>
                                        </p:tav>
                                        <p:tav tm="100000">
                                          <p:val>
                                            <p:strVal val="#ppt_h"/>
                                          </p:val>
                                        </p:tav>
                                      </p:tavLst>
                                    </p:anim>
                                    <p:anim calcmode="lin" valueType="num">
                                      <p:cBhvr>
                                        <p:cTn id="9" dur="1000" fill="hold"/>
                                        <p:tgtEl>
                                          <p:spTgt spid="11"/>
                                        </p:tgtEl>
                                        <p:attrNameLst>
                                          <p:attrName>style.rotation</p:attrName>
                                        </p:attrNameLst>
                                      </p:cBhvr>
                                      <p:tavLst>
                                        <p:tav tm="0">
                                          <p:val>
                                            <p:fltVal val="90"/>
                                          </p:val>
                                        </p:tav>
                                        <p:tav tm="100000">
                                          <p:val>
                                            <p:fltVal val="0"/>
                                          </p:val>
                                        </p:tav>
                                      </p:tavLst>
                                    </p:anim>
                                    <p:animEffect transition="in" filter="fade">
                                      <p:cBhvr>
                                        <p:cTn id="10"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8459225-ABBD-BA43-8D3D-908B2E3CFE1B}"/>
              </a:ext>
            </a:extLst>
          </p:cNvPr>
          <p:cNvSpPr/>
          <p:nvPr/>
        </p:nvSpPr>
        <p:spPr>
          <a:xfrm>
            <a:off x="1584883" y="806748"/>
            <a:ext cx="7303281" cy="769441"/>
          </a:xfrm>
          <a:prstGeom prst="rect">
            <a:avLst/>
          </a:prstGeom>
        </p:spPr>
        <p:txBody>
          <a:bodyPr wrap="none">
            <a:spAutoFit/>
          </a:bodyPr>
          <a:lstStyle/>
          <a:p>
            <a:r>
              <a:rPr lang="en-GB" sz="4400" dirty="0">
                <a:solidFill>
                  <a:schemeClr val="bg1"/>
                </a:solidFill>
                <a:ea typeface="Calibri" panose="020F0502020204030204" pitchFamily="34" charset="0"/>
                <a:cs typeface="Times New Roman" panose="02020603050405020304" pitchFamily="18" charset="0"/>
              </a:rPr>
              <a:t>Activity 5.1: Isolating an image</a:t>
            </a:r>
            <a:r>
              <a:rPr lang="en-GB" sz="4400" dirty="0">
                <a:solidFill>
                  <a:schemeClr val="bg1"/>
                </a:solidFill>
              </a:rPr>
              <a:t> </a:t>
            </a:r>
            <a:endParaRPr lang="en-US" sz="4400" dirty="0">
              <a:solidFill>
                <a:schemeClr val="bg1"/>
              </a:solidFill>
            </a:endParaRPr>
          </a:p>
        </p:txBody>
      </p:sp>
      <p:pic>
        <p:nvPicPr>
          <p:cNvPr id="6" name="Picture 5" descr="A picture containing athletic game, basketball, sport&#10;&#10;Description automatically generated">
            <a:extLst>
              <a:ext uri="{FF2B5EF4-FFF2-40B4-BE49-F238E27FC236}">
                <a16:creationId xmlns:a16="http://schemas.microsoft.com/office/drawing/2014/main" id="{41979449-E9EE-7044-9910-99350EE689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5447" y="1882552"/>
            <a:ext cx="4441105" cy="4351338"/>
          </a:xfrm>
          <a:prstGeom prst="rect">
            <a:avLst/>
          </a:prstGeom>
        </p:spPr>
      </p:pic>
    </p:spTree>
    <p:extLst>
      <p:ext uri="{BB962C8B-B14F-4D97-AF65-F5344CB8AC3E}">
        <p14:creationId xmlns:p14="http://schemas.microsoft.com/office/powerpoint/2010/main" val="40039270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17E3F-6113-284B-87E4-59D3B2D0D38E}"/>
              </a:ext>
            </a:extLst>
          </p:cNvPr>
          <p:cNvSpPr>
            <a:spLocks noGrp="1"/>
          </p:cNvSpPr>
          <p:nvPr>
            <p:ph type="title"/>
          </p:nvPr>
        </p:nvSpPr>
        <p:spPr>
          <a:xfrm>
            <a:off x="1596353" y="807868"/>
            <a:ext cx="10515600" cy="825623"/>
          </a:xfrm>
        </p:spPr>
        <p:txBody>
          <a:bodyPr/>
          <a:lstStyle/>
          <a:p>
            <a:r>
              <a:rPr lang="en-GB" b="1" dirty="0">
                <a:solidFill>
                  <a:schemeClr val="bg1"/>
                </a:solidFill>
              </a:rPr>
              <a:t>Quiz 5 </a:t>
            </a:r>
            <a:endParaRPr lang="en-US" dirty="0"/>
          </a:p>
        </p:txBody>
      </p:sp>
      <p:pic>
        <p:nvPicPr>
          <p:cNvPr id="6" name="Picture 5" descr="A picture containing athletic game, basketball, sport&#10;&#10;Description automatically generated">
            <a:extLst>
              <a:ext uri="{FF2B5EF4-FFF2-40B4-BE49-F238E27FC236}">
                <a16:creationId xmlns:a16="http://schemas.microsoft.com/office/drawing/2014/main" id="{41E9A466-A562-4F63-9BE9-5B87F21134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5447" y="1882552"/>
            <a:ext cx="4441105" cy="4351338"/>
          </a:xfrm>
          <a:prstGeom prst="rect">
            <a:avLst/>
          </a:prstGeom>
        </p:spPr>
      </p:pic>
    </p:spTree>
    <p:extLst>
      <p:ext uri="{BB962C8B-B14F-4D97-AF65-F5344CB8AC3E}">
        <p14:creationId xmlns:p14="http://schemas.microsoft.com/office/powerpoint/2010/main" val="18588521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579</TotalTime>
  <Words>613</Words>
  <Application>Microsoft Office PowerPoint</Application>
  <PresentationFormat>Widescreen</PresentationFormat>
  <Paragraphs>48</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Symbol</vt:lpstr>
      <vt:lpstr>Office Theme</vt:lpstr>
      <vt:lpstr>Getting started</vt:lpstr>
      <vt:lpstr>Objectives</vt:lpstr>
      <vt:lpstr>PowerPoint Presentation</vt:lpstr>
      <vt:lpstr>Bitmap graphics </vt:lpstr>
      <vt:lpstr>Bitmap graphics </vt:lpstr>
      <vt:lpstr>Bitmap graphics and quality </vt:lpstr>
      <vt:lpstr>Bitmap graphics and file size </vt:lpstr>
      <vt:lpstr>Bitmap graphics and file types</vt:lpstr>
      <vt:lpstr>PowerPoint Presentation</vt:lpstr>
      <vt:lpstr>GIMP (GNU Image Manipulation Program) </vt:lpstr>
      <vt:lpstr>PowerPoint Presentation</vt:lpstr>
      <vt:lpstr>Quiz 5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Introducing spreadsheets</dc:title>
  <dc:creator>Lea Albrechtsen</dc:creator>
  <cp:lastModifiedBy>Lea Albrechtsen</cp:lastModifiedBy>
  <cp:revision>34</cp:revision>
  <dcterms:created xsi:type="dcterms:W3CDTF">2020-11-04T15:22:46Z</dcterms:created>
  <dcterms:modified xsi:type="dcterms:W3CDTF">2021-05-14T17:10:30Z</dcterms:modified>
</cp:coreProperties>
</file>