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73" r:id="rId2"/>
    <p:sldId id="257" r:id="rId3"/>
    <p:sldId id="258" r:id="rId4"/>
    <p:sldId id="277" r:id="rId5"/>
    <p:sldId id="259" r:id="rId6"/>
    <p:sldId id="274" r:id="rId7"/>
    <p:sldId id="278" r:id="rId8"/>
    <p:sldId id="279" r:id="rId9"/>
    <p:sldId id="280" r:id="rId10"/>
    <p:sldId id="276" r:id="rId11"/>
    <p:sldId id="281" r:id="rId12"/>
    <p:sldId id="282" r:id="rId13"/>
    <p:sldId id="283" r:id="rId14"/>
    <p:sldId id="284" r:id="rId15"/>
  </p:sldIdLst>
  <p:sldSz cx="12192000" cy="6858000"/>
  <p:notesSz cx="6858000" cy="9144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a Albrechtsen" initials="LA" lastIdx="3" clrIdx="0">
    <p:extLst>
      <p:ext uri="{19B8F6BF-5375-455C-9EA6-DF929625EA0E}">
        <p15:presenceInfo xmlns:p15="http://schemas.microsoft.com/office/powerpoint/2012/main" userId="S::Lea.Albrechtsen@hoddereducation.co.uk::4df490f3-5904-4e82-a5b6-23281874b6f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9A7"/>
    <a:srgbClr val="0069B4"/>
    <a:srgbClr val="2197A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636" autoAdjust="0"/>
    <p:restoredTop sz="94660"/>
  </p:normalViewPr>
  <p:slideViewPr>
    <p:cSldViewPr snapToGrid="0">
      <p:cViewPr varScale="1">
        <p:scale>
          <a:sx n="110" d="100"/>
          <a:sy n="110" d="100"/>
        </p:scale>
        <p:origin x="28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A71C05-428A-452A-AFC3-48DD62A1D415}" type="datetimeFigureOut">
              <a:rPr lang="en-GB" smtClean="0"/>
              <a:t>29/06/2021</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7D0F9B-697C-47F7-953D-BF2A8C386EBC}" type="slidenum">
              <a:rPr lang="en-GB" smtClean="0"/>
              <a:t>‹#›</a:t>
            </a:fld>
            <a:endParaRPr lang="en-GB"/>
          </a:p>
        </p:txBody>
      </p:sp>
    </p:spTree>
    <p:extLst>
      <p:ext uri="{BB962C8B-B14F-4D97-AF65-F5344CB8AC3E}">
        <p14:creationId xmlns:p14="http://schemas.microsoft.com/office/powerpoint/2010/main" val="3097169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67D0F9B-697C-47F7-953D-BF2A8C386EBC}" type="slidenum">
              <a:rPr lang="en-GB" smtClean="0"/>
              <a:t>1</a:t>
            </a:fld>
            <a:endParaRPr lang="en-GB"/>
          </a:p>
        </p:txBody>
      </p:sp>
    </p:spTree>
    <p:extLst>
      <p:ext uri="{BB962C8B-B14F-4D97-AF65-F5344CB8AC3E}">
        <p14:creationId xmlns:p14="http://schemas.microsoft.com/office/powerpoint/2010/main" val="27963238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67D0F9B-697C-47F7-953D-BF2A8C386EBC}" type="slidenum">
              <a:rPr lang="en-GB" smtClean="0"/>
              <a:t>2</a:t>
            </a:fld>
            <a:endParaRPr lang="en-GB"/>
          </a:p>
        </p:txBody>
      </p:sp>
    </p:spTree>
    <p:extLst>
      <p:ext uri="{BB962C8B-B14F-4D97-AF65-F5344CB8AC3E}">
        <p14:creationId xmlns:p14="http://schemas.microsoft.com/office/powerpoint/2010/main" val="41894750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67D0F9B-697C-47F7-953D-BF2A8C386EBC}" type="slidenum">
              <a:rPr lang="en-GB" smtClean="0"/>
              <a:t>3</a:t>
            </a:fld>
            <a:endParaRPr lang="en-GB"/>
          </a:p>
        </p:txBody>
      </p:sp>
    </p:spTree>
    <p:extLst>
      <p:ext uri="{BB962C8B-B14F-4D97-AF65-F5344CB8AC3E}">
        <p14:creationId xmlns:p14="http://schemas.microsoft.com/office/powerpoint/2010/main" val="700766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67D0F9B-697C-47F7-953D-BF2A8C386EBC}" type="slidenum">
              <a:rPr lang="en-GB" smtClean="0"/>
              <a:t>4</a:t>
            </a:fld>
            <a:endParaRPr lang="en-GB"/>
          </a:p>
        </p:txBody>
      </p:sp>
    </p:spTree>
    <p:extLst>
      <p:ext uri="{BB962C8B-B14F-4D97-AF65-F5344CB8AC3E}">
        <p14:creationId xmlns:p14="http://schemas.microsoft.com/office/powerpoint/2010/main" val="1148817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67D0F9B-697C-47F7-953D-BF2A8C386EBC}" type="slidenum">
              <a:rPr lang="en-GB" smtClean="0"/>
              <a:t>5</a:t>
            </a:fld>
            <a:endParaRPr lang="en-GB"/>
          </a:p>
        </p:txBody>
      </p:sp>
    </p:spTree>
    <p:extLst>
      <p:ext uri="{BB962C8B-B14F-4D97-AF65-F5344CB8AC3E}">
        <p14:creationId xmlns:p14="http://schemas.microsoft.com/office/powerpoint/2010/main" val="2823267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67D0F9B-697C-47F7-953D-BF2A8C386EBC}" type="slidenum">
              <a:rPr lang="en-GB" smtClean="0"/>
              <a:t>6</a:t>
            </a:fld>
            <a:endParaRPr lang="en-GB"/>
          </a:p>
        </p:txBody>
      </p:sp>
    </p:spTree>
    <p:extLst>
      <p:ext uri="{BB962C8B-B14F-4D97-AF65-F5344CB8AC3E}">
        <p14:creationId xmlns:p14="http://schemas.microsoft.com/office/powerpoint/2010/main" val="33980033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67D0F9B-697C-47F7-953D-BF2A8C386EBC}" type="slidenum">
              <a:rPr lang="en-GB" smtClean="0"/>
              <a:t>7</a:t>
            </a:fld>
            <a:endParaRPr lang="en-GB"/>
          </a:p>
        </p:txBody>
      </p:sp>
    </p:spTree>
    <p:extLst>
      <p:ext uri="{BB962C8B-B14F-4D97-AF65-F5344CB8AC3E}">
        <p14:creationId xmlns:p14="http://schemas.microsoft.com/office/powerpoint/2010/main" val="36672799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67D0F9B-697C-47F7-953D-BF2A8C386EBC}" type="slidenum">
              <a:rPr lang="en-GB" smtClean="0"/>
              <a:t>8</a:t>
            </a:fld>
            <a:endParaRPr lang="en-GB"/>
          </a:p>
        </p:txBody>
      </p:sp>
    </p:spTree>
    <p:extLst>
      <p:ext uri="{BB962C8B-B14F-4D97-AF65-F5344CB8AC3E}">
        <p14:creationId xmlns:p14="http://schemas.microsoft.com/office/powerpoint/2010/main" val="27592857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67D0F9B-697C-47F7-953D-BF2A8C386EBC}" type="slidenum">
              <a:rPr lang="en-GB" smtClean="0"/>
              <a:t>9</a:t>
            </a:fld>
            <a:endParaRPr lang="en-GB"/>
          </a:p>
        </p:txBody>
      </p:sp>
    </p:spTree>
    <p:extLst>
      <p:ext uri="{BB962C8B-B14F-4D97-AF65-F5344CB8AC3E}">
        <p14:creationId xmlns:p14="http://schemas.microsoft.com/office/powerpoint/2010/main" val="38812151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67D0F9B-697C-47F7-953D-BF2A8C386EBC}" type="slidenum">
              <a:rPr lang="en-GB" smtClean="0"/>
              <a:t>10</a:t>
            </a:fld>
            <a:endParaRPr lang="en-GB"/>
          </a:p>
        </p:txBody>
      </p:sp>
    </p:spTree>
    <p:extLst>
      <p:ext uri="{BB962C8B-B14F-4D97-AF65-F5344CB8AC3E}">
        <p14:creationId xmlns:p14="http://schemas.microsoft.com/office/powerpoint/2010/main" val="39676113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67D0F9B-697C-47F7-953D-BF2A8C386EBC}" type="slidenum">
              <a:rPr lang="en-GB" smtClean="0"/>
              <a:t>11</a:t>
            </a:fld>
            <a:endParaRPr lang="en-GB"/>
          </a:p>
        </p:txBody>
      </p:sp>
    </p:spTree>
    <p:extLst>
      <p:ext uri="{BB962C8B-B14F-4D97-AF65-F5344CB8AC3E}">
        <p14:creationId xmlns:p14="http://schemas.microsoft.com/office/powerpoint/2010/main" val="31326606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67D0F9B-697C-47F7-953D-BF2A8C386EBC}" type="slidenum">
              <a:rPr lang="en-GB" smtClean="0"/>
              <a:t>12</a:t>
            </a:fld>
            <a:endParaRPr lang="en-GB"/>
          </a:p>
        </p:txBody>
      </p:sp>
    </p:spTree>
    <p:extLst>
      <p:ext uri="{BB962C8B-B14F-4D97-AF65-F5344CB8AC3E}">
        <p14:creationId xmlns:p14="http://schemas.microsoft.com/office/powerpoint/2010/main" val="14035321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67D0F9B-697C-47F7-953D-BF2A8C386EBC}" type="slidenum">
              <a:rPr lang="en-GB" smtClean="0"/>
              <a:t>13</a:t>
            </a:fld>
            <a:endParaRPr lang="en-GB"/>
          </a:p>
        </p:txBody>
      </p:sp>
    </p:spTree>
    <p:extLst>
      <p:ext uri="{BB962C8B-B14F-4D97-AF65-F5344CB8AC3E}">
        <p14:creationId xmlns:p14="http://schemas.microsoft.com/office/powerpoint/2010/main" val="13433911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67D0F9B-697C-47F7-953D-BF2A8C386EBC}" type="slidenum">
              <a:rPr lang="en-GB" smtClean="0"/>
              <a:t>14</a:t>
            </a:fld>
            <a:endParaRPr lang="en-GB"/>
          </a:p>
        </p:txBody>
      </p:sp>
    </p:spTree>
    <p:extLst>
      <p:ext uri="{BB962C8B-B14F-4D97-AF65-F5344CB8AC3E}">
        <p14:creationId xmlns:p14="http://schemas.microsoft.com/office/powerpoint/2010/main" val="1072971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F7712-1F3B-4253-AEF1-0FE171523E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DC14F2F-A2B8-4861-8B33-2CF08A1C25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3137814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60902-80CF-4DD3-B59F-8E58611CF13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B756315-CBCB-4124-93B3-3DEF3C56BD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DFA47B5-60C4-46E0-B317-50F50E6D857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29/06/2021</a:t>
            </a:fld>
            <a:endParaRPr lang="en-GB"/>
          </a:p>
        </p:txBody>
      </p:sp>
      <p:sp>
        <p:nvSpPr>
          <p:cNvPr id="5" name="Footer Placeholder 4">
            <a:extLst>
              <a:ext uri="{FF2B5EF4-FFF2-40B4-BE49-F238E27FC236}">
                <a16:creationId xmlns:a16="http://schemas.microsoft.com/office/drawing/2014/main" id="{5F049A0D-7474-4882-A51A-CF35E154FD2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99F5A12C-5BED-457E-A6CE-2E58C8D0DEDC}"/>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323353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C2461-8DBB-43F0-A3AC-126E643979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596A727-278D-4E57-850B-78E0D727C7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41C733-75AA-40FE-8179-B58FA4EA5EE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29/06/2021</a:t>
            </a:fld>
            <a:endParaRPr lang="en-GB"/>
          </a:p>
        </p:txBody>
      </p:sp>
      <p:sp>
        <p:nvSpPr>
          <p:cNvPr id="5" name="Footer Placeholder 4">
            <a:extLst>
              <a:ext uri="{FF2B5EF4-FFF2-40B4-BE49-F238E27FC236}">
                <a16:creationId xmlns:a16="http://schemas.microsoft.com/office/drawing/2014/main" id="{FB8C4D2E-FA87-41DA-961F-7D250DD08DA8}"/>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BF020F2E-2A86-4F16-B83F-E86E7319950C}"/>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361104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5B458-3AE6-4C21-BEBE-F7B76061980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32FF206-47D4-451B-80B7-578E10A3E6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1D2DF79-B13E-46C5-AAA1-F49C3BABAB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F199702-3758-423C-8C91-550D5C885DF9}"/>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29/06/2021</a:t>
            </a:fld>
            <a:endParaRPr lang="en-GB"/>
          </a:p>
        </p:txBody>
      </p:sp>
      <p:sp>
        <p:nvSpPr>
          <p:cNvPr id="6" name="Footer Placeholder 5">
            <a:extLst>
              <a:ext uri="{FF2B5EF4-FFF2-40B4-BE49-F238E27FC236}">
                <a16:creationId xmlns:a16="http://schemas.microsoft.com/office/drawing/2014/main" id="{4355CC31-BF31-4EB1-8B54-2DD0D6BE79BC}"/>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303EFAF2-4586-4670-8EF7-78067B1872A1}"/>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4116154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05FA2-A60C-405C-A307-880C049CB03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A970388-4034-4A46-8B98-D37491E014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C39A8B-6B00-4329-AC44-AD6EBE236E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55DFF08-1C59-4E60-A964-4D4A369007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548497-A585-4527-B8A6-BB01B9FBC4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77C2D4B-BCC3-48CF-B358-D817886727C0}"/>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29/06/2021</a:t>
            </a:fld>
            <a:endParaRPr lang="en-GB"/>
          </a:p>
        </p:txBody>
      </p:sp>
      <p:sp>
        <p:nvSpPr>
          <p:cNvPr id="8" name="Footer Placeholder 7">
            <a:extLst>
              <a:ext uri="{FF2B5EF4-FFF2-40B4-BE49-F238E27FC236}">
                <a16:creationId xmlns:a16="http://schemas.microsoft.com/office/drawing/2014/main" id="{B393C415-FAAE-444A-BBA1-9059E1C450A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9" name="Slide Number Placeholder 8">
            <a:extLst>
              <a:ext uri="{FF2B5EF4-FFF2-40B4-BE49-F238E27FC236}">
                <a16:creationId xmlns:a16="http://schemas.microsoft.com/office/drawing/2014/main" id="{16C512DB-E555-4910-92DC-7AB19F87F8E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47741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D8A33-5CA5-4826-9B83-0B2F6A50C2B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17C1E61-1B5E-44DC-BC0F-2F956B04C019}"/>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29/06/2021</a:t>
            </a:fld>
            <a:endParaRPr lang="en-GB"/>
          </a:p>
        </p:txBody>
      </p:sp>
      <p:sp>
        <p:nvSpPr>
          <p:cNvPr id="4" name="Footer Placeholder 3">
            <a:extLst>
              <a:ext uri="{FF2B5EF4-FFF2-40B4-BE49-F238E27FC236}">
                <a16:creationId xmlns:a16="http://schemas.microsoft.com/office/drawing/2014/main" id="{DBA212BA-9EF0-4463-A9C0-997D5572049B}"/>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a:extLst>
              <a:ext uri="{FF2B5EF4-FFF2-40B4-BE49-F238E27FC236}">
                <a16:creationId xmlns:a16="http://schemas.microsoft.com/office/drawing/2014/main" id="{E350D64F-9F3A-43FB-A563-07763EE16E2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279599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739767-A677-43FB-A13E-C6E76D21E158}"/>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29/06/2021</a:t>
            </a:fld>
            <a:endParaRPr lang="en-GB"/>
          </a:p>
        </p:txBody>
      </p:sp>
      <p:sp>
        <p:nvSpPr>
          <p:cNvPr id="3" name="Footer Placeholder 2">
            <a:extLst>
              <a:ext uri="{FF2B5EF4-FFF2-40B4-BE49-F238E27FC236}">
                <a16:creationId xmlns:a16="http://schemas.microsoft.com/office/drawing/2014/main" id="{BFA103BA-C2DE-41DE-842B-306DECB788D5}"/>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5B8320D2-03FC-47A8-B437-7B7CEBDD6176}"/>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747179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B20E6-8664-4FD7-A9B2-0B5C17E861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D75017E-7CE6-4AFE-8756-092A858401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85C17A6-B2E1-42BB-9629-032C80545F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1DC4D7-18F9-4992-BB61-15FA97A5299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29/06/2021</a:t>
            </a:fld>
            <a:endParaRPr lang="en-GB"/>
          </a:p>
        </p:txBody>
      </p:sp>
      <p:sp>
        <p:nvSpPr>
          <p:cNvPr id="6" name="Footer Placeholder 5">
            <a:extLst>
              <a:ext uri="{FF2B5EF4-FFF2-40B4-BE49-F238E27FC236}">
                <a16:creationId xmlns:a16="http://schemas.microsoft.com/office/drawing/2014/main" id="{4FB52144-EB56-46FB-8C3D-7A8702354378}"/>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E7142B02-C27D-4AC0-9DE7-A653F338FB9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895581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FD8A0-DA8A-463F-AC82-9A3D896B80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3B553CB-6BB8-4D69-8270-E69093C148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00E0B06-F972-42E3-B94A-6BA4824458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FCFE24-5759-425E-A7E5-6EAACD13BAA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29/06/2021</a:t>
            </a:fld>
            <a:endParaRPr lang="en-GB"/>
          </a:p>
        </p:txBody>
      </p:sp>
      <p:sp>
        <p:nvSpPr>
          <p:cNvPr id="6" name="Footer Placeholder 5">
            <a:extLst>
              <a:ext uri="{FF2B5EF4-FFF2-40B4-BE49-F238E27FC236}">
                <a16:creationId xmlns:a16="http://schemas.microsoft.com/office/drawing/2014/main" id="{EC458F3E-34B5-48AA-B148-66ED69F30671}"/>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AB133722-4E46-4BF0-841D-DC92DCB48251}"/>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2153194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A43C2-4F61-40F8-A06C-596F42B7D0A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012D4A7-8F4B-484D-90BE-4A6A303F65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BBE0C66-2DCD-4454-98BE-EE8ADD1D798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29/06/2021</a:t>
            </a:fld>
            <a:endParaRPr lang="en-GB"/>
          </a:p>
        </p:txBody>
      </p:sp>
      <p:sp>
        <p:nvSpPr>
          <p:cNvPr id="5" name="Footer Placeholder 4">
            <a:extLst>
              <a:ext uri="{FF2B5EF4-FFF2-40B4-BE49-F238E27FC236}">
                <a16:creationId xmlns:a16="http://schemas.microsoft.com/office/drawing/2014/main" id="{B6C655C5-A5ED-4766-97E4-846A805367DD}"/>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17ADFEEA-B282-4D56-A557-4193031EB4A7}"/>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901290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1B7A8B-8DD3-4239-8EA1-87394625413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5621B91-126F-434B-86F2-89E6778E91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7BFCCA6-FBA0-4A4B-97BC-8B2465C0186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29/06/2021</a:t>
            </a:fld>
            <a:endParaRPr lang="en-GB"/>
          </a:p>
        </p:txBody>
      </p:sp>
      <p:sp>
        <p:nvSpPr>
          <p:cNvPr id="5" name="Footer Placeholder 4">
            <a:extLst>
              <a:ext uri="{FF2B5EF4-FFF2-40B4-BE49-F238E27FC236}">
                <a16:creationId xmlns:a16="http://schemas.microsoft.com/office/drawing/2014/main" id="{5A17EED6-4B0F-4C58-A54B-C4F0F72D7BAA}"/>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51249905-D4AB-4930-9B2A-6E8E550A0D1E}"/>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308111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B9995C-D844-455E-9E19-BF66C81EFD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D204189-41E9-4E09-B418-B033E7F147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4">
            <a:extLst>
              <a:ext uri="{FF2B5EF4-FFF2-40B4-BE49-F238E27FC236}">
                <a16:creationId xmlns:a16="http://schemas.microsoft.com/office/drawing/2014/main" id="{4D739203-7E29-BA40-9D51-8F9968799BF3}"/>
              </a:ext>
            </a:extLst>
          </p:cNvPr>
          <p:cNvSpPr txBox="1">
            <a:spLocks/>
          </p:cNvSpPr>
          <p:nvPr userDrawn="1"/>
        </p:nvSpPr>
        <p:spPr>
          <a:xfrm>
            <a:off x="7547114" y="6380197"/>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GB" sz="1200" dirty="0"/>
              <a:t>© Hodder &amp; Stoughton Limited 2021</a:t>
            </a:r>
          </a:p>
        </p:txBody>
      </p:sp>
      <p:pic>
        <p:nvPicPr>
          <p:cNvPr id="5" name="Picture 4" descr="Shape, rectangle&#10;&#10;Description automatically generated">
            <a:extLst>
              <a:ext uri="{FF2B5EF4-FFF2-40B4-BE49-F238E27FC236}">
                <a16:creationId xmlns:a16="http://schemas.microsoft.com/office/drawing/2014/main" id="{E7D3DFEF-2D07-994C-B4C2-2C620945E405}"/>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238036" cy="1647814"/>
          </a:xfrm>
          <a:prstGeom prst="rect">
            <a:avLst/>
          </a:prstGeom>
        </p:spPr>
      </p:pic>
    </p:spTree>
    <p:extLst>
      <p:ext uri="{BB962C8B-B14F-4D97-AF65-F5344CB8AC3E}">
        <p14:creationId xmlns:p14="http://schemas.microsoft.com/office/powerpoint/2010/main" val="26587743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2B9C3-E44C-4313-895D-D43DD1C92CE3}"/>
              </a:ext>
            </a:extLst>
          </p:cNvPr>
          <p:cNvSpPr>
            <a:spLocks noGrp="1"/>
          </p:cNvSpPr>
          <p:nvPr>
            <p:ph type="ctrTitle"/>
          </p:nvPr>
        </p:nvSpPr>
        <p:spPr>
          <a:xfrm>
            <a:off x="1079541" y="3250362"/>
            <a:ext cx="6226128" cy="852692"/>
          </a:xfrm>
        </p:spPr>
        <p:txBody>
          <a:bodyPr>
            <a:normAutofit/>
          </a:bodyPr>
          <a:lstStyle/>
          <a:p>
            <a:pPr algn="r"/>
            <a:r>
              <a:rPr lang="en-GB" sz="4800" b="1" dirty="0"/>
              <a:t>Computing components</a:t>
            </a:r>
          </a:p>
        </p:txBody>
      </p:sp>
      <p:sp>
        <p:nvSpPr>
          <p:cNvPr id="11" name="Rectangle 10">
            <a:extLst>
              <a:ext uri="{FF2B5EF4-FFF2-40B4-BE49-F238E27FC236}">
                <a16:creationId xmlns:a16="http://schemas.microsoft.com/office/drawing/2014/main" id="{5346DB13-257C-4484-9CB0-C755672B55D3}"/>
              </a:ext>
            </a:extLst>
          </p:cNvPr>
          <p:cNvSpPr/>
          <p:nvPr/>
        </p:nvSpPr>
        <p:spPr>
          <a:xfrm>
            <a:off x="3596961" y="4103054"/>
            <a:ext cx="3708708" cy="400110"/>
          </a:xfrm>
          <a:prstGeom prst="rect">
            <a:avLst/>
          </a:prstGeom>
        </p:spPr>
        <p:txBody>
          <a:bodyPr wrap="none">
            <a:spAutoFit/>
          </a:bodyPr>
          <a:lstStyle/>
          <a:p>
            <a:pPr algn="r"/>
            <a:r>
              <a:rPr lang="en-GB" sz="2000" b="1" dirty="0">
                <a:solidFill>
                  <a:srgbClr val="0089A7"/>
                </a:solidFill>
                <a:latin typeface="Calibri" panose="020F0502020204030204" pitchFamily="34" charset="0"/>
                <a:ea typeface="Times New Roman" panose="02020603050405020304" pitchFamily="18" charset="0"/>
              </a:rPr>
              <a:t>Lesson 4: Storage devices/media </a:t>
            </a:r>
            <a:endParaRPr lang="en-GB" sz="2000" b="1" dirty="0">
              <a:solidFill>
                <a:srgbClr val="0089A7"/>
              </a:solidFill>
            </a:endParaRPr>
          </a:p>
        </p:txBody>
      </p:sp>
      <p:pic>
        <p:nvPicPr>
          <p:cNvPr id="5" name="Picture 4">
            <a:extLst>
              <a:ext uri="{FF2B5EF4-FFF2-40B4-BE49-F238E27FC236}">
                <a16:creationId xmlns:a16="http://schemas.microsoft.com/office/drawing/2014/main" id="{2595D9FA-722A-4A52-88B1-73029AAA8693}"/>
              </a:ext>
            </a:extLst>
          </p:cNvPr>
          <p:cNvPicPr>
            <a:picLocks noChangeAspect="1"/>
          </p:cNvPicPr>
          <p:nvPr/>
        </p:nvPicPr>
        <p:blipFill>
          <a:blip r:embed="rId3"/>
          <a:stretch>
            <a:fillRect/>
          </a:stretch>
        </p:blipFill>
        <p:spPr>
          <a:xfrm>
            <a:off x="7305669" y="2885133"/>
            <a:ext cx="3115069" cy="2435843"/>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412213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C4667-2A3C-4536-9386-00402F3C6EE6}"/>
              </a:ext>
            </a:extLst>
          </p:cNvPr>
          <p:cNvSpPr>
            <a:spLocks noGrp="1"/>
          </p:cNvSpPr>
          <p:nvPr>
            <p:ph type="title"/>
          </p:nvPr>
        </p:nvSpPr>
        <p:spPr>
          <a:xfrm>
            <a:off x="1593636" y="840449"/>
            <a:ext cx="9634330" cy="766349"/>
          </a:xfrm>
        </p:spPr>
        <p:txBody>
          <a:bodyPr/>
          <a:lstStyle/>
          <a:p>
            <a:r>
              <a:rPr lang="en-GB" b="1" dirty="0">
                <a:solidFill>
                  <a:schemeClr val="bg1"/>
                </a:solidFill>
              </a:rPr>
              <a:t>Objectives</a:t>
            </a:r>
          </a:p>
        </p:txBody>
      </p:sp>
      <p:sp>
        <p:nvSpPr>
          <p:cNvPr id="4" name="Rectangle 3">
            <a:extLst>
              <a:ext uri="{FF2B5EF4-FFF2-40B4-BE49-F238E27FC236}">
                <a16:creationId xmlns:a16="http://schemas.microsoft.com/office/drawing/2014/main" id="{3866CB4F-B393-42B8-A4CF-03730073A920}"/>
              </a:ext>
            </a:extLst>
          </p:cNvPr>
          <p:cNvSpPr/>
          <p:nvPr/>
        </p:nvSpPr>
        <p:spPr>
          <a:xfrm>
            <a:off x="1593636" y="2321940"/>
            <a:ext cx="7013651" cy="3539430"/>
          </a:xfrm>
          <a:prstGeom prst="rect">
            <a:avLst/>
          </a:prstGeom>
        </p:spPr>
        <p:txBody>
          <a:bodyPr wrap="square">
            <a:spAutoFit/>
          </a:bodyPr>
          <a:lstStyle/>
          <a:p>
            <a:pPr>
              <a:spcAft>
                <a:spcPts val="0"/>
              </a:spcAft>
            </a:pPr>
            <a:r>
              <a:rPr lang="en-GB" sz="3200" dirty="0">
                <a:latin typeface="Calibri" panose="020F0502020204030204" pitchFamily="34" charset="0"/>
                <a:ea typeface="Calibri" panose="020F0502020204030204" pitchFamily="34" charset="0"/>
              </a:rPr>
              <a:t>In this lesson, you will learn how to:</a:t>
            </a:r>
            <a:endParaRPr lang="en-GB" sz="5400" dirty="0">
              <a:latin typeface="Times New Roman" panose="02020603050405020304" pitchFamily="18" charset="0"/>
              <a:ea typeface="Times New Roman" panose="02020603050405020304" pitchFamily="18" charset="0"/>
            </a:endParaRPr>
          </a:p>
          <a:p>
            <a:pPr marL="342900" lvl="0" indent="-342900">
              <a:spcAft>
                <a:spcPts val="0"/>
              </a:spcAft>
              <a:buFont typeface="Arial" panose="020B0604020202020204" pitchFamily="34" charset="0"/>
              <a:buChar char="●"/>
            </a:pPr>
            <a:r>
              <a:rPr lang="en-GB" sz="2400" dirty="0">
                <a:ea typeface="Calibri" panose="020F0502020204030204" pitchFamily="34" charset="0"/>
                <a:cs typeface="Noto Sans Symbols"/>
              </a:rPr>
              <a:t>explain the difference between storage devices and storage media</a:t>
            </a:r>
          </a:p>
          <a:p>
            <a:pPr marL="342900" lvl="0" indent="-342900">
              <a:spcAft>
                <a:spcPts val="0"/>
              </a:spcAft>
              <a:buFont typeface="Arial" panose="020B0604020202020204" pitchFamily="34" charset="0"/>
              <a:buChar char="●"/>
            </a:pPr>
            <a:r>
              <a:rPr lang="en-GB" sz="2400" dirty="0">
                <a:ea typeface="Calibri" panose="020F0502020204030204" pitchFamily="34" charset="0"/>
                <a:cs typeface="Noto Sans Symbols"/>
              </a:rPr>
              <a:t>explain the difference between primary and secondary storage</a:t>
            </a:r>
          </a:p>
          <a:p>
            <a:pPr marL="342900" lvl="0" indent="-342900">
              <a:spcAft>
                <a:spcPts val="0"/>
              </a:spcAft>
              <a:buFont typeface="Arial" panose="020B0604020202020204" pitchFamily="34" charset="0"/>
              <a:buChar char="●"/>
            </a:pPr>
            <a:r>
              <a:rPr lang="en-GB" sz="2400" dirty="0">
                <a:ea typeface="Calibri" panose="020F0502020204030204" pitchFamily="34" charset="0"/>
                <a:cs typeface="Noto Sans Symbols"/>
              </a:rPr>
              <a:t>identify the different types of storage devices/media</a:t>
            </a:r>
          </a:p>
          <a:p>
            <a:pPr marL="342900" lvl="0" indent="-342900">
              <a:spcAft>
                <a:spcPts val="0"/>
              </a:spcAft>
              <a:buFont typeface="Arial" panose="020B0604020202020204" pitchFamily="34" charset="0"/>
              <a:buChar char="●"/>
            </a:pPr>
            <a:r>
              <a:rPr lang="en-GB" sz="2400" dirty="0">
                <a:ea typeface="Calibri" panose="020F0502020204030204" pitchFamily="34" charset="0"/>
                <a:cs typeface="Noto Sans Symbols"/>
              </a:rPr>
              <a:t>justify the most appropriate storage device/storage medium for a given scenario.</a:t>
            </a:r>
          </a:p>
        </p:txBody>
      </p:sp>
    </p:spTree>
    <p:extLst>
      <p:ext uri="{BB962C8B-B14F-4D97-AF65-F5344CB8AC3E}">
        <p14:creationId xmlns:p14="http://schemas.microsoft.com/office/powerpoint/2010/main" val="1699810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905C-00CB-4FC9-83B7-66A2E3C077C8}"/>
              </a:ext>
            </a:extLst>
          </p:cNvPr>
          <p:cNvSpPr>
            <a:spLocks noGrp="1"/>
          </p:cNvSpPr>
          <p:nvPr>
            <p:ph type="title"/>
          </p:nvPr>
        </p:nvSpPr>
        <p:spPr>
          <a:xfrm>
            <a:off x="1588711" y="844826"/>
            <a:ext cx="9773478" cy="845862"/>
          </a:xfrm>
        </p:spPr>
        <p:txBody>
          <a:bodyPr/>
          <a:lstStyle/>
          <a:p>
            <a:r>
              <a:rPr lang="en-GB" b="1" dirty="0">
                <a:solidFill>
                  <a:schemeClr val="bg1"/>
                </a:solidFill>
              </a:rPr>
              <a:t>Storage devices and storage media</a:t>
            </a:r>
          </a:p>
        </p:txBody>
      </p:sp>
      <p:sp>
        <p:nvSpPr>
          <p:cNvPr id="5" name="Rectangle 4">
            <a:extLst>
              <a:ext uri="{FF2B5EF4-FFF2-40B4-BE49-F238E27FC236}">
                <a16:creationId xmlns:a16="http://schemas.microsoft.com/office/drawing/2014/main" id="{99C16133-053C-46DB-A786-33A3716F31F6}"/>
              </a:ext>
            </a:extLst>
          </p:cNvPr>
          <p:cNvSpPr/>
          <p:nvPr/>
        </p:nvSpPr>
        <p:spPr>
          <a:xfrm>
            <a:off x="1588710" y="2111881"/>
            <a:ext cx="9465370" cy="4154984"/>
          </a:xfrm>
          <a:prstGeom prst="rect">
            <a:avLst/>
          </a:prstGeom>
        </p:spPr>
        <p:txBody>
          <a:bodyPr wrap="square">
            <a:spAutoFit/>
          </a:bodyPr>
          <a:lstStyle/>
          <a:p>
            <a:r>
              <a:rPr lang="en-GB" sz="2400" dirty="0"/>
              <a:t>A </a:t>
            </a:r>
            <a:r>
              <a:rPr lang="en-GB" sz="2400" b="1" dirty="0">
                <a:solidFill>
                  <a:srgbClr val="0089A7"/>
                </a:solidFill>
              </a:rPr>
              <a:t>storage device</a:t>
            </a:r>
            <a:r>
              <a:rPr lang="en-GB" sz="2400" dirty="0">
                <a:solidFill>
                  <a:srgbClr val="0089A7"/>
                </a:solidFill>
              </a:rPr>
              <a:t> </a:t>
            </a:r>
            <a:r>
              <a:rPr lang="en-GB" sz="2400" dirty="0"/>
              <a:t>is the hardware or computer peripheral that stores data or saves data to a storage medium.</a:t>
            </a:r>
          </a:p>
          <a:p>
            <a:r>
              <a:rPr lang="en-GB" sz="2400" dirty="0"/>
              <a:t>Magnetic hard drives, memory sticks and Solid State drives store data, while CD drives, DVD drives, Blu-ray Disc drives and tape drives save data to a storage medium.</a:t>
            </a:r>
          </a:p>
          <a:p>
            <a:endParaRPr lang="en-GB" sz="2400" dirty="0"/>
          </a:p>
          <a:p>
            <a:r>
              <a:rPr lang="en-GB" sz="2400" dirty="0"/>
              <a:t>A </a:t>
            </a:r>
            <a:r>
              <a:rPr lang="en-GB" sz="2400" b="1" dirty="0">
                <a:solidFill>
                  <a:srgbClr val="0089A7"/>
                </a:solidFill>
              </a:rPr>
              <a:t>storage medium</a:t>
            </a:r>
            <a:r>
              <a:rPr lang="en-GB" sz="2400" dirty="0">
                <a:solidFill>
                  <a:srgbClr val="0089A7"/>
                </a:solidFill>
              </a:rPr>
              <a:t> </a:t>
            </a:r>
            <a:r>
              <a:rPr lang="en-GB" sz="2400" dirty="0"/>
              <a:t>is the thing that stores the data for a storage device that cannot store it itself.</a:t>
            </a:r>
          </a:p>
          <a:p>
            <a:r>
              <a:rPr lang="en-GB" sz="2400" dirty="0"/>
              <a:t>Examples of storage media include CDs, DVDs and Blu-ray Disc.</a:t>
            </a:r>
          </a:p>
          <a:p>
            <a:r>
              <a:rPr lang="en-GB" sz="2400" dirty="0"/>
              <a:t>Note that the plural of ‘medium’ is ‘media’, so one CD is an example of a storage medium and five CDs are an example of storage media.</a:t>
            </a:r>
          </a:p>
        </p:txBody>
      </p:sp>
    </p:spTree>
    <p:extLst>
      <p:ext uri="{BB962C8B-B14F-4D97-AF65-F5344CB8AC3E}">
        <p14:creationId xmlns:p14="http://schemas.microsoft.com/office/powerpoint/2010/main" val="1166166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0D3D-3B5A-405C-A85C-D55D7E6FEF9A}"/>
              </a:ext>
            </a:extLst>
          </p:cNvPr>
          <p:cNvSpPr>
            <a:spLocks noGrp="1"/>
          </p:cNvSpPr>
          <p:nvPr>
            <p:ph type="title"/>
          </p:nvPr>
        </p:nvSpPr>
        <p:spPr>
          <a:xfrm>
            <a:off x="1589632" y="796072"/>
            <a:ext cx="10037685" cy="865740"/>
          </a:xfrm>
        </p:spPr>
        <p:txBody>
          <a:bodyPr>
            <a:normAutofit/>
          </a:bodyPr>
          <a:lstStyle/>
          <a:p>
            <a:r>
              <a:rPr lang="en-GB" b="1" dirty="0">
                <a:solidFill>
                  <a:schemeClr val="bg1"/>
                </a:solidFill>
              </a:rPr>
              <a:t>Activity 4.1: Capacity of storage devices</a:t>
            </a:r>
          </a:p>
        </p:txBody>
      </p:sp>
      <p:pic>
        <p:nvPicPr>
          <p:cNvPr id="5" name="Picture 4" descr="A picture containing athletic game, basketball, sport&#10;&#10;Description automatically generated">
            <a:extLst>
              <a:ext uri="{FF2B5EF4-FFF2-40B4-BE49-F238E27FC236}">
                <a16:creationId xmlns:a16="http://schemas.microsoft.com/office/drawing/2014/main" id="{E026BB22-2069-44BA-9C69-B4666D11CB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2216" y="1967027"/>
            <a:ext cx="4587567" cy="4494840"/>
          </a:xfrm>
          <a:prstGeom prst="rect">
            <a:avLst/>
          </a:prstGeom>
        </p:spPr>
      </p:pic>
    </p:spTree>
    <p:extLst>
      <p:ext uri="{BB962C8B-B14F-4D97-AF65-F5344CB8AC3E}">
        <p14:creationId xmlns:p14="http://schemas.microsoft.com/office/powerpoint/2010/main" val="539714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C3D19-1115-422D-B31A-F4EC856863A4}"/>
              </a:ext>
            </a:extLst>
          </p:cNvPr>
          <p:cNvSpPr>
            <a:spLocks noGrp="1"/>
          </p:cNvSpPr>
          <p:nvPr>
            <p:ph type="title"/>
          </p:nvPr>
        </p:nvSpPr>
        <p:spPr>
          <a:xfrm>
            <a:off x="1594910" y="837987"/>
            <a:ext cx="10597089" cy="835923"/>
          </a:xfrm>
        </p:spPr>
        <p:txBody>
          <a:bodyPr>
            <a:noAutofit/>
          </a:bodyPr>
          <a:lstStyle/>
          <a:p>
            <a:r>
              <a:rPr lang="en-GB" b="1" dirty="0">
                <a:solidFill>
                  <a:schemeClr val="bg1"/>
                </a:solidFill>
              </a:rPr>
              <a:t>Primary and secondary storage</a:t>
            </a:r>
          </a:p>
        </p:txBody>
      </p:sp>
      <p:sp>
        <p:nvSpPr>
          <p:cNvPr id="7" name="Rectangle 6">
            <a:extLst>
              <a:ext uri="{FF2B5EF4-FFF2-40B4-BE49-F238E27FC236}">
                <a16:creationId xmlns:a16="http://schemas.microsoft.com/office/drawing/2014/main" id="{08A5A9C8-3D59-4C69-A11F-107CAA114EB6}"/>
              </a:ext>
            </a:extLst>
          </p:cNvPr>
          <p:cNvSpPr/>
          <p:nvPr/>
        </p:nvSpPr>
        <p:spPr>
          <a:xfrm>
            <a:off x="1594910" y="2061091"/>
            <a:ext cx="7807506" cy="3785652"/>
          </a:xfrm>
          <a:prstGeom prst="rect">
            <a:avLst/>
          </a:prstGeom>
        </p:spPr>
        <p:txBody>
          <a:bodyPr wrap="square">
            <a:spAutoFit/>
          </a:bodyPr>
          <a:lstStyle/>
          <a:p>
            <a:r>
              <a:rPr lang="en-GB" sz="2400" dirty="0"/>
              <a:t>Computers use two types of storage.</a:t>
            </a:r>
          </a:p>
          <a:p>
            <a:pPr lvl="0"/>
            <a:endParaRPr lang="en-GB" sz="2400" b="1" dirty="0"/>
          </a:p>
          <a:p>
            <a:pPr marL="457200" lvl="0" indent="-457200">
              <a:buClr>
                <a:schemeClr val="tx1"/>
              </a:buClr>
              <a:buFont typeface="+mj-lt"/>
              <a:buAutoNum type="arabicPeriod"/>
            </a:pPr>
            <a:r>
              <a:rPr lang="en-GB" sz="2400" b="1" dirty="0">
                <a:solidFill>
                  <a:srgbClr val="0089A7"/>
                </a:solidFill>
              </a:rPr>
              <a:t>Primary storage</a:t>
            </a:r>
            <a:r>
              <a:rPr lang="en-GB" sz="2400" dirty="0">
                <a:solidFill>
                  <a:srgbClr val="0089A7"/>
                </a:solidFill>
              </a:rPr>
              <a:t> </a:t>
            </a:r>
            <a:r>
              <a:rPr lang="en-GB" sz="2400" dirty="0"/>
              <a:t>is accessed directly by the CPU and is normally the fastest memory in a computer. RAM is an example. Most of the time, primary storage will lose all the data it contains when the power is switched off.</a:t>
            </a:r>
          </a:p>
          <a:p>
            <a:pPr marL="457200" lvl="0" indent="-457200">
              <a:buClr>
                <a:schemeClr val="tx1"/>
              </a:buClr>
              <a:buFont typeface="+mj-lt"/>
              <a:buAutoNum type="arabicPeriod"/>
            </a:pPr>
            <a:r>
              <a:rPr lang="en-GB" sz="2400" b="1" dirty="0">
                <a:solidFill>
                  <a:srgbClr val="0089A7"/>
                </a:solidFill>
              </a:rPr>
              <a:t>Secondary storage</a:t>
            </a:r>
            <a:r>
              <a:rPr lang="en-GB" sz="2400" dirty="0">
                <a:solidFill>
                  <a:srgbClr val="0089A7"/>
                </a:solidFill>
              </a:rPr>
              <a:t> </a:t>
            </a:r>
            <a:r>
              <a:rPr lang="en-GB" sz="2400" dirty="0"/>
              <a:t>is not accessed constantly by the computer. It includes a computer’s hard disc and external storage. Secondary storage will not lost lose all the data it contains when the device is switched off.</a:t>
            </a:r>
          </a:p>
        </p:txBody>
      </p:sp>
    </p:spTree>
    <p:extLst>
      <p:ext uri="{BB962C8B-B14F-4D97-AF65-F5344CB8AC3E}">
        <p14:creationId xmlns:p14="http://schemas.microsoft.com/office/powerpoint/2010/main" val="300574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C3D19-1115-422D-B31A-F4EC856863A4}"/>
              </a:ext>
            </a:extLst>
          </p:cNvPr>
          <p:cNvSpPr>
            <a:spLocks noGrp="1"/>
          </p:cNvSpPr>
          <p:nvPr>
            <p:ph type="title"/>
          </p:nvPr>
        </p:nvSpPr>
        <p:spPr>
          <a:xfrm>
            <a:off x="1594911" y="837987"/>
            <a:ext cx="10451680" cy="835923"/>
          </a:xfrm>
        </p:spPr>
        <p:txBody>
          <a:bodyPr>
            <a:noAutofit/>
          </a:bodyPr>
          <a:lstStyle/>
          <a:p>
            <a:r>
              <a:rPr lang="en-GB" b="1" dirty="0">
                <a:solidFill>
                  <a:schemeClr val="bg1"/>
                </a:solidFill>
              </a:rPr>
              <a:t>Types of secondary storage</a:t>
            </a:r>
          </a:p>
        </p:txBody>
      </p:sp>
      <p:sp>
        <p:nvSpPr>
          <p:cNvPr id="4" name="Rectangle 3">
            <a:extLst>
              <a:ext uri="{FF2B5EF4-FFF2-40B4-BE49-F238E27FC236}">
                <a16:creationId xmlns:a16="http://schemas.microsoft.com/office/drawing/2014/main" id="{101A91D9-85C2-44DE-8D1B-9B2AE9102947}"/>
              </a:ext>
            </a:extLst>
          </p:cNvPr>
          <p:cNvSpPr/>
          <p:nvPr/>
        </p:nvSpPr>
        <p:spPr>
          <a:xfrm>
            <a:off x="1594911" y="2223227"/>
            <a:ext cx="8688198" cy="3046988"/>
          </a:xfrm>
          <a:prstGeom prst="rect">
            <a:avLst/>
          </a:prstGeom>
        </p:spPr>
        <p:txBody>
          <a:bodyPr wrap="square">
            <a:spAutoFit/>
          </a:bodyPr>
          <a:lstStyle/>
          <a:p>
            <a:r>
              <a:rPr lang="en-GB" sz="2400" dirty="0">
                <a:latin typeface="Calibri" panose="020F0502020204030204" pitchFamily="34" charset="0"/>
                <a:ea typeface="Calibri" panose="020F0502020204030204" pitchFamily="34" charset="0"/>
              </a:rPr>
              <a:t>There are three types of secondary storage.</a:t>
            </a:r>
          </a:p>
          <a:p>
            <a:endParaRPr lang="en-GB" sz="2400" dirty="0">
              <a:latin typeface="Times New Roman" panose="02020603050405020304" pitchFamily="18" charset="0"/>
              <a:ea typeface="Times New Roman" panose="02020603050405020304" pitchFamily="18" charset="0"/>
            </a:endParaRPr>
          </a:p>
          <a:p>
            <a:pPr marL="457200" lvl="0" indent="-457200">
              <a:buClr>
                <a:schemeClr val="tx1"/>
              </a:buClr>
              <a:buFont typeface="+mj-lt"/>
              <a:buAutoNum type="arabicPeriod"/>
            </a:pPr>
            <a:r>
              <a:rPr lang="en-GB" sz="2400" b="1" dirty="0">
                <a:solidFill>
                  <a:srgbClr val="0089A7"/>
                </a:solidFill>
                <a:ea typeface="Calibri" panose="020F0502020204030204" pitchFamily="34" charset="0"/>
              </a:rPr>
              <a:t>Optical storage </a:t>
            </a:r>
            <a:r>
              <a:rPr lang="en-GB" sz="2400" dirty="0">
                <a:ea typeface="Calibri" panose="020F0502020204030204" pitchFamily="34" charset="0"/>
              </a:rPr>
              <a:t>uses a laser to write data to and read data from a disc.</a:t>
            </a:r>
            <a:endParaRPr lang="en-GB" sz="2400" dirty="0">
              <a:ea typeface="Times New Roman" panose="02020603050405020304" pitchFamily="18" charset="0"/>
            </a:endParaRPr>
          </a:p>
          <a:p>
            <a:pPr marL="457200" lvl="0" indent="-457200">
              <a:buClr>
                <a:schemeClr val="tx1"/>
              </a:buClr>
              <a:buFont typeface="+mj-lt"/>
              <a:buAutoNum type="arabicPeriod"/>
            </a:pPr>
            <a:r>
              <a:rPr lang="en-GB" sz="2400" b="1" dirty="0">
                <a:solidFill>
                  <a:srgbClr val="0089A7"/>
                </a:solidFill>
                <a:ea typeface="Calibri" panose="020F0502020204030204" pitchFamily="34" charset="0"/>
              </a:rPr>
              <a:t>Magnetic storage </a:t>
            </a:r>
            <a:r>
              <a:rPr lang="en-GB" sz="2400" dirty="0">
                <a:ea typeface="Calibri" panose="020F0502020204030204" pitchFamily="34" charset="0"/>
              </a:rPr>
              <a:t>uses magnetic platters and a write/read head to writes to and read from the disc.</a:t>
            </a:r>
            <a:endParaRPr lang="en-GB" sz="2400" dirty="0">
              <a:ea typeface="Times New Roman" panose="02020603050405020304" pitchFamily="18" charset="0"/>
            </a:endParaRPr>
          </a:p>
          <a:p>
            <a:pPr marL="457200" lvl="0" indent="-457200">
              <a:buClr>
                <a:schemeClr val="tx1"/>
              </a:buClr>
              <a:buFont typeface="+mj-lt"/>
              <a:buAutoNum type="arabicPeriod"/>
            </a:pPr>
            <a:r>
              <a:rPr lang="en-GB" sz="2400" b="1" dirty="0">
                <a:solidFill>
                  <a:srgbClr val="0089A7"/>
                </a:solidFill>
                <a:ea typeface="Calibri" panose="020F0502020204030204" pitchFamily="34" charset="0"/>
              </a:rPr>
              <a:t>Solid State storage </a:t>
            </a:r>
            <a:r>
              <a:rPr lang="en-GB" sz="2400" dirty="0">
                <a:ea typeface="Calibri" panose="020F0502020204030204" pitchFamily="34" charset="0"/>
              </a:rPr>
              <a:t>has no moving parts and provides very fast access to data.</a:t>
            </a:r>
            <a:endParaRPr lang="en-GB" sz="2400" dirty="0">
              <a:ea typeface="Times New Roman" panose="02020603050405020304" pitchFamily="18" charset="0"/>
            </a:endParaRPr>
          </a:p>
        </p:txBody>
      </p:sp>
    </p:spTree>
    <p:extLst>
      <p:ext uri="{BB962C8B-B14F-4D97-AF65-F5344CB8AC3E}">
        <p14:creationId xmlns:p14="http://schemas.microsoft.com/office/powerpoint/2010/main" val="1262634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0D3D-3B5A-405C-A85C-D55D7E6FEF9A}"/>
              </a:ext>
            </a:extLst>
          </p:cNvPr>
          <p:cNvSpPr>
            <a:spLocks noGrp="1"/>
          </p:cNvSpPr>
          <p:nvPr>
            <p:ph type="title"/>
          </p:nvPr>
        </p:nvSpPr>
        <p:spPr>
          <a:xfrm>
            <a:off x="1589632" y="796072"/>
            <a:ext cx="10037685" cy="865740"/>
          </a:xfrm>
        </p:spPr>
        <p:txBody>
          <a:bodyPr>
            <a:normAutofit/>
          </a:bodyPr>
          <a:lstStyle/>
          <a:p>
            <a:r>
              <a:rPr lang="en-GB" sz="3200" b="1" dirty="0">
                <a:solidFill>
                  <a:schemeClr val="bg1"/>
                </a:solidFill>
              </a:rPr>
              <a:t>Activity 4.2: Types of secondary storage device/medium</a:t>
            </a:r>
          </a:p>
        </p:txBody>
      </p:sp>
      <p:pic>
        <p:nvPicPr>
          <p:cNvPr id="5" name="Picture 4" descr="A picture containing athletic game, basketball, sport&#10;&#10;Description automatically generated">
            <a:extLst>
              <a:ext uri="{FF2B5EF4-FFF2-40B4-BE49-F238E27FC236}">
                <a16:creationId xmlns:a16="http://schemas.microsoft.com/office/drawing/2014/main" id="{E026BB22-2069-44BA-9C69-B4666D11CB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4801" y="1866757"/>
            <a:ext cx="4587567" cy="4494840"/>
          </a:xfrm>
          <a:prstGeom prst="rect">
            <a:avLst/>
          </a:prstGeom>
        </p:spPr>
      </p:pic>
      <p:sp>
        <p:nvSpPr>
          <p:cNvPr id="3" name="Rectangle 2">
            <a:extLst>
              <a:ext uri="{FF2B5EF4-FFF2-40B4-BE49-F238E27FC236}">
                <a16:creationId xmlns:a16="http://schemas.microsoft.com/office/drawing/2014/main" id="{E2817B3D-F82B-7948-9D4D-CA0662B77202}"/>
              </a:ext>
            </a:extLst>
          </p:cNvPr>
          <p:cNvSpPr/>
          <p:nvPr/>
        </p:nvSpPr>
        <p:spPr>
          <a:xfrm>
            <a:off x="1337084" y="3852567"/>
            <a:ext cx="4537011" cy="523220"/>
          </a:xfrm>
          <a:prstGeom prst="rect">
            <a:avLst/>
          </a:prstGeom>
        </p:spPr>
        <p:txBody>
          <a:bodyPr wrap="none">
            <a:spAutoFit/>
          </a:bodyPr>
          <a:lstStyle/>
          <a:p>
            <a:r>
              <a:rPr lang="en-GB" sz="2800" dirty="0">
                <a:latin typeface="Calibri" panose="020F0502020204030204" pitchFamily="34" charset="0"/>
                <a:ea typeface="Calibri" panose="020F0502020204030204" pitchFamily="34" charset="0"/>
              </a:rPr>
              <a:t>Complete Interactive quiz 4.2</a:t>
            </a:r>
            <a:endParaRPr lang="en-GB" sz="28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832559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0D3D-3B5A-405C-A85C-D55D7E6FEF9A}"/>
              </a:ext>
            </a:extLst>
          </p:cNvPr>
          <p:cNvSpPr>
            <a:spLocks noGrp="1"/>
          </p:cNvSpPr>
          <p:nvPr>
            <p:ph type="title"/>
          </p:nvPr>
        </p:nvSpPr>
        <p:spPr>
          <a:xfrm>
            <a:off x="1589632" y="796072"/>
            <a:ext cx="10037685" cy="865740"/>
          </a:xfrm>
        </p:spPr>
        <p:txBody>
          <a:bodyPr>
            <a:normAutofit/>
          </a:bodyPr>
          <a:lstStyle/>
          <a:p>
            <a:r>
              <a:rPr lang="en-GB" sz="3200" b="1" dirty="0">
                <a:solidFill>
                  <a:schemeClr val="bg1"/>
                </a:solidFill>
              </a:rPr>
              <a:t>Activity 4.3: Comparing secondary storage devices/media</a:t>
            </a:r>
          </a:p>
        </p:txBody>
      </p:sp>
      <p:pic>
        <p:nvPicPr>
          <p:cNvPr id="5" name="Picture 4" descr="A picture containing athletic game, basketball, sport&#10;&#10;Description automatically generated">
            <a:extLst>
              <a:ext uri="{FF2B5EF4-FFF2-40B4-BE49-F238E27FC236}">
                <a16:creationId xmlns:a16="http://schemas.microsoft.com/office/drawing/2014/main" id="{E026BB22-2069-44BA-9C69-B4666D11CB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2216" y="1967027"/>
            <a:ext cx="4587567" cy="4494840"/>
          </a:xfrm>
          <a:prstGeom prst="rect">
            <a:avLst/>
          </a:prstGeom>
        </p:spPr>
      </p:pic>
    </p:spTree>
    <p:extLst>
      <p:ext uri="{BB962C8B-B14F-4D97-AF65-F5344CB8AC3E}">
        <p14:creationId xmlns:p14="http://schemas.microsoft.com/office/powerpoint/2010/main" val="3849575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0D3D-3B5A-405C-A85C-D55D7E6FEF9A}"/>
              </a:ext>
            </a:extLst>
          </p:cNvPr>
          <p:cNvSpPr>
            <a:spLocks noGrp="1"/>
          </p:cNvSpPr>
          <p:nvPr>
            <p:ph type="title"/>
          </p:nvPr>
        </p:nvSpPr>
        <p:spPr>
          <a:xfrm>
            <a:off x="1589632" y="796072"/>
            <a:ext cx="10516229" cy="865740"/>
          </a:xfrm>
        </p:spPr>
        <p:txBody>
          <a:bodyPr>
            <a:noAutofit/>
          </a:bodyPr>
          <a:lstStyle/>
          <a:p>
            <a:r>
              <a:rPr lang="en-GB" sz="3600" b="1" dirty="0">
                <a:solidFill>
                  <a:schemeClr val="bg1"/>
                </a:solidFill>
              </a:rPr>
              <a:t>Activity 4.4: Choosing secondary storage devices/media </a:t>
            </a:r>
          </a:p>
        </p:txBody>
      </p:sp>
      <p:pic>
        <p:nvPicPr>
          <p:cNvPr id="5" name="Picture 4" descr="A picture containing athletic game, basketball, sport&#10;&#10;Description automatically generated">
            <a:extLst>
              <a:ext uri="{FF2B5EF4-FFF2-40B4-BE49-F238E27FC236}">
                <a16:creationId xmlns:a16="http://schemas.microsoft.com/office/drawing/2014/main" id="{E026BB22-2069-44BA-9C69-B4666D11CB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2216" y="1967027"/>
            <a:ext cx="4587567" cy="4494840"/>
          </a:xfrm>
          <a:prstGeom prst="rect">
            <a:avLst/>
          </a:prstGeom>
        </p:spPr>
      </p:pic>
    </p:spTree>
    <p:extLst>
      <p:ext uri="{BB962C8B-B14F-4D97-AF65-F5344CB8AC3E}">
        <p14:creationId xmlns:p14="http://schemas.microsoft.com/office/powerpoint/2010/main" val="21609244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0D3D-3B5A-405C-A85C-D55D7E6FEF9A}"/>
              </a:ext>
            </a:extLst>
          </p:cNvPr>
          <p:cNvSpPr>
            <a:spLocks noGrp="1"/>
          </p:cNvSpPr>
          <p:nvPr>
            <p:ph type="title"/>
          </p:nvPr>
        </p:nvSpPr>
        <p:spPr>
          <a:xfrm>
            <a:off x="1589632" y="796072"/>
            <a:ext cx="10037685" cy="865740"/>
          </a:xfrm>
        </p:spPr>
        <p:txBody>
          <a:bodyPr>
            <a:normAutofit/>
          </a:bodyPr>
          <a:lstStyle/>
          <a:p>
            <a:r>
              <a:rPr lang="en-GB" b="1" dirty="0">
                <a:solidFill>
                  <a:schemeClr val="bg1"/>
                </a:solidFill>
              </a:rPr>
              <a:t>Question 1</a:t>
            </a:r>
          </a:p>
        </p:txBody>
      </p:sp>
      <p:sp>
        <p:nvSpPr>
          <p:cNvPr id="6" name="Rectangle 5">
            <a:extLst>
              <a:ext uri="{FF2B5EF4-FFF2-40B4-BE49-F238E27FC236}">
                <a16:creationId xmlns:a16="http://schemas.microsoft.com/office/drawing/2014/main" id="{AF4809C3-2875-F648-B582-28842A587990}"/>
              </a:ext>
            </a:extLst>
          </p:cNvPr>
          <p:cNvSpPr/>
          <p:nvPr/>
        </p:nvSpPr>
        <p:spPr>
          <a:xfrm>
            <a:off x="1589632" y="2413338"/>
            <a:ext cx="7007716" cy="3539430"/>
          </a:xfrm>
          <a:prstGeom prst="rect">
            <a:avLst/>
          </a:prstGeom>
        </p:spPr>
        <p:txBody>
          <a:bodyPr wrap="square">
            <a:spAutoFit/>
          </a:bodyPr>
          <a:lstStyle/>
          <a:p>
            <a:r>
              <a:rPr lang="en-US" sz="2800" dirty="0"/>
              <a:t>Is each of the following magnetic, optical or Solid State storage?</a:t>
            </a:r>
          </a:p>
          <a:p>
            <a:endParaRPr lang="en-US" sz="2800" dirty="0"/>
          </a:p>
          <a:p>
            <a:pPr marL="514350" indent="-514350">
              <a:buFont typeface="+mj-lt"/>
              <a:buAutoNum type="arabicPeriod"/>
            </a:pPr>
            <a:r>
              <a:rPr lang="en-US" sz="2800" dirty="0"/>
              <a:t>Tape drive/data tape</a:t>
            </a:r>
          </a:p>
          <a:p>
            <a:pPr marL="514350" indent="-514350">
              <a:buFont typeface="+mj-lt"/>
              <a:buAutoNum type="arabicPeriod"/>
            </a:pPr>
            <a:r>
              <a:rPr lang="en-US" sz="2800" dirty="0"/>
              <a:t>DVD drive/DVD</a:t>
            </a:r>
          </a:p>
          <a:p>
            <a:pPr marL="514350" indent="-514350">
              <a:buFont typeface="+mj-lt"/>
              <a:buAutoNum type="arabicPeriod"/>
            </a:pPr>
            <a:r>
              <a:rPr lang="en-US" sz="2800" dirty="0"/>
              <a:t>Memory stick</a:t>
            </a:r>
          </a:p>
          <a:p>
            <a:pPr marL="514350" indent="-514350">
              <a:buFont typeface="+mj-lt"/>
              <a:buAutoNum type="arabicPeriod"/>
            </a:pPr>
            <a:r>
              <a:rPr lang="en-US" sz="2800" dirty="0"/>
              <a:t>Hard drive</a:t>
            </a:r>
          </a:p>
          <a:p>
            <a:pPr marL="514350" indent="-514350">
              <a:buFont typeface="+mj-lt"/>
              <a:buAutoNum type="arabicPeriod"/>
            </a:pPr>
            <a:r>
              <a:rPr lang="en-US" sz="2800" dirty="0"/>
              <a:t>CD drive/CD</a:t>
            </a:r>
          </a:p>
        </p:txBody>
      </p:sp>
    </p:spTree>
    <p:extLst>
      <p:ext uri="{BB962C8B-B14F-4D97-AF65-F5344CB8AC3E}">
        <p14:creationId xmlns:p14="http://schemas.microsoft.com/office/powerpoint/2010/main" val="1306596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0D3D-3B5A-405C-A85C-D55D7E6FEF9A}"/>
              </a:ext>
            </a:extLst>
          </p:cNvPr>
          <p:cNvSpPr>
            <a:spLocks noGrp="1"/>
          </p:cNvSpPr>
          <p:nvPr>
            <p:ph type="title"/>
          </p:nvPr>
        </p:nvSpPr>
        <p:spPr>
          <a:xfrm>
            <a:off x="1589632" y="796072"/>
            <a:ext cx="10037685" cy="865740"/>
          </a:xfrm>
        </p:spPr>
        <p:txBody>
          <a:bodyPr>
            <a:normAutofit/>
          </a:bodyPr>
          <a:lstStyle/>
          <a:p>
            <a:r>
              <a:rPr lang="en-GB" b="1" dirty="0">
                <a:solidFill>
                  <a:schemeClr val="bg1"/>
                </a:solidFill>
              </a:rPr>
              <a:t>Question 2</a:t>
            </a:r>
          </a:p>
        </p:txBody>
      </p:sp>
      <p:sp>
        <p:nvSpPr>
          <p:cNvPr id="6" name="Rectangle 5">
            <a:extLst>
              <a:ext uri="{FF2B5EF4-FFF2-40B4-BE49-F238E27FC236}">
                <a16:creationId xmlns:a16="http://schemas.microsoft.com/office/drawing/2014/main" id="{AF4809C3-2875-F648-B582-28842A587990}"/>
              </a:ext>
            </a:extLst>
          </p:cNvPr>
          <p:cNvSpPr/>
          <p:nvPr/>
        </p:nvSpPr>
        <p:spPr>
          <a:xfrm>
            <a:off x="1589631" y="2065469"/>
            <a:ext cx="8667551" cy="4093428"/>
          </a:xfrm>
          <a:prstGeom prst="rect">
            <a:avLst/>
          </a:prstGeom>
        </p:spPr>
        <p:txBody>
          <a:bodyPr wrap="square">
            <a:spAutoFit/>
          </a:bodyPr>
          <a:lstStyle/>
          <a:p>
            <a:r>
              <a:rPr lang="en-GB" sz="2600" dirty="0"/>
              <a:t>James works in an office. He has prepared a presentation to show the company director at the next board meeting. He is unsure of the best way to transfer the presentation from his PC to the presentation laptop. Which storage device/medium would be best?</a:t>
            </a:r>
          </a:p>
          <a:p>
            <a:endParaRPr lang="en-US" sz="2600" dirty="0"/>
          </a:p>
          <a:p>
            <a:pPr marL="514350" indent="-514350">
              <a:buFont typeface="+mj-lt"/>
              <a:buAutoNum type="arabicPeriod"/>
            </a:pPr>
            <a:r>
              <a:rPr lang="en-US" sz="2600" dirty="0"/>
              <a:t>Magnetic hard drive</a:t>
            </a:r>
          </a:p>
          <a:p>
            <a:pPr marL="514350" indent="-514350">
              <a:buFont typeface="+mj-lt"/>
              <a:buAutoNum type="arabicPeriod"/>
            </a:pPr>
            <a:r>
              <a:rPr lang="en-US" sz="2600" dirty="0"/>
              <a:t>CD drive/CD</a:t>
            </a:r>
          </a:p>
          <a:p>
            <a:pPr marL="514350" indent="-514350">
              <a:buFont typeface="+mj-lt"/>
              <a:buAutoNum type="arabicPeriod"/>
            </a:pPr>
            <a:r>
              <a:rPr lang="en-US" sz="2600" dirty="0"/>
              <a:t>Memory stick</a:t>
            </a:r>
          </a:p>
          <a:p>
            <a:pPr marL="514350" indent="-514350">
              <a:buFont typeface="+mj-lt"/>
              <a:buAutoNum type="arabicPeriod"/>
            </a:pPr>
            <a:r>
              <a:rPr lang="en-US" sz="2600" dirty="0"/>
              <a:t>Solid State Drive</a:t>
            </a:r>
          </a:p>
        </p:txBody>
      </p:sp>
    </p:spTree>
    <p:extLst>
      <p:ext uri="{BB962C8B-B14F-4D97-AF65-F5344CB8AC3E}">
        <p14:creationId xmlns:p14="http://schemas.microsoft.com/office/powerpoint/2010/main" val="2069298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0D3D-3B5A-405C-A85C-D55D7E6FEF9A}"/>
              </a:ext>
            </a:extLst>
          </p:cNvPr>
          <p:cNvSpPr>
            <a:spLocks noGrp="1"/>
          </p:cNvSpPr>
          <p:nvPr>
            <p:ph type="title"/>
          </p:nvPr>
        </p:nvSpPr>
        <p:spPr>
          <a:xfrm>
            <a:off x="1589632" y="796072"/>
            <a:ext cx="10037685" cy="865740"/>
          </a:xfrm>
        </p:spPr>
        <p:txBody>
          <a:bodyPr>
            <a:normAutofit/>
          </a:bodyPr>
          <a:lstStyle/>
          <a:p>
            <a:r>
              <a:rPr lang="en-GB" b="1" dirty="0">
                <a:solidFill>
                  <a:schemeClr val="bg1"/>
                </a:solidFill>
              </a:rPr>
              <a:t>Question 3</a:t>
            </a:r>
          </a:p>
        </p:txBody>
      </p:sp>
      <p:sp>
        <p:nvSpPr>
          <p:cNvPr id="6" name="Rectangle 5">
            <a:extLst>
              <a:ext uri="{FF2B5EF4-FFF2-40B4-BE49-F238E27FC236}">
                <a16:creationId xmlns:a16="http://schemas.microsoft.com/office/drawing/2014/main" id="{AF4809C3-2875-F648-B582-28842A587990}"/>
              </a:ext>
            </a:extLst>
          </p:cNvPr>
          <p:cNvSpPr/>
          <p:nvPr/>
        </p:nvSpPr>
        <p:spPr>
          <a:xfrm>
            <a:off x="1589631" y="2065469"/>
            <a:ext cx="8667551" cy="4093428"/>
          </a:xfrm>
          <a:prstGeom prst="rect">
            <a:avLst/>
          </a:prstGeom>
        </p:spPr>
        <p:txBody>
          <a:bodyPr wrap="square">
            <a:spAutoFit/>
          </a:bodyPr>
          <a:lstStyle/>
          <a:p>
            <a:pPr>
              <a:tabLst>
                <a:tab pos="5727700" algn="r"/>
              </a:tabLst>
            </a:pPr>
            <a:r>
              <a:rPr lang="en-GB" sz="2600" dirty="0">
                <a:ea typeface="Calibri" panose="020F0502020204030204" pitchFamily="34" charset="0"/>
              </a:rPr>
              <a:t>Jennifer has got back from a holiday with her family and wants to send the photographs she took while she was away to her grandparents in Scotland. They do not have access to the internet, but they do have a PC. Which storage device/medium would be best?</a:t>
            </a:r>
            <a:endParaRPr lang="en-GB" sz="2600" dirty="0">
              <a:ea typeface="Times New Roman" panose="02020603050405020304" pitchFamily="18" charset="0"/>
            </a:endParaRPr>
          </a:p>
          <a:p>
            <a:endParaRPr lang="en-US" sz="2600" dirty="0"/>
          </a:p>
          <a:p>
            <a:pPr marL="514350" indent="-514350">
              <a:buFont typeface="+mj-lt"/>
              <a:buAutoNum type="arabicPeriod"/>
              <a:tabLst>
                <a:tab pos="5727700" algn="r"/>
              </a:tabLst>
            </a:pPr>
            <a:r>
              <a:rPr lang="en-GB" sz="2600" dirty="0">
                <a:ea typeface="Calibri" panose="020F0502020204030204" pitchFamily="34" charset="0"/>
              </a:rPr>
              <a:t>Memory card</a:t>
            </a:r>
            <a:endParaRPr lang="en-GB" sz="2600" dirty="0">
              <a:ea typeface="Times New Roman" panose="02020603050405020304" pitchFamily="18" charset="0"/>
            </a:endParaRPr>
          </a:p>
          <a:p>
            <a:pPr marL="514350" indent="-514350">
              <a:buFont typeface="+mj-lt"/>
              <a:buAutoNum type="arabicPeriod"/>
              <a:tabLst>
                <a:tab pos="5727700" algn="r"/>
              </a:tabLst>
            </a:pPr>
            <a:r>
              <a:rPr lang="en-GB" sz="2600" dirty="0">
                <a:ea typeface="Calibri" panose="020F0502020204030204" pitchFamily="34" charset="0"/>
              </a:rPr>
              <a:t>Memory stick</a:t>
            </a:r>
            <a:endParaRPr lang="en-GB" sz="2600" dirty="0">
              <a:ea typeface="Times New Roman" panose="02020603050405020304" pitchFamily="18" charset="0"/>
            </a:endParaRPr>
          </a:p>
          <a:p>
            <a:pPr marL="514350" indent="-514350">
              <a:buFont typeface="+mj-lt"/>
              <a:buAutoNum type="arabicPeriod"/>
              <a:tabLst>
                <a:tab pos="5727700" algn="r"/>
              </a:tabLst>
            </a:pPr>
            <a:r>
              <a:rPr lang="en-GB" sz="2600" dirty="0">
                <a:ea typeface="Calibri" panose="020F0502020204030204" pitchFamily="34" charset="0"/>
              </a:rPr>
              <a:t>Tape drive/data tape</a:t>
            </a:r>
            <a:endParaRPr lang="en-GB" sz="2600" dirty="0">
              <a:ea typeface="Times New Roman" panose="02020603050405020304" pitchFamily="18" charset="0"/>
            </a:endParaRPr>
          </a:p>
          <a:p>
            <a:pPr marL="514350" indent="-514350">
              <a:buFont typeface="+mj-lt"/>
              <a:buAutoNum type="arabicPeriod"/>
              <a:tabLst>
                <a:tab pos="5727700" algn="r"/>
              </a:tabLst>
            </a:pPr>
            <a:r>
              <a:rPr lang="en-GB" sz="2600" dirty="0">
                <a:ea typeface="Calibri" panose="020F0502020204030204" pitchFamily="34" charset="0"/>
              </a:rPr>
              <a:t>CD drive/CD</a:t>
            </a:r>
            <a:endParaRPr lang="en-GB" sz="2600" dirty="0">
              <a:ea typeface="Times New Roman" panose="02020603050405020304" pitchFamily="18" charset="0"/>
            </a:endParaRPr>
          </a:p>
        </p:txBody>
      </p:sp>
    </p:spTree>
    <p:extLst>
      <p:ext uri="{BB962C8B-B14F-4D97-AF65-F5344CB8AC3E}">
        <p14:creationId xmlns:p14="http://schemas.microsoft.com/office/powerpoint/2010/main" val="928815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0D3D-3B5A-405C-A85C-D55D7E6FEF9A}"/>
              </a:ext>
            </a:extLst>
          </p:cNvPr>
          <p:cNvSpPr>
            <a:spLocks noGrp="1"/>
          </p:cNvSpPr>
          <p:nvPr>
            <p:ph type="title"/>
          </p:nvPr>
        </p:nvSpPr>
        <p:spPr>
          <a:xfrm>
            <a:off x="1589632" y="796072"/>
            <a:ext cx="10037685" cy="865740"/>
          </a:xfrm>
        </p:spPr>
        <p:txBody>
          <a:bodyPr>
            <a:normAutofit/>
          </a:bodyPr>
          <a:lstStyle/>
          <a:p>
            <a:r>
              <a:rPr lang="en-GB" b="1" dirty="0">
                <a:solidFill>
                  <a:schemeClr val="bg1"/>
                </a:solidFill>
              </a:rPr>
              <a:t>Question 4</a:t>
            </a:r>
          </a:p>
        </p:txBody>
      </p:sp>
      <p:sp>
        <p:nvSpPr>
          <p:cNvPr id="6" name="Rectangle 5">
            <a:extLst>
              <a:ext uri="{FF2B5EF4-FFF2-40B4-BE49-F238E27FC236}">
                <a16:creationId xmlns:a16="http://schemas.microsoft.com/office/drawing/2014/main" id="{AF4809C3-2875-F648-B582-28842A587990}"/>
              </a:ext>
            </a:extLst>
          </p:cNvPr>
          <p:cNvSpPr/>
          <p:nvPr/>
        </p:nvSpPr>
        <p:spPr>
          <a:xfrm>
            <a:off x="1589631" y="2065469"/>
            <a:ext cx="8667551" cy="3693319"/>
          </a:xfrm>
          <a:prstGeom prst="rect">
            <a:avLst/>
          </a:prstGeom>
        </p:spPr>
        <p:txBody>
          <a:bodyPr wrap="square">
            <a:spAutoFit/>
          </a:bodyPr>
          <a:lstStyle/>
          <a:p>
            <a:r>
              <a:rPr lang="en-GB" sz="2600" dirty="0" err="1"/>
              <a:t>Kalib</a:t>
            </a:r>
            <a:r>
              <a:rPr lang="en-GB" sz="2600" dirty="0"/>
              <a:t> works for </a:t>
            </a:r>
            <a:r>
              <a:rPr lang="en-GB" sz="2600" dirty="0" err="1"/>
              <a:t>HodderVids</a:t>
            </a:r>
            <a:r>
              <a:rPr lang="en-GB" sz="2600" dirty="0"/>
              <a:t>, a new company that makes videos for clients. The high-definition files can be quite large (2–4 GB each). What is the best storage device/medium for transferring the files to clients?</a:t>
            </a:r>
          </a:p>
          <a:p>
            <a:endParaRPr lang="en-US" sz="2600" dirty="0"/>
          </a:p>
          <a:p>
            <a:pPr marL="514350" indent="-514350">
              <a:buFont typeface="+mj-lt"/>
              <a:buAutoNum type="arabicPeriod"/>
              <a:tabLst>
                <a:tab pos="5727700" algn="r"/>
              </a:tabLst>
            </a:pPr>
            <a:r>
              <a:rPr lang="en-GB" sz="2600" dirty="0">
                <a:ea typeface="Calibri" panose="020F0502020204030204" pitchFamily="34" charset="0"/>
              </a:rPr>
              <a:t>Memory stick</a:t>
            </a:r>
          </a:p>
          <a:p>
            <a:pPr marL="514350" indent="-514350">
              <a:buFont typeface="+mj-lt"/>
              <a:buAutoNum type="arabicPeriod"/>
              <a:tabLst>
                <a:tab pos="5727700" algn="r"/>
              </a:tabLst>
            </a:pPr>
            <a:r>
              <a:rPr lang="en-GB" sz="2600" dirty="0">
                <a:ea typeface="Calibri" panose="020F0502020204030204" pitchFamily="34" charset="0"/>
              </a:rPr>
              <a:t>DVD drive/DVD</a:t>
            </a:r>
          </a:p>
          <a:p>
            <a:pPr marL="514350" indent="-514350">
              <a:buFont typeface="+mj-lt"/>
              <a:buAutoNum type="arabicPeriod"/>
              <a:tabLst>
                <a:tab pos="5727700" algn="r"/>
              </a:tabLst>
            </a:pPr>
            <a:r>
              <a:rPr lang="en-GB" sz="2600" dirty="0">
                <a:ea typeface="Calibri" panose="020F0502020204030204" pitchFamily="34" charset="0"/>
              </a:rPr>
              <a:t>Solid State Drive</a:t>
            </a:r>
          </a:p>
          <a:p>
            <a:pPr marL="514350" indent="-514350">
              <a:buFont typeface="+mj-lt"/>
              <a:buAutoNum type="arabicPeriod"/>
              <a:tabLst>
                <a:tab pos="5727700" algn="r"/>
              </a:tabLst>
            </a:pPr>
            <a:r>
              <a:rPr lang="en-GB" sz="2600" dirty="0">
                <a:ea typeface="Calibri" panose="020F0502020204030204" pitchFamily="34" charset="0"/>
              </a:rPr>
              <a:t>Blu-ray Disc drive/Blu-ray Disc</a:t>
            </a:r>
          </a:p>
        </p:txBody>
      </p:sp>
    </p:spTree>
    <p:extLst>
      <p:ext uri="{BB962C8B-B14F-4D97-AF65-F5344CB8AC3E}">
        <p14:creationId xmlns:p14="http://schemas.microsoft.com/office/powerpoint/2010/main" val="29442508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0D3D-3B5A-405C-A85C-D55D7E6FEF9A}"/>
              </a:ext>
            </a:extLst>
          </p:cNvPr>
          <p:cNvSpPr>
            <a:spLocks noGrp="1"/>
          </p:cNvSpPr>
          <p:nvPr>
            <p:ph type="title"/>
          </p:nvPr>
        </p:nvSpPr>
        <p:spPr>
          <a:xfrm>
            <a:off x="1589632" y="796072"/>
            <a:ext cx="10037685" cy="865740"/>
          </a:xfrm>
        </p:spPr>
        <p:txBody>
          <a:bodyPr>
            <a:normAutofit/>
          </a:bodyPr>
          <a:lstStyle/>
          <a:p>
            <a:r>
              <a:rPr lang="en-GB" b="1">
                <a:solidFill>
                  <a:schemeClr val="bg1"/>
                </a:solidFill>
              </a:rPr>
              <a:t>Quiz 4</a:t>
            </a:r>
            <a:endParaRPr lang="en-GB" b="1" dirty="0">
              <a:solidFill>
                <a:schemeClr val="bg1"/>
              </a:solidFill>
            </a:endParaRPr>
          </a:p>
        </p:txBody>
      </p:sp>
      <p:pic>
        <p:nvPicPr>
          <p:cNvPr id="5" name="Picture 4" descr="A picture containing athletic game, basketball, sport&#10;&#10;Description automatically generated">
            <a:extLst>
              <a:ext uri="{FF2B5EF4-FFF2-40B4-BE49-F238E27FC236}">
                <a16:creationId xmlns:a16="http://schemas.microsoft.com/office/drawing/2014/main" id="{E026BB22-2069-44BA-9C69-B4666D11CB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2216" y="1967027"/>
            <a:ext cx="4587567" cy="4494840"/>
          </a:xfrm>
          <a:prstGeom prst="rect">
            <a:avLst/>
          </a:prstGeom>
        </p:spPr>
      </p:pic>
    </p:spTree>
    <p:extLst>
      <p:ext uri="{BB962C8B-B14F-4D97-AF65-F5344CB8AC3E}">
        <p14:creationId xmlns:p14="http://schemas.microsoft.com/office/powerpoint/2010/main" val="4049882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1.2"/>
  <p:tag name="ISPRING_ULTRA_SCORM_COURSE_ID" val="7BC0129E-310A-4868-92C1-D7885679E0AD"/>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FFFD\uFFFD\uFFFD\u0016{7E5F7FCF-D1FF-48CD-B4F4-7DA9236FA68B}&quot;,&quot;N:\\Vocational Editorial\\Commissioned projects\\ICT\\Progress in Computing\\00 Desk editor\\05b Proofread T&amp;L\\Final files to be renamed\\05 Computing components\\Lesson 4&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wordSettings&quot;:{&quot;printCopies&quot;:1}}"/>
  <p:tag name="ISPRING_SCORM_RATE_SLIDES" val="0"/>
  <p:tag name="ISPRING_SCORM_RATE_QUIZZES" val="0"/>
  <p:tag name="ISPRING_SCORM_PASSING_SCORE" val="0.000000"/>
  <p:tag name="ISPRING_CURRENT_PLAYER_ID" val="universal"/>
  <p:tag name="ISPRING_PRESENTATION_TITLE" val="PiC_05_presentation4"/>
  <p:tag name="ISPRING_FIRST_PUBLI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467</TotalTime>
  <Words>615</Words>
  <Application>Microsoft Office PowerPoint</Application>
  <PresentationFormat>Widescreen</PresentationFormat>
  <Paragraphs>75</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Office Theme</vt:lpstr>
      <vt:lpstr>Computing components</vt:lpstr>
      <vt:lpstr>Objectives</vt:lpstr>
      <vt:lpstr>Storage devices and storage media</vt:lpstr>
      <vt:lpstr>Activity 4.1: Capacity of storage devices</vt:lpstr>
      <vt:lpstr>Primary and secondary storage</vt:lpstr>
      <vt:lpstr>Types of secondary storage</vt:lpstr>
      <vt:lpstr>Activity 4.2: Types of secondary storage device/medium</vt:lpstr>
      <vt:lpstr>Activity 4.3: Comparing secondary storage devices/media</vt:lpstr>
      <vt:lpstr>Activity 4.4: Choosing secondary storage devices/media </vt:lpstr>
      <vt:lpstr>Question 1</vt:lpstr>
      <vt:lpstr>Question 2</vt:lpstr>
      <vt:lpstr>Question 3</vt:lpstr>
      <vt:lpstr>Question 4</vt:lpstr>
      <vt:lpstr>Quiz 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PiC_05_presentation4</dc:title>
  <dc:creator>Lea Albrechtsen</dc:creator>
  <cp:lastModifiedBy>Lea Albrechtsen</cp:lastModifiedBy>
  <cp:revision>40</cp:revision>
  <dcterms:created xsi:type="dcterms:W3CDTF">2020-11-04T15:22:46Z</dcterms:created>
  <dcterms:modified xsi:type="dcterms:W3CDTF">2021-06-29T15:23:27Z</dcterms:modified>
</cp:coreProperties>
</file>