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24" Type="http://schemas.openxmlformats.org/officeDocument/2006/relationships/slide" Target="slides/slide20.xml"/><Relationship Id="rId12" Type="http://schemas.openxmlformats.org/officeDocument/2006/relationships/slide" Target="slides/slide8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" name="Google Shape;199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3" name="Google Shape;213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" name="Google Shape;21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" name="Google Shape;27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4" name="Google Shape;34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9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descr="Shape, rectangle&#10;&#10;Description automatically generated" id="13" name="Google Shape;1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238036" cy="164781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19.png"/><Relationship Id="rId6" Type="http://schemas.openxmlformats.org/officeDocument/2006/relationships/image" Target="../media/image8.png"/><Relationship Id="rId7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Relationship Id="rId4" Type="http://schemas.openxmlformats.org/officeDocument/2006/relationships/image" Target="../media/image1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ctrTitle"/>
          </p:nvPr>
        </p:nvSpPr>
        <p:spPr>
          <a:xfrm>
            <a:off x="1162669" y="3250362"/>
            <a:ext cx="6143000" cy="85269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Calibri"/>
              <a:buNone/>
            </a:pPr>
            <a:r>
              <a:rPr b="1" lang="en-GB" sz="4800"/>
              <a:t>Computing components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2366753" y="4103054"/>
            <a:ext cx="4938916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0089A7"/>
                </a:solidFill>
                <a:latin typeface="Calibri"/>
                <a:ea typeface="Calibri"/>
                <a:cs typeface="Calibri"/>
                <a:sym typeface="Calibri"/>
              </a:rPr>
              <a:t>Lesson 2: Measuring computer performance </a:t>
            </a:r>
            <a:endParaRPr b="1" i="0" sz="2000" u="none" cap="none" strike="noStrike">
              <a:solidFill>
                <a:srgbClr val="0089A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0089A7"/>
                </a:solidFill>
                <a:latin typeface="Calibri"/>
                <a:ea typeface="Calibri"/>
                <a:cs typeface="Calibri"/>
                <a:sym typeface="Calibri"/>
              </a:rPr>
              <a:t>Computer Peripherials</a:t>
            </a:r>
            <a:endParaRPr b="1" i="0" sz="2000" u="none" cap="none" strike="noStrike">
              <a:solidFill>
                <a:srgbClr val="0089A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05669" y="2885133"/>
            <a:ext cx="3115069" cy="2435843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>
            <p:ph type="title"/>
          </p:nvPr>
        </p:nvSpPr>
        <p:spPr>
          <a:xfrm>
            <a:off x="1593636" y="840449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94" name="Google Shape;94;p14"/>
          <p:cNvSpPr/>
          <p:nvPr/>
        </p:nvSpPr>
        <p:spPr>
          <a:xfrm>
            <a:off x="1593636" y="2321940"/>
            <a:ext cx="9726636" cy="24314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 how to:</a:t>
            </a:r>
            <a:endParaRPr sz="5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</a:t>
            </a:r>
            <a:r>
              <a:rPr b="1"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computer peripherals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(input, output, and storage devices).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Explain how </a:t>
            </a:r>
            <a:r>
              <a:rPr b="1"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is input, processed, and output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a computer system.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Order and compare </a:t>
            </a:r>
            <a:r>
              <a:rPr b="1"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storage units (bit, byte, kilobyte, etc.)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speed units (hertz, megahertz, gigahertz, etc.)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Justify the choice of computer hardware based on performance needs.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5"/>
          <p:cNvSpPr txBox="1"/>
          <p:nvPr>
            <p:ph type="title"/>
          </p:nvPr>
        </p:nvSpPr>
        <p:spPr>
          <a:xfrm>
            <a:off x="158963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2.1: Match correct device names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id="101" name="Google Shape;101;p15"/>
          <p:cNvPicPr preferRelativeResize="0"/>
          <p:nvPr/>
        </p:nvPicPr>
        <p:blipFill rotWithShape="1">
          <a:blip r:embed="rId3">
            <a:alphaModFix/>
          </a:blip>
          <a:srcRect b="0" l="0" r="58687" t="0"/>
          <a:stretch/>
        </p:blipFill>
        <p:spPr>
          <a:xfrm>
            <a:off x="107205" y="1832117"/>
            <a:ext cx="2233659" cy="47591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/>
          <p:cNvPicPr preferRelativeResize="0"/>
          <p:nvPr/>
        </p:nvPicPr>
        <p:blipFill rotWithShape="1">
          <a:blip r:embed="rId3">
            <a:alphaModFix/>
          </a:blip>
          <a:srcRect b="0" l="75818" r="506" t="0"/>
          <a:stretch/>
        </p:blipFill>
        <p:spPr>
          <a:xfrm>
            <a:off x="10735056" y="1765061"/>
            <a:ext cx="1280045" cy="47591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64866" y="2020824"/>
            <a:ext cx="1949829" cy="47064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28879" y="2020824"/>
            <a:ext cx="2343477" cy="1800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77395" y="1832117"/>
            <a:ext cx="1648055" cy="442974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/>
          <p:cNvPicPr preferRelativeResize="0"/>
          <p:nvPr/>
        </p:nvPicPr>
        <p:blipFill rotWithShape="1">
          <a:blip r:embed="rId7">
            <a:alphaModFix/>
          </a:blip>
          <a:srcRect b="0" l="0" r="0" t="66759"/>
          <a:stretch/>
        </p:blipFill>
        <p:spPr>
          <a:xfrm>
            <a:off x="6690189" y="2222828"/>
            <a:ext cx="1686160" cy="13964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6"/>
          <p:cNvSpPr txBox="1"/>
          <p:nvPr>
            <p:ph type="title"/>
          </p:nvPr>
        </p:nvSpPr>
        <p:spPr>
          <a:xfrm>
            <a:off x="2084832" y="667512"/>
            <a:ext cx="9268968" cy="10231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MATCH correct explanations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112" name="Google Shape;112;p1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pic>
        <p:nvPicPr>
          <p:cNvPr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8193" y="1825625"/>
            <a:ext cx="6259931" cy="47275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588711" y="844826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Measuring performance</a:t>
            </a:r>
            <a:endParaRPr/>
          </a:p>
        </p:txBody>
      </p:sp>
      <p:sp>
        <p:nvSpPr>
          <p:cNvPr id="120" name="Google Shape;120;p17"/>
          <p:cNvSpPr/>
          <p:nvPr/>
        </p:nvSpPr>
        <p:spPr>
          <a:xfrm>
            <a:off x="1588711" y="1858190"/>
            <a:ext cx="9082337" cy="41549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Hardware components do different things and so their performance is measured in different ways using different units.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CPU performance is measured by its </a:t>
            </a:r>
            <a:r>
              <a:rPr b="1" lang="en-GB" sz="2400">
                <a:solidFill>
                  <a:srgbClr val="0089A7"/>
                </a:solidFill>
                <a:latin typeface="Calibri"/>
                <a:ea typeface="Calibri"/>
                <a:cs typeface="Calibri"/>
                <a:sym typeface="Calibri"/>
              </a:rPr>
              <a:t>clock speed</a:t>
            </a:r>
            <a:r>
              <a:rPr lang="en-GB" sz="2400">
                <a:solidFill>
                  <a:srgbClr val="0089A7"/>
                </a:solidFill>
                <a:latin typeface="Calibri"/>
                <a:ea typeface="Calibri"/>
                <a:cs typeface="Calibri"/>
                <a:sym typeface="Calibri"/>
              </a:rPr>
              <a:t> (</a:t>
            </a:r>
            <a:r>
              <a:rPr b="1" lang="en-GB" sz="2400">
                <a:solidFill>
                  <a:srgbClr val="0089A7"/>
                </a:solidFill>
                <a:latin typeface="Calibri"/>
                <a:ea typeface="Calibri"/>
                <a:cs typeface="Calibri"/>
                <a:sym typeface="Calibri"/>
              </a:rPr>
              <a:t>hertz</a:t>
            </a:r>
            <a:r>
              <a:rPr lang="en-GB" sz="2400">
                <a:solidFill>
                  <a:srgbClr val="0089A7"/>
                </a:solidFill>
                <a:latin typeface="Calibri"/>
                <a:ea typeface="Calibri"/>
                <a:cs typeface="Calibri"/>
                <a:sym typeface="Calibri"/>
              </a:rPr>
              <a:t>). 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how many fetch–decode–execute cycles the CPU can process per second and is often referred to as just ‘speed’.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RAM performance is measured by its speed (hertz) and how much it can store </a:t>
            </a:r>
            <a:r>
              <a:rPr lang="en-GB" sz="2400">
                <a:solidFill>
                  <a:srgbClr val="0089A7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b="1" lang="en-GB" sz="2400">
                <a:solidFill>
                  <a:srgbClr val="0089A7"/>
                </a:solidFill>
                <a:latin typeface="Calibri"/>
                <a:ea typeface="Calibri"/>
                <a:cs typeface="Calibri"/>
                <a:sym typeface="Calibri"/>
              </a:rPr>
              <a:t>bytes</a:t>
            </a:r>
            <a:r>
              <a:rPr lang="en-GB" sz="2400">
                <a:solidFill>
                  <a:srgbClr val="0089A7"/>
                </a:solidFill>
                <a:latin typeface="Calibri"/>
                <a:ea typeface="Calibri"/>
                <a:cs typeface="Calibri"/>
                <a:sym typeface="Calibri"/>
              </a:rPr>
              <a:t>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0089A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Hard drive performance is measured by how much it can store (bytes).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58963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2.2: Measuring performance </a:t>
            </a:r>
            <a:endParaRPr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3286" y="1744782"/>
            <a:ext cx="10264164" cy="37416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920240" y="681036"/>
            <a:ext cx="9433560" cy="10096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Answers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2838" y="2223919"/>
            <a:ext cx="5906324" cy="2410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920240" y="681036"/>
            <a:ext cx="9433560" cy="10096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pic>
        <p:nvPicPr>
          <p:cNvPr id="141" name="Google Shape;14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3123" y="1966708"/>
            <a:ext cx="10945753" cy="29245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1"/>
          <p:cNvSpPr txBox="1"/>
          <p:nvPr>
            <p:ph type="title"/>
          </p:nvPr>
        </p:nvSpPr>
        <p:spPr>
          <a:xfrm>
            <a:off x="1920240" y="681036"/>
            <a:ext cx="9433560" cy="10096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Answers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147" name="Google Shape;147;p2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pic>
        <p:nvPicPr>
          <p:cNvPr id="148" name="Google Shape;14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0959" y="2092526"/>
            <a:ext cx="10242841" cy="2845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594910" y="837987"/>
            <a:ext cx="10597089" cy="8359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Converting units of storage </a:t>
            </a:r>
            <a:endParaRPr/>
          </a:p>
        </p:txBody>
      </p:sp>
      <p:sp>
        <p:nvSpPr>
          <p:cNvPr id="155" name="Google Shape;155;p22"/>
          <p:cNvSpPr/>
          <p:nvPr/>
        </p:nvSpPr>
        <p:spPr>
          <a:xfrm>
            <a:off x="1594910" y="2051152"/>
            <a:ext cx="8016229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convert different units of storage so you can compare the performance of different hardware.</a:t>
            </a:r>
            <a:endParaRPr/>
          </a:p>
        </p:txBody>
      </p:sp>
      <p:sp>
        <p:nvSpPr>
          <p:cNvPr id="156" name="Google Shape;156;p22"/>
          <p:cNvSpPr/>
          <p:nvPr/>
        </p:nvSpPr>
        <p:spPr>
          <a:xfrm>
            <a:off x="5458968" y="3662826"/>
            <a:ext cx="5138123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 terabyte = 1,000 gigabytes = 1,000,000 megabytes (1000 x 1000)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 terabytes = 2,000 gigabytes = 2,000,000 megabytes (2 x 1000 x 1000)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1,000,000 kilobytes = 1,000 megabytes = 1 gigabyte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4,000,000 kilobytes = 4,000 megabytes = 4 gigabytes</a:t>
            </a:r>
            <a:endParaRPr/>
          </a:p>
        </p:txBody>
      </p:sp>
      <p:pic>
        <p:nvPicPr>
          <p:cNvPr descr="Diagram&#10;&#10;Description automatically generated" id="157" name="Google Shape;15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40444" y="3095897"/>
            <a:ext cx="3276235" cy="29241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3"/>
          <p:cNvSpPr txBox="1"/>
          <p:nvPr>
            <p:ph type="title"/>
          </p:nvPr>
        </p:nvSpPr>
        <p:spPr>
          <a:xfrm>
            <a:off x="1594911" y="837987"/>
            <a:ext cx="10451680" cy="8359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Converting units of speed </a:t>
            </a:r>
            <a:endParaRPr/>
          </a:p>
        </p:txBody>
      </p:sp>
      <p:sp>
        <p:nvSpPr>
          <p:cNvPr id="164" name="Google Shape;164;p23"/>
          <p:cNvSpPr/>
          <p:nvPr/>
        </p:nvSpPr>
        <p:spPr>
          <a:xfrm>
            <a:off x="1512815" y="2123836"/>
            <a:ext cx="8688198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also convert different units of speed so you can compare the performance of different hardware.</a:t>
            </a:r>
            <a:endParaRPr/>
          </a:p>
        </p:txBody>
      </p:sp>
      <p:sp>
        <p:nvSpPr>
          <p:cNvPr id="165" name="Google Shape;165;p23"/>
          <p:cNvSpPr/>
          <p:nvPr/>
        </p:nvSpPr>
        <p:spPr>
          <a:xfrm>
            <a:off x="5224669" y="3718502"/>
            <a:ext cx="6096000" cy="2031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 megahertz = 1,000 kilohertz = 1,000,000 hertz (1000 x 1000)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 megahertz = 5,000 kilohertz = 5,000,000 hertz (5 x 1000 x 1000)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1,000,000,000 hertz = 1,000,000 kilohertz = 1,000 megahertz = 1 gigahertz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6,000,000,000 hertz = 6,000,000 kilohertz = 6,000 megahertz = 6 gigahertz</a:t>
            </a:r>
            <a:endParaRPr/>
          </a:p>
        </p:txBody>
      </p:sp>
      <p:pic>
        <p:nvPicPr>
          <p:cNvPr id="166" name="Google Shape;16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77494" y="3139499"/>
            <a:ext cx="3238182" cy="28257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4"/>
          <p:cNvSpPr txBox="1"/>
          <p:nvPr>
            <p:ph type="title"/>
          </p:nvPr>
        </p:nvSpPr>
        <p:spPr>
          <a:xfrm>
            <a:off x="158963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2.3: Computer performance </a:t>
            </a:r>
            <a:endParaRPr/>
          </a:p>
        </p:txBody>
      </p:sp>
      <p:sp>
        <p:nvSpPr>
          <p:cNvPr id="173" name="Google Shape;173;p24"/>
          <p:cNvSpPr/>
          <p:nvPr/>
        </p:nvSpPr>
        <p:spPr>
          <a:xfrm>
            <a:off x="384048" y="1810512"/>
            <a:ext cx="11365992" cy="4882896"/>
          </a:xfrm>
          <a:prstGeom prst="rect">
            <a:avLst/>
          </a:prstGeom>
          <a:solidFill>
            <a:srgbClr val="0091AC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Complete worksheets given.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WRITE YOUR NAME ON 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give them to teacher</a:t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588711" y="844826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Why does hardware performance matter? 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1588711" y="2133492"/>
            <a:ext cx="7866077" cy="41549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Hardware performance matters because you want your computer to do exactly what you need it to do. However, different people have different requirements.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gamer wants a fast CPU so their computer plays the latest games smoothly. They also want a powerful graphics card and lots of RAM.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teacher does not need a particularly powerful computer, so CPU speed is less important, but they want lots of storage space to store all the resources for their lessons.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588711" y="844826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Computer peripherals</a:t>
            </a:r>
            <a:endParaRPr/>
          </a:p>
        </p:txBody>
      </p:sp>
      <p:sp>
        <p:nvSpPr>
          <p:cNvPr id="187" name="Google Shape;187;p26"/>
          <p:cNvSpPr/>
          <p:nvPr/>
        </p:nvSpPr>
        <p:spPr>
          <a:xfrm>
            <a:off x="1588712" y="2136339"/>
            <a:ext cx="7406202" cy="341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b="1" lang="en-GB" sz="2400">
                <a:solidFill>
                  <a:srgbClr val="0089A7"/>
                </a:solidFill>
                <a:latin typeface="Calibri"/>
                <a:ea typeface="Calibri"/>
                <a:cs typeface="Calibri"/>
                <a:sym typeface="Calibri"/>
              </a:rPr>
              <a:t> peripheral 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a device that allows information to be entered into or retrieved from a computer.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Peripherals are normally split into different three types: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b="1" lang="en-GB" sz="2400">
                <a:solidFill>
                  <a:srgbClr val="0089A7"/>
                </a:solidFill>
                <a:latin typeface="Calibri"/>
                <a:ea typeface="Calibri"/>
                <a:cs typeface="Calibri"/>
                <a:sym typeface="Calibri"/>
              </a:rPr>
              <a:t>input devices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devices that allow the user to enter data into a computer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b="1" lang="en-GB" sz="2400">
                <a:solidFill>
                  <a:srgbClr val="0089A7"/>
                </a:solidFill>
                <a:latin typeface="Calibri"/>
                <a:ea typeface="Calibri"/>
                <a:cs typeface="Calibri"/>
                <a:sym typeface="Calibri"/>
              </a:rPr>
              <a:t>output devices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devices that allow the user to display the results after processing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b="1" lang="en-GB" sz="2400">
                <a:solidFill>
                  <a:srgbClr val="0089A7"/>
                </a:solidFill>
                <a:latin typeface="Calibri"/>
                <a:ea typeface="Calibri"/>
                <a:cs typeface="Calibri"/>
                <a:sym typeface="Calibri"/>
              </a:rPr>
              <a:t>external storage devices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an external device that stores data.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7"/>
          <p:cNvSpPr txBox="1"/>
          <p:nvPr>
            <p:ph type="title"/>
          </p:nvPr>
        </p:nvSpPr>
        <p:spPr>
          <a:xfrm>
            <a:off x="158963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Activity: Categorising peripherals</a:t>
            </a:r>
            <a:endParaRPr/>
          </a:p>
        </p:txBody>
      </p:sp>
      <p:sp>
        <p:nvSpPr>
          <p:cNvPr id="194" name="Google Shape;194;p27"/>
          <p:cNvSpPr/>
          <p:nvPr/>
        </p:nvSpPr>
        <p:spPr>
          <a:xfrm>
            <a:off x="693520" y="1873299"/>
            <a:ext cx="11093096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Categorise each peripheral as an input device, an output device or an external storage device to the correct category.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5" name="Google Shape;19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93407" y="2998665"/>
            <a:ext cx="5308813" cy="3725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7"/>
          <p:cNvPicPr preferRelativeResize="0"/>
          <p:nvPr/>
        </p:nvPicPr>
        <p:blipFill rotWithShape="1">
          <a:blip r:embed="rId4">
            <a:alphaModFix/>
          </a:blip>
          <a:srcRect b="12405" l="0" r="0" t="6796"/>
          <a:stretch/>
        </p:blipFill>
        <p:spPr>
          <a:xfrm>
            <a:off x="1463040" y="2622000"/>
            <a:ext cx="2276856" cy="39035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8"/>
          <p:cNvSpPr txBox="1"/>
          <p:nvPr>
            <p:ph type="title"/>
          </p:nvPr>
        </p:nvSpPr>
        <p:spPr>
          <a:xfrm>
            <a:off x="1594910" y="837987"/>
            <a:ext cx="10597089" cy="8359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b="1" lang="en-GB" sz="3600">
                <a:solidFill>
                  <a:schemeClr val="lt1"/>
                </a:solidFill>
              </a:rPr>
              <a:t>Is a touchscreen an input device or an output device?</a:t>
            </a:r>
            <a:endParaRPr/>
          </a:p>
        </p:txBody>
      </p:sp>
      <p:pic>
        <p:nvPicPr>
          <p:cNvPr id="203" name="Google Shape;203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64248" y="1945634"/>
            <a:ext cx="6663504" cy="43855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9"/>
          <p:cNvSpPr txBox="1"/>
          <p:nvPr>
            <p:ph type="title"/>
          </p:nvPr>
        </p:nvSpPr>
        <p:spPr>
          <a:xfrm>
            <a:off x="158963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3.2: Input and output</a:t>
            </a:r>
            <a:endParaRPr/>
          </a:p>
        </p:txBody>
      </p:sp>
      <p:pic>
        <p:nvPicPr>
          <p:cNvPr id="210" name="Google Shape;21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3232" y="1661812"/>
            <a:ext cx="6937997" cy="51478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0"/>
          <p:cNvSpPr txBox="1"/>
          <p:nvPr>
            <p:ph type="title"/>
          </p:nvPr>
        </p:nvSpPr>
        <p:spPr>
          <a:xfrm>
            <a:off x="1594911" y="837987"/>
            <a:ext cx="10451680" cy="8359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Data input</a:t>
            </a:r>
            <a:endParaRPr b="1" sz="2800">
              <a:solidFill>
                <a:schemeClr val="lt1"/>
              </a:solidFill>
            </a:endParaRPr>
          </a:p>
        </p:txBody>
      </p:sp>
      <p:sp>
        <p:nvSpPr>
          <p:cNvPr id="217" name="Google Shape;217;p30"/>
          <p:cNvSpPr/>
          <p:nvPr/>
        </p:nvSpPr>
        <p:spPr>
          <a:xfrm>
            <a:off x="1512815" y="2123836"/>
            <a:ext cx="8688198" cy="35394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There are a large number of input devices. Each one enables data to be entered into a computer so that it can be processed by the computer.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can be input in different ways, including: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 typed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images scanned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voices recorded.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1"/>
          <p:cNvSpPr txBox="1"/>
          <p:nvPr>
            <p:ph type="title"/>
          </p:nvPr>
        </p:nvSpPr>
        <p:spPr>
          <a:xfrm>
            <a:off x="1588711" y="844826"/>
            <a:ext cx="10696054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b="1" lang="en-GB" sz="3200">
                <a:solidFill>
                  <a:schemeClr val="lt1"/>
                </a:solidFill>
              </a:rPr>
              <a:t>Text typed using a keyboard is the most common form of input</a:t>
            </a:r>
            <a:endParaRPr/>
          </a:p>
        </p:txBody>
      </p:sp>
      <p:pic>
        <p:nvPicPr>
          <p:cNvPr descr="Diagram&#10;&#10;Description automatically generated" id="224" name="Google Shape;224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93531" y="1802222"/>
            <a:ext cx="3204937" cy="46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2"/>
          <p:cNvSpPr txBox="1"/>
          <p:nvPr>
            <p:ph type="title"/>
          </p:nvPr>
        </p:nvSpPr>
        <p:spPr>
          <a:xfrm>
            <a:off x="158963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3.3: Processing input</a:t>
            </a:r>
            <a:endParaRPr/>
          </a:p>
        </p:txBody>
      </p:sp>
      <p:sp>
        <p:nvSpPr>
          <p:cNvPr id="231" name="Google Shape;231;p32"/>
          <p:cNvSpPr/>
          <p:nvPr/>
        </p:nvSpPr>
        <p:spPr>
          <a:xfrm>
            <a:off x="384048" y="1810512"/>
            <a:ext cx="11365992" cy="4882896"/>
          </a:xfrm>
          <a:prstGeom prst="rect">
            <a:avLst/>
          </a:prstGeom>
          <a:solidFill>
            <a:srgbClr val="0091AC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Complete worksheets given.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WRITE YOUR NAME ON 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give them to teacher</a:t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