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9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7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  <p:cmAuthor id="2" name="Jane Fairnie" initials="JF" lastIdx="1" clrIdx="1">
    <p:extLst>
      <p:ext uri="{19B8F6BF-5375-455C-9EA6-DF929625EA0E}">
        <p15:presenceInfo xmlns:p15="http://schemas.microsoft.com/office/powerpoint/2012/main" userId="Jane Fairni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97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624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27/05/2021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27/05/2021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27/05/2021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27/05/2021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27/05/2021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27/05/2021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27/05/2021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27/05/2021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27/05/2021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27/05/2021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5" name="Picture 4" descr="Shape, rectangle&#10;&#10;Description automatically generated">
            <a:extLst>
              <a:ext uri="{FF2B5EF4-FFF2-40B4-BE49-F238E27FC236}">
                <a16:creationId xmlns:a16="http://schemas.microsoft.com/office/drawing/2014/main" id="{E7D3DFEF-2D07-994C-B4C2-2C620945E40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38036" cy="1647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66699" y="2395813"/>
            <a:ext cx="8860459" cy="915850"/>
          </a:xfrm>
        </p:spPr>
        <p:txBody>
          <a:bodyPr/>
          <a:lstStyle/>
          <a:p>
            <a:pPr algn="l"/>
            <a:r>
              <a:rPr lang="en-GB" b="1" dirty="0"/>
              <a:t>Designing websites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3980060" y="3346283"/>
            <a:ext cx="403860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2197AC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3: Hyperlinks and navigation </a:t>
            </a:r>
            <a:endParaRPr lang="en-GB" sz="2000" b="1" dirty="0">
              <a:solidFill>
                <a:srgbClr val="2197AC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E218FE-B089-864B-BA91-40E7187B6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500" y="2853738"/>
            <a:ext cx="2937412" cy="25849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4316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719" y="874643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592719" y="2135971"/>
            <a:ext cx="894275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ea typeface="Times New Roman" panose="02020603050405020304" pitchFamily="18" charset="0"/>
              </a:rPr>
              <a:t>In this lesson, you will learn how to: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link to an external web page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link pages of a website together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use an image as a clickable hyperlink</a:t>
            </a: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800" dirty="0">
                <a:latin typeface="Calibri" panose="020F0502020204030204" pitchFamily="34" charset="0"/>
                <a:ea typeface="Times New Roman" panose="02020603050405020304" pitchFamily="18" charset="0"/>
              </a:rPr>
              <a:t>create and style a navigation bar.</a:t>
            </a: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372C0FC-9AD4-D644-81EC-043A6504235D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6502" y="2192370"/>
            <a:ext cx="4523585" cy="3960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16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C3D19-1115-422D-B31A-F4EC8568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078" y="755374"/>
            <a:ext cx="9733721" cy="884584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HTML hyperlinks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21F064-41D9-2242-9FDE-D36CA69D73F3}"/>
              </a:ext>
            </a:extLst>
          </p:cNvPr>
          <p:cNvSpPr/>
          <p:nvPr/>
        </p:nvSpPr>
        <p:spPr>
          <a:xfrm>
            <a:off x="1620078" y="2159697"/>
            <a:ext cx="838862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b="1" dirty="0">
                <a:solidFill>
                  <a:srgbClr val="2197AC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Hyperlinks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are found on nearly all web pages. They allow users to move from page to page within a website, or to move to a page on another website.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2D7F7A-C2F4-C14F-AD36-3DC6F255DF5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078" y="3030855"/>
            <a:ext cx="5592445" cy="39814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8452B9B-EC57-424A-9C28-9D65B3F52B12}"/>
              </a:ext>
            </a:extLst>
          </p:cNvPr>
          <p:cNvSpPr/>
          <p:nvPr/>
        </p:nvSpPr>
        <p:spPr>
          <a:xfrm>
            <a:off x="1620078" y="3592272"/>
            <a:ext cx="8945218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anchor tag </a:t>
            </a:r>
            <a:r>
              <a:rPr lang="en-GB" sz="20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&lt;a&gt;</a:t>
            </a:r>
            <a:r>
              <a:rPr lang="en-GB" sz="2000" dirty="0"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 used to define a hyperlink, which links one web page to another.</a:t>
            </a:r>
          </a:p>
          <a:p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</a:t>
            </a:r>
            <a:r>
              <a:rPr lang="en-GB" sz="2000" b="1" dirty="0">
                <a:solidFill>
                  <a:srgbClr val="2197AC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hyperlink reference</a:t>
            </a:r>
            <a:r>
              <a:rPr lang="en-GB" sz="2000" dirty="0">
                <a:solidFill>
                  <a:srgbClr val="2197AC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attribute </a:t>
            </a:r>
            <a:r>
              <a:rPr lang="en-GB" sz="2000" dirty="0" err="1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href</a:t>
            </a:r>
            <a:r>
              <a:rPr lang="en-GB" sz="2000" dirty="0"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 used to identify the destination that the hyperlink will take you to. If this is an external web page, you need to give the full URL.</a:t>
            </a:r>
          </a:p>
          <a:p>
            <a:r>
              <a:rPr lang="en-GB" sz="20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The </a:t>
            </a:r>
            <a:r>
              <a:rPr lang="en-GB" sz="2000" b="1" dirty="0">
                <a:solidFill>
                  <a:srgbClr val="2197AC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link text</a:t>
            </a:r>
            <a:r>
              <a:rPr lang="en-GB" sz="2000" dirty="0">
                <a:solidFill>
                  <a:srgbClr val="2197AC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GB" sz="20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is what is shown on the screen. When the mouse moves over this text, the mouse pointer turns into a hand. Clicking on the link text takes you to the linked page.</a:t>
            </a: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7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2" y="1858617"/>
            <a:ext cx="9571382" cy="45123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Here is an example of a hyperlink included within a sentence in an HTML document: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18464E-178A-EC46-B982-817A72A03A5A}"/>
              </a:ext>
            </a:extLst>
          </p:cNvPr>
          <p:cNvSpPr/>
          <p:nvPr/>
        </p:nvSpPr>
        <p:spPr>
          <a:xfrm>
            <a:off x="1600202" y="3662315"/>
            <a:ext cx="708649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is how the code above is displayed by the browser:</a:t>
            </a:r>
            <a:endParaRPr lang="en-GB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452A5A5-30F4-D742-AB2B-C6BE4C9F6FEA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2" y="4573690"/>
            <a:ext cx="4760841" cy="181718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9875FF6-1439-F345-B77E-A762F3F61D66}"/>
              </a:ext>
            </a:extLst>
          </p:cNvPr>
          <p:cNvSpPr/>
          <p:nvPr/>
        </p:nvSpPr>
        <p:spPr>
          <a:xfrm>
            <a:off x="8140463" y="5200782"/>
            <a:ext cx="266040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Calibri" panose="020F0502020204030204" pitchFamily="34" charset="0"/>
                <a:cs typeface="Calibri" panose="020F0502020204030204" pitchFamily="34" charset="0"/>
              </a:rPr>
              <a:t>Watch Video 3.1</a:t>
            </a:r>
            <a:r>
              <a:rPr lang="en-GB" sz="2800" dirty="0"/>
              <a:t> </a:t>
            </a:r>
            <a:endParaRPr lang="en-US" sz="2800" dirty="0"/>
          </a:p>
        </p:txBody>
      </p:sp>
      <p:pic>
        <p:nvPicPr>
          <p:cNvPr id="11" name="image1.png">
            <a:extLst>
              <a:ext uri="{FF2B5EF4-FFF2-40B4-BE49-F238E27FC236}">
                <a16:creationId xmlns:a16="http://schemas.microsoft.com/office/drawing/2014/main" id="{D84BFAFF-B7F6-FD4C-97C6-E0C77FF3DF8A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719470" y="2680962"/>
            <a:ext cx="6013173" cy="804376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353817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80507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Activity 3.1: Adding an external hyperlink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17DE5-0938-4948-BA42-BFBFF8F1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186" y="2009506"/>
            <a:ext cx="4115628" cy="40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3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2" y="1858617"/>
            <a:ext cx="9571382" cy="45123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When a user clicks on a hyperlink, the linked page will replace the one currently displayed in the browser window.</a:t>
            </a:r>
          </a:p>
          <a:p>
            <a:pPr marL="0" indent="0">
              <a:buNone/>
            </a:pPr>
            <a:r>
              <a:rPr lang="en-GB" sz="2400" dirty="0"/>
              <a:t>This is ideal when moving from page to page within a website.</a:t>
            </a:r>
          </a:p>
          <a:p>
            <a:pPr marL="0" indent="0">
              <a:buNone/>
            </a:pPr>
            <a:r>
              <a:rPr lang="en-GB" sz="2400" dirty="0"/>
              <a:t>However, if the hyperlink is to an external web page, it is often preferable for this to open in a new browser window.</a:t>
            </a:r>
          </a:p>
          <a:p>
            <a:pPr marL="0" indent="0">
              <a:buNone/>
            </a:pPr>
            <a:r>
              <a:rPr lang="en-GB" sz="2400" dirty="0"/>
              <a:t>This is done by adding </a:t>
            </a:r>
            <a:r>
              <a:rPr lang="en-GB" sz="2400" dirty="0">
                <a:latin typeface="Courier" pitchFamily="2" charset="0"/>
              </a:rPr>
              <a:t>target="_blank"</a:t>
            </a:r>
            <a:r>
              <a:rPr lang="en-GB" sz="2400" dirty="0"/>
              <a:t> after the </a:t>
            </a:r>
            <a:r>
              <a:rPr lang="en-GB" sz="2400" dirty="0" err="1">
                <a:latin typeface="Courier" pitchFamily="2" charset="0"/>
              </a:rPr>
              <a:t>href</a:t>
            </a:r>
            <a:r>
              <a:rPr lang="en-GB" sz="2400" dirty="0"/>
              <a:t>.</a:t>
            </a:r>
          </a:p>
          <a:p>
            <a:pPr marL="0" indent="0">
              <a:buNone/>
            </a:pPr>
            <a:r>
              <a:rPr lang="en-GB" sz="2400" dirty="0"/>
              <a:t>For example: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875FF6-1439-F345-B77E-A762F3F61D66}"/>
              </a:ext>
            </a:extLst>
          </p:cNvPr>
          <p:cNvSpPr/>
          <p:nvPr/>
        </p:nvSpPr>
        <p:spPr>
          <a:xfrm>
            <a:off x="8086167" y="5522614"/>
            <a:ext cx="266040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Calibri" panose="020F0502020204030204" pitchFamily="34" charset="0"/>
                <a:cs typeface="Calibri" panose="020F0502020204030204" pitchFamily="34" charset="0"/>
              </a:rPr>
              <a:t>Watch Video 3.2</a:t>
            </a:r>
            <a:r>
              <a:rPr lang="en-GB" sz="2800" dirty="0"/>
              <a:t> </a:t>
            </a:r>
            <a:endParaRPr lang="en-US" sz="2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D2DA41-DA9B-A24A-B843-3B501E408F24}"/>
              </a:ext>
            </a:extLst>
          </p:cNvPr>
          <p:cNvSpPr/>
          <p:nvPr/>
        </p:nvSpPr>
        <p:spPr>
          <a:xfrm>
            <a:off x="1600202" y="864321"/>
            <a:ext cx="9501807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44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GB" sz="4400" b="1" dirty="0">
                <a:solidFill>
                  <a:schemeClr val="bg1"/>
                </a:solidFill>
                <a:latin typeface="Courier" pitchFamily="2" charset="0"/>
                <a:ea typeface="Calibri" panose="020F0502020204030204" pitchFamily="34" charset="0"/>
                <a:cs typeface="Calibri" panose="020F0502020204030204" pitchFamily="34" charset="0"/>
              </a:rPr>
              <a:t>target</a:t>
            </a:r>
            <a:r>
              <a:rPr lang="en-GB" sz="44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 attribute</a:t>
            </a:r>
            <a:r>
              <a:rPr lang="en-GB" sz="4400" b="1" dirty="0">
                <a:solidFill>
                  <a:schemeClr val="bg1"/>
                </a:solidFill>
                <a:latin typeface="+mj-lt"/>
              </a:rPr>
              <a:t> </a:t>
            </a:r>
            <a:endParaRPr lang="en-US" sz="44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EE45CC-F589-3846-891D-3EF18211540E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617" y="4880112"/>
            <a:ext cx="10386391" cy="417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509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10621618" cy="805070"/>
          </a:xfrm>
        </p:spPr>
        <p:txBody>
          <a:bodyPr>
            <a:noAutofit/>
          </a:bodyPr>
          <a:lstStyle/>
          <a:p>
            <a:r>
              <a:rPr lang="en-GB" sz="3400" b="1" dirty="0">
                <a:solidFill>
                  <a:schemeClr val="bg1"/>
                </a:solidFill>
              </a:rPr>
              <a:t>Activity 3.2: Opening the linked web page in a new window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17DE5-0938-4948-BA42-BFBFF8F1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186" y="2009506"/>
            <a:ext cx="4115628" cy="40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76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2" y="1858617"/>
            <a:ext cx="10237302" cy="451236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/>
              <a:t>The default name for the home or start page of a website is </a:t>
            </a:r>
            <a:r>
              <a:rPr lang="en-GB" sz="2200" dirty="0" err="1">
                <a:latin typeface="Courier" pitchFamily="2" charset="0"/>
              </a:rPr>
              <a:t>index.html</a:t>
            </a:r>
            <a:r>
              <a:rPr lang="en-GB" sz="2200" dirty="0"/>
              <a:t>.</a:t>
            </a:r>
          </a:p>
          <a:p>
            <a:pPr marL="0" indent="0">
              <a:buNone/>
            </a:pPr>
            <a:r>
              <a:rPr lang="en-GB" sz="2200" dirty="0"/>
              <a:t>Other pages are usually given a name that is the same as, or very similar to, the title of the page. Page names must:</a:t>
            </a:r>
          </a:p>
          <a:p>
            <a:pPr lvl="0"/>
            <a:r>
              <a:rPr lang="en-GB" sz="2200" dirty="0"/>
              <a:t>only use lower case letters</a:t>
            </a:r>
          </a:p>
          <a:p>
            <a:pPr lvl="0"/>
            <a:r>
              <a:rPr lang="en-GB" sz="2200" dirty="0"/>
              <a:t>contain no spaces, punctuation or symbols (although dashes may be used for spaces)</a:t>
            </a:r>
          </a:p>
          <a:p>
            <a:pPr lvl="0"/>
            <a:r>
              <a:rPr lang="en-GB" sz="2200" dirty="0"/>
              <a:t>be as short as possible, using keywords that make it clear what the page is about.</a:t>
            </a:r>
          </a:p>
          <a:p>
            <a:pPr marL="0" indent="0">
              <a:buNone/>
            </a:pPr>
            <a:r>
              <a:rPr lang="en-GB" sz="2200" dirty="0"/>
              <a:t>For example: </a:t>
            </a:r>
            <a:r>
              <a:rPr lang="en-GB" sz="2200" dirty="0">
                <a:latin typeface="Courier" pitchFamily="2" charset="0"/>
              </a:rPr>
              <a:t>biscuit-</a:t>
            </a:r>
            <a:r>
              <a:rPr lang="en-GB" sz="2200" dirty="0" err="1">
                <a:latin typeface="Courier" pitchFamily="2" charset="0"/>
              </a:rPr>
              <a:t>recipes.html</a:t>
            </a:r>
            <a:r>
              <a:rPr lang="en-GB" sz="2200" dirty="0">
                <a:latin typeface="Courier" pitchFamily="2" charset="0"/>
              </a:rPr>
              <a:t> </a:t>
            </a:r>
            <a:r>
              <a:rPr lang="en-GB" sz="2200" dirty="0"/>
              <a:t>or </a:t>
            </a:r>
            <a:r>
              <a:rPr lang="en-GB" sz="2200" dirty="0" err="1">
                <a:latin typeface="Courier" pitchFamily="2" charset="0"/>
              </a:rPr>
              <a:t>footballers.html</a:t>
            </a:r>
            <a:r>
              <a:rPr lang="en-GB" sz="2200" dirty="0"/>
              <a:t>.</a:t>
            </a:r>
          </a:p>
          <a:p>
            <a:pPr marL="0" indent="0">
              <a:buNone/>
            </a:pPr>
            <a:r>
              <a:rPr lang="en-GB" sz="2200" dirty="0"/>
              <a:t>An internal hyperlink, a link to a page on the same website, is created in exactly the same way as an external hyperlink, but the file name of the page is used instead of the full URL.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875FF6-1439-F345-B77E-A762F3F61D66}"/>
              </a:ext>
            </a:extLst>
          </p:cNvPr>
          <p:cNvSpPr/>
          <p:nvPr/>
        </p:nvSpPr>
        <p:spPr>
          <a:xfrm>
            <a:off x="8106046" y="5589346"/>
            <a:ext cx="266040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Calibri" panose="020F0502020204030204" pitchFamily="34" charset="0"/>
                <a:cs typeface="Calibri" panose="020F0502020204030204" pitchFamily="34" charset="0"/>
              </a:rPr>
              <a:t>Watch Video 3.3</a:t>
            </a:r>
            <a:r>
              <a:rPr lang="en-GB" sz="2800" dirty="0"/>
              <a:t> </a:t>
            </a:r>
            <a:endParaRPr lang="en-US" sz="2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D2DA41-DA9B-A24A-B843-3B501E408F24}"/>
              </a:ext>
            </a:extLst>
          </p:cNvPr>
          <p:cNvSpPr/>
          <p:nvPr/>
        </p:nvSpPr>
        <p:spPr>
          <a:xfrm>
            <a:off x="1600202" y="864321"/>
            <a:ext cx="1059179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Naming web pages and adding internal hyperlinks</a:t>
            </a:r>
          </a:p>
        </p:txBody>
      </p:sp>
    </p:spTree>
    <p:extLst>
      <p:ext uri="{BB962C8B-B14F-4D97-AF65-F5344CB8AC3E}">
        <p14:creationId xmlns:p14="http://schemas.microsoft.com/office/powerpoint/2010/main" val="1334275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10621618" cy="805070"/>
          </a:xfrm>
        </p:spPr>
        <p:txBody>
          <a:bodyPr>
            <a:no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3.3: Adding an internal hyperlink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17DE5-0938-4948-BA42-BFBFF8F1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186" y="2009506"/>
            <a:ext cx="4115628" cy="40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283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2" y="2117035"/>
            <a:ext cx="9146374" cy="42539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To use an image as a hyperlink, replace the link text with the </a:t>
            </a:r>
            <a:r>
              <a:rPr lang="en-GB" sz="2400" dirty="0">
                <a:latin typeface="Courier" pitchFamily="2" charset="0"/>
              </a:rPr>
              <a:t>&lt;</a:t>
            </a:r>
            <a:r>
              <a:rPr lang="en-GB" sz="2400" dirty="0" err="1">
                <a:latin typeface="Courier" pitchFamily="2" charset="0"/>
              </a:rPr>
              <a:t>img</a:t>
            </a:r>
            <a:r>
              <a:rPr lang="en-GB" sz="2400" dirty="0">
                <a:latin typeface="Courier" pitchFamily="2" charset="0"/>
              </a:rPr>
              <a:t>&gt; </a:t>
            </a:r>
            <a:r>
              <a:rPr lang="en-GB" sz="2400" dirty="0"/>
              <a:t>tag containing the </a:t>
            </a:r>
            <a:r>
              <a:rPr lang="en-GB" sz="2400" dirty="0" err="1">
                <a:latin typeface="Courier" pitchFamily="2" charset="0"/>
              </a:rPr>
              <a:t>src</a:t>
            </a:r>
            <a:r>
              <a:rPr lang="en-GB" sz="2400" dirty="0"/>
              <a:t>, </a:t>
            </a:r>
            <a:r>
              <a:rPr lang="en-GB" sz="2400" dirty="0">
                <a:latin typeface="Courier" pitchFamily="2" charset="0"/>
              </a:rPr>
              <a:t>alt</a:t>
            </a:r>
            <a:r>
              <a:rPr lang="en-GB" sz="2400" dirty="0"/>
              <a:t>, </a:t>
            </a:r>
            <a:r>
              <a:rPr lang="en-GB" sz="2400" dirty="0">
                <a:latin typeface="Courier" pitchFamily="2" charset="0"/>
              </a:rPr>
              <a:t>width</a:t>
            </a:r>
            <a:r>
              <a:rPr lang="en-GB" sz="2400" dirty="0"/>
              <a:t> and </a:t>
            </a:r>
            <a:r>
              <a:rPr lang="en-GB" sz="2400" dirty="0">
                <a:latin typeface="Courier" pitchFamily="2" charset="0"/>
              </a:rPr>
              <a:t>height</a:t>
            </a:r>
            <a:r>
              <a:rPr lang="en-GB" sz="2400" dirty="0"/>
              <a:t> attributes of the image.</a:t>
            </a:r>
          </a:p>
          <a:p>
            <a:pPr marL="0" indent="0">
              <a:buNone/>
            </a:pPr>
            <a:r>
              <a:rPr lang="en-GB" sz="2400" dirty="0"/>
              <a:t>For example: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875FF6-1439-F345-B77E-A762F3F61D66}"/>
              </a:ext>
            </a:extLst>
          </p:cNvPr>
          <p:cNvSpPr/>
          <p:nvPr/>
        </p:nvSpPr>
        <p:spPr>
          <a:xfrm>
            <a:off x="8086167" y="5522614"/>
            <a:ext cx="266040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Calibri" panose="020F0502020204030204" pitchFamily="34" charset="0"/>
                <a:cs typeface="Calibri" panose="020F0502020204030204" pitchFamily="34" charset="0"/>
              </a:rPr>
              <a:t>Watch Video 3.4</a:t>
            </a:r>
            <a:r>
              <a:rPr lang="en-GB" sz="2800" dirty="0"/>
              <a:t> </a:t>
            </a:r>
            <a:endParaRPr lang="en-US" sz="2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D2DA41-DA9B-A24A-B843-3B501E408F24}"/>
              </a:ext>
            </a:extLst>
          </p:cNvPr>
          <p:cNvSpPr/>
          <p:nvPr/>
        </p:nvSpPr>
        <p:spPr>
          <a:xfrm>
            <a:off x="1600202" y="864321"/>
            <a:ext cx="9501807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44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Using an image as a clickable hyperlink </a:t>
            </a:r>
            <a:endParaRPr lang="en-US" sz="44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E43DD4-C18A-9C4B-88FA-34BF3554E0B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2" y="3695079"/>
            <a:ext cx="9322902" cy="150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53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10621618" cy="805070"/>
          </a:xfrm>
        </p:spPr>
        <p:txBody>
          <a:bodyPr>
            <a:noAutofit/>
          </a:bodyPr>
          <a:lstStyle/>
          <a:p>
            <a:r>
              <a:rPr lang="en-GB" sz="4000" b="1" dirty="0">
                <a:solidFill>
                  <a:schemeClr val="bg1"/>
                </a:solidFill>
              </a:rPr>
              <a:t>Activity 3.4: Using an image as a clickable hyperlink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17DE5-0938-4948-BA42-BFBFF8F1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186" y="2009506"/>
            <a:ext cx="4115628" cy="40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9808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2" y="2117035"/>
            <a:ext cx="9146374" cy="42539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</a:t>
            </a:r>
            <a:r>
              <a:rPr lang="en-GB" sz="2400" b="1" dirty="0">
                <a:solidFill>
                  <a:srgbClr val="2197AC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navigation bar</a:t>
            </a:r>
            <a:r>
              <a:rPr lang="en-GB" sz="2400" dirty="0">
                <a:solidFill>
                  <a:srgbClr val="2197AC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 essentially a set of hyperlinks, but by adding formatting it is possible to make a website look much more professional.</a:t>
            </a:r>
          </a:p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</a:t>
            </a:r>
            <a:r>
              <a:rPr lang="en-GB" sz="2400" b="1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nav&gt;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tag should be used to create a series of navigation links, with the individual hyperlinks defined in the usual way using the anchor tag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&lt;a&gt;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example: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D2DA41-DA9B-A24A-B843-3B501E408F24}"/>
              </a:ext>
            </a:extLst>
          </p:cNvPr>
          <p:cNvSpPr/>
          <p:nvPr/>
        </p:nvSpPr>
        <p:spPr>
          <a:xfrm>
            <a:off x="1600202" y="864321"/>
            <a:ext cx="9501807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44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Creating a navigation bar</a:t>
            </a:r>
            <a:endParaRPr lang="en-US" sz="44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D9F77C-168F-6F42-9279-2511ED49D82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2" y="4435016"/>
            <a:ext cx="4944774" cy="1558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7143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2" y="2117035"/>
            <a:ext cx="9146374" cy="42539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Styling is applied via the style sheet to all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&lt;a&gt;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elements within the </a:t>
            </a:r>
            <a:r>
              <a:rPr lang="en-GB" sz="2400" dirty="0">
                <a:latin typeface="Courier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&lt;nav&gt; </a:t>
            </a: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tag.</a:t>
            </a:r>
          </a:p>
          <a:p>
            <a:pPr marL="0" indent="0">
              <a:buNone/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For example: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D2DA41-DA9B-A24A-B843-3B501E408F24}"/>
              </a:ext>
            </a:extLst>
          </p:cNvPr>
          <p:cNvSpPr/>
          <p:nvPr/>
        </p:nvSpPr>
        <p:spPr>
          <a:xfrm>
            <a:off x="1600202" y="864321"/>
            <a:ext cx="9501807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44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Styling a navigation bar</a:t>
            </a:r>
            <a:endParaRPr lang="en-US" sz="44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96BBFF-B7F9-8E48-85D7-9B18120F18E7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2" y="3297963"/>
            <a:ext cx="4495798" cy="307302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330C941-8BAB-0B45-821D-73DA1E5CE62E}"/>
              </a:ext>
            </a:extLst>
          </p:cNvPr>
          <p:cNvSpPr/>
          <p:nvPr/>
        </p:nvSpPr>
        <p:spPr>
          <a:xfrm>
            <a:off x="6056243" y="3406744"/>
            <a:ext cx="577132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7B7B7B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display: block;</a:t>
            </a:r>
            <a:r>
              <a:rPr lang="en-GB" sz="1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creates a block around each hyperlink, with the whole block clickable, not just the text.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477C99-F986-C64F-8825-599E9C429835}"/>
              </a:ext>
            </a:extLst>
          </p:cNvPr>
          <p:cNvSpPr/>
          <p:nvPr/>
        </p:nvSpPr>
        <p:spPr>
          <a:xfrm>
            <a:off x="6096000" y="3929964"/>
            <a:ext cx="577132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00" dirty="0" err="1">
                <a:solidFill>
                  <a:srgbClr val="7B7B7B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color</a:t>
            </a:r>
            <a:r>
              <a:rPr lang="en-GB" sz="1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GB" sz="1400" dirty="0">
                <a:solidFill>
                  <a:srgbClr val="7B7B7B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background-</a:t>
            </a:r>
            <a:r>
              <a:rPr lang="en-GB" sz="1400" dirty="0" err="1">
                <a:solidFill>
                  <a:srgbClr val="7B7B7B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color</a:t>
            </a:r>
            <a:r>
              <a:rPr lang="en-GB" sz="1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and </a:t>
            </a:r>
            <a:r>
              <a:rPr lang="en-GB" sz="1400" dirty="0">
                <a:solidFill>
                  <a:srgbClr val="7B7B7B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text-align</a:t>
            </a:r>
            <a:r>
              <a:rPr lang="en-GB" sz="1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are used to control the text colour, background colour and text alignment.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388875-589F-A64B-BFBF-7766198187BB}"/>
              </a:ext>
            </a:extLst>
          </p:cNvPr>
          <p:cNvSpPr/>
          <p:nvPr/>
        </p:nvSpPr>
        <p:spPr>
          <a:xfrm>
            <a:off x="6056243" y="4623566"/>
            <a:ext cx="494637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7B7B7B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text-decoration: none;</a:t>
            </a:r>
            <a:r>
              <a:rPr lang="en-GB" sz="1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removes the underlining that is normally added to a hyperlink.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9A9221-4920-A34A-A903-26A83BD1788C}"/>
              </a:ext>
            </a:extLst>
          </p:cNvPr>
          <p:cNvSpPr/>
          <p:nvPr/>
        </p:nvSpPr>
        <p:spPr>
          <a:xfrm>
            <a:off x="6056243" y="5055558"/>
            <a:ext cx="561229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7B7B7B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margin: 0;</a:t>
            </a:r>
            <a:r>
              <a:rPr lang="en-GB" sz="1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ensures that the hyperlinks are displayed starting at the left-hand edge of the page.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36239C-68FB-474B-97BC-8E546B279D1D}"/>
              </a:ext>
            </a:extLst>
          </p:cNvPr>
          <p:cNvSpPr/>
          <p:nvPr/>
        </p:nvSpPr>
        <p:spPr>
          <a:xfrm>
            <a:off x="6056243" y="5487550"/>
            <a:ext cx="581107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7B7B7B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padding: 16px;</a:t>
            </a:r>
            <a:r>
              <a:rPr lang="en-GB" sz="1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adds some padding around each hyperlink so that they are spaced appropriately. The amount of padding can be adjusted.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7767E7-8259-0D43-8C04-781E92D13182}"/>
              </a:ext>
            </a:extLst>
          </p:cNvPr>
          <p:cNvSpPr/>
          <p:nvPr/>
        </p:nvSpPr>
        <p:spPr>
          <a:xfrm>
            <a:off x="6056243" y="5919542"/>
            <a:ext cx="70998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400" dirty="0">
                <a:solidFill>
                  <a:srgbClr val="7B7B7B"/>
                </a:solidFill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float: left;</a:t>
            </a:r>
            <a:r>
              <a:rPr lang="en-GB" sz="1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ensures that the hyperlinks appear next to each other.</a:t>
            </a:r>
          </a:p>
        </p:txBody>
      </p:sp>
    </p:spTree>
    <p:extLst>
      <p:ext uri="{BB962C8B-B14F-4D97-AF65-F5344CB8AC3E}">
        <p14:creationId xmlns:p14="http://schemas.microsoft.com/office/powerpoint/2010/main" val="3096992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2" y="2117035"/>
            <a:ext cx="8209720" cy="42539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/>
              <a:t>We can also add styling to the </a:t>
            </a:r>
            <a:r>
              <a:rPr lang="en-GB" sz="2000" dirty="0">
                <a:latin typeface="Courier" pitchFamily="2" charset="0"/>
              </a:rPr>
              <a:t>nav</a:t>
            </a:r>
            <a:r>
              <a:rPr lang="en-GB" sz="2000" dirty="0"/>
              <a:t> tag itself.</a:t>
            </a:r>
          </a:p>
          <a:p>
            <a:pPr marL="0" indent="0">
              <a:buNone/>
            </a:pPr>
            <a:r>
              <a:rPr lang="en-GB" sz="2000" dirty="0"/>
              <a:t>To make the links appear side-by-side in a row we use </a:t>
            </a:r>
            <a:r>
              <a:rPr lang="en-GB" sz="2000" dirty="0">
                <a:latin typeface="Courier" pitchFamily="2" charset="0"/>
              </a:rPr>
              <a:t>display: flex</a:t>
            </a:r>
            <a:r>
              <a:rPr lang="en-GB" sz="2000" dirty="0"/>
              <a:t>. This creates a flexible container, that the hyperlinks are placed inside in a row.</a:t>
            </a:r>
          </a:p>
          <a:p>
            <a:pPr marL="0" indent="0">
              <a:buNone/>
            </a:pPr>
            <a:r>
              <a:rPr lang="en-GB" sz="2000" dirty="0"/>
              <a:t>Adding the same background colour for the container as you have used for the hyperlinks ensures the navigation bar fills the width of the page.</a:t>
            </a:r>
          </a:p>
          <a:p>
            <a:pPr marL="0" indent="0">
              <a:buNone/>
            </a:pPr>
            <a:r>
              <a:rPr lang="en-GB" sz="2000" dirty="0"/>
              <a:t>For example: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D2DA41-DA9B-A24A-B843-3B501E408F24}"/>
              </a:ext>
            </a:extLst>
          </p:cNvPr>
          <p:cNvSpPr/>
          <p:nvPr/>
        </p:nvSpPr>
        <p:spPr>
          <a:xfrm>
            <a:off x="1600202" y="864321"/>
            <a:ext cx="9501807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44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Styling a navigation bar</a:t>
            </a:r>
            <a:endParaRPr lang="en-US" sz="44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4D62CDC-6361-924B-8BE5-0FA503D83D73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2" y="4244009"/>
            <a:ext cx="5231889" cy="1609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8514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8FB485-6993-428E-81B4-749465982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2" y="2027583"/>
            <a:ext cx="8796128" cy="42539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To make the navigation bar look even more professional, it is possible to change the background colour and/or text colour of a hyperlink when the mouse hovers over it.</a:t>
            </a:r>
          </a:p>
          <a:p>
            <a:pPr marL="0" indent="0">
              <a:buNone/>
            </a:pPr>
            <a:r>
              <a:rPr lang="en-GB" sz="2400" dirty="0"/>
              <a:t>For example: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D2DA41-DA9B-A24A-B843-3B501E408F24}"/>
              </a:ext>
            </a:extLst>
          </p:cNvPr>
          <p:cNvSpPr/>
          <p:nvPr/>
        </p:nvSpPr>
        <p:spPr>
          <a:xfrm>
            <a:off x="1600202" y="864321"/>
            <a:ext cx="9501807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4400" b="1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rPr>
              <a:t>Styling a navigation bar</a:t>
            </a:r>
            <a:endParaRPr lang="en-US" sz="44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E66927-5E27-7349-83ED-81F6EAAE2D63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2" y="3562215"/>
            <a:ext cx="4721085" cy="153656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DA18DF2-F132-8449-83ED-1971EE8405E6}"/>
              </a:ext>
            </a:extLst>
          </p:cNvPr>
          <p:cNvSpPr/>
          <p:nvPr/>
        </p:nvSpPr>
        <p:spPr>
          <a:xfrm>
            <a:off x="8316141" y="5198118"/>
            <a:ext cx="266040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dirty="0">
                <a:ea typeface="Calibri" panose="020F0502020204030204" pitchFamily="34" charset="0"/>
                <a:cs typeface="Times New Roman" panose="02020603050405020304" pitchFamily="18" charset="0"/>
              </a:rPr>
              <a:t>Watch Video 3.5</a:t>
            </a:r>
            <a:r>
              <a:rPr lang="en-GB" sz="2800" dirty="0"/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29131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ntr" presetSubtype="0" decel="10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10621618" cy="805070"/>
          </a:xfrm>
        </p:spPr>
        <p:txBody>
          <a:bodyPr>
            <a:noAutofit/>
          </a:bodyPr>
          <a:lstStyle/>
          <a:p>
            <a:r>
              <a:rPr lang="en-GB" sz="4000" b="1" dirty="0">
                <a:solidFill>
                  <a:schemeClr val="bg1"/>
                </a:solidFill>
              </a:rPr>
              <a:t>Activity 3.5: Creating and styling a navigation bar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17DE5-0938-4948-BA42-BFBFF8F1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186" y="2009506"/>
            <a:ext cx="4115628" cy="40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4097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06696-8D12-4574-BDC3-2DC3137EF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0382" y="834888"/>
            <a:ext cx="9783417" cy="805070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Quiz 3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817DE5-0938-4948-BA42-BFBFF8F1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186" y="2009506"/>
            <a:ext cx="4115628" cy="40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798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</TotalTime>
  <Words>850</Words>
  <Application>Microsoft Macintosh PowerPoint</Application>
  <PresentationFormat>Widescreen</PresentationFormat>
  <Paragraphs>64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Courier</vt:lpstr>
      <vt:lpstr>Symbol</vt:lpstr>
      <vt:lpstr>Office Theme</vt:lpstr>
      <vt:lpstr>Designing websites</vt:lpstr>
      <vt:lpstr>Objectives</vt:lpstr>
      <vt:lpstr>PowerPoint Presentation</vt:lpstr>
      <vt:lpstr>HTML hyperlinks</vt:lpstr>
      <vt:lpstr>PowerPoint Presentation</vt:lpstr>
      <vt:lpstr>Activity 3.1: Adding an external hyperlink </vt:lpstr>
      <vt:lpstr>PowerPoint Presentation</vt:lpstr>
      <vt:lpstr>Activity 3.2: Opening the linked web page in a new window </vt:lpstr>
      <vt:lpstr>PowerPoint Presentation</vt:lpstr>
      <vt:lpstr>Activity 3.3: Adding an internal hyperlink </vt:lpstr>
      <vt:lpstr>PowerPoint Presentation</vt:lpstr>
      <vt:lpstr>Activity 3.4: Using an image as a clickable hyperlink </vt:lpstr>
      <vt:lpstr>PowerPoint Presentation</vt:lpstr>
      <vt:lpstr>PowerPoint Presentation</vt:lpstr>
      <vt:lpstr>PowerPoint Presentation</vt:lpstr>
      <vt:lpstr>PowerPoint Presentation</vt:lpstr>
      <vt:lpstr>Activity 3.5: Creating and styling a navigation bar </vt:lpstr>
      <vt:lpstr>Quiz 3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James Bullivant</cp:lastModifiedBy>
  <cp:revision>52</cp:revision>
  <dcterms:created xsi:type="dcterms:W3CDTF">2020-11-04T15:22:46Z</dcterms:created>
  <dcterms:modified xsi:type="dcterms:W3CDTF">2021-05-27T12:53:20Z</dcterms:modified>
</cp:coreProperties>
</file>