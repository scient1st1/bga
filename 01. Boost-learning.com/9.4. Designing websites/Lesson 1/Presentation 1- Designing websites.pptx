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3" r:id="rId12"/>
    <p:sldId id="274" r:id="rId13"/>
    <p:sldId id="266" r:id="rId14"/>
    <p:sldId id="267" r:id="rId15"/>
    <p:sldId id="275" r:id="rId16"/>
    <p:sldId id="276" r:id="rId17"/>
    <p:sldId id="277" r:id="rId18"/>
    <p:sldId id="27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 id="2" name="Jane Fairnie" initials="JF" lastIdx="1" clrIdx="1">
    <p:extLst>
      <p:ext uri="{19B8F6BF-5375-455C-9EA6-DF929625EA0E}">
        <p15:presenceInfo xmlns:p15="http://schemas.microsoft.com/office/powerpoint/2012/main" userId="Jane Fairni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2197A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36" autoAdjust="0"/>
    <p:restoredTop sz="94660"/>
  </p:normalViewPr>
  <p:slideViewPr>
    <p:cSldViewPr snapToGrid="0">
      <p:cViewPr varScale="1">
        <p:scale>
          <a:sx n="110" d="100"/>
          <a:sy n="110" d="100"/>
        </p:scale>
        <p:origin x="28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5" name="Picture 4" descr="Shape, rectangle&#10;&#10;Description automatically generated">
            <a:extLst>
              <a:ext uri="{FF2B5EF4-FFF2-40B4-BE49-F238E27FC236}">
                <a16:creationId xmlns:a16="http://schemas.microsoft.com/office/drawing/2014/main" id="{E7D3DFEF-2D07-994C-B4C2-2C620945E405}"/>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0"/>
            <a:ext cx="12238036" cy="1647814"/>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1569134" y="2395813"/>
            <a:ext cx="8860459" cy="915850"/>
          </a:xfrm>
        </p:spPr>
        <p:txBody>
          <a:bodyPr/>
          <a:lstStyle/>
          <a:p>
            <a:pPr algn="l"/>
            <a:r>
              <a:rPr lang="en-GB" b="1" dirty="0"/>
              <a:t>Designing websites</a:t>
            </a:r>
          </a:p>
        </p:txBody>
      </p:sp>
      <p:sp>
        <p:nvSpPr>
          <p:cNvPr id="11" name="Rectangle 10">
            <a:extLst>
              <a:ext uri="{FF2B5EF4-FFF2-40B4-BE49-F238E27FC236}">
                <a16:creationId xmlns:a16="http://schemas.microsoft.com/office/drawing/2014/main" id="{5346DB13-257C-4484-9CB0-C755672B55D3}"/>
              </a:ext>
            </a:extLst>
          </p:cNvPr>
          <p:cNvSpPr/>
          <p:nvPr/>
        </p:nvSpPr>
        <p:spPr>
          <a:xfrm>
            <a:off x="4024100" y="3404910"/>
            <a:ext cx="3631443" cy="400110"/>
          </a:xfrm>
          <a:prstGeom prst="rect">
            <a:avLst/>
          </a:prstGeom>
        </p:spPr>
        <p:txBody>
          <a:bodyPr wrap="none">
            <a:spAutoFit/>
          </a:bodyPr>
          <a:lstStyle/>
          <a:p>
            <a:r>
              <a:rPr lang="en-GB" sz="2000" b="1" dirty="0">
                <a:solidFill>
                  <a:srgbClr val="2197AC"/>
                </a:solidFill>
                <a:latin typeface="Calibri" panose="020F0502020204030204" pitchFamily="34" charset="0"/>
                <a:ea typeface="Times New Roman" panose="02020603050405020304" pitchFamily="18" charset="0"/>
              </a:rPr>
              <a:t>Lesson 1: Basic styling using CSS </a:t>
            </a:r>
            <a:endParaRPr lang="en-GB" sz="2000" b="1" dirty="0">
              <a:solidFill>
                <a:srgbClr val="2197AC"/>
              </a:solidFill>
            </a:endParaRPr>
          </a:p>
        </p:txBody>
      </p:sp>
      <p:pic>
        <p:nvPicPr>
          <p:cNvPr id="4" name="Picture 3">
            <a:extLst>
              <a:ext uri="{FF2B5EF4-FFF2-40B4-BE49-F238E27FC236}">
                <a16:creationId xmlns:a16="http://schemas.microsoft.com/office/drawing/2014/main" id="{0BE218FE-B089-864B-BA91-40E7187B696D}"/>
              </a:ext>
            </a:extLst>
          </p:cNvPr>
          <p:cNvPicPr>
            <a:picLocks noChangeAspect="1"/>
          </p:cNvPicPr>
          <p:nvPr/>
        </p:nvPicPr>
        <p:blipFill>
          <a:blip r:embed="rId2"/>
          <a:stretch>
            <a:fillRect/>
          </a:stretch>
        </p:blipFill>
        <p:spPr>
          <a:xfrm>
            <a:off x="8198536" y="2512559"/>
            <a:ext cx="2937412" cy="2584922"/>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592719" y="874643"/>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592719" y="2135971"/>
            <a:ext cx="10285396" cy="1877437"/>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 learn:</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how web pages are defined and displayed</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how to change the styling on a web page using CSS</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how to use classes to style specific elements.</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785191"/>
          </a:xfrm>
        </p:spPr>
        <p:txBody>
          <a:bodyPr/>
          <a:lstStyle/>
          <a:p>
            <a:r>
              <a:rPr lang="en-GB" b="1" dirty="0">
                <a:solidFill>
                  <a:schemeClr val="bg1"/>
                </a:solidFill>
              </a:rPr>
              <a:t>Do you know what this code is used for? </a:t>
            </a:r>
          </a:p>
        </p:txBody>
      </p:sp>
      <p:pic>
        <p:nvPicPr>
          <p:cNvPr id="6" name="Picture 5">
            <a:extLst>
              <a:ext uri="{FF2B5EF4-FFF2-40B4-BE49-F238E27FC236}">
                <a16:creationId xmlns:a16="http://schemas.microsoft.com/office/drawing/2014/main" id="{890FE400-495E-E54A-9C92-D812179F58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7215809" y="2385391"/>
            <a:ext cx="3269823" cy="3001618"/>
          </a:xfrm>
          <a:prstGeom prst="rect">
            <a:avLst/>
          </a:prstGeom>
          <a:ln>
            <a:noFill/>
          </a:ln>
        </p:spPr>
      </p:pic>
      <p:pic>
        <p:nvPicPr>
          <p:cNvPr id="7" name="Picture 6" descr="Graphical user interface, text, application, email&#10;&#10;Description automatically generated">
            <a:extLst>
              <a:ext uri="{FF2B5EF4-FFF2-40B4-BE49-F238E27FC236}">
                <a16:creationId xmlns:a16="http://schemas.microsoft.com/office/drawing/2014/main" id="{8A59C048-C016-A641-8B39-152E88A723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5958" y="1933303"/>
            <a:ext cx="5652559" cy="4079871"/>
          </a:xfrm>
          <a:prstGeom prst="rect">
            <a:avLst/>
          </a:prstGeom>
        </p:spPr>
      </p:pic>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55374"/>
            <a:ext cx="9733721" cy="884584"/>
          </a:xfrm>
        </p:spPr>
        <p:txBody>
          <a:bodyPr/>
          <a:lstStyle/>
          <a:p>
            <a:r>
              <a:rPr lang="en-GB" b="1" dirty="0">
                <a:solidFill>
                  <a:schemeClr val="bg1"/>
                </a:solidFill>
              </a:rPr>
              <a:t>The web page displayed by the code </a:t>
            </a:r>
          </a:p>
        </p:txBody>
      </p:sp>
      <p:pic>
        <p:nvPicPr>
          <p:cNvPr id="8" name="Picture 7">
            <a:extLst>
              <a:ext uri="{FF2B5EF4-FFF2-40B4-BE49-F238E27FC236}">
                <a16:creationId xmlns:a16="http://schemas.microsoft.com/office/drawing/2014/main" id="{36A7FFE2-48DA-CA46-A9A7-59098C5C19FC}"/>
              </a:ext>
            </a:extLst>
          </p:cNvPr>
          <p:cNvPicPr/>
          <p:nvPr/>
        </p:nvPicPr>
        <p:blipFill>
          <a:blip r:embed="rId2">
            <a:extLst>
              <a:ext uri="{28A0092B-C50C-407E-A947-70E740481C1C}">
                <a14:useLocalDpi xmlns:a14="http://schemas.microsoft.com/office/drawing/2010/main" val="0"/>
              </a:ext>
            </a:extLst>
          </a:blip>
          <a:stretch>
            <a:fillRect/>
          </a:stretch>
        </p:blipFill>
        <p:spPr>
          <a:xfrm>
            <a:off x="3522345" y="2048077"/>
            <a:ext cx="5147310" cy="4210685"/>
          </a:xfrm>
          <a:prstGeom prst="rect">
            <a:avLst/>
          </a:prstGeom>
        </p:spPr>
      </p:pic>
    </p:spTree>
    <p:extLst>
      <p:ext uri="{BB962C8B-B14F-4D97-AF65-F5344CB8AC3E}">
        <p14:creationId xmlns:p14="http://schemas.microsoft.com/office/powerpoint/2010/main" val="300574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824947"/>
            <a:ext cx="9753599" cy="806105"/>
          </a:xfrm>
        </p:spPr>
        <p:txBody>
          <a:bodyPr/>
          <a:lstStyle/>
          <a:p>
            <a:r>
              <a:rPr lang="en-GB" b="1" dirty="0">
                <a:solidFill>
                  <a:schemeClr val="bg1"/>
                </a:solidFill>
              </a:rPr>
              <a:t>HTML</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2" y="1858617"/>
            <a:ext cx="9571382" cy="4512366"/>
          </a:xfrm>
        </p:spPr>
        <p:txBody>
          <a:bodyPr>
            <a:noAutofit/>
          </a:bodyPr>
          <a:lstStyle/>
          <a:p>
            <a:pPr marL="0" indent="0">
              <a:lnSpc>
                <a:spcPct val="100000"/>
              </a:lnSpc>
              <a:spcBef>
                <a:spcPts val="0"/>
              </a:spcBef>
              <a:spcAft>
                <a:spcPts val="600"/>
              </a:spcAft>
              <a:buNone/>
            </a:pPr>
            <a:r>
              <a:rPr lang="en-GB" sz="2400" b="1" dirty="0"/>
              <a:t>Hyper Text Markup Language</a:t>
            </a:r>
            <a:r>
              <a:rPr lang="en-GB" sz="2400" dirty="0"/>
              <a:t> </a:t>
            </a:r>
            <a:r>
              <a:rPr lang="en-GB" sz="2400" dirty="0">
                <a:solidFill>
                  <a:srgbClr val="2197AC"/>
                </a:solidFill>
              </a:rPr>
              <a:t>(</a:t>
            </a:r>
            <a:r>
              <a:rPr lang="en-GB" sz="2400" b="1" dirty="0">
                <a:solidFill>
                  <a:srgbClr val="2197AC"/>
                </a:solidFill>
              </a:rPr>
              <a:t>HTML</a:t>
            </a:r>
            <a:r>
              <a:rPr lang="en-GB" sz="2400" dirty="0">
                <a:solidFill>
                  <a:srgbClr val="2197AC"/>
                </a:solidFill>
              </a:rPr>
              <a:t>) </a:t>
            </a:r>
            <a:r>
              <a:rPr lang="en-GB" sz="2400" dirty="0"/>
              <a:t>is used to describe the structure of a web page. It consists of a series of </a:t>
            </a:r>
            <a:r>
              <a:rPr lang="en-GB" sz="2400" b="1" dirty="0">
                <a:solidFill>
                  <a:srgbClr val="2197AC"/>
                </a:solidFill>
              </a:rPr>
              <a:t>elements</a:t>
            </a:r>
            <a:r>
              <a:rPr lang="en-GB" sz="2400" dirty="0"/>
              <a:t>. These elements label their content as, for example, a heading, a paragraph, an image or a hyperlink, using </a:t>
            </a:r>
            <a:r>
              <a:rPr lang="en-GB" sz="2400" b="1" dirty="0">
                <a:solidFill>
                  <a:srgbClr val="2197AC"/>
                </a:solidFill>
              </a:rPr>
              <a:t>tags</a:t>
            </a:r>
            <a:r>
              <a:rPr lang="en-GB" sz="2400" dirty="0"/>
              <a:t>.</a:t>
            </a:r>
          </a:p>
          <a:p>
            <a:pPr marL="0" indent="0">
              <a:lnSpc>
                <a:spcPct val="100000"/>
              </a:lnSpc>
              <a:spcBef>
                <a:spcPts val="0"/>
              </a:spcBef>
              <a:spcAft>
                <a:spcPts val="600"/>
              </a:spcAft>
              <a:buNone/>
            </a:pPr>
            <a:r>
              <a:rPr lang="en-GB" sz="2400" dirty="0"/>
              <a:t>An HTML tag is a word or letter surrounded by angle brackets: </a:t>
            </a:r>
            <a:r>
              <a:rPr lang="en-GB" sz="2400" b="1" dirty="0">
                <a:latin typeface="Courier" pitchFamily="2" charset="0"/>
              </a:rPr>
              <a:t>&lt;</a:t>
            </a:r>
            <a:r>
              <a:rPr lang="en-GB" sz="2400" dirty="0">
                <a:latin typeface="Courier" pitchFamily="2" charset="0"/>
              </a:rPr>
              <a:t> </a:t>
            </a:r>
            <a:r>
              <a:rPr lang="en-GB" sz="2400" dirty="0"/>
              <a:t>and </a:t>
            </a:r>
            <a:r>
              <a:rPr lang="en-GB" sz="2400" b="1" dirty="0">
                <a:latin typeface="Courier" pitchFamily="2" charset="0"/>
              </a:rPr>
              <a:t>&gt;</a:t>
            </a:r>
            <a:r>
              <a:rPr lang="en-GB" sz="2400" dirty="0"/>
              <a:t>.</a:t>
            </a:r>
          </a:p>
          <a:p>
            <a:pPr marL="0" indent="0">
              <a:lnSpc>
                <a:spcPct val="100000"/>
              </a:lnSpc>
              <a:spcBef>
                <a:spcPts val="0"/>
              </a:spcBef>
              <a:spcAft>
                <a:spcPts val="600"/>
              </a:spcAft>
              <a:buNone/>
            </a:pPr>
            <a:r>
              <a:rPr lang="en-GB" sz="2400" dirty="0"/>
              <a:t>Most elements have an opening tag and a closing tag, with the content placed between the two tags. The closing tag has a forward slash</a:t>
            </a:r>
            <a:r>
              <a:rPr lang="en-GB" sz="2400" dirty="0">
                <a:latin typeface="Courier" pitchFamily="2" charset="0"/>
              </a:rPr>
              <a:t> / </a:t>
            </a:r>
            <a:r>
              <a:rPr lang="en-GB" sz="2400" dirty="0"/>
              <a:t>in front of the word or letter. For example, </a:t>
            </a:r>
            <a:r>
              <a:rPr lang="en-GB" sz="2400" dirty="0">
                <a:latin typeface="Courier" pitchFamily="2" charset="0"/>
              </a:rPr>
              <a:t>&lt;p&gt; </a:t>
            </a:r>
            <a:r>
              <a:rPr lang="en-GB" sz="2400" dirty="0"/>
              <a:t>and </a:t>
            </a:r>
            <a:r>
              <a:rPr lang="en-GB" sz="2400" dirty="0">
                <a:latin typeface="Courier" pitchFamily="2" charset="0"/>
              </a:rPr>
              <a:t>&lt;/p&gt;.</a:t>
            </a:r>
          </a:p>
          <a:p>
            <a:pPr marL="0" indent="0">
              <a:lnSpc>
                <a:spcPct val="100000"/>
              </a:lnSpc>
              <a:spcBef>
                <a:spcPts val="0"/>
              </a:spcBef>
              <a:spcAft>
                <a:spcPts val="600"/>
              </a:spcAft>
              <a:buNone/>
            </a:pPr>
            <a:r>
              <a:rPr lang="en-GB" sz="2400" dirty="0"/>
              <a:t>Browsers, such as Chrome, Edge, Safari and Firefox, use this information to determine how the content should be displayed.</a:t>
            </a:r>
          </a:p>
          <a:p>
            <a:pPr marL="0" indent="0">
              <a:lnSpc>
                <a:spcPct val="100000"/>
              </a:lnSpc>
              <a:spcBef>
                <a:spcPts val="0"/>
              </a:spcBef>
              <a:spcAft>
                <a:spcPts val="600"/>
              </a:spcAft>
              <a:buNone/>
            </a:pPr>
            <a:r>
              <a:rPr lang="en-GB" sz="2400" dirty="0"/>
              <a:t>Each page of a website is written as a separate .html document.</a:t>
            </a:r>
          </a:p>
        </p:txBody>
      </p:sp>
    </p:spTree>
    <p:extLst>
      <p:ext uri="{BB962C8B-B14F-4D97-AF65-F5344CB8AC3E}">
        <p14:creationId xmlns:p14="http://schemas.microsoft.com/office/powerpoint/2010/main" val="3538170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620078" y="834888"/>
            <a:ext cx="9733721" cy="795130"/>
          </a:xfrm>
        </p:spPr>
        <p:txBody>
          <a:bodyPr/>
          <a:lstStyle/>
          <a:p>
            <a:r>
              <a:rPr lang="en-GB" b="1" dirty="0">
                <a:solidFill>
                  <a:schemeClr val="bg1"/>
                </a:solidFill>
              </a:rPr>
              <a:t>CSS</a:t>
            </a:r>
          </a:p>
        </p:txBody>
      </p:sp>
      <p:sp>
        <p:nvSpPr>
          <p:cNvPr id="3" name="Content Placeholder 2">
            <a:extLst>
              <a:ext uri="{FF2B5EF4-FFF2-40B4-BE49-F238E27FC236}">
                <a16:creationId xmlns:a16="http://schemas.microsoft.com/office/drawing/2014/main" id="{64D89CB4-E14F-4A81-9700-8E0CB5DA89CB}"/>
              </a:ext>
            </a:extLst>
          </p:cNvPr>
          <p:cNvSpPr>
            <a:spLocks noGrp="1"/>
          </p:cNvSpPr>
          <p:nvPr>
            <p:ph idx="1"/>
          </p:nvPr>
        </p:nvSpPr>
        <p:spPr>
          <a:xfrm>
            <a:off x="1620077" y="2143677"/>
            <a:ext cx="9733722" cy="4351338"/>
          </a:xfrm>
        </p:spPr>
        <p:txBody>
          <a:bodyPr>
            <a:normAutofit/>
          </a:bodyPr>
          <a:lstStyle/>
          <a:p>
            <a:pPr marL="0" indent="0">
              <a:buNone/>
            </a:pPr>
            <a:r>
              <a:rPr lang="en-GB" sz="2400" b="1" dirty="0">
                <a:solidFill>
                  <a:srgbClr val="2197AC"/>
                </a:solidFill>
              </a:rPr>
              <a:t>CSS</a:t>
            </a:r>
            <a:r>
              <a:rPr lang="en-GB" sz="2400" b="1" dirty="0"/>
              <a:t> </a:t>
            </a:r>
            <a:r>
              <a:rPr lang="en-GB" sz="2400" dirty="0"/>
              <a:t>stands for </a:t>
            </a:r>
            <a:r>
              <a:rPr lang="en-GB" sz="2400" b="1" dirty="0"/>
              <a:t>Cascading Style Sheet</a:t>
            </a:r>
            <a:r>
              <a:rPr lang="en-GB" sz="2400" dirty="0"/>
              <a:t>.</a:t>
            </a:r>
          </a:p>
          <a:p>
            <a:pPr marL="0" indent="0">
              <a:buNone/>
            </a:pPr>
            <a:r>
              <a:rPr lang="en-GB" sz="2400" b="1" dirty="0">
                <a:solidFill>
                  <a:srgbClr val="2197AC"/>
                </a:solidFill>
              </a:rPr>
              <a:t>CSS</a:t>
            </a:r>
            <a:r>
              <a:rPr lang="en-GB" sz="2400" dirty="0">
                <a:solidFill>
                  <a:srgbClr val="2197AC"/>
                </a:solidFill>
              </a:rPr>
              <a:t> </a:t>
            </a:r>
            <a:r>
              <a:rPr lang="en-GB" sz="2400" b="1" dirty="0">
                <a:solidFill>
                  <a:srgbClr val="2197AC"/>
                </a:solidFill>
              </a:rPr>
              <a:t>properties </a:t>
            </a:r>
            <a:r>
              <a:rPr lang="en-GB" sz="2400" dirty="0"/>
              <a:t>are used to </a:t>
            </a:r>
            <a:r>
              <a:rPr lang="en-GB" sz="2400" b="1" dirty="0"/>
              <a:t>format</a:t>
            </a:r>
            <a:r>
              <a:rPr lang="en-GB" sz="2400" dirty="0"/>
              <a:t> the layout of a web page, including:</a:t>
            </a:r>
          </a:p>
          <a:p>
            <a:pPr lvl="0"/>
            <a:r>
              <a:rPr lang="en-GB" sz="2400" dirty="0"/>
              <a:t>the colour of the text</a:t>
            </a:r>
          </a:p>
          <a:p>
            <a:pPr lvl="0"/>
            <a:r>
              <a:rPr lang="en-GB" sz="2400" dirty="0"/>
              <a:t>the size of the text</a:t>
            </a:r>
          </a:p>
          <a:p>
            <a:pPr lvl="0"/>
            <a:r>
              <a:rPr lang="en-GB" sz="2400" dirty="0"/>
              <a:t>the font used</a:t>
            </a:r>
          </a:p>
          <a:p>
            <a:pPr lvl="0"/>
            <a:r>
              <a:rPr lang="en-GB" sz="2400" dirty="0"/>
              <a:t>the background colours and images</a:t>
            </a:r>
          </a:p>
          <a:p>
            <a:pPr lvl="0"/>
            <a:r>
              <a:rPr lang="en-GB" sz="2400" dirty="0"/>
              <a:t>how elements are positioned</a:t>
            </a:r>
          </a:p>
          <a:p>
            <a:pPr lvl="0"/>
            <a:r>
              <a:rPr lang="en-GB" sz="2400" dirty="0"/>
              <a:t>the spacing between elements.</a:t>
            </a:r>
          </a:p>
          <a:p>
            <a:pPr marL="0" indent="0">
              <a:buNone/>
            </a:pPr>
            <a:endParaRPr lang="en-GB" sz="2400" dirty="0"/>
          </a:p>
        </p:txBody>
      </p:sp>
    </p:spTree>
    <p:extLst>
      <p:ext uri="{BB962C8B-B14F-4D97-AF65-F5344CB8AC3E}">
        <p14:creationId xmlns:p14="http://schemas.microsoft.com/office/powerpoint/2010/main" val="3615003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B468A-662A-4290-A763-CBC919D3C24C}"/>
              </a:ext>
            </a:extLst>
          </p:cNvPr>
          <p:cNvSpPr>
            <a:spLocks noGrp="1"/>
          </p:cNvSpPr>
          <p:nvPr>
            <p:ph type="title"/>
          </p:nvPr>
        </p:nvSpPr>
        <p:spPr>
          <a:xfrm>
            <a:off x="1600200" y="815010"/>
            <a:ext cx="9753600" cy="815008"/>
          </a:xfrm>
        </p:spPr>
        <p:txBody>
          <a:bodyPr/>
          <a:lstStyle/>
          <a:p>
            <a:r>
              <a:rPr lang="en-GB" b="1" dirty="0">
                <a:solidFill>
                  <a:schemeClr val="bg1"/>
                </a:solidFill>
              </a:rPr>
              <a:t>External CSS</a:t>
            </a:r>
          </a:p>
        </p:txBody>
      </p:sp>
      <p:sp>
        <p:nvSpPr>
          <p:cNvPr id="3" name="Content Placeholder 2">
            <a:extLst>
              <a:ext uri="{FF2B5EF4-FFF2-40B4-BE49-F238E27FC236}">
                <a16:creationId xmlns:a16="http://schemas.microsoft.com/office/drawing/2014/main" id="{64289632-8C78-45F6-A718-168D82D91E56}"/>
              </a:ext>
            </a:extLst>
          </p:cNvPr>
          <p:cNvSpPr>
            <a:spLocks noGrp="1"/>
          </p:cNvSpPr>
          <p:nvPr>
            <p:ph idx="1"/>
          </p:nvPr>
        </p:nvSpPr>
        <p:spPr>
          <a:xfrm>
            <a:off x="1600200" y="2143677"/>
            <a:ext cx="9753600" cy="4351338"/>
          </a:xfrm>
        </p:spPr>
        <p:txBody>
          <a:bodyPr>
            <a:normAutofit/>
          </a:bodyPr>
          <a:lstStyle/>
          <a:p>
            <a:pPr marL="0" indent="0">
              <a:lnSpc>
                <a:spcPct val="114000"/>
              </a:lnSpc>
              <a:spcBef>
                <a:spcPts val="600"/>
              </a:spcBef>
              <a:spcAft>
                <a:spcPts val="600"/>
              </a:spcAft>
              <a:buNone/>
            </a:pPr>
            <a:r>
              <a:rPr lang="en-GB" sz="2400" dirty="0"/>
              <a:t>An </a:t>
            </a:r>
            <a:r>
              <a:rPr lang="en-GB" sz="2400" b="1" dirty="0">
                <a:solidFill>
                  <a:srgbClr val="2197AC"/>
                </a:solidFill>
              </a:rPr>
              <a:t>external style sheet</a:t>
            </a:r>
            <a:r>
              <a:rPr lang="en-GB" sz="2400" dirty="0">
                <a:solidFill>
                  <a:srgbClr val="2197AC"/>
                </a:solidFill>
              </a:rPr>
              <a:t> </a:t>
            </a:r>
            <a:r>
              <a:rPr lang="en-GB" sz="2400" dirty="0"/>
              <a:t>is a single document, saved with a .</a:t>
            </a:r>
            <a:r>
              <a:rPr lang="en-GB" sz="2400" dirty="0" err="1"/>
              <a:t>css</a:t>
            </a:r>
            <a:r>
              <a:rPr lang="en-GB" sz="2400" dirty="0"/>
              <a:t> extension, that sets out the styling to be used for all the main elements on every page of a website.</a:t>
            </a:r>
          </a:p>
          <a:p>
            <a:pPr marL="0" indent="0">
              <a:lnSpc>
                <a:spcPct val="114000"/>
              </a:lnSpc>
              <a:spcBef>
                <a:spcPts val="600"/>
              </a:spcBef>
              <a:spcAft>
                <a:spcPts val="600"/>
              </a:spcAft>
              <a:buNone/>
            </a:pPr>
            <a:r>
              <a:rPr lang="en-GB" sz="2400" dirty="0"/>
              <a:t>Each HTML page includes a link to the external style sheet that it needs to use. For example:</a:t>
            </a:r>
          </a:p>
          <a:p>
            <a:pPr marL="0" indent="0">
              <a:lnSpc>
                <a:spcPct val="114000"/>
              </a:lnSpc>
              <a:spcBef>
                <a:spcPts val="600"/>
              </a:spcBef>
              <a:spcAft>
                <a:spcPts val="600"/>
              </a:spcAft>
              <a:buNone/>
            </a:pPr>
            <a:r>
              <a:rPr lang="en-GB" sz="2400" dirty="0">
                <a:latin typeface="Courier" pitchFamily="2" charset="0"/>
              </a:rPr>
              <a:t>&lt;link </a:t>
            </a:r>
            <a:r>
              <a:rPr lang="en-GB" sz="2400" dirty="0" err="1">
                <a:latin typeface="Courier" pitchFamily="2" charset="0"/>
              </a:rPr>
              <a:t>rel</a:t>
            </a:r>
            <a:r>
              <a:rPr lang="en-GB" sz="2400" dirty="0">
                <a:latin typeface="Courier" pitchFamily="2" charset="0"/>
              </a:rPr>
              <a:t>="stylesheet" </a:t>
            </a:r>
            <a:r>
              <a:rPr lang="en-GB" sz="2400" dirty="0" err="1">
                <a:latin typeface="Courier" pitchFamily="2" charset="0"/>
              </a:rPr>
              <a:t>href</a:t>
            </a:r>
            <a:r>
              <a:rPr lang="en-GB" sz="2400" dirty="0">
                <a:latin typeface="Courier" pitchFamily="2" charset="0"/>
              </a:rPr>
              <a:t>="</a:t>
            </a:r>
            <a:r>
              <a:rPr lang="en-GB" sz="2400" dirty="0" err="1">
                <a:latin typeface="Courier" pitchFamily="2" charset="0"/>
              </a:rPr>
              <a:t>styles.css</a:t>
            </a:r>
            <a:r>
              <a:rPr lang="en-GB" sz="2400" dirty="0">
                <a:latin typeface="Courier" pitchFamily="2" charset="0"/>
              </a:rPr>
              <a:t>"&gt;</a:t>
            </a:r>
          </a:p>
          <a:p>
            <a:pPr marL="0" indent="0">
              <a:lnSpc>
                <a:spcPct val="114000"/>
              </a:lnSpc>
              <a:spcBef>
                <a:spcPts val="600"/>
              </a:spcBef>
              <a:spcAft>
                <a:spcPts val="600"/>
              </a:spcAft>
              <a:buNone/>
            </a:pPr>
            <a:r>
              <a:rPr lang="en-GB" sz="2400" dirty="0"/>
              <a:t>External style sheets allow you to change the styling of an entire website by editing just one file.</a:t>
            </a:r>
          </a:p>
        </p:txBody>
      </p:sp>
    </p:spTree>
    <p:extLst>
      <p:ext uri="{BB962C8B-B14F-4D97-AF65-F5344CB8AC3E}">
        <p14:creationId xmlns:p14="http://schemas.microsoft.com/office/powerpoint/2010/main" val="1548936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70382" y="824948"/>
            <a:ext cx="9783417" cy="824948"/>
          </a:xfrm>
        </p:spPr>
        <p:txBody>
          <a:bodyPr/>
          <a:lstStyle/>
          <a:p>
            <a:r>
              <a:rPr lang="en-GB" b="1" dirty="0">
                <a:solidFill>
                  <a:schemeClr val="bg1"/>
                </a:solidFill>
              </a:rPr>
              <a:t>The syntax for CSS rules </a:t>
            </a:r>
          </a:p>
        </p:txBody>
      </p:sp>
      <p:sp>
        <p:nvSpPr>
          <p:cNvPr id="3" name="Rectangle 2">
            <a:extLst>
              <a:ext uri="{FF2B5EF4-FFF2-40B4-BE49-F238E27FC236}">
                <a16:creationId xmlns:a16="http://schemas.microsoft.com/office/drawing/2014/main" id="{6ED902C2-C773-9D4F-B1F0-8DDFCA198F19}"/>
              </a:ext>
            </a:extLst>
          </p:cNvPr>
          <p:cNvSpPr>
            <a:spLocks noChangeArrowheads="1"/>
          </p:cNvSpPr>
          <p:nvPr/>
        </p:nvSpPr>
        <p:spPr bwMode="auto">
          <a:xfrm>
            <a:off x="1570382" y="1984874"/>
            <a:ext cx="9783416"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A CSS style rule consists of a</a:t>
            </a:r>
            <a:r>
              <a:rPr kumimoji="0" lang="en-US" altLang="en-US" b="0"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 </a:t>
            </a:r>
            <a:r>
              <a:rPr kumimoji="0" lang="en-US" altLang="en-US" b="1"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selector</a:t>
            </a:r>
            <a:r>
              <a:rPr kumimoji="0" lang="en-US" altLang="en-US" b="0"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 </a:t>
            </a: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and a </a:t>
            </a:r>
            <a:r>
              <a:rPr kumimoji="0" lang="en-US" altLang="en-US" b="1"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declaration</a:t>
            </a:r>
            <a:r>
              <a:rPr kumimoji="0" lang="en-US" altLang="en-US" b="1"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 </a:t>
            </a: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block.</a:t>
            </a: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The selector indicates which HTML element the styling refers to.</a:t>
            </a: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The declaration includes the CSS </a:t>
            </a:r>
            <a:r>
              <a:rPr kumimoji="0" lang="en-US" altLang="en-US" b="1"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property name</a:t>
            </a:r>
            <a:r>
              <a:rPr kumimoji="0" lang="en-US" altLang="en-US" b="0"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 </a:t>
            </a: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and a</a:t>
            </a:r>
            <a:r>
              <a:rPr kumimoji="0" lang="en-US" altLang="en-US" b="0"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 </a:t>
            </a:r>
            <a:r>
              <a:rPr kumimoji="0" lang="en-US" altLang="en-US" b="1" i="0" u="none" strike="noStrike" cap="none" normalizeH="0" baseline="0" dirty="0">
                <a:ln>
                  <a:noFill/>
                </a:ln>
                <a:solidFill>
                  <a:srgbClr val="2197AC"/>
                </a:solidFill>
                <a:effectLst/>
                <a:ea typeface="Calibri" panose="020F0502020204030204" pitchFamily="34" charset="0"/>
                <a:cs typeface="Times New Roman" panose="02020603050405020304" pitchFamily="18" charset="0"/>
              </a:rPr>
              <a:t>value</a:t>
            </a: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 separated by a colon.</a:t>
            </a: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It is possible to have more than one declaration in a block, in which case each declaration is separated using a semicolon. It is usual to put each declaration on a separate line so that it is easy to see which properties have been styled.</a:t>
            </a: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The declaration block is surrounded by curly brackets.</a:t>
            </a: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1025" name="Picture 1">
            <a:extLst>
              <a:ext uri="{FF2B5EF4-FFF2-40B4-BE49-F238E27FC236}">
                <a16:creationId xmlns:a16="http://schemas.microsoft.com/office/drawing/2014/main" id="{8E53C91B-126D-6B4B-B33C-3DB39F1275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59127" y="4293198"/>
            <a:ext cx="4473745" cy="20898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437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F7C2D-0665-4934-9161-95808A939D36}"/>
              </a:ext>
            </a:extLst>
          </p:cNvPr>
          <p:cNvSpPr>
            <a:spLocks noGrp="1"/>
          </p:cNvSpPr>
          <p:nvPr>
            <p:ph type="title"/>
          </p:nvPr>
        </p:nvSpPr>
        <p:spPr>
          <a:xfrm>
            <a:off x="1610139" y="761642"/>
            <a:ext cx="9743661" cy="878315"/>
          </a:xfrm>
        </p:spPr>
        <p:txBody>
          <a:bodyPr/>
          <a:lstStyle/>
          <a:p>
            <a:r>
              <a:rPr lang="en-GB" b="1" dirty="0">
                <a:solidFill>
                  <a:schemeClr val="bg1"/>
                </a:solidFill>
              </a:rPr>
              <a:t>Changing the styling </a:t>
            </a:r>
          </a:p>
        </p:txBody>
      </p:sp>
      <p:sp>
        <p:nvSpPr>
          <p:cNvPr id="3" name="Content Placeholder 2">
            <a:extLst>
              <a:ext uri="{FF2B5EF4-FFF2-40B4-BE49-F238E27FC236}">
                <a16:creationId xmlns:a16="http://schemas.microsoft.com/office/drawing/2014/main" id="{4DCC9AE2-1B54-42D8-BF3D-9A34E69A491C}"/>
              </a:ext>
            </a:extLst>
          </p:cNvPr>
          <p:cNvSpPr>
            <a:spLocks noGrp="1"/>
          </p:cNvSpPr>
          <p:nvPr>
            <p:ph idx="1"/>
          </p:nvPr>
        </p:nvSpPr>
        <p:spPr>
          <a:xfrm>
            <a:off x="1610139" y="1835564"/>
            <a:ext cx="10515600" cy="4351338"/>
          </a:xfrm>
        </p:spPr>
        <p:txBody>
          <a:bodyPr/>
          <a:lstStyle/>
          <a:p>
            <a:pPr marL="0" indent="0">
              <a:buNone/>
            </a:pPr>
            <a:r>
              <a:rPr lang="en-GB" sz="2400" dirty="0"/>
              <a:t>This shows a style sheet with styling for several different aspects of a web page:</a:t>
            </a:r>
          </a:p>
          <a:p>
            <a:pPr marL="0" indent="0">
              <a:buNone/>
            </a:pPr>
            <a:endParaRPr lang="en-GB" dirty="0"/>
          </a:p>
          <a:p>
            <a:pPr marL="0" indent="0">
              <a:buNone/>
            </a:pPr>
            <a:endParaRPr lang="en-GB" dirty="0"/>
          </a:p>
        </p:txBody>
      </p:sp>
      <p:pic>
        <p:nvPicPr>
          <p:cNvPr id="7" name="Picture 6">
            <a:extLst>
              <a:ext uri="{FF2B5EF4-FFF2-40B4-BE49-F238E27FC236}">
                <a16:creationId xmlns:a16="http://schemas.microsoft.com/office/drawing/2014/main" id="{C29494EF-0E9A-3D41-B2A0-D305D9B1DF4E}"/>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4049221" y="2510195"/>
            <a:ext cx="3544653" cy="2440628"/>
          </a:xfrm>
          <a:prstGeom prst="rect">
            <a:avLst/>
          </a:prstGeom>
          <a:ln>
            <a:noFill/>
          </a:ln>
        </p:spPr>
      </p:pic>
      <p:sp>
        <p:nvSpPr>
          <p:cNvPr id="5" name="Rectangle 4">
            <a:extLst>
              <a:ext uri="{FF2B5EF4-FFF2-40B4-BE49-F238E27FC236}">
                <a16:creationId xmlns:a16="http://schemas.microsoft.com/office/drawing/2014/main" id="{028FA5E6-383E-CC4B-90DD-B1CF2A16E67D}"/>
              </a:ext>
            </a:extLst>
          </p:cNvPr>
          <p:cNvSpPr/>
          <p:nvPr/>
        </p:nvSpPr>
        <p:spPr>
          <a:xfrm>
            <a:off x="1610138" y="4950823"/>
            <a:ext cx="8971723" cy="1569660"/>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cs typeface="Times New Roman" panose="02020603050405020304" pitchFamily="18" charset="0"/>
              </a:rPr>
              <a:t>Any styling added to the </a:t>
            </a:r>
            <a:r>
              <a:rPr lang="en-GB" sz="2400" dirty="0">
                <a:latin typeface="Courier" pitchFamily="2" charset="0"/>
                <a:ea typeface="Calibri" panose="020F0502020204030204" pitchFamily="34" charset="0"/>
                <a:cs typeface="Times New Roman" panose="02020603050405020304" pitchFamily="18" charset="0"/>
              </a:rPr>
              <a:t>body</a:t>
            </a:r>
            <a:r>
              <a:rPr lang="en-GB" sz="2400" dirty="0">
                <a:latin typeface="Calibri" panose="020F0502020204030204" pitchFamily="34" charset="0"/>
                <a:ea typeface="Calibri" panose="020F0502020204030204" pitchFamily="34" charset="0"/>
                <a:cs typeface="Times New Roman" panose="02020603050405020304" pitchFamily="18" charset="0"/>
              </a:rPr>
              <a:t> selector will be applied to the whole web page.</a:t>
            </a:r>
          </a:p>
          <a:p>
            <a:r>
              <a:rPr lang="en-GB" sz="2400" dirty="0">
                <a:latin typeface="Calibri" panose="020F0502020204030204" pitchFamily="34" charset="0"/>
                <a:ea typeface="Calibri" panose="020F0502020204030204" pitchFamily="34" charset="0"/>
                <a:cs typeface="Times New Roman" panose="02020603050405020304" pitchFamily="18" charset="0"/>
              </a:rPr>
              <a:t>The main heading is defined using the </a:t>
            </a:r>
            <a:r>
              <a:rPr lang="en-GB" sz="2400" dirty="0">
                <a:latin typeface="Courier" pitchFamily="2" charset="0"/>
                <a:ea typeface="Calibri" panose="020F0502020204030204" pitchFamily="34" charset="0"/>
                <a:cs typeface="Times New Roman" panose="02020603050405020304" pitchFamily="18" charset="0"/>
              </a:rPr>
              <a:t>h1</a:t>
            </a:r>
            <a:r>
              <a:rPr lang="en-GB" sz="2400" dirty="0">
                <a:latin typeface="Calibri" panose="020F0502020204030204" pitchFamily="34" charset="0"/>
                <a:ea typeface="Calibri" panose="020F0502020204030204" pitchFamily="34" charset="0"/>
                <a:cs typeface="Times New Roman" panose="02020603050405020304" pitchFamily="18" charset="0"/>
              </a:rPr>
              <a:t> selector, and paragraphs are defined using the </a:t>
            </a:r>
            <a:r>
              <a:rPr lang="en-GB" sz="2400" dirty="0">
                <a:latin typeface="Courier" pitchFamily="2" charset="0"/>
                <a:ea typeface="Calibri" panose="020F0502020204030204" pitchFamily="34" charset="0"/>
                <a:cs typeface="Times New Roman" panose="02020603050405020304" pitchFamily="18" charset="0"/>
              </a:rPr>
              <a:t>p</a:t>
            </a:r>
            <a:r>
              <a:rPr lang="en-GB" sz="2400" dirty="0">
                <a:latin typeface="Calibri" panose="020F0502020204030204" pitchFamily="34" charset="0"/>
                <a:ea typeface="Calibri" panose="020F0502020204030204" pitchFamily="34" charset="0"/>
                <a:cs typeface="Times New Roman" panose="02020603050405020304" pitchFamily="18" charset="0"/>
              </a:rPr>
              <a:t> selector.</a:t>
            </a:r>
          </a:p>
        </p:txBody>
      </p:sp>
    </p:spTree>
    <p:extLst>
      <p:ext uri="{BB962C8B-B14F-4D97-AF65-F5344CB8AC3E}">
        <p14:creationId xmlns:p14="http://schemas.microsoft.com/office/powerpoint/2010/main" val="1770592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6ADEC-A2F9-49DF-85E0-654131E269B5}"/>
              </a:ext>
            </a:extLst>
          </p:cNvPr>
          <p:cNvSpPr>
            <a:spLocks noGrp="1"/>
          </p:cNvSpPr>
          <p:nvPr>
            <p:ph type="title"/>
          </p:nvPr>
        </p:nvSpPr>
        <p:spPr>
          <a:xfrm>
            <a:off x="1590261" y="834887"/>
            <a:ext cx="9763539" cy="806244"/>
          </a:xfrm>
        </p:spPr>
        <p:txBody>
          <a:bodyPr/>
          <a:lstStyle/>
          <a:p>
            <a:r>
              <a:rPr lang="en-GB" b="1" dirty="0">
                <a:solidFill>
                  <a:schemeClr val="bg1"/>
                </a:solidFill>
              </a:rPr>
              <a:t>CSS property names </a:t>
            </a:r>
          </a:p>
        </p:txBody>
      </p:sp>
      <p:sp>
        <p:nvSpPr>
          <p:cNvPr id="3" name="Content Placeholder 2">
            <a:extLst>
              <a:ext uri="{FF2B5EF4-FFF2-40B4-BE49-F238E27FC236}">
                <a16:creationId xmlns:a16="http://schemas.microsoft.com/office/drawing/2014/main" id="{3F5C10A6-C706-480F-B379-38FDA6FFE9D8}"/>
              </a:ext>
            </a:extLst>
          </p:cNvPr>
          <p:cNvSpPr>
            <a:spLocks noGrp="1"/>
          </p:cNvSpPr>
          <p:nvPr>
            <p:ph idx="1"/>
          </p:nvPr>
        </p:nvSpPr>
        <p:spPr>
          <a:xfrm>
            <a:off x="1590261" y="2183433"/>
            <a:ext cx="10515600" cy="4351338"/>
          </a:xfrm>
        </p:spPr>
        <p:txBody>
          <a:bodyPr>
            <a:normAutofit/>
          </a:bodyPr>
          <a:lstStyle/>
          <a:p>
            <a:pPr marL="0" indent="0">
              <a:buNone/>
            </a:pPr>
            <a:r>
              <a:rPr lang="en-GB" sz="2400" b="1" dirty="0"/>
              <a:t>Text colour</a:t>
            </a:r>
            <a:endParaRPr lang="en-GB" sz="2400" dirty="0"/>
          </a:p>
          <a:p>
            <a:pPr marL="0" indent="0">
              <a:buNone/>
            </a:pPr>
            <a:r>
              <a:rPr lang="en-GB" sz="2400" dirty="0"/>
              <a:t>To set the colour of the text we use the property </a:t>
            </a:r>
            <a:r>
              <a:rPr lang="en-GB" sz="2400" dirty="0" err="1">
                <a:latin typeface="Courier" pitchFamily="2" charset="0"/>
              </a:rPr>
              <a:t>color</a:t>
            </a:r>
            <a:r>
              <a:rPr lang="en-GB" sz="2400" dirty="0"/>
              <a:t>. </a:t>
            </a:r>
          </a:p>
          <a:p>
            <a:pPr marL="0" indent="0">
              <a:buNone/>
            </a:pPr>
            <a:r>
              <a:rPr lang="en-GB" sz="2400" dirty="0"/>
              <a:t>Note that the American spelling is required.</a:t>
            </a:r>
          </a:p>
          <a:p>
            <a:pPr marL="0" indent="0">
              <a:buNone/>
            </a:pPr>
            <a:r>
              <a:rPr lang="en-GB" sz="2400" dirty="0"/>
              <a:t>The easiest way to specify a colour is to use its colour name. There are 140 standard colour names and a full list can be found online.</a:t>
            </a:r>
          </a:p>
          <a:p>
            <a:pPr marL="0" indent="0">
              <a:buNone/>
            </a:pPr>
            <a:r>
              <a:rPr lang="en-GB" sz="2400" b="1" dirty="0"/>
              <a:t>Background colour</a:t>
            </a:r>
            <a:endParaRPr lang="en-GB" sz="2400" dirty="0"/>
          </a:p>
          <a:p>
            <a:pPr marL="0" indent="0">
              <a:buNone/>
            </a:pPr>
            <a:r>
              <a:rPr lang="en-GB" sz="2400" dirty="0"/>
              <a:t>To set the background colour we use the property </a:t>
            </a:r>
            <a:r>
              <a:rPr lang="en-GB" sz="2400" dirty="0">
                <a:latin typeface="Courier" pitchFamily="2" charset="0"/>
              </a:rPr>
              <a:t>background-</a:t>
            </a:r>
            <a:r>
              <a:rPr lang="en-GB" sz="2400" dirty="0" err="1">
                <a:latin typeface="Courier" pitchFamily="2" charset="0"/>
              </a:rPr>
              <a:t>color</a:t>
            </a:r>
            <a:r>
              <a:rPr lang="en-GB" sz="2400" dirty="0"/>
              <a:t>.</a:t>
            </a:r>
          </a:p>
          <a:p>
            <a:pPr marL="0" indent="0">
              <a:buNone/>
            </a:pPr>
            <a:r>
              <a:rPr lang="en-GB" sz="2400" dirty="0"/>
              <a:t>Again, the colour name can be used for the value.</a:t>
            </a:r>
          </a:p>
        </p:txBody>
      </p:sp>
    </p:spTree>
    <p:extLst>
      <p:ext uri="{BB962C8B-B14F-4D97-AF65-F5344CB8AC3E}">
        <p14:creationId xmlns:p14="http://schemas.microsoft.com/office/powerpoint/2010/main" val="38679622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6ADEC-A2F9-49DF-85E0-654131E269B5}"/>
              </a:ext>
            </a:extLst>
          </p:cNvPr>
          <p:cNvSpPr>
            <a:spLocks noGrp="1"/>
          </p:cNvSpPr>
          <p:nvPr>
            <p:ph type="title"/>
          </p:nvPr>
        </p:nvSpPr>
        <p:spPr>
          <a:xfrm>
            <a:off x="1590261" y="834887"/>
            <a:ext cx="9763539" cy="806244"/>
          </a:xfrm>
        </p:spPr>
        <p:txBody>
          <a:bodyPr/>
          <a:lstStyle/>
          <a:p>
            <a:r>
              <a:rPr lang="en-GB" b="1" dirty="0">
                <a:solidFill>
                  <a:schemeClr val="bg1"/>
                </a:solidFill>
              </a:rPr>
              <a:t>CSS property names </a:t>
            </a:r>
          </a:p>
        </p:txBody>
      </p:sp>
      <p:sp>
        <p:nvSpPr>
          <p:cNvPr id="3" name="Content Placeholder 2">
            <a:extLst>
              <a:ext uri="{FF2B5EF4-FFF2-40B4-BE49-F238E27FC236}">
                <a16:creationId xmlns:a16="http://schemas.microsoft.com/office/drawing/2014/main" id="{3F5C10A6-C706-480F-B379-38FDA6FFE9D8}"/>
              </a:ext>
            </a:extLst>
          </p:cNvPr>
          <p:cNvSpPr>
            <a:spLocks noGrp="1"/>
          </p:cNvSpPr>
          <p:nvPr>
            <p:ph idx="1"/>
          </p:nvPr>
        </p:nvSpPr>
        <p:spPr>
          <a:xfrm>
            <a:off x="1590261" y="2103920"/>
            <a:ext cx="8567530" cy="4351338"/>
          </a:xfrm>
        </p:spPr>
        <p:txBody>
          <a:bodyPr>
            <a:normAutofit lnSpcReduction="10000"/>
          </a:bodyPr>
          <a:lstStyle/>
          <a:p>
            <a:pPr marL="0" indent="0">
              <a:buNone/>
            </a:pPr>
            <a:r>
              <a:rPr lang="en-GB" sz="2400" b="1" dirty="0"/>
              <a:t>Font</a:t>
            </a:r>
          </a:p>
          <a:p>
            <a:pPr marL="0" indent="0">
              <a:buNone/>
            </a:pPr>
            <a:r>
              <a:rPr lang="en-GB" sz="2400" dirty="0"/>
              <a:t>To set the font we use the property </a:t>
            </a:r>
            <a:r>
              <a:rPr lang="en-GB" sz="2400" dirty="0">
                <a:latin typeface="Courier" pitchFamily="2" charset="0"/>
              </a:rPr>
              <a:t>font-family</a:t>
            </a:r>
            <a:r>
              <a:rPr lang="en-GB" sz="2400" dirty="0"/>
              <a:t>.</a:t>
            </a:r>
          </a:p>
          <a:p>
            <a:pPr marL="0" indent="0">
              <a:buNone/>
            </a:pPr>
            <a:r>
              <a:rPr lang="en-GB" sz="2400" dirty="0"/>
              <a:t>The value is the name of the font that you want to use, such as Arial or Courier New. If the name of the font family has more than one word then it must be put in quotation marks; for example </a:t>
            </a:r>
            <a:r>
              <a:rPr lang="en-GB" sz="2400" dirty="0">
                <a:latin typeface="Courier" pitchFamily="2" charset="0"/>
              </a:rPr>
              <a:t>"Times New Roman"</a:t>
            </a:r>
            <a:r>
              <a:rPr lang="en-GB" sz="2400" dirty="0"/>
              <a:t>.</a:t>
            </a:r>
          </a:p>
          <a:p>
            <a:pPr marL="0" indent="0">
              <a:buNone/>
            </a:pPr>
            <a:r>
              <a:rPr lang="en-GB" sz="2400" b="1" dirty="0"/>
              <a:t>Font size</a:t>
            </a:r>
          </a:p>
          <a:p>
            <a:pPr marL="0" indent="0">
              <a:buNone/>
            </a:pPr>
            <a:r>
              <a:rPr lang="en-GB" sz="2400" dirty="0"/>
              <a:t>HTML tags have pre-defined font sizes for six heading levels (</a:t>
            </a:r>
            <a:r>
              <a:rPr lang="en-GB" sz="2400" dirty="0">
                <a:latin typeface="Courier" pitchFamily="2" charset="0"/>
              </a:rPr>
              <a:t>h1</a:t>
            </a:r>
            <a:r>
              <a:rPr lang="en-GB" sz="2400" dirty="0"/>
              <a:t> to </a:t>
            </a:r>
            <a:r>
              <a:rPr lang="en-GB" sz="2400" dirty="0">
                <a:latin typeface="Courier" pitchFamily="2" charset="0"/>
              </a:rPr>
              <a:t>h6</a:t>
            </a:r>
            <a:r>
              <a:rPr lang="en-GB" sz="2400" dirty="0"/>
              <a:t>) and for the normal text in paragraphs.</a:t>
            </a:r>
          </a:p>
          <a:p>
            <a:pPr marL="0" indent="0">
              <a:buNone/>
            </a:pPr>
            <a:r>
              <a:rPr lang="en-GB" sz="2400" dirty="0"/>
              <a:t>To change the size of the font we use the property </a:t>
            </a:r>
            <a:r>
              <a:rPr lang="en-GB" sz="2400" dirty="0">
                <a:latin typeface="Courier" pitchFamily="2" charset="0"/>
              </a:rPr>
              <a:t>font-size</a:t>
            </a:r>
            <a:r>
              <a:rPr lang="en-GB" sz="2400" dirty="0"/>
              <a:t>. The value is, for example, </a:t>
            </a:r>
            <a:r>
              <a:rPr lang="en-GB" sz="2400" dirty="0">
                <a:latin typeface="Courier" pitchFamily="2" charset="0"/>
              </a:rPr>
              <a:t>16px</a:t>
            </a:r>
            <a:r>
              <a:rPr lang="en-GB" sz="2400" dirty="0"/>
              <a:t>.</a:t>
            </a:r>
          </a:p>
        </p:txBody>
      </p:sp>
    </p:spTree>
    <p:extLst>
      <p:ext uri="{BB962C8B-B14F-4D97-AF65-F5344CB8AC3E}">
        <p14:creationId xmlns:p14="http://schemas.microsoft.com/office/powerpoint/2010/main" val="32499197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6ADEC-A2F9-49DF-85E0-654131E269B5}"/>
              </a:ext>
            </a:extLst>
          </p:cNvPr>
          <p:cNvSpPr>
            <a:spLocks noGrp="1"/>
          </p:cNvSpPr>
          <p:nvPr>
            <p:ph type="title"/>
          </p:nvPr>
        </p:nvSpPr>
        <p:spPr>
          <a:xfrm>
            <a:off x="1590261" y="834887"/>
            <a:ext cx="9763539" cy="806244"/>
          </a:xfrm>
        </p:spPr>
        <p:txBody>
          <a:bodyPr/>
          <a:lstStyle/>
          <a:p>
            <a:r>
              <a:rPr lang="en-GB" b="1" dirty="0">
                <a:solidFill>
                  <a:schemeClr val="bg1"/>
                </a:solidFill>
              </a:rPr>
              <a:t>Editing and viewing web pages </a:t>
            </a:r>
          </a:p>
        </p:txBody>
      </p:sp>
      <p:sp>
        <p:nvSpPr>
          <p:cNvPr id="3" name="Content Placeholder 2">
            <a:extLst>
              <a:ext uri="{FF2B5EF4-FFF2-40B4-BE49-F238E27FC236}">
                <a16:creationId xmlns:a16="http://schemas.microsoft.com/office/drawing/2014/main" id="{3F5C10A6-C706-480F-B379-38FDA6FFE9D8}"/>
              </a:ext>
            </a:extLst>
          </p:cNvPr>
          <p:cNvSpPr>
            <a:spLocks noGrp="1"/>
          </p:cNvSpPr>
          <p:nvPr>
            <p:ph idx="1"/>
          </p:nvPr>
        </p:nvSpPr>
        <p:spPr>
          <a:xfrm>
            <a:off x="1590260" y="2103920"/>
            <a:ext cx="9014791" cy="4351338"/>
          </a:xfrm>
        </p:spPr>
        <p:txBody>
          <a:bodyPr>
            <a:normAutofit/>
          </a:bodyPr>
          <a:lstStyle/>
          <a:p>
            <a:pPr marL="0" indent="0">
              <a:buNone/>
            </a:pPr>
            <a:r>
              <a:rPr lang="en-GB" sz="2400" dirty="0"/>
              <a:t>All the HTML files, the CSS file and any images for a website that you are creating need to be saved to the same folder on your computer.</a:t>
            </a:r>
          </a:p>
          <a:p>
            <a:pPr marL="0" indent="0">
              <a:buNone/>
            </a:pPr>
            <a:r>
              <a:rPr lang="en-GB" sz="2400" dirty="0"/>
              <a:t>To edit these files, you will need to use a text editor. Open the editor and then click on 'File', 'Open' to select the file you wish to edit.</a:t>
            </a:r>
          </a:p>
          <a:p>
            <a:pPr marL="0" indent="0">
              <a:buNone/>
            </a:pPr>
            <a:r>
              <a:rPr lang="en-GB" sz="2400" dirty="0"/>
              <a:t>To view the web page, double click on the HTML file, or right-click on it and choose 'Open with' and select your browser.</a:t>
            </a:r>
          </a:p>
        </p:txBody>
      </p:sp>
      <p:sp>
        <p:nvSpPr>
          <p:cNvPr id="4" name="Rectangle 3">
            <a:extLst>
              <a:ext uri="{FF2B5EF4-FFF2-40B4-BE49-F238E27FC236}">
                <a16:creationId xmlns:a16="http://schemas.microsoft.com/office/drawing/2014/main" id="{D15A53D5-87CF-8C4D-8EF2-6B5CD5DD6B01}"/>
              </a:ext>
            </a:extLst>
          </p:cNvPr>
          <p:cNvSpPr/>
          <p:nvPr/>
        </p:nvSpPr>
        <p:spPr>
          <a:xfrm>
            <a:off x="8246568" y="5202343"/>
            <a:ext cx="2660408" cy="523220"/>
          </a:xfrm>
          <a:prstGeom prst="rect">
            <a:avLst/>
          </a:prstGeom>
        </p:spPr>
        <p:txBody>
          <a:bodyPr wrap="none">
            <a:spAutoFit/>
          </a:bodyPr>
          <a:lstStyle/>
          <a:p>
            <a:r>
              <a:rPr lang="en-GB" sz="2800" dirty="0">
                <a:ea typeface="Calibri" panose="020F0502020204030204" pitchFamily="34" charset="0"/>
                <a:cs typeface="Times New Roman" panose="02020603050405020304" pitchFamily="18" charset="0"/>
              </a:rPr>
              <a:t>Watch Video 1.1</a:t>
            </a:r>
            <a:r>
              <a:rPr lang="en-GB" sz="2800" dirty="0"/>
              <a:t> </a:t>
            </a:r>
            <a:endParaRPr lang="en-US" sz="2800" dirty="0"/>
          </a:p>
        </p:txBody>
      </p:sp>
    </p:spTree>
    <p:extLst>
      <p:ext uri="{BB962C8B-B14F-4D97-AF65-F5344CB8AC3E}">
        <p14:creationId xmlns:p14="http://schemas.microsoft.com/office/powerpoint/2010/main" val="3871354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p:cTn id="7" dur="500" fill="hold"/>
                                        <p:tgtEl>
                                          <p:spTgt spid="4">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4">
                                            <p:txEl>
                                              <p:pRg st="0" end="0"/>
                                            </p:txEl>
                                          </p:spTgt>
                                        </p:tgtEl>
                                        <p:attrNameLst>
                                          <p:attrName>ppt_h</p:attrName>
                                        </p:attrNameLst>
                                      </p:cBhvr>
                                      <p:tavLst>
                                        <p:tav tm="0">
                                          <p:val>
                                            <p:fltVal val="0"/>
                                          </p:val>
                                        </p:tav>
                                        <p:tav tm="100000">
                                          <p:val>
                                            <p:strVal val="#ppt_h"/>
                                          </p:val>
                                        </p:tav>
                                      </p:tavLst>
                                    </p:anim>
                                    <p:anim calcmode="lin" valueType="num">
                                      <p:cBhvr>
                                        <p:cTn id="9" dur="500" fill="hold"/>
                                        <p:tgtEl>
                                          <p:spTgt spid="4">
                                            <p:txEl>
                                              <p:pRg st="0" end="0"/>
                                            </p:txEl>
                                          </p:spTgt>
                                        </p:tgtEl>
                                        <p:attrNameLst>
                                          <p:attrName>style.rotation</p:attrName>
                                        </p:attrNameLst>
                                      </p:cBhvr>
                                      <p:tavLst>
                                        <p:tav tm="0">
                                          <p:val>
                                            <p:fltVal val="360"/>
                                          </p:val>
                                        </p:tav>
                                        <p:tav tm="100000">
                                          <p:val>
                                            <p:fltVal val="0"/>
                                          </p:val>
                                        </p:tav>
                                      </p:tavLst>
                                    </p:anim>
                                    <p:animEffect transition="in" filter="fade">
                                      <p:cBhvr>
                                        <p:cTn id="10" dur="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9783417" cy="805070"/>
          </a:xfrm>
        </p:spPr>
        <p:txBody>
          <a:bodyPr/>
          <a:lstStyle/>
          <a:p>
            <a:r>
              <a:rPr lang="en-GB" b="1" dirty="0">
                <a:solidFill>
                  <a:schemeClr val="bg1"/>
                </a:solidFill>
              </a:rPr>
              <a:t>Activity 1.1: Styling using CSS </a:t>
            </a:r>
          </a:p>
        </p:txBody>
      </p:sp>
      <p:pic>
        <p:nvPicPr>
          <p:cNvPr id="4" name="Picture 3" descr="A picture containing athletic game, basketball, sport&#10;&#10;Description automatically generated">
            <a:extLst>
              <a:ext uri="{FF2B5EF4-FFF2-40B4-BE49-F238E27FC236}">
                <a16:creationId xmlns:a16="http://schemas.microsoft.com/office/drawing/2014/main" id="{F1E6BC9B-00AC-4F9B-8EE5-6E56AE57BA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1364" y="1947016"/>
            <a:ext cx="4489272" cy="4398532"/>
          </a:xfrm>
          <a:prstGeom prst="rect">
            <a:avLst/>
          </a:prstGeom>
        </p:spPr>
      </p:pic>
    </p:spTree>
    <p:extLst>
      <p:ext uri="{BB962C8B-B14F-4D97-AF65-F5344CB8AC3E}">
        <p14:creationId xmlns:p14="http://schemas.microsoft.com/office/powerpoint/2010/main" val="2922878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BE36AC-12A9-4A2C-9D8A-8D001EE0DA6B}"/>
              </a:ext>
            </a:extLst>
          </p:cNvPr>
          <p:cNvSpPr>
            <a:spLocks noGrp="1"/>
          </p:cNvSpPr>
          <p:nvPr>
            <p:ph type="title"/>
          </p:nvPr>
        </p:nvSpPr>
        <p:spPr>
          <a:xfrm>
            <a:off x="1580322" y="824948"/>
            <a:ext cx="9773478" cy="795130"/>
          </a:xfrm>
        </p:spPr>
        <p:txBody>
          <a:bodyPr/>
          <a:lstStyle/>
          <a:p>
            <a:r>
              <a:rPr lang="en-GB" b="1" dirty="0">
                <a:solidFill>
                  <a:schemeClr val="bg1"/>
                </a:solidFill>
              </a:rPr>
              <a:t>CSS classes </a:t>
            </a:r>
          </a:p>
        </p:txBody>
      </p:sp>
      <p:sp>
        <p:nvSpPr>
          <p:cNvPr id="3" name="Content Placeholder 2">
            <a:extLst>
              <a:ext uri="{FF2B5EF4-FFF2-40B4-BE49-F238E27FC236}">
                <a16:creationId xmlns:a16="http://schemas.microsoft.com/office/drawing/2014/main" id="{10CCC13E-1871-4787-BADF-14253538B2A6}"/>
              </a:ext>
            </a:extLst>
          </p:cNvPr>
          <p:cNvSpPr>
            <a:spLocks noGrp="1"/>
          </p:cNvSpPr>
          <p:nvPr>
            <p:ph idx="1"/>
          </p:nvPr>
        </p:nvSpPr>
        <p:spPr>
          <a:xfrm>
            <a:off x="1580322" y="1825625"/>
            <a:ext cx="9773478" cy="4351338"/>
          </a:xfrm>
        </p:spPr>
        <p:txBody>
          <a:bodyPr>
            <a:normAutofit/>
          </a:bodyPr>
          <a:lstStyle/>
          <a:p>
            <a:pPr marL="0" indent="0">
              <a:buNone/>
            </a:pPr>
            <a:r>
              <a:rPr lang="en-GB" sz="2400" dirty="0"/>
              <a:t>So far, we have applied the same styling to all elements on a web page that share the same tag. For example, all of the paragraphs defined by </a:t>
            </a:r>
            <a:r>
              <a:rPr lang="en-GB" sz="2400" dirty="0">
                <a:latin typeface="Courier" pitchFamily="2" charset="0"/>
              </a:rPr>
              <a:t>&lt;p&gt;</a:t>
            </a:r>
            <a:r>
              <a:rPr lang="en-GB" sz="2400" dirty="0"/>
              <a:t> have had the same styling.</a:t>
            </a:r>
          </a:p>
          <a:p>
            <a:pPr marL="0" indent="0">
              <a:buNone/>
            </a:pPr>
            <a:r>
              <a:rPr lang="en-GB" sz="2400" dirty="0"/>
              <a:t>However, it is possible to apply different styling to specific HTML elements using the </a:t>
            </a:r>
            <a:r>
              <a:rPr lang="en-GB" sz="2400" b="1" dirty="0">
                <a:solidFill>
                  <a:srgbClr val="2197AC"/>
                </a:solidFill>
              </a:rPr>
              <a:t>CSS class </a:t>
            </a:r>
            <a:r>
              <a:rPr lang="en-GB" sz="2400" dirty="0"/>
              <a:t>selector.</a:t>
            </a:r>
          </a:p>
          <a:p>
            <a:pPr marL="0" indent="0">
              <a:buNone/>
            </a:pPr>
            <a:r>
              <a:rPr lang="en-GB" sz="2400" dirty="0"/>
              <a:t>The styling is defined in the style sheet with a full stop followed by your chosen class name. </a:t>
            </a:r>
          </a:p>
          <a:p>
            <a:pPr marL="0" indent="0">
              <a:buNone/>
            </a:pPr>
            <a:r>
              <a:rPr lang="en-GB" sz="2400" dirty="0"/>
              <a:t>For example:</a:t>
            </a:r>
          </a:p>
          <a:p>
            <a:pPr marL="0" indent="0">
              <a:buNone/>
            </a:pPr>
            <a:endParaRPr lang="en-GB" dirty="0"/>
          </a:p>
        </p:txBody>
      </p:sp>
      <p:pic>
        <p:nvPicPr>
          <p:cNvPr id="6" name="Picture 5">
            <a:extLst>
              <a:ext uri="{FF2B5EF4-FFF2-40B4-BE49-F238E27FC236}">
                <a16:creationId xmlns:a16="http://schemas.microsoft.com/office/drawing/2014/main" id="{5AB8ECF6-C144-2C4E-BF22-34837A6EEF8C}"/>
              </a:ext>
            </a:extLst>
          </p:cNvPr>
          <p:cNvPicPr/>
          <p:nvPr/>
        </p:nvPicPr>
        <p:blipFill>
          <a:blip r:embed="rId2">
            <a:extLst>
              <a:ext uri="{28A0092B-C50C-407E-A947-70E740481C1C}">
                <a14:useLocalDpi xmlns:a14="http://schemas.microsoft.com/office/drawing/2010/main" val="0"/>
              </a:ext>
            </a:extLst>
          </a:blip>
          <a:stretch>
            <a:fillRect/>
          </a:stretch>
        </p:blipFill>
        <p:spPr>
          <a:xfrm>
            <a:off x="3095017" y="5094515"/>
            <a:ext cx="2609097" cy="1200329"/>
          </a:xfrm>
          <a:prstGeom prst="rect">
            <a:avLst/>
          </a:prstGeom>
        </p:spPr>
      </p:pic>
      <p:sp>
        <p:nvSpPr>
          <p:cNvPr id="5" name="Rectangle 4">
            <a:extLst>
              <a:ext uri="{FF2B5EF4-FFF2-40B4-BE49-F238E27FC236}">
                <a16:creationId xmlns:a16="http://schemas.microsoft.com/office/drawing/2014/main" id="{D4BA99DD-D4F2-A04C-A36B-BA4FA6677F51}"/>
              </a:ext>
            </a:extLst>
          </p:cNvPr>
          <p:cNvSpPr/>
          <p:nvPr/>
        </p:nvSpPr>
        <p:spPr>
          <a:xfrm>
            <a:off x="5824330" y="4976634"/>
            <a:ext cx="5529470" cy="1200329"/>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cs typeface="Times New Roman" panose="02020603050405020304" pitchFamily="18" charset="0"/>
              </a:rPr>
              <a:t>This will change the text colour of all elements that have been assigned the class </a:t>
            </a:r>
            <a:r>
              <a:rPr lang="en-GB" sz="2400" dirty="0">
                <a:latin typeface="Courier" pitchFamily="2" charset="0"/>
                <a:ea typeface="Calibri" panose="020F0502020204030204" pitchFamily="34" charset="0"/>
                <a:cs typeface="Times New Roman" panose="02020603050405020304" pitchFamily="18" charset="0"/>
              </a:rPr>
              <a:t>black-text</a:t>
            </a:r>
            <a:r>
              <a:rPr lang="en-GB" sz="2400" dirty="0">
                <a:latin typeface="Calibri" panose="020F0502020204030204" pitchFamily="34" charset="0"/>
                <a:ea typeface="Calibri" panose="020F0502020204030204" pitchFamily="34" charset="0"/>
                <a:cs typeface="Times New Roman" panose="02020603050405020304" pitchFamily="18" charset="0"/>
              </a:rPr>
              <a:t> to black.</a:t>
            </a:r>
          </a:p>
        </p:txBody>
      </p:sp>
    </p:spTree>
    <p:extLst>
      <p:ext uri="{BB962C8B-B14F-4D97-AF65-F5344CB8AC3E}">
        <p14:creationId xmlns:p14="http://schemas.microsoft.com/office/powerpoint/2010/main" val="14122726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BE36AC-12A9-4A2C-9D8A-8D001EE0DA6B}"/>
              </a:ext>
            </a:extLst>
          </p:cNvPr>
          <p:cNvSpPr>
            <a:spLocks noGrp="1"/>
          </p:cNvSpPr>
          <p:nvPr>
            <p:ph type="title"/>
          </p:nvPr>
        </p:nvSpPr>
        <p:spPr>
          <a:xfrm>
            <a:off x="1580322" y="824948"/>
            <a:ext cx="9773478" cy="795130"/>
          </a:xfrm>
        </p:spPr>
        <p:txBody>
          <a:bodyPr/>
          <a:lstStyle/>
          <a:p>
            <a:r>
              <a:rPr lang="en-GB" b="1" dirty="0">
                <a:solidFill>
                  <a:schemeClr val="bg1"/>
                </a:solidFill>
              </a:rPr>
              <a:t>Assigning the class </a:t>
            </a:r>
          </a:p>
        </p:txBody>
      </p:sp>
      <p:sp>
        <p:nvSpPr>
          <p:cNvPr id="3" name="Content Placeholder 2">
            <a:extLst>
              <a:ext uri="{FF2B5EF4-FFF2-40B4-BE49-F238E27FC236}">
                <a16:creationId xmlns:a16="http://schemas.microsoft.com/office/drawing/2014/main" id="{10CCC13E-1871-4787-BADF-14253538B2A6}"/>
              </a:ext>
            </a:extLst>
          </p:cNvPr>
          <p:cNvSpPr>
            <a:spLocks noGrp="1"/>
          </p:cNvSpPr>
          <p:nvPr>
            <p:ph idx="1"/>
          </p:nvPr>
        </p:nvSpPr>
        <p:spPr>
          <a:xfrm>
            <a:off x="1580322" y="1825625"/>
            <a:ext cx="9773478" cy="4351338"/>
          </a:xfrm>
        </p:spPr>
        <p:txBody>
          <a:bodyPr>
            <a:normAutofit/>
          </a:bodyPr>
          <a:lstStyle/>
          <a:p>
            <a:pPr marL="0" indent="0">
              <a:buNone/>
            </a:pPr>
            <a:r>
              <a:rPr lang="en-GB" sz="2400" dirty="0"/>
              <a:t>The class is assigned in the HTML document by adding </a:t>
            </a:r>
            <a:r>
              <a:rPr lang="en-GB" sz="2400" dirty="0">
                <a:latin typeface="Courier" pitchFamily="2" charset="0"/>
              </a:rPr>
              <a:t>class=</a:t>
            </a:r>
            <a:r>
              <a:rPr lang="en-GB" sz="2400" dirty="0"/>
              <a:t> followed by the class name inside quotation marks. For example:</a:t>
            </a:r>
          </a:p>
          <a:p>
            <a:pPr marL="0" indent="0">
              <a:buNone/>
            </a:pPr>
            <a:endParaRPr lang="en-GB" dirty="0"/>
          </a:p>
        </p:txBody>
      </p:sp>
      <p:sp>
        <p:nvSpPr>
          <p:cNvPr id="5" name="Rectangle 4">
            <a:extLst>
              <a:ext uri="{FF2B5EF4-FFF2-40B4-BE49-F238E27FC236}">
                <a16:creationId xmlns:a16="http://schemas.microsoft.com/office/drawing/2014/main" id="{D4BA99DD-D4F2-A04C-A36B-BA4FA6677F51}"/>
              </a:ext>
            </a:extLst>
          </p:cNvPr>
          <p:cNvSpPr/>
          <p:nvPr/>
        </p:nvSpPr>
        <p:spPr>
          <a:xfrm>
            <a:off x="8590721" y="5562574"/>
            <a:ext cx="2763079" cy="523220"/>
          </a:xfrm>
          <a:prstGeom prst="rect">
            <a:avLst/>
          </a:prstGeom>
        </p:spPr>
        <p:txBody>
          <a:bodyPr wrap="square">
            <a:spAutoFit/>
          </a:bodyPr>
          <a:lstStyle/>
          <a:p>
            <a:r>
              <a:rPr lang="en-GB" sz="2800" dirty="0">
                <a:latin typeface="Calibri" panose="020F0502020204030204" pitchFamily="34" charset="0"/>
                <a:ea typeface="Calibri" panose="020F0502020204030204" pitchFamily="34" charset="0"/>
                <a:cs typeface="Times New Roman" panose="02020603050405020304" pitchFamily="18" charset="0"/>
              </a:rPr>
              <a:t>Watch Video 1.2  </a:t>
            </a:r>
          </a:p>
        </p:txBody>
      </p:sp>
      <p:pic>
        <p:nvPicPr>
          <p:cNvPr id="9" name="Picture 8">
            <a:extLst>
              <a:ext uri="{FF2B5EF4-FFF2-40B4-BE49-F238E27FC236}">
                <a16:creationId xmlns:a16="http://schemas.microsoft.com/office/drawing/2014/main" id="{249028BB-2E51-454B-91F0-C493DC33010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3536673" y="2972808"/>
            <a:ext cx="5118653" cy="706837"/>
          </a:xfrm>
          <a:prstGeom prst="rect">
            <a:avLst/>
          </a:prstGeom>
        </p:spPr>
      </p:pic>
      <p:sp>
        <p:nvSpPr>
          <p:cNvPr id="8" name="Rectangle 7">
            <a:extLst>
              <a:ext uri="{FF2B5EF4-FFF2-40B4-BE49-F238E27FC236}">
                <a16:creationId xmlns:a16="http://schemas.microsoft.com/office/drawing/2014/main" id="{BFB5BF02-8996-0440-A98D-F251CD735121}"/>
              </a:ext>
            </a:extLst>
          </p:cNvPr>
          <p:cNvSpPr/>
          <p:nvPr/>
        </p:nvSpPr>
        <p:spPr>
          <a:xfrm>
            <a:off x="1580322" y="3885192"/>
            <a:ext cx="9375913" cy="1938992"/>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cs typeface="Times New Roman" panose="02020603050405020304" pitchFamily="18" charset="0"/>
              </a:rPr>
              <a:t>A class can be applied to as many elements in an HTML document as required.</a:t>
            </a:r>
          </a:p>
          <a:p>
            <a:r>
              <a:rPr lang="en-GB" sz="2400" dirty="0">
                <a:latin typeface="Calibri" panose="020F0502020204030204" pitchFamily="34" charset="0"/>
                <a:ea typeface="Calibri" panose="020F0502020204030204" pitchFamily="34" charset="0"/>
                <a:cs typeface="Times New Roman" panose="02020603050405020304" pitchFamily="18" charset="0"/>
              </a:rPr>
              <a:t>It is also possible to assign more than one class to an HTML element. This is done by placing additional class names inside the quotation marks separated by spaces.</a:t>
            </a:r>
          </a:p>
        </p:txBody>
      </p:sp>
    </p:spTree>
    <p:extLst>
      <p:ext uri="{BB962C8B-B14F-4D97-AF65-F5344CB8AC3E}">
        <p14:creationId xmlns:p14="http://schemas.microsoft.com/office/powerpoint/2010/main" val="3543015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 calcmode="lin" valueType="num">
                                      <p:cBhvr>
                                        <p:cTn id="9" dur="500" fill="hold"/>
                                        <p:tgtEl>
                                          <p:spTgt spid="5"/>
                                        </p:tgtEl>
                                        <p:attrNameLst>
                                          <p:attrName>style.rotation</p:attrName>
                                        </p:attrNameLst>
                                      </p:cBhvr>
                                      <p:tavLst>
                                        <p:tav tm="0">
                                          <p:val>
                                            <p:fltVal val="360"/>
                                          </p:val>
                                        </p:tav>
                                        <p:tav tm="100000">
                                          <p:val>
                                            <p:fltVal val="0"/>
                                          </p:val>
                                        </p:tav>
                                      </p:tavLst>
                                    </p:anim>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9783417" cy="805070"/>
          </a:xfrm>
        </p:spPr>
        <p:txBody>
          <a:bodyPr/>
          <a:lstStyle/>
          <a:p>
            <a:r>
              <a:rPr lang="en-GB" b="1" dirty="0">
                <a:solidFill>
                  <a:schemeClr val="bg1"/>
                </a:solidFill>
              </a:rPr>
              <a:t>Activity 1.2: Styling using CSS classes</a:t>
            </a:r>
          </a:p>
        </p:txBody>
      </p:sp>
      <p:pic>
        <p:nvPicPr>
          <p:cNvPr id="4" name="Picture 3" descr="A picture containing athletic game, basketball, sport&#10;&#10;Description automatically generated">
            <a:extLst>
              <a:ext uri="{FF2B5EF4-FFF2-40B4-BE49-F238E27FC236}">
                <a16:creationId xmlns:a16="http://schemas.microsoft.com/office/drawing/2014/main" id="{0E215F4E-C102-4131-B9D1-F5F24F7B30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1364" y="1947016"/>
            <a:ext cx="4489272" cy="4398532"/>
          </a:xfrm>
          <a:prstGeom prst="rect">
            <a:avLst/>
          </a:prstGeom>
        </p:spPr>
      </p:pic>
    </p:spTree>
    <p:extLst>
      <p:ext uri="{BB962C8B-B14F-4D97-AF65-F5344CB8AC3E}">
        <p14:creationId xmlns:p14="http://schemas.microsoft.com/office/powerpoint/2010/main" val="12339133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9783417" cy="805070"/>
          </a:xfrm>
        </p:spPr>
        <p:txBody>
          <a:bodyPr/>
          <a:lstStyle/>
          <a:p>
            <a:r>
              <a:rPr lang="en-GB" b="1" dirty="0">
                <a:solidFill>
                  <a:schemeClr val="bg1"/>
                </a:solidFill>
              </a:rPr>
              <a:t>Activity 1.3: Challenge exercise </a:t>
            </a:r>
          </a:p>
        </p:txBody>
      </p:sp>
      <p:pic>
        <p:nvPicPr>
          <p:cNvPr id="4" name="Picture 3" descr="A picture containing athletic game, basketball, sport&#10;&#10;Description automatically generated">
            <a:extLst>
              <a:ext uri="{FF2B5EF4-FFF2-40B4-BE49-F238E27FC236}">
                <a16:creationId xmlns:a16="http://schemas.microsoft.com/office/drawing/2014/main" id="{FCA86865-42A3-4FE5-A56A-1D299CF20F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1364" y="1947016"/>
            <a:ext cx="4489272" cy="4398532"/>
          </a:xfrm>
          <a:prstGeom prst="rect">
            <a:avLst/>
          </a:prstGeom>
        </p:spPr>
      </p:pic>
    </p:spTree>
    <p:extLst>
      <p:ext uri="{BB962C8B-B14F-4D97-AF65-F5344CB8AC3E}">
        <p14:creationId xmlns:p14="http://schemas.microsoft.com/office/powerpoint/2010/main" val="594657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9783417" cy="805070"/>
          </a:xfrm>
        </p:spPr>
        <p:txBody>
          <a:bodyPr/>
          <a:lstStyle/>
          <a:p>
            <a:r>
              <a:rPr lang="en-GB" b="1" dirty="0">
                <a:solidFill>
                  <a:schemeClr val="bg1"/>
                </a:solidFill>
              </a:rPr>
              <a:t>Quiz 1 </a:t>
            </a:r>
          </a:p>
        </p:txBody>
      </p:sp>
      <p:pic>
        <p:nvPicPr>
          <p:cNvPr id="4" name="Picture 3" descr="A picture containing athletic game, basketball, sport&#10;&#10;Description automatically generated">
            <a:extLst>
              <a:ext uri="{FF2B5EF4-FFF2-40B4-BE49-F238E27FC236}">
                <a16:creationId xmlns:a16="http://schemas.microsoft.com/office/drawing/2014/main" id="{3EDEE990-EA28-4087-9633-3256662BD5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1364" y="1947016"/>
            <a:ext cx="4489272" cy="4398532"/>
          </a:xfrm>
          <a:prstGeom prst="rect">
            <a:avLst/>
          </a:prstGeom>
        </p:spPr>
      </p:pic>
    </p:spTree>
    <p:extLst>
      <p:ext uri="{BB962C8B-B14F-4D97-AF65-F5344CB8AC3E}">
        <p14:creationId xmlns:p14="http://schemas.microsoft.com/office/powerpoint/2010/main" val="16667983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368</TotalTime>
  <Words>997</Words>
  <Application>Microsoft Office PowerPoint</Application>
  <PresentationFormat>Widescreen</PresentationFormat>
  <Paragraphs>74</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Calibri Light</vt:lpstr>
      <vt:lpstr>Courier</vt:lpstr>
      <vt:lpstr>Symbol</vt:lpstr>
      <vt:lpstr>Office Theme</vt:lpstr>
      <vt:lpstr>Designing websites</vt:lpstr>
      <vt:lpstr>Objectives</vt:lpstr>
      <vt:lpstr>Do you know what this code is used for? </vt:lpstr>
      <vt:lpstr>The web page displayed by the code </vt:lpstr>
      <vt:lpstr>HTML</vt:lpstr>
      <vt:lpstr>CSS</vt:lpstr>
      <vt:lpstr>External CSS</vt:lpstr>
      <vt:lpstr>The syntax for CSS rules </vt:lpstr>
      <vt:lpstr>Changing the styling </vt:lpstr>
      <vt:lpstr>CSS property names </vt:lpstr>
      <vt:lpstr>CSS property names </vt:lpstr>
      <vt:lpstr>Editing and viewing web pages </vt:lpstr>
      <vt:lpstr>Activity 1.1: Styling using CSS </vt:lpstr>
      <vt:lpstr>CSS classes </vt:lpstr>
      <vt:lpstr>Assigning the class </vt:lpstr>
      <vt:lpstr>Activity 1.2: Styling using CSS classes</vt:lpstr>
      <vt:lpstr>Activity 1.3: Challenge exercise </vt:lpstr>
      <vt:lpstr>Quiz 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36</cp:revision>
  <dcterms:created xsi:type="dcterms:W3CDTF">2020-11-04T15:22:46Z</dcterms:created>
  <dcterms:modified xsi:type="dcterms:W3CDTF">2021-06-04T09:55:46Z</dcterms:modified>
</cp:coreProperties>
</file>