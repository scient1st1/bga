
<file path=[Content_Types].xml><?xml version="1.0" encoding="utf-8"?>
<Types xmlns="http://schemas.openxmlformats.org/package/2006/content-types">
  <Default Extension="emf" ContentType="image/x-emf"/>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79" r:id="rId5"/>
    <p:sldId id="280" r:id="rId6"/>
    <p:sldId id="281" r:id="rId7"/>
    <p:sldId id="282" r:id="rId8"/>
    <p:sldId id="259" r:id="rId9"/>
    <p:sldId id="283" r:id="rId10"/>
    <p:sldId id="284" r:id="rId11"/>
    <p:sldId id="28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 id="2" name="Jane Fairnie" initials="JF" lastIdx="1" clrIdx="1">
    <p:extLst>
      <p:ext uri="{19B8F6BF-5375-455C-9EA6-DF929625EA0E}">
        <p15:presenceInfo xmlns:p15="http://schemas.microsoft.com/office/powerpoint/2012/main" userId="Jane Fairni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2197A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636" autoAdjust="0"/>
    <p:restoredTop sz="94660"/>
  </p:normalViewPr>
  <p:slideViewPr>
    <p:cSldViewPr snapToGrid="0">
      <p:cViewPr varScale="1">
        <p:scale>
          <a:sx n="98" d="100"/>
          <a:sy n="98" d="100"/>
        </p:scale>
        <p:origin x="192" y="8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27/05/2021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5" name="Picture 4" descr="Shape, rectangle&#10;&#10;Description automatically generated">
            <a:extLst>
              <a:ext uri="{FF2B5EF4-FFF2-40B4-BE49-F238E27FC236}">
                <a16:creationId xmlns:a16="http://schemas.microsoft.com/office/drawing/2014/main" id="{E7D3DFEF-2D07-994C-B4C2-2C620945E405}"/>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0"/>
            <a:ext cx="12238036" cy="1647814"/>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2B9C3-E44C-4313-895D-D43DD1C92CE3}"/>
              </a:ext>
            </a:extLst>
          </p:cNvPr>
          <p:cNvSpPr>
            <a:spLocks noGrp="1"/>
          </p:cNvSpPr>
          <p:nvPr>
            <p:ph type="ctrTitle"/>
          </p:nvPr>
        </p:nvSpPr>
        <p:spPr>
          <a:xfrm>
            <a:off x="1569134" y="2395813"/>
            <a:ext cx="8860459" cy="915850"/>
          </a:xfrm>
        </p:spPr>
        <p:txBody>
          <a:bodyPr/>
          <a:lstStyle/>
          <a:p>
            <a:pPr algn="l"/>
            <a:r>
              <a:rPr lang="en-GB" b="1" dirty="0"/>
              <a:t>Designing websites</a:t>
            </a:r>
          </a:p>
        </p:txBody>
      </p:sp>
      <p:sp>
        <p:nvSpPr>
          <p:cNvPr id="11" name="Rectangle 10">
            <a:extLst>
              <a:ext uri="{FF2B5EF4-FFF2-40B4-BE49-F238E27FC236}">
                <a16:creationId xmlns:a16="http://schemas.microsoft.com/office/drawing/2014/main" id="{5346DB13-257C-4484-9CB0-C755672B55D3}"/>
              </a:ext>
            </a:extLst>
          </p:cNvPr>
          <p:cNvSpPr/>
          <p:nvPr/>
        </p:nvSpPr>
        <p:spPr>
          <a:xfrm>
            <a:off x="3785561" y="3404910"/>
            <a:ext cx="3882088" cy="400110"/>
          </a:xfrm>
          <a:prstGeom prst="rect">
            <a:avLst/>
          </a:prstGeom>
        </p:spPr>
        <p:txBody>
          <a:bodyPr wrap="none">
            <a:spAutoFit/>
          </a:bodyPr>
          <a:lstStyle/>
          <a:p>
            <a:r>
              <a:rPr lang="en-GB" sz="2000" b="1" dirty="0">
                <a:solidFill>
                  <a:srgbClr val="2197AC"/>
                </a:solidFill>
                <a:latin typeface="Calibri" panose="020F0502020204030204" pitchFamily="34" charset="0"/>
                <a:ea typeface="Times New Roman" panose="02020603050405020304" pitchFamily="18" charset="0"/>
              </a:rPr>
              <a:t>Lesson 5: Web page design (part 1)</a:t>
            </a:r>
          </a:p>
        </p:txBody>
      </p:sp>
      <p:pic>
        <p:nvPicPr>
          <p:cNvPr id="4" name="Picture 3">
            <a:extLst>
              <a:ext uri="{FF2B5EF4-FFF2-40B4-BE49-F238E27FC236}">
                <a16:creationId xmlns:a16="http://schemas.microsoft.com/office/drawing/2014/main" id="{0BE218FE-B089-864B-BA91-40E7187B696D}"/>
              </a:ext>
            </a:extLst>
          </p:cNvPr>
          <p:cNvPicPr>
            <a:picLocks noChangeAspect="1"/>
          </p:cNvPicPr>
          <p:nvPr/>
        </p:nvPicPr>
        <p:blipFill>
          <a:blip r:embed="rId2"/>
          <a:stretch>
            <a:fillRect/>
          </a:stretch>
        </p:blipFill>
        <p:spPr>
          <a:xfrm>
            <a:off x="8258169" y="2512559"/>
            <a:ext cx="2937412" cy="2584922"/>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592719" y="874643"/>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592719" y="2135971"/>
            <a:ext cx="10285396" cy="1446550"/>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learn design tips for creating a great website</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begin developing your own website.</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44826"/>
            <a:ext cx="9773478" cy="785191"/>
          </a:xfrm>
        </p:spPr>
        <p:txBody>
          <a:bodyPr/>
          <a:lstStyle/>
          <a:p>
            <a:r>
              <a:rPr lang="en-GB" b="1" dirty="0">
                <a:solidFill>
                  <a:schemeClr val="bg1"/>
                </a:solidFill>
              </a:rPr>
              <a:t>Your website </a:t>
            </a:r>
          </a:p>
        </p:txBody>
      </p:sp>
      <p:sp>
        <p:nvSpPr>
          <p:cNvPr id="3" name="Rectangle 2">
            <a:extLst>
              <a:ext uri="{FF2B5EF4-FFF2-40B4-BE49-F238E27FC236}">
                <a16:creationId xmlns:a16="http://schemas.microsoft.com/office/drawing/2014/main" id="{BE06C400-DE30-E44B-ABA7-373A1223A2BD}"/>
              </a:ext>
            </a:extLst>
          </p:cNvPr>
          <p:cNvSpPr/>
          <p:nvPr/>
        </p:nvSpPr>
        <p:spPr>
          <a:xfrm>
            <a:off x="1580322" y="2151029"/>
            <a:ext cx="9263269" cy="3964547"/>
          </a:xfrm>
          <a:prstGeom prst="rect">
            <a:avLst/>
          </a:prstGeom>
        </p:spPr>
        <p:txBody>
          <a:bodyPr wrap="square">
            <a:spAutoFit/>
          </a:bodyPr>
          <a:lstStyle/>
          <a:p>
            <a:pPr>
              <a:lnSpc>
                <a:spcPct val="114000"/>
              </a:lnSpc>
              <a:spcBef>
                <a:spcPts val="600"/>
              </a:spcBef>
              <a:spcAft>
                <a:spcPts val="600"/>
              </a:spcAft>
            </a:pPr>
            <a:r>
              <a:rPr lang="en-GB" sz="2800" dirty="0"/>
              <a:t>Today, you are going to begin developing your own website.</a:t>
            </a:r>
          </a:p>
          <a:p>
            <a:pPr>
              <a:lnSpc>
                <a:spcPct val="114000"/>
              </a:lnSpc>
              <a:spcBef>
                <a:spcPts val="600"/>
              </a:spcBef>
              <a:spcAft>
                <a:spcPts val="600"/>
              </a:spcAft>
            </a:pPr>
            <a:r>
              <a:rPr lang="en-GB" sz="2800" dirty="0"/>
              <a:t>Your website should be aimed at people of your own age and should tell them about your hobbies and interests.</a:t>
            </a:r>
          </a:p>
          <a:p>
            <a:pPr>
              <a:lnSpc>
                <a:spcPct val="114000"/>
              </a:lnSpc>
              <a:spcBef>
                <a:spcPts val="600"/>
              </a:spcBef>
              <a:spcAft>
                <a:spcPts val="600"/>
              </a:spcAft>
            </a:pPr>
            <a:r>
              <a:rPr lang="en-GB" sz="2800" dirty="0"/>
              <a:t>Before starting to write the code for your website, you need to plan out the content that you intend to include.</a:t>
            </a:r>
          </a:p>
          <a:p>
            <a:pPr>
              <a:lnSpc>
                <a:spcPct val="114000"/>
              </a:lnSpc>
              <a:spcBef>
                <a:spcPts val="600"/>
              </a:spcBef>
              <a:spcAft>
                <a:spcPts val="600"/>
              </a:spcAft>
            </a:pPr>
            <a:r>
              <a:rPr lang="en-GB" sz="2800" dirty="0"/>
              <a:t>Your finished website should consist of a home page and at least two other pages.</a:t>
            </a:r>
          </a:p>
        </p:txBody>
      </p:sp>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21618" cy="805070"/>
          </a:xfrm>
        </p:spPr>
        <p:txBody>
          <a:bodyPr>
            <a:noAutofit/>
          </a:bodyPr>
          <a:lstStyle/>
          <a:p>
            <a:r>
              <a:rPr lang="en-GB" b="1" dirty="0">
                <a:solidFill>
                  <a:schemeClr val="bg1"/>
                </a:solidFill>
              </a:rPr>
              <a:t>Activity 5.1: Planning the content of a website </a:t>
            </a:r>
          </a:p>
        </p:txBody>
      </p:sp>
      <p:pic>
        <p:nvPicPr>
          <p:cNvPr id="6" name="Picture 5">
            <a:extLst>
              <a:ext uri="{FF2B5EF4-FFF2-40B4-BE49-F238E27FC236}">
                <a16:creationId xmlns:a16="http://schemas.microsoft.com/office/drawing/2014/main" id="{59817DE5-0938-4948-BA42-BFBFF8F1C2DB}"/>
              </a:ext>
            </a:extLst>
          </p:cNvPr>
          <p:cNvPicPr>
            <a:picLocks noChangeAspect="1"/>
          </p:cNvPicPr>
          <p:nvPr/>
        </p:nvPicPr>
        <p:blipFill>
          <a:blip r:embed="rId2"/>
          <a:stretch>
            <a:fillRect/>
          </a:stretch>
        </p:blipFill>
        <p:spPr>
          <a:xfrm>
            <a:off x="4038186" y="2009506"/>
            <a:ext cx="4115628" cy="4043424"/>
          </a:xfrm>
          <a:prstGeom prst="rect">
            <a:avLst/>
          </a:prstGeom>
        </p:spPr>
      </p:pic>
    </p:spTree>
    <p:extLst>
      <p:ext uri="{BB962C8B-B14F-4D97-AF65-F5344CB8AC3E}">
        <p14:creationId xmlns:p14="http://schemas.microsoft.com/office/powerpoint/2010/main" val="14093854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44826"/>
            <a:ext cx="9773478" cy="785191"/>
          </a:xfrm>
        </p:spPr>
        <p:txBody>
          <a:bodyPr/>
          <a:lstStyle/>
          <a:p>
            <a:r>
              <a:rPr lang="en-GB" b="1" dirty="0">
                <a:solidFill>
                  <a:schemeClr val="bg1"/>
                </a:solidFill>
              </a:rPr>
              <a:t>Creating a site plan </a:t>
            </a:r>
          </a:p>
        </p:txBody>
      </p:sp>
      <p:sp>
        <p:nvSpPr>
          <p:cNvPr id="3" name="Rectangle 2">
            <a:extLst>
              <a:ext uri="{FF2B5EF4-FFF2-40B4-BE49-F238E27FC236}">
                <a16:creationId xmlns:a16="http://schemas.microsoft.com/office/drawing/2014/main" id="{BE06C400-DE30-E44B-ABA7-373A1223A2BD}"/>
              </a:ext>
            </a:extLst>
          </p:cNvPr>
          <p:cNvSpPr/>
          <p:nvPr/>
        </p:nvSpPr>
        <p:spPr>
          <a:xfrm>
            <a:off x="1580322" y="2151029"/>
            <a:ext cx="9263269" cy="4319131"/>
          </a:xfrm>
          <a:prstGeom prst="rect">
            <a:avLst/>
          </a:prstGeom>
        </p:spPr>
        <p:txBody>
          <a:bodyPr wrap="square">
            <a:spAutoFit/>
          </a:bodyPr>
          <a:lstStyle/>
          <a:p>
            <a:pPr>
              <a:lnSpc>
                <a:spcPct val="114000"/>
              </a:lnSpc>
              <a:spcBef>
                <a:spcPts val="600"/>
              </a:spcBef>
              <a:spcAft>
                <a:spcPts val="600"/>
              </a:spcAft>
            </a:pPr>
            <a:r>
              <a:rPr lang="en-GB" sz="2400" dirty="0"/>
              <a:t>The next stage, is to decide what information will go on each page of your website. This is known as the </a:t>
            </a:r>
            <a:r>
              <a:rPr lang="en-GB" sz="2400" b="1" dirty="0">
                <a:solidFill>
                  <a:srgbClr val="2197AC"/>
                </a:solidFill>
              </a:rPr>
              <a:t>site plan</a:t>
            </a:r>
            <a:r>
              <a:rPr lang="en-GB" sz="2400" dirty="0"/>
              <a:t>.</a:t>
            </a:r>
          </a:p>
          <a:p>
            <a:pPr>
              <a:lnSpc>
                <a:spcPct val="114000"/>
              </a:lnSpc>
              <a:spcBef>
                <a:spcPts val="600"/>
              </a:spcBef>
              <a:spcAft>
                <a:spcPts val="600"/>
              </a:spcAft>
            </a:pPr>
            <a:r>
              <a:rPr lang="en-GB" sz="2400" dirty="0"/>
              <a:t>The home page should explain what your website is about and include general information about the topic you have chosen.</a:t>
            </a:r>
          </a:p>
          <a:p>
            <a:pPr>
              <a:lnSpc>
                <a:spcPct val="114000"/>
              </a:lnSpc>
              <a:spcBef>
                <a:spcPts val="600"/>
              </a:spcBef>
              <a:spcAft>
                <a:spcPts val="600"/>
              </a:spcAft>
            </a:pPr>
            <a:r>
              <a:rPr lang="en-GB" sz="2400" dirty="0"/>
              <a:t>Ideally, each of the other pages should have a separate theme.</a:t>
            </a:r>
          </a:p>
          <a:p>
            <a:pPr>
              <a:lnSpc>
                <a:spcPct val="114000"/>
              </a:lnSpc>
              <a:spcBef>
                <a:spcPts val="600"/>
              </a:spcBef>
              <a:spcAft>
                <a:spcPts val="600"/>
              </a:spcAft>
            </a:pPr>
            <a:r>
              <a:rPr lang="en-GB" sz="2400" dirty="0"/>
              <a:t>For example, a website about your baking adventures might have some information about you and how you started baking on the home page and then have one page for biscuit recipes and another page for cake recipes.</a:t>
            </a:r>
          </a:p>
        </p:txBody>
      </p:sp>
    </p:spTree>
    <p:extLst>
      <p:ext uri="{BB962C8B-B14F-4D97-AF65-F5344CB8AC3E}">
        <p14:creationId xmlns:p14="http://schemas.microsoft.com/office/powerpoint/2010/main" val="36581689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21618" cy="805070"/>
          </a:xfrm>
        </p:spPr>
        <p:txBody>
          <a:bodyPr>
            <a:noAutofit/>
          </a:bodyPr>
          <a:lstStyle/>
          <a:p>
            <a:r>
              <a:rPr lang="en-GB" b="1" dirty="0">
                <a:solidFill>
                  <a:schemeClr val="bg1"/>
                </a:solidFill>
              </a:rPr>
              <a:t>Activity 5.2: Creating a site plan</a:t>
            </a:r>
          </a:p>
        </p:txBody>
      </p:sp>
      <p:pic>
        <p:nvPicPr>
          <p:cNvPr id="6" name="Picture 5">
            <a:extLst>
              <a:ext uri="{FF2B5EF4-FFF2-40B4-BE49-F238E27FC236}">
                <a16:creationId xmlns:a16="http://schemas.microsoft.com/office/drawing/2014/main" id="{59817DE5-0938-4948-BA42-BFBFF8F1C2DB}"/>
              </a:ext>
            </a:extLst>
          </p:cNvPr>
          <p:cNvPicPr>
            <a:picLocks noChangeAspect="1"/>
          </p:cNvPicPr>
          <p:nvPr/>
        </p:nvPicPr>
        <p:blipFill>
          <a:blip r:embed="rId2"/>
          <a:stretch>
            <a:fillRect/>
          </a:stretch>
        </p:blipFill>
        <p:spPr>
          <a:xfrm>
            <a:off x="4038186" y="2009506"/>
            <a:ext cx="4115628" cy="4043424"/>
          </a:xfrm>
          <a:prstGeom prst="rect">
            <a:avLst/>
          </a:prstGeom>
        </p:spPr>
      </p:pic>
    </p:spTree>
    <p:extLst>
      <p:ext uri="{BB962C8B-B14F-4D97-AF65-F5344CB8AC3E}">
        <p14:creationId xmlns:p14="http://schemas.microsoft.com/office/powerpoint/2010/main" val="1150949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44826"/>
            <a:ext cx="9773478" cy="785191"/>
          </a:xfrm>
        </p:spPr>
        <p:txBody>
          <a:bodyPr/>
          <a:lstStyle/>
          <a:p>
            <a:r>
              <a:rPr lang="en-GB" b="1" dirty="0">
                <a:solidFill>
                  <a:schemeClr val="bg1"/>
                </a:solidFill>
              </a:rPr>
              <a:t>Designing the page layout </a:t>
            </a:r>
          </a:p>
        </p:txBody>
      </p:sp>
      <p:sp>
        <p:nvSpPr>
          <p:cNvPr id="3" name="Rectangle 2">
            <a:extLst>
              <a:ext uri="{FF2B5EF4-FFF2-40B4-BE49-F238E27FC236}">
                <a16:creationId xmlns:a16="http://schemas.microsoft.com/office/drawing/2014/main" id="{BE06C400-DE30-E44B-ABA7-373A1223A2BD}"/>
              </a:ext>
            </a:extLst>
          </p:cNvPr>
          <p:cNvSpPr/>
          <p:nvPr/>
        </p:nvSpPr>
        <p:spPr>
          <a:xfrm>
            <a:off x="1649896" y="1858641"/>
            <a:ext cx="8398565" cy="2970044"/>
          </a:xfrm>
          <a:prstGeom prst="rect">
            <a:avLst/>
          </a:prstGeom>
        </p:spPr>
        <p:txBody>
          <a:bodyPr wrap="square">
            <a:spAutoFit/>
          </a:bodyPr>
          <a:lstStyle/>
          <a:p>
            <a:pPr fontAlgn="base">
              <a:spcBef>
                <a:spcPts val="300"/>
              </a:spcBef>
              <a:spcAft>
                <a:spcPts val="300"/>
              </a:spcAft>
            </a:pPr>
            <a:r>
              <a:rPr lang="en-GB" dirty="0"/>
              <a:t>It is generally best to keep the same basic layout and colour scheme for every page of a website.</a:t>
            </a:r>
          </a:p>
          <a:p>
            <a:pPr fontAlgn="base">
              <a:spcBef>
                <a:spcPts val="300"/>
              </a:spcBef>
              <a:spcAft>
                <a:spcPts val="300"/>
              </a:spcAft>
            </a:pPr>
            <a:r>
              <a:rPr lang="en-GB" dirty="0"/>
              <a:t>Avoid using too many different colours:</a:t>
            </a:r>
          </a:p>
          <a:p>
            <a:pPr marL="0" lvl="1" indent="-226800" fontAlgn="base">
              <a:spcBef>
                <a:spcPts val="300"/>
              </a:spcBef>
              <a:spcAft>
                <a:spcPts val="300"/>
              </a:spcAft>
              <a:buFont typeface="Arial" panose="020B0604020202020204" pitchFamily="34" charset="0"/>
              <a:buChar char="•"/>
            </a:pPr>
            <a:r>
              <a:rPr lang="en-GB" dirty="0"/>
              <a:t>use one colour as the dominant colour</a:t>
            </a:r>
          </a:p>
          <a:p>
            <a:pPr marL="0" lvl="1" indent="-226800" fontAlgn="base">
              <a:spcBef>
                <a:spcPts val="300"/>
              </a:spcBef>
              <a:spcAft>
                <a:spcPts val="300"/>
              </a:spcAft>
              <a:buFont typeface="Arial" panose="020B0604020202020204" pitchFamily="34" charset="0"/>
              <a:buChar char="•"/>
            </a:pPr>
            <a:r>
              <a:rPr lang="en-GB" dirty="0"/>
              <a:t>choose a second complementary colour as an accent colour.</a:t>
            </a:r>
          </a:p>
          <a:p>
            <a:pPr fontAlgn="base">
              <a:spcBef>
                <a:spcPts val="300"/>
              </a:spcBef>
              <a:spcAft>
                <a:spcPts val="300"/>
              </a:spcAft>
            </a:pPr>
            <a:r>
              <a:rPr lang="en-GB" dirty="0"/>
              <a:t>Avoid using brightly coloured or ‘busy’ backgrounds as it can make text hard to read. Aim for a good contrast between the text and background colours.</a:t>
            </a:r>
          </a:p>
          <a:p>
            <a:pPr fontAlgn="base">
              <a:spcBef>
                <a:spcPts val="300"/>
              </a:spcBef>
              <a:spcAft>
                <a:spcPts val="300"/>
              </a:spcAft>
            </a:pPr>
            <a:r>
              <a:rPr lang="en-GB" dirty="0"/>
              <a:t>Avoid using more than two different fonts. Sans-serif fonts generally look clearer on screen than serif fonts.</a:t>
            </a:r>
          </a:p>
        </p:txBody>
      </p:sp>
      <p:pic>
        <p:nvPicPr>
          <p:cNvPr id="7" name="Picture 6" descr="A picture containing text&#10;&#10;Description automatically generated">
            <a:extLst>
              <a:ext uri="{FF2B5EF4-FFF2-40B4-BE49-F238E27FC236}">
                <a16:creationId xmlns:a16="http://schemas.microsoft.com/office/drawing/2014/main" id="{39370BED-CF0E-4344-AF9E-53E6C75447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0322" y="4828685"/>
            <a:ext cx="6715266" cy="1143024"/>
          </a:xfrm>
          <a:prstGeom prst="rect">
            <a:avLst/>
          </a:prstGeom>
        </p:spPr>
      </p:pic>
    </p:spTree>
    <p:extLst>
      <p:ext uri="{BB962C8B-B14F-4D97-AF65-F5344CB8AC3E}">
        <p14:creationId xmlns:p14="http://schemas.microsoft.com/office/powerpoint/2010/main" val="1534177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55374"/>
            <a:ext cx="9733721" cy="884584"/>
          </a:xfrm>
        </p:spPr>
        <p:txBody>
          <a:bodyPr/>
          <a:lstStyle/>
          <a:p>
            <a:r>
              <a:rPr lang="en-GB" b="1" dirty="0">
                <a:solidFill>
                  <a:schemeClr val="bg1"/>
                </a:solidFill>
              </a:rPr>
              <a:t>General page layout advice </a:t>
            </a:r>
          </a:p>
        </p:txBody>
      </p:sp>
      <p:sp>
        <p:nvSpPr>
          <p:cNvPr id="3" name="Rectangle 2">
            <a:extLst>
              <a:ext uri="{FF2B5EF4-FFF2-40B4-BE49-F238E27FC236}">
                <a16:creationId xmlns:a16="http://schemas.microsoft.com/office/drawing/2014/main" id="{B3E1166F-AB78-784F-A9DF-350FDEE27147}"/>
              </a:ext>
            </a:extLst>
          </p:cNvPr>
          <p:cNvSpPr/>
          <p:nvPr/>
        </p:nvSpPr>
        <p:spPr>
          <a:xfrm>
            <a:off x="1620077" y="2274838"/>
            <a:ext cx="8766313" cy="2173415"/>
          </a:xfrm>
          <a:prstGeom prst="rect">
            <a:avLst/>
          </a:prstGeom>
        </p:spPr>
        <p:txBody>
          <a:bodyPr wrap="square">
            <a:spAutoFit/>
          </a:bodyPr>
          <a:lstStyle/>
          <a:p>
            <a:pPr marL="342900" indent="-342900" fontAlgn="base">
              <a:lnSpc>
                <a:spcPct val="114000"/>
              </a:lnSpc>
              <a:buFont typeface="Arial" panose="020B0604020202020204" pitchFamily="34" charset="0"/>
              <a:buChar char="•"/>
            </a:pPr>
            <a:r>
              <a:rPr lang="en-GB" sz="2400" dirty="0">
                <a:solidFill>
                  <a:srgbClr val="000000"/>
                </a:solidFill>
                <a:ea typeface="Times New Roman" panose="02020603050405020304" pitchFamily="18" charset="0"/>
                <a:cs typeface="Arial" panose="020B0604020202020204" pitchFamily="34" charset="0"/>
              </a:rPr>
              <a:t>Put the most important information in the top half of the screen.</a:t>
            </a:r>
            <a:endParaRPr lang="en-GB" sz="2400" dirty="0">
              <a:ea typeface="Times New Roman" panose="02020603050405020304" pitchFamily="18" charset="0"/>
            </a:endParaRPr>
          </a:p>
          <a:p>
            <a:pPr marL="342900" indent="-342900" fontAlgn="base">
              <a:lnSpc>
                <a:spcPct val="114000"/>
              </a:lnSpc>
              <a:buFont typeface="Arial" panose="020B0604020202020204" pitchFamily="34" charset="0"/>
              <a:buChar char="•"/>
            </a:pPr>
            <a:r>
              <a:rPr lang="en-GB" sz="2400" dirty="0">
                <a:solidFill>
                  <a:srgbClr val="000000"/>
                </a:solidFill>
                <a:ea typeface="Times New Roman" panose="02020603050405020304" pitchFamily="18" charset="0"/>
                <a:cs typeface="Arial" panose="020B0604020202020204" pitchFamily="34" charset="0"/>
              </a:rPr>
              <a:t>Text is easiest to read when it is left-aligned, not centred.</a:t>
            </a:r>
            <a:endParaRPr lang="en-GB" sz="2400" dirty="0">
              <a:ea typeface="Times New Roman" panose="02020603050405020304" pitchFamily="18" charset="0"/>
            </a:endParaRPr>
          </a:p>
          <a:p>
            <a:pPr marL="342900" indent="-342900" fontAlgn="base">
              <a:lnSpc>
                <a:spcPct val="114000"/>
              </a:lnSpc>
              <a:buFont typeface="Arial" panose="020B0604020202020204" pitchFamily="34" charset="0"/>
              <a:buChar char="•"/>
            </a:pPr>
            <a:r>
              <a:rPr lang="en-GB" sz="2400" dirty="0">
                <a:solidFill>
                  <a:srgbClr val="000000"/>
                </a:solidFill>
                <a:ea typeface="Times New Roman" panose="02020603050405020304" pitchFamily="18" charset="0"/>
                <a:cs typeface="Arial" panose="020B0604020202020204" pitchFamily="34" charset="0"/>
              </a:rPr>
              <a:t>Divide your content into logical bite-size blocks.</a:t>
            </a:r>
            <a:endParaRPr lang="en-GB" sz="2400" dirty="0">
              <a:ea typeface="Times New Roman" panose="02020603050405020304" pitchFamily="18" charset="0"/>
            </a:endParaRPr>
          </a:p>
          <a:p>
            <a:pPr marL="342900" indent="-342900" fontAlgn="base">
              <a:lnSpc>
                <a:spcPct val="114000"/>
              </a:lnSpc>
              <a:buFont typeface="Arial" panose="020B0604020202020204" pitchFamily="34" charset="0"/>
              <a:buChar char="•"/>
            </a:pPr>
            <a:r>
              <a:rPr lang="en-GB" sz="2400" dirty="0">
                <a:solidFill>
                  <a:srgbClr val="000000"/>
                </a:solidFill>
                <a:ea typeface="Times New Roman" panose="02020603050405020304" pitchFamily="18" charset="0"/>
                <a:cs typeface="Arial" panose="020B0604020202020204" pitchFamily="34" charset="0"/>
              </a:rPr>
              <a:t>Avoid excessive line lengths, because long lines can be hard to read.</a:t>
            </a:r>
            <a:endParaRPr lang="en-GB" sz="2400" dirty="0">
              <a:ea typeface="Times New Roman" panose="02020603050405020304" pitchFamily="18" charset="0"/>
            </a:endParaRPr>
          </a:p>
        </p:txBody>
      </p:sp>
    </p:spTree>
    <p:extLst>
      <p:ext uri="{BB962C8B-B14F-4D97-AF65-F5344CB8AC3E}">
        <p14:creationId xmlns:p14="http://schemas.microsoft.com/office/powerpoint/2010/main" val="3005745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21618" cy="805070"/>
          </a:xfrm>
        </p:spPr>
        <p:txBody>
          <a:bodyPr>
            <a:noAutofit/>
          </a:bodyPr>
          <a:lstStyle/>
          <a:p>
            <a:r>
              <a:rPr lang="en-GB" b="1" dirty="0">
                <a:solidFill>
                  <a:schemeClr val="bg1"/>
                </a:solidFill>
              </a:rPr>
              <a:t>Activity 5.3: Designing the page layout</a:t>
            </a:r>
          </a:p>
        </p:txBody>
      </p:sp>
      <p:pic>
        <p:nvPicPr>
          <p:cNvPr id="6" name="Picture 5">
            <a:extLst>
              <a:ext uri="{FF2B5EF4-FFF2-40B4-BE49-F238E27FC236}">
                <a16:creationId xmlns:a16="http://schemas.microsoft.com/office/drawing/2014/main" id="{59817DE5-0938-4948-BA42-BFBFF8F1C2DB}"/>
              </a:ext>
            </a:extLst>
          </p:cNvPr>
          <p:cNvPicPr>
            <a:picLocks noChangeAspect="1"/>
          </p:cNvPicPr>
          <p:nvPr/>
        </p:nvPicPr>
        <p:blipFill>
          <a:blip r:embed="rId2"/>
          <a:stretch>
            <a:fillRect/>
          </a:stretch>
        </p:blipFill>
        <p:spPr>
          <a:xfrm>
            <a:off x="4038186" y="2009506"/>
            <a:ext cx="4115628" cy="4043424"/>
          </a:xfrm>
          <a:prstGeom prst="rect">
            <a:avLst/>
          </a:prstGeom>
        </p:spPr>
      </p:pic>
    </p:spTree>
    <p:extLst>
      <p:ext uri="{BB962C8B-B14F-4D97-AF65-F5344CB8AC3E}">
        <p14:creationId xmlns:p14="http://schemas.microsoft.com/office/powerpoint/2010/main" val="2828276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21618" cy="805070"/>
          </a:xfrm>
        </p:spPr>
        <p:txBody>
          <a:bodyPr>
            <a:noAutofit/>
          </a:bodyPr>
          <a:lstStyle/>
          <a:p>
            <a:r>
              <a:rPr lang="en-GB" b="1" dirty="0">
                <a:solidFill>
                  <a:schemeClr val="bg1"/>
                </a:solidFill>
              </a:rPr>
              <a:t>Activity 5.4: Setting up the style sheet</a:t>
            </a:r>
          </a:p>
        </p:txBody>
      </p:sp>
      <p:pic>
        <p:nvPicPr>
          <p:cNvPr id="6" name="Picture 5">
            <a:extLst>
              <a:ext uri="{FF2B5EF4-FFF2-40B4-BE49-F238E27FC236}">
                <a16:creationId xmlns:a16="http://schemas.microsoft.com/office/drawing/2014/main" id="{59817DE5-0938-4948-BA42-BFBFF8F1C2DB}"/>
              </a:ext>
            </a:extLst>
          </p:cNvPr>
          <p:cNvPicPr>
            <a:picLocks noChangeAspect="1"/>
          </p:cNvPicPr>
          <p:nvPr/>
        </p:nvPicPr>
        <p:blipFill>
          <a:blip r:embed="rId2"/>
          <a:stretch>
            <a:fillRect/>
          </a:stretch>
        </p:blipFill>
        <p:spPr>
          <a:xfrm>
            <a:off x="4038186" y="2009506"/>
            <a:ext cx="4115628" cy="4043424"/>
          </a:xfrm>
          <a:prstGeom prst="rect">
            <a:avLst/>
          </a:prstGeom>
        </p:spPr>
      </p:pic>
    </p:spTree>
    <p:extLst>
      <p:ext uri="{BB962C8B-B14F-4D97-AF65-F5344CB8AC3E}">
        <p14:creationId xmlns:p14="http://schemas.microsoft.com/office/powerpoint/2010/main" val="30183048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21618" cy="805070"/>
          </a:xfrm>
        </p:spPr>
        <p:txBody>
          <a:bodyPr>
            <a:noAutofit/>
          </a:bodyPr>
          <a:lstStyle/>
          <a:p>
            <a:r>
              <a:rPr lang="en-GB" b="1" dirty="0">
                <a:solidFill>
                  <a:schemeClr val="bg1"/>
                </a:solidFill>
              </a:rPr>
              <a:t>Activity 5.5: Locating images and URLs </a:t>
            </a:r>
          </a:p>
        </p:txBody>
      </p:sp>
      <p:pic>
        <p:nvPicPr>
          <p:cNvPr id="6" name="Picture 5">
            <a:extLst>
              <a:ext uri="{FF2B5EF4-FFF2-40B4-BE49-F238E27FC236}">
                <a16:creationId xmlns:a16="http://schemas.microsoft.com/office/drawing/2014/main" id="{59817DE5-0938-4948-BA42-BFBFF8F1C2DB}"/>
              </a:ext>
            </a:extLst>
          </p:cNvPr>
          <p:cNvPicPr>
            <a:picLocks noChangeAspect="1"/>
          </p:cNvPicPr>
          <p:nvPr/>
        </p:nvPicPr>
        <p:blipFill>
          <a:blip r:embed="rId2"/>
          <a:stretch>
            <a:fillRect/>
          </a:stretch>
        </p:blipFill>
        <p:spPr>
          <a:xfrm>
            <a:off x="6096000" y="1979688"/>
            <a:ext cx="4115628" cy="4043424"/>
          </a:xfrm>
          <a:prstGeom prst="rect">
            <a:avLst/>
          </a:prstGeom>
        </p:spPr>
      </p:pic>
      <p:sp>
        <p:nvSpPr>
          <p:cNvPr id="3" name="Rectangle 2">
            <a:extLst>
              <a:ext uri="{FF2B5EF4-FFF2-40B4-BE49-F238E27FC236}">
                <a16:creationId xmlns:a16="http://schemas.microsoft.com/office/drawing/2014/main" id="{9D5EACD1-EBBA-D848-82C2-8B0739FD54B0}"/>
              </a:ext>
            </a:extLst>
          </p:cNvPr>
          <p:cNvSpPr/>
          <p:nvPr/>
        </p:nvSpPr>
        <p:spPr>
          <a:xfrm>
            <a:off x="1570382" y="1979688"/>
            <a:ext cx="3955775" cy="4154984"/>
          </a:xfrm>
          <a:prstGeom prst="rect">
            <a:avLst/>
          </a:prstGeom>
        </p:spPr>
        <p:txBody>
          <a:bodyPr wrap="square">
            <a:spAutoFit/>
          </a:bodyPr>
          <a:lstStyle/>
          <a:p>
            <a:pPr marL="342900" indent="-342900">
              <a:buFont typeface="Arial" panose="020B0604020202020204" pitchFamily="34" charset="0"/>
              <a:buChar char="•"/>
            </a:pPr>
            <a:r>
              <a:rPr lang="en-GB" sz="2400" dirty="0">
                <a:latin typeface="Calibri" panose="020F0502020204030204" pitchFamily="34" charset="0"/>
                <a:ea typeface="Calibri" panose="020F0502020204030204" pitchFamily="34" charset="0"/>
                <a:cs typeface="Times New Roman" panose="02020603050405020304" pitchFamily="18" charset="0"/>
              </a:rPr>
              <a:t>Locate and save the images you intend to use </a:t>
            </a:r>
            <a:r>
              <a:rPr lang="en-GB" sz="2400">
                <a:latin typeface="Calibri" panose="020F0502020204030204" pitchFamily="34" charset="0"/>
                <a:ea typeface="Calibri" panose="020F0502020204030204" pitchFamily="34" charset="0"/>
                <a:cs typeface="Times New Roman" panose="02020603050405020304" pitchFamily="18" charset="0"/>
              </a:rPr>
              <a:t>on your </a:t>
            </a:r>
            <a:r>
              <a:rPr lang="en-GB" sz="2400" dirty="0">
                <a:latin typeface="Calibri" panose="020F0502020204030204" pitchFamily="34" charset="0"/>
                <a:ea typeface="Calibri" panose="020F0502020204030204" pitchFamily="34" charset="0"/>
                <a:cs typeface="Times New Roman" panose="02020603050405020304" pitchFamily="18" charset="0"/>
              </a:rPr>
              <a:t>website.</a:t>
            </a:r>
          </a:p>
          <a:p>
            <a:pPr marL="342900" indent="-342900">
              <a:buFont typeface="Arial" panose="020B0604020202020204" pitchFamily="34" charset="0"/>
              <a:buChar char="•"/>
            </a:pP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marL="342900" indent="-342900">
              <a:buFont typeface="Arial" panose="020B0604020202020204" pitchFamily="34" charset="0"/>
              <a:buChar char="•"/>
            </a:pPr>
            <a:r>
              <a:rPr lang="en-GB" sz="2400" dirty="0">
                <a:latin typeface="Calibri" panose="020F0502020204030204" pitchFamily="34" charset="0"/>
                <a:ea typeface="Calibri" panose="020F0502020204030204" pitchFamily="34" charset="0"/>
                <a:cs typeface="Times New Roman" panose="02020603050405020304" pitchFamily="18" charset="0"/>
              </a:rPr>
              <a:t>Locate and save the URLs of any external web pages you intend to link to from your website.</a:t>
            </a:r>
          </a:p>
          <a:p>
            <a:pPr marL="342900" indent="-342900">
              <a:buFont typeface="Arial" panose="020B0604020202020204" pitchFamily="34" charset="0"/>
              <a:buChar char="•"/>
            </a:pP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marL="342900" indent="-342900">
              <a:buFont typeface="Arial" panose="020B0604020202020204" pitchFamily="34" charset="0"/>
              <a:buChar char="•"/>
            </a:pPr>
            <a:r>
              <a:rPr lang="en-GB" sz="2400" dirty="0">
                <a:latin typeface="Calibri" panose="020F0502020204030204" pitchFamily="34" charset="0"/>
                <a:ea typeface="Calibri" panose="020F0502020204030204" pitchFamily="34" charset="0"/>
                <a:cs typeface="Times New Roman" panose="02020603050405020304" pitchFamily="18" charset="0"/>
              </a:rPr>
              <a:t>Remember to save these to your ‘My website’ folder.</a:t>
            </a:r>
          </a:p>
        </p:txBody>
      </p:sp>
    </p:spTree>
    <p:extLst>
      <p:ext uri="{BB962C8B-B14F-4D97-AF65-F5344CB8AC3E}">
        <p14:creationId xmlns:p14="http://schemas.microsoft.com/office/powerpoint/2010/main" val="17412479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370</TotalTime>
  <Words>442</Words>
  <Application>Microsoft Macintosh PowerPoint</Application>
  <PresentationFormat>Widescreen</PresentationFormat>
  <Paragraphs>38</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Calibri Light</vt:lpstr>
      <vt:lpstr>Symbol</vt:lpstr>
      <vt:lpstr>Office Theme</vt:lpstr>
      <vt:lpstr>Designing websites</vt:lpstr>
      <vt:lpstr>Objectives</vt:lpstr>
      <vt:lpstr>Your website </vt:lpstr>
      <vt:lpstr>Activity 5.1: Planning the content of a website </vt:lpstr>
      <vt:lpstr>Creating a site plan </vt:lpstr>
      <vt:lpstr>Activity 5.2: Creating a site plan</vt:lpstr>
      <vt:lpstr>Designing the page layout </vt:lpstr>
      <vt:lpstr>General page layout advice </vt:lpstr>
      <vt:lpstr>Activity 5.3: Designing the page layout</vt:lpstr>
      <vt:lpstr>Activity 5.4: Setting up the style sheet</vt:lpstr>
      <vt:lpstr>Activity 5.5: Locating images and URLs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James Bullivant</cp:lastModifiedBy>
  <cp:revision>42</cp:revision>
  <dcterms:created xsi:type="dcterms:W3CDTF">2020-11-04T15:22:46Z</dcterms:created>
  <dcterms:modified xsi:type="dcterms:W3CDTF">2021-05-27T13:06:22Z</dcterms:modified>
</cp:coreProperties>
</file>